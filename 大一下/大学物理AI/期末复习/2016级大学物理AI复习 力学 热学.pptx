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wmf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59" r:id="rId1"/>
  </p:sldMasterIdLst>
  <p:notesMasterIdLst>
    <p:notesMasterId r:id="rId49"/>
  </p:notesMasterIdLst>
  <p:sldIdLst>
    <p:sldId id="301" r:id="rId2"/>
    <p:sldId id="324" r:id="rId3"/>
    <p:sldId id="364" r:id="rId4"/>
    <p:sldId id="276" r:id="rId5"/>
    <p:sldId id="277" r:id="rId6"/>
    <p:sldId id="359" r:id="rId7"/>
    <p:sldId id="356" r:id="rId8"/>
    <p:sldId id="271" r:id="rId9"/>
    <p:sldId id="342" r:id="rId10"/>
    <p:sldId id="360" r:id="rId11"/>
    <p:sldId id="286" r:id="rId12"/>
    <p:sldId id="361" r:id="rId13"/>
    <p:sldId id="362" r:id="rId14"/>
    <p:sldId id="365" r:id="rId15"/>
    <p:sldId id="366" r:id="rId16"/>
    <p:sldId id="280" r:id="rId17"/>
    <p:sldId id="319" r:id="rId18"/>
    <p:sldId id="272" r:id="rId19"/>
    <p:sldId id="317" r:id="rId20"/>
    <p:sldId id="318" r:id="rId21"/>
    <p:sldId id="287" r:id="rId22"/>
    <p:sldId id="288" r:id="rId23"/>
    <p:sldId id="353" r:id="rId24"/>
    <p:sldId id="354" r:id="rId25"/>
    <p:sldId id="357" r:id="rId26"/>
    <p:sldId id="273" r:id="rId27"/>
    <p:sldId id="274" r:id="rId28"/>
    <p:sldId id="302" r:id="rId29"/>
    <p:sldId id="329" r:id="rId30"/>
    <p:sldId id="328" r:id="rId31"/>
    <p:sldId id="363" r:id="rId32"/>
    <p:sldId id="261" r:id="rId33"/>
    <p:sldId id="341" r:id="rId34"/>
    <p:sldId id="262" r:id="rId35"/>
    <p:sldId id="263" r:id="rId36"/>
    <p:sldId id="316" r:id="rId37"/>
    <p:sldId id="279" r:id="rId38"/>
    <p:sldId id="339" r:id="rId39"/>
    <p:sldId id="266" r:id="rId40"/>
    <p:sldId id="267" r:id="rId41"/>
    <p:sldId id="358" r:id="rId42"/>
    <p:sldId id="291" r:id="rId43"/>
    <p:sldId id="314" r:id="rId44"/>
    <p:sldId id="315" r:id="rId45"/>
    <p:sldId id="312" r:id="rId46"/>
    <p:sldId id="313" r:id="rId47"/>
    <p:sldId id="367" r:id="rId4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%"/>
      </a:spcBef>
      <a:spcAft>
        <a:spcPct val="0%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%"/>
      </a:spcBef>
      <a:spcAft>
        <a:spcPct val="0%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%"/>
      </a:spcBef>
      <a:spcAft>
        <a:spcPct val="0%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%"/>
      </a:spcBef>
      <a:spcAft>
        <a:spcPct val="0%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%"/>
      </a:spcBef>
      <a:spcAft>
        <a:spcPct val="0%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clrMru>
    <a:srgbClr val="3333FF"/>
    <a:srgbClr val="2BB115"/>
    <a:srgbClr val="C1ECBC"/>
    <a:srgbClr val="00FF99"/>
    <a:srgbClr val="00CC66"/>
    <a:srgbClr val="99FF99"/>
    <a:srgbClr val="FF3300"/>
    <a:srgbClr val="F3F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7.118%" autoAdjust="0"/>
    <p:restoredTop sz="94.66%"/>
  </p:normalViewPr>
  <p:slideViewPr>
    <p:cSldViewPr>
      <p:cViewPr varScale="1">
        <p:scale>
          <a:sx n="74" d="100"/>
          <a:sy n="74" d="100"/>
        </p:scale>
        <p:origin x="9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purl.oclc.org/ooxml/officeDocument/relationships/slide" Target="slides/slide12.xml"/><Relationship Id="rId18" Type="http://purl.oclc.org/ooxml/officeDocument/relationships/slide" Target="slides/slide17.xml"/><Relationship Id="rId26" Type="http://purl.oclc.org/ooxml/officeDocument/relationships/slide" Target="slides/slide25.xml"/><Relationship Id="rId39" Type="http://purl.oclc.org/ooxml/officeDocument/relationships/slide" Target="slides/slide38.xml"/><Relationship Id="rId3" Type="http://purl.oclc.org/ooxml/officeDocument/relationships/slide" Target="slides/slide2.xml"/><Relationship Id="rId21" Type="http://purl.oclc.org/ooxml/officeDocument/relationships/slide" Target="slides/slide20.xml"/><Relationship Id="rId34" Type="http://purl.oclc.org/ooxml/officeDocument/relationships/slide" Target="slides/slide33.xml"/><Relationship Id="rId42" Type="http://purl.oclc.org/ooxml/officeDocument/relationships/slide" Target="slides/slide41.xml"/><Relationship Id="rId47" Type="http://purl.oclc.org/ooxml/officeDocument/relationships/slide" Target="slides/slide46.xml"/><Relationship Id="rId50" Type="http://purl.oclc.org/ooxml/officeDocument/relationships/presProps" Target="presProps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slide" Target="slides/slide16.xml"/><Relationship Id="rId25" Type="http://purl.oclc.org/ooxml/officeDocument/relationships/slide" Target="slides/slide24.xml"/><Relationship Id="rId33" Type="http://purl.oclc.org/ooxml/officeDocument/relationships/slide" Target="slides/slide32.xml"/><Relationship Id="rId38" Type="http://purl.oclc.org/ooxml/officeDocument/relationships/slide" Target="slides/slide37.xml"/><Relationship Id="rId46" Type="http://purl.oclc.org/ooxml/officeDocument/relationships/slide" Target="slides/slide45.xml"/><Relationship Id="rId2" Type="http://purl.oclc.org/ooxml/officeDocument/relationships/slide" Target="slides/slide1.xml"/><Relationship Id="rId16" Type="http://purl.oclc.org/ooxml/officeDocument/relationships/slide" Target="slides/slide15.xml"/><Relationship Id="rId20" Type="http://purl.oclc.org/ooxml/officeDocument/relationships/slide" Target="slides/slide19.xml"/><Relationship Id="rId29" Type="http://purl.oclc.org/ooxml/officeDocument/relationships/slide" Target="slides/slide28.xml"/><Relationship Id="rId41" Type="http://purl.oclc.org/ooxml/officeDocument/relationships/slide" Target="slides/slide40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24" Type="http://purl.oclc.org/ooxml/officeDocument/relationships/slide" Target="slides/slide23.xml"/><Relationship Id="rId32" Type="http://purl.oclc.org/ooxml/officeDocument/relationships/slide" Target="slides/slide31.xml"/><Relationship Id="rId37" Type="http://purl.oclc.org/ooxml/officeDocument/relationships/slide" Target="slides/slide36.xml"/><Relationship Id="rId40" Type="http://purl.oclc.org/ooxml/officeDocument/relationships/slide" Target="slides/slide39.xml"/><Relationship Id="rId45" Type="http://purl.oclc.org/ooxml/officeDocument/relationships/slide" Target="slides/slide44.xml"/><Relationship Id="rId53" Type="http://purl.oclc.org/ooxml/officeDocument/relationships/tableStyles" Target="tableStyles.xml"/><Relationship Id="rId5" Type="http://purl.oclc.org/ooxml/officeDocument/relationships/slide" Target="slides/slide4.xml"/><Relationship Id="rId15" Type="http://purl.oclc.org/ooxml/officeDocument/relationships/slide" Target="slides/slide14.xml"/><Relationship Id="rId23" Type="http://purl.oclc.org/ooxml/officeDocument/relationships/slide" Target="slides/slide22.xml"/><Relationship Id="rId28" Type="http://purl.oclc.org/ooxml/officeDocument/relationships/slide" Target="slides/slide27.xml"/><Relationship Id="rId36" Type="http://purl.oclc.org/ooxml/officeDocument/relationships/slide" Target="slides/slide35.xml"/><Relationship Id="rId49" Type="http://purl.oclc.org/ooxml/officeDocument/relationships/notesMaster" Target="notesMasters/notesMaster1.xml"/><Relationship Id="rId10" Type="http://purl.oclc.org/ooxml/officeDocument/relationships/slide" Target="slides/slide9.xml"/><Relationship Id="rId19" Type="http://purl.oclc.org/ooxml/officeDocument/relationships/slide" Target="slides/slide18.xml"/><Relationship Id="rId31" Type="http://purl.oclc.org/ooxml/officeDocument/relationships/slide" Target="slides/slide30.xml"/><Relationship Id="rId44" Type="http://purl.oclc.org/ooxml/officeDocument/relationships/slide" Target="slides/slide43.xml"/><Relationship Id="rId52" Type="http://purl.oclc.org/ooxml/officeDocument/relationships/theme" Target="theme/theme1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slide" Target="slides/slide13.xml"/><Relationship Id="rId22" Type="http://purl.oclc.org/ooxml/officeDocument/relationships/slide" Target="slides/slide21.xml"/><Relationship Id="rId27" Type="http://purl.oclc.org/ooxml/officeDocument/relationships/slide" Target="slides/slide26.xml"/><Relationship Id="rId30" Type="http://purl.oclc.org/ooxml/officeDocument/relationships/slide" Target="slides/slide29.xml"/><Relationship Id="rId35" Type="http://purl.oclc.org/ooxml/officeDocument/relationships/slide" Target="slides/slide34.xml"/><Relationship Id="rId43" Type="http://purl.oclc.org/ooxml/officeDocument/relationships/slide" Target="slides/slide42.xml"/><Relationship Id="rId48" Type="http://purl.oclc.org/ooxml/officeDocument/relationships/slide" Target="slides/slide47.xml"/><Relationship Id="rId8" Type="http://purl.oclc.org/ooxml/officeDocument/relationships/slide" Target="slides/slide7.xml"/><Relationship Id="rId51" Type="http://purl.oclc.org/ooxml/officeDocument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purl.oclc.org/ooxml/officeDocument/relationships/image" Target="../media/image10.wmf"/><Relationship Id="rId13" Type="http://purl.oclc.org/ooxml/officeDocument/relationships/image" Target="../media/image15.emf"/><Relationship Id="rId18" Type="http://purl.oclc.org/ooxml/officeDocument/relationships/image" Target="../media/image20.wmf"/><Relationship Id="rId3" Type="http://purl.oclc.org/ooxml/officeDocument/relationships/image" Target="../media/image5.wmf"/><Relationship Id="rId7" Type="http://purl.oclc.org/ooxml/officeDocument/relationships/image" Target="../media/image9.wmf"/><Relationship Id="rId12" Type="http://purl.oclc.org/ooxml/officeDocument/relationships/image" Target="../media/image14.wmf"/><Relationship Id="rId17" Type="http://purl.oclc.org/ooxml/officeDocument/relationships/image" Target="../media/image19.emf"/><Relationship Id="rId2" Type="http://purl.oclc.org/ooxml/officeDocument/relationships/image" Target="../media/image4.wmf"/><Relationship Id="rId16" Type="http://purl.oclc.org/ooxml/officeDocument/relationships/image" Target="../media/image18.emf"/><Relationship Id="rId1" Type="http://purl.oclc.org/ooxml/officeDocument/relationships/image" Target="../media/image3.wmf"/><Relationship Id="rId6" Type="http://purl.oclc.org/ooxml/officeDocument/relationships/image" Target="../media/image8.wmf"/><Relationship Id="rId11" Type="http://purl.oclc.org/ooxml/officeDocument/relationships/image" Target="../media/image13.emf"/><Relationship Id="rId5" Type="http://purl.oclc.org/ooxml/officeDocument/relationships/image" Target="../media/image7.wmf"/><Relationship Id="rId15" Type="http://purl.oclc.org/ooxml/officeDocument/relationships/image" Target="../media/image17.emf"/><Relationship Id="rId10" Type="http://purl.oclc.org/ooxml/officeDocument/relationships/image" Target="../media/image12.emf"/><Relationship Id="rId4" Type="http://purl.oclc.org/ooxml/officeDocument/relationships/image" Target="../media/image6.wmf"/><Relationship Id="rId9" Type="http://purl.oclc.org/ooxml/officeDocument/relationships/image" Target="../media/image11.wmf"/><Relationship Id="rId14" Type="http://purl.oclc.org/ooxml/officeDocument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8" Type="http://purl.oclc.org/ooxml/officeDocument/relationships/image" Target="../media/image28.wmf"/><Relationship Id="rId13" Type="http://purl.oclc.org/ooxml/officeDocument/relationships/image" Target="../media/image33.wmf"/><Relationship Id="rId18" Type="http://purl.oclc.org/ooxml/officeDocument/relationships/image" Target="../media/image38.wmf"/><Relationship Id="rId3" Type="http://purl.oclc.org/ooxml/officeDocument/relationships/image" Target="../media/image23.wmf"/><Relationship Id="rId21" Type="http://purl.oclc.org/ooxml/officeDocument/relationships/image" Target="../media/image41.wmf"/><Relationship Id="rId7" Type="http://purl.oclc.org/ooxml/officeDocument/relationships/image" Target="../media/image27.wmf"/><Relationship Id="rId12" Type="http://purl.oclc.org/ooxml/officeDocument/relationships/image" Target="../media/image32.wmf"/><Relationship Id="rId17" Type="http://purl.oclc.org/ooxml/officeDocument/relationships/image" Target="../media/image37.wmf"/><Relationship Id="rId2" Type="http://purl.oclc.org/ooxml/officeDocument/relationships/image" Target="../media/image22.wmf"/><Relationship Id="rId16" Type="http://purl.oclc.org/ooxml/officeDocument/relationships/image" Target="../media/image36.wmf"/><Relationship Id="rId20" Type="http://purl.oclc.org/ooxml/officeDocument/relationships/image" Target="../media/image40.wmf"/><Relationship Id="rId1" Type="http://purl.oclc.org/ooxml/officeDocument/relationships/image" Target="../media/image21.wmf"/><Relationship Id="rId6" Type="http://purl.oclc.org/ooxml/officeDocument/relationships/image" Target="../media/image26.wmf"/><Relationship Id="rId11" Type="http://purl.oclc.org/ooxml/officeDocument/relationships/image" Target="../media/image31.wmf"/><Relationship Id="rId5" Type="http://purl.oclc.org/ooxml/officeDocument/relationships/image" Target="../media/image25.wmf"/><Relationship Id="rId15" Type="http://purl.oclc.org/ooxml/officeDocument/relationships/image" Target="../media/image35.wmf"/><Relationship Id="rId10" Type="http://purl.oclc.org/ooxml/officeDocument/relationships/image" Target="../media/image30.wmf"/><Relationship Id="rId19" Type="http://purl.oclc.org/ooxml/officeDocument/relationships/image" Target="../media/image39.wmf"/><Relationship Id="rId4" Type="http://purl.oclc.org/ooxml/officeDocument/relationships/image" Target="../media/image24.wmf"/><Relationship Id="rId9" Type="http://purl.oclc.org/ooxml/officeDocument/relationships/image" Target="../media/image29.wmf"/><Relationship Id="rId14" Type="http://purl.oclc.org/ooxml/officeDocument/relationships/image" Target="../media/image34.wmf"/><Relationship Id="rId22" Type="http://purl.oclc.org/ooxml/officeDocument/relationships/image" Target="../media/image42.wmf"/></Relationships>
</file>

<file path=ppt/drawings/_rels/vmlDrawing3.vml.rels><?xml version="1.0" encoding="UTF-8" standalone="yes"?>
<Relationships xmlns="http://schemas.openxmlformats.org/package/2006/relationships"><Relationship Id="rId3" Type="http://purl.oclc.org/ooxml/officeDocument/relationships/image" Target="../media/image45.emf"/><Relationship Id="rId2" Type="http://purl.oclc.org/ooxml/officeDocument/relationships/image" Target="../media/image44.emf"/><Relationship Id="rId1" Type="http://purl.oclc.org/ooxml/officeDocument/relationships/image" Target="../media/image43.emf"/><Relationship Id="rId5" Type="http://purl.oclc.org/ooxml/officeDocument/relationships/image" Target="../media/image47.emf"/><Relationship Id="rId4" Type="http://purl.oclc.org/ooxml/officeDocument/relationships/image" Target="../media/image46.emf"/></Relationships>
</file>

<file path=ppt/drawings/_rels/vmlDrawing4.vml.rels><?xml version="1.0" encoding="UTF-8" standalone="yes"?>
<Relationships xmlns="http://schemas.openxmlformats.org/package/2006/relationships"><Relationship Id="rId3" Type="http://purl.oclc.org/ooxml/officeDocument/relationships/image" Target="../media/image51.emf"/><Relationship Id="rId2" Type="http://purl.oclc.org/ooxml/officeDocument/relationships/image" Target="../media/image50.emf"/><Relationship Id="rId1" Type="http://purl.oclc.org/ooxml/officeDocument/relationships/image" Target="../media/image49.emf"/><Relationship Id="rId5" Type="http://purl.oclc.org/ooxml/officeDocument/relationships/image" Target="../media/image53.emf"/><Relationship Id="rId4" Type="http://purl.oclc.org/ooxml/officeDocument/relationships/image" Target="../media/image52.emf"/></Relationships>
</file>

<file path=ppt/drawings/_rels/vmlDrawing5.vml.rels><?xml version="1.0" encoding="UTF-8" standalone="yes"?>
<Relationships xmlns="http://schemas.openxmlformats.org/package/2006/relationships"><Relationship Id="rId2" Type="http://purl.oclc.org/ooxml/officeDocument/relationships/image" Target="../media/image55.wmf"/><Relationship Id="rId1" Type="http://purl.oclc.org/ooxml/officeDocument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3" Type="http://purl.oclc.org/ooxml/officeDocument/relationships/image" Target="../media/image58.wmf"/><Relationship Id="rId2" Type="http://purl.oclc.org/ooxml/officeDocument/relationships/image" Target="../media/image57.wmf"/><Relationship Id="rId1" Type="http://purl.oclc.org/ooxml/officeDocument/relationships/image" Target="../media/image56.wmf"/><Relationship Id="rId4" Type="http://purl.oclc.org/ooxml/officeDocument/relationships/image" Target="../media/image59.emf"/></Relationships>
</file>

<file path=ppt/drawings/_rels/vmlDrawing7.vml.rels><?xml version="1.0" encoding="UTF-8" standalone="yes"?>
<Relationships xmlns="http://schemas.openxmlformats.org/package/2006/relationships"><Relationship Id="rId3" Type="http://purl.oclc.org/ooxml/officeDocument/relationships/image" Target="../media/image62.wmf"/><Relationship Id="rId2" Type="http://purl.oclc.org/ooxml/officeDocument/relationships/image" Target="../media/image61.wmf"/><Relationship Id="rId1" Type="http://purl.oclc.org/ooxml/officeDocument/relationships/image" Target="../media/image60.wmf"/><Relationship Id="rId6" Type="http://purl.oclc.org/ooxml/officeDocument/relationships/image" Target="../media/image65.wmf"/><Relationship Id="rId5" Type="http://purl.oclc.org/ooxml/officeDocument/relationships/image" Target="../media/image64.wmf"/><Relationship Id="rId4" Type="http://purl.oclc.org/ooxml/officeDocument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3" Type="http://purl.oclc.org/ooxml/officeDocument/relationships/image" Target="../media/image68.wmf"/><Relationship Id="rId2" Type="http://purl.oclc.org/ooxml/officeDocument/relationships/image" Target="../media/image67.wmf"/><Relationship Id="rId1" Type="http://purl.oclc.org/ooxml/officeDocument/relationships/image" Target="../media/image66.wmf"/><Relationship Id="rId6" Type="http://purl.oclc.org/ooxml/officeDocument/relationships/image" Target="../media/image71.wmf"/><Relationship Id="rId5" Type="http://purl.oclc.org/ooxml/officeDocument/relationships/image" Target="../media/image70.wmf"/><Relationship Id="rId4" Type="http://purl.oclc.org/ooxml/officeDocument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8" Type="http://purl.oclc.org/ooxml/officeDocument/relationships/image" Target="../media/image79.wmf"/><Relationship Id="rId3" Type="http://purl.oclc.org/ooxml/officeDocument/relationships/image" Target="../media/image74.emf"/><Relationship Id="rId7" Type="http://purl.oclc.org/ooxml/officeDocument/relationships/image" Target="../media/image78.wmf"/><Relationship Id="rId2" Type="http://purl.oclc.org/ooxml/officeDocument/relationships/image" Target="../media/image73.emf"/><Relationship Id="rId1" Type="http://purl.oclc.org/ooxml/officeDocument/relationships/image" Target="../media/image72.emf"/><Relationship Id="rId6" Type="http://purl.oclc.org/ooxml/officeDocument/relationships/image" Target="../media/image77.wmf"/><Relationship Id="rId5" Type="http://purl.oclc.org/ooxml/officeDocument/relationships/image" Target="../media/image76.wmf"/><Relationship Id="rId4" Type="http://purl.oclc.org/ooxml/officeDocument/relationships/image" Target="../media/image75.emf"/></Relationships>
</file>

<file path=ppt/drawings/_rels/vmlDrawing10.vml.rels><?xml version="1.0" encoding="UTF-8" standalone="yes"?>
<Relationships xmlns="http://schemas.openxmlformats.org/package/2006/relationships"><Relationship Id="rId3" Type="http://purl.oclc.org/ooxml/officeDocument/relationships/image" Target="../media/image82.wmf"/><Relationship Id="rId2" Type="http://purl.oclc.org/ooxml/officeDocument/relationships/image" Target="../media/image81.wmf"/><Relationship Id="rId1" Type="http://purl.oclc.org/ooxml/officeDocument/relationships/image" Target="../media/image80.wmf"/><Relationship Id="rId4" Type="http://purl.oclc.org/ooxml/officeDocument/relationships/image" Target="../media/image83.wmf"/></Relationships>
</file>

<file path=ppt/drawings/_rels/vmlDrawing11.vml.rels><?xml version="1.0" encoding="UTF-8" standalone="yes"?>
<Relationships xmlns="http://schemas.openxmlformats.org/package/2006/relationships"><Relationship Id="rId3" Type="http://purl.oclc.org/ooxml/officeDocument/relationships/image" Target="../media/image86.emf"/><Relationship Id="rId2" Type="http://purl.oclc.org/ooxml/officeDocument/relationships/image" Target="../media/image85.emf"/><Relationship Id="rId1" Type="http://purl.oclc.org/ooxml/officeDocument/relationships/image" Target="../media/image84.emf"/><Relationship Id="rId5" Type="http://purl.oclc.org/ooxml/officeDocument/relationships/image" Target="../media/image88.wmf"/><Relationship Id="rId4" Type="http://purl.oclc.org/ooxml/officeDocument/relationships/image" Target="../media/image87.emf"/></Relationships>
</file>

<file path=ppt/drawings/_rels/vmlDrawing12.vml.rels><?xml version="1.0" encoding="UTF-8" standalone="yes"?>
<Relationships xmlns="http://schemas.openxmlformats.org/package/2006/relationships"><Relationship Id="rId8" Type="http://purl.oclc.org/ooxml/officeDocument/relationships/image" Target="../media/image97.emf"/><Relationship Id="rId3" Type="http://purl.oclc.org/ooxml/officeDocument/relationships/image" Target="../media/image92.wmf"/><Relationship Id="rId7" Type="http://purl.oclc.org/ooxml/officeDocument/relationships/image" Target="../media/image96.emf"/><Relationship Id="rId2" Type="http://purl.oclc.org/ooxml/officeDocument/relationships/image" Target="../media/image91.wmf"/><Relationship Id="rId1" Type="http://purl.oclc.org/ooxml/officeDocument/relationships/image" Target="../media/image90.wmf"/><Relationship Id="rId6" Type="http://purl.oclc.org/ooxml/officeDocument/relationships/image" Target="../media/image95.emf"/><Relationship Id="rId11" Type="http://purl.oclc.org/ooxml/officeDocument/relationships/image" Target="../media/image100.wmf"/><Relationship Id="rId5" Type="http://purl.oclc.org/ooxml/officeDocument/relationships/image" Target="../media/image94.emf"/><Relationship Id="rId10" Type="http://purl.oclc.org/ooxml/officeDocument/relationships/image" Target="../media/image99.emf"/><Relationship Id="rId4" Type="http://purl.oclc.org/ooxml/officeDocument/relationships/image" Target="../media/image93.wmf"/><Relationship Id="rId9" Type="http://purl.oclc.org/ooxml/officeDocument/relationships/image" Target="../media/image98.emf"/></Relationships>
</file>

<file path=ppt/drawings/_rels/vmlDrawing13.vml.rels><?xml version="1.0" encoding="UTF-8" standalone="yes"?>
<Relationships xmlns="http://schemas.openxmlformats.org/package/2006/relationships"><Relationship Id="rId3" Type="http://purl.oclc.org/ooxml/officeDocument/relationships/image" Target="../media/image104.wmf"/><Relationship Id="rId2" Type="http://purl.oclc.org/ooxml/officeDocument/relationships/image" Target="../media/image103.wmf"/><Relationship Id="rId1" Type="http://purl.oclc.org/ooxml/officeDocument/relationships/image" Target="../media/image102.wmf"/><Relationship Id="rId5" Type="http://purl.oclc.org/ooxml/officeDocument/relationships/image" Target="../media/image106.emf"/><Relationship Id="rId4" Type="http://purl.oclc.org/ooxml/officeDocument/relationships/image" Target="../media/image105.wmf"/></Relationships>
</file>

<file path=ppt/drawings/_rels/vmlDrawing14.vml.rels><?xml version="1.0" encoding="UTF-8" standalone="yes"?>
<Relationships xmlns="http://schemas.openxmlformats.org/package/2006/relationships"><Relationship Id="rId3" Type="http://purl.oclc.org/ooxml/officeDocument/relationships/image" Target="../media/image109.wmf"/><Relationship Id="rId2" Type="http://purl.oclc.org/ooxml/officeDocument/relationships/image" Target="../media/image108.wmf"/><Relationship Id="rId1" Type="http://purl.oclc.org/ooxml/officeDocument/relationships/image" Target="../media/image107.wmf"/></Relationships>
</file>

<file path=ppt/drawings/_rels/vmlDrawing15.vml.rels><?xml version="1.0" encoding="UTF-8" standalone="yes"?>
<Relationships xmlns="http://schemas.openxmlformats.org/package/2006/relationships"><Relationship Id="rId2" Type="http://purl.oclc.org/ooxml/officeDocument/relationships/image" Target="../media/image111.wmf"/><Relationship Id="rId1" Type="http://purl.oclc.org/ooxml/officeDocument/relationships/image" Target="../media/image110.wmf"/></Relationships>
</file>

<file path=ppt/drawings/_rels/vmlDrawing16.vml.rels><?xml version="1.0" encoding="UTF-8" standalone="yes"?>
<Relationships xmlns="http://schemas.openxmlformats.org/package/2006/relationships"><Relationship Id="rId8" Type="http://purl.oclc.org/ooxml/officeDocument/relationships/image" Target="../media/image119.wmf"/><Relationship Id="rId3" Type="http://purl.oclc.org/ooxml/officeDocument/relationships/image" Target="../media/image114.wmf"/><Relationship Id="rId7" Type="http://purl.oclc.org/ooxml/officeDocument/relationships/image" Target="../media/image118.wmf"/><Relationship Id="rId2" Type="http://purl.oclc.org/ooxml/officeDocument/relationships/image" Target="../media/image113.wmf"/><Relationship Id="rId1" Type="http://purl.oclc.org/ooxml/officeDocument/relationships/image" Target="../media/image112.wmf"/><Relationship Id="rId6" Type="http://purl.oclc.org/ooxml/officeDocument/relationships/image" Target="../media/image117.wmf"/><Relationship Id="rId5" Type="http://purl.oclc.org/ooxml/officeDocument/relationships/image" Target="../media/image116.wmf"/><Relationship Id="rId4" Type="http://purl.oclc.org/ooxml/officeDocument/relationships/image" Target="../media/image115.wmf"/></Relationships>
</file>

<file path=ppt/drawings/_rels/vmlDrawing17.vml.rels><?xml version="1.0" encoding="UTF-8" standalone="yes"?>
<Relationships xmlns="http://schemas.openxmlformats.org/package/2006/relationships"><Relationship Id="rId8" Type="http://purl.oclc.org/ooxml/officeDocument/relationships/image" Target="../media/image127.wmf"/><Relationship Id="rId3" Type="http://purl.oclc.org/ooxml/officeDocument/relationships/image" Target="../media/image122.wmf"/><Relationship Id="rId7" Type="http://purl.oclc.org/ooxml/officeDocument/relationships/image" Target="../media/image126.wmf"/><Relationship Id="rId2" Type="http://purl.oclc.org/ooxml/officeDocument/relationships/image" Target="../media/image121.wmf"/><Relationship Id="rId1" Type="http://purl.oclc.org/ooxml/officeDocument/relationships/image" Target="../media/image120.wmf"/><Relationship Id="rId6" Type="http://purl.oclc.org/ooxml/officeDocument/relationships/image" Target="../media/image125.wmf"/><Relationship Id="rId5" Type="http://purl.oclc.org/ooxml/officeDocument/relationships/image" Target="../media/image124.wmf"/><Relationship Id="rId4" Type="http://purl.oclc.org/ooxml/officeDocument/relationships/image" Target="../media/image123.wmf"/></Relationships>
</file>

<file path=ppt/drawings/_rels/vmlDrawing18.vml.rels><?xml version="1.0" encoding="UTF-8" standalone="yes"?>
<Relationships xmlns="http://schemas.openxmlformats.org/package/2006/relationships"><Relationship Id="rId2" Type="http://purl.oclc.org/ooxml/officeDocument/relationships/image" Target="../media/image129.wmf"/><Relationship Id="rId1" Type="http://purl.oclc.org/ooxml/officeDocument/relationships/image" Target="../media/image128.wmf"/></Relationships>
</file>

<file path=ppt/drawings/_rels/vmlDrawing19.vml.rels><?xml version="1.0" encoding="UTF-8" standalone="yes"?>
<Relationships xmlns="http://schemas.openxmlformats.org/package/2006/relationships"><Relationship Id="rId3" Type="http://purl.oclc.org/ooxml/officeDocument/relationships/image" Target="../media/image133.wmf"/><Relationship Id="rId2" Type="http://purl.oclc.org/ooxml/officeDocument/relationships/image" Target="../media/image132.wmf"/><Relationship Id="rId1" Type="http://purl.oclc.org/ooxml/officeDocument/relationships/image" Target="../media/image131.wmf"/><Relationship Id="rId6" Type="http://purl.oclc.org/ooxml/officeDocument/relationships/image" Target="../media/image136.wmf"/><Relationship Id="rId5" Type="http://purl.oclc.org/ooxml/officeDocument/relationships/image" Target="../media/image135.wmf"/><Relationship Id="rId4" Type="http://purl.oclc.org/ooxml/officeDocument/relationships/image" Target="../media/image134.wmf"/></Relationships>
</file>

<file path=ppt/drawings/_rels/vmlDrawing20.vml.rels><?xml version="1.0" encoding="UTF-8" standalone="yes"?>
<Relationships xmlns="http://schemas.openxmlformats.org/package/2006/relationships"><Relationship Id="rId3" Type="http://purl.oclc.org/ooxml/officeDocument/relationships/image" Target="../media/image139.wmf"/><Relationship Id="rId2" Type="http://purl.oclc.org/ooxml/officeDocument/relationships/image" Target="../media/image138.wmf"/><Relationship Id="rId1" Type="http://purl.oclc.org/ooxml/officeDocument/relationships/image" Target="../media/image137.wmf"/><Relationship Id="rId4" Type="http://purl.oclc.org/ooxml/officeDocument/relationships/image" Target="../media/image140.wmf"/></Relationships>
</file>

<file path=ppt/drawings/_rels/vmlDrawing21.vml.rels><?xml version="1.0" encoding="UTF-8" standalone="yes"?>
<Relationships xmlns="http://schemas.openxmlformats.org/package/2006/relationships"><Relationship Id="rId3" Type="http://purl.oclc.org/ooxml/officeDocument/relationships/image" Target="../media/image143.wmf"/><Relationship Id="rId2" Type="http://purl.oclc.org/ooxml/officeDocument/relationships/image" Target="../media/image142.wmf"/><Relationship Id="rId1" Type="http://purl.oclc.org/ooxml/officeDocument/relationships/image" Target="../media/image141.wmf"/></Relationships>
</file>

<file path=ppt/drawings/_rels/vmlDrawing22.vml.rels><?xml version="1.0" encoding="UTF-8" standalone="yes"?>
<Relationships xmlns="http://schemas.openxmlformats.org/package/2006/relationships"><Relationship Id="rId3" Type="http://purl.oclc.org/ooxml/officeDocument/relationships/image" Target="../media/image146.wmf"/><Relationship Id="rId2" Type="http://purl.oclc.org/ooxml/officeDocument/relationships/image" Target="../media/image145.wmf"/><Relationship Id="rId1" Type="http://purl.oclc.org/ooxml/officeDocument/relationships/image" Target="../media/image144.wmf"/><Relationship Id="rId4" Type="http://purl.oclc.org/ooxml/officeDocument/relationships/image" Target="../media/image147.wmf"/></Relationships>
</file>

<file path=ppt/drawings/_rels/vmlDrawing23.vml.rels><?xml version="1.0" encoding="UTF-8" standalone="yes"?>
<Relationships xmlns="http://schemas.openxmlformats.org/package/2006/relationships"><Relationship Id="rId3" Type="http://purl.oclc.org/ooxml/officeDocument/relationships/image" Target="../media/image152.wmf"/><Relationship Id="rId2" Type="http://purl.oclc.org/ooxml/officeDocument/relationships/image" Target="../media/image151.wmf"/><Relationship Id="rId1" Type="http://purl.oclc.org/ooxml/officeDocument/relationships/image" Target="../media/image150.wmf"/><Relationship Id="rId5" Type="http://purl.oclc.org/ooxml/officeDocument/relationships/image" Target="../media/image153.emf"/><Relationship Id="rId4" Type="http://purl.oclc.org/ooxml/officeDocument/relationships/image" Target="../media/image145.wmf"/></Relationships>
</file>

<file path=ppt/drawings/_rels/vmlDrawing24.vml.rels><?xml version="1.0" encoding="UTF-8" standalone="yes"?>
<Relationships xmlns="http://schemas.openxmlformats.org/package/2006/relationships"><Relationship Id="rId3" Type="http://purl.oclc.org/ooxml/officeDocument/relationships/image" Target="../media/image156.wmf"/><Relationship Id="rId7" Type="http://purl.oclc.org/ooxml/officeDocument/relationships/image" Target="../media/image160.emf"/><Relationship Id="rId2" Type="http://purl.oclc.org/ooxml/officeDocument/relationships/image" Target="../media/image155.wmf"/><Relationship Id="rId1" Type="http://purl.oclc.org/ooxml/officeDocument/relationships/image" Target="../media/image154.wmf"/><Relationship Id="rId6" Type="http://purl.oclc.org/ooxml/officeDocument/relationships/image" Target="../media/image159.emf"/><Relationship Id="rId5" Type="http://purl.oclc.org/ooxml/officeDocument/relationships/image" Target="../media/image158.wmf"/><Relationship Id="rId4" Type="http://purl.oclc.org/ooxml/officeDocument/relationships/image" Target="../media/image157.wmf"/></Relationships>
</file>

<file path=ppt/drawings/_rels/vmlDrawing25.vml.rels><?xml version="1.0" encoding="UTF-8" standalone="yes"?>
<Relationships xmlns="http://schemas.openxmlformats.org/package/2006/relationships"><Relationship Id="rId3" Type="http://purl.oclc.org/ooxml/officeDocument/relationships/image" Target="../media/image163.emf"/><Relationship Id="rId2" Type="http://purl.oclc.org/ooxml/officeDocument/relationships/image" Target="../media/image162.emf"/><Relationship Id="rId1" Type="http://purl.oclc.org/ooxml/officeDocument/relationships/image" Target="../media/image161.wmf"/><Relationship Id="rId6" Type="http://purl.oclc.org/ooxml/officeDocument/relationships/image" Target="../media/image166.wmf"/><Relationship Id="rId5" Type="http://purl.oclc.org/ooxml/officeDocument/relationships/image" Target="../media/image165.wmf"/><Relationship Id="rId4" Type="http://purl.oclc.org/ooxml/officeDocument/relationships/image" Target="../media/image164.wmf"/></Relationships>
</file>

<file path=ppt/drawings/_rels/vmlDrawing26.vml.rels><?xml version="1.0" encoding="UTF-8" standalone="yes"?>
<Relationships xmlns="http://schemas.openxmlformats.org/package/2006/relationships"><Relationship Id="rId3" Type="http://purl.oclc.org/ooxml/officeDocument/relationships/image" Target="../media/image169.wmf"/><Relationship Id="rId7" Type="http://purl.oclc.org/ooxml/officeDocument/relationships/image" Target="../media/image166.wmf"/><Relationship Id="rId2" Type="http://purl.oclc.org/ooxml/officeDocument/relationships/image" Target="../media/image168.wmf"/><Relationship Id="rId1" Type="http://purl.oclc.org/ooxml/officeDocument/relationships/image" Target="../media/image167.wmf"/><Relationship Id="rId6" Type="http://purl.oclc.org/ooxml/officeDocument/relationships/image" Target="../media/image172.emf"/><Relationship Id="rId5" Type="http://purl.oclc.org/ooxml/officeDocument/relationships/image" Target="../media/image171.emf"/><Relationship Id="rId4" Type="http://purl.oclc.org/ooxml/officeDocument/relationships/image" Target="../media/image170.wmf"/></Relationships>
</file>

<file path=ppt/drawings/_rels/vmlDrawing27.vml.rels><?xml version="1.0" encoding="UTF-8" standalone="yes"?>
<Relationships xmlns="http://schemas.openxmlformats.org/package/2006/relationships"><Relationship Id="rId8" Type="http://purl.oclc.org/ooxml/officeDocument/relationships/image" Target="../media/image181.emf"/><Relationship Id="rId13" Type="http://purl.oclc.org/ooxml/officeDocument/relationships/image" Target="../media/image186.emf"/><Relationship Id="rId3" Type="http://purl.oclc.org/ooxml/officeDocument/relationships/image" Target="../media/image176.emf"/><Relationship Id="rId7" Type="http://purl.oclc.org/ooxml/officeDocument/relationships/image" Target="../media/image180.emf"/><Relationship Id="rId12" Type="http://purl.oclc.org/ooxml/officeDocument/relationships/image" Target="../media/image185.emf"/><Relationship Id="rId2" Type="http://purl.oclc.org/ooxml/officeDocument/relationships/image" Target="../media/image175.emf"/><Relationship Id="rId1" Type="http://purl.oclc.org/ooxml/officeDocument/relationships/image" Target="../media/image174.emf"/><Relationship Id="rId6" Type="http://purl.oclc.org/ooxml/officeDocument/relationships/image" Target="../media/image179.emf"/><Relationship Id="rId11" Type="http://purl.oclc.org/ooxml/officeDocument/relationships/image" Target="../media/image184.emf"/><Relationship Id="rId5" Type="http://purl.oclc.org/ooxml/officeDocument/relationships/image" Target="../media/image178.emf"/><Relationship Id="rId10" Type="http://purl.oclc.org/ooxml/officeDocument/relationships/image" Target="../media/image183.emf"/><Relationship Id="rId4" Type="http://purl.oclc.org/ooxml/officeDocument/relationships/image" Target="../media/image177.emf"/><Relationship Id="rId9" Type="http://purl.oclc.org/ooxml/officeDocument/relationships/image" Target="../media/image182.emf"/></Relationships>
</file>

<file path=ppt/drawings/_rels/vmlDrawing28.vml.rels><?xml version="1.0" encoding="UTF-8" standalone="yes"?>
<Relationships xmlns="http://schemas.openxmlformats.org/package/2006/relationships"><Relationship Id="rId8" Type="http://purl.oclc.org/ooxml/officeDocument/relationships/image" Target="../media/image194.emf"/><Relationship Id="rId3" Type="http://purl.oclc.org/ooxml/officeDocument/relationships/image" Target="../media/image189.emf"/><Relationship Id="rId7" Type="http://purl.oclc.org/ooxml/officeDocument/relationships/image" Target="../media/image193.emf"/><Relationship Id="rId2" Type="http://purl.oclc.org/ooxml/officeDocument/relationships/image" Target="../media/image188.emf"/><Relationship Id="rId1" Type="http://purl.oclc.org/ooxml/officeDocument/relationships/image" Target="../media/image187.emf"/><Relationship Id="rId6" Type="http://purl.oclc.org/ooxml/officeDocument/relationships/image" Target="../media/image192.emf"/><Relationship Id="rId5" Type="http://purl.oclc.org/ooxml/officeDocument/relationships/image" Target="../media/image191.emf"/><Relationship Id="rId10" Type="http://purl.oclc.org/ooxml/officeDocument/relationships/image" Target="../media/image196.emf"/><Relationship Id="rId4" Type="http://purl.oclc.org/ooxml/officeDocument/relationships/image" Target="../media/image190.emf"/><Relationship Id="rId9" Type="http://purl.oclc.org/ooxml/officeDocument/relationships/image" Target="../media/image195.emf"/></Relationships>
</file>

<file path=ppt/drawings/_rels/vmlDrawing29.vml.rels><?xml version="1.0" encoding="UTF-8" standalone="yes"?>
<Relationships xmlns="http://schemas.openxmlformats.org/package/2006/relationships"><Relationship Id="rId8" Type="http://purl.oclc.org/ooxml/officeDocument/relationships/image" Target="../media/image204.wmf"/><Relationship Id="rId13" Type="http://purl.oclc.org/ooxml/officeDocument/relationships/image" Target="../media/image209.wmf"/><Relationship Id="rId18" Type="http://purl.oclc.org/ooxml/officeDocument/relationships/image" Target="../media/image214.wmf"/><Relationship Id="rId3" Type="http://purl.oclc.org/ooxml/officeDocument/relationships/image" Target="../media/image199.wmf"/><Relationship Id="rId21" Type="http://purl.oclc.org/ooxml/officeDocument/relationships/image" Target="../media/image217.wmf"/><Relationship Id="rId7" Type="http://purl.oclc.org/ooxml/officeDocument/relationships/image" Target="../media/image203.wmf"/><Relationship Id="rId12" Type="http://purl.oclc.org/ooxml/officeDocument/relationships/image" Target="../media/image208.wmf"/><Relationship Id="rId17" Type="http://purl.oclc.org/ooxml/officeDocument/relationships/image" Target="../media/image213.wmf"/><Relationship Id="rId2" Type="http://purl.oclc.org/ooxml/officeDocument/relationships/image" Target="../media/image198.wmf"/><Relationship Id="rId16" Type="http://purl.oclc.org/ooxml/officeDocument/relationships/image" Target="../media/image212.wmf"/><Relationship Id="rId20" Type="http://purl.oclc.org/ooxml/officeDocument/relationships/image" Target="../media/image216.wmf"/><Relationship Id="rId1" Type="http://purl.oclc.org/ooxml/officeDocument/relationships/image" Target="../media/image197.wmf"/><Relationship Id="rId6" Type="http://purl.oclc.org/ooxml/officeDocument/relationships/image" Target="../media/image202.wmf"/><Relationship Id="rId11" Type="http://purl.oclc.org/ooxml/officeDocument/relationships/image" Target="../media/image207.wmf"/><Relationship Id="rId24" Type="http://purl.oclc.org/ooxml/officeDocument/relationships/image" Target="../media/image220.emf"/><Relationship Id="rId5" Type="http://purl.oclc.org/ooxml/officeDocument/relationships/image" Target="../media/image201.wmf"/><Relationship Id="rId15" Type="http://purl.oclc.org/ooxml/officeDocument/relationships/image" Target="../media/image211.wmf"/><Relationship Id="rId23" Type="http://purl.oclc.org/ooxml/officeDocument/relationships/image" Target="../media/image219.wmf"/><Relationship Id="rId10" Type="http://purl.oclc.org/ooxml/officeDocument/relationships/image" Target="../media/image206.wmf"/><Relationship Id="rId19" Type="http://purl.oclc.org/ooxml/officeDocument/relationships/image" Target="../media/image215.wmf"/><Relationship Id="rId4" Type="http://purl.oclc.org/ooxml/officeDocument/relationships/image" Target="../media/image200.wmf"/><Relationship Id="rId9" Type="http://purl.oclc.org/ooxml/officeDocument/relationships/image" Target="../media/image205.wmf"/><Relationship Id="rId14" Type="http://purl.oclc.org/ooxml/officeDocument/relationships/image" Target="../media/image210.wmf"/><Relationship Id="rId22" Type="http://purl.oclc.org/ooxml/officeDocument/relationships/image" Target="../media/image218.wmf"/></Relationships>
</file>

<file path=ppt/drawings/_rels/vmlDrawing30.vml.rels><?xml version="1.0" encoding="UTF-8" standalone="yes"?>
<Relationships xmlns="http://schemas.openxmlformats.org/package/2006/relationships"><Relationship Id="rId8" Type="http://purl.oclc.org/ooxml/officeDocument/relationships/image" Target="../media/image228.wmf"/><Relationship Id="rId3" Type="http://purl.oclc.org/ooxml/officeDocument/relationships/image" Target="../media/image223.wmf"/><Relationship Id="rId7" Type="http://purl.oclc.org/ooxml/officeDocument/relationships/image" Target="../media/image227.wmf"/><Relationship Id="rId2" Type="http://purl.oclc.org/ooxml/officeDocument/relationships/image" Target="../media/image222.wmf"/><Relationship Id="rId1" Type="http://purl.oclc.org/ooxml/officeDocument/relationships/image" Target="../media/image221.wmf"/><Relationship Id="rId6" Type="http://purl.oclc.org/ooxml/officeDocument/relationships/image" Target="../media/image226.wmf"/><Relationship Id="rId5" Type="http://purl.oclc.org/ooxml/officeDocument/relationships/image" Target="../media/image225.wmf"/><Relationship Id="rId4" Type="http://purl.oclc.org/ooxml/officeDocument/relationships/image" Target="../media/image224.wmf"/><Relationship Id="rId9" Type="http://purl.oclc.org/ooxml/officeDocument/relationships/image" Target="../media/image229.wmf"/></Relationships>
</file>

<file path=ppt/drawings/_rels/vmlDrawing31.vml.rels><?xml version="1.0" encoding="UTF-8" standalone="yes"?>
<Relationships xmlns="http://schemas.openxmlformats.org/package/2006/relationships"><Relationship Id="rId3" Type="http://purl.oclc.org/ooxml/officeDocument/relationships/image" Target="../media/image232.wmf"/><Relationship Id="rId2" Type="http://purl.oclc.org/ooxml/officeDocument/relationships/image" Target="../media/image231.wmf"/><Relationship Id="rId1" Type="http://purl.oclc.org/ooxml/officeDocument/relationships/image" Target="../media/image230.wmf"/><Relationship Id="rId5" Type="http://purl.oclc.org/ooxml/officeDocument/relationships/image" Target="../media/image234.wmf"/><Relationship Id="rId4" Type="http://purl.oclc.org/ooxml/officeDocument/relationships/image" Target="../media/image233.wmf"/></Relationships>
</file>

<file path=ppt/drawings/_rels/vmlDrawing32.vml.rels><?xml version="1.0" encoding="UTF-8" standalone="yes"?>
<Relationships xmlns="http://schemas.openxmlformats.org/package/2006/relationships"><Relationship Id="rId8" Type="http://purl.oclc.org/ooxml/officeDocument/relationships/image" Target="../media/image242.wmf"/><Relationship Id="rId3" Type="http://purl.oclc.org/ooxml/officeDocument/relationships/image" Target="../media/image237.emf"/><Relationship Id="rId7" Type="http://purl.oclc.org/ooxml/officeDocument/relationships/image" Target="../media/image241.emf"/><Relationship Id="rId2" Type="http://purl.oclc.org/ooxml/officeDocument/relationships/image" Target="../media/image236.emf"/><Relationship Id="rId1" Type="http://purl.oclc.org/ooxml/officeDocument/relationships/image" Target="../media/image235.emf"/><Relationship Id="rId6" Type="http://purl.oclc.org/ooxml/officeDocument/relationships/image" Target="../media/image240.emf"/><Relationship Id="rId5" Type="http://purl.oclc.org/ooxml/officeDocument/relationships/image" Target="../media/image239.emf"/><Relationship Id="rId4" Type="http://purl.oclc.org/ooxml/officeDocument/relationships/image" Target="../media/image238.emf"/><Relationship Id="rId9" Type="http://purl.oclc.org/ooxml/officeDocument/relationships/image" Target="../media/image243.wmf"/></Relationships>
</file>

<file path=ppt/drawings/_rels/vmlDrawing33.vml.rels><?xml version="1.0" encoding="UTF-8" standalone="yes"?>
<Relationships xmlns="http://schemas.openxmlformats.org/package/2006/relationships"><Relationship Id="rId8" Type="http://purl.oclc.org/ooxml/officeDocument/relationships/image" Target="../media/image251.emf"/><Relationship Id="rId3" Type="http://purl.oclc.org/ooxml/officeDocument/relationships/image" Target="../media/image246.emf"/><Relationship Id="rId7" Type="http://purl.oclc.org/ooxml/officeDocument/relationships/image" Target="../media/image250.emf"/><Relationship Id="rId2" Type="http://purl.oclc.org/ooxml/officeDocument/relationships/image" Target="../media/image245.emf"/><Relationship Id="rId1" Type="http://purl.oclc.org/ooxml/officeDocument/relationships/image" Target="../media/image244.emf"/><Relationship Id="rId6" Type="http://purl.oclc.org/ooxml/officeDocument/relationships/image" Target="../media/image249.emf"/><Relationship Id="rId5" Type="http://purl.oclc.org/ooxml/officeDocument/relationships/image" Target="../media/image248.emf"/><Relationship Id="rId4" Type="http://purl.oclc.org/ooxml/officeDocument/relationships/image" Target="../media/image247.emf"/></Relationships>
</file>

<file path=ppt/drawings/_rels/vmlDrawing34.vml.rels><?xml version="1.0" encoding="UTF-8" standalone="yes"?>
<Relationships xmlns="http://schemas.openxmlformats.org/package/2006/relationships"><Relationship Id="rId3" Type="http://purl.oclc.org/ooxml/officeDocument/relationships/image" Target="../media/image254.wmf"/><Relationship Id="rId2" Type="http://purl.oclc.org/ooxml/officeDocument/relationships/image" Target="../media/image253.wmf"/><Relationship Id="rId1" Type="http://purl.oclc.org/ooxml/officeDocument/relationships/image" Target="../media/image252.wmf"/></Relationships>
</file>

<file path=ppt/drawings/_rels/vmlDrawing35.vml.rels><?xml version="1.0" encoding="UTF-8" standalone="yes"?>
<Relationships xmlns="http://schemas.openxmlformats.org/package/2006/relationships"><Relationship Id="rId3" Type="http://purl.oclc.org/ooxml/officeDocument/relationships/image" Target="../media/image257.wmf"/><Relationship Id="rId2" Type="http://purl.oclc.org/ooxml/officeDocument/relationships/image" Target="../media/image256.wmf"/><Relationship Id="rId1" Type="http://purl.oclc.org/ooxml/officeDocument/relationships/image" Target="../media/image255.wmf"/><Relationship Id="rId6" Type="http://purl.oclc.org/ooxml/officeDocument/relationships/image" Target="../media/image260.wmf"/><Relationship Id="rId5" Type="http://purl.oclc.org/ooxml/officeDocument/relationships/image" Target="../media/image259.wmf"/><Relationship Id="rId4" Type="http://purl.oclc.org/ooxml/officeDocument/relationships/image" Target="../media/image258.wmf"/></Relationships>
</file>

<file path=ppt/drawings/_rels/vmlDrawing36.vml.rels><?xml version="1.0" encoding="UTF-8" standalone="yes"?>
<Relationships xmlns="http://schemas.openxmlformats.org/package/2006/relationships"><Relationship Id="rId3" Type="http://purl.oclc.org/ooxml/officeDocument/relationships/image" Target="../media/image263.wmf"/><Relationship Id="rId2" Type="http://purl.oclc.org/ooxml/officeDocument/relationships/image" Target="../media/image262.wmf"/><Relationship Id="rId1" Type="http://purl.oclc.org/ooxml/officeDocument/relationships/image" Target="../media/image261.wmf"/><Relationship Id="rId4" Type="http://purl.oclc.org/ooxml/officeDocument/relationships/image" Target="../media/image264.wmf"/></Relationships>
</file>

<file path=ppt/drawings/_rels/vmlDrawing37.vml.rels><?xml version="1.0" encoding="UTF-8" standalone="yes"?>
<Relationships xmlns="http://schemas.openxmlformats.org/package/2006/relationships"><Relationship Id="rId3" Type="http://purl.oclc.org/ooxml/officeDocument/relationships/image" Target="../media/image267.wmf"/><Relationship Id="rId2" Type="http://purl.oclc.org/ooxml/officeDocument/relationships/image" Target="../media/image266.wmf"/><Relationship Id="rId1" Type="http://purl.oclc.org/ooxml/officeDocument/relationships/image" Target="../media/image265.wmf"/><Relationship Id="rId4" Type="http://purl.oclc.org/ooxml/officeDocument/relationships/image" Target="../media/image268.wmf"/></Relationships>
</file>

<file path=ppt/drawings/_rels/vmlDrawing38.vml.rels><?xml version="1.0" encoding="UTF-8" standalone="yes"?>
<Relationships xmlns="http://schemas.openxmlformats.org/package/2006/relationships"><Relationship Id="rId3" Type="http://purl.oclc.org/ooxml/officeDocument/relationships/image" Target="../media/image271.wmf"/><Relationship Id="rId2" Type="http://purl.oclc.org/ooxml/officeDocument/relationships/image" Target="../media/image270.wmf"/><Relationship Id="rId1" Type="http://purl.oclc.org/ooxml/officeDocument/relationships/image" Target="../media/image269.wmf"/><Relationship Id="rId4" Type="http://purl.oclc.org/ooxml/officeDocument/relationships/image" Target="../media/image272.wmf"/></Relationships>
</file>

<file path=ppt/drawings/_rels/vmlDrawing39.vml.rels><?xml version="1.0" encoding="UTF-8" standalone="yes"?>
<Relationships xmlns="http://schemas.openxmlformats.org/package/2006/relationships"><Relationship Id="rId2" Type="http://purl.oclc.org/ooxml/officeDocument/relationships/image" Target="../media/image274.wmf"/><Relationship Id="rId1" Type="http://purl.oclc.org/ooxml/officeDocument/relationships/image" Target="../media/image273.wmf"/></Relationships>
</file>

<file path=ppt/drawings/_rels/vmlDrawing40.vml.rels><?xml version="1.0" encoding="UTF-8" standalone="yes"?>
<Relationships xmlns="http://schemas.openxmlformats.org/package/2006/relationships"><Relationship Id="rId3" Type="http://purl.oclc.org/ooxml/officeDocument/relationships/image" Target="../media/image277.emf"/><Relationship Id="rId2" Type="http://purl.oclc.org/ooxml/officeDocument/relationships/image" Target="../media/image276.emf"/><Relationship Id="rId1" Type="http://purl.oclc.org/ooxml/officeDocument/relationships/image" Target="../media/image275.emf"/><Relationship Id="rId4" Type="http://purl.oclc.org/ooxml/officeDocument/relationships/image" Target="../media/image278.emf"/></Relationships>
</file>

<file path=ppt/drawings/_rels/vmlDrawing41.vml.rels><?xml version="1.0" encoding="UTF-8" standalone="yes"?>
<Relationships xmlns="http://schemas.openxmlformats.org/package/2006/relationships"><Relationship Id="rId2" Type="http://purl.oclc.org/ooxml/officeDocument/relationships/image" Target="../media/image280.emf"/><Relationship Id="rId1" Type="http://purl.oclc.org/ooxml/officeDocument/relationships/image" Target="../media/image279.emf"/></Relationships>
</file>

<file path=ppt/drawings/_rels/vmlDrawing42.vml.rels><?xml version="1.0" encoding="UTF-8" standalone="yes"?>
<Relationships xmlns="http://schemas.openxmlformats.org/package/2006/relationships"><Relationship Id="rId3" Type="http://purl.oclc.org/ooxml/officeDocument/relationships/image" Target="../media/image283.wmf"/><Relationship Id="rId2" Type="http://purl.oclc.org/ooxml/officeDocument/relationships/image" Target="../media/image282.wmf"/><Relationship Id="rId1" Type="http://purl.oclc.org/ooxml/officeDocument/relationships/image" Target="../media/image281.wmf"/><Relationship Id="rId6" Type="http://purl.oclc.org/ooxml/officeDocument/relationships/image" Target="../media/image286.wmf"/><Relationship Id="rId5" Type="http://purl.oclc.org/ooxml/officeDocument/relationships/image" Target="../media/image285.wmf"/><Relationship Id="rId4" Type="http://purl.oclc.org/ooxml/officeDocument/relationships/image" Target="../media/image284.wmf"/></Relationships>
</file>

<file path=ppt/drawings/_rels/vmlDrawing43.vml.rels><?xml version="1.0" encoding="UTF-8" standalone="yes"?>
<Relationships xmlns="http://schemas.openxmlformats.org/package/2006/relationships"><Relationship Id="rId8" Type="http://purl.oclc.org/ooxml/officeDocument/relationships/image" Target="../media/image294.wmf"/><Relationship Id="rId3" Type="http://purl.oclc.org/ooxml/officeDocument/relationships/image" Target="../media/image289.wmf"/><Relationship Id="rId7" Type="http://purl.oclc.org/ooxml/officeDocument/relationships/image" Target="../media/image293.wmf"/><Relationship Id="rId2" Type="http://purl.oclc.org/ooxml/officeDocument/relationships/image" Target="../media/image288.wmf"/><Relationship Id="rId1" Type="http://purl.oclc.org/ooxml/officeDocument/relationships/image" Target="../media/image287.wmf"/><Relationship Id="rId6" Type="http://purl.oclc.org/ooxml/officeDocument/relationships/image" Target="../media/image292.wmf"/><Relationship Id="rId5" Type="http://purl.oclc.org/ooxml/officeDocument/relationships/image" Target="../media/image291.wmf"/><Relationship Id="rId10" Type="http://purl.oclc.org/ooxml/officeDocument/relationships/image" Target="../media/image296.wmf"/><Relationship Id="rId4" Type="http://purl.oclc.org/ooxml/officeDocument/relationships/image" Target="../media/image290.wmf"/><Relationship Id="rId9" Type="http://purl.oclc.org/ooxml/officeDocument/relationships/image" Target="../media/image295.wmf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878DE-B928-45C6-900C-F9E502CD8632}" type="datetimeFigureOut">
              <a:rPr lang="zh-CN" altLang="en-US" smtClean="0"/>
              <a:t>2017/6/15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BC72B-9512-42A5-B57B-C3DE96F92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7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2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13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C1E966-C748-4573-B0F6-91FF9889C2BF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00881777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05584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CBB2F-FE6D-40AB-8DD0-0C6F4D7C0C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20380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65437-2D88-4CE3-AD8F-1C68CD294A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44752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C88F0B-4B77-45C3-A1AB-CE49EF7365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038642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56B26-C434-4F04-ABD6-78E961B896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34746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DAFB6-107A-4FA4-A7B5-BE37B8102D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905552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8B505-D441-443E-A478-DA630069CA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174158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FF81D-D028-43B5-B90B-E152ECB6E3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780798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FEAAF-B30E-4C32-9CBD-6F05145F6D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086702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9C648-853F-49FF-8B5A-58F5E785D5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5482999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55B516-05A6-4F78-A818-92B5276371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1675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0B769-371C-451F-9F76-C7CEFCC339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380268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gradFill rotWithShape="0">
          <a:gsLst>
            <a:gs pos="0%">
              <a:srgbClr val="C1ECBC">
                <a:gamma/>
                <a:tint val="13.725%"/>
                <a:invGamma/>
              </a:srgbClr>
            </a:gs>
            <a:gs pos="100%">
              <a:srgbClr val="C1ECB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9505D2-142C-46E3-9D05-9B7F176D002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>
    <p:random/>
  </p:transition>
  <p:txStyles>
    <p:titleStyle>
      <a:lvl1pPr algn="ctr" rtl="0" fontAlgn="base">
        <a:spcBef>
          <a:spcPct val="0%"/>
        </a:spcBef>
        <a:spcAft>
          <a:spcPct val="0%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%"/>
        </a:spcBef>
        <a:spcAft>
          <a:spcPct val="0%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%"/>
        </a:spcBef>
        <a:spcAft>
          <a:spcPct val="0%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%"/>
        </a:spcBef>
        <a:spcAft>
          <a:spcPct val="0%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%"/>
        </a:spcBef>
        <a:spcAft>
          <a:spcPct val="0%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%"/>
        </a:spcBef>
        <a:spcAft>
          <a:spcPct val="0%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%"/>
        </a:spcBef>
        <a:spcAft>
          <a:spcPct val="0%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image" Target="../media/image2.jpeg"/><Relationship Id="rId2" Type="http://purl.oclc.org/ooxml/officeDocument/relationships/image" Target="../media/image1.jpeg"/><Relationship Id="rId1" Type="http://purl.oclc.org/ooxml/officeDocument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purl.oclc.org/ooxml/officeDocument/relationships/image" Target="../media/image5.wmf"/><Relationship Id="rId13" Type="http://purl.oclc.org/ooxml/officeDocument/relationships/oleObject" Target="../embeddings/oleObject6.bin"/><Relationship Id="rId18" Type="http://purl.oclc.org/ooxml/officeDocument/relationships/image" Target="../media/image10.wmf"/><Relationship Id="rId26" Type="http://purl.oclc.org/ooxml/officeDocument/relationships/image" Target="../media/image14.wmf"/><Relationship Id="rId3" Type="http://purl.oclc.org/ooxml/officeDocument/relationships/oleObject" Target="../embeddings/oleObject1.bin"/><Relationship Id="rId21" Type="http://purl.oclc.org/ooxml/officeDocument/relationships/oleObject" Target="../embeddings/oleObject10.bin"/><Relationship Id="rId34" Type="http://purl.oclc.org/ooxml/officeDocument/relationships/image" Target="../media/image18.emf"/><Relationship Id="rId7" Type="http://purl.oclc.org/ooxml/officeDocument/relationships/oleObject" Target="../embeddings/oleObject3.bin"/><Relationship Id="rId12" Type="http://purl.oclc.org/ooxml/officeDocument/relationships/image" Target="../media/image7.wmf"/><Relationship Id="rId17" Type="http://purl.oclc.org/ooxml/officeDocument/relationships/oleObject" Target="../embeddings/oleObject8.bin"/><Relationship Id="rId25" Type="http://purl.oclc.org/ooxml/officeDocument/relationships/oleObject" Target="../embeddings/oleObject12.bin"/><Relationship Id="rId33" Type="http://purl.oclc.org/ooxml/officeDocument/relationships/oleObject" Target="../embeddings/oleObject16.bin"/><Relationship Id="rId38" Type="http://purl.oclc.org/ooxml/officeDocument/relationships/image" Target="../media/image20.wmf"/><Relationship Id="rId2" Type="http://purl.oclc.org/ooxml/officeDocument/relationships/slideLayout" Target="../slideLayouts/slideLayout7.xml"/><Relationship Id="rId16" Type="http://purl.oclc.org/ooxml/officeDocument/relationships/image" Target="../media/image9.wmf"/><Relationship Id="rId20" Type="http://purl.oclc.org/ooxml/officeDocument/relationships/image" Target="../media/image11.wmf"/><Relationship Id="rId29" Type="http://purl.oclc.org/ooxml/officeDocument/relationships/oleObject" Target="../embeddings/oleObject14.bin"/><Relationship Id="rId1" Type="http://schemas.openxmlformats.org/officeDocument/2006/relationships/vmlDrawing" Target="../drawings/vmlDrawing1.vml"/><Relationship Id="rId6" Type="http://purl.oclc.org/ooxml/officeDocument/relationships/image" Target="../media/image4.wmf"/><Relationship Id="rId11" Type="http://purl.oclc.org/ooxml/officeDocument/relationships/oleObject" Target="../embeddings/oleObject5.bin"/><Relationship Id="rId24" Type="http://purl.oclc.org/ooxml/officeDocument/relationships/image" Target="../media/image13.emf"/><Relationship Id="rId32" Type="http://purl.oclc.org/ooxml/officeDocument/relationships/image" Target="../media/image17.emf"/><Relationship Id="rId37" Type="http://purl.oclc.org/ooxml/officeDocument/relationships/oleObject" Target="../embeddings/oleObject18.bin"/><Relationship Id="rId5" Type="http://purl.oclc.org/ooxml/officeDocument/relationships/oleObject" Target="../embeddings/oleObject2.bin"/><Relationship Id="rId15" Type="http://purl.oclc.org/ooxml/officeDocument/relationships/oleObject" Target="../embeddings/oleObject7.bin"/><Relationship Id="rId23" Type="http://purl.oclc.org/ooxml/officeDocument/relationships/oleObject" Target="../embeddings/oleObject11.bin"/><Relationship Id="rId28" Type="http://purl.oclc.org/ooxml/officeDocument/relationships/image" Target="../media/image15.emf"/><Relationship Id="rId36" Type="http://purl.oclc.org/ooxml/officeDocument/relationships/image" Target="../media/image19.emf"/><Relationship Id="rId10" Type="http://purl.oclc.org/ooxml/officeDocument/relationships/image" Target="../media/image6.wmf"/><Relationship Id="rId19" Type="http://purl.oclc.org/ooxml/officeDocument/relationships/oleObject" Target="../embeddings/oleObject9.bin"/><Relationship Id="rId31" Type="http://purl.oclc.org/ooxml/officeDocument/relationships/oleObject" Target="../embeddings/oleObject15.bin"/><Relationship Id="rId4" Type="http://purl.oclc.org/ooxml/officeDocument/relationships/image" Target="../media/image3.wmf"/><Relationship Id="rId9" Type="http://purl.oclc.org/ooxml/officeDocument/relationships/oleObject" Target="../embeddings/oleObject4.bin"/><Relationship Id="rId14" Type="http://purl.oclc.org/ooxml/officeDocument/relationships/image" Target="../media/image8.wmf"/><Relationship Id="rId22" Type="http://purl.oclc.org/ooxml/officeDocument/relationships/image" Target="../media/image12.emf"/><Relationship Id="rId27" Type="http://purl.oclc.org/ooxml/officeDocument/relationships/oleObject" Target="../embeddings/oleObject13.bin"/><Relationship Id="rId30" Type="http://purl.oclc.org/ooxml/officeDocument/relationships/image" Target="../media/image16.emf"/><Relationship Id="rId35" Type="http://purl.oclc.org/ooxml/officeDocument/relationships/oleObject" Target="../embeddings/oleObject17.bin"/></Relationships>
</file>

<file path=ppt/slides/_rels/slide3.xml.rels><?xml version="1.0" encoding="UTF-8" standalone="yes"?>
<Relationships xmlns="http://schemas.openxmlformats.org/package/2006/relationships"><Relationship Id="rId8" Type="http://purl.oclc.org/ooxml/officeDocument/relationships/image" Target="../media/image23.wmf"/><Relationship Id="rId13" Type="http://purl.oclc.org/ooxml/officeDocument/relationships/oleObject" Target="../embeddings/oleObject24.bin"/><Relationship Id="rId18" Type="http://purl.oclc.org/ooxml/officeDocument/relationships/image" Target="../media/image28.wmf"/><Relationship Id="rId26" Type="http://purl.oclc.org/ooxml/officeDocument/relationships/image" Target="../media/image32.wmf"/><Relationship Id="rId39" Type="http://purl.oclc.org/ooxml/officeDocument/relationships/oleObject" Target="../embeddings/oleObject37.bin"/><Relationship Id="rId3" Type="http://purl.oclc.org/ooxml/officeDocument/relationships/oleObject" Target="../embeddings/oleObject19.bin"/><Relationship Id="rId21" Type="http://purl.oclc.org/ooxml/officeDocument/relationships/oleObject" Target="../embeddings/oleObject28.bin"/><Relationship Id="rId34" Type="http://purl.oclc.org/ooxml/officeDocument/relationships/image" Target="../media/image36.wmf"/><Relationship Id="rId42" Type="http://purl.oclc.org/ooxml/officeDocument/relationships/image" Target="../media/image40.wmf"/><Relationship Id="rId7" Type="http://purl.oclc.org/ooxml/officeDocument/relationships/oleObject" Target="../embeddings/oleObject21.bin"/><Relationship Id="rId12" Type="http://purl.oclc.org/ooxml/officeDocument/relationships/image" Target="../media/image25.wmf"/><Relationship Id="rId17" Type="http://purl.oclc.org/ooxml/officeDocument/relationships/oleObject" Target="../embeddings/oleObject26.bin"/><Relationship Id="rId25" Type="http://purl.oclc.org/ooxml/officeDocument/relationships/oleObject" Target="../embeddings/oleObject30.bin"/><Relationship Id="rId33" Type="http://purl.oclc.org/ooxml/officeDocument/relationships/oleObject" Target="../embeddings/oleObject34.bin"/><Relationship Id="rId38" Type="http://purl.oclc.org/ooxml/officeDocument/relationships/image" Target="../media/image38.wmf"/><Relationship Id="rId46" Type="http://purl.oclc.org/ooxml/officeDocument/relationships/image" Target="../media/image42.wmf"/><Relationship Id="rId2" Type="http://purl.oclc.org/ooxml/officeDocument/relationships/slideLayout" Target="../slideLayouts/slideLayout7.xml"/><Relationship Id="rId16" Type="http://purl.oclc.org/ooxml/officeDocument/relationships/image" Target="../media/image27.wmf"/><Relationship Id="rId20" Type="http://purl.oclc.org/ooxml/officeDocument/relationships/image" Target="../media/image29.wmf"/><Relationship Id="rId29" Type="http://purl.oclc.org/ooxml/officeDocument/relationships/oleObject" Target="../embeddings/oleObject32.bin"/><Relationship Id="rId41" Type="http://purl.oclc.org/ooxml/officeDocument/relationships/oleObject" Target="../embeddings/oleObject38.bin"/><Relationship Id="rId1" Type="http://schemas.openxmlformats.org/officeDocument/2006/relationships/vmlDrawing" Target="../drawings/vmlDrawing2.vml"/><Relationship Id="rId6" Type="http://purl.oclc.org/ooxml/officeDocument/relationships/image" Target="../media/image22.wmf"/><Relationship Id="rId11" Type="http://purl.oclc.org/ooxml/officeDocument/relationships/oleObject" Target="../embeddings/oleObject23.bin"/><Relationship Id="rId24" Type="http://purl.oclc.org/ooxml/officeDocument/relationships/image" Target="../media/image31.wmf"/><Relationship Id="rId32" Type="http://purl.oclc.org/ooxml/officeDocument/relationships/image" Target="../media/image35.wmf"/><Relationship Id="rId37" Type="http://purl.oclc.org/ooxml/officeDocument/relationships/oleObject" Target="../embeddings/oleObject36.bin"/><Relationship Id="rId40" Type="http://purl.oclc.org/ooxml/officeDocument/relationships/image" Target="../media/image39.wmf"/><Relationship Id="rId45" Type="http://purl.oclc.org/ooxml/officeDocument/relationships/oleObject" Target="../embeddings/oleObject40.bin"/><Relationship Id="rId5" Type="http://purl.oclc.org/ooxml/officeDocument/relationships/oleObject" Target="../embeddings/oleObject20.bin"/><Relationship Id="rId15" Type="http://purl.oclc.org/ooxml/officeDocument/relationships/oleObject" Target="../embeddings/oleObject25.bin"/><Relationship Id="rId23" Type="http://purl.oclc.org/ooxml/officeDocument/relationships/oleObject" Target="../embeddings/oleObject29.bin"/><Relationship Id="rId28" Type="http://purl.oclc.org/ooxml/officeDocument/relationships/image" Target="../media/image33.wmf"/><Relationship Id="rId36" Type="http://purl.oclc.org/ooxml/officeDocument/relationships/image" Target="../media/image37.wmf"/><Relationship Id="rId10" Type="http://purl.oclc.org/ooxml/officeDocument/relationships/image" Target="../media/image24.wmf"/><Relationship Id="rId19" Type="http://purl.oclc.org/ooxml/officeDocument/relationships/oleObject" Target="../embeddings/oleObject27.bin"/><Relationship Id="rId31" Type="http://purl.oclc.org/ooxml/officeDocument/relationships/oleObject" Target="../embeddings/oleObject33.bin"/><Relationship Id="rId44" Type="http://purl.oclc.org/ooxml/officeDocument/relationships/image" Target="../media/image41.wmf"/><Relationship Id="rId4" Type="http://purl.oclc.org/ooxml/officeDocument/relationships/image" Target="../media/image21.wmf"/><Relationship Id="rId9" Type="http://purl.oclc.org/ooxml/officeDocument/relationships/oleObject" Target="../embeddings/oleObject22.bin"/><Relationship Id="rId14" Type="http://purl.oclc.org/ooxml/officeDocument/relationships/image" Target="../media/image26.wmf"/><Relationship Id="rId22" Type="http://purl.oclc.org/ooxml/officeDocument/relationships/image" Target="../media/image30.wmf"/><Relationship Id="rId27" Type="http://purl.oclc.org/ooxml/officeDocument/relationships/oleObject" Target="../embeddings/oleObject31.bin"/><Relationship Id="rId30" Type="http://purl.oclc.org/ooxml/officeDocument/relationships/image" Target="../media/image34.wmf"/><Relationship Id="rId35" Type="http://purl.oclc.org/ooxml/officeDocument/relationships/oleObject" Target="../embeddings/oleObject35.bin"/><Relationship Id="rId43" Type="http://purl.oclc.org/ooxml/officeDocument/relationships/oleObject" Target="../embeddings/oleObject39.bin"/></Relationships>
</file>

<file path=ppt/slides/_rels/slide4.xml.rels><?xml version="1.0" encoding="UTF-8" standalone="yes"?>
<Relationships xmlns="http://schemas.openxmlformats.org/package/2006/relationships"><Relationship Id="rId8" Type="http://purl.oclc.org/ooxml/officeDocument/relationships/image" Target="../media/image45.emf"/><Relationship Id="rId13" Type="http://purl.oclc.org/ooxml/officeDocument/relationships/image" Target="../media/image48.png"/><Relationship Id="rId3" Type="http://purl.oclc.org/ooxml/officeDocument/relationships/oleObject" Target="../embeddings/oleObject41.bin"/><Relationship Id="rId7" Type="http://purl.oclc.org/ooxml/officeDocument/relationships/oleObject" Target="../embeddings/oleObject43.bin"/><Relationship Id="rId12" Type="http://purl.oclc.org/ooxml/officeDocument/relationships/image" Target="../media/image47.e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.vml"/><Relationship Id="rId6" Type="http://purl.oclc.org/ooxml/officeDocument/relationships/image" Target="../media/image44.emf"/><Relationship Id="rId11" Type="http://purl.oclc.org/ooxml/officeDocument/relationships/oleObject" Target="../embeddings/oleObject45.bin"/><Relationship Id="rId5" Type="http://purl.oclc.org/ooxml/officeDocument/relationships/oleObject" Target="../embeddings/oleObject42.bin"/><Relationship Id="rId10" Type="http://purl.oclc.org/ooxml/officeDocument/relationships/image" Target="../media/image46.emf"/><Relationship Id="rId4" Type="http://purl.oclc.org/ooxml/officeDocument/relationships/image" Target="../media/image43.emf"/><Relationship Id="rId9" Type="http://purl.oclc.org/ooxml/officeDocument/relationships/oleObject" Target="../embeddings/oleObject44.bin"/></Relationships>
</file>

<file path=ppt/slides/_rels/slide5.xml.rels><?xml version="1.0" encoding="UTF-8" standalone="yes"?>
<Relationships xmlns="http://schemas.openxmlformats.org/package/2006/relationships"><Relationship Id="rId8" Type="http://purl.oclc.org/ooxml/officeDocument/relationships/image" Target="../media/image51.emf"/><Relationship Id="rId3" Type="http://purl.oclc.org/ooxml/officeDocument/relationships/oleObject" Target="../embeddings/oleObject46.bin"/><Relationship Id="rId7" Type="http://purl.oclc.org/ooxml/officeDocument/relationships/oleObject" Target="../embeddings/oleObject48.bin"/><Relationship Id="rId12" Type="http://purl.oclc.org/ooxml/officeDocument/relationships/image" Target="../media/image53.e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4.vml"/><Relationship Id="rId6" Type="http://purl.oclc.org/ooxml/officeDocument/relationships/image" Target="../media/image50.emf"/><Relationship Id="rId11" Type="http://purl.oclc.org/ooxml/officeDocument/relationships/oleObject" Target="../embeddings/oleObject50.bin"/><Relationship Id="rId5" Type="http://purl.oclc.org/ooxml/officeDocument/relationships/oleObject" Target="../embeddings/oleObject47.bin"/><Relationship Id="rId10" Type="http://purl.oclc.org/ooxml/officeDocument/relationships/image" Target="../media/image52.emf"/><Relationship Id="rId4" Type="http://purl.oclc.org/ooxml/officeDocument/relationships/image" Target="../media/image49.emf"/><Relationship Id="rId9" Type="http://purl.oclc.org/ooxml/officeDocument/relationships/oleObject" Target="../embeddings/oleObject49.bin"/></Relationships>
</file>

<file path=ppt/slides/_rels/slide6.xml.rels><?xml version="1.0" encoding="UTF-8" standalone="yes"?>
<Relationships xmlns="http://schemas.openxmlformats.org/package/2006/relationships"><Relationship Id="rId3" Type="http://purl.oclc.org/ooxml/officeDocument/relationships/oleObject" Target="../embeddings/oleObject51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5.vml"/><Relationship Id="rId6" Type="http://purl.oclc.org/ooxml/officeDocument/relationships/image" Target="../media/image55.wmf"/><Relationship Id="rId5" Type="http://purl.oclc.org/ooxml/officeDocument/relationships/oleObject" Target="../embeddings/oleObject52.bin"/><Relationship Id="rId4" Type="http://purl.oclc.org/ooxml/officeDocument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8" Type="http://purl.oclc.org/ooxml/officeDocument/relationships/image" Target="../media/image58.wmf"/><Relationship Id="rId3" Type="http://purl.oclc.org/ooxml/officeDocument/relationships/oleObject" Target="../embeddings/oleObject53.bin"/><Relationship Id="rId7" Type="http://purl.oclc.org/ooxml/officeDocument/relationships/oleObject" Target="../embeddings/oleObject55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6.vml"/><Relationship Id="rId6" Type="http://purl.oclc.org/ooxml/officeDocument/relationships/image" Target="../media/image57.wmf"/><Relationship Id="rId5" Type="http://purl.oclc.org/ooxml/officeDocument/relationships/oleObject" Target="../embeddings/oleObject54.bin"/><Relationship Id="rId10" Type="http://purl.oclc.org/ooxml/officeDocument/relationships/image" Target="../media/image59.emf"/><Relationship Id="rId4" Type="http://purl.oclc.org/ooxml/officeDocument/relationships/image" Target="../media/image56.wmf"/><Relationship Id="rId9" Type="http://purl.oclc.org/ooxml/officeDocument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8" Type="http://purl.oclc.org/ooxml/officeDocument/relationships/image" Target="../media/image62.wmf"/><Relationship Id="rId13" Type="http://purl.oclc.org/ooxml/officeDocument/relationships/oleObject" Target="../embeddings/oleObject62.bin"/><Relationship Id="rId3" Type="http://purl.oclc.org/ooxml/officeDocument/relationships/oleObject" Target="../embeddings/oleObject57.bin"/><Relationship Id="rId7" Type="http://purl.oclc.org/ooxml/officeDocument/relationships/oleObject" Target="../embeddings/oleObject59.bin"/><Relationship Id="rId12" Type="http://purl.oclc.org/ooxml/officeDocument/relationships/image" Target="../media/image64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7.vml"/><Relationship Id="rId6" Type="http://purl.oclc.org/ooxml/officeDocument/relationships/image" Target="../media/image61.wmf"/><Relationship Id="rId11" Type="http://purl.oclc.org/ooxml/officeDocument/relationships/oleObject" Target="../embeddings/oleObject61.bin"/><Relationship Id="rId5" Type="http://purl.oclc.org/ooxml/officeDocument/relationships/oleObject" Target="../embeddings/oleObject58.bin"/><Relationship Id="rId10" Type="http://purl.oclc.org/ooxml/officeDocument/relationships/image" Target="../media/image63.wmf"/><Relationship Id="rId4" Type="http://purl.oclc.org/ooxml/officeDocument/relationships/image" Target="../media/image60.wmf"/><Relationship Id="rId9" Type="http://purl.oclc.org/ooxml/officeDocument/relationships/oleObject" Target="../embeddings/oleObject60.bin"/><Relationship Id="rId14" Type="http://purl.oclc.org/ooxml/officeDocument/relationships/image" Target="../media/image65.wmf"/></Relationships>
</file>

<file path=ppt/slides/_rels/slide9.xml.rels><?xml version="1.0" encoding="UTF-8" standalone="yes"?>
<Relationships xmlns="http://schemas.openxmlformats.org/package/2006/relationships"><Relationship Id="rId8" Type="http://purl.oclc.org/ooxml/officeDocument/relationships/image" Target="../media/image68.wmf"/><Relationship Id="rId13" Type="http://purl.oclc.org/ooxml/officeDocument/relationships/oleObject" Target="../embeddings/oleObject68.bin"/><Relationship Id="rId3" Type="http://purl.oclc.org/ooxml/officeDocument/relationships/oleObject" Target="../embeddings/oleObject63.bin"/><Relationship Id="rId7" Type="http://purl.oclc.org/ooxml/officeDocument/relationships/oleObject" Target="../embeddings/oleObject65.bin"/><Relationship Id="rId12" Type="http://purl.oclc.org/ooxml/officeDocument/relationships/image" Target="../media/image70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8.vml"/><Relationship Id="rId6" Type="http://purl.oclc.org/ooxml/officeDocument/relationships/image" Target="../media/image67.wmf"/><Relationship Id="rId11" Type="http://purl.oclc.org/ooxml/officeDocument/relationships/oleObject" Target="../embeddings/oleObject67.bin"/><Relationship Id="rId5" Type="http://purl.oclc.org/ooxml/officeDocument/relationships/oleObject" Target="../embeddings/oleObject64.bin"/><Relationship Id="rId10" Type="http://purl.oclc.org/ooxml/officeDocument/relationships/image" Target="../media/image69.wmf"/><Relationship Id="rId4" Type="http://purl.oclc.org/ooxml/officeDocument/relationships/image" Target="../media/image66.wmf"/><Relationship Id="rId9" Type="http://purl.oclc.org/ooxml/officeDocument/relationships/oleObject" Target="../embeddings/oleObject66.bin"/><Relationship Id="rId14" Type="http://purl.oclc.org/ooxml/officeDocument/relationships/image" Target="../media/image71.wmf"/></Relationships>
</file>

<file path=ppt/slides/_rels/slide10.xml.rels><?xml version="1.0" encoding="UTF-8" standalone="yes"?>
<Relationships xmlns="http://schemas.openxmlformats.org/package/2006/relationships"><Relationship Id="rId8" Type="http://purl.oclc.org/ooxml/officeDocument/relationships/oleObject" Target="../embeddings/oleObject71.bin"/><Relationship Id="rId13" Type="http://purl.oclc.org/ooxml/officeDocument/relationships/image" Target="../media/image76.wmf"/><Relationship Id="rId18" Type="http://purl.oclc.org/ooxml/officeDocument/relationships/oleObject" Target="../embeddings/oleObject76.bin"/><Relationship Id="rId3" Type="http://purl.oclc.org/ooxml/officeDocument/relationships/audio" Target="../media/audio1.wav"/><Relationship Id="rId7" Type="http://purl.oclc.org/ooxml/officeDocument/relationships/image" Target="../media/image73.emf"/><Relationship Id="rId12" Type="http://purl.oclc.org/ooxml/officeDocument/relationships/oleObject" Target="../embeddings/oleObject73.bin"/><Relationship Id="rId17" Type="http://purl.oclc.org/ooxml/officeDocument/relationships/image" Target="../media/image78.wmf"/><Relationship Id="rId2" Type="http://purl.oclc.org/ooxml/officeDocument/relationships/slideLayout" Target="../slideLayouts/slideLayout7.xml"/><Relationship Id="rId16" Type="http://purl.oclc.org/ooxml/officeDocument/relationships/oleObject" Target="../embeddings/oleObject75.bin"/><Relationship Id="rId1" Type="http://schemas.openxmlformats.org/officeDocument/2006/relationships/vmlDrawing" Target="../drawings/vmlDrawing9.vml"/><Relationship Id="rId6" Type="http://purl.oclc.org/ooxml/officeDocument/relationships/oleObject" Target="../embeddings/oleObject70.bin"/><Relationship Id="rId11" Type="http://purl.oclc.org/ooxml/officeDocument/relationships/image" Target="../media/image75.emf"/><Relationship Id="rId5" Type="http://purl.oclc.org/ooxml/officeDocument/relationships/image" Target="../media/image72.emf"/><Relationship Id="rId15" Type="http://purl.oclc.org/ooxml/officeDocument/relationships/image" Target="../media/image77.wmf"/><Relationship Id="rId10" Type="http://purl.oclc.org/ooxml/officeDocument/relationships/oleObject" Target="../embeddings/oleObject72.bin"/><Relationship Id="rId19" Type="http://purl.oclc.org/ooxml/officeDocument/relationships/image" Target="../media/image79.wmf"/><Relationship Id="rId4" Type="http://purl.oclc.org/ooxml/officeDocument/relationships/oleObject" Target="../embeddings/oleObject69.bin"/><Relationship Id="rId9" Type="http://purl.oclc.org/ooxml/officeDocument/relationships/image" Target="../media/image74.emf"/><Relationship Id="rId14" Type="http://purl.oclc.org/ooxml/officeDocument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8" Type="http://purl.oclc.org/ooxml/officeDocument/relationships/image" Target="../media/image82.wmf"/><Relationship Id="rId3" Type="http://purl.oclc.org/ooxml/officeDocument/relationships/oleObject" Target="../embeddings/oleObject77.bin"/><Relationship Id="rId7" Type="http://purl.oclc.org/ooxml/officeDocument/relationships/oleObject" Target="../embeddings/oleObject79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0.vml"/><Relationship Id="rId6" Type="http://purl.oclc.org/ooxml/officeDocument/relationships/image" Target="../media/image81.wmf"/><Relationship Id="rId5" Type="http://purl.oclc.org/ooxml/officeDocument/relationships/oleObject" Target="../embeddings/oleObject78.bin"/><Relationship Id="rId10" Type="http://purl.oclc.org/ooxml/officeDocument/relationships/image" Target="../media/image83.wmf"/><Relationship Id="rId4" Type="http://purl.oclc.org/ooxml/officeDocument/relationships/image" Target="../media/image80.wmf"/><Relationship Id="rId9" Type="http://purl.oclc.org/ooxml/officeDocument/relationships/oleObject" Target="../embeddings/oleObject80.bin"/></Relationships>
</file>

<file path=ppt/slides/_rels/slide12.xml.rels><?xml version="1.0" encoding="UTF-8" standalone="yes"?>
<Relationships xmlns="http://schemas.openxmlformats.org/package/2006/relationships"><Relationship Id="rId8" Type="http://purl.oclc.org/ooxml/officeDocument/relationships/image" Target="../media/image85.emf"/><Relationship Id="rId13" Type="http://purl.oclc.org/ooxml/officeDocument/relationships/oleObject" Target="../embeddings/oleObject85.bin"/><Relationship Id="rId3" Type="http://purl.oclc.org/ooxml/officeDocument/relationships/notesSlide" Target="../notesSlides/notesSlide1.xml"/><Relationship Id="rId7" Type="http://purl.oclc.org/ooxml/officeDocument/relationships/oleObject" Target="../embeddings/oleObject82.bin"/><Relationship Id="rId12" Type="http://purl.oclc.org/ooxml/officeDocument/relationships/image" Target="../media/image87.e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1.vml"/><Relationship Id="rId6" Type="http://purl.oclc.org/ooxml/officeDocument/relationships/image" Target="../media/image84.emf"/><Relationship Id="rId11" Type="http://purl.oclc.org/ooxml/officeDocument/relationships/oleObject" Target="../embeddings/oleObject84.bin"/><Relationship Id="rId5" Type="http://purl.oclc.org/ooxml/officeDocument/relationships/oleObject" Target="../embeddings/oleObject81.bin"/><Relationship Id="rId10" Type="http://purl.oclc.org/ooxml/officeDocument/relationships/image" Target="../media/image86.emf"/><Relationship Id="rId4" Type="http://purl.oclc.org/ooxml/officeDocument/relationships/image" Target="../media/image89.jpeg"/><Relationship Id="rId9" Type="http://purl.oclc.org/ooxml/officeDocument/relationships/oleObject" Target="../embeddings/oleObject83.bin"/><Relationship Id="rId14" Type="http://purl.oclc.org/ooxml/officeDocument/relationships/image" Target="../media/image88.wmf"/></Relationships>
</file>

<file path=ppt/slides/_rels/slide13.xml.rels><?xml version="1.0" encoding="UTF-8" standalone="yes"?>
<Relationships xmlns="http://schemas.openxmlformats.org/package/2006/relationships"><Relationship Id="rId8" Type="http://purl.oclc.org/ooxml/officeDocument/relationships/oleObject" Target="../embeddings/oleObject88.bin"/><Relationship Id="rId13" Type="http://purl.oclc.org/ooxml/officeDocument/relationships/oleObject" Target="../embeddings/oleObject90.bin"/><Relationship Id="rId18" Type="http://purl.oclc.org/ooxml/officeDocument/relationships/image" Target="../media/image96.emf"/><Relationship Id="rId26" Type="http://purl.oclc.org/ooxml/officeDocument/relationships/image" Target="../media/image100.wmf"/><Relationship Id="rId3" Type="http://purl.oclc.org/ooxml/officeDocument/relationships/notesSlide" Target="../notesSlides/notesSlide2.xml"/><Relationship Id="rId21" Type="http://purl.oclc.org/ooxml/officeDocument/relationships/oleObject" Target="../embeddings/oleObject94.bin"/><Relationship Id="rId7" Type="http://purl.oclc.org/ooxml/officeDocument/relationships/image" Target="../media/image91.wmf"/><Relationship Id="rId12" Type="http://purl.oclc.org/ooxml/officeDocument/relationships/image" Target="../media/image89.jpeg"/><Relationship Id="rId17" Type="http://purl.oclc.org/ooxml/officeDocument/relationships/oleObject" Target="../embeddings/oleObject92.bin"/><Relationship Id="rId25" Type="http://purl.oclc.org/ooxml/officeDocument/relationships/oleObject" Target="../embeddings/oleObject96.bin"/><Relationship Id="rId2" Type="http://purl.oclc.org/ooxml/officeDocument/relationships/slideLayout" Target="../slideLayouts/slideLayout7.xml"/><Relationship Id="rId16" Type="http://purl.oclc.org/ooxml/officeDocument/relationships/image" Target="../media/image95.emf"/><Relationship Id="rId20" Type="http://purl.oclc.org/ooxml/officeDocument/relationships/image" Target="../media/image97.emf"/><Relationship Id="rId1" Type="http://schemas.openxmlformats.org/officeDocument/2006/relationships/vmlDrawing" Target="../drawings/vmlDrawing12.vml"/><Relationship Id="rId6" Type="http://purl.oclc.org/ooxml/officeDocument/relationships/oleObject" Target="../embeddings/oleObject87.bin"/><Relationship Id="rId11" Type="http://purl.oclc.org/ooxml/officeDocument/relationships/image" Target="../media/image93.wmf"/><Relationship Id="rId24" Type="http://purl.oclc.org/ooxml/officeDocument/relationships/image" Target="../media/image99.emf"/><Relationship Id="rId5" Type="http://purl.oclc.org/ooxml/officeDocument/relationships/image" Target="../media/image90.wmf"/><Relationship Id="rId15" Type="http://purl.oclc.org/ooxml/officeDocument/relationships/oleObject" Target="../embeddings/oleObject91.bin"/><Relationship Id="rId23" Type="http://purl.oclc.org/ooxml/officeDocument/relationships/oleObject" Target="../embeddings/oleObject95.bin"/><Relationship Id="rId10" Type="http://purl.oclc.org/ooxml/officeDocument/relationships/oleObject" Target="../embeddings/oleObject89.bin"/><Relationship Id="rId19" Type="http://purl.oclc.org/ooxml/officeDocument/relationships/oleObject" Target="../embeddings/oleObject93.bin"/><Relationship Id="rId4" Type="http://purl.oclc.org/ooxml/officeDocument/relationships/oleObject" Target="../embeddings/oleObject86.bin"/><Relationship Id="rId9" Type="http://purl.oclc.org/ooxml/officeDocument/relationships/image" Target="../media/image92.wmf"/><Relationship Id="rId14" Type="http://purl.oclc.org/ooxml/officeDocument/relationships/image" Target="../media/image94.emf"/><Relationship Id="rId22" Type="http://purl.oclc.org/ooxml/officeDocument/relationships/image" Target="../media/image98.emf"/><Relationship Id="rId27" Type="http://purl.oclc.org/ooxml/officeDocument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purl.oclc.org/ooxml/officeDocument/relationships/image" Target="../media/image104.wmf"/><Relationship Id="rId3" Type="http://purl.oclc.org/ooxml/officeDocument/relationships/oleObject" Target="../embeddings/oleObject97.bin"/><Relationship Id="rId7" Type="http://purl.oclc.org/ooxml/officeDocument/relationships/oleObject" Target="../embeddings/oleObject99.bin"/><Relationship Id="rId12" Type="http://purl.oclc.org/ooxml/officeDocument/relationships/image" Target="../media/image106.e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3.vml"/><Relationship Id="rId6" Type="http://purl.oclc.org/ooxml/officeDocument/relationships/image" Target="../media/image103.wmf"/><Relationship Id="rId11" Type="http://purl.oclc.org/ooxml/officeDocument/relationships/oleObject" Target="../embeddings/oleObject101.bin"/><Relationship Id="rId5" Type="http://purl.oclc.org/ooxml/officeDocument/relationships/oleObject" Target="../embeddings/oleObject98.bin"/><Relationship Id="rId10" Type="http://purl.oclc.org/ooxml/officeDocument/relationships/image" Target="../media/image105.wmf"/><Relationship Id="rId4" Type="http://purl.oclc.org/ooxml/officeDocument/relationships/image" Target="../media/image102.wmf"/><Relationship Id="rId9" Type="http://purl.oclc.org/ooxml/officeDocument/relationships/oleObject" Target="../embeddings/oleObject100.bin"/></Relationships>
</file>

<file path=ppt/slides/_rels/slide15.xml.rels><?xml version="1.0" encoding="UTF-8" standalone="yes"?>
<Relationships xmlns="http://schemas.openxmlformats.org/package/2006/relationships"><Relationship Id="rId8" Type="http://purl.oclc.org/ooxml/officeDocument/relationships/image" Target="../media/image109.wmf"/><Relationship Id="rId3" Type="http://purl.oclc.org/ooxml/officeDocument/relationships/oleObject" Target="../embeddings/oleObject102.bin"/><Relationship Id="rId7" Type="http://purl.oclc.org/ooxml/officeDocument/relationships/oleObject" Target="../embeddings/oleObject104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4.vml"/><Relationship Id="rId6" Type="http://purl.oclc.org/ooxml/officeDocument/relationships/image" Target="../media/image108.wmf"/><Relationship Id="rId5" Type="http://purl.oclc.org/ooxml/officeDocument/relationships/oleObject" Target="../embeddings/oleObject103.bin"/><Relationship Id="rId4" Type="http://purl.oclc.org/ooxml/officeDocument/relationships/image" Target="../media/image107.wmf"/></Relationships>
</file>

<file path=ppt/slides/_rels/slide16.xml.rels><?xml version="1.0" encoding="UTF-8" standalone="yes"?>
<Relationships xmlns="http://schemas.openxmlformats.org/package/2006/relationships"><Relationship Id="rId3" Type="http://purl.oclc.org/ooxml/officeDocument/relationships/oleObject" Target="../embeddings/oleObject105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5.vml"/><Relationship Id="rId6" Type="http://purl.oclc.org/ooxml/officeDocument/relationships/image" Target="../media/image111.wmf"/><Relationship Id="rId5" Type="http://purl.oclc.org/ooxml/officeDocument/relationships/oleObject" Target="../embeddings/oleObject106.bin"/><Relationship Id="rId4" Type="http://purl.oclc.org/ooxml/officeDocument/relationships/image" Target="../media/image110.wmf"/></Relationships>
</file>

<file path=ppt/slides/_rels/slide17.xml.rels><?xml version="1.0" encoding="UTF-8" standalone="yes"?>
<Relationships xmlns="http://schemas.openxmlformats.org/package/2006/relationships"><Relationship Id="rId8" Type="http://purl.oclc.org/ooxml/officeDocument/relationships/image" Target="../media/image114.wmf"/><Relationship Id="rId13" Type="http://purl.oclc.org/ooxml/officeDocument/relationships/oleObject" Target="../embeddings/oleObject112.bin"/><Relationship Id="rId18" Type="http://purl.oclc.org/ooxml/officeDocument/relationships/image" Target="../media/image119.wmf"/><Relationship Id="rId3" Type="http://purl.oclc.org/ooxml/officeDocument/relationships/oleObject" Target="../embeddings/oleObject107.bin"/><Relationship Id="rId7" Type="http://purl.oclc.org/ooxml/officeDocument/relationships/oleObject" Target="../embeddings/oleObject109.bin"/><Relationship Id="rId12" Type="http://purl.oclc.org/ooxml/officeDocument/relationships/image" Target="../media/image116.wmf"/><Relationship Id="rId17" Type="http://purl.oclc.org/ooxml/officeDocument/relationships/oleObject" Target="../embeddings/oleObject114.bin"/><Relationship Id="rId2" Type="http://purl.oclc.org/ooxml/officeDocument/relationships/slideLayout" Target="../slideLayouts/slideLayout7.xml"/><Relationship Id="rId16" Type="http://purl.oclc.org/ooxml/officeDocument/relationships/image" Target="../media/image118.wmf"/><Relationship Id="rId1" Type="http://schemas.openxmlformats.org/officeDocument/2006/relationships/vmlDrawing" Target="../drawings/vmlDrawing16.vml"/><Relationship Id="rId6" Type="http://purl.oclc.org/ooxml/officeDocument/relationships/image" Target="../media/image113.wmf"/><Relationship Id="rId11" Type="http://purl.oclc.org/ooxml/officeDocument/relationships/oleObject" Target="../embeddings/oleObject111.bin"/><Relationship Id="rId5" Type="http://purl.oclc.org/ooxml/officeDocument/relationships/oleObject" Target="../embeddings/oleObject108.bin"/><Relationship Id="rId15" Type="http://purl.oclc.org/ooxml/officeDocument/relationships/oleObject" Target="../embeddings/oleObject113.bin"/><Relationship Id="rId10" Type="http://purl.oclc.org/ooxml/officeDocument/relationships/image" Target="../media/image115.wmf"/><Relationship Id="rId4" Type="http://purl.oclc.org/ooxml/officeDocument/relationships/image" Target="../media/image112.wmf"/><Relationship Id="rId9" Type="http://purl.oclc.org/ooxml/officeDocument/relationships/oleObject" Target="../embeddings/oleObject110.bin"/><Relationship Id="rId14" Type="http://purl.oclc.org/ooxml/officeDocument/relationships/image" Target="../media/image117.wmf"/></Relationships>
</file>

<file path=ppt/slides/_rels/slide18.xml.rels><?xml version="1.0" encoding="UTF-8" standalone="yes"?>
<Relationships xmlns="http://schemas.openxmlformats.org/package/2006/relationships"><Relationship Id="rId8" Type="http://purl.oclc.org/ooxml/officeDocument/relationships/image" Target="../media/image122.wmf"/><Relationship Id="rId13" Type="http://purl.oclc.org/ooxml/officeDocument/relationships/oleObject" Target="../embeddings/oleObject120.bin"/><Relationship Id="rId18" Type="http://purl.oclc.org/ooxml/officeDocument/relationships/image" Target="../media/image127.wmf"/><Relationship Id="rId3" Type="http://purl.oclc.org/ooxml/officeDocument/relationships/oleObject" Target="../embeddings/oleObject115.bin"/><Relationship Id="rId7" Type="http://purl.oclc.org/ooxml/officeDocument/relationships/oleObject" Target="../embeddings/oleObject117.bin"/><Relationship Id="rId12" Type="http://purl.oclc.org/ooxml/officeDocument/relationships/image" Target="../media/image124.wmf"/><Relationship Id="rId17" Type="http://purl.oclc.org/ooxml/officeDocument/relationships/oleObject" Target="../embeddings/oleObject122.bin"/><Relationship Id="rId2" Type="http://purl.oclc.org/ooxml/officeDocument/relationships/slideLayout" Target="../slideLayouts/slideLayout7.xml"/><Relationship Id="rId16" Type="http://purl.oclc.org/ooxml/officeDocument/relationships/image" Target="../media/image126.wmf"/><Relationship Id="rId1" Type="http://schemas.openxmlformats.org/officeDocument/2006/relationships/vmlDrawing" Target="../drawings/vmlDrawing17.vml"/><Relationship Id="rId6" Type="http://purl.oclc.org/ooxml/officeDocument/relationships/image" Target="../media/image121.wmf"/><Relationship Id="rId11" Type="http://purl.oclc.org/ooxml/officeDocument/relationships/oleObject" Target="../embeddings/oleObject119.bin"/><Relationship Id="rId5" Type="http://purl.oclc.org/ooxml/officeDocument/relationships/oleObject" Target="../embeddings/oleObject116.bin"/><Relationship Id="rId15" Type="http://purl.oclc.org/ooxml/officeDocument/relationships/oleObject" Target="../embeddings/oleObject121.bin"/><Relationship Id="rId10" Type="http://purl.oclc.org/ooxml/officeDocument/relationships/image" Target="../media/image123.wmf"/><Relationship Id="rId4" Type="http://purl.oclc.org/ooxml/officeDocument/relationships/image" Target="../media/image120.wmf"/><Relationship Id="rId9" Type="http://purl.oclc.org/ooxml/officeDocument/relationships/oleObject" Target="../embeddings/oleObject118.bin"/><Relationship Id="rId14" Type="http://purl.oclc.org/ooxml/officeDocument/relationships/image" Target="../media/image125.wmf"/></Relationships>
</file>

<file path=ppt/slides/_rels/slide19.xml.rels><?xml version="1.0" encoding="UTF-8" standalone="yes"?>
<Relationships xmlns="http://schemas.openxmlformats.org/package/2006/relationships"><Relationship Id="rId3" Type="http://purl.oclc.org/ooxml/officeDocument/relationships/oleObject" Target="../embeddings/oleObject123.bin"/><Relationship Id="rId7" Type="http://purl.oclc.org/ooxml/officeDocument/relationships/image" Target="../media/image129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18.vml"/><Relationship Id="rId6" Type="http://purl.oclc.org/ooxml/officeDocument/relationships/oleObject" Target="../embeddings/oleObject124.bin"/><Relationship Id="rId5" Type="http://purl.oclc.org/ooxml/officeDocument/relationships/image" Target="../media/image130.png"/><Relationship Id="rId4" Type="http://purl.oclc.org/ooxml/officeDocument/relationships/image" Target="../media/image128.wmf"/></Relationships>
</file>

<file path=ppt/slides/_rels/slide20.xml.rels><?xml version="1.0" encoding="UTF-8" standalone="yes"?>
<Relationships xmlns="http://schemas.openxmlformats.org/package/2006/relationships"><Relationship Id="rId8" Type="http://purl.oclc.org/ooxml/officeDocument/relationships/oleObject" Target="../embeddings/oleObject128.bin"/><Relationship Id="rId13" Type="http://purl.oclc.org/ooxml/officeDocument/relationships/image" Target="../media/image135.wmf"/><Relationship Id="rId3" Type="http://purl.oclc.org/ooxml/officeDocument/relationships/oleObject" Target="../embeddings/oleObject125.bin"/><Relationship Id="rId7" Type="http://purl.oclc.org/ooxml/officeDocument/relationships/image" Target="../media/image132.wmf"/><Relationship Id="rId12" Type="http://purl.oclc.org/ooxml/officeDocument/relationships/oleObject" Target="../embeddings/oleObject130.bin"/><Relationship Id="rId2" Type="http://purl.oclc.org/ooxml/officeDocument/relationships/slideLayout" Target="../slideLayouts/slideLayout7.xml"/><Relationship Id="rId16" Type="http://purl.oclc.org/ooxml/officeDocument/relationships/image" Target="../media/image48.png"/><Relationship Id="rId1" Type="http://schemas.openxmlformats.org/officeDocument/2006/relationships/vmlDrawing" Target="../drawings/vmlDrawing19.vml"/><Relationship Id="rId6" Type="http://purl.oclc.org/ooxml/officeDocument/relationships/oleObject" Target="../embeddings/oleObject127.bin"/><Relationship Id="rId11" Type="http://purl.oclc.org/ooxml/officeDocument/relationships/image" Target="../media/image134.wmf"/><Relationship Id="rId5" Type="http://purl.oclc.org/ooxml/officeDocument/relationships/oleObject" Target="../embeddings/oleObject126.bin"/><Relationship Id="rId15" Type="http://purl.oclc.org/ooxml/officeDocument/relationships/image" Target="../media/image136.wmf"/><Relationship Id="rId10" Type="http://purl.oclc.org/ooxml/officeDocument/relationships/oleObject" Target="../embeddings/oleObject129.bin"/><Relationship Id="rId4" Type="http://purl.oclc.org/ooxml/officeDocument/relationships/image" Target="../media/image131.wmf"/><Relationship Id="rId9" Type="http://purl.oclc.org/ooxml/officeDocument/relationships/image" Target="../media/image133.wmf"/><Relationship Id="rId14" Type="http://purl.oclc.org/ooxml/officeDocument/relationships/oleObject" Target="../embeddings/oleObject131.bin"/></Relationships>
</file>

<file path=ppt/slides/_rels/slide21.xml.rels><?xml version="1.0" encoding="UTF-8" standalone="yes"?>
<Relationships xmlns="http://schemas.openxmlformats.org/package/2006/relationships"><Relationship Id="rId8" Type="http://purl.oclc.org/ooxml/officeDocument/relationships/image" Target="../media/image139.wmf"/><Relationship Id="rId3" Type="http://purl.oclc.org/ooxml/officeDocument/relationships/oleObject" Target="../embeddings/oleObject132.bin"/><Relationship Id="rId7" Type="http://purl.oclc.org/ooxml/officeDocument/relationships/oleObject" Target="../embeddings/oleObject134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20.vml"/><Relationship Id="rId6" Type="http://purl.oclc.org/ooxml/officeDocument/relationships/image" Target="../media/image138.wmf"/><Relationship Id="rId5" Type="http://purl.oclc.org/ooxml/officeDocument/relationships/oleObject" Target="../embeddings/oleObject133.bin"/><Relationship Id="rId10" Type="http://purl.oclc.org/ooxml/officeDocument/relationships/image" Target="../media/image140.wmf"/><Relationship Id="rId4" Type="http://purl.oclc.org/ooxml/officeDocument/relationships/image" Target="../media/image137.wmf"/><Relationship Id="rId9" Type="http://purl.oclc.org/ooxml/officeDocument/relationships/oleObject" Target="../embeddings/oleObject135.bin"/></Relationships>
</file>

<file path=ppt/slides/_rels/slide22.xml.rels><?xml version="1.0" encoding="UTF-8" standalone="yes"?>
<Relationships xmlns="http://schemas.openxmlformats.org/package/2006/relationships"><Relationship Id="rId8" Type="http://purl.oclc.org/ooxml/officeDocument/relationships/image" Target="../media/image143.wmf"/><Relationship Id="rId3" Type="http://purl.oclc.org/ooxml/officeDocument/relationships/oleObject" Target="../embeddings/oleObject136.bin"/><Relationship Id="rId7" Type="http://purl.oclc.org/ooxml/officeDocument/relationships/oleObject" Target="../embeddings/oleObject138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21.vml"/><Relationship Id="rId6" Type="http://purl.oclc.org/ooxml/officeDocument/relationships/image" Target="../media/image142.wmf"/><Relationship Id="rId5" Type="http://purl.oclc.org/ooxml/officeDocument/relationships/oleObject" Target="../embeddings/oleObject137.bin"/><Relationship Id="rId4" Type="http://purl.oclc.org/ooxml/officeDocument/relationships/image" Target="../media/image141.wmf"/></Relationships>
</file>

<file path=ppt/slides/_rels/slide23.xml.rels><?xml version="1.0" encoding="UTF-8" standalone="yes"?>
<Relationships xmlns="http://schemas.openxmlformats.org/package/2006/relationships"><Relationship Id="rId8" Type="http://purl.oclc.org/ooxml/officeDocument/relationships/image" Target="../media/image145.wmf"/><Relationship Id="rId13" Type="http://purl.oclc.org/ooxml/officeDocument/relationships/oleObject" Target="../embeddings/oleObject143.bin"/><Relationship Id="rId3" Type="http://purl.oclc.org/ooxml/officeDocument/relationships/image" Target="../media/image148.jpeg"/><Relationship Id="rId7" Type="http://purl.oclc.org/ooxml/officeDocument/relationships/oleObject" Target="../embeddings/oleObject140.bin"/><Relationship Id="rId12" Type="http://purl.oclc.org/ooxml/officeDocument/relationships/image" Target="../media/image147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22.vml"/><Relationship Id="rId6" Type="http://purl.oclc.org/ooxml/officeDocument/relationships/image" Target="../media/image144.wmf"/><Relationship Id="rId11" Type="http://purl.oclc.org/ooxml/officeDocument/relationships/oleObject" Target="../embeddings/oleObject142.bin"/><Relationship Id="rId5" Type="http://purl.oclc.org/ooxml/officeDocument/relationships/oleObject" Target="../embeddings/oleObject139.bin"/><Relationship Id="rId10" Type="http://purl.oclc.org/ooxml/officeDocument/relationships/image" Target="../media/image146.wmf"/><Relationship Id="rId4" Type="http://purl.oclc.org/ooxml/officeDocument/relationships/image" Target="../media/image149.jpeg"/><Relationship Id="rId9" Type="http://purl.oclc.org/ooxml/officeDocument/relationships/oleObject" Target="../embeddings/oleObject141.bin"/><Relationship Id="rId14" Type="http://purl.oclc.org/ooxml/officeDocument/relationships/oleObject" Target="../embeddings/oleObject144.bin"/></Relationships>
</file>

<file path=ppt/slides/_rels/slide24.xml.rels><?xml version="1.0" encoding="UTF-8" standalone="yes"?>
<Relationships xmlns="http://schemas.openxmlformats.org/package/2006/relationships"><Relationship Id="rId8" Type="http://purl.oclc.org/ooxml/officeDocument/relationships/image" Target="../media/image152.wmf"/><Relationship Id="rId13" Type="http://purl.oclc.org/ooxml/officeDocument/relationships/oleObject" Target="../embeddings/oleObject149.bin"/><Relationship Id="rId3" Type="http://purl.oclc.org/ooxml/officeDocument/relationships/oleObject" Target="../embeddings/oleObject145.bin"/><Relationship Id="rId7" Type="http://purl.oclc.org/ooxml/officeDocument/relationships/oleObject" Target="../embeddings/oleObject147.bin"/><Relationship Id="rId12" Type="http://purl.oclc.org/ooxml/officeDocument/relationships/image" Target="../media/image145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23.vml"/><Relationship Id="rId6" Type="http://purl.oclc.org/ooxml/officeDocument/relationships/image" Target="../media/image151.wmf"/><Relationship Id="rId11" Type="http://purl.oclc.org/ooxml/officeDocument/relationships/oleObject" Target="../embeddings/oleObject148.bin"/><Relationship Id="rId5" Type="http://purl.oclc.org/ooxml/officeDocument/relationships/oleObject" Target="../embeddings/oleObject146.bin"/><Relationship Id="rId10" Type="http://purl.oclc.org/ooxml/officeDocument/relationships/image" Target="../media/image149.jpeg"/><Relationship Id="rId4" Type="http://purl.oclc.org/ooxml/officeDocument/relationships/image" Target="../media/image150.wmf"/><Relationship Id="rId9" Type="http://purl.oclc.org/ooxml/officeDocument/relationships/image" Target="../media/image148.jpeg"/><Relationship Id="rId14" Type="http://purl.oclc.org/ooxml/officeDocument/relationships/image" Target="../media/image153.emf"/></Relationships>
</file>

<file path=ppt/slides/_rels/slide25.xml.rels><?xml version="1.0" encoding="UTF-8" standalone="yes"?>
<Relationships xmlns="http://schemas.openxmlformats.org/package/2006/relationships"><Relationship Id="rId8" Type="http://purl.oclc.org/ooxml/officeDocument/relationships/image" Target="../media/image156.wmf"/><Relationship Id="rId13" Type="http://purl.oclc.org/ooxml/officeDocument/relationships/oleObject" Target="../embeddings/oleObject155.bin"/><Relationship Id="rId3" Type="http://purl.oclc.org/ooxml/officeDocument/relationships/oleObject" Target="../embeddings/oleObject150.bin"/><Relationship Id="rId7" Type="http://purl.oclc.org/ooxml/officeDocument/relationships/oleObject" Target="../embeddings/oleObject152.bin"/><Relationship Id="rId12" Type="http://purl.oclc.org/ooxml/officeDocument/relationships/image" Target="../media/image158.wmf"/><Relationship Id="rId2" Type="http://purl.oclc.org/ooxml/officeDocument/relationships/slideLayout" Target="../slideLayouts/slideLayout7.xml"/><Relationship Id="rId16" Type="http://purl.oclc.org/ooxml/officeDocument/relationships/image" Target="../media/image160.emf"/><Relationship Id="rId1" Type="http://schemas.openxmlformats.org/officeDocument/2006/relationships/vmlDrawing" Target="../drawings/vmlDrawing24.vml"/><Relationship Id="rId6" Type="http://purl.oclc.org/ooxml/officeDocument/relationships/image" Target="../media/image155.wmf"/><Relationship Id="rId11" Type="http://purl.oclc.org/ooxml/officeDocument/relationships/oleObject" Target="../embeddings/oleObject154.bin"/><Relationship Id="rId5" Type="http://purl.oclc.org/ooxml/officeDocument/relationships/oleObject" Target="../embeddings/oleObject151.bin"/><Relationship Id="rId15" Type="http://purl.oclc.org/ooxml/officeDocument/relationships/oleObject" Target="../embeddings/oleObject156.bin"/><Relationship Id="rId10" Type="http://purl.oclc.org/ooxml/officeDocument/relationships/image" Target="../media/image157.wmf"/><Relationship Id="rId4" Type="http://purl.oclc.org/ooxml/officeDocument/relationships/image" Target="../media/image154.wmf"/><Relationship Id="rId9" Type="http://purl.oclc.org/ooxml/officeDocument/relationships/oleObject" Target="../embeddings/oleObject153.bin"/><Relationship Id="rId14" Type="http://purl.oclc.org/ooxml/officeDocument/relationships/image" Target="../media/image159.emf"/></Relationships>
</file>

<file path=ppt/slides/_rels/slide26.xml.rels><?xml version="1.0" encoding="UTF-8" standalone="yes"?>
<Relationships xmlns="http://schemas.openxmlformats.org/package/2006/relationships"><Relationship Id="rId8" Type="http://purl.oclc.org/ooxml/officeDocument/relationships/image" Target="../media/image163.emf"/><Relationship Id="rId13" Type="http://purl.oclc.org/ooxml/officeDocument/relationships/oleObject" Target="../embeddings/oleObject162.bin"/><Relationship Id="rId3" Type="http://purl.oclc.org/ooxml/officeDocument/relationships/oleObject" Target="../embeddings/oleObject157.bin"/><Relationship Id="rId7" Type="http://purl.oclc.org/ooxml/officeDocument/relationships/oleObject" Target="../embeddings/oleObject159.bin"/><Relationship Id="rId12" Type="http://purl.oclc.org/ooxml/officeDocument/relationships/image" Target="../media/image165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25.vml"/><Relationship Id="rId6" Type="http://purl.oclc.org/ooxml/officeDocument/relationships/image" Target="../media/image162.emf"/><Relationship Id="rId11" Type="http://purl.oclc.org/ooxml/officeDocument/relationships/oleObject" Target="../embeddings/oleObject161.bin"/><Relationship Id="rId5" Type="http://purl.oclc.org/ooxml/officeDocument/relationships/oleObject" Target="../embeddings/oleObject158.bin"/><Relationship Id="rId10" Type="http://purl.oclc.org/ooxml/officeDocument/relationships/image" Target="../media/image164.wmf"/><Relationship Id="rId4" Type="http://purl.oclc.org/ooxml/officeDocument/relationships/image" Target="../media/image161.wmf"/><Relationship Id="rId9" Type="http://purl.oclc.org/ooxml/officeDocument/relationships/oleObject" Target="../embeddings/oleObject160.bin"/><Relationship Id="rId14" Type="http://purl.oclc.org/ooxml/officeDocument/relationships/image" Target="../media/image166.wmf"/></Relationships>
</file>

<file path=ppt/slides/_rels/slide27.xml.rels><?xml version="1.0" encoding="UTF-8" standalone="yes"?>
<Relationships xmlns="http://schemas.openxmlformats.org/package/2006/relationships"><Relationship Id="rId8" Type="http://purl.oclc.org/ooxml/officeDocument/relationships/image" Target="../media/image169.wmf"/><Relationship Id="rId13" Type="http://purl.oclc.org/ooxml/officeDocument/relationships/oleObject" Target="../embeddings/oleObject168.bin"/><Relationship Id="rId3" Type="http://purl.oclc.org/ooxml/officeDocument/relationships/oleObject" Target="../embeddings/oleObject163.bin"/><Relationship Id="rId7" Type="http://purl.oclc.org/ooxml/officeDocument/relationships/oleObject" Target="../embeddings/oleObject165.bin"/><Relationship Id="rId12" Type="http://purl.oclc.org/ooxml/officeDocument/relationships/image" Target="../media/image171.emf"/><Relationship Id="rId2" Type="http://purl.oclc.org/ooxml/officeDocument/relationships/slideLayout" Target="../slideLayouts/slideLayout7.xml"/><Relationship Id="rId16" Type="http://purl.oclc.org/ooxml/officeDocument/relationships/image" Target="../media/image166.wmf"/><Relationship Id="rId1" Type="http://schemas.openxmlformats.org/officeDocument/2006/relationships/vmlDrawing" Target="../drawings/vmlDrawing26.vml"/><Relationship Id="rId6" Type="http://purl.oclc.org/ooxml/officeDocument/relationships/image" Target="../media/image168.wmf"/><Relationship Id="rId11" Type="http://purl.oclc.org/ooxml/officeDocument/relationships/oleObject" Target="../embeddings/oleObject167.bin"/><Relationship Id="rId5" Type="http://purl.oclc.org/ooxml/officeDocument/relationships/oleObject" Target="../embeddings/oleObject164.bin"/><Relationship Id="rId15" Type="http://purl.oclc.org/ooxml/officeDocument/relationships/oleObject" Target="../embeddings/oleObject169.bin"/><Relationship Id="rId10" Type="http://purl.oclc.org/ooxml/officeDocument/relationships/image" Target="../media/image170.wmf"/><Relationship Id="rId4" Type="http://purl.oclc.org/ooxml/officeDocument/relationships/image" Target="../media/image167.wmf"/><Relationship Id="rId9" Type="http://purl.oclc.org/ooxml/officeDocument/relationships/oleObject" Target="../embeddings/oleObject166.bin"/><Relationship Id="rId14" Type="http://purl.oclc.org/ooxml/officeDocument/relationships/image" Target="../media/image172.emf"/></Relationships>
</file>

<file path=ppt/slides/_rels/slide28.xml.rels><?xml version="1.0" encoding="UTF-8" standalone="yes"?>
<Relationships xmlns="http://schemas.openxmlformats.org/package/2006/relationships"><Relationship Id="rId3" Type="http://purl.oclc.org/ooxml/officeDocument/relationships/image" Target="http://static.howstuffworks.com/gif/hydrogen-economy-station.jpg" TargetMode="External"/><Relationship Id="rId2" Type="http://purl.oclc.org/ooxml/officeDocument/relationships/image" Target="../media/image173.jpeg"/><Relationship Id="rId1" Type="http://purl.oclc.org/ooxml/officeDocument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purl.oclc.org/ooxml/officeDocument/relationships/image" Target="../media/image176.emf"/><Relationship Id="rId13" Type="http://purl.oclc.org/ooxml/officeDocument/relationships/oleObject" Target="../embeddings/oleObject175.bin"/><Relationship Id="rId18" Type="http://purl.oclc.org/ooxml/officeDocument/relationships/image" Target="../media/image181.emf"/><Relationship Id="rId26" Type="http://purl.oclc.org/ooxml/officeDocument/relationships/image" Target="../media/image185.emf"/><Relationship Id="rId3" Type="http://purl.oclc.org/ooxml/officeDocument/relationships/oleObject" Target="../embeddings/oleObject170.bin"/><Relationship Id="rId21" Type="http://purl.oclc.org/ooxml/officeDocument/relationships/oleObject" Target="../embeddings/oleObject179.bin"/><Relationship Id="rId7" Type="http://purl.oclc.org/ooxml/officeDocument/relationships/oleObject" Target="../embeddings/oleObject172.bin"/><Relationship Id="rId12" Type="http://purl.oclc.org/ooxml/officeDocument/relationships/image" Target="../media/image178.emf"/><Relationship Id="rId17" Type="http://purl.oclc.org/ooxml/officeDocument/relationships/oleObject" Target="../embeddings/oleObject177.bin"/><Relationship Id="rId25" Type="http://purl.oclc.org/ooxml/officeDocument/relationships/oleObject" Target="../embeddings/oleObject181.bin"/><Relationship Id="rId2" Type="http://purl.oclc.org/ooxml/officeDocument/relationships/slideLayout" Target="../slideLayouts/slideLayout7.xml"/><Relationship Id="rId16" Type="http://purl.oclc.org/ooxml/officeDocument/relationships/image" Target="../media/image180.emf"/><Relationship Id="rId20" Type="http://purl.oclc.org/ooxml/officeDocument/relationships/image" Target="../media/image182.emf"/><Relationship Id="rId1" Type="http://schemas.openxmlformats.org/officeDocument/2006/relationships/vmlDrawing" Target="../drawings/vmlDrawing27.vml"/><Relationship Id="rId6" Type="http://purl.oclc.org/ooxml/officeDocument/relationships/image" Target="../media/image175.emf"/><Relationship Id="rId11" Type="http://purl.oclc.org/ooxml/officeDocument/relationships/oleObject" Target="../embeddings/oleObject174.bin"/><Relationship Id="rId24" Type="http://purl.oclc.org/ooxml/officeDocument/relationships/image" Target="../media/image184.emf"/><Relationship Id="rId5" Type="http://purl.oclc.org/ooxml/officeDocument/relationships/oleObject" Target="../embeddings/oleObject171.bin"/><Relationship Id="rId15" Type="http://purl.oclc.org/ooxml/officeDocument/relationships/oleObject" Target="../embeddings/oleObject176.bin"/><Relationship Id="rId23" Type="http://purl.oclc.org/ooxml/officeDocument/relationships/oleObject" Target="../embeddings/oleObject180.bin"/><Relationship Id="rId28" Type="http://purl.oclc.org/ooxml/officeDocument/relationships/image" Target="../media/image186.emf"/><Relationship Id="rId10" Type="http://purl.oclc.org/ooxml/officeDocument/relationships/image" Target="../media/image177.emf"/><Relationship Id="rId19" Type="http://purl.oclc.org/ooxml/officeDocument/relationships/oleObject" Target="../embeddings/oleObject178.bin"/><Relationship Id="rId4" Type="http://purl.oclc.org/ooxml/officeDocument/relationships/image" Target="../media/image174.emf"/><Relationship Id="rId9" Type="http://purl.oclc.org/ooxml/officeDocument/relationships/oleObject" Target="../embeddings/oleObject173.bin"/><Relationship Id="rId14" Type="http://purl.oclc.org/ooxml/officeDocument/relationships/image" Target="../media/image179.emf"/><Relationship Id="rId22" Type="http://purl.oclc.org/ooxml/officeDocument/relationships/image" Target="../media/image183.emf"/><Relationship Id="rId27" Type="http://purl.oclc.org/ooxml/officeDocument/relationships/oleObject" Target="../embeddings/oleObject182.bin"/></Relationships>
</file>

<file path=ppt/slides/_rels/slide30.xml.rels><?xml version="1.0" encoding="UTF-8" standalone="yes"?>
<Relationships xmlns="http://schemas.openxmlformats.org/package/2006/relationships"><Relationship Id="rId8" Type="http://purl.oclc.org/ooxml/officeDocument/relationships/image" Target="../media/image189.emf"/><Relationship Id="rId13" Type="http://purl.oclc.org/ooxml/officeDocument/relationships/oleObject" Target="../embeddings/oleObject188.bin"/><Relationship Id="rId18" Type="http://purl.oclc.org/ooxml/officeDocument/relationships/image" Target="../media/image194.emf"/><Relationship Id="rId3" Type="http://purl.oclc.org/ooxml/officeDocument/relationships/oleObject" Target="../embeddings/oleObject183.bin"/><Relationship Id="rId21" Type="http://purl.oclc.org/ooxml/officeDocument/relationships/oleObject" Target="../embeddings/oleObject192.bin"/><Relationship Id="rId7" Type="http://purl.oclc.org/ooxml/officeDocument/relationships/oleObject" Target="../embeddings/oleObject185.bin"/><Relationship Id="rId12" Type="http://purl.oclc.org/ooxml/officeDocument/relationships/image" Target="../media/image191.emf"/><Relationship Id="rId17" Type="http://purl.oclc.org/ooxml/officeDocument/relationships/oleObject" Target="../embeddings/oleObject190.bin"/><Relationship Id="rId2" Type="http://purl.oclc.org/ooxml/officeDocument/relationships/slideLayout" Target="../slideLayouts/slideLayout7.xml"/><Relationship Id="rId16" Type="http://purl.oclc.org/ooxml/officeDocument/relationships/image" Target="../media/image193.emf"/><Relationship Id="rId20" Type="http://purl.oclc.org/ooxml/officeDocument/relationships/image" Target="../media/image195.emf"/><Relationship Id="rId1" Type="http://schemas.openxmlformats.org/officeDocument/2006/relationships/vmlDrawing" Target="../drawings/vmlDrawing28.vml"/><Relationship Id="rId6" Type="http://purl.oclc.org/ooxml/officeDocument/relationships/image" Target="../media/image188.emf"/><Relationship Id="rId11" Type="http://purl.oclc.org/ooxml/officeDocument/relationships/oleObject" Target="../embeddings/oleObject187.bin"/><Relationship Id="rId5" Type="http://purl.oclc.org/ooxml/officeDocument/relationships/oleObject" Target="../embeddings/oleObject184.bin"/><Relationship Id="rId15" Type="http://purl.oclc.org/ooxml/officeDocument/relationships/oleObject" Target="../embeddings/oleObject189.bin"/><Relationship Id="rId10" Type="http://purl.oclc.org/ooxml/officeDocument/relationships/image" Target="../media/image190.emf"/><Relationship Id="rId19" Type="http://purl.oclc.org/ooxml/officeDocument/relationships/oleObject" Target="../embeddings/oleObject191.bin"/><Relationship Id="rId4" Type="http://purl.oclc.org/ooxml/officeDocument/relationships/image" Target="../media/image187.emf"/><Relationship Id="rId9" Type="http://purl.oclc.org/ooxml/officeDocument/relationships/oleObject" Target="../embeddings/oleObject186.bin"/><Relationship Id="rId14" Type="http://purl.oclc.org/ooxml/officeDocument/relationships/image" Target="../media/image192.emf"/><Relationship Id="rId22" Type="http://purl.oclc.org/ooxml/officeDocument/relationships/image" Target="../media/image196.emf"/></Relationships>
</file>

<file path=ppt/slides/_rels/slide31.xml.rels><?xml version="1.0" encoding="UTF-8" standalone="yes"?>
<Relationships xmlns="http://schemas.openxmlformats.org/package/2006/relationships"><Relationship Id="rId13" Type="http://purl.oclc.org/ooxml/officeDocument/relationships/oleObject" Target="../embeddings/oleObject198.bin"/><Relationship Id="rId18" Type="http://purl.oclc.org/ooxml/officeDocument/relationships/oleObject" Target="../embeddings/oleObject201.bin"/><Relationship Id="rId26" Type="http://purl.oclc.org/ooxml/officeDocument/relationships/oleObject" Target="../embeddings/oleObject205.bin"/><Relationship Id="rId39" Type="http://purl.oclc.org/ooxml/officeDocument/relationships/image" Target="../media/image214.wmf"/><Relationship Id="rId3" Type="http://purl.oclc.org/ooxml/officeDocument/relationships/oleObject" Target="../embeddings/oleObject193.bin"/><Relationship Id="rId21" Type="http://purl.oclc.org/ooxml/officeDocument/relationships/image" Target="../media/image205.wmf"/><Relationship Id="rId34" Type="http://purl.oclc.org/ooxml/officeDocument/relationships/oleObject" Target="../embeddings/oleObject209.bin"/><Relationship Id="rId42" Type="http://purl.oclc.org/ooxml/officeDocument/relationships/oleObject" Target="../embeddings/oleObject213.bin"/><Relationship Id="rId47" Type="http://purl.oclc.org/ooxml/officeDocument/relationships/oleObject" Target="../embeddings/oleObject216.bin"/><Relationship Id="rId50" Type="http://purl.oclc.org/ooxml/officeDocument/relationships/image" Target="../media/image219.wmf"/><Relationship Id="rId7" Type="http://purl.oclc.org/ooxml/officeDocument/relationships/oleObject" Target="../embeddings/oleObject195.bin"/><Relationship Id="rId12" Type="http://purl.oclc.org/ooxml/officeDocument/relationships/image" Target="../media/image201.wmf"/><Relationship Id="rId17" Type="http://purl.oclc.org/ooxml/officeDocument/relationships/oleObject" Target="../embeddings/oleObject200.bin"/><Relationship Id="rId25" Type="http://purl.oclc.org/ooxml/officeDocument/relationships/image" Target="../media/image207.wmf"/><Relationship Id="rId33" Type="http://purl.oclc.org/ooxml/officeDocument/relationships/image" Target="../media/image211.wmf"/><Relationship Id="rId38" Type="http://purl.oclc.org/ooxml/officeDocument/relationships/oleObject" Target="../embeddings/oleObject211.bin"/><Relationship Id="rId46" Type="http://purl.oclc.org/ooxml/officeDocument/relationships/oleObject" Target="../embeddings/oleObject215.bin"/><Relationship Id="rId2" Type="http://purl.oclc.org/ooxml/officeDocument/relationships/slideLayout" Target="../slideLayouts/slideLayout2.xml"/><Relationship Id="rId16" Type="http://purl.oclc.org/ooxml/officeDocument/relationships/image" Target="../media/image203.wmf"/><Relationship Id="rId20" Type="http://purl.oclc.org/ooxml/officeDocument/relationships/oleObject" Target="../embeddings/oleObject202.bin"/><Relationship Id="rId29" Type="http://purl.oclc.org/ooxml/officeDocument/relationships/image" Target="../media/image209.wmf"/><Relationship Id="rId41" Type="http://purl.oclc.org/ooxml/officeDocument/relationships/image" Target="../media/image215.wmf"/><Relationship Id="rId1" Type="http://schemas.openxmlformats.org/officeDocument/2006/relationships/vmlDrawing" Target="../drawings/vmlDrawing29.vml"/><Relationship Id="rId6" Type="http://purl.oclc.org/ooxml/officeDocument/relationships/image" Target="../media/image198.wmf"/><Relationship Id="rId11" Type="http://purl.oclc.org/ooxml/officeDocument/relationships/oleObject" Target="../embeddings/oleObject197.bin"/><Relationship Id="rId24" Type="http://purl.oclc.org/ooxml/officeDocument/relationships/oleObject" Target="../embeddings/oleObject204.bin"/><Relationship Id="rId32" Type="http://purl.oclc.org/ooxml/officeDocument/relationships/oleObject" Target="../embeddings/oleObject208.bin"/><Relationship Id="rId37" Type="http://purl.oclc.org/ooxml/officeDocument/relationships/image" Target="../media/image213.wmf"/><Relationship Id="rId40" Type="http://purl.oclc.org/ooxml/officeDocument/relationships/oleObject" Target="../embeddings/oleObject212.bin"/><Relationship Id="rId45" Type="http://purl.oclc.org/ooxml/officeDocument/relationships/image" Target="../media/image217.wmf"/><Relationship Id="rId5" Type="http://purl.oclc.org/ooxml/officeDocument/relationships/oleObject" Target="../embeddings/oleObject194.bin"/><Relationship Id="rId15" Type="http://purl.oclc.org/ooxml/officeDocument/relationships/oleObject" Target="../embeddings/oleObject199.bin"/><Relationship Id="rId23" Type="http://purl.oclc.org/ooxml/officeDocument/relationships/image" Target="../media/image206.wmf"/><Relationship Id="rId28" Type="http://purl.oclc.org/ooxml/officeDocument/relationships/oleObject" Target="../embeddings/oleObject206.bin"/><Relationship Id="rId36" Type="http://purl.oclc.org/ooxml/officeDocument/relationships/oleObject" Target="../embeddings/oleObject210.bin"/><Relationship Id="rId49" Type="http://purl.oclc.org/ooxml/officeDocument/relationships/oleObject" Target="../embeddings/oleObject217.bin"/><Relationship Id="rId10" Type="http://purl.oclc.org/ooxml/officeDocument/relationships/image" Target="../media/image200.wmf"/><Relationship Id="rId19" Type="http://purl.oclc.org/ooxml/officeDocument/relationships/image" Target="../media/image204.wmf"/><Relationship Id="rId31" Type="http://purl.oclc.org/ooxml/officeDocument/relationships/image" Target="../media/image210.wmf"/><Relationship Id="rId44" Type="http://purl.oclc.org/ooxml/officeDocument/relationships/oleObject" Target="../embeddings/oleObject214.bin"/><Relationship Id="rId52" Type="http://purl.oclc.org/ooxml/officeDocument/relationships/image" Target="../media/image220.emf"/><Relationship Id="rId4" Type="http://purl.oclc.org/ooxml/officeDocument/relationships/image" Target="../media/image197.wmf"/><Relationship Id="rId9" Type="http://purl.oclc.org/ooxml/officeDocument/relationships/oleObject" Target="../embeddings/oleObject196.bin"/><Relationship Id="rId14" Type="http://purl.oclc.org/ooxml/officeDocument/relationships/image" Target="../media/image202.wmf"/><Relationship Id="rId22" Type="http://purl.oclc.org/ooxml/officeDocument/relationships/oleObject" Target="../embeddings/oleObject203.bin"/><Relationship Id="rId27" Type="http://purl.oclc.org/ooxml/officeDocument/relationships/image" Target="../media/image208.wmf"/><Relationship Id="rId30" Type="http://purl.oclc.org/ooxml/officeDocument/relationships/oleObject" Target="../embeddings/oleObject207.bin"/><Relationship Id="rId35" Type="http://purl.oclc.org/ooxml/officeDocument/relationships/image" Target="../media/image212.wmf"/><Relationship Id="rId43" Type="http://purl.oclc.org/ooxml/officeDocument/relationships/image" Target="../media/image216.wmf"/><Relationship Id="rId48" Type="http://purl.oclc.org/ooxml/officeDocument/relationships/image" Target="../media/image218.wmf"/><Relationship Id="rId8" Type="http://purl.oclc.org/ooxml/officeDocument/relationships/image" Target="../media/image199.wmf"/><Relationship Id="rId51" Type="http://purl.oclc.org/ooxml/officeDocument/relationships/oleObject" Target="../embeddings/oleObject218.bin"/></Relationships>
</file>

<file path=ppt/slides/_rels/slide32.xml.rels><?xml version="1.0" encoding="UTF-8" standalone="yes"?>
<Relationships xmlns="http://schemas.openxmlformats.org/package/2006/relationships"><Relationship Id="rId8" Type="http://purl.oclc.org/ooxml/officeDocument/relationships/image" Target="../media/image223.wmf"/><Relationship Id="rId13" Type="http://purl.oclc.org/ooxml/officeDocument/relationships/oleObject" Target="../embeddings/oleObject224.bin"/><Relationship Id="rId18" Type="http://purl.oclc.org/ooxml/officeDocument/relationships/image" Target="../media/image228.wmf"/><Relationship Id="rId3" Type="http://purl.oclc.org/ooxml/officeDocument/relationships/oleObject" Target="../embeddings/oleObject219.bin"/><Relationship Id="rId7" Type="http://purl.oclc.org/ooxml/officeDocument/relationships/oleObject" Target="../embeddings/oleObject221.bin"/><Relationship Id="rId12" Type="http://purl.oclc.org/ooxml/officeDocument/relationships/image" Target="../media/image225.wmf"/><Relationship Id="rId17" Type="http://purl.oclc.org/ooxml/officeDocument/relationships/oleObject" Target="../embeddings/oleObject226.bin"/><Relationship Id="rId2" Type="http://purl.oclc.org/ooxml/officeDocument/relationships/slideLayout" Target="../slideLayouts/slideLayout7.xml"/><Relationship Id="rId16" Type="http://purl.oclc.org/ooxml/officeDocument/relationships/image" Target="../media/image227.wmf"/><Relationship Id="rId20" Type="http://purl.oclc.org/ooxml/officeDocument/relationships/image" Target="../media/image229.wmf"/><Relationship Id="rId1" Type="http://schemas.openxmlformats.org/officeDocument/2006/relationships/vmlDrawing" Target="../drawings/vmlDrawing30.vml"/><Relationship Id="rId6" Type="http://purl.oclc.org/ooxml/officeDocument/relationships/image" Target="../media/image222.wmf"/><Relationship Id="rId11" Type="http://purl.oclc.org/ooxml/officeDocument/relationships/oleObject" Target="../embeddings/oleObject223.bin"/><Relationship Id="rId5" Type="http://purl.oclc.org/ooxml/officeDocument/relationships/oleObject" Target="../embeddings/oleObject220.bin"/><Relationship Id="rId15" Type="http://purl.oclc.org/ooxml/officeDocument/relationships/oleObject" Target="../embeddings/oleObject225.bin"/><Relationship Id="rId10" Type="http://purl.oclc.org/ooxml/officeDocument/relationships/image" Target="../media/image224.wmf"/><Relationship Id="rId19" Type="http://purl.oclc.org/ooxml/officeDocument/relationships/oleObject" Target="../embeddings/oleObject227.bin"/><Relationship Id="rId4" Type="http://purl.oclc.org/ooxml/officeDocument/relationships/image" Target="../media/image221.wmf"/><Relationship Id="rId9" Type="http://purl.oclc.org/ooxml/officeDocument/relationships/oleObject" Target="../embeddings/oleObject222.bin"/><Relationship Id="rId14" Type="http://purl.oclc.org/ooxml/officeDocument/relationships/image" Target="../media/image226.wmf"/></Relationships>
</file>

<file path=ppt/slides/_rels/slide33.xml.rels><?xml version="1.0" encoding="UTF-8" standalone="yes"?>
<Relationships xmlns="http://schemas.openxmlformats.org/package/2006/relationships"><Relationship Id="rId8" Type="http://purl.oclc.org/ooxml/officeDocument/relationships/image" Target="../media/image232.wmf"/><Relationship Id="rId3" Type="http://purl.oclc.org/ooxml/officeDocument/relationships/oleObject" Target="../embeddings/oleObject228.bin"/><Relationship Id="rId7" Type="http://purl.oclc.org/ooxml/officeDocument/relationships/oleObject" Target="../embeddings/oleObject230.bin"/><Relationship Id="rId12" Type="http://purl.oclc.org/ooxml/officeDocument/relationships/image" Target="../media/image234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1.vml"/><Relationship Id="rId6" Type="http://purl.oclc.org/ooxml/officeDocument/relationships/image" Target="../media/image231.wmf"/><Relationship Id="rId11" Type="http://purl.oclc.org/ooxml/officeDocument/relationships/oleObject" Target="../embeddings/oleObject232.bin"/><Relationship Id="rId5" Type="http://purl.oclc.org/ooxml/officeDocument/relationships/oleObject" Target="../embeddings/oleObject229.bin"/><Relationship Id="rId10" Type="http://purl.oclc.org/ooxml/officeDocument/relationships/image" Target="../media/image233.wmf"/><Relationship Id="rId4" Type="http://purl.oclc.org/ooxml/officeDocument/relationships/image" Target="../media/image230.wmf"/><Relationship Id="rId9" Type="http://purl.oclc.org/ooxml/officeDocument/relationships/oleObject" Target="../embeddings/oleObject231.bin"/></Relationships>
</file>

<file path=ppt/slides/_rels/slide34.xml.rels><?xml version="1.0" encoding="UTF-8" standalone="yes"?>
<Relationships xmlns="http://schemas.openxmlformats.org/package/2006/relationships"><Relationship Id="rId8" Type="http://purl.oclc.org/ooxml/officeDocument/relationships/image" Target="../media/image237.emf"/><Relationship Id="rId13" Type="http://purl.oclc.org/ooxml/officeDocument/relationships/oleObject" Target="../embeddings/oleObject238.bin"/><Relationship Id="rId18" Type="http://purl.oclc.org/ooxml/officeDocument/relationships/image" Target="../media/image242.wmf"/><Relationship Id="rId3" Type="http://purl.oclc.org/ooxml/officeDocument/relationships/oleObject" Target="../embeddings/oleObject233.bin"/><Relationship Id="rId21" Type="http://purl.oclc.org/ooxml/officeDocument/relationships/image" Target="../media/image48.png"/><Relationship Id="rId7" Type="http://purl.oclc.org/ooxml/officeDocument/relationships/oleObject" Target="../embeddings/oleObject235.bin"/><Relationship Id="rId12" Type="http://purl.oclc.org/ooxml/officeDocument/relationships/image" Target="../media/image239.emf"/><Relationship Id="rId17" Type="http://purl.oclc.org/ooxml/officeDocument/relationships/oleObject" Target="../embeddings/oleObject240.bin"/><Relationship Id="rId2" Type="http://purl.oclc.org/ooxml/officeDocument/relationships/slideLayout" Target="../slideLayouts/slideLayout7.xml"/><Relationship Id="rId16" Type="http://purl.oclc.org/ooxml/officeDocument/relationships/image" Target="../media/image241.emf"/><Relationship Id="rId20" Type="http://purl.oclc.org/ooxml/officeDocument/relationships/image" Target="../media/image243.wmf"/><Relationship Id="rId1" Type="http://schemas.openxmlformats.org/officeDocument/2006/relationships/vmlDrawing" Target="../drawings/vmlDrawing32.vml"/><Relationship Id="rId6" Type="http://purl.oclc.org/ooxml/officeDocument/relationships/image" Target="../media/image236.emf"/><Relationship Id="rId11" Type="http://purl.oclc.org/ooxml/officeDocument/relationships/oleObject" Target="../embeddings/oleObject237.bin"/><Relationship Id="rId5" Type="http://purl.oclc.org/ooxml/officeDocument/relationships/oleObject" Target="../embeddings/oleObject234.bin"/><Relationship Id="rId15" Type="http://purl.oclc.org/ooxml/officeDocument/relationships/oleObject" Target="../embeddings/oleObject239.bin"/><Relationship Id="rId10" Type="http://purl.oclc.org/ooxml/officeDocument/relationships/image" Target="../media/image238.emf"/><Relationship Id="rId19" Type="http://purl.oclc.org/ooxml/officeDocument/relationships/oleObject" Target="../embeddings/oleObject241.bin"/><Relationship Id="rId4" Type="http://purl.oclc.org/ooxml/officeDocument/relationships/image" Target="../media/image235.emf"/><Relationship Id="rId9" Type="http://purl.oclc.org/ooxml/officeDocument/relationships/oleObject" Target="../embeddings/oleObject236.bin"/><Relationship Id="rId14" Type="http://purl.oclc.org/ooxml/officeDocument/relationships/image" Target="../media/image240.emf"/></Relationships>
</file>

<file path=ppt/slides/_rels/slide35.xml.rels><?xml version="1.0" encoding="UTF-8" standalone="yes"?>
<Relationships xmlns="http://schemas.openxmlformats.org/package/2006/relationships"><Relationship Id="rId8" Type="http://purl.oclc.org/ooxml/officeDocument/relationships/image" Target="../media/image246.emf"/><Relationship Id="rId13" Type="http://purl.oclc.org/ooxml/officeDocument/relationships/oleObject" Target="../embeddings/oleObject247.bin"/><Relationship Id="rId18" Type="http://purl.oclc.org/ooxml/officeDocument/relationships/image" Target="../media/image251.emf"/><Relationship Id="rId3" Type="http://purl.oclc.org/ooxml/officeDocument/relationships/oleObject" Target="../embeddings/oleObject242.bin"/><Relationship Id="rId7" Type="http://purl.oclc.org/ooxml/officeDocument/relationships/oleObject" Target="../embeddings/oleObject244.bin"/><Relationship Id="rId12" Type="http://purl.oclc.org/ooxml/officeDocument/relationships/image" Target="../media/image248.emf"/><Relationship Id="rId17" Type="http://purl.oclc.org/ooxml/officeDocument/relationships/oleObject" Target="../embeddings/oleObject249.bin"/><Relationship Id="rId2" Type="http://purl.oclc.org/ooxml/officeDocument/relationships/slideLayout" Target="../slideLayouts/slideLayout7.xml"/><Relationship Id="rId16" Type="http://purl.oclc.org/ooxml/officeDocument/relationships/image" Target="../media/image250.emf"/><Relationship Id="rId1" Type="http://schemas.openxmlformats.org/officeDocument/2006/relationships/vmlDrawing" Target="../drawings/vmlDrawing33.vml"/><Relationship Id="rId6" Type="http://purl.oclc.org/ooxml/officeDocument/relationships/image" Target="../media/image245.emf"/><Relationship Id="rId11" Type="http://purl.oclc.org/ooxml/officeDocument/relationships/oleObject" Target="../embeddings/oleObject246.bin"/><Relationship Id="rId5" Type="http://purl.oclc.org/ooxml/officeDocument/relationships/oleObject" Target="../embeddings/oleObject243.bin"/><Relationship Id="rId15" Type="http://purl.oclc.org/ooxml/officeDocument/relationships/oleObject" Target="../embeddings/oleObject248.bin"/><Relationship Id="rId10" Type="http://purl.oclc.org/ooxml/officeDocument/relationships/image" Target="../media/image247.emf"/><Relationship Id="rId4" Type="http://purl.oclc.org/ooxml/officeDocument/relationships/image" Target="../media/image244.emf"/><Relationship Id="rId9" Type="http://purl.oclc.org/ooxml/officeDocument/relationships/oleObject" Target="../embeddings/oleObject245.bin"/><Relationship Id="rId14" Type="http://purl.oclc.org/ooxml/officeDocument/relationships/image" Target="../media/image249.emf"/></Relationships>
</file>

<file path=ppt/slides/_rels/slide36.xml.rels><?xml version="1.0" encoding="UTF-8" standalone="yes"?>
<Relationships xmlns="http://schemas.openxmlformats.org/package/2006/relationships"><Relationship Id="rId8" Type="http://purl.oclc.org/ooxml/officeDocument/relationships/image" Target="../media/image254.wmf"/><Relationship Id="rId3" Type="http://purl.oclc.org/ooxml/officeDocument/relationships/oleObject" Target="../embeddings/oleObject250.bin"/><Relationship Id="rId7" Type="http://purl.oclc.org/ooxml/officeDocument/relationships/oleObject" Target="../embeddings/oleObject252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4.vml"/><Relationship Id="rId6" Type="http://purl.oclc.org/ooxml/officeDocument/relationships/image" Target="../media/image253.wmf"/><Relationship Id="rId5" Type="http://purl.oclc.org/ooxml/officeDocument/relationships/oleObject" Target="../embeddings/oleObject251.bin"/><Relationship Id="rId4" Type="http://purl.oclc.org/ooxml/officeDocument/relationships/image" Target="../media/image252.wmf"/></Relationships>
</file>

<file path=ppt/slides/_rels/slide37.xml.rels><?xml version="1.0" encoding="UTF-8" standalone="yes"?>
<Relationships xmlns="http://schemas.openxmlformats.org/package/2006/relationships"><Relationship Id="rId8" Type="http://purl.oclc.org/ooxml/officeDocument/relationships/image" Target="../media/image257.wmf"/><Relationship Id="rId13" Type="http://purl.oclc.org/ooxml/officeDocument/relationships/oleObject" Target="../embeddings/oleObject258.bin"/><Relationship Id="rId3" Type="http://purl.oclc.org/ooxml/officeDocument/relationships/oleObject" Target="../embeddings/oleObject253.bin"/><Relationship Id="rId7" Type="http://purl.oclc.org/ooxml/officeDocument/relationships/oleObject" Target="../embeddings/oleObject255.bin"/><Relationship Id="rId12" Type="http://purl.oclc.org/ooxml/officeDocument/relationships/image" Target="../media/image259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5.vml"/><Relationship Id="rId6" Type="http://purl.oclc.org/ooxml/officeDocument/relationships/image" Target="../media/image256.wmf"/><Relationship Id="rId11" Type="http://purl.oclc.org/ooxml/officeDocument/relationships/oleObject" Target="../embeddings/oleObject257.bin"/><Relationship Id="rId5" Type="http://purl.oclc.org/ooxml/officeDocument/relationships/oleObject" Target="../embeddings/oleObject254.bin"/><Relationship Id="rId10" Type="http://purl.oclc.org/ooxml/officeDocument/relationships/image" Target="../media/image258.wmf"/><Relationship Id="rId4" Type="http://purl.oclc.org/ooxml/officeDocument/relationships/image" Target="../media/image255.wmf"/><Relationship Id="rId9" Type="http://purl.oclc.org/ooxml/officeDocument/relationships/oleObject" Target="../embeddings/oleObject256.bin"/><Relationship Id="rId14" Type="http://purl.oclc.org/ooxml/officeDocument/relationships/image" Target="../media/image260.wmf"/></Relationships>
</file>

<file path=ppt/slides/_rels/slide3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purl.oclc.org/ooxml/officeDocument/relationships/image" Target="../media/image263.wmf"/><Relationship Id="rId3" Type="http://purl.oclc.org/ooxml/officeDocument/relationships/oleObject" Target="../embeddings/oleObject259.bin"/><Relationship Id="rId7" Type="http://purl.oclc.org/ooxml/officeDocument/relationships/oleObject" Target="../embeddings/oleObject261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6.vml"/><Relationship Id="rId6" Type="http://purl.oclc.org/ooxml/officeDocument/relationships/image" Target="../media/image262.wmf"/><Relationship Id="rId5" Type="http://purl.oclc.org/ooxml/officeDocument/relationships/oleObject" Target="../embeddings/oleObject260.bin"/><Relationship Id="rId10" Type="http://purl.oclc.org/ooxml/officeDocument/relationships/image" Target="../media/image264.wmf"/><Relationship Id="rId4" Type="http://purl.oclc.org/ooxml/officeDocument/relationships/image" Target="../media/image261.wmf"/><Relationship Id="rId9" Type="http://purl.oclc.org/ooxml/officeDocument/relationships/oleObject" Target="../embeddings/oleObject262.bin"/></Relationships>
</file>

<file path=ppt/slides/_rels/slide40.xml.rels><?xml version="1.0" encoding="UTF-8" standalone="yes"?>
<Relationships xmlns="http://schemas.openxmlformats.org/package/2006/relationships"><Relationship Id="rId8" Type="http://purl.oclc.org/ooxml/officeDocument/relationships/image" Target="../media/image267.wmf"/><Relationship Id="rId3" Type="http://purl.oclc.org/ooxml/officeDocument/relationships/oleObject" Target="../embeddings/oleObject263.bin"/><Relationship Id="rId7" Type="http://purl.oclc.org/ooxml/officeDocument/relationships/oleObject" Target="../embeddings/oleObject265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7.vml"/><Relationship Id="rId6" Type="http://purl.oclc.org/ooxml/officeDocument/relationships/image" Target="../media/image266.wmf"/><Relationship Id="rId5" Type="http://purl.oclc.org/ooxml/officeDocument/relationships/oleObject" Target="../embeddings/oleObject264.bin"/><Relationship Id="rId10" Type="http://purl.oclc.org/ooxml/officeDocument/relationships/image" Target="../media/image268.wmf"/><Relationship Id="rId4" Type="http://purl.oclc.org/ooxml/officeDocument/relationships/image" Target="../media/image265.wmf"/><Relationship Id="rId9" Type="http://purl.oclc.org/ooxml/officeDocument/relationships/oleObject" Target="../embeddings/oleObject266.bin"/></Relationships>
</file>

<file path=ppt/slides/_rels/slide41.xml.rels><?xml version="1.0" encoding="UTF-8" standalone="yes"?>
<Relationships xmlns="http://schemas.openxmlformats.org/package/2006/relationships"><Relationship Id="rId8" Type="http://purl.oclc.org/ooxml/officeDocument/relationships/image" Target="../media/image271.wmf"/><Relationship Id="rId3" Type="http://purl.oclc.org/ooxml/officeDocument/relationships/oleObject" Target="../embeddings/oleObject267.bin"/><Relationship Id="rId7" Type="http://purl.oclc.org/ooxml/officeDocument/relationships/oleObject" Target="../embeddings/oleObject269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8.vml"/><Relationship Id="rId6" Type="http://purl.oclc.org/ooxml/officeDocument/relationships/image" Target="../media/image270.wmf"/><Relationship Id="rId5" Type="http://purl.oclc.org/ooxml/officeDocument/relationships/oleObject" Target="../embeddings/oleObject268.bin"/><Relationship Id="rId10" Type="http://purl.oclc.org/ooxml/officeDocument/relationships/image" Target="../media/image272.wmf"/><Relationship Id="rId4" Type="http://purl.oclc.org/ooxml/officeDocument/relationships/image" Target="../media/image269.wmf"/><Relationship Id="rId9" Type="http://purl.oclc.org/ooxml/officeDocument/relationships/oleObject" Target="../embeddings/oleObject270.bin"/></Relationships>
</file>

<file path=ppt/slides/_rels/slide42.xml.rels><?xml version="1.0" encoding="UTF-8" standalone="yes"?>
<Relationships xmlns="http://schemas.openxmlformats.org/package/2006/relationships"><Relationship Id="rId3" Type="http://purl.oclc.org/ooxml/officeDocument/relationships/oleObject" Target="../embeddings/oleObject271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39.vml"/><Relationship Id="rId6" Type="http://purl.oclc.org/ooxml/officeDocument/relationships/image" Target="../media/image274.wmf"/><Relationship Id="rId5" Type="http://purl.oclc.org/ooxml/officeDocument/relationships/oleObject" Target="../embeddings/oleObject272.bin"/><Relationship Id="rId4" Type="http://purl.oclc.org/ooxml/officeDocument/relationships/image" Target="../media/image273.wmf"/></Relationships>
</file>

<file path=ppt/slides/_rels/slide43.xml.rels><?xml version="1.0" encoding="UTF-8" standalone="yes"?>
<Relationships xmlns="http://schemas.openxmlformats.org/package/2006/relationships"><Relationship Id="rId8" Type="http://purl.oclc.org/ooxml/officeDocument/relationships/image" Target="../media/image277.emf"/><Relationship Id="rId3" Type="http://purl.oclc.org/ooxml/officeDocument/relationships/oleObject" Target="../embeddings/oleObject273.bin"/><Relationship Id="rId7" Type="http://purl.oclc.org/ooxml/officeDocument/relationships/oleObject" Target="../embeddings/oleObject275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40.vml"/><Relationship Id="rId6" Type="http://purl.oclc.org/ooxml/officeDocument/relationships/image" Target="../media/image276.emf"/><Relationship Id="rId5" Type="http://purl.oclc.org/ooxml/officeDocument/relationships/oleObject" Target="../embeddings/oleObject274.bin"/><Relationship Id="rId10" Type="http://purl.oclc.org/ooxml/officeDocument/relationships/image" Target="../media/image278.emf"/><Relationship Id="rId4" Type="http://purl.oclc.org/ooxml/officeDocument/relationships/image" Target="../media/image275.emf"/><Relationship Id="rId9" Type="http://purl.oclc.org/ooxml/officeDocument/relationships/oleObject" Target="../embeddings/oleObject276.bin"/></Relationships>
</file>

<file path=ppt/slides/_rels/slide44.xml.rels><?xml version="1.0" encoding="UTF-8" standalone="yes"?>
<Relationships xmlns="http://schemas.openxmlformats.org/package/2006/relationships"><Relationship Id="rId3" Type="http://purl.oclc.org/ooxml/officeDocument/relationships/oleObject" Target="../embeddings/oleObject277.bin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41.vml"/><Relationship Id="rId6" Type="http://purl.oclc.org/ooxml/officeDocument/relationships/image" Target="../media/image280.emf"/><Relationship Id="rId5" Type="http://purl.oclc.org/ooxml/officeDocument/relationships/oleObject" Target="../embeddings/oleObject278.bin"/><Relationship Id="rId4" Type="http://purl.oclc.org/ooxml/officeDocument/relationships/image" Target="../media/image279.emf"/></Relationships>
</file>

<file path=ppt/slides/_rels/slide45.xml.rels><?xml version="1.0" encoding="UTF-8" standalone="yes"?>
<Relationships xmlns="http://schemas.openxmlformats.org/package/2006/relationships"><Relationship Id="rId8" Type="http://purl.oclc.org/ooxml/officeDocument/relationships/image" Target="../media/image283.wmf"/><Relationship Id="rId13" Type="http://purl.oclc.org/ooxml/officeDocument/relationships/oleObject" Target="../embeddings/oleObject284.bin"/><Relationship Id="rId3" Type="http://purl.oclc.org/ooxml/officeDocument/relationships/oleObject" Target="../embeddings/oleObject279.bin"/><Relationship Id="rId7" Type="http://purl.oclc.org/ooxml/officeDocument/relationships/oleObject" Target="../embeddings/oleObject281.bin"/><Relationship Id="rId12" Type="http://purl.oclc.org/ooxml/officeDocument/relationships/image" Target="../media/image285.wmf"/><Relationship Id="rId2" Type="http://purl.oclc.org/ooxml/officeDocument/relationships/slideLayout" Target="../slideLayouts/slideLayout7.xml"/><Relationship Id="rId1" Type="http://schemas.openxmlformats.org/officeDocument/2006/relationships/vmlDrawing" Target="../drawings/vmlDrawing42.vml"/><Relationship Id="rId6" Type="http://purl.oclc.org/ooxml/officeDocument/relationships/image" Target="../media/image282.wmf"/><Relationship Id="rId11" Type="http://purl.oclc.org/ooxml/officeDocument/relationships/oleObject" Target="../embeddings/oleObject283.bin"/><Relationship Id="rId5" Type="http://purl.oclc.org/ooxml/officeDocument/relationships/oleObject" Target="../embeddings/oleObject280.bin"/><Relationship Id="rId10" Type="http://purl.oclc.org/ooxml/officeDocument/relationships/image" Target="../media/image284.wmf"/><Relationship Id="rId4" Type="http://purl.oclc.org/ooxml/officeDocument/relationships/image" Target="../media/image281.wmf"/><Relationship Id="rId9" Type="http://purl.oclc.org/ooxml/officeDocument/relationships/oleObject" Target="../embeddings/oleObject282.bin"/><Relationship Id="rId14" Type="http://purl.oclc.org/ooxml/officeDocument/relationships/image" Target="../media/image286.wmf"/></Relationships>
</file>

<file path=ppt/slides/_rels/slide46.xml.rels><?xml version="1.0" encoding="UTF-8" standalone="yes"?>
<Relationships xmlns="http://schemas.openxmlformats.org/package/2006/relationships"><Relationship Id="rId8" Type="http://purl.oclc.org/ooxml/officeDocument/relationships/image" Target="../media/image289.wmf"/><Relationship Id="rId13" Type="http://purl.oclc.org/ooxml/officeDocument/relationships/oleObject" Target="../embeddings/oleObject290.bin"/><Relationship Id="rId18" Type="http://purl.oclc.org/ooxml/officeDocument/relationships/image" Target="../media/image294.wmf"/><Relationship Id="rId3" Type="http://purl.oclc.org/ooxml/officeDocument/relationships/oleObject" Target="../embeddings/oleObject285.bin"/><Relationship Id="rId21" Type="http://purl.oclc.org/ooxml/officeDocument/relationships/oleObject" Target="../embeddings/oleObject294.bin"/><Relationship Id="rId7" Type="http://purl.oclc.org/ooxml/officeDocument/relationships/oleObject" Target="../embeddings/oleObject287.bin"/><Relationship Id="rId12" Type="http://purl.oclc.org/ooxml/officeDocument/relationships/image" Target="../media/image291.wmf"/><Relationship Id="rId17" Type="http://purl.oclc.org/ooxml/officeDocument/relationships/oleObject" Target="../embeddings/oleObject292.bin"/><Relationship Id="rId2" Type="http://purl.oclc.org/ooxml/officeDocument/relationships/slideLayout" Target="../slideLayouts/slideLayout7.xml"/><Relationship Id="rId16" Type="http://purl.oclc.org/ooxml/officeDocument/relationships/image" Target="../media/image293.wmf"/><Relationship Id="rId20" Type="http://purl.oclc.org/ooxml/officeDocument/relationships/image" Target="../media/image295.wmf"/><Relationship Id="rId1" Type="http://schemas.openxmlformats.org/officeDocument/2006/relationships/vmlDrawing" Target="../drawings/vmlDrawing43.vml"/><Relationship Id="rId6" Type="http://purl.oclc.org/ooxml/officeDocument/relationships/image" Target="../media/image288.wmf"/><Relationship Id="rId11" Type="http://purl.oclc.org/ooxml/officeDocument/relationships/oleObject" Target="../embeddings/oleObject289.bin"/><Relationship Id="rId5" Type="http://purl.oclc.org/ooxml/officeDocument/relationships/oleObject" Target="../embeddings/oleObject286.bin"/><Relationship Id="rId15" Type="http://purl.oclc.org/ooxml/officeDocument/relationships/oleObject" Target="../embeddings/oleObject291.bin"/><Relationship Id="rId10" Type="http://purl.oclc.org/ooxml/officeDocument/relationships/image" Target="../media/image290.wmf"/><Relationship Id="rId19" Type="http://purl.oclc.org/ooxml/officeDocument/relationships/oleObject" Target="../embeddings/oleObject293.bin"/><Relationship Id="rId4" Type="http://purl.oclc.org/ooxml/officeDocument/relationships/image" Target="../media/image287.wmf"/><Relationship Id="rId9" Type="http://purl.oclc.org/ooxml/officeDocument/relationships/oleObject" Target="../embeddings/oleObject288.bin"/><Relationship Id="rId14" Type="http://purl.oclc.org/ooxml/officeDocument/relationships/image" Target="../media/image292.wmf"/><Relationship Id="rId22" Type="http://purl.oclc.org/ooxml/officeDocument/relationships/image" Target="../media/image296.wmf"/></Relationships>
</file>

<file path=ppt/slides/_rels/slide47.xml.rels><?xml version="1.0" encoding="UTF-8" standalone="yes"?>
<Relationships xmlns="http://schemas.openxmlformats.org/package/2006/relationships"><Relationship Id="rId2" Type="http://purl.oclc.org/ooxml/officeDocument/relationships/image" Target="../media/image297.jpeg"/><Relationship Id="rId1" Type="http://purl.oclc.org/ooxml/officeDocument/relationships/slideLayout" Target="../slideLayouts/slideLayout7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6" name="Picture 4" descr="0031"/>
          <p:cNvPicPr>
            <a:picLocks noChangeAspect="1" noChangeArrowheads="1"/>
          </p:cNvPicPr>
          <p:nvPr/>
        </p:nvPicPr>
        <p:blipFill>
          <a:blip r:embed="rId2">
            <a:lum bright="6%" contrast="-12%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48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5" descr="IRIDIUM"/>
          <p:cNvPicPr>
            <a:picLocks noChangeAspect="1" noChangeArrowheads="1"/>
          </p:cNvPicPr>
          <p:nvPr/>
        </p:nvPicPr>
        <p:blipFill>
          <a:blip r:embed="rId3">
            <a:lum bright="18%" contrast="-6%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0"/>
            <a:ext cx="4495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8" name="WordArt 6"/>
          <p:cNvSpPr>
            <a:spLocks noChangeArrowheads="1" noChangeShapeType="1" noTextEdit="1"/>
          </p:cNvSpPr>
          <p:nvPr/>
        </p:nvSpPr>
        <p:spPr bwMode="auto">
          <a:xfrm>
            <a:off x="2362200" y="990600"/>
            <a:ext cx="4495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25400">
                  <a:solidFill>
                    <a:srgbClr val="FFCC99"/>
                  </a:solidFill>
                  <a:round/>
                  <a:headEnd/>
                  <a:tailEnd/>
                </a:ln>
                <a:solidFill>
                  <a:srgbClr val="3366FF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大学物理</a:t>
            </a:r>
          </a:p>
        </p:txBody>
      </p:sp>
      <p:sp>
        <p:nvSpPr>
          <p:cNvPr id="49159" name="WordArt 7"/>
          <p:cNvSpPr>
            <a:spLocks noChangeArrowheads="1" noChangeShapeType="1" noTextEdit="1"/>
          </p:cNvSpPr>
          <p:nvPr/>
        </p:nvSpPr>
        <p:spPr bwMode="auto">
          <a:xfrm>
            <a:off x="2438400" y="2590800"/>
            <a:ext cx="4419600" cy="1981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8000" b="1" kern="10">
                <a:ln w="25400">
                  <a:solidFill>
                    <a:srgbClr val="00CCFF"/>
                  </a:solidFill>
                  <a:round/>
                  <a:headEnd/>
                  <a:tailEnd/>
                </a:ln>
                <a:solidFill>
                  <a:srgbClr val="FD3F03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力 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2"/>
          <p:cNvSpPr txBox="1">
            <a:spLocks noChangeArrowheads="1"/>
          </p:cNvSpPr>
          <p:nvPr/>
        </p:nvSpPr>
        <p:spPr bwMode="auto">
          <a:xfrm>
            <a:off x="2209800" y="319088"/>
            <a:ext cx="472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线量与角量的关系</a:t>
            </a:r>
            <a:r>
              <a:rPr kumimoji="1" lang="en-US" altLang="zh-CN" b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1" lang="zh-CN" altLang="en-US" b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牢记</a:t>
            </a:r>
            <a:r>
              <a:rPr kumimoji="1" lang="en-US" altLang="zh-CN" b="1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graphicFrame>
        <p:nvGraphicFramePr>
          <p:cNvPr id="92165" name="Object 3"/>
          <p:cNvGraphicFramePr>
            <a:graphicFrameLocks noChangeAspect="1"/>
          </p:cNvGraphicFramePr>
          <p:nvPr/>
        </p:nvGraphicFramePr>
        <p:xfrm>
          <a:off x="633413" y="1090613"/>
          <a:ext cx="2771775" cy="7191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0" name="Equation" r:id="rId3" imgW="1002865" imgH="241195" progId="Equation.3">
                  <p:embed/>
                </p:oleObj>
              </mc:Choice>
              <mc:Fallback>
                <p:oleObj name="Equation" r:id="rId3" imgW="1002865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1090613"/>
                        <a:ext cx="2771775" cy="7191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4"/>
          <p:cNvGraphicFramePr>
            <a:graphicFrameLocks noChangeAspect="1"/>
          </p:cNvGraphicFramePr>
          <p:nvPr/>
        </p:nvGraphicFramePr>
        <p:xfrm>
          <a:off x="2711450" y="2074863"/>
          <a:ext cx="1587500" cy="6492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1" name="Equation" r:id="rId5" imgW="634725" imgH="228501" progId="Equation.3">
                  <p:embed/>
                </p:oleObj>
              </mc:Choice>
              <mc:Fallback>
                <p:oleObj name="Equation" r:id="rId5" imgW="634725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074863"/>
                        <a:ext cx="1587500" cy="6492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5"/>
          <p:cNvGraphicFramePr>
            <a:graphicFrameLocks noChangeAspect="1"/>
          </p:cNvGraphicFramePr>
          <p:nvPr/>
        </p:nvGraphicFramePr>
        <p:xfrm>
          <a:off x="650875" y="2044700"/>
          <a:ext cx="1519238" cy="6985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2" name="Equation" r:id="rId7" imgW="545863" imgH="228501" progId="Equation.3">
                  <p:embed/>
                </p:oleObj>
              </mc:Choice>
              <mc:Fallback>
                <p:oleObj name="Equation" r:id="rId7" imgW="545863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2044700"/>
                        <a:ext cx="1519238" cy="6985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9" name="Object 7"/>
          <p:cNvGraphicFramePr>
            <a:graphicFrameLocks noChangeAspect="1"/>
          </p:cNvGraphicFramePr>
          <p:nvPr/>
        </p:nvGraphicFramePr>
        <p:xfrm>
          <a:off x="3851275" y="1144588"/>
          <a:ext cx="1363663" cy="5159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3" name="公式" r:id="rId9" imgW="507780" imgH="165028" progId="Equation.3">
                  <p:embed/>
                </p:oleObj>
              </mc:Choice>
              <mc:Fallback>
                <p:oleObj name="公式" r:id="rId9" imgW="507780" imgH="16502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144588"/>
                        <a:ext cx="1363663" cy="5159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8"/>
          <p:cNvGraphicFramePr>
            <a:graphicFrameLocks noChangeAspect="1"/>
          </p:cNvGraphicFramePr>
          <p:nvPr/>
        </p:nvGraphicFramePr>
        <p:xfrm>
          <a:off x="684213" y="2924175"/>
          <a:ext cx="1765300" cy="6588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4" name="公式" r:id="rId11" imgW="634449" imgH="215713" progId="Equation.3">
                  <p:embed/>
                </p:oleObj>
              </mc:Choice>
              <mc:Fallback>
                <p:oleObj name="公式" r:id="rId11" imgW="634449" imgH="2157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24175"/>
                        <a:ext cx="1765300" cy="6588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9"/>
          <p:cNvGraphicFramePr>
            <a:graphicFrameLocks noChangeAspect="1"/>
          </p:cNvGraphicFramePr>
          <p:nvPr/>
        </p:nvGraphicFramePr>
        <p:xfrm>
          <a:off x="644525" y="3733800"/>
          <a:ext cx="1868488" cy="77628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5" name="Equation" r:id="rId13" imgW="672808" imgH="253890" progId="Equation.3">
                  <p:embed/>
                </p:oleObj>
              </mc:Choice>
              <mc:Fallback>
                <p:oleObj name="Equation" r:id="rId13" imgW="672808" imgH="25389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3733800"/>
                        <a:ext cx="1868488" cy="7762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2" name="Object 10"/>
          <p:cNvGraphicFramePr>
            <a:graphicFrameLocks noChangeAspect="1"/>
          </p:cNvGraphicFramePr>
          <p:nvPr/>
        </p:nvGraphicFramePr>
        <p:xfrm>
          <a:off x="2843213" y="3760788"/>
          <a:ext cx="3287712" cy="7381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2436" name="公式" r:id="rId15" imgW="1180588" imgH="241195" progId="Equation.3">
                  <p:embed/>
                </p:oleObj>
              </mc:Choice>
              <mc:Fallback>
                <p:oleObj name="公式" r:id="rId15" imgW="1180588" imgH="2411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760788"/>
                        <a:ext cx="3287712" cy="7381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0805" name="Group 37"/>
          <p:cNvGrpSpPr>
            <a:grpSpLocks/>
          </p:cNvGrpSpPr>
          <p:nvPr/>
        </p:nvGrpSpPr>
        <p:grpSpPr bwMode="auto">
          <a:xfrm>
            <a:off x="636588" y="4724400"/>
            <a:ext cx="7491412" cy="1814513"/>
            <a:chOff x="402" y="2985"/>
            <a:chExt cx="4719" cy="1143"/>
          </a:xfrm>
        </p:grpSpPr>
        <p:sp>
          <p:nvSpPr>
            <p:cNvPr id="92174" name="Text Box 38"/>
            <p:cNvSpPr txBox="1">
              <a:spLocks noChangeArrowheads="1"/>
            </p:cNvSpPr>
            <p:nvPr/>
          </p:nvSpPr>
          <p:spPr bwMode="auto">
            <a:xfrm>
              <a:off x="1440" y="2985"/>
              <a:ext cx="2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b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运动学二大类问题</a:t>
              </a:r>
            </a:p>
          </p:txBody>
        </p:sp>
        <p:grpSp>
          <p:nvGrpSpPr>
            <p:cNvPr id="92175" name="Group 39"/>
            <p:cNvGrpSpPr>
              <a:grpSpLocks/>
            </p:cNvGrpSpPr>
            <p:nvPr/>
          </p:nvGrpSpPr>
          <p:grpSpPr bwMode="auto">
            <a:xfrm>
              <a:off x="3024" y="3360"/>
              <a:ext cx="2097" cy="768"/>
              <a:chOff x="3024" y="3312"/>
              <a:chExt cx="2097" cy="768"/>
            </a:xfrm>
          </p:grpSpPr>
          <p:graphicFrame>
            <p:nvGraphicFramePr>
              <p:cNvPr id="92176" name="Object 40"/>
              <p:cNvGraphicFramePr>
                <a:graphicFrameLocks noChangeAspect="1"/>
              </p:cNvGraphicFramePr>
              <p:nvPr/>
            </p:nvGraphicFramePr>
            <p:xfrm>
              <a:off x="3024" y="3529"/>
              <a:ext cx="2097" cy="359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2437" name="Equation" r:id="rId17" imgW="965200" imgH="203200" progId="Equation.3">
                      <p:embed/>
                    </p:oleObj>
                  </mc:Choice>
                  <mc:Fallback>
                    <p:oleObj name="Equation" r:id="rId17" imgW="965200" imgH="20320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3529"/>
                            <a:ext cx="2097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177" name="Text Box 41"/>
              <p:cNvSpPr txBox="1">
                <a:spLocks noChangeArrowheads="1"/>
              </p:cNvSpPr>
              <p:nvPr/>
            </p:nvSpPr>
            <p:spPr bwMode="auto">
              <a:xfrm>
                <a:off x="3600" y="331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微分</a:t>
                </a:r>
              </a:p>
            </p:txBody>
          </p:sp>
          <p:sp>
            <p:nvSpPr>
              <p:cNvPr id="92178" name="Text Box 42"/>
              <p:cNvSpPr txBox="1">
                <a:spLocks noChangeArrowheads="1"/>
              </p:cNvSpPr>
              <p:nvPr/>
            </p:nvSpPr>
            <p:spPr bwMode="auto">
              <a:xfrm>
                <a:off x="4320" y="331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微分</a:t>
                </a:r>
              </a:p>
            </p:txBody>
          </p:sp>
          <p:sp>
            <p:nvSpPr>
              <p:cNvPr id="92179" name="Text Box 43"/>
              <p:cNvSpPr txBox="1">
                <a:spLocks noChangeArrowheads="1"/>
              </p:cNvSpPr>
              <p:nvPr/>
            </p:nvSpPr>
            <p:spPr bwMode="auto">
              <a:xfrm>
                <a:off x="4320" y="379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积分</a:t>
                </a:r>
              </a:p>
            </p:txBody>
          </p:sp>
          <p:sp>
            <p:nvSpPr>
              <p:cNvPr id="92180" name="Text Box 44"/>
              <p:cNvSpPr txBox="1">
                <a:spLocks noChangeArrowheads="1"/>
              </p:cNvSpPr>
              <p:nvPr/>
            </p:nvSpPr>
            <p:spPr bwMode="auto">
              <a:xfrm>
                <a:off x="3600" y="379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积分</a:t>
                </a:r>
              </a:p>
            </p:txBody>
          </p:sp>
        </p:grpSp>
        <p:grpSp>
          <p:nvGrpSpPr>
            <p:cNvPr id="92181" name="Group 45"/>
            <p:cNvGrpSpPr>
              <a:grpSpLocks/>
            </p:cNvGrpSpPr>
            <p:nvPr/>
          </p:nvGrpSpPr>
          <p:grpSpPr bwMode="auto">
            <a:xfrm>
              <a:off x="402" y="3360"/>
              <a:ext cx="2209" cy="768"/>
              <a:chOff x="402" y="3312"/>
              <a:chExt cx="2209" cy="768"/>
            </a:xfrm>
          </p:grpSpPr>
          <p:graphicFrame>
            <p:nvGraphicFramePr>
              <p:cNvPr id="92182" name="Object 46"/>
              <p:cNvGraphicFramePr>
                <a:graphicFrameLocks noChangeAspect="1"/>
              </p:cNvGraphicFramePr>
              <p:nvPr/>
            </p:nvGraphicFramePr>
            <p:xfrm>
              <a:off x="402" y="3504"/>
              <a:ext cx="2209" cy="38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2438" name="公式" r:id="rId19" imgW="926698" imgH="203112" progId="Equation.3">
                      <p:embed/>
                    </p:oleObj>
                  </mc:Choice>
                  <mc:Fallback>
                    <p:oleObj name="公式" r:id="rId19" imgW="926698" imgH="203112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" y="3504"/>
                            <a:ext cx="2209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183" name="Text Box 47"/>
              <p:cNvSpPr txBox="1">
                <a:spLocks noChangeArrowheads="1"/>
              </p:cNvSpPr>
              <p:nvPr/>
            </p:nvSpPr>
            <p:spPr bwMode="auto">
              <a:xfrm>
                <a:off x="1056" y="331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微分</a:t>
                </a:r>
              </a:p>
            </p:txBody>
          </p:sp>
          <p:sp>
            <p:nvSpPr>
              <p:cNvPr id="92184" name="Text Box 48"/>
              <p:cNvSpPr txBox="1">
                <a:spLocks noChangeArrowheads="1"/>
              </p:cNvSpPr>
              <p:nvPr/>
            </p:nvSpPr>
            <p:spPr bwMode="auto">
              <a:xfrm>
                <a:off x="1776" y="331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微分</a:t>
                </a:r>
              </a:p>
            </p:txBody>
          </p:sp>
          <p:sp>
            <p:nvSpPr>
              <p:cNvPr id="92185" name="Text Box 49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积分</a:t>
                </a:r>
              </a:p>
            </p:txBody>
          </p:sp>
          <p:sp>
            <p:nvSpPr>
              <p:cNvPr id="92186" name="Text Box 50"/>
              <p:cNvSpPr txBox="1">
                <a:spLocks noChangeArrowheads="1"/>
              </p:cNvSpPr>
              <p:nvPr/>
            </p:nvSpPr>
            <p:spPr bwMode="auto">
              <a:xfrm>
                <a:off x="1056" y="379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积分</a:t>
                </a:r>
              </a:p>
            </p:txBody>
          </p:sp>
        </p:grpSp>
      </p:grpSp>
      <p:grpSp>
        <p:nvGrpSpPr>
          <p:cNvPr id="92187" name="Group 27"/>
          <p:cNvGrpSpPr>
            <a:grpSpLocks/>
          </p:cNvGrpSpPr>
          <p:nvPr/>
        </p:nvGrpSpPr>
        <p:grpSpPr bwMode="auto">
          <a:xfrm>
            <a:off x="6659563" y="1052513"/>
            <a:ext cx="1889125" cy="1408112"/>
            <a:chOff x="4195" y="663"/>
            <a:chExt cx="1190" cy="887"/>
          </a:xfrm>
        </p:grpSpPr>
        <p:sp>
          <p:nvSpPr>
            <p:cNvPr id="92188" name="Oval 12"/>
            <p:cNvSpPr>
              <a:spLocks noChangeArrowheads="1"/>
            </p:cNvSpPr>
            <p:nvPr/>
          </p:nvSpPr>
          <p:spPr bwMode="auto">
            <a:xfrm>
              <a:off x="4195" y="1061"/>
              <a:ext cx="816" cy="43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92189" name="Line 13"/>
            <p:cNvSpPr>
              <a:spLocks noChangeShapeType="1"/>
            </p:cNvSpPr>
            <p:nvPr/>
          </p:nvSpPr>
          <p:spPr bwMode="auto">
            <a:xfrm flipV="1">
              <a:off x="4611" y="730"/>
              <a:ext cx="0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190" name="Object 14"/>
            <p:cNvGraphicFramePr>
              <a:graphicFrameLocks noChangeAspect="1"/>
            </p:cNvGraphicFramePr>
            <p:nvPr/>
          </p:nvGraphicFramePr>
          <p:xfrm>
            <a:off x="4332" y="663"/>
            <a:ext cx="233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39" name="Equation" r:id="rId21" imgW="152202" imgH="177569" progId="Equation.3">
                    <p:embed/>
                  </p:oleObj>
                </mc:Choice>
                <mc:Fallback>
                  <p:oleObj name="Equation" r:id="rId21" imgW="152202" imgH="17756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663"/>
                          <a:ext cx="23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1" name="Line 16"/>
            <p:cNvSpPr>
              <a:spLocks noChangeShapeType="1"/>
            </p:cNvSpPr>
            <p:nvPr/>
          </p:nvSpPr>
          <p:spPr bwMode="auto">
            <a:xfrm flipV="1">
              <a:off x="4867" y="1157"/>
              <a:ext cx="336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192" name="Object 17"/>
            <p:cNvGraphicFramePr>
              <a:graphicFrameLocks noChangeAspect="1"/>
            </p:cNvGraphicFramePr>
            <p:nvPr/>
          </p:nvGraphicFramePr>
          <p:xfrm>
            <a:off x="5193" y="1071"/>
            <a:ext cx="192" cy="26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0" name="公式" r:id="rId23" imgW="126725" imgH="177415" progId="Equation.3">
                    <p:embed/>
                  </p:oleObj>
                </mc:Choice>
                <mc:Fallback>
                  <p:oleObj name="公式" r:id="rId23" imgW="126725" imgH="17741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071"/>
                          <a:ext cx="19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3" name="Line 18"/>
            <p:cNvSpPr>
              <a:spLocks noChangeShapeType="1"/>
            </p:cNvSpPr>
            <p:nvPr/>
          </p:nvSpPr>
          <p:spPr bwMode="auto">
            <a:xfrm>
              <a:off x="4604" y="1253"/>
              <a:ext cx="28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194" name="Object 19"/>
            <p:cNvGraphicFramePr>
              <a:graphicFrameLocks noChangeAspect="1"/>
            </p:cNvGraphicFramePr>
            <p:nvPr/>
          </p:nvGraphicFramePr>
          <p:xfrm>
            <a:off x="4740" y="1117"/>
            <a:ext cx="185" cy="22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1" name="Equation" r:id="rId25" imgW="164957" imgH="203024" progId="Equation.3">
                    <p:embed/>
                  </p:oleObj>
                </mc:Choice>
                <mc:Fallback>
                  <p:oleObj name="Equation" r:id="rId25" imgW="164957" imgH="203024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117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5" name="Arc 35"/>
            <p:cNvSpPr>
              <a:spLocks/>
            </p:cNvSpPr>
            <p:nvPr/>
          </p:nvSpPr>
          <p:spPr bwMode="auto">
            <a:xfrm rot="-11281083">
              <a:off x="4408" y="1459"/>
              <a:ext cx="204" cy="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9389"/>
                <a:gd name="T1" fmla="*/ 0 h 21600"/>
                <a:gd name="T2" fmla="*/ 19389 w 19389"/>
                <a:gd name="T3" fmla="*/ 12079 h 21600"/>
                <a:gd name="T4" fmla="*/ 0 w 1938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389" h="21600" fill="none" extrusionOk="0">
                  <a:moveTo>
                    <a:pt x="-1" y="0"/>
                  </a:moveTo>
                  <a:cubicBezTo>
                    <a:pt x="8237" y="0"/>
                    <a:pt x="15757" y="4685"/>
                    <a:pt x="19388" y="12079"/>
                  </a:cubicBezTo>
                </a:path>
                <a:path w="19389" h="21600" stroke="0" extrusionOk="0">
                  <a:moveTo>
                    <a:pt x="-1" y="0"/>
                  </a:moveTo>
                  <a:cubicBezTo>
                    <a:pt x="8237" y="0"/>
                    <a:pt x="15757" y="4685"/>
                    <a:pt x="19388" y="1207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6" name="Oval 36"/>
            <p:cNvSpPr>
              <a:spLocks noChangeArrowheads="1"/>
            </p:cNvSpPr>
            <p:nvPr/>
          </p:nvSpPr>
          <p:spPr bwMode="auto">
            <a:xfrm>
              <a:off x="4565" y="1246"/>
              <a:ext cx="91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197" name="Group 37"/>
          <p:cNvGrpSpPr>
            <a:grpSpLocks/>
          </p:cNvGrpSpPr>
          <p:nvPr/>
        </p:nvGrpSpPr>
        <p:grpSpPr bwMode="auto">
          <a:xfrm>
            <a:off x="6804025" y="2779713"/>
            <a:ext cx="1871663" cy="1741487"/>
            <a:chOff x="4286" y="1751"/>
            <a:chExt cx="1179" cy="1097"/>
          </a:xfrm>
        </p:grpSpPr>
        <p:sp>
          <p:nvSpPr>
            <p:cNvPr id="92198" name="Oval 21"/>
            <p:cNvSpPr>
              <a:spLocks noChangeArrowheads="1"/>
            </p:cNvSpPr>
            <p:nvPr/>
          </p:nvSpPr>
          <p:spPr bwMode="auto">
            <a:xfrm>
              <a:off x="4286" y="2251"/>
              <a:ext cx="816" cy="43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199" name="Object 24"/>
            <p:cNvGraphicFramePr>
              <a:graphicFrameLocks noChangeAspect="1"/>
            </p:cNvGraphicFramePr>
            <p:nvPr/>
          </p:nvGraphicFramePr>
          <p:xfrm>
            <a:off x="4461" y="1979"/>
            <a:ext cx="233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2" name="Equation" r:id="rId27" imgW="152202" imgH="177569" progId="Equation.3">
                    <p:embed/>
                  </p:oleObj>
                </mc:Choice>
                <mc:Fallback>
                  <p:oleObj name="Equation" r:id="rId27" imgW="152202" imgH="17756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1" y="1979"/>
                          <a:ext cx="23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00" name="Line 25"/>
            <p:cNvSpPr>
              <a:spLocks noChangeShapeType="1"/>
            </p:cNvSpPr>
            <p:nvPr/>
          </p:nvSpPr>
          <p:spPr bwMode="auto">
            <a:xfrm flipV="1">
              <a:off x="4958" y="2352"/>
              <a:ext cx="336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01" name="Object 26"/>
            <p:cNvGraphicFramePr>
              <a:graphicFrameLocks noChangeAspect="1"/>
            </p:cNvGraphicFramePr>
            <p:nvPr/>
          </p:nvGraphicFramePr>
          <p:xfrm>
            <a:off x="5273" y="2258"/>
            <a:ext cx="192" cy="26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3" name="公式" r:id="rId29" imgW="126725" imgH="177415" progId="Equation.3">
                    <p:embed/>
                  </p:oleObj>
                </mc:Choice>
                <mc:Fallback>
                  <p:oleObj name="公式" r:id="rId29" imgW="126725" imgH="17741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3" y="2258"/>
                          <a:ext cx="19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02" name="Line 27"/>
            <p:cNvSpPr>
              <a:spLocks noChangeShapeType="1"/>
            </p:cNvSpPr>
            <p:nvPr/>
          </p:nvSpPr>
          <p:spPr bwMode="auto">
            <a:xfrm>
              <a:off x="4718" y="2448"/>
              <a:ext cx="28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3" name="Line 29"/>
            <p:cNvSpPr>
              <a:spLocks noChangeShapeType="1"/>
            </p:cNvSpPr>
            <p:nvPr/>
          </p:nvSpPr>
          <p:spPr bwMode="auto">
            <a:xfrm flipV="1">
              <a:off x="4715" y="1811"/>
              <a:ext cx="0" cy="66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04" name="Object 30"/>
            <p:cNvGraphicFramePr>
              <a:graphicFrameLocks noChangeAspect="1"/>
            </p:cNvGraphicFramePr>
            <p:nvPr/>
          </p:nvGraphicFramePr>
          <p:xfrm>
            <a:off x="4785" y="1751"/>
            <a:ext cx="218" cy="31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4" name="Equation" r:id="rId31" imgW="164957" imgH="241091" progId="Equation.3">
                    <p:embed/>
                  </p:oleObj>
                </mc:Choice>
                <mc:Fallback>
                  <p:oleObj name="Equation" r:id="rId31" imgW="164957" imgH="241091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751"/>
                          <a:ext cx="21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205" name="Group 45"/>
            <p:cNvGrpSpPr>
              <a:grpSpLocks/>
            </p:cNvGrpSpPr>
            <p:nvPr/>
          </p:nvGrpSpPr>
          <p:grpSpPr bwMode="auto">
            <a:xfrm>
              <a:off x="4690" y="2485"/>
              <a:ext cx="596" cy="363"/>
              <a:chOff x="4690" y="2931"/>
              <a:chExt cx="596" cy="363"/>
            </a:xfrm>
          </p:grpSpPr>
          <p:graphicFrame>
            <p:nvGraphicFramePr>
              <p:cNvPr id="92206" name="Object 32"/>
              <p:cNvGraphicFramePr>
                <a:graphicFrameLocks noChangeAspect="1"/>
              </p:cNvGraphicFramePr>
              <p:nvPr/>
            </p:nvGraphicFramePr>
            <p:xfrm>
              <a:off x="4690" y="2970"/>
              <a:ext cx="231" cy="279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2445" name="Equation" r:id="rId33" imgW="177569" imgH="215619" progId="Equation.3">
                      <p:embed/>
                    </p:oleObj>
                  </mc:Choice>
                  <mc:Fallback>
                    <p:oleObj name="Equation" r:id="rId33" imgW="177569" imgH="215619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0" y="2970"/>
                            <a:ext cx="231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07" name="Line 34"/>
              <p:cNvSpPr>
                <a:spLocks noChangeShapeType="1"/>
              </p:cNvSpPr>
              <p:nvPr/>
            </p:nvSpPr>
            <p:spPr bwMode="auto">
              <a:xfrm flipV="1">
                <a:off x="4977" y="2931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208" name="Object 35"/>
              <p:cNvGraphicFramePr>
                <a:graphicFrameLocks noChangeAspect="1"/>
              </p:cNvGraphicFramePr>
              <p:nvPr/>
            </p:nvGraphicFramePr>
            <p:xfrm>
              <a:off x="5057" y="2976"/>
              <a:ext cx="229" cy="318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2446" name="Equation" r:id="rId35" imgW="165028" imgH="228501" progId="Equation.3">
                      <p:embed/>
                    </p:oleObj>
                  </mc:Choice>
                  <mc:Fallback>
                    <p:oleObj name="Equation" r:id="rId35" imgW="165028" imgH="228501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7" y="2976"/>
                            <a:ext cx="229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09" name="Line 36"/>
              <p:cNvSpPr>
                <a:spLocks noChangeShapeType="1"/>
              </p:cNvSpPr>
              <p:nvPr/>
            </p:nvSpPr>
            <p:spPr bwMode="auto">
              <a:xfrm flipH="1" flipV="1">
                <a:off x="4785" y="2931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210" name="Arc 50"/>
            <p:cNvSpPr>
              <a:spLocks/>
            </p:cNvSpPr>
            <p:nvPr/>
          </p:nvSpPr>
          <p:spPr bwMode="auto">
            <a:xfrm rot="-10404356">
              <a:off x="4332" y="2614"/>
              <a:ext cx="204" cy="9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9389"/>
                <a:gd name="T1" fmla="*/ 0 h 21600"/>
                <a:gd name="T2" fmla="*/ 19389 w 19389"/>
                <a:gd name="T3" fmla="*/ 12079 h 21600"/>
                <a:gd name="T4" fmla="*/ 0 w 1938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389" h="21600" fill="none" extrusionOk="0">
                  <a:moveTo>
                    <a:pt x="-1" y="0"/>
                  </a:moveTo>
                  <a:cubicBezTo>
                    <a:pt x="8237" y="0"/>
                    <a:pt x="15757" y="4685"/>
                    <a:pt x="19388" y="12079"/>
                  </a:cubicBezTo>
                </a:path>
                <a:path w="19389" h="21600" stroke="0" extrusionOk="0">
                  <a:moveTo>
                    <a:pt x="-1" y="0"/>
                  </a:moveTo>
                  <a:cubicBezTo>
                    <a:pt x="8237" y="0"/>
                    <a:pt x="15757" y="4685"/>
                    <a:pt x="19388" y="1207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11" name="Oval 51"/>
            <p:cNvSpPr>
              <a:spLocks noChangeArrowheads="1"/>
            </p:cNvSpPr>
            <p:nvPr/>
          </p:nvSpPr>
          <p:spPr bwMode="auto">
            <a:xfrm>
              <a:off x="4670" y="2446"/>
              <a:ext cx="91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12" name="Line 23"/>
            <p:cNvSpPr>
              <a:spLocks noChangeShapeType="1"/>
            </p:cNvSpPr>
            <p:nvPr/>
          </p:nvSpPr>
          <p:spPr bwMode="auto">
            <a:xfrm flipV="1">
              <a:off x="4715" y="2031"/>
              <a:ext cx="0" cy="43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13" name="Object 28"/>
            <p:cNvGraphicFramePr>
              <a:graphicFrameLocks noChangeAspect="1"/>
            </p:cNvGraphicFramePr>
            <p:nvPr/>
          </p:nvGraphicFramePr>
          <p:xfrm>
            <a:off x="4827" y="2296"/>
            <a:ext cx="185" cy="22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2447" name="Equation" r:id="rId37" imgW="164957" imgH="203024" progId="Equation.3">
                    <p:embed/>
                  </p:oleObj>
                </mc:Choice>
                <mc:Fallback>
                  <p:oleObj name="Equation" r:id="rId37" imgW="164957" imgH="203024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7" y="2296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71"/>
          <p:cNvGrpSpPr>
            <a:grpSpLocks/>
          </p:cNvGrpSpPr>
          <p:nvPr/>
        </p:nvGrpSpPr>
        <p:grpSpPr bwMode="auto">
          <a:xfrm>
            <a:off x="250825" y="260350"/>
            <a:ext cx="8648700" cy="6424613"/>
            <a:chOff x="158" y="154"/>
            <a:chExt cx="5448" cy="4047"/>
          </a:xfrm>
        </p:grpSpPr>
        <p:sp>
          <p:nvSpPr>
            <p:cNvPr id="79876" name="Text Box 4"/>
            <p:cNvSpPr txBox="1">
              <a:spLocks noChangeArrowheads="1"/>
            </p:cNvSpPr>
            <p:nvPr/>
          </p:nvSpPr>
          <p:spPr bwMode="auto">
            <a:xfrm>
              <a:off x="657" y="154"/>
              <a:ext cx="43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%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%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ea typeface="华文新魏" panose="02010800040101010101" pitchFamily="2" charset="-122"/>
                </a:rPr>
                <a:t>质点力学与刚体力学物理量和物理规律对比</a:t>
              </a:r>
            </a:p>
          </p:txBody>
        </p:sp>
        <p:graphicFrame>
          <p:nvGraphicFramePr>
            <p:cNvPr id="79877" name="Object 6"/>
            <p:cNvGraphicFramePr>
              <a:graphicFrameLocks noChangeAspect="1"/>
            </p:cNvGraphicFramePr>
            <p:nvPr/>
          </p:nvGraphicFramePr>
          <p:xfrm>
            <a:off x="339" y="572"/>
            <a:ext cx="989" cy="23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58" name="公式" r:id="rId3" imgW="774364" imgH="203112" progId="Equation.3">
                    <p:embed/>
                  </p:oleObj>
                </mc:Choice>
                <mc:Fallback>
                  <p:oleObj name="公式" r:id="rId3" imgW="774364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" y="572"/>
                          <a:ext cx="98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78" name="Object 7"/>
            <p:cNvGraphicFramePr>
              <a:graphicFrameLocks noChangeAspect="1"/>
            </p:cNvGraphicFramePr>
            <p:nvPr/>
          </p:nvGraphicFramePr>
          <p:xfrm>
            <a:off x="323" y="1059"/>
            <a:ext cx="514" cy="27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59" name="公式" r:id="rId5" imgW="406224" imgH="241195" progId="Equation.3">
                    <p:embed/>
                  </p:oleObj>
                </mc:Choice>
                <mc:Fallback>
                  <p:oleObj name="公式" r:id="rId5" imgW="406224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" y="1059"/>
                          <a:ext cx="51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79" name="Object 8"/>
            <p:cNvGraphicFramePr>
              <a:graphicFrameLocks noChangeAspect="1"/>
            </p:cNvGraphicFramePr>
            <p:nvPr/>
          </p:nvGraphicFramePr>
          <p:xfrm>
            <a:off x="309" y="1298"/>
            <a:ext cx="966" cy="27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0" name="公式" r:id="rId7" imgW="761669" imgH="241195" progId="Equation.3">
                    <p:embed/>
                  </p:oleObj>
                </mc:Choice>
                <mc:Fallback>
                  <p:oleObj name="公式" r:id="rId7" imgW="761669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" y="1298"/>
                          <a:ext cx="96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0" name="Object 9"/>
            <p:cNvGraphicFramePr>
              <a:graphicFrameLocks noChangeAspect="1"/>
            </p:cNvGraphicFramePr>
            <p:nvPr/>
          </p:nvGraphicFramePr>
          <p:xfrm>
            <a:off x="304" y="1606"/>
            <a:ext cx="985" cy="239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1" name="公式" r:id="rId9" imgW="761669" imgH="203112" progId="Equation.3">
                    <p:embed/>
                  </p:oleObj>
                </mc:Choice>
                <mc:Fallback>
                  <p:oleObj name="公式" r:id="rId9" imgW="76166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" y="1606"/>
                          <a:ext cx="985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1" name="Object 10"/>
            <p:cNvGraphicFramePr>
              <a:graphicFrameLocks noChangeAspect="1"/>
            </p:cNvGraphicFramePr>
            <p:nvPr/>
          </p:nvGraphicFramePr>
          <p:xfrm>
            <a:off x="295" y="2250"/>
            <a:ext cx="1859" cy="29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2" name="公式" r:id="rId11" imgW="1651000" imgH="254000" progId="Equation.3">
                    <p:embed/>
                  </p:oleObj>
                </mc:Choice>
                <mc:Fallback>
                  <p:oleObj name="公式" r:id="rId11" imgW="1651000" imgH="254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250"/>
                          <a:ext cx="1859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2" name="Object 11"/>
            <p:cNvGraphicFramePr>
              <a:graphicFrameLocks noChangeAspect="1"/>
            </p:cNvGraphicFramePr>
            <p:nvPr/>
          </p:nvGraphicFramePr>
          <p:xfrm>
            <a:off x="295" y="1796"/>
            <a:ext cx="955" cy="49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3" name="公式" r:id="rId13" imgW="761669" imgH="431613" progId="Equation.3">
                    <p:embed/>
                  </p:oleObj>
                </mc:Choice>
                <mc:Fallback>
                  <p:oleObj name="公式" r:id="rId13" imgW="76166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96"/>
                          <a:ext cx="955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3" name="Object 12"/>
            <p:cNvGraphicFramePr>
              <a:graphicFrameLocks noChangeAspect="1"/>
            </p:cNvGraphicFramePr>
            <p:nvPr/>
          </p:nvGraphicFramePr>
          <p:xfrm>
            <a:off x="295" y="2522"/>
            <a:ext cx="1518" cy="38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4" name="公式" r:id="rId15" imgW="1193800" imgH="330200" progId="Equation.3">
                    <p:embed/>
                  </p:oleObj>
                </mc:Choice>
                <mc:Fallback>
                  <p:oleObj name="公式" r:id="rId15" imgW="11938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522"/>
                          <a:ext cx="1518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4" name="Object 13"/>
            <p:cNvGraphicFramePr>
              <a:graphicFrameLocks noChangeAspect="1"/>
            </p:cNvGraphicFramePr>
            <p:nvPr/>
          </p:nvGraphicFramePr>
          <p:xfrm>
            <a:off x="301" y="2876"/>
            <a:ext cx="1257" cy="449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5" name="公式" r:id="rId17" imgW="1002865" imgH="393529" progId="Equation.3">
                    <p:embed/>
                  </p:oleObj>
                </mc:Choice>
                <mc:Fallback>
                  <p:oleObj name="公式" r:id="rId17" imgW="1002865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" y="2876"/>
                          <a:ext cx="1257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5" name="Object 14"/>
            <p:cNvGraphicFramePr>
              <a:graphicFrameLocks noChangeAspect="1"/>
            </p:cNvGraphicFramePr>
            <p:nvPr/>
          </p:nvGraphicFramePr>
          <p:xfrm>
            <a:off x="328" y="836"/>
            <a:ext cx="510" cy="24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6" name="公式" r:id="rId19" imgW="431613" imgH="203112" progId="Equation.3">
                    <p:embed/>
                  </p:oleObj>
                </mc:Choice>
                <mc:Fallback>
                  <p:oleObj name="公式" r:id="rId19" imgW="431613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" y="836"/>
                          <a:ext cx="51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6" name="Object 15"/>
            <p:cNvGraphicFramePr>
              <a:graphicFrameLocks noChangeAspect="1"/>
            </p:cNvGraphicFramePr>
            <p:nvPr/>
          </p:nvGraphicFramePr>
          <p:xfrm>
            <a:off x="204" y="3326"/>
            <a:ext cx="1863" cy="46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7" name="公式" r:id="rId21" imgW="1574800" imgH="393700" progId="Equation.3">
                    <p:embed/>
                  </p:oleObj>
                </mc:Choice>
                <mc:Fallback>
                  <p:oleObj name="公式" r:id="rId21" imgW="15748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3326"/>
                          <a:ext cx="1863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87" name="Object 16"/>
            <p:cNvGraphicFramePr>
              <a:graphicFrameLocks noChangeAspect="1"/>
            </p:cNvGraphicFramePr>
            <p:nvPr/>
          </p:nvGraphicFramePr>
          <p:xfrm>
            <a:off x="1791" y="3826"/>
            <a:ext cx="1031" cy="28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5268" name="Equation" r:id="rId23" imgW="1016000" imgH="241300" progId="Equation.3">
                    <p:embed/>
                  </p:oleObj>
                </mc:Choice>
                <mc:Fallback>
                  <p:oleObj name="Equation" r:id="rId23" imgW="10160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826"/>
                          <a:ext cx="1031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8" name="Text Box 17"/>
            <p:cNvSpPr txBox="1">
              <a:spLocks noChangeArrowheads="1"/>
            </p:cNvSpPr>
            <p:nvPr/>
          </p:nvSpPr>
          <p:spPr bwMode="auto">
            <a:xfrm>
              <a:off x="158" y="3797"/>
              <a:ext cx="16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%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%"/>
                </a:spcBef>
                <a:buFontTx/>
                <a:buNone/>
              </a:pPr>
              <a:r>
                <a:rPr lang="en-US" altLang="zh-CN" sz="2200">
                  <a:ea typeface="华文中宋" panose="02010600040101010101" pitchFamily="2" charset="-122"/>
                </a:rPr>
                <a:t>11.  </a:t>
              </a:r>
              <a:r>
                <a:rPr lang="zh-CN" altLang="en-US" sz="2200">
                  <a:ea typeface="华文中宋" panose="02010600040101010101" pitchFamily="2" charset="-122"/>
                </a:rPr>
                <a:t>仅保守内力做功</a:t>
              </a:r>
            </a:p>
          </p:txBody>
        </p:sp>
        <p:grpSp>
          <p:nvGrpSpPr>
            <p:cNvPr id="79889" name="Group 18"/>
            <p:cNvGrpSpPr>
              <a:grpSpLocks/>
            </p:cNvGrpSpPr>
            <p:nvPr/>
          </p:nvGrpSpPr>
          <p:grpSpPr bwMode="auto">
            <a:xfrm>
              <a:off x="2835" y="3721"/>
              <a:ext cx="2771" cy="480"/>
              <a:chOff x="2784" y="3747"/>
              <a:chExt cx="2771" cy="480"/>
            </a:xfrm>
          </p:grpSpPr>
          <p:graphicFrame>
            <p:nvGraphicFramePr>
              <p:cNvPr id="79939" name="Object 19"/>
              <p:cNvGraphicFramePr>
                <a:graphicFrameLocks noChangeAspect="1"/>
              </p:cNvGraphicFramePr>
              <p:nvPr/>
            </p:nvGraphicFramePr>
            <p:xfrm>
              <a:off x="4429" y="3852"/>
              <a:ext cx="1126" cy="28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135269" name="Equation" r:id="rId25" imgW="1016000" imgH="241300" progId="Equation.3">
                      <p:embed/>
                    </p:oleObj>
                  </mc:Choice>
                  <mc:Fallback>
                    <p:oleObj name="Equation" r:id="rId25" imgW="10160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9" y="3852"/>
                            <a:ext cx="1126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9940" name="Text Box 20"/>
              <p:cNvSpPr txBox="1">
                <a:spLocks noChangeArrowheads="1"/>
              </p:cNvSpPr>
              <p:nvPr/>
            </p:nvSpPr>
            <p:spPr bwMode="auto">
              <a:xfrm>
                <a:off x="3132" y="3747"/>
                <a:ext cx="1348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%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zh-CN" altLang="en-US" sz="2200">
                    <a:ea typeface="华文中宋" panose="02010600040101010101" pitchFamily="2" charset="-122"/>
                  </a:rPr>
                  <a:t>机械能守恒：仅</a:t>
                </a:r>
              </a:p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zh-CN" altLang="en-US" sz="2200">
                    <a:ea typeface="华文中宋" panose="02010600040101010101" pitchFamily="2" charset="-122"/>
                  </a:rPr>
                  <a:t>保守内力矩做功</a:t>
                </a:r>
              </a:p>
            </p:txBody>
          </p:sp>
          <p:sp>
            <p:nvSpPr>
              <p:cNvPr id="79941" name="Line 21"/>
              <p:cNvSpPr>
                <a:spLocks noChangeShapeType="1"/>
              </p:cNvSpPr>
              <p:nvPr/>
            </p:nvSpPr>
            <p:spPr bwMode="auto">
              <a:xfrm>
                <a:off x="2784" y="3981"/>
                <a:ext cx="38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0" name="Group 22"/>
            <p:cNvGrpSpPr>
              <a:grpSpLocks/>
            </p:cNvGrpSpPr>
            <p:nvPr/>
          </p:nvGrpSpPr>
          <p:grpSpPr bwMode="auto">
            <a:xfrm>
              <a:off x="1292" y="527"/>
              <a:ext cx="4241" cy="304"/>
              <a:chOff x="1296" y="561"/>
              <a:chExt cx="4241" cy="304"/>
            </a:xfrm>
          </p:grpSpPr>
          <p:grpSp>
            <p:nvGrpSpPr>
              <p:cNvPr id="79935" name="Group 23"/>
              <p:cNvGrpSpPr>
                <a:grpSpLocks/>
              </p:cNvGrpSpPr>
              <p:nvPr/>
            </p:nvGrpSpPr>
            <p:grpSpPr bwMode="auto">
              <a:xfrm>
                <a:off x="2629" y="561"/>
                <a:ext cx="2908" cy="304"/>
                <a:chOff x="2629" y="561"/>
                <a:chExt cx="2908" cy="304"/>
              </a:xfrm>
            </p:grpSpPr>
            <p:graphicFrame>
              <p:nvGraphicFramePr>
                <p:cNvPr id="79937" name="Object 24"/>
                <p:cNvGraphicFramePr>
                  <a:graphicFrameLocks noChangeAspect="1"/>
                </p:cNvGraphicFramePr>
                <p:nvPr/>
              </p:nvGraphicFramePr>
              <p:xfrm>
                <a:off x="4790" y="585"/>
                <a:ext cx="747" cy="280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0" name="Equation" r:id="rId27" imgW="583947" imgH="241195" progId="Equation.3">
                        <p:embed/>
                      </p:oleObj>
                    </mc:Choice>
                    <mc:Fallback>
                      <p:oleObj name="Equation" r:id="rId27" imgW="583947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90" y="585"/>
                              <a:ext cx="747" cy="2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3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629" y="561"/>
                  <a:ext cx="222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角位置，角速度，角加速度</a:t>
                  </a:r>
                </a:p>
              </p:txBody>
            </p:sp>
          </p:grpSp>
          <p:sp>
            <p:nvSpPr>
              <p:cNvPr id="79936" name="Line 26"/>
              <p:cNvSpPr>
                <a:spLocks noChangeShapeType="1"/>
              </p:cNvSpPr>
              <p:nvPr/>
            </p:nvSpPr>
            <p:spPr bwMode="auto">
              <a:xfrm flipV="1">
                <a:off x="1296" y="711"/>
                <a:ext cx="134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1" name="Group 27"/>
            <p:cNvGrpSpPr>
              <a:grpSpLocks/>
            </p:cNvGrpSpPr>
            <p:nvPr/>
          </p:nvGrpSpPr>
          <p:grpSpPr bwMode="auto">
            <a:xfrm>
              <a:off x="863" y="791"/>
              <a:ext cx="3229" cy="269"/>
              <a:chOff x="863" y="837"/>
              <a:chExt cx="3229" cy="269"/>
            </a:xfrm>
          </p:grpSpPr>
          <p:grpSp>
            <p:nvGrpSpPr>
              <p:cNvPr id="79931" name="Group 28"/>
              <p:cNvGrpSpPr>
                <a:grpSpLocks/>
              </p:cNvGrpSpPr>
              <p:nvPr/>
            </p:nvGrpSpPr>
            <p:grpSpPr bwMode="auto">
              <a:xfrm>
                <a:off x="3140" y="837"/>
                <a:ext cx="952" cy="269"/>
                <a:chOff x="3140" y="837"/>
                <a:chExt cx="952" cy="269"/>
              </a:xfrm>
            </p:grpSpPr>
            <p:graphicFrame>
              <p:nvGraphicFramePr>
                <p:cNvPr id="79933" name="Object 29"/>
                <p:cNvGraphicFramePr>
                  <a:graphicFrameLocks noChangeAspect="1"/>
                </p:cNvGraphicFramePr>
                <p:nvPr/>
              </p:nvGraphicFramePr>
              <p:xfrm>
                <a:off x="3927" y="879"/>
                <a:ext cx="165" cy="210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1" name="Equation" r:id="rId29" imgW="139579" imgH="177646" progId="Equation.3">
                        <p:embed/>
                      </p:oleObj>
                    </mc:Choice>
                    <mc:Fallback>
                      <p:oleObj name="Equation" r:id="rId29" imgW="139579" imgH="17764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7" y="879"/>
                              <a:ext cx="165" cy="2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3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140" y="837"/>
                  <a:ext cx="82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转动惯量</a:t>
                  </a:r>
                  <a:endParaRPr lang="zh-CN" altLang="en-US" sz="2200" i="1">
                    <a:ea typeface="华文中宋" panose="02010600040101010101" pitchFamily="2" charset="-122"/>
                  </a:endParaRPr>
                </a:p>
              </p:txBody>
            </p:sp>
          </p:grpSp>
          <p:sp>
            <p:nvSpPr>
              <p:cNvPr id="79932" name="Line 31"/>
              <p:cNvSpPr>
                <a:spLocks noChangeShapeType="1"/>
              </p:cNvSpPr>
              <p:nvPr/>
            </p:nvSpPr>
            <p:spPr bwMode="auto">
              <a:xfrm>
                <a:off x="863" y="990"/>
                <a:ext cx="230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2" name="Group 32"/>
            <p:cNvGrpSpPr>
              <a:grpSpLocks/>
            </p:cNvGrpSpPr>
            <p:nvPr/>
          </p:nvGrpSpPr>
          <p:grpSpPr bwMode="auto">
            <a:xfrm>
              <a:off x="884" y="1071"/>
              <a:ext cx="2976" cy="269"/>
              <a:chOff x="864" y="1107"/>
              <a:chExt cx="2976" cy="269"/>
            </a:xfrm>
          </p:grpSpPr>
          <p:grpSp>
            <p:nvGrpSpPr>
              <p:cNvPr id="79927" name="Group 33"/>
              <p:cNvGrpSpPr>
                <a:grpSpLocks/>
              </p:cNvGrpSpPr>
              <p:nvPr/>
            </p:nvGrpSpPr>
            <p:grpSpPr bwMode="auto">
              <a:xfrm>
                <a:off x="3140" y="1107"/>
                <a:ext cx="700" cy="269"/>
                <a:chOff x="3140" y="1107"/>
                <a:chExt cx="700" cy="269"/>
              </a:xfrm>
            </p:grpSpPr>
            <p:graphicFrame>
              <p:nvGraphicFramePr>
                <p:cNvPr id="79929" name="Object 34"/>
                <p:cNvGraphicFramePr>
                  <a:graphicFrameLocks noChangeAspect="1"/>
                </p:cNvGraphicFramePr>
                <p:nvPr/>
              </p:nvGraphicFramePr>
              <p:xfrm>
                <a:off x="3583" y="1117"/>
                <a:ext cx="257" cy="234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2" name="Equation" r:id="rId31" imgW="203024" imgH="203024" progId="Equation.3">
                        <p:embed/>
                      </p:oleObj>
                    </mc:Choice>
                    <mc:Fallback>
                      <p:oleObj name="Equation" r:id="rId31" imgW="203024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83" y="1117"/>
                              <a:ext cx="257" cy="2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3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140" y="1107"/>
                  <a:ext cx="46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力矩</a:t>
                  </a:r>
                </a:p>
              </p:txBody>
            </p:sp>
          </p:grpSp>
          <p:sp>
            <p:nvSpPr>
              <p:cNvPr id="79928" name="Line 36"/>
              <p:cNvSpPr>
                <a:spLocks noChangeShapeType="1"/>
              </p:cNvSpPr>
              <p:nvPr/>
            </p:nvSpPr>
            <p:spPr bwMode="auto">
              <a:xfrm>
                <a:off x="864" y="1248"/>
                <a:ext cx="230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3" name="Group 37"/>
            <p:cNvGrpSpPr>
              <a:grpSpLocks/>
            </p:cNvGrpSpPr>
            <p:nvPr/>
          </p:nvGrpSpPr>
          <p:grpSpPr bwMode="auto">
            <a:xfrm>
              <a:off x="1248" y="1313"/>
              <a:ext cx="3388" cy="281"/>
              <a:chOff x="1248" y="1359"/>
              <a:chExt cx="3388" cy="281"/>
            </a:xfrm>
          </p:grpSpPr>
          <p:grpSp>
            <p:nvGrpSpPr>
              <p:cNvPr id="79923" name="Group 38"/>
              <p:cNvGrpSpPr>
                <a:grpSpLocks/>
              </p:cNvGrpSpPr>
              <p:nvPr/>
            </p:nvGrpSpPr>
            <p:grpSpPr bwMode="auto">
              <a:xfrm>
                <a:off x="3140" y="1359"/>
                <a:ext cx="1496" cy="281"/>
                <a:chOff x="3140" y="1359"/>
                <a:chExt cx="1496" cy="281"/>
              </a:xfrm>
            </p:grpSpPr>
            <p:sp>
              <p:nvSpPr>
                <p:cNvPr id="7992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140" y="1359"/>
                  <a:ext cx="82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转动定律</a:t>
                  </a:r>
                </a:p>
              </p:txBody>
            </p:sp>
            <p:graphicFrame>
              <p:nvGraphicFramePr>
                <p:cNvPr id="79926" name="Object 40"/>
                <p:cNvGraphicFramePr>
                  <a:graphicFrameLocks noChangeAspect="1"/>
                </p:cNvGraphicFramePr>
                <p:nvPr/>
              </p:nvGraphicFramePr>
              <p:xfrm>
                <a:off x="3929" y="1364"/>
                <a:ext cx="707" cy="276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3" name="Equation" r:id="rId33" imgW="558558" imgH="241195" progId="Equation.3">
                        <p:embed/>
                      </p:oleObj>
                    </mc:Choice>
                    <mc:Fallback>
                      <p:oleObj name="Equation" r:id="rId33" imgW="558558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9" y="1364"/>
                              <a:ext cx="707" cy="2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9924" name="Line 41"/>
              <p:cNvSpPr>
                <a:spLocks noChangeShapeType="1"/>
              </p:cNvSpPr>
              <p:nvPr/>
            </p:nvSpPr>
            <p:spPr bwMode="auto">
              <a:xfrm>
                <a:off x="1248" y="1509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4" name="Group 42"/>
            <p:cNvGrpSpPr>
              <a:grpSpLocks/>
            </p:cNvGrpSpPr>
            <p:nvPr/>
          </p:nvGrpSpPr>
          <p:grpSpPr bwMode="auto">
            <a:xfrm>
              <a:off x="1248" y="1589"/>
              <a:ext cx="3163" cy="271"/>
              <a:chOff x="1248" y="1635"/>
              <a:chExt cx="3163" cy="271"/>
            </a:xfrm>
          </p:grpSpPr>
          <p:grpSp>
            <p:nvGrpSpPr>
              <p:cNvPr id="79919" name="Group 43"/>
              <p:cNvGrpSpPr>
                <a:grpSpLocks/>
              </p:cNvGrpSpPr>
              <p:nvPr/>
            </p:nvGrpSpPr>
            <p:grpSpPr bwMode="auto">
              <a:xfrm>
                <a:off x="3146" y="1635"/>
                <a:ext cx="1265" cy="271"/>
                <a:chOff x="3146" y="1635"/>
                <a:chExt cx="1265" cy="271"/>
              </a:xfrm>
            </p:grpSpPr>
            <p:graphicFrame>
              <p:nvGraphicFramePr>
                <p:cNvPr id="79921" name="Object 44"/>
                <p:cNvGraphicFramePr>
                  <a:graphicFrameLocks noChangeAspect="1"/>
                </p:cNvGraphicFramePr>
                <p:nvPr/>
              </p:nvGraphicFramePr>
              <p:xfrm>
                <a:off x="3755" y="1652"/>
                <a:ext cx="656" cy="254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4" name="Equation" r:id="rId35" imgW="507780" imgH="215806" progId="Equation.3">
                        <p:embed/>
                      </p:oleObj>
                    </mc:Choice>
                    <mc:Fallback>
                      <p:oleObj name="Equation" r:id="rId35" imgW="507780" imgH="21580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55" y="1652"/>
                              <a:ext cx="656" cy="25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22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146" y="1635"/>
                  <a:ext cx="64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角动量</a:t>
                  </a:r>
                </a:p>
              </p:txBody>
            </p:sp>
          </p:grpSp>
          <p:sp>
            <p:nvSpPr>
              <p:cNvPr id="79920" name="Line 46"/>
              <p:cNvSpPr>
                <a:spLocks noChangeShapeType="1"/>
              </p:cNvSpPr>
              <p:nvPr/>
            </p:nvSpPr>
            <p:spPr bwMode="auto">
              <a:xfrm>
                <a:off x="1248" y="1776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5" name="Group 47"/>
            <p:cNvGrpSpPr>
              <a:grpSpLocks/>
            </p:cNvGrpSpPr>
            <p:nvPr/>
          </p:nvGrpSpPr>
          <p:grpSpPr bwMode="auto">
            <a:xfrm>
              <a:off x="1296" y="1819"/>
              <a:ext cx="3571" cy="507"/>
              <a:chOff x="1296" y="1865"/>
              <a:chExt cx="3571" cy="507"/>
            </a:xfrm>
          </p:grpSpPr>
          <p:sp>
            <p:nvSpPr>
              <p:cNvPr id="79916" name="Text Box 48"/>
              <p:cNvSpPr txBox="1">
                <a:spLocks noChangeArrowheads="1"/>
              </p:cNvSpPr>
              <p:nvPr/>
            </p:nvSpPr>
            <p:spPr bwMode="auto">
              <a:xfrm>
                <a:off x="3140" y="1950"/>
                <a:ext cx="99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%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zh-CN" altLang="en-US" sz="2200">
                    <a:ea typeface="华文中宋" panose="02010600040101010101" pitchFamily="2" charset="-122"/>
                  </a:rPr>
                  <a:t>角动量定理</a:t>
                </a:r>
              </a:p>
            </p:txBody>
          </p:sp>
          <p:graphicFrame>
            <p:nvGraphicFramePr>
              <p:cNvPr id="79917" name="Object 49"/>
              <p:cNvGraphicFramePr>
                <a:graphicFrameLocks noChangeAspect="1"/>
              </p:cNvGraphicFramePr>
              <p:nvPr/>
            </p:nvGraphicFramePr>
            <p:xfrm>
              <a:off x="4135" y="1865"/>
              <a:ext cx="732" cy="507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135275" name="Equation" r:id="rId37" imgW="583947" imgH="444307" progId="Equation.3">
                      <p:embed/>
                    </p:oleObj>
                  </mc:Choice>
                  <mc:Fallback>
                    <p:oleObj name="Equation" r:id="rId37" imgW="583947" imgH="44430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5" y="1865"/>
                            <a:ext cx="732" cy="5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9918" name="Line 50"/>
              <p:cNvSpPr>
                <a:spLocks noChangeShapeType="1"/>
              </p:cNvSpPr>
              <p:nvPr/>
            </p:nvSpPr>
            <p:spPr bwMode="auto">
              <a:xfrm>
                <a:off x="1296" y="2100"/>
                <a:ext cx="187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6" name="Group 51"/>
            <p:cNvGrpSpPr>
              <a:grpSpLocks/>
            </p:cNvGrpSpPr>
            <p:nvPr/>
          </p:nvGrpSpPr>
          <p:grpSpPr bwMode="auto">
            <a:xfrm>
              <a:off x="2290" y="2250"/>
              <a:ext cx="3218" cy="271"/>
              <a:chOff x="2304" y="2284"/>
              <a:chExt cx="3218" cy="271"/>
            </a:xfrm>
          </p:grpSpPr>
          <p:grpSp>
            <p:nvGrpSpPr>
              <p:cNvPr id="79912" name="Group 52"/>
              <p:cNvGrpSpPr>
                <a:grpSpLocks/>
              </p:cNvGrpSpPr>
              <p:nvPr/>
            </p:nvGrpSpPr>
            <p:grpSpPr bwMode="auto">
              <a:xfrm>
                <a:off x="3138" y="2284"/>
                <a:ext cx="2384" cy="271"/>
                <a:chOff x="3138" y="2284"/>
                <a:chExt cx="2384" cy="271"/>
              </a:xfrm>
            </p:grpSpPr>
            <p:graphicFrame>
              <p:nvGraphicFramePr>
                <p:cNvPr id="79914" name="Object 53"/>
                <p:cNvGraphicFramePr>
                  <a:graphicFrameLocks noChangeAspect="1"/>
                </p:cNvGraphicFramePr>
                <p:nvPr/>
              </p:nvGraphicFramePr>
              <p:xfrm>
                <a:off x="4151" y="2307"/>
                <a:ext cx="1371" cy="248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6" name="Equation" r:id="rId39" imgW="1307532" imgH="215806" progId="Equation.3">
                        <p:embed/>
                      </p:oleObj>
                    </mc:Choice>
                    <mc:Fallback>
                      <p:oleObj name="Equation" r:id="rId39" imgW="1307532" imgH="21580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51" y="2307"/>
                              <a:ext cx="1371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15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138" y="2284"/>
                  <a:ext cx="996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角动量守恒</a:t>
                  </a:r>
                </a:p>
              </p:txBody>
            </p:sp>
          </p:grpSp>
          <p:sp>
            <p:nvSpPr>
              <p:cNvPr id="79913" name="Line 55"/>
              <p:cNvSpPr>
                <a:spLocks noChangeShapeType="1"/>
              </p:cNvSpPr>
              <p:nvPr/>
            </p:nvSpPr>
            <p:spPr bwMode="auto">
              <a:xfrm>
                <a:off x="2304" y="2430"/>
                <a:ext cx="86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7" name="Group 56"/>
            <p:cNvGrpSpPr>
              <a:grpSpLocks/>
            </p:cNvGrpSpPr>
            <p:nvPr/>
          </p:nvGrpSpPr>
          <p:grpSpPr bwMode="auto">
            <a:xfrm>
              <a:off x="1824" y="2530"/>
              <a:ext cx="3345" cy="446"/>
              <a:chOff x="1824" y="2530"/>
              <a:chExt cx="3345" cy="412"/>
            </a:xfrm>
          </p:grpSpPr>
          <p:grpSp>
            <p:nvGrpSpPr>
              <p:cNvPr id="79908" name="Group 57"/>
              <p:cNvGrpSpPr>
                <a:grpSpLocks/>
              </p:cNvGrpSpPr>
              <p:nvPr/>
            </p:nvGrpSpPr>
            <p:grpSpPr bwMode="auto">
              <a:xfrm>
                <a:off x="3131" y="2530"/>
                <a:ext cx="2038" cy="412"/>
                <a:chOff x="3131" y="2530"/>
                <a:chExt cx="2038" cy="412"/>
              </a:xfrm>
            </p:grpSpPr>
            <p:sp>
              <p:nvSpPr>
                <p:cNvPr id="7991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131" y="2581"/>
                  <a:ext cx="82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力矩的功</a:t>
                  </a:r>
                </a:p>
              </p:txBody>
            </p:sp>
            <p:graphicFrame>
              <p:nvGraphicFramePr>
                <p:cNvPr id="79911" name="Object 59"/>
                <p:cNvGraphicFramePr>
                  <a:graphicFrameLocks noChangeAspect="1"/>
                </p:cNvGraphicFramePr>
                <p:nvPr/>
              </p:nvGraphicFramePr>
              <p:xfrm>
                <a:off x="3908" y="2530"/>
                <a:ext cx="1261" cy="412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7" name="Equation" r:id="rId41" imgW="990170" imgH="355446" progId="Equation.3">
                        <p:embed/>
                      </p:oleObj>
                    </mc:Choice>
                    <mc:Fallback>
                      <p:oleObj name="Equation" r:id="rId41" imgW="990170" imgH="35544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08" y="2530"/>
                              <a:ext cx="1261" cy="4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9909" name="Line 60"/>
              <p:cNvSpPr>
                <a:spLocks noChangeShapeType="1"/>
              </p:cNvSpPr>
              <p:nvPr/>
            </p:nvSpPr>
            <p:spPr bwMode="auto">
              <a:xfrm>
                <a:off x="1824" y="2736"/>
                <a:ext cx="1344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8" name="Group 61"/>
            <p:cNvGrpSpPr>
              <a:grpSpLocks/>
            </p:cNvGrpSpPr>
            <p:nvPr/>
          </p:nvGrpSpPr>
          <p:grpSpPr bwMode="auto">
            <a:xfrm>
              <a:off x="1536" y="2875"/>
              <a:ext cx="3354" cy="465"/>
              <a:chOff x="1536" y="2921"/>
              <a:chExt cx="3354" cy="465"/>
            </a:xfrm>
          </p:grpSpPr>
          <p:grpSp>
            <p:nvGrpSpPr>
              <p:cNvPr id="79904" name="Group 62"/>
              <p:cNvGrpSpPr>
                <a:grpSpLocks/>
              </p:cNvGrpSpPr>
              <p:nvPr/>
            </p:nvGrpSpPr>
            <p:grpSpPr bwMode="auto">
              <a:xfrm>
                <a:off x="3140" y="2921"/>
                <a:ext cx="1750" cy="465"/>
                <a:chOff x="3131" y="2921"/>
                <a:chExt cx="1750" cy="465"/>
              </a:xfrm>
            </p:grpSpPr>
            <p:graphicFrame>
              <p:nvGraphicFramePr>
                <p:cNvPr id="79906" name="Object 63"/>
                <p:cNvGraphicFramePr>
                  <a:graphicFrameLocks noChangeAspect="1"/>
                </p:cNvGraphicFramePr>
                <p:nvPr/>
              </p:nvGraphicFramePr>
              <p:xfrm>
                <a:off x="3926" y="2921"/>
                <a:ext cx="955" cy="465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8" name="Equation" r:id="rId43" imgW="761669" imgH="406224" progId="Equation.3">
                        <p:embed/>
                      </p:oleObj>
                    </mc:Choice>
                    <mc:Fallback>
                      <p:oleObj name="Equation" r:id="rId43" imgW="761669" imgH="4062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6" y="2921"/>
                              <a:ext cx="955" cy="4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07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3131" y="3009"/>
                  <a:ext cx="82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转动动能</a:t>
                  </a:r>
                </a:p>
              </p:txBody>
            </p:sp>
          </p:grpSp>
          <p:sp>
            <p:nvSpPr>
              <p:cNvPr id="79905" name="Line 65"/>
              <p:cNvSpPr>
                <a:spLocks noChangeShapeType="1"/>
              </p:cNvSpPr>
              <p:nvPr/>
            </p:nvSpPr>
            <p:spPr bwMode="auto">
              <a:xfrm>
                <a:off x="1536" y="3150"/>
                <a:ext cx="16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899" name="Group 66"/>
            <p:cNvGrpSpPr>
              <a:grpSpLocks/>
            </p:cNvGrpSpPr>
            <p:nvPr/>
          </p:nvGrpSpPr>
          <p:grpSpPr bwMode="auto">
            <a:xfrm>
              <a:off x="2016" y="3307"/>
              <a:ext cx="3573" cy="481"/>
              <a:chOff x="2016" y="3353"/>
              <a:chExt cx="3573" cy="481"/>
            </a:xfrm>
          </p:grpSpPr>
          <p:grpSp>
            <p:nvGrpSpPr>
              <p:cNvPr id="79900" name="Group 67"/>
              <p:cNvGrpSpPr>
                <a:grpSpLocks/>
              </p:cNvGrpSpPr>
              <p:nvPr/>
            </p:nvGrpSpPr>
            <p:grpSpPr bwMode="auto">
              <a:xfrm>
                <a:off x="3131" y="3353"/>
                <a:ext cx="2458" cy="481"/>
                <a:chOff x="3131" y="3353"/>
                <a:chExt cx="2458" cy="481"/>
              </a:xfrm>
            </p:grpSpPr>
            <p:graphicFrame>
              <p:nvGraphicFramePr>
                <p:cNvPr id="79902" name="Object 68"/>
                <p:cNvGraphicFramePr>
                  <a:graphicFrameLocks noChangeAspect="1"/>
                </p:cNvGraphicFramePr>
                <p:nvPr/>
              </p:nvGraphicFramePr>
              <p:xfrm>
                <a:off x="4251" y="3353"/>
                <a:ext cx="1338" cy="481"/>
              </p:xfrm>
              <a:graphic>
                <a:graphicData uri="http://purl.oclc.org/ooxml/officeDocument/oleObject">
                  <mc:AlternateContent xmlns:mc="http://schemas.openxmlformats.org/markup-compatibility/2006">
                    <mc:Choice xmlns:v="urn:schemas-microsoft-com:vml" Requires="v">
                      <p:oleObj spid="_x0000_s135279" name="Equation" r:id="rId45" imgW="1231366" imgH="406224" progId="Equation.3">
                        <p:embed/>
                      </p:oleObj>
                    </mc:Choice>
                    <mc:Fallback>
                      <p:oleObj name="Equation" r:id="rId45" imgW="1231366" imgH="4062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51" y="3353"/>
                              <a:ext cx="1338" cy="4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%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990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3131" y="3450"/>
                  <a:ext cx="1172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%"/>
                      <a:headEnd/>
                      <a:tailEnd type="none" w="med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%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%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%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%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%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%"/>
                    </a:spcBef>
                    <a:spcAft>
                      <a:spcPct val="0%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%"/>
                    </a:spcBef>
                    <a:buFontTx/>
                    <a:buNone/>
                  </a:pPr>
                  <a:r>
                    <a:rPr lang="zh-CN" altLang="en-US" sz="2200">
                      <a:ea typeface="华文中宋" panose="02010600040101010101" pitchFamily="2" charset="-122"/>
                    </a:rPr>
                    <a:t>转动动能定理</a:t>
                  </a:r>
                </a:p>
              </p:txBody>
            </p:sp>
          </p:grpSp>
          <p:sp>
            <p:nvSpPr>
              <p:cNvPr id="79901" name="Line 70"/>
              <p:cNvSpPr>
                <a:spLocks noChangeShapeType="1"/>
              </p:cNvSpPr>
              <p:nvPr/>
            </p:nvSpPr>
            <p:spPr bwMode="auto">
              <a:xfrm>
                <a:off x="2016" y="3600"/>
                <a:ext cx="115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9875" name="灯片编号占位符 68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%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%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%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%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%"/>
              </a:spcBef>
              <a:buFontTx/>
              <a:buNone/>
            </a:pPr>
            <a:fld id="{54A515F4-031C-4E30-8E25-650B8D520430}" type="slidenum">
              <a:rPr lang="en-US" altLang="zh-CN" sz="1400" smtClean="0"/>
              <a:pPr>
                <a:spcBef>
                  <a:spcPct val="0%"/>
                </a:spcBef>
                <a:buFontTx/>
                <a:buNone/>
              </a:pPr>
              <a:t>3</a:t>
            </a:fld>
            <a:endParaRPr lang="en-US" altLang="zh-CN" sz="1400" smtClean="0"/>
          </a:p>
        </p:txBody>
      </p:sp>
    </p:spTree>
    <p:extLst>
      <p:ext uri="{BB962C8B-B14F-4D97-AF65-F5344CB8AC3E}">
        <p14:creationId xmlns:p14="http://schemas.microsoft.com/office/powerpoint/2010/main" val="377261610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5076825" y="2492375"/>
          <a:ext cx="1943100" cy="52228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3653" name="Equation" r:id="rId3" imgW="2047759" imgH="476276" progId="Equation.3">
                  <p:embed/>
                </p:oleObj>
              </mc:Choice>
              <mc:Fallback>
                <p:oleObj name="Equation" r:id="rId3" imgW="2047759" imgH="47627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492375"/>
                        <a:ext cx="19431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468313" y="2492375"/>
            <a:ext cx="1223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371600" y="30622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i="1">
                <a:latin typeface="Times New Roman" panose="02020603050405020304" pitchFamily="18" charset="0"/>
              </a:rPr>
              <a:t>x </a:t>
            </a:r>
            <a:r>
              <a:rPr kumimoji="1" lang="en-US" altLang="zh-CN" b="1">
                <a:latin typeface="Times New Roman" panose="02020603050405020304" pitchFamily="18" charset="0"/>
              </a:rPr>
              <a:t>= </a:t>
            </a:r>
            <a:r>
              <a:rPr kumimoji="1" lang="en-US" altLang="zh-CN" b="1">
                <a:latin typeface="宋体" panose="02010600030101010101" pitchFamily="2" charset="-122"/>
              </a:rPr>
              <a:t>-</a:t>
            </a:r>
            <a:r>
              <a:rPr kumimoji="1" lang="en-US" altLang="zh-CN" b="1">
                <a:latin typeface="Times New Roman" panose="02020603050405020304" pitchFamily="18" charset="0"/>
              </a:rPr>
              <a:t>4 </a:t>
            </a:r>
            <a:r>
              <a:rPr kumimoji="1" lang="zh-CN" altLang="en-US" b="1">
                <a:latin typeface="Times New Roman" panose="02020603050405020304" pitchFamily="18" charset="0"/>
              </a:rPr>
              <a:t>时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en-US" altLang="zh-CN" b="1" i="1"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latin typeface="Times New Roman" panose="02020603050405020304" pitchFamily="18" charset="0"/>
              </a:rPr>
              <a:t>=2</a:t>
            </a:r>
          </a:p>
        </p:txBody>
      </p:sp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730250" y="3805238"/>
          <a:ext cx="5073650" cy="11176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3654" name="公式" r:id="rId5" imgW="2057477" imgH="438163" progId="Equation.3">
                  <p:embed/>
                </p:oleObj>
              </mc:Choice>
              <mc:Fallback>
                <p:oleObj name="公式" r:id="rId5" imgW="2057477" imgH="43816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3805238"/>
                        <a:ext cx="50736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803275" y="5245100"/>
          <a:ext cx="6108700" cy="11303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3655" name="公式" r:id="rId7" imgW="2457527" imgH="438163" progId="Equation.3">
                  <p:embed/>
                </p:oleObj>
              </mc:Choice>
              <mc:Fallback>
                <p:oleObj name="公式" r:id="rId7" imgW="2457527" imgH="43816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5245100"/>
                        <a:ext cx="61087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2361" name="Group 25"/>
          <p:cNvGrpSpPr>
            <a:grpSpLocks/>
          </p:cNvGrpSpPr>
          <p:nvPr/>
        </p:nvGrpSpPr>
        <p:grpSpPr bwMode="auto">
          <a:xfrm>
            <a:off x="6172200" y="2924175"/>
            <a:ext cx="2682875" cy="2449513"/>
            <a:chOff x="3888" y="1842"/>
            <a:chExt cx="1690" cy="1543"/>
          </a:xfrm>
        </p:grpSpPr>
        <p:sp>
          <p:nvSpPr>
            <p:cNvPr id="23584" name="Line 8"/>
            <p:cNvSpPr>
              <a:spLocks noChangeShapeType="1"/>
            </p:cNvSpPr>
            <p:nvPr/>
          </p:nvSpPr>
          <p:spPr bwMode="auto">
            <a:xfrm>
              <a:off x="3888" y="2723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9"/>
            <p:cNvSpPr>
              <a:spLocks noChangeShapeType="1"/>
            </p:cNvSpPr>
            <p:nvPr/>
          </p:nvSpPr>
          <p:spPr bwMode="auto">
            <a:xfrm flipV="1">
              <a:off x="4656" y="2013"/>
              <a:ext cx="0" cy="13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Freeform 10"/>
            <p:cNvSpPr>
              <a:spLocks/>
            </p:cNvSpPr>
            <p:nvPr/>
          </p:nvSpPr>
          <p:spPr bwMode="auto">
            <a:xfrm>
              <a:off x="3984" y="2203"/>
              <a:ext cx="672" cy="1087"/>
            </a:xfrm>
            <a:custGeom>
              <a:avLst/>
              <a:gdLst>
                <a:gd name="T0" fmla="*/ 0 w 672"/>
                <a:gd name="T1" fmla="*/ 1087 h 1104"/>
                <a:gd name="T2" fmla="*/ 336 w 672"/>
                <a:gd name="T3" fmla="*/ 95 h 1104"/>
                <a:gd name="T4" fmla="*/ 672 w 672"/>
                <a:gd name="T5" fmla="*/ 520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104">
                  <a:moveTo>
                    <a:pt x="0" y="1104"/>
                  </a:moveTo>
                  <a:cubicBezTo>
                    <a:pt x="112" y="648"/>
                    <a:pt x="224" y="192"/>
                    <a:pt x="336" y="96"/>
                  </a:cubicBezTo>
                  <a:cubicBezTo>
                    <a:pt x="448" y="0"/>
                    <a:pt x="560" y="264"/>
                    <a:pt x="672" y="528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7" name="Text Box 11"/>
            <p:cNvSpPr txBox="1">
              <a:spLocks noChangeArrowheads="1"/>
            </p:cNvSpPr>
            <p:nvPr/>
          </p:nvSpPr>
          <p:spPr bwMode="auto">
            <a:xfrm>
              <a:off x="5366" y="26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3588" name="Text Box 12"/>
            <p:cNvSpPr txBox="1">
              <a:spLocks noChangeArrowheads="1"/>
            </p:cNvSpPr>
            <p:nvPr/>
          </p:nvSpPr>
          <p:spPr bwMode="auto">
            <a:xfrm>
              <a:off x="4649" y="184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589" name="Text Box 13"/>
            <p:cNvSpPr txBox="1">
              <a:spLocks noChangeArrowheads="1"/>
            </p:cNvSpPr>
            <p:nvPr/>
          </p:nvSpPr>
          <p:spPr bwMode="auto">
            <a:xfrm>
              <a:off x="4422" y="2659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42357" name="Text Box 21"/>
          <p:cNvSpPr txBox="1">
            <a:spLocks noChangeArrowheads="1"/>
          </p:cNvSpPr>
          <p:nvPr/>
        </p:nvSpPr>
        <p:spPr bwMode="auto">
          <a:xfrm>
            <a:off x="1116013" y="2492375"/>
            <a:ext cx="4019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质点的运动轨道方程为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b="1">
              <a:latin typeface="Times New Roman" panose="02020603050405020304" pitchFamily="18" charset="0"/>
            </a:endParaRPr>
          </a:p>
        </p:txBody>
      </p:sp>
      <p:grpSp>
        <p:nvGrpSpPr>
          <p:cNvPr id="23592" name="Group 40"/>
          <p:cNvGrpSpPr>
            <a:grpSpLocks/>
          </p:cNvGrpSpPr>
          <p:nvPr/>
        </p:nvGrpSpPr>
        <p:grpSpPr bwMode="auto">
          <a:xfrm>
            <a:off x="395288" y="287338"/>
            <a:ext cx="8682037" cy="1954212"/>
            <a:chOff x="249" y="181"/>
            <a:chExt cx="5469" cy="1231"/>
          </a:xfrm>
        </p:grpSpPr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249" y="340"/>
              <a:ext cx="38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1. </a:t>
              </a:r>
              <a:r>
                <a:rPr kumimoji="1" lang="zh-CN" altLang="en-US" b="1">
                  <a:latin typeface="宋体" panose="02010600030101010101" pitchFamily="2" charset="-122"/>
                </a:rPr>
                <a:t>一质点运动函数为</a:t>
              </a:r>
            </a:p>
          </p:txBody>
        </p:sp>
        <p:sp>
          <p:nvSpPr>
            <p:cNvPr id="23570" name="Text Box 18"/>
            <p:cNvSpPr txBox="1">
              <a:spLocks noChangeArrowheads="1"/>
            </p:cNvSpPr>
            <p:nvPr/>
          </p:nvSpPr>
          <p:spPr bwMode="auto">
            <a:xfrm>
              <a:off x="294" y="816"/>
              <a:ext cx="542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求</a:t>
              </a:r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  <a:r>
                <a:rPr kumimoji="1" lang="zh-CN" altLang="en-US" b="1">
                  <a:latin typeface="宋体" panose="02010600030101010101" pitchFamily="2" charset="-122"/>
                </a:rPr>
                <a:t>质点的运动轨道以及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x </a:t>
              </a:r>
              <a:r>
                <a:rPr kumimoji="1" lang="en-US" altLang="zh-CN" b="1">
                  <a:latin typeface="宋体" panose="02010600030101010101" pitchFamily="2" charset="-122"/>
                </a:rPr>
                <a:t>=-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4</a:t>
              </a:r>
              <a:r>
                <a:rPr kumimoji="1" lang="zh-CN" altLang="en-US" b="1">
                  <a:latin typeface="宋体" panose="02010600030101010101" pitchFamily="2" charset="-122"/>
                </a:rPr>
                <a:t>时</a:t>
              </a:r>
              <a:r>
                <a:rPr kumimoji="1" lang="en-US" altLang="zh-CN" b="1">
                  <a:latin typeface="宋体" panose="02010600030101010101" pitchFamily="2" charset="-122"/>
                </a:rPr>
                <a:t>(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t 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&gt; 0</a:t>
              </a:r>
              <a:r>
                <a:rPr kumimoji="1" lang="en-US" altLang="zh-CN" b="1">
                  <a:latin typeface="宋体" panose="02010600030101010101" pitchFamily="2" charset="-122"/>
                </a:rPr>
                <a:t>)</a:t>
              </a:r>
              <a:r>
                <a:rPr kumimoji="1" lang="zh-CN" altLang="en-US" b="1">
                  <a:latin typeface="宋体" panose="02010600030101010101" pitchFamily="2" charset="-122"/>
                </a:rPr>
                <a:t>粒子的速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度、</a:t>
              </a:r>
              <a:r>
                <a:rPr kumimoji="1" lang="zh-CN" altLang="en-US" b="1">
                  <a:latin typeface="宋体" panose="02010600030101010101" pitchFamily="2" charset="-122"/>
                </a:rPr>
                <a:t> </a:t>
              </a:r>
            </a:p>
            <a:p>
              <a:r>
                <a:rPr kumimoji="1" lang="zh-CN" altLang="en-US" b="1">
                  <a:latin typeface="宋体" panose="02010600030101010101" pitchFamily="2" charset="-122"/>
                </a:rPr>
                <a:t>   速率、加速度。</a:t>
              </a:r>
            </a:p>
          </p:txBody>
        </p:sp>
        <p:graphicFrame>
          <p:nvGraphicFramePr>
            <p:cNvPr id="23571" name="Object 19"/>
            <p:cNvGraphicFramePr>
              <a:graphicFrameLocks noChangeAspect="1"/>
            </p:cNvGraphicFramePr>
            <p:nvPr/>
          </p:nvGraphicFramePr>
          <p:xfrm>
            <a:off x="2562" y="181"/>
            <a:ext cx="733" cy="25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3656" name="Equation" r:id="rId9" imgW="1143000" imgH="406080" progId="Equation.3">
                    <p:embed/>
                  </p:oleObj>
                </mc:Choice>
                <mc:Fallback>
                  <p:oleObj name="Equation" r:id="rId9" imgW="1143000" imgH="4060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81"/>
                          <a:ext cx="73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Object 20"/>
            <p:cNvGraphicFramePr>
              <a:graphicFrameLocks noChangeAspect="1"/>
            </p:cNvGraphicFramePr>
            <p:nvPr/>
          </p:nvGraphicFramePr>
          <p:xfrm>
            <a:off x="2563" y="482"/>
            <a:ext cx="1270" cy="30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3657" name="Equation" r:id="rId11" imgW="1981080" imgH="482400" progId="Equation.3">
                    <p:embed/>
                  </p:oleObj>
                </mc:Choice>
                <mc:Fallback>
                  <p:oleObj name="Equation" r:id="rId11" imgW="1981080" imgH="4824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" y="482"/>
                          <a:ext cx="127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4134" y="297"/>
              <a:ext cx="4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(SI)</a:t>
              </a:r>
            </a:p>
          </p:txBody>
        </p:sp>
        <p:pic>
          <p:nvPicPr>
            <p:cNvPr id="23591" name="Picture 39" descr="图片1"/>
            <p:cNvPicPr>
              <a:picLocks noChangeAspect="1" noChangeArrowheads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%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426" y="300"/>
              <a:ext cx="190" cy="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utoUpdateAnimBg="0"/>
      <p:bldP spid="142340" grpId="0" autoUpdateAnimBg="0"/>
      <p:bldP spid="142357" grpId="0" autoUpdateAnimBg="0"/>
    </p:bldLst>
  </p:timing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673100" y="3141663"/>
          <a:ext cx="7281863" cy="12001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4679" name="公式" r:id="rId3" imgW="2724227" imgH="476276" progId="Equation.3">
                  <p:embed/>
                </p:oleObj>
              </mc:Choice>
              <mc:Fallback>
                <p:oleObj name="公式" r:id="rId3" imgW="2724227" imgH="47627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3141663"/>
                        <a:ext cx="728186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3" name="Object 3"/>
          <p:cNvGraphicFramePr>
            <a:graphicFrameLocks noChangeAspect="1"/>
          </p:cNvGraphicFramePr>
          <p:nvPr/>
        </p:nvGraphicFramePr>
        <p:xfrm>
          <a:off x="669925" y="4508500"/>
          <a:ext cx="8088313" cy="11811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4680" name="公式" r:id="rId5" imgW="3190952" imgH="476276" progId="Equation.3">
                  <p:embed/>
                </p:oleObj>
              </mc:Choice>
              <mc:Fallback>
                <p:oleObj name="公式" r:id="rId5" imgW="3190952" imgH="47627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508500"/>
                        <a:ext cx="808831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471488" y="594995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=2s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时的加速度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3443288" y="5935663"/>
          <a:ext cx="2500312" cy="5603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4681" name="Equation" r:id="rId7" imgW="2152766" imgH="476276" progId="Equation.3">
                  <p:embed/>
                </p:oleObj>
              </mc:Choice>
              <mc:Fallback>
                <p:oleObj name="Equation" r:id="rId7" imgW="2152766" imgH="4762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5935663"/>
                        <a:ext cx="250031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6" name="Object 6"/>
          <p:cNvGraphicFramePr>
            <a:graphicFrameLocks noChangeAspect="1"/>
          </p:cNvGraphicFramePr>
          <p:nvPr/>
        </p:nvGraphicFramePr>
        <p:xfrm>
          <a:off x="712788" y="836613"/>
          <a:ext cx="4457700" cy="7207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4682" name="公式" r:id="rId9" imgW="1628814" imgH="257059" progId="Equation.3">
                  <p:embed/>
                </p:oleObj>
              </mc:Choice>
              <mc:Fallback>
                <p:oleObj name="公式" r:id="rId9" imgW="1628814" imgH="25705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836613"/>
                        <a:ext cx="44577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7" name="Object 7"/>
          <p:cNvGraphicFramePr>
            <a:graphicFrameLocks noChangeAspect="1"/>
          </p:cNvGraphicFramePr>
          <p:nvPr/>
        </p:nvGraphicFramePr>
        <p:xfrm>
          <a:off x="838200" y="2205038"/>
          <a:ext cx="4464050" cy="7667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4683" name="公式" r:id="rId11" imgW="1638261" imgH="295172" progId="Equation.3">
                  <p:embed/>
                </p:oleObj>
              </mc:Choice>
              <mc:Fallback>
                <p:oleObj name="公式" r:id="rId11" imgW="1638261" imgH="29517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05038"/>
                        <a:ext cx="44640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8" name="Text Box 8"/>
          <p:cNvSpPr txBox="1">
            <a:spLocks noChangeArrowheads="1"/>
          </p:cNvSpPr>
          <p:nvPr/>
        </p:nvSpPr>
        <p:spPr bwMode="auto">
          <a:xfrm>
            <a:off x="395288" y="296863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=2s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时的速度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43369" name="Text Box 9"/>
          <p:cNvSpPr txBox="1">
            <a:spLocks noChangeArrowheads="1"/>
          </p:cNvSpPr>
          <p:nvPr/>
        </p:nvSpPr>
        <p:spPr bwMode="auto">
          <a:xfrm>
            <a:off x="395288" y="16144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=2s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时的速率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24612" name="Group 25"/>
          <p:cNvGrpSpPr>
            <a:grpSpLocks/>
          </p:cNvGrpSpPr>
          <p:nvPr/>
        </p:nvGrpSpPr>
        <p:grpSpPr bwMode="auto">
          <a:xfrm>
            <a:off x="6110288" y="188913"/>
            <a:ext cx="2682875" cy="2486025"/>
            <a:chOff x="3888" y="119"/>
            <a:chExt cx="1690" cy="1566"/>
          </a:xfrm>
        </p:grpSpPr>
        <p:sp>
          <p:nvSpPr>
            <p:cNvPr id="24613" name="Line 19"/>
            <p:cNvSpPr>
              <a:spLocks noChangeShapeType="1"/>
            </p:cNvSpPr>
            <p:nvPr/>
          </p:nvSpPr>
          <p:spPr bwMode="auto">
            <a:xfrm>
              <a:off x="3888" y="1013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4" name="Line 20"/>
            <p:cNvSpPr>
              <a:spLocks noChangeShapeType="1"/>
            </p:cNvSpPr>
            <p:nvPr/>
          </p:nvSpPr>
          <p:spPr bwMode="auto">
            <a:xfrm flipV="1">
              <a:off x="4656" y="293"/>
              <a:ext cx="0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5" name="Freeform 21"/>
            <p:cNvSpPr>
              <a:spLocks/>
            </p:cNvSpPr>
            <p:nvPr/>
          </p:nvSpPr>
          <p:spPr bwMode="auto">
            <a:xfrm>
              <a:off x="3984" y="485"/>
              <a:ext cx="672" cy="1104"/>
            </a:xfrm>
            <a:custGeom>
              <a:avLst/>
              <a:gdLst>
                <a:gd name="T0" fmla="*/ 0 w 672"/>
                <a:gd name="T1" fmla="*/ 1104 h 1104"/>
                <a:gd name="T2" fmla="*/ 336 w 672"/>
                <a:gd name="T3" fmla="*/ 96 h 1104"/>
                <a:gd name="T4" fmla="*/ 672 w 672"/>
                <a:gd name="T5" fmla="*/ 528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1104">
                  <a:moveTo>
                    <a:pt x="0" y="1104"/>
                  </a:moveTo>
                  <a:cubicBezTo>
                    <a:pt x="112" y="648"/>
                    <a:pt x="224" y="192"/>
                    <a:pt x="336" y="96"/>
                  </a:cubicBezTo>
                  <a:cubicBezTo>
                    <a:pt x="448" y="0"/>
                    <a:pt x="560" y="264"/>
                    <a:pt x="672" y="528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6" name="Text Box 22"/>
            <p:cNvSpPr txBox="1">
              <a:spLocks noChangeArrowheads="1"/>
            </p:cNvSpPr>
            <p:nvPr/>
          </p:nvSpPr>
          <p:spPr bwMode="auto">
            <a:xfrm>
              <a:off x="5366" y="9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4617" name="Text Box 23"/>
            <p:cNvSpPr txBox="1">
              <a:spLocks noChangeArrowheads="1"/>
            </p:cNvSpPr>
            <p:nvPr/>
          </p:nvSpPr>
          <p:spPr bwMode="auto">
            <a:xfrm>
              <a:off x="4649" y="11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4618" name="Text Box 24"/>
            <p:cNvSpPr txBox="1">
              <a:spLocks noChangeArrowheads="1"/>
            </p:cNvSpPr>
            <p:nvPr/>
          </p:nvSpPr>
          <p:spPr bwMode="auto">
            <a:xfrm>
              <a:off x="4422" y="935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  <p:bldP spid="143368" grpId="0" autoUpdateAnimBg="0"/>
      <p:bldP spid="143369" grpId="0" autoUpdateAnimBg="0"/>
    </p:bldLst>
  </p:timing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323850" y="296863"/>
            <a:ext cx="8569325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两个相互作用的物体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无摩擦地在一条水平直线上运动。物体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的动量表达式为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i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30%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= P</a:t>
            </a:r>
            <a:r>
              <a:rPr lang="en-US" altLang="zh-CN" b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baseline="30%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–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bt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式中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baseline="30%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分别为正值常量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是时间。在下列两种情况下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写出物体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的动量表达式： 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开始时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静止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i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=_____________________; 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开始时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的动量为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–P</a:t>
            </a:r>
            <a:r>
              <a:rPr lang="en-US" altLang="zh-CN" b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i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baseline="-25%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baseline="30%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_____________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323850" y="3054350"/>
            <a:ext cx="784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b="1">
                <a:latin typeface="Times New Roman" panose="02020603050405020304" pitchFamily="18" charset="0"/>
              </a:rPr>
              <a:t>利用物体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碰撞时动量守恒</a:t>
            </a:r>
          </a:p>
        </p:txBody>
      </p:sp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323850" y="3644900"/>
            <a:ext cx="707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开始时，即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=0</a:t>
            </a:r>
            <a:r>
              <a:rPr lang="zh-CN" altLang="en-US" b="1">
                <a:latin typeface="Times New Roman" panose="02020603050405020304" pitchFamily="18" charset="0"/>
              </a:rPr>
              <a:t>时，初动量为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%">
                <a:latin typeface="Times New Roman" panose="02020603050405020304" pitchFamily="18" charset="0"/>
              </a:rPr>
              <a:t>0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1042988" y="4221163"/>
          <a:ext cx="4167187" cy="5635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0082" name="公式" r:id="rId3" imgW="1688760" imgH="228600" progId="Equation.3">
                  <p:embed/>
                </p:oleObj>
              </mc:Choice>
              <mc:Fallback>
                <p:oleObj name="公式" r:id="rId3" imgW="16887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416718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303213" y="4854575"/>
            <a:ext cx="707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开始时，即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=0</a:t>
            </a:r>
            <a:r>
              <a:rPr lang="zh-CN" altLang="en-US" b="1">
                <a:latin typeface="Times New Roman" panose="02020603050405020304" pitchFamily="18" charset="0"/>
              </a:rPr>
              <a:t>时，初动量为</a:t>
            </a:r>
            <a:r>
              <a:rPr lang="en-US" altLang="zh-CN" b="1"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30057" name="Object 9"/>
          <p:cNvGraphicFramePr>
            <a:graphicFrameLocks noChangeAspect="1"/>
          </p:cNvGraphicFramePr>
          <p:nvPr/>
        </p:nvGraphicFramePr>
        <p:xfrm>
          <a:off x="955675" y="5516563"/>
          <a:ext cx="4699000" cy="5635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0083" name="公式" r:id="rId5" imgW="1904760" imgH="228600" progId="Equation.3">
                  <p:embed/>
                </p:oleObj>
              </mc:Choice>
              <mc:Fallback>
                <p:oleObj name="公式" r:id="rId5" imgW="19047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5516563"/>
                        <a:ext cx="4699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/>
      <p:bldP spid="130054" grpId="0"/>
      <p:bldP spid="130056" grpId="0"/>
    </p:bldLst>
  </p:timing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08" name="Text Box 32"/>
          <p:cNvSpPr txBox="1">
            <a:spLocks noChangeArrowheads="1"/>
          </p:cNvSpPr>
          <p:nvPr/>
        </p:nvSpPr>
        <p:spPr bwMode="auto">
          <a:xfrm>
            <a:off x="179388" y="260350"/>
            <a:ext cx="8839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3.</a:t>
            </a:r>
            <a:r>
              <a:rPr kumimoji="1" lang="zh-CN" altLang="en-US" b="1">
                <a:latin typeface="Times New Roman" panose="02020603050405020304" pitchFamily="18" charset="0"/>
              </a:rPr>
              <a:t>质点的质量为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置于光滑球面的顶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点</a:t>
            </a:r>
            <a:r>
              <a:rPr kumimoji="1" lang="en-US" altLang="zh-CN" b="1">
                <a:latin typeface="Times New Roman" panose="02020603050405020304" pitchFamily="18" charset="0"/>
              </a:rPr>
              <a:t>A</a:t>
            </a:r>
            <a:r>
              <a:rPr kumimoji="1" lang="zh-CN" altLang="en-US" b="1">
                <a:latin typeface="Times New Roman" panose="02020603050405020304" pitchFamily="18" charset="0"/>
              </a:rPr>
              <a:t>处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球面固定不动</a:t>
            </a:r>
            <a:r>
              <a:rPr kumimoji="1" lang="en-US" altLang="zh-CN" b="1">
                <a:latin typeface="Times New Roman" panose="02020603050405020304" pitchFamily="18" charset="0"/>
              </a:rPr>
              <a:t>),</a:t>
            </a:r>
            <a:r>
              <a:rPr kumimoji="1" lang="zh-CN" altLang="en-US" b="1">
                <a:latin typeface="Times New Roman" panose="02020603050405020304" pitchFamily="18" charset="0"/>
              </a:rPr>
              <a:t>如图所示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当它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由静止开始下滑到球面上</a:t>
            </a:r>
            <a:r>
              <a:rPr kumimoji="1" lang="en-US" altLang="zh-CN" b="1">
                <a:latin typeface="Times New Roman" panose="02020603050405020304" pitchFamily="18" charset="0"/>
              </a:rPr>
              <a:t>B</a:t>
            </a:r>
            <a:r>
              <a:rPr kumimoji="1" lang="zh-CN" altLang="en-US" b="1">
                <a:latin typeface="Times New Roman" panose="02020603050405020304" pitchFamily="18" charset="0"/>
              </a:rPr>
              <a:t>点时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它的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加速度的大小为</a:t>
            </a:r>
            <a:r>
              <a:rPr kumimoji="1" lang="en-US" altLang="zh-CN" b="1">
                <a:latin typeface="Times New Roman" panose="02020603050405020304" pitchFamily="18" charset="0"/>
              </a:rPr>
              <a:t>________________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127009" name="Group 33"/>
          <p:cNvGrpSpPr>
            <a:grpSpLocks/>
          </p:cNvGrpSpPr>
          <p:nvPr/>
        </p:nvGrpSpPr>
        <p:grpSpPr bwMode="auto">
          <a:xfrm>
            <a:off x="6084888" y="333375"/>
            <a:ext cx="2563812" cy="1358900"/>
            <a:chOff x="3466" y="873"/>
            <a:chExt cx="1910" cy="999"/>
          </a:xfrm>
        </p:grpSpPr>
        <p:sp>
          <p:nvSpPr>
            <p:cNvPr id="127010" name="Line 34"/>
            <p:cNvSpPr>
              <a:spLocks noChangeShapeType="1"/>
            </p:cNvSpPr>
            <p:nvPr/>
          </p:nvSpPr>
          <p:spPr bwMode="auto">
            <a:xfrm>
              <a:off x="3514" y="177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1" name="Line 35"/>
            <p:cNvSpPr>
              <a:spLocks noChangeShapeType="1"/>
            </p:cNvSpPr>
            <p:nvPr/>
          </p:nvSpPr>
          <p:spPr bwMode="auto">
            <a:xfrm flipH="1">
              <a:off x="5280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2" name="Line 36"/>
            <p:cNvSpPr>
              <a:spLocks noChangeShapeType="1"/>
            </p:cNvSpPr>
            <p:nvPr/>
          </p:nvSpPr>
          <p:spPr bwMode="auto">
            <a:xfrm flipH="1">
              <a:off x="3466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3" name="Line 37"/>
            <p:cNvSpPr>
              <a:spLocks noChangeShapeType="1"/>
            </p:cNvSpPr>
            <p:nvPr/>
          </p:nvSpPr>
          <p:spPr bwMode="auto">
            <a:xfrm flipH="1">
              <a:off x="3562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4" name="Line 38"/>
            <p:cNvSpPr>
              <a:spLocks noChangeShapeType="1"/>
            </p:cNvSpPr>
            <p:nvPr/>
          </p:nvSpPr>
          <p:spPr bwMode="auto">
            <a:xfrm flipH="1">
              <a:off x="3658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5" name="Line 39"/>
            <p:cNvSpPr>
              <a:spLocks noChangeShapeType="1"/>
            </p:cNvSpPr>
            <p:nvPr/>
          </p:nvSpPr>
          <p:spPr bwMode="auto">
            <a:xfrm flipH="1">
              <a:off x="3754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6" name="Line 40"/>
            <p:cNvSpPr>
              <a:spLocks noChangeShapeType="1"/>
            </p:cNvSpPr>
            <p:nvPr/>
          </p:nvSpPr>
          <p:spPr bwMode="auto">
            <a:xfrm flipH="1">
              <a:off x="3850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7" name="Line 41"/>
            <p:cNvSpPr>
              <a:spLocks noChangeShapeType="1"/>
            </p:cNvSpPr>
            <p:nvPr/>
          </p:nvSpPr>
          <p:spPr bwMode="auto">
            <a:xfrm flipH="1">
              <a:off x="3946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8" name="Line 42"/>
            <p:cNvSpPr>
              <a:spLocks noChangeShapeType="1"/>
            </p:cNvSpPr>
            <p:nvPr/>
          </p:nvSpPr>
          <p:spPr bwMode="auto">
            <a:xfrm flipH="1">
              <a:off x="4042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9" name="Line 43"/>
            <p:cNvSpPr>
              <a:spLocks noChangeShapeType="1"/>
            </p:cNvSpPr>
            <p:nvPr/>
          </p:nvSpPr>
          <p:spPr bwMode="auto">
            <a:xfrm flipH="1">
              <a:off x="4138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0" name="Line 44"/>
            <p:cNvSpPr>
              <a:spLocks noChangeShapeType="1"/>
            </p:cNvSpPr>
            <p:nvPr/>
          </p:nvSpPr>
          <p:spPr bwMode="auto">
            <a:xfrm flipH="1">
              <a:off x="4234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1" name="Line 45"/>
            <p:cNvSpPr>
              <a:spLocks noChangeShapeType="1"/>
            </p:cNvSpPr>
            <p:nvPr/>
          </p:nvSpPr>
          <p:spPr bwMode="auto">
            <a:xfrm flipH="1">
              <a:off x="4330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2" name="Line 46"/>
            <p:cNvSpPr>
              <a:spLocks noChangeShapeType="1"/>
            </p:cNvSpPr>
            <p:nvPr/>
          </p:nvSpPr>
          <p:spPr bwMode="auto">
            <a:xfrm flipH="1">
              <a:off x="4426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3" name="Line 47"/>
            <p:cNvSpPr>
              <a:spLocks noChangeShapeType="1"/>
            </p:cNvSpPr>
            <p:nvPr/>
          </p:nvSpPr>
          <p:spPr bwMode="auto">
            <a:xfrm flipH="1">
              <a:off x="4522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4" name="Line 48"/>
            <p:cNvSpPr>
              <a:spLocks noChangeShapeType="1"/>
            </p:cNvSpPr>
            <p:nvPr/>
          </p:nvSpPr>
          <p:spPr bwMode="auto">
            <a:xfrm flipH="1">
              <a:off x="4618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5" name="Line 49"/>
            <p:cNvSpPr>
              <a:spLocks noChangeShapeType="1"/>
            </p:cNvSpPr>
            <p:nvPr/>
          </p:nvSpPr>
          <p:spPr bwMode="auto">
            <a:xfrm flipH="1">
              <a:off x="4714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6" name="Line 50"/>
            <p:cNvSpPr>
              <a:spLocks noChangeShapeType="1"/>
            </p:cNvSpPr>
            <p:nvPr/>
          </p:nvSpPr>
          <p:spPr bwMode="auto">
            <a:xfrm flipH="1">
              <a:off x="4810" y="17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7" name="Line 51"/>
            <p:cNvSpPr>
              <a:spLocks noChangeShapeType="1"/>
            </p:cNvSpPr>
            <p:nvPr/>
          </p:nvSpPr>
          <p:spPr bwMode="auto">
            <a:xfrm>
              <a:off x="3552" y="177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8" name="Line 52"/>
            <p:cNvSpPr>
              <a:spLocks noChangeShapeType="1"/>
            </p:cNvSpPr>
            <p:nvPr/>
          </p:nvSpPr>
          <p:spPr bwMode="auto">
            <a:xfrm flipH="1">
              <a:off x="4906" y="1771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29" name="Line 53"/>
            <p:cNvSpPr>
              <a:spLocks noChangeShapeType="1"/>
            </p:cNvSpPr>
            <p:nvPr/>
          </p:nvSpPr>
          <p:spPr bwMode="auto">
            <a:xfrm flipH="1">
              <a:off x="4992" y="1771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0" name="Line 54"/>
            <p:cNvSpPr>
              <a:spLocks noChangeShapeType="1"/>
            </p:cNvSpPr>
            <p:nvPr/>
          </p:nvSpPr>
          <p:spPr bwMode="auto">
            <a:xfrm flipH="1">
              <a:off x="5088" y="1771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1" name="Line 55"/>
            <p:cNvSpPr>
              <a:spLocks noChangeShapeType="1"/>
            </p:cNvSpPr>
            <p:nvPr/>
          </p:nvSpPr>
          <p:spPr bwMode="auto">
            <a:xfrm flipH="1">
              <a:off x="5184" y="1771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2" name="Arc 56"/>
            <p:cNvSpPr>
              <a:spLocks/>
            </p:cNvSpPr>
            <p:nvPr/>
          </p:nvSpPr>
          <p:spPr bwMode="auto">
            <a:xfrm>
              <a:off x="4320" y="1152"/>
              <a:ext cx="624" cy="62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3" name="Arc 57"/>
            <p:cNvSpPr>
              <a:spLocks/>
            </p:cNvSpPr>
            <p:nvPr/>
          </p:nvSpPr>
          <p:spPr bwMode="auto">
            <a:xfrm flipH="1">
              <a:off x="3744" y="1152"/>
              <a:ext cx="576" cy="62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4" name="Rectangle 58"/>
            <p:cNvSpPr>
              <a:spLocks noChangeArrowheads="1"/>
            </p:cNvSpPr>
            <p:nvPr/>
          </p:nvSpPr>
          <p:spPr bwMode="auto">
            <a:xfrm>
              <a:off x="4272" y="1056"/>
              <a:ext cx="144" cy="9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5" name="Rectangle 59"/>
            <p:cNvSpPr>
              <a:spLocks noChangeArrowheads="1"/>
            </p:cNvSpPr>
            <p:nvPr/>
          </p:nvSpPr>
          <p:spPr bwMode="auto">
            <a:xfrm rot="3222263">
              <a:off x="4776" y="1296"/>
              <a:ext cx="144" cy="9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6" name="Line 60"/>
            <p:cNvSpPr>
              <a:spLocks noChangeShapeType="1"/>
            </p:cNvSpPr>
            <p:nvPr/>
          </p:nvSpPr>
          <p:spPr bwMode="auto">
            <a:xfrm>
              <a:off x="4320" y="11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7" name="Line 61"/>
            <p:cNvSpPr>
              <a:spLocks noChangeShapeType="1"/>
            </p:cNvSpPr>
            <p:nvPr/>
          </p:nvSpPr>
          <p:spPr bwMode="auto">
            <a:xfrm flipV="1">
              <a:off x="4320" y="1392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8" name="Arc 62"/>
            <p:cNvSpPr>
              <a:spLocks/>
            </p:cNvSpPr>
            <p:nvPr/>
          </p:nvSpPr>
          <p:spPr bwMode="auto">
            <a:xfrm>
              <a:off x="4320" y="1633"/>
              <a:ext cx="96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0373"/>
                <a:gd name="T2" fmla="*/ 19738 w 21600"/>
                <a:gd name="T3" fmla="*/ 30373 h 30373"/>
                <a:gd name="T4" fmla="*/ 0 w 21600"/>
                <a:gd name="T5" fmla="*/ 21600 h 30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037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622"/>
                    <a:pt x="20965" y="27611"/>
                    <a:pt x="19738" y="30373"/>
                  </a:cubicBezTo>
                </a:path>
                <a:path w="21600" h="3037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622"/>
                    <a:pt x="20965" y="27611"/>
                    <a:pt x="19738" y="303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9" name="Text Box 63"/>
            <p:cNvSpPr txBox="1">
              <a:spLocks noChangeArrowheads="1"/>
            </p:cNvSpPr>
            <p:nvPr/>
          </p:nvSpPr>
          <p:spPr bwMode="auto">
            <a:xfrm>
              <a:off x="4310" y="1353"/>
              <a:ext cx="29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7040" name="Text Box 64"/>
            <p:cNvSpPr txBox="1">
              <a:spLocks noChangeArrowheads="1"/>
            </p:cNvSpPr>
            <p:nvPr/>
          </p:nvSpPr>
          <p:spPr bwMode="auto">
            <a:xfrm>
              <a:off x="4032" y="873"/>
              <a:ext cx="299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7041" name="Text Box 65"/>
            <p:cNvSpPr txBox="1">
              <a:spLocks noChangeArrowheads="1"/>
            </p:cNvSpPr>
            <p:nvPr/>
          </p:nvSpPr>
          <p:spPr bwMode="auto">
            <a:xfrm>
              <a:off x="4886" y="1209"/>
              <a:ext cx="30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27042" name="Group 66"/>
          <p:cNvGrpSpPr>
            <a:grpSpLocks/>
          </p:cNvGrpSpPr>
          <p:nvPr/>
        </p:nvGrpSpPr>
        <p:grpSpPr bwMode="auto">
          <a:xfrm>
            <a:off x="6084888" y="2371725"/>
            <a:ext cx="2624137" cy="985838"/>
            <a:chOff x="3833" y="2886"/>
            <a:chExt cx="1653" cy="621"/>
          </a:xfrm>
        </p:grpSpPr>
        <p:sp>
          <p:nvSpPr>
            <p:cNvPr id="127043" name="Line 67"/>
            <p:cNvSpPr>
              <a:spLocks noChangeShapeType="1"/>
            </p:cNvSpPr>
            <p:nvPr/>
          </p:nvSpPr>
          <p:spPr bwMode="auto">
            <a:xfrm>
              <a:off x="3873" y="3424"/>
              <a:ext cx="1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4" name="Line 68"/>
            <p:cNvSpPr>
              <a:spLocks noChangeShapeType="1"/>
            </p:cNvSpPr>
            <p:nvPr/>
          </p:nvSpPr>
          <p:spPr bwMode="auto">
            <a:xfrm flipH="1">
              <a:off x="5341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5" name="Line 69"/>
            <p:cNvSpPr>
              <a:spLocks noChangeShapeType="1"/>
            </p:cNvSpPr>
            <p:nvPr/>
          </p:nvSpPr>
          <p:spPr bwMode="auto">
            <a:xfrm flipH="1">
              <a:off x="3833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6" name="Line 70"/>
            <p:cNvSpPr>
              <a:spLocks noChangeShapeType="1"/>
            </p:cNvSpPr>
            <p:nvPr/>
          </p:nvSpPr>
          <p:spPr bwMode="auto">
            <a:xfrm flipH="1">
              <a:off x="3913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7" name="Line 71"/>
            <p:cNvSpPr>
              <a:spLocks noChangeShapeType="1"/>
            </p:cNvSpPr>
            <p:nvPr/>
          </p:nvSpPr>
          <p:spPr bwMode="auto">
            <a:xfrm flipH="1">
              <a:off x="3993" y="3424"/>
              <a:ext cx="79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8" name="Line 72"/>
            <p:cNvSpPr>
              <a:spLocks noChangeShapeType="1"/>
            </p:cNvSpPr>
            <p:nvPr/>
          </p:nvSpPr>
          <p:spPr bwMode="auto">
            <a:xfrm flipH="1">
              <a:off x="4072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9" name="Line 73"/>
            <p:cNvSpPr>
              <a:spLocks noChangeShapeType="1"/>
            </p:cNvSpPr>
            <p:nvPr/>
          </p:nvSpPr>
          <p:spPr bwMode="auto">
            <a:xfrm flipH="1">
              <a:off x="4152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0" name="Line 74"/>
            <p:cNvSpPr>
              <a:spLocks noChangeShapeType="1"/>
            </p:cNvSpPr>
            <p:nvPr/>
          </p:nvSpPr>
          <p:spPr bwMode="auto">
            <a:xfrm flipH="1">
              <a:off x="4232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1" name="Line 75"/>
            <p:cNvSpPr>
              <a:spLocks noChangeShapeType="1"/>
            </p:cNvSpPr>
            <p:nvPr/>
          </p:nvSpPr>
          <p:spPr bwMode="auto">
            <a:xfrm flipH="1">
              <a:off x="4312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2" name="Line 76"/>
            <p:cNvSpPr>
              <a:spLocks noChangeShapeType="1"/>
            </p:cNvSpPr>
            <p:nvPr/>
          </p:nvSpPr>
          <p:spPr bwMode="auto">
            <a:xfrm flipH="1">
              <a:off x="4392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3" name="Line 77"/>
            <p:cNvSpPr>
              <a:spLocks noChangeShapeType="1"/>
            </p:cNvSpPr>
            <p:nvPr/>
          </p:nvSpPr>
          <p:spPr bwMode="auto">
            <a:xfrm flipH="1">
              <a:off x="4472" y="3424"/>
              <a:ext cx="79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4" name="Line 78"/>
            <p:cNvSpPr>
              <a:spLocks noChangeShapeType="1"/>
            </p:cNvSpPr>
            <p:nvPr/>
          </p:nvSpPr>
          <p:spPr bwMode="auto">
            <a:xfrm flipH="1">
              <a:off x="4551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5" name="Line 79"/>
            <p:cNvSpPr>
              <a:spLocks noChangeShapeType="1"/>
            </p:cNvSpPr>
            <p:nvPr/>
          </p:nvSpPr>
          <p:spPr bwMode="auto">
            <a:xfrm flipH="1">
              <a:off x="4631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6" name="Line 80"/>
            <p:cNvSpPr>
              <a:spLocks noChangeShapeType="1"/>
            </p:cNvSpPr>
            <p:nvPr/>
          </p:nvSpPr>
          <p:spPr bwMode="auto">
            <a:xfrm flipH="1">
              <a:off x="4711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7" name="Line 81"/>
            <p:cNvSpPr>
              <a:spLocks noChangeShapeType="1"/>
            </p:cNvSpPr>
            <p:nvPr/>
          </p:nvSpPr>
          <p:spPr bwMode="auto">
            <a:xfrm flipH="1">
              <a:off x="4791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8" name="Line 82"/>
            <p:cNvSpPr>
              <a:spLocks noChangeShapeType="1"/>
            </p:cNvSpPr>
            <p:nvPr/>
          </p:nvSpPr>
          <p:spPr bwMode="auto">
            <a:xfrm flipH="1">
              <a:off x="4871" y="3424"/>
              <a:ext cx="79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59" name="Line 83"/>
            <p:cNvSpPr>
              <a:spLocks noChangeShapeType="1"/>
            </p:cNvSpPr>
            <p:nvPr/>
          </p:nvSpPr>
          <p:spPr bwMode="auto">
            <a:xfrm flipH="1">
              <a:off x="4950" y="3424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0" name="Line 84"/>
            <p:cNvSpPr>
              <a:spLocks noChangeShapeType="1"/>
            </p:cNvSpPr>
            <p:nvPr/>
          </p:nvSpPr>
          <p:spPr bwMode="auto">
            <a:xfrm>
              <a:off x="3905" y="3424"/>
              <a:ext cx="15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1" name="Line 85"/>
            <p:cNvSpPr>
              <a:spLocks noChangeShapeType="1"/>
            </p:cNvSpPr>
            <p:nvPr/>
          </p:nvSpPr>
          <p:spPr bwMode="auto">
            <a:xfrm flipH="1">
              <a:off x="5030" y="3420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2" name="Line 86"/>
            <p:cNvSpPr>
              <a:spLocks noChangeShapeType="1"/>
            </p:cNvSpPr>
            <p:nvPr/>
          </p:nvSpPr>
          <p:spPr bwMode="auto">
            <a:xfrm flipH="1">
              <a:off x="5102" y="3420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3" name="Line 87"/>
            <p:cNvSpPr>
              <a:spLocks noChangeShapeType="1"/>
            </p:cNvSpPr>
            <p:nvPr/>
          </p:nvSpPr>
          <p:spPr bwMode="auto">
            <a:xfrm flipH="1">
              <a:off x="5182" y="3420"/>
              <a:ext cx="79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4" name="Line 88"/>
            <p:cNvSpPr>
              <a:spLocks noChangeShapeType="1"/>
            </p:cNvSpPr>
            <p:nvPr/>
          </p:nvSpPr>
          <p:spPr bwMode="auto">
            <a:xfrm flipH="1">
              <a:off x="5261" y="3420"/>
              <a:ext cx="80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5" name="Arc 89"/>
            <p:cNvSpPr>
              <a:spLocks/>
            </p:cNvSpPr>
            <p:nvPr/>
          </p:nvSpPr>
          <p:spPr bwMode="auto">
            <a:xfrm>
              <a:off x="4543" y="2886"/>
              <a:ext cx="519" cy="5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66" name="Arc 90"/>
            <p:cNvSpPr>
              <a:spLocks/>
            </p:cNvSpPr>
            <p:nvPr/>
          </p:nvSpPr>
          <p:spPr bwMode="auto">
            <a:xfrm flipH="1">
              <a:off x="4064" y="2886"/>
              <a:ext cx="479" cy="5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67" name="Rectangle 91"/>
            <p:cNvSpPr>
              <a:spLocks noChangeArrowheads="1"/>
            </p:cNvSpPr>
            <p:nvPr/>
          </p:nvSpPr>
          <p:spPr bwMode="auto">
            <a:xfrm rot="3222263">
              <a:off x="4922" y="3019"/>
              <a:ext cx="125" cy="8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68" name="Line 92"/>
            <p:cNvSpPr>
              <a:spLocks noChangeShapeType="1"/>
            </p:cNvSpPr>
            <p:nvPr/>
          </p:nvSpPr>
          <p:spPr bwMode="auto">
            <a:xfrm>
              <a:off x="4543" y="2886"/>
              <a:ext cx="0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69" name="Line 93"/>
            <p:cNvSpPr>
              <a:spLocks noChangeShapeType="1"/>
            </p:cNvSpPr>
            <p:nvPr/>
          </p:nvSpPr>
          <p:spPr bwMode="auto">
            <a:xfrm flipV="1">
              <a:off x="4543" y="3093"/>
              <a:ext cx="399" cy="3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70" name="Arc 94"/>
            <p:cNvSpPr>
              <a:spLocks/>
            </p:cNvSpPr>
            <p:nvPr/>
          </p:nvSpPr>
          <p:spPr bwMode="auto">
            <a:xfrm>
              <a:off x="4543" y="3301"/>
              <a:ext cx="80" cy="5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30373"/>
                <a:gd name="T2" fmla="*/ 19738 w 21600"/>
                <a:gd name="T3" fmla="*/ 30373 h 30373"/>
                <a:gd name="T4" fmla="*/ 0 w 21600"/>
                <a:gd name="T5" fmla="*/ 21600 h 30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037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622"/>
                    <a:pt x="20965" y="27611"/>
                    <a:pt x="19738" y="30373"/>
                  </a:cubicBezTo>
                </a:path>
                <a:path w="21600" h="3037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622"/>
                    <a:pt x="20965" y="27611"/>
                    <a:pt x="19738" y="303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71" name="Text Box 95"/>
            <p:cNvSpPr txBox="1">
              <a:spLocks noChangeArrowheads="1"/>
            </p:cNvSpPr>
            <p:nvPr/>
          </p:nvSpPr>
          <p:spPr bwMode="auto">
            <a:xfrm>
              <a:off x="4493" y="3037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7072" name="Line 96"/>
            <p:cNvSpPr>
              <a:spLocks noChangeShapeType="1"/>
            </p:cNvSpPr>
            <p:nvPr/>
          </p:nvSpPr>
          <p:spPr bwMode="auto">
            <a:xfrm>
              <a:off x="4961" y="3079"/>
              <a:ext cx="136" cy="18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73" name="Line 97"/>
            <p:cNvSpPr>
              <a:spLocks noChangeShapeType="1"/>
            </p:cNvSpPr>
            <p:nvPr/>
          </p:nvSpPr>
          <p:spPr bwMode="auto">
            <a:xfrm flipH="1">
              <a:off x="4734" y="3077"/>
              <a:ext cx="227" cy="18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74" name="Text Box 98"/>
            <p:cNvSpPr txBox="1">
              <a:spLocks noChangeArrowheads="1"/>
            </p:cNvSpPr>
            <p:nvPr/>
          </p:nvSpPr>
          <p:spPr bwMode="auto">
            <a:xfrm>
              <a:off x="4740" y="3142"/>
              <a:ext cx="4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kumimoji="1" lang="en-US" altLang="zh-CN" sz="2400" b="1" baseline="-25%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/>
          </p:nvSpPr>
          <p:spPr bwMode="auto">
            <a:xfrm>
              <a:off x="5057" y="3051"/>
              <a:ext cx="4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kumimoji="1" lang="en-US" altLang="zh-CN" sz="2400" b="1" baseline="-25%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/>
          </p:nvSpPr>
          <p:spPr bwMode="auto">
            <a:xfrm>
              <a:off x="4312" y="2992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27077" name="Text Box 101"/>
          <p:cNvSpPr txBox="1">
            <a:spLocks noChangeArrowheads="1"/>
          </p:cNvSpPr>
          <p:nvPr/>
        </p:nvSpPr>
        <p:spPr bwMode="auto">
          <a:xfrm>
            <a:off x="250825" y="2276475"/>
            <a:ext cx="590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kumimoji="1" lang="zh-CN" altLang="en-US" b="1">
                <a:latin typeface="Times New Roman" panose="02020603050405020304" pitchFamily="18" charset="0"/>
              </a:rPr>
              <a:t>由</a:t>
            </a:r>
            <a:r>
              <a:rPr kumimoji="1" lang="en-US" altLang="zh-CN" b="1" i="1">
                <a:latin typeface="Times New Roman" panose="02020603050405020304" pitchFamily="18" charset="0"/>
              </a:rPr>
              <a:t>mg</a:t>
            </a:r>
            <a:r>
              <a:rPr kumimoji="1" lang="en-US" altLang="zh-CN" b="1">
                <a:latin typeface="Times New Roman" panose="02020603050405020304" pitchFamily="18" charset="0"/>
              </a:rPr>
              <a:t>sin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ma</a:t>
            </a:r>
            <a:r>
              <a:rPr kumimoji="1"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t    </a:t>
            </a:r>
            <a:r>
              <a:rPr kumimoji="1" lang="en-US" altLang="zh-CN" b="1" i="1" baseline="-25%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 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b="1" i="1" baseline="-25%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graphicFrame>
        <p:nvGraphicFramePr>
          <p:cNvPr id="127078" name="Object 102"/>
          <p:cNvGraphicFramePr>
            <a:graphicFrameLocks noChangeAspect="1"/>
          </p:cNvGraphicFramePr>
          <p:nvPr/>
        </p:nvGraphicFramePr>
        <p:xfrm>
          <a:off x="468313" y="2852738"/>
          <a:ext cx="3921125" cy="9144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7130" name="公式" r:id="rId3" imgW="1739880" imgH="406080" progId="Equation.3">
                  <p:embed/>
                </p:oleObj>
              </mc:Choice>
              <mc:Fallback>
                <p:oleObj name="公式" r:id="rId3" imgW="1739880" imgH="40608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52738"/>
                        <a:ext cx="3921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79" name="Object 103"/>
          <p:cNvGraphicFramePr>
            <a:graphicFrameLocks noChangeAspect="1"/>
          </p:cNvGraphicFramePr>
          <p:nvPr/>
        </p:nvGraphicFramePr>
        <p:xfrm>
          <a:off x="539750" y="3933825"/>
          <a:ext cx="3633788" cy="965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7131" name="公式" r:id="rId5" imgW="1574640" imgH="419040" progId="Equation.3">
                  <p:embed/>
                </p:oleObj>
              </mc:Choice>
              <mc:Fallback>
                <p:oleObj name="公式" r:id="rId5" imgW="1574640" imgH="41904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933825"/>
                        <a:ext cx="36337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80" name="Object 104"/>
          <p:cNvGraphicFramePr>
            <a:graphicFrameLocks noChangeAspect="1"/>
          </p:cNvGraphicFramePr>
          <p:nvPr/>
        </p:nvGraphicFramePr>
        <p:xfrm>
          <a:off x="755650" y="5157788"/>
          <a:ext cx="2349500" cy="7207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7132" name="公式" r:id="rId7" imgW="952200" imgH="291960" progId="Equation.3">
                  <p:embed/>
                </p:oleObj>
              </mc:Choice>
              <mc:Fallback>
                <p:oleObj name="公式" r:id="rId7" imgW="952200" imgH="29196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157788"/>
                        <a:ext cx="2349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81" name="Object 105"/>
          <p:cNvGraphicFramePr>
            <a:graphicFrameLocks noChangeAspect="1"/>
          </p:cNvGraphicFramePr>
          <p:nvPr/>
        </p:nvGraphicFramePr>
        <p:xfrm>
          <a:off x="3276600" y="1484313"/>
          <a:ext cx="1223963" cy="5984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7133" name="公式" r:id="rId9" imgW="596880" imgH="291960" progId="Equation.3">
                  <p:embed/>
                </p:oleObj>
              </mc:Choice>
              <mc:Fallback>
                <p:oleObj name="公式" r:id="rId9" imgW="596880" imgH="29196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84313"/>
                        <a:ext cx="1223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36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38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40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42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77" grpId="0"/>
    </p:bldLst>
  </p:timing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250825" y="188913"/>
            <a:ext cx="8642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4.  </a:t>
            </a:r>
            <a:r>
              <a:rPr lang="zh-CN" altLang="en-US" b="1">
                <a:latin typeface="Times New Roman" panose="02020603050405020304" pitchFamily="18" charset="0"/>
              </a:rPr>
              <a:t>一个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=30+4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 (SI)</a:t>
            </a:r>
            <a:r>
              <a:rPr lang="zh-CN" altLang="en-US" b="1">
                <a:latin typeface="Times New Roman" panose="02020603050405020304" pitchFamily="18" charset="0"/>
              </a:rPr>
              <a:t>的力作用在质量为</a:t>
            </a:r>
            <a:r>
              <a:rPr lang="en-US" altLang="zh-CN" b="1">
                <a:latin typeface="Times New Roman" panose="02020603050405020304" pitchFamily="18" charset="0"/>
              </a:rPr>
              <a:t>10kg</a:t>
            </a:r>
            <a:r>
              <a:rPr lang="zh-CN" altLang="en-US" b="1">
                <a:latin typeface="Times New Roman" panose="02020603050405020304" pitchFamily="18" charset="0"/>
              </a:rPr>
              <a:t>的物体上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要使冲量等于</a:t>
            </a:r>
            <a:r>
              <a:rPr lang="en-US" altLang="zh-CN" b="1">
                <a:latin typeface="Times New Roman" panose="02020603050405020304" pitchFamily="18" charset="0"/>
              </a:rPr>
              <a:t>300N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b="1">
                <a:latin typeface="Times New Roman" panose="02020603050405020304" pitchFamily="18" charset="0"/>
              </a:rPr>
              <a:t>s, </a:t>
            </a:r>
            <a:r>
              <a:rPr lang="zh-CN" altLang="en-US" b="1">
                <a:latin typeface="Times New Roman" panose="02020603050405020304" pitchFamily="18" charset="0"/>
              </a:rPr>
              <a:t>此力的作用时间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_________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323850" y="1325563"/>
            <a:ext cx="4176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b="1">
                <a:latin typeface="Times New Roman" panose="02020603050405020304" pitchFamily="18" charset="0"/>
              </a:rPr>
              <a:t>由                       得</a:t>
            </a:r>
          </a:p>
        </p:txBody>
      </p:sp>
      <p:graphicFrame>
        <p:nvGraphicFramePr>
          <p:cNvPr id="18456" name="Object 24"/>
          <p:cNvGraphicFramePr>
            <a:graphicFrameLocks noChangeAspect="1"/>
          </p:cNvGraphicFramePr>
          <p:nvPr/>
        </p:nvGraphicFramePr>
        <p:xfrm>
          <a:off x="1679575" y="1125538"/>
          <a:ext cx="1739900" cy="8699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8551" name="Equation" r:id="rId3" imgW="660240" imgH="330120" progId="Equation.3">
                  <p:embed/>
                </p:oleObj>
              </mc:Choice>
              <mc:Fallback>
                <p:oleObj name="Equation" r:id="rId3" imgW="660240" imgH="3301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1125538"/>
                        <a:ext cx="17399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25"/>
          <p:cNvGraphicFramePr>
            <a:graphicFrameLocks noChangeAspect="1"/>
          </p:cNvGraphicFramePr>
          <p:nvPr/>
        </p:nvGraphicFramePr>
        <p:xfrm>
          <a:off x="1187450" y="1960563"/>
          <a:ext cx="3063875" cy="8207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8552" name="Equation" r:id="rId5" imgW="1231560" imgH="330120" progId="Equation.3">
                  <p:embed/>
                </p:oleObj>
              </mc:Choice>
              <mc:Fallback>
                <p:oleObj name="Equation" r:id="rId5" imgW="1231560" imgH="33012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60563"/>
                        <a:ext cx="30638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4860925" y="2133600"/>
          <a:ext cx="2111375" cy="5365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8553" name="Equation" r:id="rId7" imgW="799920" imgH="203040" progId="Equation.3">
                  <p:embed/>
                </p:oleObj>
              </mc:Choice>
              <mc:Fallback>
                <p:oleObj name="Equation" r:id="rId7" imgW="799920" imgH="203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2133600"/>
                        <a:ext cx="21113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77" name="Group 45"/>
          <p:cNvGrpSpPr>
            <a:grpSpLocks/>
          </p:cNvGrpSpPr>
          <p:nvPr/>
        </p:nvGrpSpPr>
        <p:grpSpPr bwMode="auto">
          <a:xfrm>
            <a:off x="304800" y="2786063"/>
            <a:ext cx="6788150" cy="1800225"/>
            <a:chOff x="192" y="1755"/>
            <a:chExt cx="4276" cy="1134"/>
          </a:xfrm>
        </p:grpSpPr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192" y="1755"/>
              <a:ext cx="427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5. 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一质点在如图的坐标平面内作圆运动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,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有一力                               作用在质点上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, 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在该质点从原点到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(0, 2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)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位置过程中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,  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力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F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对它所做的功为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_______________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。   </a:t>
              </a:r>
              <a:endParaRPr kumimoji="1" lang="zh-CN" altLang="en-US" b="1" baseline="30%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62" name="Object 30"/>
            <p:cNvGraphicFramePr>
              <a:graphicFrameLocks noChangeAspect="1"/>
            </p:cNvGraphicFramePr>
            <p:nvPr/>
          </p:nvGraphicFramePr>
          <p:xfrm>
            <a:off x="703" y="1995"/>
            <a:ext cx="1678" cy="41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8554" name="Equation" r:id="rId9" imgW="1028520" imgH="253800" progId="Equation.3">
                    <p:embed/>
                  </p:oleObj>
                </mc:Choice>
                <mc:Fallback>
                  <p:oleObj name="Equation" r:id="rId9" imgW="1028520" imgH="2538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995"/>
                          <a:ext cx="1678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64" name="Group 32"/>
          <p:cNvGrpSpPr>
            <a:grpSpLocks/>
          </p:cNvGrpSpPr>
          <p:nvPr/>
        </p:nvGrpSpPr>
        <p:grpSpPr bwMode="auto">
          <a:xfrm>
            <a:off x="7019925" y="2535238"/>
            <a:ext cx="1958975" cy="2344737"/>
            <a:chOff x="4368" y="2241"/>
            <a:chExt cx="1234" cy="1477"/>
          </a:xfrm>
        </p:grpSpPr>
        <p:sp>
          <p:nvSpPr>
            <p:cNvPr id="18465" name="Line 33"/>
            <p:cNvSpPr>
              <a:spLocks noChangeShapeType="1"/>
            </p:cNvSpPr>
            <p:nvPr/>
          </p:nvSpPr>
          <p:spPr bwMode="auto">
            <a:xfrm>
              <a:off x="4368" y="3477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Line 34"/>
            <p:cNvSpPr>
              <a:spLocks noChangeShapeType="1"/>
            </p:cNvSpPr>
            <p:nvPr/>
          </p:nvSpPr>
          <p:spPr bwMode="auto">
            <a:xfrm flipV="1">
              <a:off x="4944" y="2373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Oval 35"/>
            <p:cNvSpPr>
              <a:spLocks noChangeArrowheads="1"/>
            </p:cNvSpPr>
            <p:nvPr/>
          </p:nvSpPr>
          <p:spPr bwMode="auto">
            <a:xfrm>
              <a:off x="4560" y="2709"/>
              <a:ext cx="768" cy="7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 flipV="1">
              <a:off x="4944" y="2901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Text Box 37"/>
            <p:cNvSpPr txBox="1">
              <a:spLocks noChangeArrowheads="1"/>
            </p:cNvSpPr>
            <p:nvPr/>
          </p:nvSpPr>
          <p:spPr bwMode="auto">
            <a:xfrm>
              <a:off x="4921" y="2704"/>
              <a:ext cx="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8470" name="Text Box 38"/>
            <p:cNvSpPr txBox="1">
              <a:spLocks noChangeArrowheads="1"/>
            </p:cNvSpPr>
            <p:nvPr/>
          </p:nvSpPr>
          <p:spPr bwMode="auto">
            <a:xfrm>
              <a:off x="4727" y="2241"/>
              <a:ext cx="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471" name="Text Box 39"/>
            <p:cNvSpPr txBox="1">
              <a:spLocks noChangeArrowheads="1"/>
            </p:cNvSpPr>
            <p:nvPr/>
          </p:nvSpPr>
          <p:spPr bwMode="auto">
            <a:xfrm>
              <a:off x="4830" y="3430"/>
              <a:ext cx="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72" name="Text Box 40"/>
            <p:cNvSpPr txBox="1">
              <a:spLocks noChangeArrowheads="1"/>
            </p:cNvSpPr>
            <p:nvPr/>
          </p:nvSpPr>
          <p:spPr bwMode="auto">
            <a:xfrm>
              <a:off x="5272" y="338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graphicFrame>
        <p:nvGraphicFramePr>
          <p:cNvPr id="18473" name="Object 41"/>
          <p:cNvGraphicFramePr>
            <a:graphicFrameLocks noChangeAspect="1"/>
          </p:cNvGraphicFramePr>
          <p:nvPr/>
        </p:nvGraphicFramePr>
        <p:xfrm>
          <a:off x="1135063" y="4652963"/>
          <a:ext cx="5597525" cy="9572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8555" name="公式" r:id="rId11" imgW="2006280" imgH="342720" progId="Equation.3">
                  <p:embed/>
                </p:oleObj>
              </mc:Choice>
              <mc:Fallback>
                <p:oleObj name="公式" r:id="rId11" imgW="2006280" imgH="34272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4652963"/>
                        <a:ext cx="55975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5" name="Object 43"/>
          <p:cNvGraphicFramePr>
            <a:graphicFrameLocks noChangeAspect="1"/>
          </p:cNvGraphicFramePr>
          <p:nvPr/>
        </p:nvGraphicFramePr>
        <p:xfrm>
          <a:off x="684213" y="5530850"/>
          <a:ext cx="8078787" cy="9223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8556" name="公式" r:id="rId13" imgW="3225600" imgH="342720" progId="Equation.3">
                  <p:embed/>
                </p:oleObj>
              </mc:Choice>
              <mc:Fallback>
                <p:oleObj name="公式" r:id="rId13" imgW="3225600" imgH="34272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30850"/>
                        <a:ext cx="8078787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8" name="Text Box 46"/>
          <p:cNvSpPr txBox="1">
            <a:spLocks noChangeArrowheads="1"/>
          </p:cNvSpPr>
          <p:nvPr/>
        </p:nvSpPr>
        <p:spPr bwMode="auto">
          <a:xfrm>
            <a:off x="323850" y="4816475"/>
            <a:ext cx="1458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</a:rPr>
              <a:t>解：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5" grpId="0"/>
      <p:bldP spid="18478" grpId="0"/>
    </p:bldLst>
  </p:timing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179388" y="188913"/>
            <a:ext cx="871378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一质量为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的质点沿着一条曲线运动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其位置矢量为</a:t>
            </a: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其中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皆为常量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则此质点对原点的角动量大小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﹦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____________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；此质点所受的力对原点的力矩大小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﹦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_________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323850" y="620713"/>
          <a:ext cx="3744913" cy="5334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19" name="公式" r:id="rId3" imgW="1688760" imgH="241200" progId="Equation.3">
                  <p:embed/>
                </p:oleObj>
              </mc:Choice>
              <mc:Fallback>
                <p:oleObj name="公式" r:id="rId3" imgW="16887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620713"/>
                        <a:ext cx="37449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827088" y="2006600"/>
          <a:ext cx="4752975" cy="8461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20" name="公式" r:id="rId5" imgW="2336760" imgH="406080" progId="Equation.3">
                  <p:embed/>
                </p:oleObj>
              </mc:Choice>
              <mc:Fallback>
                <p:oleObj name="公式" r:id="rId5" imgW="233676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06600"/>
                        <a:ext cx="475297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5724525" y="2205038"/>
          <a:ext cx="3095625" cy="4762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21" name="公式" r:id="rId7" imgW="1587240" imgH="241200" progId="Equation.3">
                  <p:embed/>
                </p:oleObj>
              </mc:Choice>
              <mc:Fallback>
                <p:oleObj name="公式" r:id="rId7" imgW="158724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205038"/>
                        <a:ext cx="30956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4932363" y="10525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 i="1">
                <a:solidFill>
                  <a:schemeClr val="accent2"/>
                </a:solidFill>
                <a:latin typeface="Times New Roman" panose="02020603050405020304" pitchFamily="18" charset="0"/>
              </a:rPr>
              <a:t>mab</a:t>
            </a:r>
            <a:r>
              <a:rPr lang="en-US" altLang="zh-CN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5200650" y="1485900"/>
            <a:ext cx="45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828675" y="2817813"/>
          <a:ext cx="2879725" cy="8985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22" name="公式" r:id="rId9" imgW="1346040" imgH="419040" progId="Equation.3">
                  <p:embed/>
                </p:oleObj>
              </mc:Choice>
              <mc:Fallback>
                <p:oleObj name="公式" r:id="rId9" imgW="134604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817813"/>
                        <a:ext cx="28797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4" name="Object 12"/>
          <p:cNvGraphicFramePr>
            <a:graphicFrameLocks noChangeAspect="1"/>
          </p:cNvGraphicFramePr>
          <p:nvPr/>
        </p:nvGraphicFramePr>
        <p:xfrm>
          <a:off x="4356100" y="2997200"/>
          <a:ext cx="2254250" cy="4603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23" name="公式" r:id="rId11" imgW="1054080" imgH="215640" progId="Equation.3">
                  <p:embed/>
                </p:oleObj>
              </mc:Choice>
              <mc:Fallback>
                <p:oleObj name="公式" r:id="rId11" imgW="105408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997200"/>
                        <a:ext cx="22542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152400" y="3784600"/>
            <a:ext cx="881221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7.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将一根米尺竖直地立在地板上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而后让它倒下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设接触地板地一端不因倾倒而滑动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当它撞击地板时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顶端的速率为</a:t>
            </a:r>
            <a:r>
              <a:rPr kumimoji="1" lang="zh-CN" altLang="en-US" b="1" u="sng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10619" name="Text Box 27"/>
          <p:cNvSpPr txBox="1">
            <a:spLocks noChangeArrowheads="1"/>
          </p:cNvSpPr>
          <p:nvPr/>
        </p:nvSpPr>
        <p:spPr bwMode="auto">
          <a:xfrm>
            <a:off x="179388" y="521493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0623" name="Text Box 31"/>
          <p:cNvSpPr txBox="1">
            <a:spLocks noChangeArrowheads="1"/>
          </p:cNvSpPr>
          <p:nvPr/>
        </p:nvSpPr>
        <p:spPr bwMode="auto">
          <a:xfrm>
            <a:off x="179388" y="2173288"/>
            <a:ext cx="955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</a:rPr>
              <a:t>解</a:t>
            </a:r>
            <a:r>
              <a:rPr lang="en-US" altLang="zh-CN" b="1">
                <a:solidFill>
                  <a:schemeClr val="accent2"/>
                </a:solidFill>
              </a:rPr>
              <a:t>:</a:t>
            </a:r>
          </a:p>
        </p:txBody>
      </p:sp>
      <p:grpSp>
        <p:nvGrpSpPr>
          <p:cNvPr id="110633" name="Group 41"/>
          <p:cNvGrpSpPr>
            <a:grpSpLocks noChangeAspect="1"/>
          </p:cNvGrpSpPr>
          <p:nvPr/>
        </p:nvGrpSpPr>
        <p:grpSpPr bwMode="auto">
          <a:xfrm>
            <a:off x="6372225" y="4635500"/>
            <a:ext cx="2592388" cy="2106613"/>
            <a:chOff x="2520" y="2766"/>
            <a:chExt cx="2880" cy="2340"/>
          </a:xfrm>
        </p:grpSpPr>
        <p:sp>
          <p:nvSpPr>
            <p:cNvPr id="110634" name="AutoShape 42"/>
            <p:cNvSpPr>
              <a:spLocks noChangeAspect="1" noChangeArrowheads="1"/>
            </p:cNvSpPr>
            <p:nvPr/>
          </p:nvSpPr>
          <p:spPr bwMode="auto">
            <a:xfrm>
              <a:off x="2520" y="2766"/>
              <a:ext cx="2880" cy="2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635" name="Group 43"/>
            <p:cNvGrpSpPr>
              <a:grpSpLocks/>
            </p:cNvGrpSpPr>
            <p:nvPr/>
          </p:nvGrpSpPr>
          <p:grpSpPr bwMode="auto">
            <a:xfrm>
              <a:off x="2730" y="2982"/>
              <a:ext cx="2520" cy="2028"/>
              <a:chOff x="2700" y="2922"/>
              <a:chExt cx="2520" cy="2028"/>
            </a:xfrm>
          </p:grpSpPr>
          <p:sp>
            <p:nvSpPr>
              <p:cNvPr id="110636" name="Rectangle 44"/>
              <p:cNvSpPr>
                <a:spLocks noChangeArrowheads="1"/>
              </p:cNvSpPr>
              <p:nvPr/>
            </p:nvSpPr>
            <p:spPr bwMode="auto">
              <a:xfrm>
                <a:off x="3060" y="2922"/>
                <a:ext cx="113" cy="1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%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37" name="Rectangle 45"/>
              <p:cNvSpPr>
                <a:spLocks noChangeArrowheads="1"/>
              </p:cNvSpPr>
              <p:nvPr/>
            </p:nvSpPr>
            <p:spPr bwMode="auto">
              <a:xfrm rot="-5400000">
                <a:off x="3939" y="3802"/>
                <a:ext cx="113" cy="1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%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38" name="Arc 46"/>
              <p:cNvSpPr>
                <a:spLocks/>
              </p:cNvSpPr>
              <p:nvPr/>
            </p:nvSpPr>
            <p:spPr bwMode="auto">
              <a:xfrm>
                <a:off x="3060" y="2922"/>
                <a:ext cx="1871" cy="187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39" name="Rectangle 47" descr="宽上对角线"/>
              <p:cNvSpPr>
                <a:spLocks noChangeArrowheads="1"/>
              </p:cNvSpPr>
              <p:nvPr/>
            </p:nvSpPr>
            <p:spPr bwMode="auto">
              <a:xfrm>
                <a:off x="2700" y="4794"/>
                <a:ext cx="2520" cy="15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40" name="Line 48"/>
              <p:cNvSpPr>
                <a:spLocks noChangeShapeType="1"/>
              </p:cNvSpPr>
              <p:nvPr/>
            </p:nvSpPr>
            <p:spPr bwMode="auto">
              <a:xfrm>
                <a:off x="2700" y="4794"/>
                <a:ext cx="25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41" name="Text Box 49"/>
              <p:cNvSpPr txBox="1">
                <a:spLocks noChangeArrowheads="1"/>
              </p:cNvSpPr>
              <p:nvPr/>
            </p:nvSpPr>
            <p:spPr bwMode="auto">
              <a:xfrm>
                <a:off x="3120" y="3390"/>
                <a:ext cx="108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zh-CN" altLang="en-US" sz="2000" b="1">
                    <a:latin typeface="Times New Roman" panose="02020603050405020304" pitchFamily="18" charset="0"/>
                  </a:rPr>
                  <a:t>米尺</a:t>
                </a:r>
                <a:endParaRPr lang="zh-CN" altLang="en-US" sz="2000"/>
              </a:p>
            </p:txBody>
          </p:sp>
        </p:grpSp>
      </p:grpSp>
      <p:sp>
        <p:nvSpPr>
          <p:cNvPr id="110644" name="Text Box 52"/>
          <p:cNvSpPr txBox="1">
            <a:spLocks noChangeArrowheads="1"/>
          </p:cNvSpPr>
          <p:nvPr/>
        </p:nvSpPr>
        <p:spPr bwMode="auto">
          <a:xfrm>
            <a:off x="1187450" y="4638675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5.4m/s</a:t>
            </a:r>
          </a:p>
        </p:txBody>
      </p:sp>
      <p:graphicFrame>
        <p:nvGraphicFramePr>
          <p:cNvPr id="110645" name="Object 53"/>
          <p:cNvGraphicFramePr>
            <a:graphicFrameLocks noChangeAspect="1"/>
          </p:cNvGraphicFramePr>
          <p:nvPr/>
        </p:nvGraphicFramePr>
        <p:xfrm>
          <a:off x="323850" y="5805488"/>
          <a:ext cx="5772150" cy="8207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10724" name="公式" r:id="rId13" imgW="2768400" imgH="393480" progId="Equation.3">
                  <p:embed/>
                </p:oleObj>
              </mc:Choice>
              <mc:Fallback>
                <p:oleObj name="公式" r:id="rId13" imgW="2768400" imgH="39348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05488"/>
                        <a:ext cx="5772150" cy="82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21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23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25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27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46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48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50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52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1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76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78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80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82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1" grpId="0"/>
      <p:bldP spid="110602" grpId="0"/>
      <p:bldP spid="110619" grpId="0"/>
      <p:bldP spid="110644" grpId="0"/>
    </p:bldLst>
  </p:timing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95" name="Group 23"/>
          <p:cNvGrpSpPr>
            <a:grpSpLocks/>
          </p:cNvGrpSpPr>
          <p:nvPr/>
        </p:nvGrpSpPr>
        <p:grpSpPr bwMode="auto">
          <a:xfrm>
            <a:off x="6875463" y="3432175"/>
            <a:ext cx="1728787" cy="1941513"/>
            <a:chOff x="4331" y="2162"/>
            <a:chExt cx="1089" cy="1223"/>
          </a:xfrm>
        </p:grpSpPr>
        <p:sp>
          <p:nvSpPr>
            <p:cNvPr id="131088" name="Arc 16"/>
            <p:cNvSpPr>
              <a:spLocks/>
            </p:cNvSpPr>
            <p:nvPr/>
          </p:nvSpPr>
          <p:spPr bwMode="auto">
            <a:xfrm>
              <a:off x="4646" y="2979"/>
              <a:ext cx="45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1080" name="Group 8"/>
            <p:cNvGrpSpPr>
              <a:grpSpLocks/>
            </p:cNvGrpSpPr>
            <p:nvPr/>
          </p:nvGrpSpPr>
          <p:grpSpPr bwMode="auto">
            <a:xfrm>
              <a:off x="4331" y="2162"/>
              <a:ext cx="1089" cy="980"/>
              <a:chOff x="3606" y="1089"/>
              <a:chExt cx="1089" cy="980"/>
            </a:xfrm>
          </p:grpSpPr>
          <p:sp>
            <p:nvSpPr>
              <p:cNvPr id="131076" name="Line 4"/>
              <p:cNvSpPr>
                <a:spLocks noChangeShapeType="1"/>
              </p:cNvSpPr>
              <p:nvPr/>
            </p:nvSpPr>
            <p:spPr bwMode="auto">
              <a:xfrm>
                <a:off x="4344" y="1089"/>
                <a:ext cx="0" cy="771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tx1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77" name="Line 5"/>
              <p:cNvSpPr>
                <a:spLocks noChangeShapeType="1"/>
              </p:cNvSpPr>
              <p:nvPr/>
            </p:nvSpPr>
            <p:spPr bwMode="auto">
              <a:xfrm>
                <a:off x="4332" y="1842"/>
                <a:ext cx="362" cy="0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tx1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78" name="Line 6"/>
              <p:cNvSpPr>
                <a:spLocks noChangeShapeType="1"/>
              </p:cNvSpPr>
              <p:nvPr/>
            </p:nvSpPr>
            <p:spPr bwMode="auto">
              <a:xfrm>
                <a:off x="3606" y="2069"/>
                <a:ext cx="1089" cy="0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tx1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79" name="Line 7"/>
              <p:cNvSpPr>
                <a:spLocks noChangeShapeType="1"/>
              </p:cNvSpPr>
              <p:nvPr/>
            </p:nvSpPr>
            <p:spPr bwMode="auto">
              <a:xfrm>
                <a:off x="4673" y="1842"/>
                <a:ext cx="0" cy="227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tx1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081" name="Group 9"/>
            <p:cNvGrpSpPr>
              <a:grpSpLocks/>
            </p:cNvGrpSpPr>
            <p:nvPr/>
          </p:nvGrpSpPr>
          <p:grpSpPr bwMode="auto">
            <a:xfrm rot="5435760">
              <a:off x="4931" y="2677"/>
              <a:ext cx="68" cy="816"/>
              <a:chOff x="3144" y="1866"/>
              <a:chExt cx="462" cy="942"/>
            </a:xfrm>
          </p:grpSpPr>
          <p:sp>
            <p:nvSpPr>
              <p:cNvPr id="131082" name="Freeform 10"/>
              <p:cNvSpPr>
                <a:spLocks/>
              </p:cNvSpPr>
              <p:nvPr/>
            </p:nvSpPr>
            <p:spPr bwMode="auto">
              <a:xfrm>
                <a:off x="3144" y="1959"/>
                <a:ext cx="462" cy="765"/>
              </a:xfrm>
              <a:custGeom>
                <a:avLst/>
                <a:gdLst>
                  <a:gd name="T0" fmla="*/ 246 w 462"/>
                  <a:gd name="T1" fmla="*/ 0 h 765"/>
                  <a:gd name="T2" fmla="*/ 135 w 462"/>
                  <a:gd name="T3" fmla="*/ 15 h 765"/>
                  <a:gd name="T4" fmla="*/ 18 w 462"/>
                  <a:gd name="T5" fmla="*/ 87 h 765"/>
                  <a:gd name="T6" fmla="*/ 246 w 462"/>
                  <a:gd name="T7" fmla="*/ 171 h 765"/>
                  <a:gd name="T8" fmla="*/ 456 w 462"/>
                  <a:gd name="T9" fmla="*/ 135 h 765"/>
                  <a:gd name="T10" fmla="*/ 261 w 462"/>
                  <a:gd name="T11" fmla="*/ 87 h 765"/>
                  <a:gd name="T12" fmla="*/ 24 w 462"/>
                  <a:gd name="T13" fmla="*/ 198 h 765"/>
                  <a:gd name="T14" fmla="*/ 249 w 462"/>
                  <a:gd name="T15" fmla="*/ 291 h 765"/>
                  <a:gd name="T16" fmla="*/ 453 w 462"/>
                  <a:gd name="T17" fmla="*/ 237 h 765"/>
                  <a:gd name="T18" fmla="*/ 252 w 462"/>
                  <a:gd name="T19" fmla="*/ 210 h 765"/>
                  <a:gd name="T20" fmla="*/ 24 w 462"/>
                  <a:gd name="T21" fmla="*/ 339 h 765"/>
                  <a:gd name="T22" fmla="*/ 246 w 462"/>
                  <a:gd name="T23" fmla="*/ 411 h 765"/>
                  <a:gd name="T24" fmla="*/ 459 w 462"/>
                  <a:gd name="T25" fmla="*/ 372 h 765"/>
                  <a:gd name="T26" fmla="*/ 240 w 462"/>
                  <a:gd name="T27" fmla="*/ 324 h 765"/>
                  <a:gd name="T28" fmla="*/ 27 w 462"/>
                  <a:gd name="T29" fmla="*/ 471 h 765"/>
                  <a:gd name="T30" fmla="*/ 252 w 462"/>
                  <a:gd name="T31" fmla="*/ 546 h 765"/>
                  <a:gd name="T32" fmla="*/ 453 w 462"/>
                  <a:gd name="T33" fmla="*/ 492 h 765"/>
                  <a:gd name="T34" fmla="*/ 255 w 462"/>
                  <a:gd name="T35" fmla="*/ 459 h 765"/>
                  <a:gd name="T36" fmla="*/ 30 w 462"/>
                  <a:gd name="T37" fmla="*/ 603 h 765"/>
                  <a:gd name="T38" fmla="*/ 264 w 462"/>
                  <a:gd name="T39" fmla="*/ 681 h 765"/>
                  <a:gd name="T40" fmla="*/ 459 w 462"/>
                  <a:gd name="T41" fmla="*/ 618 h 765"/>
                  <a:gd name="T42" fmla="*/ 246 w 462"/>
                  <a:gd name="T43" fmla="*/ 597 h 765"/>
                  <a:gd name="T44" fmla="*/ 30 w 462"/>
                  <a:gd name="T45" fmla="*/ 702 h 765"/>
                  <a:gd name="T46" fmla="*/ 135 w 462"/>
                  <a:gd name="T47" fmla="*/ 756 h 765"/>
                  <a:gd name="T48" fmla="*/ 261 w 462"/>
                  <a:gd name="T49" fmla="*/ 756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62" h="765">
                    <a:moveTo>
                      <a:pt x="246" y="0"/>
                    </a:moveTo>
                    <a:cubicBezTo>
                      <a:pt x="228" y="2"/>
                      <a:pt x="173" y="1"/>
                      <a:pt x="135" y="15"/>
                    </a:cubicBezTo>
                    <a:cubicBezTo>
                      <a:pt x="97" y="29"/>
                      <a:pt x="0" y="61"/>
                      <a:pt x="18" y="87"/>
                    </a:cubicBezTo>
                    <a:cubicBezTo>
                      <a:pt x="36" y="113"/>
                      <a:pt x="173" y="163"/>
                      <a:pt x="246" y="171"/>
                    </a:cubicBezTo>
                    <a:cubicBezTo>
                      <a:pt x="319" y="179"/>
                      <a:pt x="454" y="149"/>
                      <a:pt x="456" y="135"/>
                    </a:cubicBezTo>
                    <a:cubicBezTo>
                      <a:pt x="458" y="121"/>
                      <a:pt x="333" y="77"/>
                      <a:pt x="261" y="87"/>
                    </a:cubicBezTo>
                    <a:cubicBezTo>
                      <a:pt x="189" y="97"/>
                      <a:pt x="26" y="164"/>
                      <a:pt x="24" y="198"/>
                    </a:cubicBezTo>
                    <a:cubicBezTo>
                      <a:pt x="22" y="232"/>
                      <a:pt x="178" y="285"/>
                      <a:pt x="249" y="291"/>
                    </a:cubicBezTo>
                    <a:cubicBezTo>
                      <a:pt x="320" y="297"/>
                      <a:pt x="453" y="250"/>
                      <a:pt x="453" y="237"/>
                    </a:cubicBezTo>
                    <a:cubicBezTo>
                      <a:pt x="453" y="224"/>
                      <a:pt x="323" y="193"/>
                      <a:pt x="252" y="210"/>
                    </a:cubicBezTo>
                    <a:cubicBezTo>
                      <a:pt x="181" y="227"/>
                      <a:pt x="25" y="306"/>
                      <a:pt x="24" y="339"/>
                    </a:cubicBezTo>
                    <a:cubicBezTo>
                      <a:pt x="23" y="372"/>
                      <a:pt x="174" y="406"/>
                      <a:pt x="246" y="411"/>
                    </a:cubicBezTo>
                    <a:cubicBezTo>
                      <a:pt x="318" y="416"/>
                      <a:pt x="460" y="386"/>
                      <a:pt x="459" y="372"/>
                    </a:cubicBezTo>
                    <a:cubicBezTo>
                      <a:pt x="458" y="358"/>
                      <a:pt x="312" y="308"/>
                      <a:pt x="240" y="324"/>
                    </a:cubicBezTo>
                    <a:cubicBezTo>
                      <a:pt x="168" y="340"/>
                      <a:pt x="25" y="434"/>
                      <a:pt x="27" y="471"/>
                    </a:cubicBezTo>
                    <a:cubicBezTo>
                      <a:pt x="29" y="508"/>
                      <a:pt x="181" y="543"/>
                      <a:pt x="252" y="546"/>
                    </a:cubicBezTo>
                    <a:cubicBezTo>
                      <a:pt x="323" y="549"/>
                      <a:pt x="453" y="506"/>
                      <a:pt x="453" y="492"/>
                    </a:cubicBezTo>
                    <a:cubicBezTo>
                      <a:pt x="453" y="478"/>
                      <a:pt x="325" y="441"/>
                      <a:pt x="255" y="459"/>
                    </a:cubicBezTo>
                    <a:cubicBezTo>
                      <a:pt x="185" y="477"/>
                      <a:pt x="28" y="566"/>
                      <a:pt x="30" y="603"/>
                    </a:cubicBezTo>
                    <a:cubicBezTo>
                      <a:pt x="32" y="640"/>
                      <a:pt x="193" y="679"/>
                      <a:pt x="264" y="681"/>
                    </a:cubicBezTo>
                    <a:cubicBezTo>
                      <a:pt x="335" y="683"/>
                      <a:pt x="462" y="632"/>
                      <a:pt x="459" y="618"/>
                    </a:cubicBezTo>
                    <a:cubicBezTo>
                      <a:pt x="456" y="604"/>
                      <a:pt x="317" y="583"/>
                      <a:pt x="246" y="597"/>
                    </a:cubicBezTo>
                    <a:cubicBezTo>
                      <a:pt x="175" y="611"/>
                      <a:pt x="48" y="676"/>
                      <a:pt x="30" y="702"/>
                    </a:cubicBezTo>
                    <a:cubicBezTo>
                      <a:pt x="12" y="728"/>
                      <a:pt x="97" y="747"/>
                      <a:pt x="135" y="756"/>
                    </a:cubicBezTo>
                    <a:cubicBezTo>
                      <a:pt x="173" y="765"/>
                      <a:pt x="235" y="756"/>
                      <a:pt x="261" y="75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1083" name="Line 11"/>
              <p:cNvSpPr>
                <a:spLocks noChangeShapeType="1"/>
              </p:cNvSpPr>
              <p:nvPr/>
            </p:nvSpPr>
            <p:spPr bwMode="auto">
              <a:xfrm>
                <a:off x="3390" y="186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1084" name="Line 12"/>
              <p:cNvSpPr>
                <a:spLocks noChangeShapeType="1"/>
              </p:cNvSpPr>
              <p:nvPr/>
            </p:nvSpPr>
            <p:spPr bwMode="auto">
              <a:xfrm>
                <a:off x="3408" y="27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1085" name="Rectangle 13"/>
            <p:cNvSpPr>
              <a:spLocks noChangeArrowheads="1"/>
            </p:cNvSpPr>
            <p:nvPr/>
          </p:nvSpPr>
          <p:spPr bwMode="auto">
            <a:xfrm rot="1956492">
              <a:off x="4762" y="2269"/>
              <a:ext cx="46" cy="9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86" name="Text Box 14"/>
            <p:cNvSpPr txBox="1">
              <a:spLocks noChangeArrowheads="1"/>
            </p:cNvSpPr>
            <p:nvPr/>
          </p:nvSpPr>
          <p:spPr bwMode="auto">
            <a:xfrm>
              <a:off x="4376" y="3097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1087" name="Text Box 15"/>
            <p:cNvSpPr txBox="1">
              <a:spLocks noChangeArrowheads="1"/>
            </p:cNvSpPr>
            <p:nvPr/>
          </p:nvSpPr>
          <p:spPr bwMode="auto">
            <a:xfrm>
              <a:off x="5057" y="219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1089" name="Text Box 17"/>
            <p:cNvSpPr txBox="1">
              <a:spLocks noChangeArrowheads="1"/>
            </p:cNvSpPr>
            <p:nvPr/>
          </p:nvSpPr>
          <p:spPr bwMode="auto">
            <a:xfrm>
              <a:off x="4618" y="285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</a:p>
          </p:txBody>
        </p:sp>
      </p:grpSp>
      <p:sp>
        <p:nvSpPr>
          <p:cNvPr id="131090" name="Text Box 18"/>
          <p:cNvSpPr txBox="1">
            <a:spLocks noChangeArrowheads="1"/>
          </p:cNvSpPr>
          <p:nvPr/>
        </p:nvSpPr>
        <p:spPr bwMode="auto">
          <a:xfrm>
            <a:off x="179388" y="188913"/>
            <a:ext cx="8785225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8. </a:t>
            </a:r>
            <a:r>
              <a:rPr lang="zh-CN" altLang="en-US" b="1">
                <a:latin typeface="Times New Roman" panose="02020603050405020304" pitchFamily="18" charset="0"/>
              </a:rPr>
              <a:t>一长为</a:t>
            </a:r>
            <a:r>
              <a:rPr lang="en-US" altLang="zh-CN" b="1" i="1">
                <a:latin typeface="Times New Roman" panose="02020603050405020304" pitchFamily="18" charset="0"/>
              </a:rPr>
              <a:t>l</a:t>
            </a:r>
            <a:r>
              <a:rPr lang="zh-CN" altLang="en-US" b="1">
                <a:latin typeface="Times New Roman" panose="02020603050405020304" pitchFamily="18" charset="0"/>
              </a:rPr>
              <a:t>、重 </a:t>
            </a:r>
            <a:r>
              <a:rPr lang="en-US" altLang="zh-CN" b="1" i="1">
                <a:latin typeface="Times New Roman" panose="02020603050405020304" pitchFamily="18" charset="0"/>
              </a:rPr>
              <a:t>W </a:t>
            </a:r>
            <a:r>
              <a:rPr lang="zh-CN" altLang="en-US" b="1">
                <a:latin typeface="Times New Roman" panose="02020603050405020304" pitchFamily="18" charset="0"/>
              </a:rPr>
              <a:t>的均匀梯子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靠墙放置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如图所示。梯子下端连一劲度系数为 </a:t>
            </a:r>
            <a:r>
              <a:rPr lang="en-US" altLang="zh-CN" b="1" i="1">
                <a:latin typeface="Times New Roman" panose="02020603050405020304" pitchFamily="18" charset="0"/>
              </a:rPr>
              <a:t>k </a:t>
            </a:r>
            <a:r>
              <a:rPr lang="zh-CN" altLang="en-US" b="1">
                <a:latin typeface="Times New Roman" panose="02020603050405020304" pitchFamily="18" charset="0"/>
              </a:rPr>
              <a:t>的弹簧。当梯子靠墙竖直放置时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弹簧处于自然长度。墙和地面都是光滑的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当梯子依墙而与地面成</a:t>
            </a:r>
            <a:r>
              <a:rPr lang="en-US" altLang="zh-CN" b="1" i="1">
                <a:latin typeface="Times New Roman" panose="02020603050405020304" pitchFamily="18" charset="0"/>
              </a:rPr>
              <a:t>θ</a:t>
            </a:r>
            <a:r>
              <a:rPr lang="zh-CN" altLang="en-US" b="1">
                <a:latin typeface="Times New Roman" panose="02020603050405020304" pitchFamily="18" charset="0"/>
              </a:rPr>
              <a:t>角且处于平衡状态时</a:t>
            </a:r>
            <a:r>
              <a:rPr lang="en-US" altLang="zh-CN" b="1">
                <a:latin typeface="Times New Roman" panose="02020603050405020304" pitchFamily="18" charset="0"/>
              </a:rPr>
              <a:t>, 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地面对梯子的作用力的大小为</a:t>
            </a:r>
            <a:r>
              <a:rPr lang="en-US" altLang="zh-CN" b="1">
                <a:latin typeface="Times New Roman" panose="02020603050405020304" pitchFamily="18" charset="0"/>
              </a:rPr>
              <a:t>______________</a:t>
            </a:r>
            <a:r>
              <a:rPr lang="zh-CN" altLang="en-US" b="1">
                <a:latin typeface="Times New Roman" panose="02020603050405020304" pitchFamily="18" charset="0"/>
              </a:rPr>
              <a:t>；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墙对梯子的作用力的大小为</a:t>
            </a:r>
            <a:r>
              <a:rPr lang="en-US" altLang="zh-CN" b="1">
                <a:latin typeface="Times New Roman" panose="02020603050405020304" pitchFamily="18" charset="0"/>
              </a:rPr>
              <a:t>__________________</a:t>
            </a:r>
            <a:r>
              <a:rPr lang="zh-CN" altLang="en-US" b="1">
                <a:latin typeface="Times New Roman" panose="02020603050405020304" pitchFamily="18" charset="0"/>
              </a:rPr>
              <a:t>；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 i="1">
                <a:latin typeface="Times New Roman" panose="02020603050405020304" pitchFamily="18" charset="0"/>
              </a:rPr>
              <a:t>l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 i="1">
                <a:latin typeface="Times New Roman" panose="02020603050405020304" pitchFamily="18" charset="0"/>
              </a:rPr>
              <a:t>θ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应满足的关系式为</a:t>
            </a:r>
            <a:r>
              <a:rPr lang="en-US" altLang="zh-CN" b="1">
                <a:latin typeface="Times New Roman" panose="02020603050405020304" pitchFamily="18" charset="0"/>
              </a:rPr>
              <a:t>_______________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31092" name="Text Box 20"/>
          <p:cNvSpPr txBox="1">
            <a:spLocks noChangeArrowheads="1"/>
          </p:cNvSpPr>
          <p:nvPr/>
        </p:nvSpPr>
        <p:spPr bwMode="auto">
          <a:xfrm>
            <a:off x="179388" y="3357563"/>
            <a:ext cx="1584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</a:rPr>
              <a:t>解：</a:t>
            </a:r>
          </a:p>
        </p:txBody>
      </p:sp>
      <p:grpSp>
        <p:nvGrpSpPr>
          <p:cNvPr id="131098" name="Group 26"/>
          <p:cNvGrpSpPr>
            <a:grpSpLocks/>
          </p:cNvGrpSpPr>
          <p:nvPr/>
        </p:nvGrpSpPr>
        <p:grpSpPr bwMode="auto">
          <a:xfrm>
            <a:off x="7596188" y="4292600"/>
            <a:ext cx="431800" cy="431800"/>
            <a:chOff x="4785" y="2704"/>
            <a:chExt cx="272" cy="272"/>
          </a:xfrm>
        </p:grpSpPr>
        <p:sp>
          <p:nvSpPr>
            <p:cNvPr id="131094" name="Line 22"/>
            <p:cNvSpPr>
              <a:spLocks noChangeShapeType="1"/>
            </p:cNvSpPr>
            <p:nvPr/>
          </p:nvSpPr>
          <p:spPr bwMode="auto">
            <a:xfrm>
              <a:off x="4785" y="2704"/>
              <a:ext cx="0" cy="2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1096" name="Object 24"/>
            <p:cNvGraphicFramePr>
              <a:graphicFrameLocks noChangeAspect="1"/>
            </p:cNvGraphicFramePr>
            <p:nvPr/>
          </p:nvGraphicFramePr>
          <p:xfrm>
            <a:off x="4826" y="2731"/>
            <a:ext cx="231" cy="24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1214" name="公式" r:id="rId4" imgW="203040" imgH="215640" progId="Equation.3">
                    <p:embed/>
                  </p:oleObj>
                </mc:Choice>
                <mc:Fallback>
                  <p:oleObj name="公式" r:id="rId4" imgW="203040" imgH="2156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6" y="2731"/>
                          <a:ext cx="231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1099" name="Group 27"/>
          <p:cNvGrpSpPr>
            <a:grpSpLocks/>
          </p:cNvGrpSpPr>
          <p:nvPr/>
        </p:nvGrpSpPr>
        <p:grpSpPr bwMode="auto">
          <a:xfrm>
            <a:off x="6877050" y="4365625"/>
            <a:ext cx="407988" cy="576263"/>
            <a:chOff x="4332" y="2750"/>
            <a:chExt cx="257" cy="363"/>
          </a:xfrm>
        </p:grpSpPr>
        <p:sp>
          <p:nvSpPr>
            <p:cNvPr id="131093" name="Line 21"/>
            <p:cNvSpPr>
              <a:spLocks noChangeShapeType="1"/>
            </p:cNvSpPr>
            <p:nvPr/>
          </p:nvSpPr>
          <p:spPr bwMode="auto">
            <a:xfrm flipV="1">
              <a:off x="4558" y="2886"/>
              <a:ext cx="0" cy="2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1097" name="Object 25"/>
            <p:cNvGraphicFramePr>
              <a:graphicFrameLocks noChangeAspect="1"/>
            </p:cNvGraphicFramePr>
            <p:nvPr/>
          </p:nvGraphicFramePr>
          <p:xfrm>
            <a:off x="4332" y="2750"/>
            <a:ext cx="257" cy="27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1215" name="公式" r:id="rId6" imgW="190440" imgH="203040" progId="Equation.3">
                    <p:embed/>
                  </p:oleObj>
                </mc:Choice>
                <mc:Fallback>
                  <p:oleObj name="公式" r:id="rId6" imgW="190440" imgH="2030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750"/>
                          <a:ext cx="25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1103" name="Group 31"/>
          <p:cNvGrpSpPr>
            <a:grpSpLocks/>
          </p:cNvGrpSpPr>
          <p:nvPr/>
        </p:nvGrpSpPr>
        <p:grpSpPr bwMode="auto">
          <a:xfrm>
            <a:off x="7451725" y="3357563"/>
            <a:ext cx="569913" cy="433387"/>
            <a:chOff x="4698" y="2114"/>
            <a:chExt cx="359" cy="273"/>
          </a:xfrm>
        </p:grpSpPr>
        <p:sp>
          <p:nvSpPr>
            <p:cNvPr id="131101" name="Line 29"/>
            <p:cNvSpPr>
              <a:spLocks noChangeShapeType="1"/>
            </p:cNvSpPr>
            <p:nvPr/>
          </p:nvSpPr>
          <p:spPr bwMode="auto">
            <a:xfrm rot="16200000" flipV="1">
              <a:off x="4944" y="2251"/>
              <a:ext cx="0" cy="2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1102" name="Object 30"/>
            <p:cNvGraphicFramePr>
              <a:graphicFrameLocks noChangeAspect="1"/>
            </p:cNvGraphicFramePr>
            <p:nvPr/>
          </p:nvGraphicFramePr>
          <p:xfrm>
            <a:off x="4698" y="2114"/>
            <a:ext cx="223" cy="27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1216" name="公式" r:id="rId8" imgW="164880" imgH="203040" progId="Equation.3">
                    <p:embed/>
                  </p:oleObj>
                </mc:Choice>
                <mc:Fallback>
                  <p:oleObj name="公式" r:id="rId8" imgW="164880" imgH="20304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8" y="2114"/>
                          <a:ext cx="22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1107" name="Group 35"/>
          <p:cNvGrpSpPr>
            <a:grpSpLocks/>
          </p:cNvGrpSpPr>
          <p:nvPr/>
        </p:nvGrpSpPr>
        <p:grpSpPr bwMode="auto">
          <a:xfrm>
            <a:off x="7235825" y="4868863"/>
            <a:ext cx="514350" cy="485775"/>
            <a:chOff x="4558" y="3079"/>
            <a:chExt cx="324" cy="306"/>
          </a:xfrm>
        </p:grpSpPr>
        <p:sp>
          <p:nvSpPr>
            <p:cNvPr id="131105" name="Line 33"/>
            <p:cNvSpPr>
              <a:spLocks noChangeShapeType="1"/>
            </p:cNvSpPr>
            <p:nvPr/>
          </p:nvSpPr>
          <p:spPr bwMode="auto">
            <a:xfrm rot="5400000" flipH="1" flipV="1">
              <a:off x="4672" y="2993"/>
              <a:ext cx="0" cy="2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1106" name="Object 34"/>
            <p:cNvGraphicFramePr>
              <a:graphicFrameLocks noChangeAspect="1"/>
            </p:cNvGraphicFramePr>
            <p:nvPr/>
          </p:nvGraphicFramePr>
          <p:xfrm>
            <a:off x="4606" y="3079"/>
            <a:ext cx="276" cy="30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1217" name="公式" r:id="rId10" imgW="228600" imgH="253800" progId="Equation.3">
                    <p:embed/>
                  </p:oleObj>
                </mc:Choice>
                <mc:Fallback>
                  <p:oleObj name="公式" r:id="rId10" imgW="228600" imgH="2538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" y="3079"/>
                          <a:ext cx="27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1108" name="Text Box 36"/>
          <p:cNvSpPr txBox="1">
            <a:spLocks noChangeArrowheads="1"/>
          </p:cNvSpPr>
          <p:nvPr/>
        </p:nvSpPr>
        <p:spPr bwMode="auto">
          <a:xfrm>
            <a:off x="971550" y="3357563"/>
            <a:ext cx="3455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依据力的平衡</a:t>
            </a:r>
          </a:p>
        </p:txBody>
      </p:sp>
      <p:graphicFrame>
        <p:nvGraphicFramePr>
          <p:cNvPr id="131109" name="Object 37"/>
          <p:cNvGraphicFramePr>
            <a:graphicFrameLocks noChangeAspect="1"/>
          </p:cNvGraphicFramePr>
          <p:nvPr/>
        </p:nvGraphicFramePr>
        <p:xfrm>
          <a:off x="1835150" y="3933825"/>
          <a:ext cx="1330325" cy="3794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1218" name="公式" r:id="rId12" imgW="622080" imgH="177480" progId="Equation.3">
                  <p:embed/>
                </p:oleObj>
              </mc:Choice>
              <mc:Fallback>
                <p:oleObj name="公式" r:id="rId12" imgW="622080" imgH="177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933825"/>
                        <a:ext cx="133032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10" name="Text Box 38"/>
          <p:cNvSpPr txBox="1">
            <a:spLocks noChangeArrowheads="1"/>
          </p:cNvSpPr>
          <p:nvPr/>
        </p:nvSpPr>
        <p:spPr bwMode="auto">
          <a:xfrm>
            <a:off x="6424613" y="1916113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31111" name="Text Box 39"/>
          <p:cNvSpPr txBox="1">
            <a:spLocks noChangeArrowheads="1"/>
          </p:cNvSpPr>
          <p:nvPr/>
        </p:nvSpPr>
        <p:spPr bwMode="auto">
          <a:xfrm>
            <a:off x="250825" y="4365625"/>
            <a:ext cx="3455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依据力的平衡</a:t>
            </a:r>
          </a:p>
        </p:txBody>
      </p:sp>
      <p:graphicFrame>
        <p:nvGraphicFramePr>
          <p:cNvPr id="131112" name="Object 40"/>
          <p:cNvGraphicFramePr>
            <a:graphicFrameLocks noChangeAspect="1"/>
          </p:cNvGraphicFramePr>
          <p:nvPr/>
        </p:nvGraphicFramePr>
        <p:xfrm>
          <a:off x="1403350" y="4868863"/>
          <a:ext cx="2714625" cy="4873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1219" name="公式" r:id="rId14" imgW="1269720" imgH="228600" progId="Equation.3">
                  <p:embed/>
                </p:oleObj>
              </mc:Choice>
              <mc:Fallback>
                <p:oleObj name="公式" r:id="rId14" imgW="126972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868863"/>
                        <a:ext cx="271462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13" name="Text Box 41"/>
          <p:cNvSpPr txBox="1">
            <a:spLocks noChangeArrowheads="1"/>
          </p:cNvSpPr>
          <p:nvPr/>
        </p:nvSpPr>
        <p:spPr bwMode="auto">
          <a:xfrm>
            <a:off x="6156325" y="2349500"/>
            <a:ext cx="985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kl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cos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31114" name="Text Box 42"/>
          <p:cNvSpPr txBox="1">
            <a:spLocks noChangeArrowheads="1"/>
          </p:cNvSpPr>
          <p:nvPr/>
        </p:nvSpPr>
        <p:spPr bwMode="auto">
          <a:xfrm>
            <a:off x="250825" y="5430838"/>
            <a:ext cx="7129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考察所有力对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点的力矩为平衡状态</a:t>
            </a:r>
          </a:p>
        </p:txBody>
      </p:sp>
      <p:graphicFrame>
        <p:nvGraphicFramePr>
          <p:cNvPr id="131115" name="Object 43"/>
          <p:cNvGraphicFramePr>
            <a:graphicFrameLocks noChangeAspect="1"/>
          </p:cNvGraphicFramePr>
          <p:nvPr/>
        </p:nvGraphicFramePr>
        <p:xfrm>
          <a:off x="900113" y="5876925"/>
          <a:ext cx="2986087" cy="8667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1220" name="公式" r:id="rId16" imgW="1396800" imgH="406080" progId="Equation.3">
                  <p:embed/>
                </p:oleObj>
              </mc:Choice>
              <mc:Fallback>
                <p:oleObj name="公式" r:id="rId16" imgW="1396800" imgH="40608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876925"/>
                        <a:ext cx="29860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116" name="Object 44"/>
          <p:cNvGraphicFramePr>
            <a:graphicFrameLocks noChangeAspect="1"/>
          </p:cNvGraphicFramePr>
          <p:nvPr/>
        </p:nvGraphicFramePr>
        <p:xfrm>
          <a:off x="4716463" y="6092825"/>
          <a:ext cx="2144712" cy="3794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1221" name="公式" r:id="rId18" imgW="1002960" imgH="177480" progId="Equation.3">
                  <p:embed/>
                </p:oleObj>
              </mc:Choice>
              <mc:Fallback>
                <p:oleObj name="公式" r:id="rId18" imgW="1002960" imgH="177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6092825"/>
                        <a:ext cx="2144712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17" name="Text Box 45"/>
          <p:cNvSpPr txBox="1">
            <a:spLocks noChangeArrowheads="1"/>
          </p:cNvSpPr>
          <p:nvPr/>
        </p:nvSpPr>
        <p:spPr bwMode="auto">
          <a:xfrm>
            <a:off x="6083300" y="278130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kl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sin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3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131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OOR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1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1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3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47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49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51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53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72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74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76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78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1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60%"/>
                                    </p:animScale>
                                    <p:animScale>
                                      <p:cBhvr>
                                        <p:cTn id="104" dur="166" decel="50%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80%"/>
                                    </p:animScale>
                                    <p:animScale>
                                      <p:cBhvr>
                                        <p:cTn id="106" dur="166" decel="50%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90%"/>
                                    </p:animScale>
                                    <p:animScale>
                                      <p:cBhvr>
                                        <p:cTn id="108" dur="166" decel="50%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100%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95%"/>
                                    </p:animScale>
                                    <p:animScale>
                                      <p:cBhvr>
                                        <p:cTn id="110" dur="166" decel="50%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</p:cBhvr>
                                      <p:to x="100%" y="100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92" grpId="0"/>
      <p:bldP spid="131108" grpId="0"/>
      <p:bldP spid="131110" grpId="0"/>
      <p:bldP spid="131111" grpId="0"/>
      <p:bldP spid="131113" grpId="0"/>
      <p:bldP spid="131114" grpId="0"/>
      <p:bldP spid="131117" grpId="0"/>
    </p:bldLst>
  </p:timing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81000" y="228600"/>
            <a:ext cx="832167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</a:rPr>
              <a:t>9.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一人造地球卫星绕地球作椭圆运动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A</a:t>
            </a:r>
            <a:r>
              <a:rPr kumimoji="1" lang="zh-CN" altLang="en-US" b="1" i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</a:rPr>
              <a:t>B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分别为近地点和远地点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A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</a:rPr>
              <a:t>B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距地心的距离分别为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b="1" baseline="-25%" dirty="0">
                <a:latin typeface="Times New Roman" panose="02020603050405020304" pitchFamily="18" charset="0"/>
              </a:rPr>
              <a:t>1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b="1" baseline="-25%" dirty="0">
                <a:latin typeface="Times New Roman" panose="02020603050405020304" pitchFamily="18" charset="0"/>
              </a:rPr>
              <a:t>2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。   设卫星的质量为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，地球的质量为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，万有引力常量为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G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，则卫星在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</a:rPr>
              <a:t>B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两点处的万有引力势能的差为多少？卫星在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A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</a:rPr>
              <a:t>B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两点处的动能差为多少？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81000" y="2574925"/>
            <a:ext cx="5486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取无穷远为势能零点，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      由万有引力势能公式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zh-CN" altLang="en-US" b="1">
                <a:latin typeface="Times New Roman" panose="02020603050405020304" pitchFamily="18" charset="0"/>
              </a:rPr>
              <a:t>得：  </a:t>
            </a:r>
          </a:p>
        </p:txBody>
      </p:sp>
      <p:grpSp>
        <p:nvGrpSpPr>
          <p:cNvPr id="33798" name="Group 6"/>
          <p:cNvGrpSpPr>
            <a:grpSpLocks/>
          </p:cNvGrpSpPr>
          <p:nvPr/>
        </p:nvGrpSpPr>
        <p:grpSpPr bwMode="auto">
          <a:xfrm>
            <a:off x="5181600" y="2614613"/>
            <a:ext cx="3527425" cy="990600"/>
            <a:chOff x="2246" y="2208"/>
            <a:chExt cx="2222" cy="624"/>
          </a:xfrm>
        </p:grpSpPr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>
              <a:off x="2592" y="2208"/>
              <a:ext cx="1584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0" name="Freeform 8"/>
            <p:cNvSpPr>
              <a:spLocks/>
            </p:cNvSpPr>
            <p:nvPr/>
          </p:nvSpPr>
          <p:spPr bwMode="auto">
            <a:xfrm>
              <a:off x="2580" y="2520"/>
              <a:ext cx="1596" cy="1"/>
            </a:xfrm>
            <a:custGeom>
              <a:avLst/>
              <a:gdLst>
                <a:gd name="T0" fmla="*/ 0 w 1596"/>
                <a:gd name="T1" fmla="*/ 0 h 1"/>
                <a:gd name="T2" fmla="*/ 1596 w 15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96" h="1">
                  <a:moveTo>
                    <a:pt x="0" y="0"/>
                  </a:moveTo>
                  <a:lnTo>
                    <a:pt x="159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Oval 9"/>
            <p:cNvSpPr>
              <a:spLocks noChangeArrowheads="1"/>
            </p:cNvSpPr>
            <p:nvPr/>
          </p:nvSpPr>
          <p:spPr bwMode="auto">
            <a:xfrm>
              <a:off x="2928" y="249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2" name="Text Box 10"/>
            <p:cNvSpPr txBox="1">
              <a:spLocks noChangeArrowheads="1"/>
            </p:cNvSpPr>
            <p:nvPr/>
          </p:nvSpPr>
          <p:spPr bwMode="auto">
            <a:xfrm>
              <a:off x="2246" y="233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4224" y="230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804" name="Text Box 12"/>
            <p:cNvSpPr txBox="1">
              <a:spLocks noChangeArrowheads="1"/>
            </p:cNvSpPr>
            <p:nvPr/>
          </p:nvSpPr>
          <p:spPr bwMode="auto">
            <a:xfrm>
              <a:off x="2673" y="244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%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05" name="Text Box 13"/>
            <p:cNvSpPr txBox="1">
              <a:spLocks noChangeArrowheads="1"/>
            </p:cNvSpPr>
            <p:nvPr/>
          </p:nvSpPr>
          <p:spPr bwMode="auto">
            <a:xfrm>
              <a:off x="3552" y="244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%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06" name="Text Box 14"/>
            <p:cNvSpPr txBox="1">
              <a:spLocks noChangeArrowheads="1"/>
            </p:cNvSpPr>
            <p:nvPr/>
          </p:nvSpPr>
          <p:spPr bwMode="auto">
            <a:xfrm>
              <a:off x="2688" y="2256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latin typeface="Times New Roman" panose="02020603050405020304" pitchFamily="18" charset="0"/>
                </a:rPr>
                <a:t>地心</a:t>
              </a:r>
            </a:p>
          </p:txBody>
        </p:sp>
      </p:grpSp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749300" y="3656013"/>
          <a:ext cx="4446588" cy="9255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3861" name="Equation" r:id="rId3" imgW="2133360" imgH="444240" progId="Equation.3">
                  <p:embed/>
                </p:oleObj>
              </mc:Choice>
              <mc:Fallback>
                <p:oleObj name="Equation" r:id="rId3" imgW="2133360" imgH="4442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3656013"/>
                        <a:ext cx="4446588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5181600" y="3656013"/>
          <a:ext cx="1958975" cy="9255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3862" name="Equation" r:id="rId5" imgW="939600" imgH="444240" progId="Equation.3">
                  <p:embed/>
                </p:oleObj>
              </mc:Choice>
              <mc:Fallback>
                <p:oleObj name="Equation" r:id="rId5" imgW="93960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656013"/>
                        <a:ext cx="195897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468313" y="4643438"/>
            <a:ext cx="77755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latin typeface="Times New Roman" panose="02020603050405020304" pitchFamily="18" charset="0"/>
              </a:rPr>
              <a:t>在</a:t>
            </a:r>
            <a:r>
              <a:rPr kumimoji="1" lang="en-US" altLang="zh-CN" b="1">
                <a:latin typeface="Times New Roman" panose="02020603050405020304" pitchFamily="18" charset="0"/>
              </a:rPr>
              <a:t>A 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B</a:t>
            </a:r>
            <a:r>
              <a:rPr kumimoji="1" lang="en-US" altLang="zh-CN" b="1" i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两点处由卫星和地球组成的系统机械能守恒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zh-CN" altLang="en-US" b="1">
                <a:latin typeface="Times New Roman" panose="02020603050405020304" pitchFamily="18" charset="0"/>
              </a:rPr>
              <a:t>得：</a:t>
            </a:r>
          </a:p>
        </p:txBody>
      </p:sp>
      <p:graphicFrame>
        <p:nvGraphicFramePr>
          <p:cNvPr id="33810" name="Object 18"/>
          <p:cNvGraphicFramePr>
            <a:graphicFrameLocks noChangeAspect="1"/>
          </p:cNvGraphicFramePr>
          <p:nvPr/>
        </p:nvGraphicFramePr>
        <p:xfrm>
          <a:off x="973138" y="5732463"/>
          <a:ext cx="3992562" cy="5778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3863" name="Equation" r:id="rId7" imgW="1663560" imgH="241200" progId="Equation.3">
                  <p:embed/>
                </p:oleObj>
              </mc:Choice>
              <mc:Fallback>
                <p:oleObj name="Equation" r:id="rId7" imgW="166356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5732463"/>
                        <a:ext cx="39925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4948238" y="5599113"/>
          <a:ext cx="2144712" cy="9255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3864" name="Equation" r:id="rId9" imgW="1028520" imgH="444240" progId="Equation.3">
                  <p:embed/>
                </p:oleObj>
              </mc:Choice>
              <mc:Fallback>
                <p:oleObj name="Equation" r:id="rId9" imgW="1028520" imgH="4442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238" y="5599113"/>
                        <a:ext cx="2144712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decel="100%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/>
      <p:bldP spid="33809" grpId="0"/>
    </p:bldLst>
  </p:timing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9" name="Rectangle 3"/>
          <p:cNvSpPr>
            <a:spLocks noChangeArrowheads="1"/>
          </p:cNvSpPr>
          <p:nvPr/>
        </p:nvSpPr>
        <p:spPr bwMode="auto">
          <a:xfrm>
            <a:off x="557336" y="245497"/>
            <a:ext cx="8335144" cy="2677656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altLang="zh-CN" b="1" dirty="0" smtClean="0">
                <a:latin typeface="+mn-ea"/>
              </a:rPr>
              <a:t>10</a:t>
            </a:r>
            <a:r>
              <a:rPr lang="en-US" altLang="zh-CN" b="1" dirty="0">
                <a:latin typeface="+mn-ea"/>
              </a:rPr>
              <a:t>.</a:t>
            </a:r>
            <a:r>
              <a:rPr lang="zh-CN" altLang="en-US" b="1" dirty="0" smtClean="0">
                <a:latin typeface="+mn-ea"/>
                <a:ea typeface="+mn-ea"/>
              </a:rPr>
              <a:t>一根</a:t>
            </a:r>
            <a:r>
              <a:rPr lang="zh-CN" altLang="en-US" b="1" dirty="0">
                <a:latin typeface="+mn-ea"/>
                <a:ea typeface="+mn-ea"/>
              </a:rPr>
              <a:t>不可伸长的轻绳跨过固定</a:t>
            </a:r>
            <a:r>
              <a:rPr lang="zh-CN" altLang="en-US" b="1" dirty="0" smtClean="0">
                <a:latin typeface="+mn-ea"/>
                <a:ea typeface="+mn-ea"/>
              </a:rPr>
              <a:t>在</a:t>
            </a:r>
            <a:r>
              <a:rPr lang="en-US" altLang="zh-CN" b="1" dirty="0">
                <a:latin typeface="+mn-ea"/>
                <a:ea typeface="+mn-ea"/>
              </a:rPr>
              <a:t>O</a:t>
            </a:r>
            <a:r>
              <a:rPr lang="zh-CN" altLang="en-US" b="1" dirty="0" smtClean="0">
                <a:latin typeface="+mn-ea"/>
                <a:ea typeface="+mn-ea"/>
              </a:rPr>
              <a:t>点</a:t>
            </a:r>
            <a:r>
              <a:rPr lang="zh-CN" altLang="en-US" b="1" dirty="0">
                <a:latin typeface="+mn-ea"/>
                <a:ea typeface="+mn-ea"/>
              </a:rPr>
              <a:t>的水平光滑细杆，两端各系一个小球</a:t>
            </a:r>
            <a:r>
              <a:rPr lang="zh-CN" altLang="en-US" b="1" dirty="0" smtClean="0">
                <a:latin typeface="+mn-ea"/>
                <a:ea typeface="+mn-ea"/>
              </a:rPr>
              <a:t>。</a:t>
            </a:r>
            <a:r>
              <a:rPr lang="en-US" altLang="zh-CN" b="1" i="1" dirty="0">
                <a:latin typeface="+mn-ea"/>
                <a:ea typeface="+mn-ea"/>
              </a:rPr>
              <a:t>a</a:t>
            </a:r>
            <a:r>
              <a:rPr lang="en-US" altLang="zh-CN" b="1" i="1" dirty="0" smtClean="0">
                <a:latin typeface="+mn-ea"/>
                <a:ea typeface="+mn-ea"/>
              </a:rPr>
              <a:t> </a:t>
            </a:r>
            <a:r>
              <a:rPr lang="zh-CN" altLang="en-US" b="1" dirty="0" smtClean="0">
                <a:latin typeface="+mn-ea"/>
                <a:ea typeface="+mn-ea"/>
              </a:rPr>
              <a:t>球</a:t>
            </a:r>
            <a:r>
              <a:rPr lang="zh-CN" altLang="en-US" b="1" dirty="0">
                <a:latin typeface="+mn-ea"/>
                <a:ea typeface="+mn-ea"/>
              </a:rPr>
              <a:t>放在地面上，</a:t>
            </a:r>
            <a:r>
              <a:rPr lang="en-US" altLang="zh-CN" b="1" i="1" dirty="0">
                <a:latin typeface="+mn-ea"/>
                <a:ea typeface="+mn-ea"/>
              </a:rPr>
              <a:t>b</a:t>
            </a:r>
            <a:r>
              <a:rPr lang="zh-CN" altLang="en-US" b="1" dirty="0">
                <a:latin typeface="+mn-ea"/>
                <a:ea typeface="+mn-ea"/>
              </a:rPr>
              <a:t>球被拉到水平位置，且绳刚好伸直。从这时开始将</a:t>
            </a:r>
            <a:r>
              <a:rPr lang="en-US" altLang="zh-CN" b="1" i="1" dirty="0">
                <a:latin typeface="+mn-ea"/>
                <a:ea typeface="+mn-ea"/>
              </a:rPr>
              <a:t>b</a:t>
            </a:r>
            <a:r>
              <a:rPr lang="zh-CN" altLang="en-US" b="1" dirty="0">
                <a:latin typeface="+mn-ea"/>
                <a:ea typeface="+mn-ea"/>
              </a:rPr>
              <a:t>球自静止释放。设两球质量相同。</a:t>
            </a:r>
          </a:p>
          <a:p>
            <a:pPr algn="just" eaLnBrk="1" hangingPunct="1"/>
            <a:r>
              <a:rPr lang="zh-CN" altLang="en-US" b="1" dirty="0">
                <a:latin typeface="+mn-ea"/>
                <a:ea typeface="+mn-ea"/>
              </a:rPr>
              <a:t>求：</a:t>
            </a:r>
            <a:r>
              <a:rPr lang="en-US" altLang="zh-CN" b="1" dirty="0">
                <a:latin typeface="+mn-ea"/>
                <a:ea typeface="+mn-ea"/>
              </a:rPr>
              <a:t>(1</a:t>
            </a:r>
            <a:r>
              <a:rPr lang="en-US" altLang="zh-CN" b="1" dirty="0" smtClean="0">
                <a:latin typeface="+mn-ea"/>
                <a:ea typeface="+mn-ea"/>
              </a:rPr>
              <a:t>) </a:t>
            </a:r>
            <a:r>
              <a:rPr lang="en-US" altLang="zh-CN" b="1" i="1" dirty="0" smtClean="0">
                <a:latin typeface="+mn-ea"/>
                <a:ea typeface="+mn-ea"/>
              </a:rPr>
              <a:t>b </a:t>
            </a:r>
            <a:r>
              <a:rPr lang="zh-CN" altLang="en-US" b="1" dirty="0" smtClean="0">
                <a:latin typeface="+mn-ea"/>
                <a:ea typeface="+mn-ea"/>
              </a:rPr>
              <a:t>球</a:t>
            </a:r>
            <a:r>
              <a:rPr lang="zh-CN" altLang="en-US" b="1" dirty="0">
                <a:latin typeface="+mn-ea"/>
                <a:ea typeface="+mn-ea"/>
              </a:rPr>
              <a:t>下摆到与竖直线</a:t>
            </a:r>
            <a:r>
              <a:rPr lang="zh-CN" altLang="en-US" b="1" dirty="0" smtClean="0">
                <a:latin typeface="+mn-ea"/>
                <a:ea typeface="+mn-ea"/>
              </a:rPr>
              <a:t>成</a:t>
            </a:r>
            <a:r>
              <a:rPr lang="el-GR" altLang="zh-CN" b="1" dirty="0" smtClean="0">
                <a:latin typeface="+mn-ea"/>
                <a:ea typeface="+mn-ea"/>
              </a:rPr>
              <a:t>θ</a:t>
            </a:r>
            <a:r>
              <a:rPr lang="zh-CN" altLang="en-US" b="1" dirty="0" smtClean="0">
                <a:latin typeface="+mn-ea"/>
                <a:ea typeface="+mn-ea"/>
              </a:rPr>
              <a:t>角</a:t>
            </a:r>
            <a:r>
              <a:rPr lang="zh-CN" altLang="en-US" b="1" dirty="0">
                <a:latin typeface="+mn-ea"/>
                <a:ea typeface="+mn-ea"/>
              </a:rPr>
              <a:t>时</a:t>
            </a:r>
            <a:r>
              <a:rPr lang="zh-CN" altLang="en-US" b="1" dirty="0" smtClean="0">
                <a:latin typeface="+mn-ea"/>
                <a:ea typeface="+mn-ea"/>
              </a:rPr>
              <a:t>的</a:t>
            </a:r>
            <a:r>
              <a:rPr lang="en-US" altLang="zh-CN" b="1" i="1" dirty="0" smtClean="0">
                <a:latin typeface="+mn-ea"/>
                <a:ea typeface="+mn-ea"/>
              </a:rPr>
              <a:t>v</a:t>
            </a:r>
            <a:r>
              <a:rPr lang="zh-CN" altLang="en-US" b="1" dirty="0" smtClean="0">
                <a:latin typeface="+mn-ea"/>
                <a:ea typeface="+mn-ea"/>
              </a:rPr>
              <a:t> ；</a:t>
            </a:r>
            <a:endParaRPr lang="zh-CN" altLang="en-US" b="1" dirty="0">
              <a:latin typeface="+mn-ea"/>
              <a:ea typeface="+mn-ea"/>
            </a:endParaRPr>
          </a:p>
          <a:p>
            <a:pPr algn="just" eaLnBrk="1" hangingPunct="1"/>
            <a:r>
              <a:rPr lang="zh-CN" altLang="en-US" b="1" dirty="0">
                <a:latin typeface="+mn-ea"/>
                <a:ea typeface="+mn-ea"/>
              </a:rPr>
              <a:t>    </a:t>
            </a:r>
            <a:r>
              <a:rPr lang="en-US" altLang="zh-CN" b="1" dirty="0" smtClean="0">
                <a:latin typeface="+mn-ea"/>
                <a:ea typeface="+mn-ea"/>
              </a:rPr>
              <a:t>(</a:t>
            </a:r>
            <a:r>
              <a:rPr lang="en-US" altLang="zh-CN" b="1" dirty="0">
                <a:latin typeface="+mn-ea"/>
                <a:ea typeface="+mn-ea"/>
              </a:rPr>
              <a:t>2) </a:t>
            </a:r>
            <a:r>
              <a:rPr lang="el-GR" altLang="zh-CN" b="1" dirty="0" smtClean="0">
                <a:latin typeface="+mn-ea"/>
              </a:rPr>
              <a:t>θ</a:t>
            </a:r>
            <a:r>
              <a:rPr lang="en-US" altLang="zh-CN" b="1" dirty="0" smtClean="0">
                <a:latin typeface="+mn-ea"/>
              </a:rPr>
              <a:t>=?</a:t>
            </a:r>
            <a:r>
              <a:rPr lang="zh-CN" altLang="en-US" b="1" dirty="0" smtClean="0">
                <a:latin typeface="+mn-ea"/>
              </a:rPr>
              <a:t>时</a:t>
            </a:r>
            <a:r>
              <a:rPr lang="en-US" altLang="zh-CN" b="1" i="1" dirty="0" smtClean="0">
                <a:latin typeface="+mn-ea"/>
                <a:ea typeface="+mn-ea"/>
              </a:rPr>
              <a:t>a </a:t>
            </a:r>
            <a:r>
              <a:rPr lang="zh-CN" altLang="en-US" b="1" dirty="0">
                <a:latin typeface="+mn-ea"/>
                <a:ea typeface="+mn-ea"/>
              </a:rPr>
              <a:t>球刚好离开地面。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1249611" y="2996952"/>
            <a:ext cx="4697120" cy="954107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  <a:ea typeface="+mn-ea"/>
                <a:sym typeface="Wingdings" pitchFamily="2" charset="2"/>
              </a:rPr>
              <a:t>(1)</a:t>
            </a:r>
            <a:r>
              <a:rPr lang="zh-CN" altLang="en-US" b="1" dirty="0">
                <a:latin typeface="+mn-ea"/>
                <a:ea typeface="+mn-ea"/>
              </a:rPr>
              <a:t>分析</a:t>
            </a:r>
            <a:r>
              <a:rPr lang="en-US" altLang="zh-CN" b="1" i="1" dirty="0">
                <a:latin typeface="+mn-ea"/>
                <a:ea typeface="+mn-ea"/>
              </a:rPr>
              <a:t>b</a:t>
            </a:r>
            <a:r>
              <a:rPr lang="zh-CN" altLang="en-US" b="1" dirty="0" smtClean="0">
                <a:latin typeface="+mn-ea"/>
                <a:ea typeface="+mn-ea"/>
              </a:rPr>
              <a:t>运动</a:t>
            </a:r>
            <a:r>
              <a:rPr lang="en-US" altLang="zh-CN" b="1" dirty="0" smtClean="0">
                <a:latin typeface="+mn-ea"/>
                <a:ea typeface="+mn-ea"/>
              </a:rPr>
              <a:t>,</a:t>
            </a:r>
            <a:r>
              <a:rPr lang="zh-CN" altLang="en-US" b="1" dirty="0">
                <a:latin typeface="+mn-ea"/>
              </a:rPr>
              <a:t>选自然坐标系</a:t>
            </a:r>
          </a:p>
          <a:p>
            <a:pPr algn="l" eaLnBrk="1" hangingPunct="1"/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7428" name="Rectangle 9"/>
          <p:cNvSpPr>
            <a:spLocks noChangeArrowheads="1"/>
          </p:cNvSpPr>
          <p:nvPr/>
        </p:nvSpPr>
        <p:spPr bwMode="auto">
          <a:xfrm>
            <a:off x="452436" y="3596544"/>
            <a:ext cx="7977631" cy="52322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b="1" i="1" dirty="0" smtClean="0">
                <a:latin typeface="+mn-ea"/>
                <a:ea typeface="+mn-ea"/>
              </a:rPr>
              <a:t>a </a:t>
            </a:r>
            <a:r>
              <a:rPr lang="zh-CN" altLang="en-US" b="1" dirty="0" smtClean="0">
                <a:latin typeface="+mn-ea"/>
                <a:ea typeface="+mn-ea"/>
              </a:rPr>
              <a:t>球</a:t>
            </a:r>
            <a:r>
              <a:rPr lang="zh-CN" altLang="en-US" b="1" dirty="0">
                <a:latin typeface="+mn-ea"/>
                <a:ea typeface="+mn-ea"/>
              </a:rPr>
              <a:t>离开地面前</a:t>
            </a:r>
            <a:r>
              <a:rPr lang="en-US" altLang="zh-CN" b="1" i="1" dirty="0" smtClean="0">
                <a:latin typeface="+mn-ea"/>
                <a:ea typeface="+mn-ea"/>
              </a:rPr>
              <a:t>b </a:t>
            </a:r>
            <a:r>
              <a:rPr lang="zh-CN" altLang="en-US" b="1" dirty="0" smtClean="0">
                <a:latin typeface="+mn-ea"/>
                <a:ea typeface="+mn-ea"/>
              </a:rPr>
              <a:t>做</a:t>
            </a:r>
            <a:r>
              <a:rPr lang="zh-CN" altLang="en-US" b="1" dirty="0">
                <a:latin typeface="+mn-ea"/>
                <a:ea typeface="+mn-ea"/>
              </a:rPr>
              <a:t>半径为 </a:t>
            </a:r>
            <a:r>
              <a:rPr lang="en-US" altLang="zh-CN" b="1" i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b="1" i="1" baseline="-25%" dirty="0" err="1" smtClean="0">
                <a:latin typeface="+mn-ea"/>
                <a:ea typeface="+mn-ea"/>
              </a:rPr>
              <a:t>b</a:t>
            </a:r>
            <a:r>
              <a:rPr lang="zh-CN" altLang="en-US" b="1" i="1" dirty="0" smtClean="0">
                <a:latin typeface="+mn-ea"/>
                <a:ea typeface="+mn-ea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的竖直圆周运动</a:t>
            </a:r>
            <a:r>
              <a:rPr lang="zh-CN" altLang="en-US" b="1" i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395536" y="3011240"/>
            <a:ext cx="898525" cy="519112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b="1" dirty="0">
                <a:latin typeface="+mn-ea"/>
                <a:ea typeface="+mn-ea"/>
              </a:rPr>
              <a:t>解：</a:t>
            </a:r>
            <a:endParaRPr lang="en-US" b="1" dirty="0">
              <a:latin typeface="+mn-ea"/>
              <a:ea typeface="+mn-ea"/>
              <a:sym typeface="Wingdings" pitchFamily="2" charset="2"/>
            </a:endParaRPr>
          </a:p>
        </p:txBody>
      </p:sp>
      <p:grpSp>
        <p:nvGrpSpPr>
          <p:cNvPr id="22" name="Group 10"/>
          <p:cNvGrpSpPr>
            <a:grpSpLocks/>
          </p:cNvGrpSpPr>
          <p:nvPr/>
        </p:nvGrpSpPr>
        <p:grpSpPr bwMode="auto">
          <a:xfrm>
            <a:off x="6753668" y="4437112"/>
            <a:ext cx="2114550" cy="2195513"/>
            <a:chOff x="4188" y="192"/>
            <a:chExt cx="1332" cy="1383"/>
          </a:xfrm>
        </p:grpSpPr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4622" y="591"/>
              <a:ext cx="384" cy="506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12" descr="沙滩"/>
            <p:cNvSpPr>
              <a:spLocks noChangeArrowheads="1"/>
            </p:cNvSpPr>
            <p:nvPr/>
          </p:nvSpPr>
          <p:spPr bwMode="auto">
            <a:xfrm>
              <a:off x="4188" y="1431"/>
              <a:ext cx="1056" cy="144"/>
            </a:xfrm>
            <a:prstGeom prst="rect">
              <a:avLst/>
            </a:prstGeom>
            <a:blipFill dpi="0" rotWithShape="0">
              <a:blip r:embed="rId4" cstate="print"/>
              <a:srcRect/>
              <a:tile tx="0" ty="0" sx="100%" sy="100%" flip="none" algn="tl"/>
            </a:blipFill>
            <a:ln w="9525">
              <a:noFill/>
              <a:miter lim="800%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4284" y="1095"/>
              <a:ext cx="829" cy="47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lang="en-US" altLang="zh-CN" b="1" i="1">
                  <a:solidFill>
                    <a:srgbClr val="0000CC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4476" y="1239"/>
              <a:ext cx="192" cy="192"/>
            </a:xfrm>
            <a:prstGeom prst="ellipse">
              <a:avLst/>
            </a:prstGeom>
            <a:gradFill rotWithShape="0">
              <a:gsLst>
                <a:gs pos="0%">
                  <a:srgbClr val="FFFFCC"/>
                </a:gs>
                <a:gs pos="100%">
                  <a:srgbClr val="FF9933"/>
                </a:gs>
              </a:gsLst>
              <a:path path="shape">
                <a:fillToRect l="50%" t="50%" r="50%" b="50%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27" name="Oval 15"/>
            <p:cNvSpPr>
              <a:spLocks noChangeArrowheads="1"/>
            </p:cNvSpPr>
            <p:nvPr/>
          </p:nvSpPr>
          <p:spPr bwMode="auto">
            <a:xfrm>
              <a:off x="5244" y="471"/>
              <a:ext cx="192" cy="192"/>
            </a:xfrm>
            <a:prstGeom prst="ellipse">
              <a:avLst/>
            </a:prstGeom>
            <a:gradFill rotWithShape="0">
              <a:gsLst>
                <a:gs pos="0%">
                  <a:srgbClr val="FFFFCC"/>
                </a:gs>
                <a:gs pos="100%">
                  <a:srgbClr val="FF9933"/>
                </a:gs>
              </a:gsLst>
              <a:path path="shape">
                <a:fillToRect l="50%" t="50%" r="50%" b="50%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4284" y="375"/>
              <a:ext cx="336" cy="336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lang="en-US" altLang="zh-CN" b="1">
                  <a:solidFill>
                    <a:srgbClr val="0000CC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9" name="Text Box 17"/>
            <p:cNvSpPr txBox="1">
              <a:spLocks noChangeArrowheads="1"/>
            </p:cNvSpPr>
            <p:nvPr/>
          </p:nvSpPr>
          <p:spPr bwMode="auto">
            <a:xfrm>
              <a:off x="5292" y="192"/>
              <a:ext cx="228" cy="32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 i="1">
                  <a:solidFill>
                    <a:srgbClr val="0000CC"/>
                  </a:solidFill>
                  <a:ea typeface="宋体" pitchFamily="2" charset="-122"/>
                </a:rPr>
                <a:t>b</a:t>
              </a:r>
            </a:p>
          </p:txBody>
        </p:sp>
        <p:graphicFrame>
          <p:nvGraphicFramePr>
            <p:cNvPr id="30" name="Object 18"/>
            <p:cNvGraphicFramePr>
              <a:graphicFrameLocks noChangeAspect="1"/>
            </p:cNvGraphicFramePr>
            <p:nvPr/>
          </p:nvGraphicFramePr>
          <p:xfrm>
            <a:off x="4860" y="279"/>
            <a:ext cx="172" cy="29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2158" name="Equation" r:id="rId5" imgW="266400" imgH="457200" progId="Equation.3">
                    <p:embed/>
                  </p:oleObj>
                </mc:Choice>
                <mc:Fallback>
                  <p:oleObj name="Equation" r:id="rId5" imgW="266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279"/>
                          <a:ext cx="172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4572" y="585"/>
              <a:ext cx="768" cy="654"/>
            </a:xfrm>
            <a:custGeom>
              <a:avLst/>
              <a:gdLst>
                <a:gd name="T0" fmla="*/ 0 w 765"/>
                <a:gd name="T1" fmla="*/ 346 h 702"/>
                <a:gd name="T2" fmla="*/ 0 w 765"/>
                <a:gd name="T3" fmla="*/ 43 h 702"/>
                <a:gd name="T4" fmla="*/ 93 w 765"/>
                <a:gd name="T5" fmla="*/ 0 h 702"/>
                <a:gd name="T6" fmla="*/ 795 w 765"/>
                <a:gd name="T7" fmla="*/ 0 h 7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5"/>
                <a:gd name="T13" fmla="*/ 0 h 702"/>
                <a:gd name="T14" fmla="*/ 765 w 765"/>
                <a:gd name="T15" fmla="*/ 702 h 7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5" h="702">
                  <a:moveTo>
                    <a:pt x="0" y="702"/>
                  </a:moveTo>
                  <a:cubicBezTo>
                    <a:pt x="0" y="497"/>
                    <a:pt x="0" y="291"/>
                    <a:pt x="0" y="86"/>
                  </a:cubicBezTo>
                  <a:lnTo>
                    <a:pt x="93" y="0"/>
                  </a:lnTo>
                  <a:lnTo>
                    <a:pt x="765" y="0"/>
                  </a:ln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20"/>
            <p:cNvSpPr>
              <a:spLocks noChangeArrowheads="1"/>
            </p:cNvSpPr>
            <p:nvPr/>
          </p:nvSpPr>
          <p:spPr bwMode="auto">
            <a:xfrm>
              <a:off x="4548" y="559"/>
              <a:ext cx="144" cy="144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3399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" name="Object 21"/>
            <p:cNvGraphicFramePr>
              <a:graphicFrameLocks noChangeAspect="1"/>
            </p:cNvGraphicFramePr>
            <p:nvPr/>
          </p:nvGraphicFramePr>
          <p:xfrm>
            <a:off x="5004" y="759"/>
            <a:ext cx="184" cy="24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2159" name="Equation" r:id="rId7" imgW="291960" imgH="380880" progId="Equation.3">
                    <p:embed/>
                  </p:oleObj>
                </mc:Choice>
                <mc:Fallback>
                  <p:oleObj name="Equation" r:id="rId7" imgW="29196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" y="759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2"/>
            <p:cNvGraphicFramePr>
              <a:graphicFrameLocks noChangeAspect="1"/>
            </p:cNvGraphicFramePr>
            <p:nvPr/>
          </p:nvGraphicFramePr>
          <p:xfrm>
            <a:off x="5148" y="1191"/>
            <a:ext cx="344" cy="24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2160" name="Equation" r:id="rId9" imgW="545760" imgH="393480" progId="Equation.3">
                    <p:embed/>
                  </p:oleObj>
                </mc:Choice>
                <mc:Fallback>
                  <p:oleObj name="Equation" r:id="rId9" imgW="545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1191"/>
                          <a:ext cx="344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23"/>
            <p:cNvSpPr>
              <a:spLocks noChangeShapeType="1"/>
            </p:cNvSpPr>
            <p:nvPr/>
          </p:nvSpPr>
          <p:spPr bwMode="auto">
            <a:xfrm flipH="1">
              <a:off x="5052" y="1167"/>
              <a:ext cx="0" cy="24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4"/>
            <p:cNvSpPr>
              <a:spLocks/>
            </p:cNvSpPr>
            <p:nvPr/>
          </p:nvSpPr>
          <p:spPr bwMode="auto">
            <a:xfrm>
              <a:off x="4894" y="945"/>
              <a:ext cx="153" cy="199"/>
            </a:xfrm>
            <a:custGeom>
              <a:avLst/>
              <a:gdLst>
                <a:gd name="T0" fmla="*/ 153 w 153"/>
                <a:gd name="T1" fmla="*/ 199 h 199"/>
                <a:gd name="T2" fmla="*/ 0 w 153"/>
                <a:gd name="T3" fmla="*/ 0 h 199"/>
                <a:gd name="T4" fmla="*/ 0 60000 65536"/>
                <a:gd name="T5" fmla="*/ 0 60000 65536"/>
                <a:gd name="T6" fmla="*/ 0 w 153"/>
                <a:gd name="T7" fmla="*/ 0 h 199"/>
                <a:gd name="T8" fmla="*/ 153 w 153"/>
                <a:gd name="T9" fmla="*/ 199 h 1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99">
                  <a:moveTo>
                    <a:pt x="153" y="19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Oval 25"/>
            <p:cNvSpPr>
              <a:spLocks noChangeArrowheads="1"/>
            </p:cNvSpPr>
            <p:nvPr/>
          </p:nvSpPr>
          <p:spPr bwMode="auto">
            <a:xfrm>
              <a:off x="4956" y="1071"/>
              <a:ext cx="192" cy="192"/>
            </a:xfrm>
            <a:prstGeom prst="ellipse">
              <a:avLst/>
            </a:prstGeom>
            <a:noFill/>
            <a:ln w="38100">
              <a:solidFill>
                <a:srgbClr val="FF9933"/>
              </a:solidFill>
              <a:prstDash val="dash"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4568" y="740"/>
              <a:ext cx="158" cy="42"/>
            </a:xfrm>
            <a:custGeom>
              <a:avLst/>
              <a:gdLst>
                <a:gd name="T0" fmla="*/ 0 w 158"/>
                <a:gd name="T1" fmla="*/ 31 h 42"/>
                <a:gd name="T2" fmla="*/ 80 w 158"/>
                <a:gd name="T3" fmla="*/ 37 h 42"/>
                <a:gd name="T4" fmla="*/ 158 w 158"/>
                <a:gd name="T5" fmla="*/ 0 h 42"/>
                <a:gd name="T6" fmla="*/ 0 60000 65536"/>
                <a:gd name="T7" fmla="*/ 0 60000 65536"/>
                <a:gd name="T8" fmla="*/ 0 60000 65536"/>
                <a:gd name="T9" fmla="*/ 0 w 158"/>
                <a:gd name="T10" fmla="*/ 0 h 42"/>
                <a:gd name="T11" fmla="*/ 158 w 158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42">
                  <a:moveTo>
                    <a:pt x="0" y="31"/>
                  </a:moveTo>
                  <a:cubicBezTo>
                    <a:pt x="15" y="30"/>
                    <a:pt x="54" y="42"/>
                    <a:pt x="80" y="37"/>
                  </a:cubicBezTo>
                  <a:cubicBezTo>
                    <a:pt x="106" y="32"/>
                    <a:pt x="142" y="8"/>
                    <a:pt x="158" y="0"/>
                  </a:cubicBez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" name="Object 27"/>
            <p:cNvGraphicFramePr>
              <a:graphicFrameLocks noChangeAspect="1"/>
            </p:cNvGraphicFramePr>
            <p:nvPr/>
          </p:nvGraphicFramePr>
          <p:xfrm>
            <a:off x="4605" y="847"/>
            <a:ext cx="160" cy="20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2161" name="Equation" r:id="rId11" imgW="253800" imgH="330120" progId="Equation.3">
                    <p:embed/>
                  </p:oleObj>
                </mc:Choice>
                <mc:Fallback>
                  <p:oleObj name="Equation" r:id="rId11" imgW="2538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847"/>
                          <a:ext cx="16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452436" y="4208119"/>
            <a:ext cx="5235729" cy="52322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b="1" dirty="0">
                <a:latin typeface="+mn-ea"/>
                <a:ea typeface="+mn-ea"/>
              </a:rPr>
              <a:t>当</a:t>
            </a:r>
            <a:r>
              <a:rPr lang="en-US" altLang="zh-CN" b="1" i="1" dirty="0">
                <a:latin typeface="+mn-ea"/>
                <a:ea typeface="+mn-ea"/>
              </a:rPr>
              <a:t>b </a:t>
            </a:r>
            <a:r>
              <a:rPr lang="zh-CN" altLang="en-US" b="1" dirty="0">
                <a:latin typeface="+mn-ea"/>
                <a:ea typeface="+mn-ea"/>
              </a:rPr>
              <a:t>球下摆到与竖直线</a:t>
            </a:r>
            <a:r>
              <a:rPr lang="zh-CN" altLang="en-US" b="1" dirty="0" smtClean="0">
                <a:latin typeface="+mn-ea"/>
                <a:ea typeface="+mn-ea"/>
              </a:rPr>
              <a:t>成</a:t>
            </a:r>
            <a:r>
              <a:rPr lang="el-GR" altLang="zh-CN" b="1" dirty="0" smtClean="0">
                <a:latin typeface="+mn-ea"/>
                <a:ea typeface="+mn-ea"/>
              </a:rPr>
              <a:t>θ</a:t>
            </a:r>
            <a:r>
              <a:rPr lang="zh-CN" altLang="en-US" b="1" dirty="0" smtClean="0">
                <a:latin typeface="+mn-ea"/>
                <a:ea typeface="+mn-ea"/>
              </a:rPr>
              <a:t>角</a:t>
            </a:r>
            <a:r>
              <a:rPr lang="zh-CN" altLang="en-US" b="1" dirty="0">
                <a:latin typeface="+mn-ea"/>
                <a:ea typeface="+mn-ea"/>
              </a:rPr>
              <a:t>时</a:t>
            </a:r>
          </a:p>
        </p:txBody>
      </p:sp>
      <p:graphicFrame>
        <p:nvGraphicFramePr>
          <p:cNvPr id="4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410650"/>
              </p:ext>
            </p:extLst>
          </p:nvPr>
        </p:nvGraphicFramePr>
        <p:xfrm>
          <a:off x="886917" y="4727625"/>
          <a:ext cx="4800600" cy="201136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2162" name="Equation" r:id="rId13" imgW="4940280" imgH="2070000" progId="Equation.3">
                  <p:embed/>
                </p:oleObj>
              </mc:Choice>
              <mc:Fallback>
                <p:oleObj name="Equation" r:id="rId13" imgW="4940280" imgH="20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917" y="4727625"/>
                        <a:ext cx="4800600" cy="201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154554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9" grpId="0" autoUpdateAnimBg="0"/>
      <p:bldP spid="17428" grpId="0"/>
      <p:bldP spid="69643" grpId="0" autoUpdateAnimBg="0"/>
      <p:bldP spid="40" grpId="0"/>
    </p:bldLst>
  </p:timing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745275"/>
              </p:ext>
            </p:extLst>
          </p:nvPr>
        </p:nvGraphicFramePr>
        <p:xfrm>
          <a:off x="1920109" y="1169144"/>
          <a:ext cx="5959475" cy="12969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3272" name="Equation" r:id="rId4" imgW="2476440" imgH="571320" progId="Equation.DSMT4">
                  <p:embed/>
                </p:oleObj>
              </mc:Choice>
              <mc:Fallback>
                <p:oleObj name="Equation" r:id="rId4" imgW="247644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09" y="1169144"/>
                        <a:ext cx="5959475" cy="1296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44373"/>
              </p:ext>
            </p:extLst>
          </p:nvPr>
        </p:nvGraphicFramePr>
        <p:xfrm>
          <a:off x="2573368" y="2343445"/>
          <a:ext cx="3429000" cy="4730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3273" name="Equation" r:id="rId6" imgW="3619440" imgH="495000" progId="Equation.3">
                  <p:embed/>
                </p:oleObj>
              </mc:Choice>
              <mc:Fallback>
                <p:oleObj name="Equation" r:id="rId6" imgW="361944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68" y="2343445"/>
                        <a:ext cx="34290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56356" y="387127"/>
            <a:ext cx="2222426" cy="60960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 defTabSz="762000">
              <a:spcBef>
                <a:spcPct val="20%"/>
              </a:spcBef>
            </a:pPr>
            <a:r>
              <a:rPr lang="zh-CN" altLang="en-US" b="1" dirty="0">
                <a:latin typeface="+mn-ea"/>
                <a:ea typeface="+mn-ea"/>
              </a:rPr>
              <a:t>由</a:t>
            </a:r>
            <a:r>
              <a:rPr lang="en-US" altLang="zh-CN" b="1" dirty="0">
                <a:latin typeface="+mn-ea"/>
                <a:ea typeface="+mn-ea"/>
              </a:rPr>
              <a:t>(2) </a:t>
            </a:r>
            <a:r>
              <a:rPr lang="zh-CN" altLang="en-US" b="1" dirty="0">
                <a:latin typeface="+mn-ea"/>
                <a:ea typeface="+mn-ea"/>
              </a:rPr>
              <a:t>式得</a:t>
            </a:r>
          </a:p>
        </p:txBody>
      </p:sp>
      <p:graphicFrame>
        <p:nvGraphicFramePr>
          <p:cNvPr id="134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079970"/>
              </p:ext>
            </p:extLst>
          </p:nvPr>
        </p:nvGraphicFramePr>
        <p:xfrm>
          <a:off x="2678782" y="295052"/>
          <a:ext cx="4191000" cy="8953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3274" name="Equation" r:id="rId8" imgW="4165560" imgH="888840" progId="Equation.3">
                  <p:embed/>
                </p:oleObj>
              </mc:Choice>
              <mc:Fallback>
                <p:oleObj name="Equation" r:id="rId8" imgW="4165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782" y="295052"/>
                        <a:ext cx="41910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354547" y="2801888"/>
            <a:ext cx="3229744" cy="60960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lIns="92075" tIns="46038" rIns="92075" bIns="46038"/>
          <a:lstStyle/>
          <a:p>
            <a:pPr marL="342900" indent="-342900" algn="just" defTabSz="762000">
              <a:spcBef>
                <a:spcPct val="20%"/>
              </a:spcBef>
            </a:pPr>
            <a:r>
              <a:rPr lang="en-US" altLang="zh-CN" b="1" dirty="0">
                <a:latin typeface="+mn-ea"/>
                <a:ea typeface="+mn-ea"/>
              </a:rPr>
              <a:t>(2)  </a:t>
            </a:r>
            <a:r>
              <a:rPr lang="zh-CN" altLang="en-US" b="1" dirty="0">
                <a:latin typeface="+mn-ea"/>
                <a:ea typeface="+mn-ea"/>
              </a:rPr>
              <a:t>分析</a:t>
            </a:r>
            <a:r>
              <a:rPr lang="en-US" altLang="zh-CN" b="1" i="1" dirty="0" smtClean="0">
                <a:latin typeface="+mn-ea"/>
                <a:ea typeface="+mn-ea"/>
              </a:rPr>
              <a:t>a </a:t>
            </a:r>
            <a:r>
              <a:rPr lang="zh-CN" altLang="en-US" b="1" dirty="0" smtClean="0">
                <a:latin typeface="+mn-ea"/>
                <a:ea typeface="+mn-ea"/>
              </a:rPr>
              <a:t>运动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686637" y="3411488"/>
            <a:ext cx="4881465" cy="52322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latin typeface="+mn-ea"/>
                <a:ea typeface="+mn-ea"/>
              </a:rPr>
              <a:t>当 </a:t>
            </a:r>
            <a:r>
              <a:rPr lang="en-US" altLang="zh-CN" b="1" i="1" dirty="0">
                <a:latin typeface="+mn-ea"/>
                <a:ea typeface="+mn-ea"/>
              </a:rPr>
              <a:t>T = mg</a:t>
            </a: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时，</a:t>
            </a:r>
            <a:r>
              <a:rPr lang="en-US" altLang="zh-CN" b="1" i="1" dirty="0">
                <a:latin typeface="+mn-ea"/>
                <a:ea typeface="+mn-ea"/>
              </a:rPr>
              <a:t>a </a:t>
            </a:r>
            <a:r>
              <a:rPr lang="zh-CN" altLang="en-US" b="1" dirty="0">
                <a:latin typeface="+mn-ea"/>
                <a:ea typeface="+mn-ea"/>
              </a:rPr>
              <a:t>球刚好离地</a:t>
            </a:r>
            <a:endParaRPr lang="zh-CN" altLang="zh-CN" b="1" dirty="0">
              <a:latin typeface="+mn-ea"/>
              <a:ea typeface="+mn-ea"/>
            </a:endParaRPr>
          </a:p>
        </p:txBody>
      </p:sp>
      <p:graphicFrame>
        <p:nvGraphicFramePr>
          <p:cNvPr id="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304718"/>
              </p:ext>
            </p:extLst>
          </p:nvPr>
        </p:nvGraphicFramePr>
        <p:xfrm>
          <a:off x="1892578" y="5749528"/>
          <a:ext cx="1798638" cy="9604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3275" name="Equation" r:id="rId10" imgW="1663560" imgH="888840" progId="Equation.3">
                  <p:embed/>
                </p:oleObj>
              </mc:Choice>
              <mc:Fallback>
                <p:oleObj name="Equation" r:id="rId10" imgW="1663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578" y="5749528"/>
                        <a:ext cx="17986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%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6"/>
          <p:cNvGrpSpPr>
            <a:grpSpLocks/>
          </p:cNvGrpSpPr>
          <p:nvPr/>
        </p:nvGrpSpPr>
        <p:grpSpPr bwMode="auto">
          <a:xfrm>
            <a:off x="6483098" y="1734401"/>
            <a:ext cx="2114550" cy="2362200"/>
            <a:chOff x="384" y="2016"/>
            <a:chExt cx="1332" cy="1488"/>
          </a:xfrm>
        </p:grpSpPr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818" y="2415"/>
              <a:ext cx="384" cy="506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8" descr="沙滩"/>
            <p:cNvSpPr>
              <a:spLocks noChangeArrowheads="1"/>
            </p:cNvSpPr>
            <p:nvPr/>
          </p:nvSpPr>
          <p:spPr bwMode="auto">
            <a:xfrm>
              <a:off x="384" y="3255"/>
              <a:ext cx="1056" cy="144"/>
            </a:xfrm>
            <a:prstGeom prst="rect">
              <a:avLst/>
            </a:prstGeom>
            <a:blipFill dpi="0" rotWithShape="0">
              <a:blip r:embed="rId12" cstate="print"/>
              <a:srcRect/>
              <a:tile tx="0" ty="0" sx="100%" sy="100%" flip="none" algn="tl"/>
            </a:blipFill>
            <a:ln w="9525">
              <a:noFill/>
              <a:miter lim="800%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480" y="2919"/>
              <a:ext cx="829" cy="47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lang="en-US" altLang="zh-CN" b="1" i="1">
                  <a:solidFill>
                    <a:srgbClr val="0000CC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37" name="Oval 10"/>
            <p:cNvSpPr>
              <a:spLocks noChangeArrowheads="1"/>
            </p:cNvSpPr>
            <p:nvPr/>
          </p:nvSpPr>
          <p:spPr bwMode="auto">
            <a:xfrm>
              <a:off x="672" y="3063"/>
              <a:ext cx="192" cy="192"/>
            </a:xfrm>
            <a:prstGeom prst="ellipse">
              <a:avLst/>
            </a:prstGeom>
            <a:gradFill rotWithShape="0">
              <a:gsLst>
                <a:gs pos="0%">
                  <a:srgbClr val="FFFFCC"/>
                </a:gs>
                <a:gs pos="100%">
                  <a:srgbClr val="FF9933"/>
                </a:gs>
              </a:gsLst>
              <a:path path="shape">
                <a:fillToRect l="50%" t="50%" r="50%" b="50%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38" name="Oval 11"/>
            <p:cNvSpPr>
              <a:spLocks noChangeArrowheads="1"/>
            </p:cNvSpPr>
            <p:nvPr/>
          </p:nvSpPr>
          <p:spPr bwMode="auto">
            <a:xfrm>
              <a:off x="1440" y="2295"/>
              <a:ext cx="192" cy="192"/>
            </a:xfrm>
            <a:prstGeom prst="ellipse">
              <a:avLst/>
            </a:prstGeom>
            <a:gradFill rotWithShape="0">
              <a:gsLst>
                <a:gs pos="0%">
                  <a:srgbClr val="FFFFCC"/>
                </a:gs>
                <a:gs pos="100%">
                  <a:srgbClr val="FF9933"/>
                </a:gs>
              </a:gsLst>
              <a:path path="shape">
                <a:fillToRect l="50%" t="50%" r="50%" b="50%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480" y="2199"/>
              <a:ext cx="336" cy="336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lang="en-US" altLang="zh-CN" b="1">
                  <a:solidFill>
                    <a:srgbClr val="0000CC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1488" y="2016"/>
              <a:ext cx="228" cy="32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 i="1">
                  <a:solidFill>
                    <a:srgbClr val="0000CC"/>
                  </a:solidFill>
                  <a:ea typeface="宋体" pitchFamily="2" charset="-122"/>
                </a:rPr>
                <a:t>b</a:t>
              </a:r>
            </a:p>
          </p:txBody>
        </p:sp>
        <p:graphicFrame>
          <p:nvGraphicFramePr>
            <p:cNvPr id="41" name="Object 14"/>
            <p:cNvGraphicFramePr>
              <a:graphicFrameLocks noChangeAspect="1"/>
            </p:cNvGraphicFramePr>
            <p:nvPr/>
          </p:nvGraphicFramePr>
          <p:xfrm>
            <a:off x="1056" y="2103"/>
            <a:ext cx="172" cy="29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76" name="Equation" r:id="rId13" imgW="266400" imgH="457200" progId="Equation.3">
                    <p:embed/>
                  </p:oleObj>
                </mc:Choice>
                <mc:Fallback>
                  <p:oleObj name="Equation" r:id="rId13" imgW="266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103"/>
                          <a:ext cx="172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Freeform 15"/>
            <p:cNvSpPr>
              <a:spLocks/>
            </p:cNvSpPr>
            <p:nvPr/>
          </p:nvSpPr>
          <p:spPr bwMode="auto">
            <a:xfrm>
              <a:off x="768" y="2409"/>
              <a:ext cx="768" cy="654"/>
            </a:xfrm>
            <a:custGeom>
              <a:avLst/>
              <a:gdLst>
                <a:gd name="T0" fmla="*/ 0 w 765"/>
                <a:gd name="T1" fmla="*/ 346 h 702"/>
                <a:gd name="T2" fmla="*/ 0 w 765"/>
                <a:gd name="T3" fmla="*/ 43 h 702"/>
                <a:gd name="T4" fmla="*/ 93 w 765"/>
                <a:gd name="T5" fmla="*/ 0 h 702"/>
                <a:gd name="T6" fmla="*/ 795 w 765"/>
                <a:gd name="T7" fmla="*/ 0 h 7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5"/>
                <a:gd name="T13" fmla="*/ 0 h 702"/>
                <a:gd name="T14" fmla="*/ 765 w 765"/>
                <a:gd name="T15" fmla="*/ 702 h 7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5" h="702">
                  <a:moveTo>
                    <a:pt x="0" y="702"/>
                  </a:moveTo>
                  <a:cubicBezTo>
                    <a:pt x="0" y="497"/>
                    <a:pt x="0" y="291"/>
                    <a:pt x="0" y="86"/>
                  </a:cubicBezTo>
                  <a:lnTo>
                    <a:pt x="93" y="0"/>
                  </a:lnTo>
                  <a:lnTo>
                    <a:pt x="765" y="0"/>
                  </a:ln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16"/>
            <p:cNvSpPr>
              <a:spLocks noChangeArrowheads="1"/>
            </p:cNvSpPr>
            <p:nvPr/>
          </p:nvSpPr>
          <p:spPr bwMode="auto">
            <a:xfrm>
              <a:off x="744" y="2383"/>
              <a:ext cx="144" cy="144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3399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" name="Object 17"/>
            <p:cNvGraphicFramePr>
              <a:graphicFrameLocks noChangeAspect="1"/>
            </p:cNvGraphicFramePr>
            <p:nvPr/>
          </p:nvGraphicFramePr>
          <p:xfrm>
            <a:off x="1200" y="2583"/>
            <a:ext cx="184" cy="24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77" name="Equation" r:id="rId15" imgW="291960" imgH="380880" progId="Equation.3">
                    <p:embed/>
                  </p:oleObj>
                </mc:Choice>
                <mc:Fallback>
                  <p:oleObj name="Equation" r:id="rId15" imgW="29196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583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18"/>
            <p:cNvGraphicFramePr>
              <a:graphicFrameLocks noChangeAspect="1"/>
            </p:cNvGraphicFramePr>
            <p:nvPr/>
          </p:nvGraphicFramePr>
          <p:xfrm>
            <a:off x="1344" y="3015"/>
            <a:ext cx="344" cy="24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78" name="Equation" r:id="rId17" imgW="545760" imgH="393480" progId="Equation.3">
                    <p:embed/>
                  </p:oleObj>
                </mc:Choice>
                <mc:Fallback>
                  <p:oleObj name="Equation" r:id="rId17" imgW="545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015"/>
                          <a:ext cx="344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19"/>
            <p:cNvSpPr>
              <a:spLocks noChangeShapeType="1"/>
            </p:cNvSpPr>
            <p:nvPr/>
          </p:nvSpPr>
          <p:spPr bwMode="auto">
            <a:xfrm flipH="1">
              <a:off x="1248" y="2991"/>
              <a:ext cx="0" cy="24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0"/>
            <p:cNvSpPr>
              <a:spLocks/>
            </p:cNvSpPr>
            <p:nvPr/>
          </p:nvSpPr>
          <p:spPr bwMode="auto">
            <a:xfrm>
              <a:off x="1090" y="2769"/>
              <a:ext cx="153" cy="199"/>
            </a:xfrm>
            <a:custGeom>
              <a:avLst/>
              <a:gdLst>
                <a:gd name="T0" fmla="*/ 153 w 153"/>
                <a:gd name="T1" fmla="*/ 199 h 199"/>
                <a:gd name="T2" fmla="*/ 0 w 153"/>
                <a:gd name="T3" fmla="*/ 0 h 199"/>
                <a:gd name="T4" fmla="*/ 0 60000 65536"/>
                <a:gd name="T5" fmla="*/ 0 60000 65536"/>
                <a:gd name="T6" fmla="*/ 0 w 153"/>
                <a:gd name="T7" fmla="*/ 0 h 199"/>
                <a:gd name="T8" fmla="*/ 153 w 153"/>
                <a:gd name="T9" fmla="*/ 199 h 1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99">
                  <a:moveTo>
                    <a:pt x="153" y="19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Oval 21"/>
            <p:cNvSpPr>
              <a:spLocks noChangeArrowheads="1"/>
            </p:cNvSpPr>
            <p:nvPr/>
          </p:nvSpPr>
          <p:spPr bwMode="auto">
            <a:xfrm>
              <a:off x="1152" y="2895"/>
              <a:ext cx="192" cy="192"/>
            </a:xfrm>
            <a:prstGeom prst="ellipse">
              <a:avLst/>
            </a:prstGeom>
            <a:noFill/>
            <a:ln w="38100">
              <a:solidFill>
                <a:srgbClr val="FF9933"/>
              </a:solidFill>
              <a:prstDash val="dash"/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1" hangingPunct="1"/>
              <a:endParaRPr lang="en-US" altLang="zh-CN" sz="2400">
                <a:solidFill>
                  <a:srgbClr val="0000CC"/>
                </a:solidFill>
                <a:ea typeface="宋体" pitchFamily="2" charset="-122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764" y="2564"/>
              <a:ext cx="158" cy="42"/>
            </a:xfrm>
            <a:custGeom>
              <a:avLst/>
              <a:gdLst>
                <a:gd name="T0" fmla="*/ 0 w 158"/>
                <a:gd name="T1" fmla="*/ 31 h 42"/>
                <a:gd name="T2" fmla="*/ 80 w 158"/>
                <a:gd name="T3" fmla="*/ 37 h 42"/>
                <a:gd name="T4" fmla="*/ 158 w 158"/>
                <a:gd name="T5" fmla="*/ 0 h 42"/>
                <a:gd name="T6" fmla="*/ 0 60000 65536"/>
                <a:gd name="T7" fmla="*/ 0 60000 65536"/>
                <a:gd name="T8" fmla="*/ 0 60000 65536"/>
                <a:gd name="T9" fmla="*/ 0 w 158"/>
                <a:gd name="T10" fmla="*/ 0 h 42"/>
                <a:gd name="T11" fmla="*/ 158 w 158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42">
                  <a:moveTo>
                    <a:pt x="0" y="31"/>
                  </a:moveTo>
                  <a:cubicBezTo>
                    <a:pt x="15" y="30"/>
                    <a:pt x="54" y="42"/>
                    <a:pt x="80" y="37"/>
                  </a:cubicBezTo>
                  <a:cubicBezTo>
                    <a:pt x="106" y="32"/>
                    <a:pt x="142" y="8"/>
                    <a:pt x="158" y="0"/>
                  </a:cubicBez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" name="Object 23"/>
            <p:cNvGraphicFramePr>
              <a:graphicFrameLocks noChangeAspect="1"/>
            </p:cNvGraphicFramePr>
            <p:nvPr/>
          </p:nvGraphicFramePr>
          <p:xfrm>
            <a:off x="801" y="2671"/>
            <a:ext cx="160" cy="20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79" name="Equation" r:id="rId19" imgW="253800" imgH="330120" progId="Equation.3">
                    <p:embed/>
                  </p:oleObj>
                </mc:Choice>
                <mc:Fallback>
                  <p:oleObj name="Equation" r:id="rId19" imgW="2538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" y="2671"/>
                          <a:ext cx="16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24"/>
            <p:cNvSpPr>
              <a:spLocks noChangeShapeType="1"/>
            </p:cNvSpPr>
            <p:nvPr/>
          </p:nvSpPr>
          <p:spPr bwMode="auto">
            <a:xfrm flipV="1">
              <a:off x="768" y="2928"/>
              <a:ext cx="0" cy="24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768" y="3168"/>
              <a:ext cx="0" cy="19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" name="Object 26"/>
            <p:cNvGraphicFramePr>
              <a:graphicFrameLocks noChangeAspect="1"/>
            </p:cNvGraphicFramePr>
            <p:nvPr/>
          </p:nvGraphicFramePr>
          <p:xfrm>
            <a:off x="816" y="2880"/>
            <a:ext cx="184" cy="24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80" name="Equation" r:id="rId21" imgW="291960" imgH="380880" progId="Equation.3">
                    <p:embed/>
                  </p:oleObj>
                </mc:Choice>
                <mc:Fallback>
                  <p:oleObj name="Equation" r:id="rId21" imgW="29196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880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27"/>
            <p:cNvGraphicFramePr>
              <a:graphicFrameLocks noChangeAspect="1"/>
            </p:cNvGraphicFramePr>
            <p:nvPr/>
          </p:nvGraphicFramePr>
          <p:xfrm>
            <a:off x="808" y="3256"/>
            <a:ext cx="344" cy="24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3281" name="Equation" r:id="rId23" imgW="545760" imgH="393480" progId="Equation.3">
                    <p:embed/>
                  </p:oleObj>
                </mc:Choice>
                <mc:Fallback>
                  <p:oleObj name="Equation" r:id="rId23" imgW="545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8" y="3256"/>
                          <a:ext cx="344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28"/>
          <p:cNvGrpSpPr>
            <a:grpSpLocks/>
          </p:cNvGrpSpPr>
          <p:nvPr/>
        </p:nvGrpSpPr>
        <p:grpSpPr bwMode="auto">
          <a:xfrm>
            <a:off x="6775992" y="4543719"/>
            <a:ext cx="1547812" cy="1662113"/>
            <a:chOff x="3729" y="2352"/>
            <a:chExt cx="975" cy="1047"/>
          </a:xfrm>
        </p:grpSpPr>
        <p:sp>
          <p:nvSpPr>
            <p:cNvPr id="56" name="Oval 29"/>
            <p:cNvSpPr>
              <a:spLocks noChangeArrowheads="1"/>
            </p:cNvSpPr>
            <p:nvPr/>
          </p:nvSpPr>
          <p:spPr bwMode="auto">
            <a:xfrm>
              <a:off x="4032" y="2736"/>
              <a:ext cx="192" cy="192"/>
            </a:xfrm>
            <a:prstGeom prst="ellipse">
              <a:avLst/>
            </a:prstGeom>
            <a:solidFill>
              <a:srgbClr val="FF99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30" descr="宽上对角线"/>
            <p:cNvSpPr>
              <a:spLocks noChangeArrowheads="1"/>
            </p:cNvSpPr>
            <p:nvPr/>
          </p:nvSpPr>
          <p:spPr bwMode="auto">
            <a:xfrm>
              <a:off x="3792" y="2928"/>
              <a:ext cx="912" cy="144"/>
            </a:xfrm>
            <a:prstGeom prst="rect">
              <a:avLst/>
            </a:prstGeom>
            <a:pattFill prst="wdUpDiag">
              <a:fgClr>
                <a:srgbClr val="CCCC00"/>
              </a:fgClr>
              <a:bgClr>
                <a:srgbClr val="FFFFFF"/>
              </a:bgClr>
            </a:pattFill>
            <a:ln w="9525">
              <a:solidFill>
                <a:srgbClr val="CCCC00"/>
              </a:solidFill>
              <a:miter lim="800%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Text Box 31"/>
            <p:cNvSpPr txBox="1">
              <a:spLocks noChangeArrowheads="1"/>
            </p:cNvSpPr>
            <p:nvPr/>
          </p:nvSpPr>
          <p:spPr bwMode="auto">
            <a:xfrm>
              <a:off x="3744" y="2649"/>
              <a:ext cx="228" cy="32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 i="1">
                  <a:ea typeface="宋体" pitchFamily="2" charset="-122"/>
                </a:rPr>
                <a:t>a</a:t>
              </a:r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>
              <a:off x="4128" y="287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Text Box 33"/>
            <p:cNvSpPr txBox="1">
              <a:spLocks noChangeArrowheads="1"/>
            </p:cNvSpPr>
            <p:nvPr/>
          </p:nvSpPr>
          <p:spPr bwMode="auto">
            <a:xfrm>
              <a:off x="4128" y="3072"/>
              <a:ext cx="569" cy="327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1" hangingPunct="1"/>
              <a:r>
                <a:rPr lang="en-US" altLang="zh-CN" b="1" i="1" dirty="0">
                  <a:ea typeface="宋体" pitchFamily="2" charset="-122"/>
                </a:rPr>
                <a:t>mg</a:t>
              </a:r>
            </a:p>
          </p:txBody>
        </p:sp>
        <p:sp>
          <p:nvSpPr>
            <p:cNvPr id="61" name="Line 34"/>
            <p:cNvSpPr>
              <a:spLocks noChangeShapeType="1"/>
            </p:cNvSpPr>
            <p:nvPr/>
          </p:nvSpPr>
          <p:spPr bwMode="auto">
            <a:xfrm flipV="1">
              <a:off x="4080" y="2496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35"/>
            <p:cNvSpPr>
              <a:spLocks noChangeShapeType="1"/>
            </p:cNvSpPr>
            <p:nvPr/>
          </p:nvSpPr>
          <p:spPr bwMode="auto">
            <a:xfrm flipV="1">
              <a:off x="4176" y="2496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Text Box 36"/>
            <p:cNvSpPr txBox="1">
              <a:spLocks noChangeArrowheads="1"/>
            </p:cNvSpPr>
            <p:nvPr/>
          </p:nvSpPr>
          <p:spPr bwMode="auto">
            <a:xfrm>
              <a:off x="3729" y="2352"/>
              <a:ext cx="255" cy="288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2400" b="1" i="1">
                  <a:ea typeface="宋体" pitchFamily="2" charset="-122"/>
                </a:rPr>
                <a:t>N</a:t>
              </a:r>
            </a:p>
          </p:txBody>
        </p:sp>
        <p:sp>
          <p:nvSpPr>
            <p:cNvPr id="64" name="Text Box 37"/>
            <p:cNvSpPr txBox="1">
              <a:spLocks noChangeArrowheads="1"/>
            </p:cNvSpPr>
            <p:nvPr/>
          </p:nvSpPr>
          <p:spPr bwMode="auto">
            <a:xfrm>
              <a:off x="4224" y="2400"/>
              <a:ext cx="384" cy="288"/>
            </a:xfrm>
            <a:prstGeom prst="rect">
              <a:avLst/>
            </a:prstGeom>
            <a:noFill/>
            <a:ln w="9525">
              <a:noFill/>
              <a:miter lim="800%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/>
              <a:r>
                <a:rPr lang="en-US" altLang="zh-CN" sz="2400" b="1" i="1">
                  <a:ea typeface="宋体" pitchFamily="2" charset="-122"/>
                </a:rPr>
                <a:t>T</a:t>
              </a:r>
            </a:p>
          </p:txBody>
        </p:sp>
      </p:grpSp>
      <p:graphicFrame>
        <p:nvGraphicFramePr>
          <p:cNvPr id="65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086685"/>
              </p:ext>
            </p:extLst>
          </p:nvPr>
        </p:nvGraphicFramePr>
        <p:xfrm>
          <a:off x="840559" y="5123175"/>
          <a:ext cx="4011612" cy="5334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3282" name="Equation" r:id="rId25" imgW="1523880" imgH="203040" progId="Equation.DSMT4">
                  <p:embed/>
                </p:oleObj>
              </mc:Choice>
              <mc:Fallback>
                <p:oleObj name="Equation" r:id="rId25" imgW="1523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59" y="5123175"/>
                        <a:ext cx="40116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%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7703" y="4021088"/>
            <a:ext cx="5122068" cy="9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5315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utoUpdateAnimBg="0"/>
    </p:bldLst>
  </p:timing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8026400" y="44211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8002588" y="32131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</a:p>
        </p:txBody>
      </p:sp>
      <p:grpSp>
        <p:nvGrpSpPr>
          <p:cNvPr id="22538" name="Group 10"/>
          <p:cNvGrpSpPr>
            <a:grpSpLocks/>
          </p:cNvGrpSpPr>
          <p:nvPr/>
        </p:nvGrpSpPr>
        <p:grpSpPr bwMode="auto">
          <a:xfrm>
            <a:off x="7521575" y="3354388"/>
            <a:ext cx="1009650" cy="3062287"/>
            <a:chOff x="2902" y="1752"/>
            <a:chExt cx="636" cy="1929"/>
          </a:xfrm>
        </p:grpSpPr>
        <p:sp>
          <p:nvSpPr>
            <p:cNvPr id="22539" name="Text Box 11"/>
            <p:cNvSpPr txBox="1">
              <a:spLocks noChangeArrowheads="1"/>
            </p:cNvSpPr>
            <p:nvPr/>
          </p:nvSpPr>
          <p:spPr bwMode="auto">
            <a:xfrm>
              <a:off x="2902" y="199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0" name="Rectangle 12"/>
            <p:cNvSpPr>
              <a:spLocks noChangeArrowheads="1"/>
            </p:cNvSpPr>
            <p:nvPr/>
          </p:nvSpPr>
          <p:spPr bwMode="auto">
            <a:xfrm>
              <a:off x="3286" y="1944"/>
              <a:ext cx="96" cy="1440"/>
            </a:xfrm>
            <a:prstGeom prst="rect">
              <a:avLst/>
            </a:prstGeom>
            <a:gradFill rotWithShape="1">
              <a:gsLst>
                <a:gs pos="0%">
                  <a:srgbClr val="FFFFCC">
                    <a:gamma/>
                    <a:shade val="56.078%"/>
                    <a:invGamma/>
                  </a:srgbClr>
                </a:gs>
                <a:gs pos="50%">
                  <a:srgbClr val="FFFFCC"/>
                </a:gs>
                <a:gs pos="100%">
                  <a:srgbClr val="FFFFCC">
                    <a:gamma/>
                    <a:shade val="56.078%"/>
                    <a:invGamma/>
                  </a:srgbClr>
                </a:gs>
              </a:gsLst>
              <a:lin ang="0" scaled="1"/>
            </a:gradFill>
            <a:ln w="9525">
              <a:solidFill>
                <a:schemeClr val="tx2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    </a:t>
              </a:r>
            </a:p>
          </p:txBody>
        </p:sp>
        <p:sp>
          <p:nvSpPr>
            <p:cNvPr id="22541" name="Text Box 13"/>
            <p:cNvSpPr txBox="1">
              <a:spLocks noChangeArrowheads="1"/>
            </p:cNvSpPr>
            <p:nvPr/>
          </p:nvSpPr>
          <p:spPr bwMode="auto">
            <a:xfrm>
              <a:off x="3190" y="339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3250" y="175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22543" name="Group 15"/>
          <p:cNvGrpSpPr>
            <a:grpSpLocks/>
          </p:cNvGrpSpPr>
          <p:nvPr/>
        </p:nvGrpSpPr>
        <p:grpSpPr bwMode="auto">
          <a:xfrm>
            <a:off x="8289925" y="3670300"/>
            <a:ext cx="457200" cy="2289175"/>
            <a:chOff x="3353" y="1943"/>
            <a:chExt cx="288" cy="1442"/>
          </a:xfrm>
        </p:grpSpPr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3353" y="247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>
              <a:off x="3379" y="194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18"/>
            <p:cNvSpPr>
              <a:spLocks noChangeShapeType="1"/>
            </p:cNvSpPr>
            <p:nvPr/>
          </p:nvSpPr>
          <p:spPr bwMode="auto">
            <a:xfrm>
              <a:off x="3379" y="33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>
              <a:off x="3454" y="2840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 rot="10800000">
              <a:off x="3450" y="1958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49" name="Group 21"/>
          <p:cNvGrpSpPr>
            <a:grpSpLocks/>
          </p:cNvGrpSpPr>
          <p:nvPr/>
        </p:nvGrpSpPr>
        <p:grpSpPr bwMode="auto">
          <a:xfrm>
            <a:off x="7639050" y="3670300"/>
            <a:ext cx="473075" cy="1844675"/>
            <a:chOff x="3006" y="1951"/>
            <a:chExt cx="298" cy="1162"/>
          </a:xfrm>
        </p:grpSpPr>
        <p:sp>
          <p:nvSpPr>
            <p:cNvPr id="22550" name="Line 22"/>
            <p:cNvSpPr>
              <a:spLocks noChangeShapeType="1"/>
            </p:cNvSpPr>
            <p:nvPr/>
          </p:nvSpPr>
          <p:spPr bwMode="auto">
            <a:xfrm>
              <a:off x="3152" y="31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23"/>
            <p:cNvSpPr>
              <a:spLocks noChangeShapeType="1"/>
            </p:cNvSpPr>
            <p:nvPr/>
          </p:nvSpPr>
          <p:spPr bwMode="auto">
            <a:xfrm>
              <a:off x="3152" y="195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Freeform 24"/>
            <p:cNvSpPr>
              <a:spLocks/>
            </p:cNvSpPr>
            <p:nvPr/>
          </p:nvSpPr>
          <p:spPr bwMode="auto">
            <a:xfrm>
              <a:off x="3216" y="2746"/>
              <a:ext cx="1" cy="367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Freeform 25"/>
            <p:cNvSpPr>
              <a:spLocks/>
            </p:cNvSpPr>
            <p:nvPr/>
          </p:nvSpPr>
          <p:spPr bwMode="auto">
            <a:xfrm>
              <a:off x="3225" y="1951"/>
              <a:ext cx="1" cy="439"/>
            </a:xfrm>
            <a:custGeom>
              <a:avLst/>
              <a:gdLst>
                <a:gd name="T0" fmla="*/ 1 w 1"/>
                <a:gd name="T1" fmla="*/ 439 h 439"/>
                <a:gd name="T2" fmla="*/ 0 w 1"/>
                <a:gd name="T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39">
                  <a:moveTo>
                    <a:pt x="1" y="43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4" name="Object 26"/>
            <p:cNvGraphicFramePr>
              <a:graphicFrameLocks noChangeAspect="1"/>
            </p:cNvGraphicFramePr>
            <p:nvPr/>
          </p:nvGraphicFramePr>
          <p:xfrm>
            <a:off x="3006" y="2341"/>
            <a:ext cx="298" cy="45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6209" name="公式" r:id="rId3" imgW="266400" imgH="406080" progId="Equation.3">
                    <p:embed/>
                  </p:oleObj>
                </mc:Choice>
                <mc:Fallback>
                  <p:oleObj name="公式" r:id="rId3" imgW="26640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2341"/>
                          <a:ext cx="298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325438" y="333375"/>
            <a:ext cx="8567737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 dirty="0" smtClean="0">
                <a:latin typeface="Times New Roman" panose="02020603050405020304" pitchFamily="18" charset="0"/>
              </a:rPr>
              <a:t>11. 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如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图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均匀杆长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L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0.40m,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质量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=1.0kg,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由其上端的光滑水平轴吊起而静止。今有一质量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8.0g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的子弹以 </a:t>
            </a:r>
            <a:r>
              <a:rPr kumimoji="1" lang="en-US" altLang="zh-CN" b="1" i="1" dirty="0">
                <a:latin typeface="Bookman Old Style" panose="02050604050505020204" pitchFamily="18" charset="0"/>
              </a:rPr>
              <a:t>v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200m/s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的速率水平射入杆中而不复出。射入点在轴下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d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3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L</a:t>
            </a:r>
            <a:r>
              <a:rPr kumimoji="1" lang="en-US" altLang="zh-CN" b="1" dirty="0">
                <a:latin typeface="Times New Roman" panose="02020603050405020304" pitchFamily="18" charset="0"/>
              </a:rPr>
              <a:t>/4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处。</a:t>
            </a:r>
            <a:r>
              <a:rPr kumimoji="1"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：</a:t>
            </a:r>
          </a:p>
          <a:p>
            <a:r>
              <a:rPr kumimoji="1" lang="en-US" altLang="zh-CN" b="1" dirty="0">
                <a:latin typeface="Times New Roman" panose="02020603050405020304" pitchFamily="18" charset="0"/>
              </a:rPr>
              <a:t>(1)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子弹停在杆中时杆的角速度；</a:t>
            </a:r>
          </a:p>
          <a:p>
            <a:r>
              <a:rPr kumimoji="1" lang="en-US" altLang="zh-CN" b="1" dirty="0">
                <a:latin typeface="Times New Roman" panose="02020603050405020304" pitchFamily="18" charset="0"/>
              </a:rPr>
              <a:t>(2)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杆的最大偏转角。</a:t>
            </a:r>
          </a:p>
        </p:txBody>
      </p:sp>
      <p:graphicFrame>
        <p:nvGraphicFramePr>
          <p:cNvPr id="22556" name="Object 28"/>
          <p:cNvGraphicFramePr>
            <a:graphicFrameLocks noChangeAspect="1"/>
          </p:cNvGraphicFramePr>
          <p:nvPr/>
        </p:nvGraphicFramePr>
        <p:xfrm>
          <a:off x="1331913" y="3573463"/>
          <a:ext cx="5029200" cy="12731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6210" name="公式" r:id="rId5" imgW="2108160" imgH="533160" progId="Equation.3">
                  <p:embed/>
                </p:oleObj>
              </mc:Choice>
              <mc:Fallback>
                <p:oleObj name="公式" r:id="rId5" imgW="21081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73463"/>
                        <a:ext cx="50292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7" name="Object 29"/>
          <p:cNvGraphicFramePr>
            <a:graphicFrameLocks noChangeAspect="1"/>
          </p:cNvGraphicFramePr>
          <p:nvPr/>
        </p:nvGraphicFramePr>
        <p:xfrm>
          <a:off x="600075" y="4913313"/>
          <a:ext cx="3817938" cy="15398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6211" name="公式" r:id="rId7" imgW="1574640" imgH="634680" progId="Equation.3">
                  <p:embed/>
                </p:oleObj>
              </mc:Choice>
              <mc:Fallback>
                <p:oleObj name="公式" r:id="rId7" imgW="157464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4913313"/>
                        <a:ext cx="3817938" cy="153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8" name="Object 30"/>
          <p:cNvGraphicFramePr>
            <a:graphicFrameLocks noChangeAspect="1"/>
          </p:cNvGraphicFramePr>
          <p:nvPr/>
        </p:nvGraphicFramePr>
        <p:xfrm>
          <a:off x="4343400" y="5187950"/>
          <a:ext cx="1957388" cy="4730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6212" name="Equation" r:id="rId9" imgW="838080" imgH="203040" progId="Equation.3">
                  <p:embed/>
                </p:oleObj>
              </mc:Choice>
              <mc:Fallback>
                <p:oleObj name="Equation" r:id="rId9" imgW="8380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87950"/>
                        <a:ext cx="19573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323850" y="3068638"/>
            <a:ext cx="7304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</a:rPr>
              <a:t>由子弹和杆系统对悬点</a:t>
            </a:r>
            <a:r>
              <a:rPr kumimoji="1" lang="en-US" altLang="zh-CN" b="1">
                <a:latin typeface="Times New Roman" panose="02020603050405020304" pitchFamily="18" charset="0"/>
              </a:rPr>
              <a:t>O</a:t>
            </a:r>
            <a:r>
              <a:rPr kumimoji="1" lang="zh-CN" altLang="en-US" b="1">
                <a:latin typeface="Times New Roman" panose="02020603050405020304" pitchFamily="18" charset="0"/>
              </a:rPr>
              <a:t>的角动量守恒</a:t>
            </a:r>
          </a:p>
        </p:txBody>
      </p:sp>
      <p:grpSp>
        <p:nvGrpSpPr>
          <p:cNvPr id="22566" name="Group 38"/>
          <p:cNvGrpSpPr>
            <a:grpSpLocks/>
          </p:cNvGrpSpPr>
          <p:nvPr/>
        </p:nvGrpSpPr>
        <p:grpSpPr bwMode="auto">
          <a:xfrm>
            <a:off x="6804025" y="4894263"/>
            <a:ext cx="965200" cy="1006475"/>
            <a:chOff x="3969" y="3022"/>
            <a:chExt cx="608" cy="634"/>
          </a:xfrm>
        </p:grpSpPr>
        <p:graphicFrame>
          <p:nvGraphicFramePr>
            <p:cNvPr id="22561" name="Object 33"/>
            <p:cNvGraphicFramePr>
              <a:graphicFrameLocks noChangeAspect="1"/>
            </p:cNvGraphicFramePr>
            <p:nvPr/>
          </p:nvGraphicFramePr>
          <p:xfrm>
            <a:off x="4146" y="3022"/>
            <a:ext cx="256" cy="33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6213" name="公式" r:id="rId11" imgW="177480" imgH="228600" progId="Equation.3">
                    <p:embed/>
                  </p:oleObj>
                </mc:Choice>
                <mc:Fallback>
                  <p:oleObj name="公式" r:id="rId11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6" y="3022"/>
                          <a:ext cx="256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2" name="Line 34"/>
            <p:cNvSpPr>
              <a:spLocks noChangeShapeType="1"/>
            </p:cNvSpPr>
            <p:nvPr/>
          </p:nvSpPr>
          <p:spPr bwMode="auto">
            <a:xfrm>
              <a:off x="4241" y="3401"/>
              <a:ext cx="336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3" name="Text Box 35"/>
            <p:cNvSpPr txBox="1">
              <a:spLocks noChangeArrowheads="1"/>
            </p:cNvSpPr>
            <p:nvPr/>
          </p:nvSpPr>
          <p:spPr bwMode="auto">
            <a:xfrm>
              <a:off x="3969" y="336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64" name="AutoShape 36"/>
            <p:cNvSpPr>
              <a:spLocks noChangeArrowheads="1"/>
            </p:cNvSpPr>
            <p:nvPr/>
          </p:nvSpPr>
          <p:spPr bwMode="auto">
            <a:xfrm>
              <a:off x="4040" y="3367"/>
              <a:ext cx="182" cy="91"/>
            </a:xfrm>
            <a:prstGeom prst="homePlate">
              <a:avLst>
                <a:gd name="adj" fmla="val 50000"/>
              </a:avLst>
            </a:prstGeom>
            <a:gradFill rotWithShape="1">
              <a:gsLst>
                <a:gs pos="0%">
                  <a:srgbClr val="FF7C80">
                    <a:gamma/>
                    <a:shade val="66.274%"/>
                    <a:invGamma/>
                  </a:srgbClr>
                </a:gs>
                <a:gs pos="50%">
                  <a:srgbClr val="FF7C80"/>
                </a:gs>
                <a:gs pos="100%">
                  <a:srgbClr val="FF7C80">
                    <a:gamma/>
                    <a:shade val="66.274%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%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355333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9" grpId="0" autoUpdateAnimBg="0"/>
    </p:bldLst>
  </p:timing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871538" y="1082675"/>
          <a:ext cx="7964487" cy="112236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7227" name="Equation" r:id="rId3" imgW="3327120" imgH="444240" progId="Equation.3">
                  <p:embed/>
                </p:oleObj>
              </mc:Choice>
              <mc:Fallback>
                <p:oleObj name="Equation" r:id="rId3" imgW="3327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082675"/>
                        <a:ext cx="79644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827088" y="2806700"/>
          <a:ext cx="5338762" cy="21304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7228" name="Equation" r:id="rId5" imgW="2197080" imgH="876240" progId="Equation.3">
                  <p:embed/>
                </p:oleObj>
              </mc:Choice>
              <mc:Fallback>
                <p:oleObj name="Equation" r:id="rId5" imgW="219708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06700"/>
                        <a:ext cx="5338762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6197600" y="3573463"/>
          <a:ext cx="1712913" cy="5080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7229" name="Equation" r:id="rId7" imgW="533160" imgH="203040" progId="Equation.3">
                  <p:embed/>
                </p:oleObj>
              </mc:Choice>
              <mc:Fallback>
                <p:oleObj name="Equation" r:id="rId7" imgW="533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3573463"/>
                        <a:ext cx="1712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23850" y="404813"/>
            <a:ext cx="6313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对杆、子弹和地球，由机械能守恒得</a:t>
            </a: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436563" y="2333625"/>
            <a:ext cx="125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latin typeface="Times New Roman" panose="02020603050405020304" pitchFamily="18" charset="0"/>
              </a:rPr>
              <a:t>由此得</a:t>
            </a:r>
          </a:p>
        </p:txBody>
      </p:sp>
    </p:spTree>
    <p:extLst>
      <p:ext uri="{BB962C8B-B14F-4D97-AF65-F5344CB8AC3E}">
        <p14:creationId xmlns:p14="http://schemas.microsoft.com/office/powerpoint/2010/main" val="39863123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 autoUpdateAnimBg="0"/>
    </p:bldLst>
  </p:timing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8392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 dirty="0">
                <a:latin typeface="Times New Roman" panose="02020603050405020304" pitchFamily="18" charset="0"/>
              </a:rPr>
              <a:t>12.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一根长为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l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细绳的一端固定于光滑水平面上的</a:t>
            </a:r>
            <a:r>
              <a:rPr kumimoji="1" lang="en-US" altLang="zh-CN" b="1" dirty="0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点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另一端系一质量为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的小球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开始时绳子是松弛的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小球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与</a:t>
            </a:r>
            <a:r>
              <a:rPr kumimoji="1" lang="en-US" altLang="zh-CN" b="1" dirty="0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点的距离为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h</a:t>
            </a:r>
            <a:r>
              <a:rPr kumimoji="1" lang="en-US" altLang="zh-CN" b="1" dirty="0">
                <a:latin typeface="Times New Roman" panose="02020603050405020304" pitchFamily="18" charset="0"/>
              </a:rPr>
              <a:t>; 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使小球以某个初速率沿该光滑水平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面上一直线运动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该直线垂直于小球初始位置与</a:t>
            </a:r>
            <a:r>
              <a:rPr kumimoji="1" lang="en-US" altLang="zh-CN" b="1" dirty="0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点的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连线</a:t>
            </a:r>
            <a:r>
              <a:rPr kumimoji="1" lang="en-US" altLang="zh-CN" b="1" dirty="0">
                <a:latin typeface="Times New Roman" panose="02020603050405020304" pitchFamily="18" charset="0"/>
              </a:rPr>
              <a:t>;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当小球与</a:t>
            </a:r>
            <a:r>
              <a:rPr kumimoji="1" lang="en-US" altLang="zh-CN" b="1" dirty="0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点的距离达到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l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时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绳子绷紧从而使小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球沿一个以</a:t>
            </a:r>
            <a:r>
              <a:rPr kumimoji="1" lang="en-US" altLang="zh-CN" b="1" dirty="0">
                <a:latin typeface="Times New Roman" panose="02020603050405020304" pitchFamily="18" charset="0"/>
              </a:rPr>
              <a:t>O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点为圆心的圆形轨迹运动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则小球作圆周</a:t>
            </a:r>
          </a:p>
          <a:p>
            <a:r>
              <a:rPr kumimoji="1" lang="zh-CN" altLang="en-US" b="1" dirty="0">
                <a:latin typeface="Times New Roman" panose="02020603050405020304" pitchFamily="18" charset="0"/>
              </a:rPr>
              <a:t>运动时的动能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%" dirty="0" err="1">
                <a:latin typeface="Times New Roman" panose="02020603050405020304" pitchFamily="18" charset="0"/>
              </a:rPr>
              <a:t>k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与初动能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%" dirty="0">
                <a:latin typeface="Times New Roman" panose="02020603050405020304" pitchFamily="18" charset="0"/>
              </a:rPr>
              <a:t>k</a:t>
            </a:r>
            <a:r>
              <a:rPr kumimoji="1" lang="en-US" altLang="zh-CN" b="1" baseline="-25%" dirty="0">
                <a:latin typeface="Times New Roman" panose="02020603050405020304" pitchFamily="18" charset="0"/>
              </a:rPr>
              <a:t>0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的比值</a:t>
            </a:r>
            <a:r>
              <a:rPr kumimoji="1" lang="en-US" altLang="zh-CN" b="1" i="1" dirty="0" err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%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b="1" dirty="0">
                <a:latin typeface="Times New Roman" panose="02020603050405020304" pitchFamily="18" charset="0"/>
              </a:rPr>
              <a:t>/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%" dirty="0">
                <a:latin typeface="Times New Roman" panose="02020603050405020304" pitchFamily="18" charset="0"/>
              </a:rPr>
              <a:t>k</a:t>
            </a:r>
            <a:r>
              <a:rPr kumimoji="1" lang="en-US" altLang="zh-CN" b="1" baseline="-25%" dirty="0">
                <a:latin typeface="Times New Roman" panose="02020603050405020304" pitchFamily="18" charset="0"/>
              </a:rPr>
              <a:t>0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=_________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250825" y="3429000"/>
            <a:ext cx="5905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小球受力对</a:t>
            </a:r>
            <a:r>
              <a:rPr kumimoji="1" lang="en-US" altLang="zh-CN" b="1">
                <a:latin typeface="Times New Roman" panose="02020603050405020304" pitchFamily="18" charset="0"/>
              </a:rPr>
              <a:t>O</a:t>
            </a:r>
            <a:r>
              <a:rPr kumimoji="1" lang="zh-CN" altLang="en-US" b="1">
                <a:latin typeface="Times New Roman" panose="02020603050405020304" pitchFamily="18" charset="0"/>
              </a:rPr>
              <a:t>点的力矩为零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小球对</a:t>
            </a:r>
            <a:r>
              <a:rPr kumimoji="1" lang="en-US" altLang="zh-CN" b="1">
                <a:latin typeface="Times New Roman" panose="02020603050405020304" pitchFamily="18" charset="0"/>
              </a:rPr>
              <a:t>O</a:t>
            </a:r>
            <a:r>
              <a:rPr kumimoji="1" lang="zh-CN" altLang="en-US" b="1">
                <a:latin typeface="Times New Roman" panose="02020603050405020304" pitchFamily="18" charset="0"/>
              </a:rPr>
              <a:t>点的角动量守恒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27672" name="Group 24"/>
          <p:cNvGrpSpPr>
            <a:grpSpLocks/>
          </p:cNvGrpSpPr>
          <p:nvPr/>
        </p:nvGrpSpPr>
        <p:grpSpPr bwMode="auto">
          <a:xfrm>
            <a:off x="5940425" y="3860800"/>
            <a:ext cx="2493963" cy="1897063"/>
            <a:chOff x="3742" y="2432"/>
            <a:chExt cx="1571" cy="1195"/>
          </a:xfrm>
        </p:grpSpPr>
        <p:sp>
          <p:nvSpPr>
            <p:cNvPr id="27655" name="Freeform 7"/>
            <p:cNvSpPr>
              <a:spLocks/>
            </p:cNvSpPr>
            <p:nvPr/>
          </p:nvSpPr>
          <p:spPr bwMode="auto">
            <a:xfrm rot="526068">
              <a:off x="3939" y="2958"/>
              <a:ext cx="771" cy="408"/>
            </a:xfrm>
            <a:custGeom>
              <a:avLst/>
              <a:gdLst>
                <a:gd name="T0" fmla="*/ 0 w 840"/>
                <a:gd name="T1" fmla="*/ 0 h 330"/>
                <a:gd name="T2" fmla="*/ 288 w 840"/>
                <a:gd name="T3" fmla="*/ 36 h 330"/>
                <a:gd name="T4" fmla="*/ 336 w 840"/>
                <a:gd name="T5" fmla="*/ 84 h 330"/>
                <a:gd name="T6" fmla="*/ 408 w 840"/>
                <a:gd name="T7" fmla="*/ 132 h 330"/>
                <a:gd name="T8" fmla="*/ 432 w 840"/>
                <a:gd name="T9" fmla="*/ 168 h 330"/>
                <a:gd name="T10" fmla="*/ 504 w 840"/>
                <a:gd name="T11" fmla="*/ 216 h 330"/>
                <a:gd name="T12" fmla="*/ 840 w 840"/>
                <a:gd name="T13" fmla="*/ 30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330">
                  <a:moveTo>
                    <a:pt x="0" y="0"/>
                  </a:moveTo>
                  <a:cubicBezTo>
                    <a:pt x="123" y="7"/>
                    <a:pt x="186" y="2"/>
                    <a:pt x="288" y="36"/>
                  </a:cubicBezTo>
                  <a:cubicBezTo>
                    <a:pt x="308" y="97"/>
                    <a:pt x="284" y="55"/>
                    <a:pt x="336" y="84"/>
                  </a:cubicBezTo>
                  <a:cubicBezTo>
                    <a:pt x="361" y="98"/>
                    <a:pt x="408" y="132"/>
                    <a:pt x="408" y="132"/>
                  </a:cubicBezTo>
                  <a:cubicBezTo>
                    <a:pt x="416" y="144"/>
                    <a:pt x="421" y="159"/>
                    <a:pt x="432" y="168"/>
                  </a:cubicBezTo>
                  <a:cubicBezTo>
                    <a:pt x="454" y="187"/>
                    <a:pt x="504" y="216"/>
                    <a:pt x="504" y="216"/>
                  </a:cubicBezTo>
                  <a:cubicBezTo>
                    <a:pt x="542" y="330"/>
                    <a:pt x="768" y="300"/>
                    <a:pt x="840" y="300"/>
                  </a:cubicBezTo>
                </a:path>
              </a:pathLst>
            </a:custGeom>
            <a:noFill/>
            <a:ln w="38100" cmpd="sng">
              <a:pattFill prst="sphere">
                <a:fgClr>
                  <a:schemeClr val="tx1"/>
                </a:fgClr>
                <a:bgClr>
                  <a:srgbClr val="ECEBB2"/>
                </a:bgClr>
              </a:pattFill>
              <a:prstDash val="solid"/>
              <a:round/>
              <a:headEnd type="oval" w="sm" len="sm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 rot="556053">
              <a:off x="3939" y="2970"/>
              <a:ext cx="816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 flipV="1">
              <a:off x="3969" y="2852"/>
              <a:ext cx="1088" cy="48"/>
            </a:xfrm>
            <a:prstGeom prst="line">
              <a:avLst/>
            </a:prstGeom>
            <a:noFill/>
            <a:ln w="38100">
              <a:pattFill prst="sphere">
                <a:fgClr>
                  <a:schemeClr val="tx1"/>
                </a:fgClr>
                <a:bgClr>
                  <a:srgbClr val="ECEBB2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8" name="Line 10"/>
            <p:cNvSpPr>
              <a:spLocks noChangeShapeType="1"/>
            </p:cNvSpPr>
            <p:nvPr/>
          </p:nvSpPr>
          <p:spPr bwMode="auto">
            <a:xfrm flipV="1">
              <a:off x="4728" y="3089"/>
              <a:ext cx="182" cy="2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9" name="Line 11"/>
            <p:cNvSpPr>
              <a:spLocks noChangeShapeType="1"/>
            </p:cNvSpPr>
            <p:nvPr/>
          </p:nvSpPr>
          <p:spPr bwMode="auto">
            <a:xfrm flipV="1">
              <a:off x="5079" y="2564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0" name="Oval 12"/>
            <p:cNvSpPr>
              <a:spLocks noChangeArrowheads="1"/>
            </p:cNvSpPr>
            <p:nvPr/>
          </p:nvSpPr>
          <p:spPr bwMode="auto">
            <a:xfrm>
              <a:off x="4655" y="3334"/>
              <a:ext cx="96" cy="96"/>
            </a:xfrm>
            <a:prstGeom prst="ellipse">
              <a:avLst/>
            </a:prstGeom>
            <a:gradFill rotWithShape="1">
              <a:gsLst>
                <a:gs pos="0%">
                  <a:srgbClr val="FFFFCC"/>
                </a:gs>
                <a:gs pos="100%">
                  <a:srgbClr val="FFFFCC">
                    <a:gamma/>
                    <a:shade val="46.275%"/>
                    <a:invGamma/>
                  </a:srgbClr>
                </a:gs>
              </a:gsLst>
              <a:path path="shape">
                <a:fillToRect l="50%" t="50%" r="50%" b="50%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1" name="Oval 13"/>
            <p:cNvSpPr>
              <a:spLocks noChangeArrowheads="1"/>
            </p:cNvSpPr>
            <p:nvPr/>
          </p:nvSpPr>
          <p:spPr bwMode="auto">
            <a:xfrm>
              <a:off x="5031" y="2804"/>
              <a:ext cx="96" cy="96"/>
            </a:xfrm>
            <a:prstGeom prst="ellipse">
              <a:avLst/>
            </a:prstGeom>
            <a:gradFill rotWithShape="1">
              <a:gsLst>
                <a:gs pos="0%">
                  <a:srgbClr val="FFFFCC"/>
                </a:gs>
                <a:gs pos="100%">
                  <a:srgbClr val="FFFFCC">
                    <a:gamma/>
                    <a:shade val="46.275%"/>
                    <a:invGamma/>
                  </a:srgbClr>
                </a:gs>
              </a:gsLst>
              <a:path path="shape">
                <a:fillToRect l="50%" t="50%" r="50%" b="50%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62" name="Object 14"/>
            <p:cNvGraphicFramePr>
              <a:graphicFrameLocks noChangeAspect="1"/>
            </p:cNvGraphicFramePr>
            <p:nvPr/>
          </p:nvGraphicFramePr>
          <p:xfrm>
            <a:off x="4922" y="3022"/>
            <a:ext cx="212" cy="31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7697" name="公式" r:id="rId3" imgW="177480" imgH="228600" progId="Equation.3">
                    <p:embed/>
                  </p:oleObj>
                </mc:Choice>
                <mc:Fallback>
                  <p:oleObj name="公式" r:id="rId3" imgW="17748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2" y="3022"/>
                          <a:ext cx="21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15"/>
            <p:cNvGraphicFramePr>
              <a:graphicFrameLocks noChangeAspect="1"/>
            </p:cNvGraphicFramePr>
            <p:nvPr/>
          </p:nvGraphicFramePr>
          <p:xfrm>
            <a:off x="5103" y="2432"/>
            <a:ext cx="210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7698" name="公式" r:id="rId5" imgW="126720" imgH="177480" progId="Equation.3">
                    <p:embed/>
                  </p:oleObj>
                </mc:Choice>
                <mc:Fallback>
                  <p:oleObj name="公式" r:id="rId5" imgW="126720" imgH="1774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2432"/>
                          <a:ext cx="21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4" name="Text Box 16"/>
            <p:cNvSpPr txBox="1">
              <a:spLocks noChangeArrowheads="1"/>
            </p:cNvSpPr>
            <p:nvPr/>
          </p:nvSpPr>
          <p:spPr bwMode="auto">
            <a:xfrm>
              <a:off x="3742" y="2840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7665" name="Text Box 17"/>
            <p:cNvSpPr txBox="1">
              <a:spLocks noChangeArrowheads="1"/>
            </p:cNvSpPr>
            <p:nvPr/>
          </p:nvSpPr>
          <p:spPr bwMode="auto">
            <a:xfrm>
              <a:off x="4150" y="3097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7666" name="Text Box 18"/>
            <p:cNvSpPr txBox="1">
              <a:spLocks noChangeArrowheads="1"/>
            </p:cNvSpPr>
            <p:nvPr/>
          </p:nvSpPr>
          <p:spPr bwMode="auto">
            <a:xfrm>
              <a:off x="4439" y="2614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7667" name="Text Box 19"/>
            <p:cNvSpPr txBox="1">
              <a:spLocks noChangeArrowheads="1"/>
            </p:cNvSpPr>
            <p:nvPr/>
          </p:nvSpPr>
          <p:spPr bwMode="auto">
            <a:xfrm>
              <a:off x="4575" y="3339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</p:grp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1908175" y="4437063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 i="1">
                <a:latin typeface="Times New Roman" panose="02020603050405020304" pitchFamily="18" charset="0"/>
              </a:rPr>
              <a:t>h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</a:rPr>
              <a:t>l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1403350" y="5100638"/>
            <a:ext cx="403225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  <a:buFont typeface="Symbol" panose="05050102010706020507" pitchFamily="18" charset="2"/>
              <a:buChar char="\"/>
            </a:pPr>
            <a:r>
              <a:rPr kumimoji="1" lang="en-US" altLang="zh-CN" b="1" i="1">
                <a:latin typeface="Times New Roman" panose="02020603050405020304" pitchFamily="18" charset="0"/>
              </a:rPr>
              <a:t>       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>
                <a:latin typeface="Times New Roman" panose="02020603050405020304" pitchFamily="18" charset="0"/>
              </a:rPr>
              <a:t>/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</a:rPr>
              <a:t>h</a:t>
            </a:r>
            <a:r>
              <a:rPr kumimoji="1" lang="en-US" altLang="zh-CN" b="1">
                <a:latin typeface="Times New Roman" panose="02020603050405020304" pitchFamily="18" charset="0"/>
              </a:rPr>
              <a:t>/</a:t>
            </a:r>
            <a:r>
              <a:rPr kumimoji="1" lang="en-US" altLang="zh-CN" b="1" i="1">
                <a:latin typeface="Times New Roman" panose="02020603050405020304" pitchFamily="18" charset="0"/>
              </a:rPr>
              <a:t>l       </a:t>
            </a:r>
          </a:p>
          <a:p>
            <a:pPr>
              <a:spcBef>
                <a:spcPct val="50%"/>
              </a:spcBef>
              <a:buFont typeface="Symbol" panose="05050102010706020507" pitchFamily="18" charset="2"/>
              <a:buNone/>
            </a:pPr>
            <a:r>
              <a:rPr kumimoji="1" lang="en-US" altLang="zh-CN" b="1" i="1"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    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b="1" i="1" baseline="-25%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b="1" i="1" baseline="-25%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kumimoji="1" lang="en-US" altLang="zh-CN" b="1" baseline="30%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kumimoji="1"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b="1" baseline="30%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1"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decel="100%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68" grpId="0"/>
      <p:bldP spid="27669" grpId="0"/>
    </p:bldLst>
  </p:timing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179388" y="188913"/>
            <a:ext cx="87630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13. </a:t>
            </a:r>
            <a:r>
              <a:rPr kumimoji="1" lang="zh-CN" altLang="en-US" b="1">
                <a:latin typeface="Times New Roman" panose="02020603050405020304" pitchFamily="18" charset="0"/>
              </a:rPr>
              <a:t>转动着的飞轮的转动惯量为</a:t>
            </a:r>
            <a:r>
              <a:rPr kumimoji="1" lang="en-US" altLang="zh-CN" b="1" i="1">
                <a:latin typeface="Times New Roman" panose="02020603050405020304" pitchFamily="18" charset="0"/>
              </a:rPr>
              <a:t>J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在</a:t>
            </a:r>
            <a:r>
              <a:rPr kumimoji="1" lang="en-US" altLang="zh-CN" b="1" i="1"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latin typeface="Times New Roman" panose="02020603050405020304" pitchFamily="18" charset="0"/>
              </a:rPr>
              <a:t>=0</a:t>
            </a:r>
            <a:r>
              <a:rPr kumimoji="1" lang="zh-CN" altLang="en-US" b="1">
                <a:latin typeface="Times New Roman" panose="02020603050405020304" pitchFamily="18" charset="0"/>
              </a:rPr>
              <a:t>时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角速度为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 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endParaRPr kumimoji="1" lang="en-US" altLang="zh-CN" b="1" baseline="-25%">
              <a:latin typeface="Times New Roman" panose="02020603050405020304" pitchFamily="18" charset="0"/>
            </a:endParaRP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此后飞轮经历制动过程。阻力矩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zh-CN" altLang="en-US" b="1">
                <a:latin typeface="Times New Roman" panose="02020603050405020304" pitchFamily="18" charset="0"/>
              </a:rPr>
              <a:t>的大小与角速度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kumimoji="1" lang="zh-CN" altLang="zh-CN" b="1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kumimoji="1" lang="zh-CN" altLang="en-US" b="1">
                <a:latin typeface="Times New Roman" panose="02020603050405020304" pitchFamily="18" charset="0"/>
              </a:rPr>
              <a:t>的平方成正比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比例系数为</a:t>
            </a:r>
            <a:r>
              <a:rPr kumimoji="1" lang="en-US" altLang="zh-CN" b="1" i="1">
                <a:latin typeface="Times New Roman" panose="02020603050405020304" pitchFamily="18" charset="0"/>
              </a:rPr>
              <a:t>k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en-US" altLang="zh-CN" b="1" i="1">
                <a:latin typeface="Times New Roman" panose="02020603050405020304" pitchFamily="18" charset="0"/>
              </a:rPr>
              <a:t>k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1" lang="en-US" altLang="zh-CN" b="1">
                <a:latin typeface="Times New Roman" panose="02020603050405020304" pitchFamily="18" charset="0"/>
              </a:rPr>
              <a:t>0</a:t>
            </a:r>
            <a:r>
              <a:rPr kumimoji="1" lang="zh-CN" altLang="en-US" b="1">
                <a:latin typeface="Times New Roman" panose="02020603050405020304" pitchFamily="18" charset="0"/>
              </a:rPr>
              <a:t>的常数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。当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en-US" altLang="zh-CN" b="1">
                <a:latin typeface="Times New Roman" panose="02020603050405020304" pitchFamily="18" charset="0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/3</a:t>
            </a:r>
            <a:r>
              <a:rPr kumimoji="1" lang="zh-CN" altLang="en-US" b="1">
                <a:latin typeface="Times New Roman" panose="02020603050405020304" pitchFamily="18" charset="0"/>
              </a:rPr>
              <a:t>时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飞轮的角加速度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kumimoji="1" lang="en-US" altLang="zh-CN" b="1">
                <a:latin typeface="Times New Roman" panose="02020603050405020304" pitchFamily="18" charset="0"/>
              </a:rPr>
              <a:t>=_________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。从开始制动到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en-US" altLang="zh-CN" b="1">
                <a:latin typeface="Times New Roman" panose="02020603050405020304" pitchFamily="18" charset="0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/3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所经过的时间</a:t>
            </a:r>
            <a:r>
              <a:rPr kumimoji="1" lang="en-US" altLang="zh-CN" b="1" i="1">
                <a:latin typeface="Times New Roman" panose="02020603050405020304" pitchFamily="18" charset="0"/>
              </a:rPr>
              <a:t>t </a:t>
            </a:r>
            <a:r>
              <a:rPr kumimoji="1" lang="en-US" altLang="zh-CN" b="1">
                <a:latin typeface="Times New Roman" panose="02020603050405020304" pitchFamily="18" charset="0"/>
              </a:rPr>
              <a:t>=___________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179388" y="262890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kumimoji="1" lang="zh-CN" altLang="en-US" b="1">
                <a:latin typeface="Times New Roman" panose="02020603050405020304" pitchFamily="18" charset="0"/>
              </a:rPr>
              <a:t>由转动定律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3011488" y="2565400"/>
          <a:ext cx="1489075" cy="6572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28" name="Equation" r:id="rId3" imgW="545760" imgH="241200" progId="Equation.3">
                  <p:embed/>
                </p:oleObj>
              </mc:Choice>
              <mc:Fallback>
                <p:oleObj name="Equation" r:id="rId3" imgW="54576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2565400"/>
                        <a:ext cx="14890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611188" y="3459163"/>
          <a:ext cx="2592387" cy="6858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29" name="Equation" r:id="rId5" imgW="863280" imgH="228600" progId="Equation.3">
                  <p:embed/>
                </p:oleObj>
              </mc:Choice>
              <mc:Fallback>
                <p:oleObj name="Equation" r:id="rId5" imgW="8632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459163"/>
                        <a:ext cx="25923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6" name="Group 8"/>
          <p:cNvGrpSpPr>
            <a:grpSpLocks/>
          </p:cNvGrpSpPr>
          <p:nvPr/>
        </p:nvGrpSpPr>
        <p:grpSpPr bwMode="auto">
          <a:xfrm>
            <a:off x="6470650" y="2625725"/>
            <a:ext cx="2422525" cy="1649413"/>
            <a:chOff x="4128" y="2736"/>
            <a:chExt cx="1344" cy="930"/>
          </a:xfrm>
        </p:grpSpPr>
        <p:sp>
          <p:nvSpPr>
            <p:cNvPr id="68617" name="Oval 9"/>
            <p:cNvSpPr>
              <a:spLocks noChangeArrowheads="1"/>
            </p:cNvSpPr>
            <p:nvPr/>
          </p:nvSpPr>
          <p:spPr bwMode="auto">
            <a:xfrm>
              <a:off x="4224" y="2784"/>
              <a:ext cx="576" cy="576"/>
            </a:xfrm>
            <a:prstGeom prst="ellipse">
              <a:avLst/>
            </a:prstGeom>
            <a:noFill/>
            <a:ln w="57150">
              <a:pattFill prst="sphere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Arc 10"/>
            <p:cNvSpPr>
              <a:spLocks/>
            </p:cNvSpPr>
            <p:nvPr/>
          </p:nvSpPr>
          <p:spPr bwMode="auto">
            <a:xfrm>
              <a:off x="4752" y="2784"/>
              <a:ext cx="144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auto">
            <a:xfrm>
              <a:off x="4128" y="3408"/>
              <a:ext cx="1344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 </a:t>
              </a:r>
              <a:r>
                <a:rPr kumimoji="1"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为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正方向</a:t>
              </a:r>
            </a:p>
          </p:txBody>
        </p:sp>
        <p:sp>
          <p:nvSpPr>
            <p:cNvPr id="68620" name="Line 12"/>
            <p:cNvSpPr>
              <a:spLocks noChangeShapeType="1"/>
            </p:cNvSpPr>
            <p:nvPr/>
          </p:nvSpPr>
          <p:spPr bwMode="auto">
            <a:xfrm flipH="1">
              <a:off x="4272" y="3072"/>
              <a:ext cx="240" cy="14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13"/>
            <p:cNvSpPr>
              <a:spLocks noChangeShapeType="1"/>
            </p:cNvSpPr>
            <p:nvPr/>
          </p:nvSpPr>
          <p:spPr bwMode="auto">
            <a:xfrm>
              <a:off x="4512" y="3072"/>
              <a:ext cx="240" cy="14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14"/>
            <p:cNvSpPr>
              <a:spLocks noChangeShapeType="1"/>
            </p:cNvSpPr>
            <p:nvPr/>
          </p:nvSpPr>
          <p:spPr bwMode="auto">
            <a:xfrm flipV="1">
              <a:off x="4512" y="2784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Oval 15"/>
            <p:cNvSpPr>
              <a:spLocks noChangeArrowheads="1"/>
            </p:cNvSpPr>
            <p:nvPr/>
          </p:nvSpPr>
          <p:spPr bwMode="auto">
            <a:xfrm>
              <a:off x="4464" y="3024"/>
              <a:ext cx="96" cy="96"/>
            </a:xfrm>
            <a:prstGeom prst="ellipse">
              <a:avLst/>
            </a:prstGeom>
            <a:gradFill rotWithShape="1">
              <a:gsLst>
                <a:gs pos="0%">
                  <a:srgbClr val="FFFFCC"/>
                </a:gs>
                <a:gs pos="100%">
                  <a:srgbClr val="FFFFCC">
                    <a:gamma/>
                    <a:shade val="46.275%"/>
                    <a:invGamma/>
                  </a:srgbClr>
                </a:gs>
              </a:gsLst>
              <a:path path="shape">
                <a:fillToRect l="50%" t="50%" r="50%" b="50%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4" name="Arc 16"/>
            <p:cNvSpPr>
              <a:spLocks/>
            </p:cNvSpPr>
            <p:nvPr/>
          </p:nvSpPr>
          <p:spPr bwMode="auto">
            <a:xfrm>
              <a:off x="4944" y="2736"/>
              <a:ext cx="144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8625" name="Object 17"/>
            <p:cNvGraphicFramePr>
              <a:graphicFrameLocks noChangeAspect="1"/>
            </p:cNvGraphicFramePr>
            <p:nvPr/>
          </p:nvGraphicFramePr>
          <p:xfrm>
            <a:off x="4992" y="3044"/>
            <a:ext cx="249" cy="36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8730" name="Equation" r:id="rId7" imgW="164880" imgH="241200" progId="Equation.3">
                    <p:embed/>
                  </p:oleObj>
                </mc:Choice>
                <mc:Fallback>
                  <p:oleObj name="Equation" r:id="rId7" imgW="164880" imgH="2412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044"/>
                          <a:ext cx="24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26" name="Object 18"/>
            <p:cNvGraphicFramePr>
              <a:graphicFrameLocks noChangeAspect="1"/>
            </p:cNvGraphicFramePr>
            <p:nvPr/>
          </p:nvGraphicFramePr>
          <p:xfrm>
            <a:off x="4765" y="3072"/>
            <a:ext cx="275" cy="29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8731" name="Equation" r:id="rId9" imgW="164880" imgH="177480" progId="Equation.3">
                    <p:embed/>
                  </p:oleObj>
                </mc:Choice>
                <mc:Fallback>
                  <p:oleObj name="Equation" r:id="rId9" imgW="164880" imgH="17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5" y="3072"/>
                          <a:ext cx="27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627" name="Object 19"/>
          <p:cNvGraphicFramePr>
            <a:graphicFrameLocks noChangeAspect="1"/>
          </p:cNvGraphicFramePr>
          <p:nvPr/>
        </p:nvGraphicFramePr>
        <p:xfrm>
          <a:off x="3659188" y="3213100"/>
          <a:ext cx="2281237" cy="11414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32" name="Equation" r:id="rId11" imgW="838080" imgH="419040" progId="Equation.3">
                  <p:embed/>
                </p:oleObj>
              </mc:Choice>
              <mc:Fallback>
                <p:oleObj name="Equation" r:id="rId11" imgW="838080" imgH="419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3213100"/>
                        <a:ext cx="2281237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8" name="Object 20"/>
          <p:cNvGraphicFramePr>
            <a:graphicFrameLocks noChangeAspect="1"/>
          </p:cNvGraphicFramePr>
          <p:nvPr/>
        </p:nvGraphicFramePr>
        <p:xfrm>
          <a:off x="611188" y="4552950"/>
          <a:ext cx="5592762" cy="6048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33" name="Equation" r:id="rId13" imgW="1600200" imgH="203040" progId="Equation.3">
                  <p:embed/>
                </p:oleObj>
              </mc:Choice>
              <mc:Fallback>
                <p:oleObj name="Equation" r:id="rId13" imgW="1600200" imgH="2030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52950"/>
                        <a:ext cx="559276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9" name="Object 21"/>
          <p:cNvGraphicFramePr>
            <a:graphicFrameLocks noChangeAspect="1"/>
          </p:cNvGraphicFramePr>
          <p:nvPr/>
        </p:nvGraphicFramePr>
        <p:xfrm>
          <a:off x="611188" y="5300663"/>
          <a:ext cx="4176712" cy="11842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34" name="Equation" r:id="rId15" imgW="1218960" imgH="393480" progId="Equation.3">
                  <p:embed/>
                </p:oleObj>
              </mc:Choice>
              <mc:Fallback>
                <p:oleObj name="Equation" r:id="rId15" imgW="121896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00663"/>
                        <a:ext cx="417671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0" name="Object 22"/>
          <p:cNvGraphicFramePr>
            <a:graphicFrameLocks noChangeAspect="1"/>
          </p:cNvGraphicFramePr>
          <p:nvPr/>
        </p:nvGraphicFramePr>
        <p:xfrm>
          <a:off x="5221288" y="5327650"/>
          <a:ext cx="2159000" cy="11969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8735" name="Equation" r:id="rId17" imgW="660240" imgH="431640" progId="Equation.3">
                  <p:embed/>
                </p:oleObj>
              </mc:Choice>
              <mc:Fallback>
                <p:oleObj name="Equation" r:id="rId17" imgW="660240" imgH="431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5327650"/>
                        <a:ext cx="21590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decel="100%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/>
    </p:bldLst>
  </p:timing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28600" y="260350"/>
            <a:ext cx="89154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14. </a:t>
            </a:r>
            <a:r>
              <a:rPr kumimoji="1" lang="zh-CN" altLang="en-US" b="1">
                <a:latin typeface="Times New Roman" panose="02020603050405020304" pitchFamily="18" charset="0"/>
              </a:rPr>
              <a:t>如图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zh-CN" altLang="en-US" b="1">
                <a:latin typeface="Times New Roman" panose="02020603050405020304" pitchFamily="18" charset="0"/>
              </a:rPr>
              <a:t>一薄圆盘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en-US" altLang="zh-CN" b="1" i="1">
                <a:latin typeface="Times New Roman" panose="02020603050405020304" pitchFamily="18" charset="0"/>
              </a:rPr>
              <a:t>m,R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可绕通过其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一直径</a:t>
            </a:r>
            <a:r>
              <a:rPr kumimoji="1" lang="en-US" altLang="zh-CN" b="1" i="1">
                <a:latin typeface="Times New Roman" panose="02020603050405020304" pitchFamily="18" charset="0"/>
              </a:rPr>
              <a:t>oo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zh-CN" altLang="en-US" b="1">
                <a:latin typeface="Times New Roman" panose="02020603050405020304" pitchFamily="18" charset="0"/>
              </a:rPr>
              <a:t>转动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转动惯量为 </a:t>
            </a:r>
            <a:r>
              <a:rPr kumimoji="1" lang="en-US" altLang="zh-CN" b="1" i="1">
                <a:latin typeface="Times New Roman" panose="02020603050405020304" pitchFamily="18" charset="0"/>
              </a:rPr>
              <a:t>J</a:t>
            </a:r>
            <a:r>
              <a:rPr kumimoji="1" lang="en-US" altLang="zh-CN" b="1">
                <a:latin typeface="Times New Roman" panose="02020603050405020304" pitchFamily="18" charset="0"/>
              </a:rPr>
              <a:t>=</a:t>
            </a:r>
            <a:r>
              <a:rPr kumimoji="1" lang="en-US" altLang="zh-CN" b="1" i="1">
                <a:latin typeface="Times New Roman" panose="02020603050405020304" pitchFamily="18" charset="0"/>
              </a:rPr>
              <a:t>mR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/4 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该圆盘从静止开始在恒力矩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zh-CN" altLang="en-US" b="1">
                <a:latin typeface="Times New Roman" panose="02020603050405020304" pitchFamily="18" charset="0"/>
              </a:rPr>
              <a:t>作用下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转动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秒后位于圆盘边缘上与</a:t>
            </a:r>
            <a:r>
              <a:rPr kumimoji="1" lang="en-US" altLang="zh-CN" b="1" i="1">
                <a:latin typeface="Times New Roman" panose="02020603050405020304" pitchFamily="18" charset="0"/>
              </a:rPr>
              <a:t>oo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轴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的垂直距离为</a:t>
            </a:r>
            <a:r>
              <a:rPr kumimoji="1" lang="en-US" altLang="zh-CN" b="1" i="1">
                <a:latin typeface="Times New Roman" panose="02020603050405020304" pitchFamily="18" charset="0"/>
              </a:rPr>
              <a:t>R</a:t>
            </a:r>
            <a:r>
              <a:rPr kumimoji="1" lang="zh-CN" altLang="en-US" b="1">
                <a:latin typeface="Times New Roman" panose="02020603050405020304" pitchFamily="18" charset="0"/>
              </a:rPr>
              <a:t>的</a:t>
            </a:r>
            <a:r>
              <a:rPr kumimoji="1" lang="en-US" altLang="zh-CN" b="1" i="1">
                <a:latin typeface="Times New Roman" panose="02020603050405020304" pitchFamily="18" charset="0"/>
              </a:rPr>
              <a:t>P</a:t>
            </a:r>
            <a:r>
              <a:rPr kumimoji="1" lang="zh-CN" altLang="en-US" b="1">
                <a:latin typeface="Times New Roman" panose="02020603050405020304" pitchFamily="18" charset="0"/>
              </a:rPr>
              <a:t>点的切向加速度</a:t>
            </a:r>
            <a:r>
              <a:rPr kumimoji="1" lang="en-US" altLang="zh-CN" b="1" i="1">
                <a:latin typeface="Times New Roman" panose="02020603050405020304" pitchFamily="18" charset="0"/>
              </a:rPr>
              <a:t>a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t</a:t>
            </a:r>
            <a:r>
              <a:rPr kumimoji="1" lang="en-US" altLang="zh-CN" b="1" i="1">
                <a:latin typeface="Times New Roman" panose="02020603050405020304" pitchFamily="18" charset="0"/>
              </a:rPr>
              <a:t>=_______________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和法向加速度 </a:t>
            </a:r>
            <a:r>
              <a:rPr kumimoji="1" lang="en-US" altLang="zh-CN" b="1" i="1">
                <a:latin typeface="Times New Roman" panose="02020603050405020304" pitchFamily="18" charset="0"/>
              </a:rPr>
              <a:t>a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n</a:t>
            </a:r>
            <a:r>
              <a:rPr kumimoji="1" lang="en-US" altLang="zh-CN" b="1" i="1">
                <a:latin typeface="Times New Roman" panose="02020603050405020304" pitchFamily="18" charset="0"/>
              </a:rPr>
              <a:t>=</a:t>
            </a:r>
            <a:r>
              <a:rPr kumimoji="1" lang="en-US" altLang="zh-CN" b="1">
                <a:latin typeface="Times New Roman" panose="02020603050405020304" pitchFamily="18" charset="0"/>
              </a:rPr>
              <a:t> _________________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   </a:t>
            </a:r>
          </a:p>
        </p:txBody>
      </p:sp>
      <p:grpSp>
        <p:nvGrpSpPr>
          <p:cNvPr id="19461" name="Group 5"/>
          <p:cNvGrpSpPr>
            <a:grpSpLocks/>
          </p:cNvGrpSpPr>
          <p:nvPr/>
        </p:nvGrpSpPr>
        <p:grpSpPr bwMode="auto">
          <a:xfrm>
            <a:off x="6516688" y="333375"/>
            <a:ext cx="2311400" cy="1701800"/>
            <a:chOff x="4112" y="245"/>
            <a:chExt cx="1456" cy="1072"/>
          </a:xfrm>
        </p:grpSpPr>
        <p:sp>
          <p:nvSpPr>
            <p:cNvPr id="19462" name="Oval 6"/>
            <p:cNvSpPr>
              <a:spLocks noChangeArrowheads="1"/>
            </p:cNvSpPr>
            <p:nvPr/>
          </p:nvSpPr>
          <p:spPr bwMode="auto">
            <a:xfrm>
              <a:off x="4448" y="245"/>
              <a:ext cx="864" cy="864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" name="Line 7"/>
            <p:cNvSpPr>
              <a:spLocks noChangeShapeType="1"/>
            </p:cNvSpPr>
            <p:nvPr/>
          </p:nvSpPr>
          <p:spPr bwMode="auto">
            <a:xfrm>
              <a:off x="4208" y="677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4" name="AutoShape 8"/>
            <p:cNvSpPr>
              <a:spLocks noChangeArrowheads="1"/>
            </p:cNvSpPr>
            <p:nvPr/>
          </p:nvSpPr>
          <p:spPr bwMode="auto">
            <a:xfrm>
              <a:off x="4112" y="677"/>
              <a:ext cx="336" cy="192"/>
            </a:xfrm>
            <a:prstGeom prst="curvedUpArrow">
              <a:avLst>
                <a:gd name="adj1" fmla="val 35000"/>
                <a:gd name="adj2" fmla="val 70000"/>
                <a:gd name="adj3" fmla="val 33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5" name="Object 9"/>
            <p:cNvGraphicFramePr>
              <a:graphicFrameLocks noChangeAspect="1"/>
            </p:cNvGraphicFramePr>
            <p:nvPr/>
          </p:nvGraphicFramePr>
          <p:xfrm>
            <a:off x="4190" y="489"/>
            <a:ext cx="214" cy="23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9573" name="Equation" r:id="rId3" imgW="126720" imgH="139680" progId="Equation.3">
                    <p:embed/>
                  </p:oleObj>
                </mc:Choice>
                <mc:Fallback>
                  <p:oleObj name="Equation" r:id="rId3" imgW="126720" imgH="1396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0" y="489"/>
                          <a:ext cx="214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10"/>
            <p:cNvGraphicFramePr>
              <a:graphicFrameLocks noChangeAspect="1"/>
            </p:cNvGraphicFramePr>
            <p:nvPr/>
          </p:nvGraphicFramePr>
          <p:xfrm>
            <a:off x="5312" y="424"/>
            <a:ext cx="256" cy="30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9574" name="Equation" r:id="rId5" imgW="152280" imgH="177480" progId="Equation.3">
                    <p:embed/>
                  </p:oleObj>
                </mc:Choice>
                <mc:Fallback>
                  <p:oleObj name="Equation" r:id="rId5" imgW="152280" imgH="177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2" y="424"/>
                          <a:ext cx="25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11"/>
            <p:cNvGraphicFramePr>
              <a:graphicFrameLocks noChangeAspect="1"/>
            </p:cNvGraphicFramePr>
            <p:nvPr/>
          </p:nvGraphicFramePr>
          <p:xfrm>
            <a:off x="4780" y="1104"/>
            <a:ext cx="212" cy="21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9575" name="Equation" r:id="rId7" imgW="164880" imgH="164880" progId="Equation.3">
                    <p:embed/>
                  </p:oleObj>
                </mc:Choice>
                <mc:Fallback>
                  <p:oleObj name="Equation" r:id="rId7" imgW="164880" imgH="16488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0" y="1104"/>
                          <a:ext cx="212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12"/>
            <p:cNvGraphicFramePr>
              <a:graphicFrameLocks noChangeAspect="1"/>
            </p:cNvGraphicFramePr>
            <p:nvPr/>
          </p:nvGraphicFramePr>
          <p:xfrm>
            <a:off x="4875" y="708"/>
            <a:ext cx="257" cy="25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9576" name="Equation" r:id="rId9" imgW="164880" imgH="164880" progId="Equation.3">
                    <p:embed/>
                  </p:oleObj>
                </mc:Choice>
                <mc:Fallback>
                  <p:oleObj name="Equation" r:id="rId9" imgW="164880" imgH="1648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5" y="708"/>
                          <a:ext cx="25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>
              <a:off x="4880" y="677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304800" y="31892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971550" y="3197225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由转动定理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472" name="Object 16"/>
          <p:cNvGraphicFramePr>
            <a:graphicFrameLocks noChangeAspect="1"/>
          </p:cNvGraphicFramePr>
          <p:nvPr/>
        </p:nvGraphicFramePr>
        <p:xfrm>
          <a:off x="468313" y="3679825"/>
          <a:ext cx="3673475" cy="9636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9577" name="Equation" r:id="rId11" imgW="1320480" imgH="393480" progId="Equation.3">
                  <p:embed/>
                </p:oleObj>
              </mc:Choice>
              <mc:Fallback>
                <p:oleObj name="Equation" r:id="rId11" imgW="132048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679825"/>
                        <a:ext cx="367347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17"/>
          <p:cNvGraphicFramePr>
            <a:graphicFrameLocks noChangeAspect="1"/>
          </p:cNvGraphicFramePr>
          <p:nvPr/>
        </p:nvGraphicFramePr>
        <p:xfrm>
          <a:off x="4859338" y="3716338"/>
          <a:ext cx="2592387" cy="9461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9578" name="公式" r:id="rId13" imgW="1079280" imgH="393480" progId="Equation.3">
                  <p:embed/>
                </p:oleObj>
              </mc:Choice>
              <mc:Fallback>
                <p:oleObj name="公式" r:id="rId13" imgW="1079280" imgH="393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16338"/>
                        <a:ext cx="25923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18"/>
          <p:cNvGraphicFramePr>
            <a:graphicFrameLocks noChangeAspect="1"/>
          </p:cNvGraphicFramePr>
          <p:nvPr/>
        </p:nvGraphicFramePr>
        <p:xfrm>
          <a:off x="395288" y="4859338"/>
          <a:ext cx="4248150" cy="10906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9579" name="Equation" r:id="rId15" imgW="1663560" imgH="406080" progId="Equation.3">
                  <p:embed/>
                </p:oleObj>
              </mc:Choice>
              <mc:Fallback>
                <p:oleObj name="Equation" r:id="rId15" imgW="1663560" imgH="4060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859338"/>
                        <a:ext cx="424815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Object 19"/>
          <p:cNvGraphicFramePr>
            <a:graphicFrameLocks noChangeAspect="1"/>
          </p:cNvGraphicFramePr>
          <p:nvPr/>
        </p:nvGraphicFramePr>
        <p:xfrm>
          <a:off x="5148263" y="4868863"/>
          <a:ext cx="3527425" cy="10604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9580" name="公式" r:id="rId17" imgW="1447560" imgH="419040" progId="Equation.3">
                  <p:embed/>
                </p:oleObj>
              </mc:Choice>
              <mc:Fallback>
                <p:oleObj name="公式" r:id="rId17" imgW="1447560" imgH="419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868863"/>
                        <a:ext cx="35274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0" grpId="0"/>
      <p:bldP spid="19471" grpId="0"/>
    </p:bldLst>
  </p:timing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79388" y="384175"/>
            <a:ext cx="704354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</a:rPr>
              <a:t>15. 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一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轴承光滑的圆盘定滑轮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半径</a:t>
            </a:r>
            <a:r>
              <a:rPr kumimoji="1" lang="en-US" altLang="zh-CN" b="1" i="1" dirty="0" smtClean="0">
                <a:latin typeface="Times New Roman" panose="02020603050405020304" pitchFamily="18" charset="0"/>
              </a:rPr>
              <a:t>R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0.1m,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质量为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2kg,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一根不能伸长的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轻绳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一端固定在定滑轮上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另一端系有一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质量为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5kg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的物体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如图。已知定滑轮初角速度</a:t>
            </a:r>
          </a:p>
          <a:p>
            <a:r>
              <a:rPr kumimoji="1"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 dirty="0">
                <a:latin typeface="Times New Roman" panose="02020603050405020304" pitchFamily="18" charset="0"/>
              </a:rPr>
              <a:t>0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10rad/s,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方向垂直于纸面向里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endParaRPr kumimoji="1"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66566" name="Group 6"/>
          <p:cNvGrpSpPr>
            <a:grpSpLocks/>
          </p:cNvGrpSpPr>
          <p:nvPr/>
        </p:nvGrpSpPr>
        <p:grpSpPr bwMode="auto">
          <a:xfrm>
            <a:off x="7235825" y="260350"/>
            <a:ext cx="1490663" cy="2374900"/>
            <a:chOff x="4560" y="552"/>
            <a:chExt cx="1056" cy="1752"/>
          </a:xfrm>
        </p:grpSpPr>
        <p:sp>
          <p:nvSpPr>
            <p:cNvPr id="66567" name="Oval 7"/>
            <p:cNvSpPr>
              <a:spLocks noChangeArrowheads="1"/>
            </p:cNvSpPr>
            <p:nvPr/>
          </p:nvSpPr>
          <p:spPr bwMode="auto">
            <a:xfrm>
              <a:off x="4704" y="864"/>
              <a:ext cx="864" cy="912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100%">
                  <a:schemeClr val="accent1"/>
                </a:gs>
              </a:gsLst>
              <a:path path="shape">
                <a:fillToRect l="50%" t="50%" r="50%" b="50%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8" name="Text Box 8"/>
            <p:cNvSpPr txBox="1">
              <a:spLocks noChangeArrowheads="1"/>
            </p:cNvSpPr>
            <p:nvPr/>
          </p:nvSpPr>
          <p:spPr bwMode="auto">
            <a:xfrm>
              <a:off x="5030" y="1161"/>
              <a:ext cx="346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6569" name="Line 9"/>
            <p:cNvSpPr>
              <a:spLocks noChangeShapeType="1"/>
            </p:cNvSpPr>
            <p:nvPr/>
          </p:nvSpPr>
          <p:spPr bwMode="auto">
            <a:xfrm>
              <a:off x="4704" y="129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0" name="Rectangle 10"/>
            <p:cNvSpPr>
              <a:spLocks noChangeArrowheads="1"/>
            </p:cNvSpPr>
            <p:nvPr/>
          </p:nvSpPr>
          <p:spPr bwMode="auto">
            <a:xfrm>
              <a:off x="4560" y="2064"/>
              <a:ext cx="288" cy="240"/>
            </a:xfrm>
            <a:prstGeom prst="rect">
              <a:avLst/>
            </a:prstGeom>
            <a:gradFill rotWithShape="0">
              <a:gsLst>
                <a:gs pos="0%">
                  <a:srgbClr val="FFFFCC">
                    <a:gamma/>
                    <a:shade val="46.275%"/>
                    <a:invGamma/>
                  </a:srgbClr>
                </a:gs>
                <a:gs pos="50%">
                  <a:srgbClr val="FFFFCC"/>
                </a:gs>
                <a:gs pos="100%">
                  <a:srgbClr val="FFFFCC">
                    <a:gamma/>
                    <a:shade val="46.275%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1" name="Line 11"/>
            <p:cNvSpPr>
              <a:spLocks noChangeShapeType="1"/>
            </p:cNvSpPr>
            <p:nvPr/>
          </p:nvSpPr>
          <p:spPr bwMode="auto">
            <a:xfrm>
              <a:off x="5136" y="13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2" name="Text Box 12"/>
            <p:cNvSpPr txBox="1">
              <a:spLocks noChangeArrowheads="1"/>
            </p:cNvSpPr>
            <p:nvPr/>
          </p:nvSpPr>
          <p:spPr bwMode="auto">
            <a:xfrm>
              <a:off x="5222" y="1017"/>
              <a:ext cx="394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66573" name="Arc 13"/>
            <p:cNvSpPr>
              <a:spLocks/>
            </p:cNvSpPr>
            <p:nvPr/>
          </p:nvSpPr>
          <p:spPr bwMode="auto">
            <a:xfrm rot="8177084" flipH="1" flipV="1">
              <a:off x="5232" y="707"/>
              <a:ext cx="248" cy="541"/>
            </a:xfrm>
            <a:custGeom>
              <a:avLst/>
              <a:gdLst>
                <a:gd name="G0" fmla="+- 0 0 0"/>
                <a:gd name="G1" fmla="+- 20068 0 0"/>
                <a:gd name="G2" fmla="+- 21600 0 0"/>
                <a:gd name="T0" fmla="*/ 7990 w 21600"/>
                <a:gd name="T1" fmla="*/ 0 h 30420"/>
                <a:gd name="T2" fmla="*/ 18958 w 21600"/>
                <a:gd name="T3" fmla="*/ 30420 h 30420"/>
                <a:gd name="T4" fmla="*/ 0 w 21600"/>
                <a:gd name="T5" fmla="*/ 20068 h 30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0420" fill="none" extrusionOk="0">
                  <a:moveTo>
                    <a:pt x="7989" y="0"/>
                  </a:moveTo>
                  <a:cubicBezTo>
                    <a:pt x="16207" y="3271"/>
                    <a:pt x="21600" y="11223"/>
                    <a:pt x="21600" y="20068"/>
                  </a:cubicBezTo>
                  <a:cubicBezTo>
                    <a:pt x="21600" y="23685"/>
                    <a:pt x="20691" y="27244"/>
                    <a:pt x="18957" y="30419"/>
                  </a:cubicBezTo>
                </a:path>
                <a:path w="21600" h="30420" stroke="0" extrusionOk="0">
                  <a:moveTo>
                    <a:pt x="7989" y="0"/>
                  </a:moveTo>
                  <a:cubicBezTo>
                    <a:pt x="16207" y="3271"/>
                    <a:pt x="21600" y="11223"/>
                    <a:pt x="21600" y="20068"/>
                  </a:cubicBezTo>
                  <a:cubicBezTo>
                    <a:pt x="21600" y="23685"/>
                    <a:pt x="20691" y="27244"/>
                    <a:pt x="18957" y="30419"/>
                  </a:cubicBezTo>
                  <a:lnTo>
                    <a:pt x="0" y="200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6574" name="Object 14"/>
            <p:cNvGraphicFramePr>
              <a:graphicFrameLocks noChangeAspect="1"/>
            </p:cNvGraphicFramePr>
            <p:nvPr/>
          </p:nvGraphicFramePr>
          <p:xfrm>
            <a:off x="5296" y="552"/>
            <a:ext cx="320" cy="36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6611" name="Equation" r:id="rId3" imgW="203040" imgH="228600" progId="Equation.3">
                    <p:embed/>
                  </p:oleObj>
                </mc:Choice>
                <mc:Fallback>
                  <p:oleObj name="Equation" r:id="rId3" imgW="20304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6" y="552"/>
                          <a:ext cx="32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76" name="Text Box 16"/>
          <p:cNvSpPr txBox="1">
            <a:spLocks noChangeArrowheads="1"/>
          </p:cNvSpPr>
          <p:nvPr/>
        </p:nvSpPr>
        <p:spPr bwMode="auto">
          <a:xfrm>
            <a:off x="590550" y="3983038"/>
            <a:ext cx="754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用转动定律解题小结：</a:t>
            </a:r>
          </a:p>
        </p:txBody>
      </p:sp>
      <p:sp>
        <p:nvSpPr>
          <p:cNvPr id="66577" name="Text Box 17"/>
          <p:cNvSpPr txBox="1">
            <a:spLocks noChangeArrowheads="1"/>
          </p:cNvSpPr>
          <p:nvPr/>
        </p:nvSpPr>
        <p:spPr bwMode="auto">
          <a:xfrm>
            <a:off x="303213" y="4516438"/>
            <a:ext cx="670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Blip>
                <a:blip r:embed="rId5"/>
              </a:buBlip>
            </a:pPr>
            <a:r>
              <a:rPr kumimoji="1" lang="zh-CN" altLang="en-US" b="1">
                <a:latin typeface="Times New Roman" panose="02020603050405020304" pitchFamily="18" charset="0"/>
              </a:rPr>
              <a:t>平动物体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用隔离体法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写出牛顿方程</a:t>
            </a:r>
          </a:p>
        </p:txBody>
      </p:sp>
      <p:sp>
        <p:nvSpPr>
          <p:cNvPr id="66578" name="Text Box 18"/>
          <p:cNvSpPr txBox="1">
            <a:spLocks noChangeArrowheads="1"/>
          </p:cNvSpPr>
          <p:nvPr/>
        </p:nvSpPr>
        <p:spPr bwMode="auto">
          <a:xfrm>
            <a:off x="303213" y="5049838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Blip>
                <a:blip r:embed="rId5"/>
              </a:buBlip>
            </a:pPr>
            <a:r>
              <a:rPr kumimoji="1" lang="zh-CN" altLang="en-US" b="1">
                <a:latin typeface="Times New Roman" panose="02020603050405020304" pitchFamily="18" charset="0"/>
              </a:rPr>
              <a:t>转动物体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用隔离体法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分析力矩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写出转动方程</a:t>
            </a:r>
          </a:p>
        </p:txBody>
      </p:sp>
      <p:sp>
        <p:nvSpPr>
          <p:cNvPr id="66579" name="Text Box 19"/>
          <p:cNvSpPr txBox="1">
            <a:spLocks noChangeArrowheads="1"/>
          </p:cNvSpPr>
          <p:nvPr/>
        </p:nvSpPr>
        <p:spPr bwMode="auto">
          <a:xfrm>
            <a:off x="303213" y="5597525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Blip>
                <a:blip r:embed="rId5"/>
              </a:buBlip>
            </a:pPr>
            <a:r>
              <a:rPr kumimoji="1" lang="zh-CN" altLang="en-US" b="1">
                <a:latin typeface="Times New Roman" panose="02020603050405020304" pitchFamily="18" charset="0"/>
              </a:rPr>
              <a:t>由角量和线量关系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将平动和转动联系起来</a:t>
            </a:r>
          </a:p>
        </p:txBody>
      </p:sp>
      <p:graphicFrame>
        <p:nvGraphicFramePr>
          <p:cNvPr id="66580" name="Object 20"/>
          <p:cNvGraphicFramePr>
            <a:graphicFrameLocks noChangeAspect="1"/>
          </p:cNvGraphicFramePr>
          <p:nvPr/>
        </p:nvGraphicFramePr>
        <p:xfrm>
          <a:off x="2484438" y="6070600"/>
          <a:ext cx="3176587" cy="6715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6612" name="公式" r:id="rId6" imgW="965160" imgH="228600" progId="Equation.3">
                  <p:embed/>
                </p:oleObj>
              </mc:Choice>
              <mc:Fallback>
                <p:oleObj name="公式" r:id="rId6" imgW="96516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6070600"/>
                        <a:ext cx="317658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34242" y="2621853"/>
            <a:ext cx="890225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b="1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b="1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 dirty="0" smtClean="0">
                <a:latin typeface="Times New Roman" panose="02020603050405020304" pitchFamily="18" charset="0"/>
              </a:rPr>
              <a:t>(</a:t>
            </a:r>
            <a:r>
              <a:rPr kumimoji="1" lang="en-US" altLang="zh-CN" b="1" dirty="0">
                <a:latin typeface="Times New Roman" panose="02020603050405020304" pitchFamily="18" charset="0"/>
              </a:rPr>
              <a:t>1)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定滑轮的角加速度的大小和方向。</a:t>
            </a:r>
          </a:p>
          <a:p>
            <a:r>
              <a:rPr kumimoji="1" lang="en-US" altLang="zh-CN" b="1" dirty="0" smtClean="0">
                <a:latin typeface="Times New Roman" panose="02020603050405020304" pitchFamily="18" charset="0"/>
              </a:rPr>
              <a:t>      (</a:t>
            </a:r>
            <a:r>
              <a:rPr kumimoji="1" lang="en-US" altLang="zh-CN" b="1" dirty="0">
                <a:latin typeface="Times New Roman" panose="02020603050405020304" pitchFamily="18" charset="0"/>
              </a:rPr>
              <a:t>2)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定滑轮的角速度变化到</a:t>
            </a:r>
            <a:r>
              <a:rPr kumimoji="1"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= 0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时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物体上升的高度。</a:t>
            </a:r>
          </a:p>
          <a:p>
            <a:r>
              <a:rPr kumimoji="1" lang="en-US" altLang="zh-CN" b="1" dirty="0" smtClean="0">
                <a:latin typeface="Times New Roman" panose="02020603050405020304" pitchFamily="18" charset="0"/>
              </a:rPr>
              <a:t>      (</a:t>
            </a:r>
            <a:r>
              <a:rPr kumimoji="1" lang="en-US" altLang="zh-CN" b="1" dirty="0">
                <a:latin typeface="Times New Roman" panose="02020603050405020304" pitchFamily="18" charset="0"/>
              </a:rPr>
              <a:t>3)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物体回到原来位置时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定滑轮角速度的大小和方向。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6" grpId="0"/>
      <p:bldP spid="66577" grpId="0" autoUpdateAnimBg="0"/>
      <p:bldP spid="66578" grpId="0" autoUpdateAnimBg="0"/>
      <p:bldP spid="66579" grpId="0" autoUpdateAnimBg="0"/>
    </p:bldLst>
  </p:timing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79388" y="260350"/>
            <a:ext cx="612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>
                <a:latin typeface="Times New Roman" panose="02020603050405020304" pitchFamily="18" charset="0"/>
              </a:rPr>
              <a:t> (1)</a:t>
            </a:r>
            <a:r>
              <a:rPr kumimoji="1" lang="zh-CN" altLang="en-US" b="1">
                <a:latin typeface="Times New Roman" panose="02020603050405020304" pitchFamily="18" charset="0"/>
              </a:rPr>
              <a:t>用隔离体法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注意方程中正负号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7625" name="Group 41"/>
          <p:cNvGrpSpPr>
            <a:grpSpLocks/>
          </p:cNvGrpSpPr>
          <p:nvPr/>
        </p:nvGrpSpPr>
        <p:grpSpPr bwMode="auto">
          <a:xfrm>
            <a:off x="7524750" y="836613"/>
            <a:ext cx="1143000" cy="1752600"/>
            <a:chOff x="4740" y="391"/>
            <a:chExt cx="720" cy="1104"/>
          </a:xfrm>
        </p:grpSpPr>
        <p:sp>
          <p:nvSpPr>
            <p:cNvPr id="67590" name="Oval 6"/>
            <p:cNvSpPr>
              <a:spLocks noChangeArrowheads="1"/>
            </p:cNvSpPr>
            <p:nvPr/>
          </p:nvSpPr>
          <p:spPr bwMode="auto">
            <a:xfrm>
              <a:off x="4740" y="391"/>
              <a:ext cx="720" cy="720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100%">
                  <a:schemeClr val="accent1"/>
                </a:gs>
              </a:gsLst>
              <a:path path="shape">
                <a:fillToRect l="50%" t="50%" r="50%" b="50%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1" name="Line 7"/>
            <p:cNvSpPr>
              <a:spLocks noChangeShapeType="1"/>
            </p:cNvSpPr>
            <p:nvPr/>
          </p:nvSpPr>
          <p:spPr bwMode="auto">
            <a:xfrm>
              <a:off x="4740" y="727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2" name="Line 8"/>
            <p:cNvSpPr>
              <a:spLocks noChangeShapeType="1"/>
            </p:cNvSpPr>
            <p:nvPr/>
          </p:nvSpPr>
          <p:spPr bwMode="auto">
            <a:xfrm>
              <a:off x="4740" y="775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3" name="Text Box 9"/>
            <p:cNvSpPr txBox="1">
              <a:spLocks noChangeArrowheads="1"/>
            </p:cNvSpPr>
            <p:nvPr/>
          </p:nvSpPr>
          <p:spPr bwMode="auto">
            <a:xfrm>
              <a:off x="4797" y="527"/>
              <a:ext cx="4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graphicFrame>
          <p:nvGraphicFramePr>
            <p:cNvPr id="67594" name="Object 10"/>
            <p:cNvGraphicFramePr>
              <a:graphicFrameLocks noChangeAspect="1"/>
            </p:cNvGraphicFramePr>
            <p:nvPr/>
          </p:nvGraphicFramePr>
          <p:xfrm>
            <a:off x="4785" y="1207"/>
            <a:ext cx="204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7713" name="Equation" r:id="rId3" imgW="152280" imgH="203040" progId="Equation.3">
                    <p:embed/>
                  </p:oleObj>
                </mc:Choice>
                <mc:Fallback>
                  <p:oleObj name="Equation" r:id="rId3" imgW="15228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207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624" name="Group 40"/>
          <p:cNvGrpSpPr>
            <a:grpSpLocks/>
          </p:cNvGrpSpPr>
          <p:nvPr/>
        </p:nvGrpSpPr>
        <p:grpSpPr bwMode="auto">
          <a:xfrm>
            <a:off x="6300788" y="476250"/>
            <a:ext cx="1058862" cy="1974850"/>
            <a:chOff x="3923" y="164"/>
            <a:chExt cx="667" cy="1244"/>
          </a:xfrm>
        </p:grpSpPr>
        <p:sp>
          <p:nvSpPr>
            <p:cNvPr id="67596" name="Rectangle 12"/>
            <p:cNvSpPr>
              <a:spLocks noChangeArrowheads="1"/>
            </p:cNvSpPr>
            <p:nvPr/>
          </p:nvSpPr>
          <p:spPr bwMode="auto">
            <a:xfrm>
              <a:off x="3926" y="596"/>
              <a:ext cx="288" cy="288"/>
            </a:xfrm>
            <a:prstGeom prst="rect">
              <a:avLst/>
            </a:prstGeom>
            <a:gradFill rotWithShape="1">
              <a:gsLst>
                <a:gs pos="0%">
                  <a:srgbClr val="FFFFCC">
                    <a:gamma/>
                    <a:shade val="46.275%"/>
                    <a:invGamma/>
                  </a:srgbClr>
                </a:gs>
                <a:gs pos="50%">
                  <a:srgbClr val="FFFFCC"/>
                </a:gs>
                <a:gs pos="100%">
                  <a:srgbClr val="FFFFCC">
                    <a:gamma/>
                    <a:shade val="46.275%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7" name="Line 13"/>
            <p:cNvSpPr>
              <a:spLocks noChangeShapeType="1"/>
            </p:cNvSpPr>
            <p:nvPr/>
          </p:nvSpPr>
          <p:spPr bwMode="auto">
            <a:xfrm>
              <a:off x="4070" y="74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8" name="Line 14"/>
            <p:cNvSpPr>
              <a:spLocks noChangeShapeType="1"/>
            </p:cNvSpPr>
            <p:nvPr/>
          </p:nvSpPr>
          <p:spPr bwMode="auto">
            <a:xfrm flipV="1">
              <a:off x="4070" y="26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7599" name="Object 15"/>
            <p:cNvGraphicFramePr>
              <a:graphicFrameLocks noChangeAspect="1"/>
            </p:cNvGraphicFramePr>
            <p:nvPr/>
          </p:nvGraphicFramePr>
          <p:xfrm>
            <a:off x="4105" y="164"/>
            <a:ext cx="204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7714" name="Equation" r:id="rId5" imgW="152280" imgH="203040" progId="Equation.3">
                    <p:embed/>
                  </p:oleObj>
                </mc:Choice>
                <mc:Fallback>
                  <p:oleObj name="Equation" r:id="rId5" imgW="152280" imgH="2030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64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600" name="Object 16"/>
            <p:cNvGraphicFramePr>
              <a:graphicFrameLocks noChangeAspect="1"/>
            </p:cNvGraphicFramePr>
            <p:nvPr/>
          </p:nvGraphicFramePr>
          <p:xfrm>
            <a:off x="3923" y="1117"/>
            <a:ext cx="363" cy="29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7715" name="Equation" r:id="rId6" imgW="253800" imgH="203040" progId="Equation.3">
                    <p:embed/>
                  </p:oleObj>
                </mc:Choice>
                <mc:Fallback>
                  <p:oleObj name="Equation" r:id="rId6" imgW="253800" imgH="2030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117"/>
                          <a:ext cx="363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601" name="Line 17"/>
            <p:cNvSpPr>
              <a:spLocks noChangeShapeType="1"/>
            </p:cNvSpPr>
            <p:nvPr/>
          </p:nvSpPr>
          <p:spPr bwMode="auto">
            <a:xfrm>
              <a:off x="4331" y="5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7602" name="Object 18"/>
            <p:cNvGraphicFramePr>
              <a:graphicFrameLocks noChangeAspect="1"/>
            </p:cNvGraphicFramePr>
            <p:nvPr/>
          </p:nvGraphicFramePr>
          <p:xfrm>
            <a:off x="4332" y="572"/>
            <a:ext cx="258" cy="27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7716" name="Equation" r:id="rId8" imgW="126720" imgH="177480" progId="Equation.3">
                    <p:embed/>
                  </p:oleObj>
                </mc:Choice>
                <mc:Fallback>
                  <p:oleObj name="Equation" r:id="rId8" imgW="126720" imgH="17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572"/>
                          <a:ext cx="258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609" name="Object 25"/>
          <p:cNvGraphicFramePr>
            <a:graphicFrameLocks noChangeAspect="1"/>
          </p:cNvGraphicFramePr>
          <p:nvPr/>
        </p:nvGraphicFramePr>
        <p:xfrm>
          <a:off x="684213" y="2205038"/>
          <a:ext cx="4824412" cy="9223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7717" name="公式" r:id="rId10" imgW="2184120" imgH="393480" progId="Equation.3">
                  <p:embed/>
                </p:oleObj>
              </mc:Choice>
              <mc:Fallback>
                <p:oleObj name="公式" r:id="rId10" imgW="2184120" imgH="393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205038"/>
                        <a:ext cx="4824412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5543550" y="2420938"/>
            <a:ext cx="198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方向</a:t>
            </a:r>
            <a:r>
              <a:rPr kumimoji="1" lang="en-US" altLang="zh-CN" b="1">
                <a:latin typeface="Times New Roman" panose="02020603050405020304" pitchFamily="18" charset="0"/>
              </a:rPr>
              <a:t>:  ⊙</a:t>
            </a:r>
          </a:p>
        </p:txBody>
      </p:sp>
      <p:sp>
        <p:nvSpPr>
          <p:cNvPr id="67611" name="Text Box 27"/>
          <p:cNvSpPr txBox="1">
            <a:spLocks noChangeArrowheads="1"/>
          </p:cNvSpPr>
          <p:nvPr/>
        </p:nvSpPr>
        <p:spPr bwMode="auto">
          <a:xfrm>
            <a:off x="179388" y="32131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由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2 </a:t>
            </a:r>
            <a:r>
              <a:rPr lang="en-US" altLang="zh-CN" b="1">
                <a:solidFill>
                  <a:srgbClr val="000000"/>
                </a:solidFill>
              </a:rPr>
              <a:t>–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= 2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(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7612" name="Text Box 28"/>
          <p:cNvSpPr txBox="1">
            <a:spLocks noChangeArrowheads="1"/>
          </p:cNvSpPr>
          <p:nvPr/>
        </p:nvSpPr>
        <p:spPr bwMode="auto">
          <a:xfrm>
            <a:off x="611188" y="377348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当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en-US" altLang="zh-CN" b="1">
                <a:latin typeface="Times New Roman" panose="02020603050405020304" pitchFamily="18" charset="0"/>
              </a:rPr>
              <a:t>= 0</a:t>
            </a:r>
            <a:r>
              <a:rPr kumimoji="1" lang="zh-CN" altLang="en-US" b="1">
                <a:latin typeface="Times New Roman" panose="02020603050405020304" pitchFamily="18" charset="0"/>
              </a:rPr>
              <a:t>时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(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</a:rPr>
              <a:t>=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/(2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1" lang="en-US" altLang="zh-CN" b="1">
                <a:latin typeface="Times New Roman" panose="02020603050405020304" pitchFamily="18" charset="0"/>
              </a:rPr>
              <a:t>) = 0.612[rad]</a:t>
            </a:r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560388" y="4349750"/>
            <a:ext cx="6964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上升高度为 </a:t>
            </a:r>
            <a:r>
              <a:rPr kumimoji="1" lang="en-US" altLang="zh-CN" b="1" i="1">
                <a:latin typeface="Times New Roman" panose="02020603050405020304" pitchFamily="18" charset="0"/>
              </a:rPr>
              <a:t>h </a:t>
            </a:r>
            <a:r>
              <a:rPr kumimoji="1" lang="en-US" altLang="zh-CN" b="1">
                <a:latin typeface="Times New Roman" panose="02020603050405020304" pitchFamily="18" charset="0"/>
              </a:rPr>
              <a:t>= </a:t>
            </a:r>
            <a:r>
              <a:rPr kumimoji="1" lang="en-US" altLang="zh-CN" b="1" i="1">
                <a:latin typeface="Times New Roman" panose="02020603050405020304" pitchFamily="18" charset="0"/>
              </a:rPr>
              <a:t>R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(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</a:rPr>
              <a:t>= 6.12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b="1">
                <a:latin typeface="Times New Roman" panose="02020603050405020304" pitchFamily="18" charset="0"/>
              </a:rPr>
              <a:t>10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-2</a:t>
            </a:r>
            <a:r>
              <a:rPr kumimoji="1" lang="en-US" altLang="zh-CN" b="1">
                <a:latin typeface="Times New Roman" panose="02020603050405020304" pitchFamily="18" charset="0"/>
              </a:rPr>
              <a:t>[m]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auto">
          <a:xfrm>
            <a:off x="179388" y="4926013"/>
            <a:ext cx="8591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(3)</a:t>
            </a:r>
            <a:r>
              <a:rPr kumimoji="1" lang="zh-CN" altLang="en-US" b="1">
                <a:latin typeface="Times New Roman" panose="02020603050405020304" pitchFamily="18" charset="0"/>
              </a:rPr>
              <a:t>定滑轮从</a:t>
            </a:r>
            <a:r>
              <a:rPr kumimoji="1"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b="1">
                <a:latin typeface="Times New Roman" panose="02020603050405020304" pitchFamily="18" charset="0"/>
              </a:rPr>
              <a:t>= 0</a:t>
            </a:r>
            <a:r>
              <a:rPr kumimoji="1" lang="zh-CN" altLang="en-US" b="1">
                <a:latin typeface="Times New Roman" panose="02020603050405020304" pitchFamily="18" charset="0"/>
              </a:rPr>
              <a:t>开始作匀加速转动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kumimoji="1" lang="en-US" altLang="zh-CN" b="1" i="1">
                <a:latin typeface="Times New Roman" panose="02020603050405020304" pitchFamily="18" charset="0"/>
              </a:rPr>
              <a:t>= </a:t>
            </a:r>
            <a:r>
              <a:rPr kumimoji="1" lang="en-US" altLang="zh-CN" b="1">
                <a:latin typeface="Times New Roman" panose="02020603050405020304" pitchFamily="18" charset="0"/>
              </a:rPr>
              <a:t>81.7rad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>
                <a:latin typeface="Times New Roman" panose="02020603050405020304" pitchFamily="18" charset="0"/>
              </a:rPr>
              <a:t>s</a:t>
            </a:r>
            <a:r>
              <a:rPr kumimoji="1" lang="en-US" altLang="zh-CN" b="1" baseline="30%">
                <a:latin typeface="Times New Roman" panose="02020603050405020304" pitchFamily="18" charset="0"/>
              </a:rPr>
              <a:t>-2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7622" name="Group 38"/>
          <p:cNvGrpSpPr>
            <a:grpSpLocks/>
          </p:cNvGrpSpPr>
          <p:nvPr/>
        </p:nvGrpSpPr>
        <p:grpSpPr bwMode="auto">
          <a:xfrm>
            <a:off x="611188" y="5445125"/>
            <a:ext cx="3619500" cy="576263"/>
            <a:chOff x="204" y="3430"/>
            <a:chExt cx="2280" cy="363"/>
          </a:xfrm>
        </p:grpSpPr>
        <p:sp>
          <p:nvSpPr>
            <p:cNvPr id="67616" name="Text Box 32"/>
            <p:cNvSpPr txBox="1">
              <a:spLocks noChangeArrowheads="1"/>
            </p:cNvSpPr>
            <p:nvPr/>
          </p:nvSpPr>
          <p:spPr bwMode="auto">
            <a:xfrm>
              <a:off x="204" y="3439"/>
              <a:ext cx="7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b="1">
                  <a:latin typeface="Times New Roman" panose="02020603050405020304" pitchFamily="18" charset="0"/>
                </a:rPr>
                <a:t>由</a:t>
              </a:r>
            </a:p>
          </p:txBody>
        </p:sp>
        <p:graphicFrame>
          <p:nvGraphicFramePr>
            <p:cNvPr id="67617" name="Object 33"/>
            <p:cNvGraphicFramePr>
              <a:graphicFrameLocks noChangeAspect="1"/>
            </p:cNvGraphicFramePr>
            <p:nvPr/>
          </p:nvGraphicFramePr>
          <p:xfrm>
            <a:off x="521" y="3430"/>
            <a:ext cx="1963" cy="36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7718" name="公式" r:id="rId12" imgW="1257120" imgH="253800" progId="Equation.3">
                    <p:embed/>
                  </p:oleObj>
                </mc:Choice>
                <mc:Fallback>
                  <p:oleObj name="公式" r:id="rId12" imgW="1257120" imgH="2538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430"/>
                          <a:ext cx="1963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618" name="Object 34"/>
          <p:cNvGraphicFramePr>
            <a:graphicFrameLocks noChangeAspect="1"/>
          </p:cNvGraphicFramePr>
          <p:nvPr/>
        </p:nvGraphicFramePr>
        <p:xfrm>
          <a:off x="684213" y="6021388"/>
          <a:ext cx="4041775" cy="5635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7719" name="公式" r:id="rId14" imgW="1803240" imgH="253800" progId="Equation.3">
                  <p:embed/>
                </p:oleObj>
              </mc:Choice>
              <mc:Fallback>
                <p:oleObj name="公式" r:id="rId14" imgW="1803240" imgH="2538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6021388"/>
                        <a:ext cx="40417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9" name="Text Box 35"/>
          <p:cNvSpPr txBox="1">
            <a:spLocks noChangeArrowheads="1"/>
          </p:cNvSpPr>
          <p:nvPr/>
        </p:nvSpPr>
        <p:spPr bwMode="auto">
          <a:xfrm>
            <a:off x="4816475" y="6034088"/>
            <a:ext cx="1739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方向</a:t>
            </a:r>
            <a:r>
              <a:rPr kumimoji="1" lang="en-US" altLang="zh-CN" b="1">
                <a:latin typeface="Times New Roman" panose="02020603050405020304" pitchFamily="18" charset="0"/>
              </a:rPr>
              <a:t>:⊙</a:t>
            </a:r>
          </a:p>
        </p:txBody>
      </p:sp>
      <p:sp>
        <p:nvSpPr>
          <p:cNvPr id="67621" name="Text Box 37"/>
          <p:cNvSpPr txBox="1">
            <a:spLocks noChangeArrowheads="1"/>
          </p:cNvSpPr>
          <p:nvPr/>
        </p:nvSpPr>
        <p:spPr bwMode="auto">
          <a:xfrm>
            <a:off x="7235825" y="355600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sz="2400" b="1">
                <a:sym typeface="Symbol" panose="05050102010706020507" pitchFamily="18" charset="2"/>
              </a:rPr>
              <a:t> </a:t>
            </a:r>
            <a:r>
              <a:rPr kumimoji="1" lang="zh-CN" altLang="en-US" sz="2400" b="1">
                <a:sym typeface="Symbol" panose="05050102010706020507" pitchFamily="18" charset="2"/>
              </a:rPr>
              <a:t>为</a:t>
            </a:r>
            <a:r>
              <a:rPr kumimoji="1" lang="zh-CN" altLang="en-US" sz="2400" b="1"/>
              <a:t>正方向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67628" name="Group 44"/>
          <p:cNvGrpSpPr>
            <a:grpSpLocks/>
          </p:cNvGrpSpPr>
          <p:nvPr/>
        </p:nvGrpSpPr>
        <p:grpSpPr bwMode="auto">
          <a:xfrm>
            <a:off x="827088" y="692150"/>
            <a:ext cx="4343400" cy="1447800"/>
            <a:chOff x="521" y="436"/>
            <a:chExt cx="2736" cy="912"/>
          </a:xfrm>
        </p:grpSpPr>
        <p:sp>
          <p:nvSpPr>
            <p:cNvPr id="67604" name="Text Box 20"/>
            <p:cNvSpPr txBox="1">
              <a:spLocks noChangeArrowheads="1"/>
            </p:cNvSpPr>
            <p:nvPr/>
          </p:nvSpPr>
          <p:spPr bwMode="auto">
            <a:xfrm>
              <a:off x="665" y="436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T </a:t>
              </a:r>
              <a:r>
                <a:rPr lang="en-US" altLang="zh-CN" b="1">
                  <a:solidFill>
                    <a:srgbClr val="000000"/>
                  </a:solidFill>
                </a:rPr>
                <a:t>–</a:t>
              </a:r>
              <a:r>
                <a:rPr kumimoji="1" lang="en-US" altLang="zh-CN"/>
                <a:t>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mg 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=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ma</a:t>
              </a:r>
            </a:p>
          </p:txBody>
        </p:sp>
        <p:sp>
          <p:nvSpPr>
            <p:cNvPr id="67605" name="Text Box 21"/>
            <p:cNvSpPr txBox="1">
              <a:spLocks noChangeArrowheads="1"/>
            </p:cNvSpPr>
            <p:nvPr/>
          </p:nvSpPr>
          <p:spPr bwMode="auto">
            <a:xfrm>
              <a:off x="665" y="724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lang="en-US" altLang="zh-CN" b="1">
                  <a:solidFill>
                    <a:srgbClr val="000000"/>
                  </a:solidFill>
                </a:rPr>
                <a:t>–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TR 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=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7606" name="Text Box 22"/>
            <p:cNvSpPr txBox="1">
              <a:spLocks noChangeArrowheads="1"/>
            </p:cNvSpPr>
            <p:nvPr/>
          </p:nvSpPr>
          <p:spPr bwMode="auto">
            <a:xfrm>
              <a:off x="713" y="1021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a 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=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7608" name="Text Box 24"/>
            <p:cNvSpPr txBox="1">
              <a:spLocks noChangeArrowheads="1"/>
            </p:cNvSpPr>
            <p:nvPr/>
          </p:nvSpPr>
          <p:spPr bwMode="auto">
            <a:xfrm>
              <a:off x="2153" y="733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J 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=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MR</a:t>
              </a:r>
              <a:r>
                <a:rPr kumimoji="1" lang="en-US" altLang="zh-CN" b="1" baseline="30%">
                  <a:latin typeface="Times New Roman" panose="02020603050405020304" pitchFamily="18" charset="0"/>
                </a:rPr>
                <a:t>2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/2</a:t>
              </a:r>
            </a:p>
          </p:txBody>
        </p:sp>
        <p:pic>
          <p:nvPicPr>
            <p:cNvPr id="67626" name="Picture 42" descr="图片1"/>
            <p:cNvPicPr>
              <a:picLocks noChangeAspect="1" noChangeArrowheads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%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21" y="572"/>
              <a:ext cx="276" cy="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decel="100%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10" grpId="0"/>
      <p:bldP spid="67611" grpId="0"/>
      <p:bldP spid="67612" grpId="0"/>
      <p:bldP spid="67613" grpId="0"/>
      <p:bldP spid="67614" grpId="0"/>
      <p:bldP spid="67619" grpId="0"/>
    </p:bldLst>
  </p:timing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63" name="Group 47"/>
          <p:cNvGrpSpPr>
            <a:grpSpLocks/>
          </p:cNvGrpSpPr>
          <p:nvPr/>
        </p:nvGrpSpPr>
        <p:grpSpPr bwMode="auto">
          <a:xfrm>
            <a:off x="5076825" y="4518025"/>
            <a:ext cx="3873500" cy="150813"/>
            <a:chOff x="3198" y="2335"/>
            <a:chExt cx="2440" cy="97"/>
          </a:xfrm>
        </p:grpSpPr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3334" y="2336"/>
              <a:ext cx="2304" cy="96"/>
            </a:xfrm>
            <a:prstGeom prst="rect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50%">
                  <a:schemeClr val="accent1"/>
                </a:gs>
                <a:gs pos="100%">
                  <a:schemeClr val="accent1">
                    <a:gamma/>
                    <a:shade val="46.275%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1" name="Rectangle 45"/>
            <p:cNvSpPr>
              <a:spLocks noChangeArrowheads="1"/>
            </p:cNvSpPr>
            <p:nvPr/>
          </p:nvSpPr>
          <p:spPr bwMode="auto">
            <a:xfrm>
              <a:off x="3198" y="2335"/>
              <a:ext cx="136" cy="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%">
                        <a:schemeClr val="accent1">
                          <a:gamma/>
                          <a:shade val="46.275%"/>
                          <a:invGamma/>
                        </a:schemeClr>
                      </a:gs>
                      <a:gs pos="50%">
                        <a:schemeClr val="accent1"/>
                      </a:gs>
                      <a:gs pos="100%">
                        <a:schemeClr val="accent1">
                          <a:gamma/>
                          <a:shade val="46.275%"/>
                          <a:invGamma/>
                        </a:scheme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52413" y="188913"/>
            <a:ext cx="8640762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16. </a:t>
            </a:r>
            <a:r>
              <a:rPr kumimoji="1" lang="zh-CN" altLang="en-US" b="1">
                <a:latin typeface="Times New Roman" panose="02020603050405020304" pitchFamily="18" charset="0"/>
              </a:rPr>
              <a:t>一质量为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>
                <a:latin typeface="Times New Roman" panose="02020603050405020304" pitchFamily="18" charset="0"/>
              </a:rPr>
              <a:t> ,</a:t>
            </a:r>
            <a:r>
              <a:rPr kumimoji="1" lang="zh-CN" altLang="en-US" b="1">
                <a:latin typeface="Times New Roman" panose="02020603050405020304" pitchFamily="18" charset="0"/>
              </a:rPr>
              <a:t>长度为 </a:t>
            </a:r>
            <a:r>
              <a:rPr kumimoji="1" lang="en-US" altLang="zh-CN" b="1" i="1">
                <a:latin typeface="Times New Roman" panose="02020603050405020304" pitchFamily="18" charset="0"/>
              </a:rPr>
              <a:t>l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的均匀细杆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放在光滑的水平桌面上，可绕通过其中点 </a:t>
            </a:r>
            <a:r>
              <a:rPr kumimoji="1" lang="en-US" altLang="zh-CN" b="1">
                <a:latin typeface="Times New Roman" panose="02020603050405020304" pitchFamily="18" charset="0"/>
              </a:rPr>
              <a:t>O  </a:t>
            </a:r>
            <a:r>
              <a:rPr kumimoji="1" lang="zh-CN" altLang="en-US" b="1">
                <a:latin typeface="Times New Roman" panose="02020603050405020304" pitchFamily="18" charset="0"/>
              </a:rPr>
              <a:t>的光滑固定竖直轴转动，开始时静止。一质量为 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的（</a:t>
            </a:r>
            <a:r>
              <a:rPr kumimoji="1" lang="en-US" altLang="zh-CN" b="1" i="1">
                <a:latin typeface="Times New Roman" panose="02020603050405020304" pitchFamily="18" charset="0"/>
              </a:rPr>
              <a:t>m </a:t>
            </a:r>
            <a:r>
              <a:rPr kumimoji="1" lang="en-US" altLang="zh-CN" b="1">
                <a:latin typeface="Times New Roman" panose="02020603050405020304" pitchFamily="18" charset="0"/>
              </a:rPr>
              <a:t>&lt; 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zh-CN" altLang="en-US" b="1">
                <a:latin typeface="Times New Roman" panose="02020603050405020304" pitchFamily="18" charset="0"/>
              </a:rPr>
              <a:t>）子弹以速度 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垂直击中杆的一端，撞击后从杆的一端打下质量也为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的一段（可视为质点），与子弹结合在一起以 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/ 8  </a:t>
            </a:r>
            <a:r>
              <a:rPr kumimoji="1" lang="zh-CN" altLang="en-US" b="1">
                <a:latin typeface="Times New Roman" panose="02020603050405020304" pitchFamily="18" charset="0"/>
              </a:rPr>
              <a:t>的速度沿垂直于杆的方向飞出，如图。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撞击后瞬间杆转动的角速度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; (2)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撞击过程中的机械能损失。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grpSp>
        <p:nvGrpSpPr>
          <p:cNvPr id="34862" name="Group 46"/>
          <p:cNvGrpSpPr>
            <a:grpSpLocks/>
          </p:cNvGrpSpPr>
          <p:nvPr/>
        </p:nvGrpSpPr>
        <p:grpSpPr bwMode="auto">
          <a:xfrm>
            <a:off x="6819900" y="4121150"/>
            <a:ext cx="420688" cy="504825"/>
            <a:chOff x="4284" y="2069"/>
            <a:chExt cx="265" cy="318"/>
          </a:xfrm>
        </p:grpSpPr>
        <p:sp>
          <p:nvSpPr>
            <p:cNvPr id="34837" name="Oval 21"/>
            <p:cNvSpPr>
              <a:spLocks noChangeArrowheads="1"/>
            </p:cNvSpPr>
            <p:nvPr/>
          </p:nvSpPr>
          <p:spPr bwMode="auto">
            <a:xfrm>
              <a:off x="4375" y="2342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Text Box 23"/>
            <p:cNvSpPr txBox="1">
              <a:spLocks noChangeArrowheads="1"/>
            </p:cNvSpPr>
            <p:nvPr/>
          </p:nvSpPr>
          <p:spPr bwMode="auto">
            <a:xfrm>
              <a:off x="4284" y="2069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</p:grpSp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4067175" y="5754688"/>
          <a:ext cx="2881313" cy="9874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4912" name="公式" r:id="rId3" imgW="1257120" imgH="431640" progId="Equation.3">
                  <p:embed/>
                </p:oleObj>
              </mc:Choice>
              <mc:Fallback>
                <p:oleObj name="公式" r:id="rId3" imgW="1257120" imgH="4316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754688"/>
                        <a:ext cx="288131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1" name="Text Box 25"/>
          <p:cNvSpPr txBox="1">
            <a:spLocks noChangeArrowheads="1"/>
          </p:cNvSpPr>
          <p:nvPr/>
        </p:nvSpPr>
        <p:spPr bwMode="auto">
          <a:xfrm>
            <a:off x="250825" y="3414713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 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</a:rPr>
              <a:t>由角动量守恒</a:t>
            </a:r>
          </a:p>
        </p:txBody>
      </p:sp>
      <p:graphicFrame>
        <p:nvGraphicFramePr>
          <p:cNvPr id="34842" name="Object 26"/>
          <p:cNvGraphicFramePr>
            <a:graphicFrameLocks noChangeAspect="1"/>
          </p:cNvGraphicFramePr>
          <p:nvPr/>
        </p:nvGraphicFramePr>
        <p:xfrm>
          <a:off x="468313" y="4076700"/>
          <a:ext cx="3816350" cy="9271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4913" name="公式" r:id="rId5" imgW="1676160" imgH="406080" progId="Equation.3">
                  <p:embed/>
                </p:oleObj>
              </mc:Choice>
              <mc:Fallback>
                <p:oleObj name="公式" r:id="rId5" imgW="1676160" imgH="4060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38163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7"/>
          <p:cNvGraphicFramePr>
            <a:graphicFrameLocks noChangeAspect="1"/>
          </p:cNvGraphicFramePr>
          <p:nvPr/>
        </p:nvGraphicFramePr>
        <p:xfrm>
          <a:off x="395288" y="4975225"/>
          <a:ext cx="3036887" cy="9017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4914" name="Equation" r:id="rId7" imgW="1371600" imgH="406080" progId="Equation.3">
                  <p:embed/>
                </p:oleObj>
              </mc:Choice>
              <mc:Fallback>
                <p:oleObj name="Equation" r:id="rId7" imgW="1371600" imgH="4060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975225"/>
                        <a:ext cx="30368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28"/>
          <p:cNvGraphicFramePr>
            <a:graphicFrameLocks noChangeAspect="1"/>
          </p:cNvGraphicFramePr>
          <p:nvPr/>
        </p:nvGraphicFramePr>
        <p:xfrm>
          <a:off x="955675" y="5805488"/>
          <a:ext cx="2392363" cy="9032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4915" name="Equation" r:id="rId9" imgW="1079280" imgH="406080" progId="Equation.3">
                  <p:embed/>
                </p:oleObj>
              </mc:Choice>
              <mc:Fallback>
                <p:oleObj name="Equation" r:id="rId9" imgW="1079280" imgH="4060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5805488"/>
                        <a:ext cx="2392363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58" name="Group 42"/>
          <p:cNvGrpSpPr>
            <a:grpSpLocks/>
          </p:cNvGrpSpPr>
          <p:nvPr/>
        </p:nvGrpSpPr>
        <p:grpSpPr bwMode="auto">
          <a:xfrm>
            <a:off x="4500563" y="4981575"/>
            <a:ext cx="741362" cy="463550"/>
            <a:chOff x="204" y="3864"/>
            <a:chExt cx="467" cy="292"/>
          </a:xfrm>
        </p:grpSpPr>
        <p:grpSp>
          <p:nvGrpSpPr>
            <p:cNvPr id="34849" name="Group 33"/>
            <p:cNvGrpSpPr>
              <a:grpSpLocks/>
            </p:cNvGrpSpPr>
            <p:nvPr/>
          </p:nvGrpSpPr>
          <p:grpSpPr bwMode="auto">
            <a:xfrm>
              <a:off x="204" y="3864"/>
              <a:ext cx="363" cy="292"/>
              <a:chOff x="22" y="3612"/>
              <a:chExt cx="363" cy="292"/>
            </a:xfrm>
          </p:grpSpPr>
          <p:sp>
            <p:nvSpPr>
              <p:cNvPr id="34836" name="Line 20"/>
              <p:cNvSpPr>
                <a:spLocks noChangeShapeType="1"/>
              </p:cNvSpPr>
              <p:nvPr/>
            </p:nvSpPr>
            <p:spPr bwMode="auto">
              <a:xfrm flipV="1">
                <a:off x="295" y="3702"/>
                <a:ext cx="0" cy="20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8" name="Text Box 22"/>
              <p:cNvSpPr txBox="1">
                <a:spLocks noChangeArrowheads="1"/>
              </p:cNvSpPr>
              <p:nvPr/>
            </p:nvSpPr>
            <p:spPr bwMode="auto">
              <a:xfrm>
                <a:off x="22" y="36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i="1">
                    <a:latin typeface="Bookman Old Style" panose="020506040505050202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34855" name="Group 39"/>
            <p:cNvGrpSpPr>
              <a:grpSpLocks/>
            </p:cNvGrpSpPr>
            <p:nvPr/>
          </p:nvGrpSpPr>
          <p:grpSpPr bwMode="auto">
            <a:xfrm>
              <a:off x="581" y="3929"/>
              <a:ext cx="90" cy="227"/>
              <a:chOff x="1632" y="3216"/>
              <a:chExt cx="48" cy="288"/>
            </a:xfrm>
          </p:grpSpPr>
          <p:sp>
            <p:nvSpPr>
              <p:cNvPr id="34856" name="Rectangle 40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48" cy="192"/>
              </a:xfrm>
              <a:prstGeom prst="rect">
                <a:avLst/>
              </a:prstGeom>
              <a:gradFill rotWithShape="0">
                <a:gsLst>
                  <a:gs pos="0%">
                    <a:srgbClr val="FFCC00"/>
                  </a:gs>
                  <a:gs pos="50%">
                    <a:srgbClr val="FFFFFF"/>
                  </a:gs>
                  <a:gs pos="100%">
                    <a:srgbClr val="FFCC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57" name="AutoShape 41"/>
              <p:cNvSpPr>
                <a:spLocks noChangeArrowheads="1"/>
              </p:cNvSpPr>
              <p:nvPr/>
            </p:nvSpPr>
            <p:spPr bwMode="auto">
              <a:xfrm>
                <a:off x="1632" y="3216"/>
                <a:ext cx="48" cy="96"/>
              </a:xfrm>
              <a:prstGeom prst="triangle">
                <a:avLst>
                  <a:gd name="adj" fmla="val 50000"/>
                </a:avLst>
              </a:prstGeom>
              <a:gradFill rotWithShape="0">
                <a:gsLst>
                  <a:gs pos="0%">
                    <a:srgbClr val="FFCC00"/>
                  </a:gs>
                  <a:gs pos="50%">
                    <a:srgbClr val="FFFFFF"/>
                  </a:gs>
                  <a:gs pos="100%">
                    <a:srgbClr val="FFCC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59" name="Group 43"/>
          <p:cNvGrpSpPr>
            <a:grpSpLocks/>
          </p:cNvGrpSpPr>
          <p:nvPr/>
        </p:nvGrpSpPr>
        <p:grpSpPr bwMode="auto">
          <a:xfrm>
            <a:off x="5076825" y="4076700"/>
            <a:ext cx="863600" cy="838200"/>
            <a:chOff x="431" y="2795"/>
            <a:chExt cx="544" cy="528"/>
          </a:xfrm>
        </p:grpSpPr>
        <p:grpSp>
          <p:nvGrpSpPr>
            <p:cNvPr id="34851" name="Group 35"/>
            <p:cNvGrpSpPr>
              <a:grpSpLocks/>
            </p:cNvGrpSpPr>
            <p:nvPr/>
          </p:nvGrpSpPr>
          <p:grpSpPr bwMode="auto">
            <a:xfrm>
              <a:off x="445" y="3025"/>
              <a:ext cx="90" cy="227"/>
              <a:chOff x="1632" y="3216"/>
              <a:chExt cx="48" cy="288"/>
            </a:xfrm>
          </p:grpSpPr>
          <p:sp>
            <p:nvSpPr>
              <p:cNvPr id="34852" name="Rectangle 36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48" cy="192"/>
              </a:xfrm>
              <a:prstGeom prst="rect">
                <a:avLst/>
              </a:prstGeom>
              <a:gradFill rotWithShape="0">
                <a:gsLst>
                  <a:gs pos="0%">
                    <a:srgbClr val="FFCC00"/>
                  </a:gs>
                  <a:gs pos="50%">
                    <a:srgbClr val="FFFFFF"/>
                  </a:gs>
                  <a:gs pos="100%">
                    <a:srgbClr val="FFCC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53" name="AutoShape 37"/>
              <p:cNvSpPr>
                <a:spLocks noChangeArrowheads="1"/>
              </p:cNvSpPr>
              <p:nvPr/>
            </p:nvSpPr>
            <p:spPr bwMode="auto">
              <a:xfrm>
                <a:off x="1632" y="3216"/>
                <a:ext cx="48" cy="96"/>
              </a:xfrm>
              <a:prstGeom prst="triangle">
                <a:avLst>
                  <a:gd name="adj" fmla="val 50000"/>
                </a:avLst>
              </a:prstGeom>
              <a:gradFill rotWithShape="0">
                <a:gsLst>
                  <a:gs pos="0%">
                    <a:srgbClr val="FFCC00"/>
                  </a:gs>
                  <a:gs pos="50%">
                    <a:srgbClr val="FFFFFF"/>
                  </a:gs>
                  <a:gs pos="100%">
                    <a:srgbClr val="FFCC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26" name="Rectangle 10"/>
            <p:cNvSpPr>
              <a:spLocks noChangeArrowheads="1"/>
            </p:cNvSpPr>
            <p:nvPr/>
          </p:nvSpPr>
          <p:spPr bwMode="auto">
            <a:xfrm>
              <a:off x="431" y="3067"/>
              <a:ext cx="136" cy="100"/>
            </a:xfrm>
            <a:prstGeom prst="rect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50%">
                  <a:schemeClr val="accent1"/>
                </a:gs>
                <a:gs pos="100%">
                  <a:schemeClr val="accent1">
                    <a:gamma/>
                    <a:shade val="46.275%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850" name="Group 34"/>
            <p:cNvGrpSpPr>
              <a:grpSpLocks/>
            </p:cNvGrpSpPr>
            <p:nvPr/>
          </p:nvGrpSpPr>
          <p:grpSpPr bwMode="auto">
            <a:xfrm>
              <a:off x="638" y="2795"/>
              <a:ext cx="337" cy="528"/>
              <a:chOff x="657" y="2840"/>
              <a:chExt cx="337" cy="528"/>
            </a:xfrm>
          </p:grpSpPr>
          <p:sp>
            <p:nvSpPr>
              <p:cNvPr id="34825" name="Line 9"/>
              <p:cNvSpPr>
                <a:spLocks noChangeShapeType="1"/>
              </p:cNvSpPr>
              <p:nvPr/>
            </p:nvSpPr>
            <p:spPr bwMode="auto">
              <a:xfrm flipV="1">
                <a:off x="657" y="305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827" name="Group 11"/>
              <p:cNvGrpSpPr>
                <a:grpSpLocks/>
              </p:cNvGrpSpPr>
              <p:nvPr/>
            </p:nvGrpSpPr>
            <p:grpSpPr bwMode="auto">
              <a:xfrm>
                <a:off x="710" y="2840"/>
                <a:ext cx="284" cy="528"/>
                <a:chOff x="2304" y="2208"/>
                <a:chExt cx="284" cy="528"/>
              </a:xfrm>
            </p:grpSpPr>
            <p:sp>
              <p:nvSpPr>
                <p:cNvPr id="348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304" y="2208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400" b="1" i="1">
                      <a:latin typeface="Bookman Old Style" panose="02050604050505020204" pitchFamily="18" charset="0"/>
                    </a:rPr>
                    <a:t>v</a:t>
                  </a:r>
                  <a:r>
                    <a:rPr kumimoji="1" lang="en-US" altLang="zh-CN" sz="2400" b="1" baseline="-25%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34829" name="Line 13"/>
                <p:cNvSpPr>
                  <a:spLocks noChangeShapeType="1"/>
                </p:cNvSpPr>
                <p:nvPr/>
              </p:nvSpPr>
              <p:spPr bwMode="auto">
                <a:xfrm>
                  <a:off x="2304" y="249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3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04" y="24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</p:grpSp>
        </p:grpSp>
      </p:grpSp>
      <p:sp>
        <p:nvSpPr>
          <p:cNvPr id="34860" name="Rectangle 44"/>
          <p:cNvSpPr>
            <a:spLocks noChangeArrowheads="1"/>
          </p:cNvSpPr>
          <p:nvPr/>
        </p:nvSpPr>
        <p:spPr bwMode="auto">
          <a:xfrm>
            <a:off x="5076825" y="4518025"/>
            <a:ext cx="215900" cy="150813"/>
          </a:xfrm>
          <a:prstGeom prst="rect">
            <a:avLst/>
          </a:prstGeom>
          <a:gradFill rotWithShape="1">
            <a:gsLst>
              <a:gs pos="0%">
                <a:schemeClr val="accent1">
                  <a:gamma/>
                  <a:shade val="46.275%"/>
                  <a:invGamma/>
                </a:schemeClr>
              </a:gs>
              <a:gs pos="50%">
                <a:schemeClr val="accent1"/>
              </a:gs>
              <a:gs pos="100%">
                <a:schemeClr val="accent1">
                  <a:gamma/>
                  <a:shade val="46.275%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1 -1.11111E-6 L -0.00104 -0.08565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4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%" y="-4.282%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348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85185E-6 L 1.38889E-6 -0.1240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48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%" y="-6.204%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decel="100%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1" grpId="0" autoUpdateAnimBg="0"/>
      <p:bldP spid="34860" grpId="0" animBg="1"/>
    </p:bldLst>
  </p:timing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3" name="Text Box 43"/>
          <p:cNvSpPr txBox="1">
            <a:spLocks noChangeArrowheads="1"/>
          </p:cNvSpPr>
          <p:nvPr/>
        </p:nvSpPr>
        <p:spPr bwMode="auto">
          <a:xfrm>
            <a:off x="250825" y="115888"/>
            <a:ext cx="403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损失的机械能</a:t>
            </a:r>
          </a:p>
        </p:txBody>
      </p:sp>
      <p:graphicFrame>
        <p:nvGraphicFramePr>
          <p:cNvPr id="35884" name="Object 44"/>
          <p:cNvGraphicFramePr>
            <a:graphicFrameLocks noChangeAspect="1"/>
          </p:cNvGraphicFramePr>
          <p:nvPr/>
        </p:nvGraphicFramePr>
        <p:xfrm>
          <a:off x="323850" y="547688"/>
          <a:ext cx="6119813" cy="10382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5942" name="公式" r:id="rId3" imgW="2400120" imgH="406080" progId="Equation.3">
                  <p:embed/>
                </p:oleObj>
              </mc:Choice>
              <mc:Fallback>
                <p:oleObj name="公式" r:id="rId3" imgW="2400120" imgH="4060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47688"/>
                        <a:ext cx="61198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5" name="Object 45"/>
          <p:cNvGraphicFramePr>
            <a:graphicFrameLocks noChangeAspect="1"/>
          </p:cNvGraphicFramePr>
          <p:nvPr/>
        </p:nvGraphicFramePr>
        <p:xfrm>
          <a:off x="1042988" y="1508125"/>
          <a:ext cx="7200900" cy="10572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5943" name="公式" r:id="rId5" imgW="3187440" imgH="444240" progId="Equation.3">
                  <p:embed/>
                </p:oleObj>
              </mc:Choice>
              <mc:Fallback>
                <p:oleObj name="公式" r:id="rId5" imgW="3187440" imgH="4442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508125"/>
                        <a:ext cx="72009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6" name="Object 46"/>
          <p:cNvGraphicFramePr>
            <a:graphicFrameLocks noChangeAspect="1"/>
          </p:cNvGraphicFramePr>
          <p:nvPr/>
        </p:nvGraphicFramePr>
        <p:xfrm>
          <a:off x="1042988" y="2492375"/>
          <a:ext cx="4392612" cy="10350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5944" name="公式" r:id="rId7" imgW="1726920" imgH="406080" progId="Equation.3">
                  <p:embed/>
                </p:oleObj>
              </mc:Choice>
              <mc:Fallback>
                <p:oleObj name="公式" r:id="rId7" imgW="1726920" imgH="40608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492375"/>
                        <a:ext cx="4392612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323850" y="163513"/>
            <a:ext cx="8569325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倾角为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的固定光滑斜面上端有质量为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=10kg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=0.1m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的定滑轮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滑轮对转轴的转动惯量为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=0.02kg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。滑轮上绕着细绳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细绳拉紧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一端悬挂质量为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=5kg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另一端与斜面上质量为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=8kg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相连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如图所示。若系统由静止开始运动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且绳子不打滑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求：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滑动的加速度；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开始运动后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重力对其所做的功。</a:t>
            </a:r>
          </a:p>
        </p:txBody>
      </p:sp>
      <p:grpSp>
        <p:nvGrpSpPr>
          <p:cNvPr id="122885" name="Group 5"/>
          <p:cNvGrpSpPr>
            <a:grpSpLocks/>
          </p:cNvGrpSpPr>
          <p:nvPr/>
        </p:nvGrpSpPr>
        <p:grpSpPr bwMode="auto">
          <a:xfrm>
            <a:off x="5649913" y="3635375"/>
            <a:ext cx="3314700" cy="2398713"/>
            <a:chOff x="3468" y="1979"/>
            <a:chExt cx="2088" cy="1511"/>
          </a:xfrm>
        </p:grpSpPr>
        <p:sp>
          <p:nvSpPr>
            <p:cNvPr id="122886" name="AutoShape 6" descr="纸莎草纸"/>
            <p:cNvSpPr>
              <a:spLocks noChangeArrowheads="1"/>
            </p:cNvSpPr>
            <p:nvPr/>
          </p:nvSpPr>
          <p:spPr bwMode="auto">
            <a:xfrm>
              <a:off x="4053" y="2495"/>
              <a:ext cx="1502" cy="938"/>
            </a:xfrm>
            <a:prstGeom prst="rtTriangle">
              <a:avLst/>
            </a:prstGeom>
            <a:blipFill dpi="0" rotWithShape="1">
              <a:blip r:embed="rId3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87" name="Oval 7"/>
            <p:cNvSpPr>
              <a:spLocks noChangeArrowheads="1"/>
            </p:cNvSpPr>
            <p:nvPr/>
          </p:nvSpPr>
          <p:spPr bwMode="auto">
            <a:xfrm>
              <a:off x="3828" y="2250"/>
              <a:ext cx="258" cy="256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100%">
                  <a:schemeClr val="accent1"/>
                </a:gs>
              </a:gsLst>
              <a:path path="shape">
                <a:fillToRect l="50%" t="50%" r="50%" b="50%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88" name="Line 8"/>
            <p:cNvSpPr>
              <a:spLocks noChangeShapeType="1"/>
            </p:cNvSpPr>
            <p:nvPr/>
          </p:nvSpPr>
          <p:spPr bwMode="auto">
            <a:xfrm>
              <a:off x="3963" y="2379"/>
              <a:ext cx="95" cy="1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89" name="Rectangle 9" descr="花岗岩"/>
            <p:cNvSpPr>
              <a:spLocks noChangeArrowheads="1"/>
            </p:cNvSpPr>
            <p:nvPr/>
          </p:nvSpPr>
          <p:spPr bwMode="auto">
            <a:xfrm>
              <a:off x="3691" y="2964"/>
              <a:ext cx="274" cy="234"/>
            </a:xfrm>
            <a:prstGeom prst="rect">
              <a:avLst/>
            </a:prstGeom>
            <a:blipFill dpi="0" rotWithShape="1">
              <a:blip r:embed="rId4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0" name="Line 10"/>
            <p:cNvSpPr>
              <a:spLocks noChangeShapeType="1"/>
            </p:cNvSpPr>
            <p:nvPr/>
          </p:nvSpPr>
          <p:spPr bwMode="auto">
            <a:xfrm>
              <a:off x="3828" y="2378"/>
              <a:ext cx="1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1" name="Rectangle 11" descr="花岗岩"/>
            <p:cNvSpPr>
              <a:spLocks noChangeArrowheads="1"/>
            </p:cNvSpPr>
            <p:nvPr/>
          </p:nvSpPr>
          <p:spPr bwMode="auto">
            <a:xfrm rot="1920000">
              <a:off x="4960" y="2824"/>
              <a:ext cx="273" cy="293"/>
            </a:xfrm>
            <a:prstGeom prst="rect">
              <a:avLst/>
            </a:prstGeom>
            <a:blipFill dpi="0" rotWithShape="1">
              <a:blip r:embed="rId4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2" name="Line 12"/>
            <p:cNvSpPr>
              <a:spLocks noChangeShapeType="1"/>
            </p:cNvSpPr>
            <p:nvPr/>
          </p:nvSpPr>
          <p:spPr bwMode="auto">
            <a:xfrm>
              <a:off x="4037" y="2277"/>
              <a:ext cx="956" cy="5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3" name="Arc 13"/>
            <p:cNvSpPr>
              <a:spLocks/>
            </p:cNvSpPr>
            <p:nvPr/>
          </p:nvSpPr>
          <p:spPr bwMode="auto">
            <a:xfrm>
              <a:off x="5290" y="3294"/>
              <a:ext cx="130" cy="196"/>
            </a:xfrm>
            <a:custGeom>
              <a:avLst/>
              <a:gdLst>
                <a:gd name="G0" fmla="+- 20634 0 0"/>
                <a:gd name="G1" fmla="+- 18090 0 0"/>
                <a:gd name="G2" fmla="+- 21600 0 0"/>
                <a:gd name="T0" fmla="*/ 0 w 20634"/>
                <a:gd name="T1" fmla="*/ 11702 h 18090"/>
                <a:gd name="T2" fmla="*/ 8831 w 20634"/>
                <a:gd name="T3" fmla="*/ 0 h 18090"/>
                <a:gd name="T4" fmla="*/ 20634 w 20634"/>
                <a:gd name="T5" fmla="*/ 18090 h 1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34" h="18090" fill="none" extrusionOk="0">
                  <a:moveTo>
                    <a:pt x="0" y="11702"/>
                  </a:moveTo>
                  <a:cubicBezTo>
                    <a:pt x="1489" y="6891"/>
                    <a:pt x="4613" y="2751"/>
                    <a:pt x="8830" y="-1"/>
                  </a:cubicBezTo>
                </a:path>
                <a:path w="20634" h="18090" stroke="0" extrusionOk="0">
                  <a:moveTo>
                    <a:pt x="0" y="11702"/>
                  </a:moveTo>
                  <a:cubicBezTo>
                    <a:pt x="1489" y="6891"/>
                    <a:pt x="4613" y="2751"/>
                    <a:pt x="8830" y="-1"/>
                  </a:cubicBezTo>
                  <a:lnTo>
                    <a:pt x="20634" y="1809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4" name="Text Box 14"/>
            <p:cNvSpPr txBox="1">
              <a:spLocks noChangeArrowheads="1"/>
            </p:cNvSpPr>
            <p:nvPr/>
          </p:nvSpPr>
          <p:spPr bwMode="auto">
            <a:xfrm>
              <a:off x="5010" y="3214"/>
              <a:ext cx="54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30</a:t>
              </a: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</a:t>
              </a:r>
              <a:endParaRPr lang="en-US" altLang="zh-CN" sz="2000" b="1"/>
            </a:p>
          </p:txBody>
        </p:sp>
        <p:sp>
          <p:nvSpPr>
            <p:cNvPr id="122895" name="Text Box 15"/>
            <p:cNvSpPr txBox="1">
              <a:spLocks noChangeArrowheads="1"/>
            </p:cNvSpPr>
            <p:nvPr/>
          </p:nvSpPr>
          <p:spPr bwMode="auto">
            <a:xfrm>
              <a:off x="3468" y="2931"/>
              <a:ext cx="54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endParaRPr lang="en-US" altLang="zh-CN" sz="2400" b="1"/>
            </a:p>
          </p:txBody>
        </p:sp>
        <p:sp>
          <p:nvSpPr>
            <p:cNvPr id="122896" name="Text Box 16"/>
            <p:cNvSpPr txBox="1">
              <a:spLocks noChangeArrowheads="1"/>
            </p:cNvSpPr>
            <p:nvPr/>
          </p:nvSpPr>
          <p:spPr bwMode="auto">
            <a:xfrm>
              <a:off x="5082" y="2579"/>
              <a:ext cx="38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>
                  <a:latin typeface="Times New Roman" panose="02020603050405020304" pitchFamily="18" charset="0"/>
                </a:rPr>
                <a:t>B</a:t>
              </a:r>
              <a:endParaRPr lang="en-US" altLang="zh-CN" sz="2400" b="1"/>
            </a:p>
          </p:txBody>
        </p:sp>
        <p:sp>
          <p:nvSpPr>
            <p:cNvPr id="122897" name="Text Box 17"/>
            <p:cNvSpPr txBox="1">
              <a:spLocks noChangeArrowheads="1"/>
            </p:cNvSpPr>
            <p:nvPr/>
          </p:nvSpPr>
          <p:spPr bwMode="auto">
            <a:xfrm>
              <a:off x="3651" y="2898"/>
              <a:ext cx="546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5%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122898" name="Text Box 18"/>
            <p:cNvSpPr txBox="1">
              <a:spLocks noChangeArrowheads="1"/>
            </p:cNvSpPr>
            <p:nvPr/>
          </p:nvSpPr>
          <p:spPr bwMode="auto">
            <a:xfrm>
              <a:off x="4919" y="2750"/>
              <a:ext cx="41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 m</a:t>
              </a:r>
              <a:r>
                <a:rPr lang="en-US" altLang="zh-CN" sz="2400" b="1" baseline="-25%">
                  <a:latin typeface="Times New Roman" panose="02020603050405020304" pitchFamily="18" charset="0"/>
                </a:rPr>
                <a:t>2</a:t>
              </a:r>
              <a:endParaRPr lang="en-US" altLang="zh-CN" sz="2400" b="1"/>
            </a:p>
          </p:txBody>
        </p:sp>
        <p:sp>
          <p:nvSpPr>
            <p:cNvPr id="122899" name="Text Box 19"/>
            <p:cNvSpPr txBox="1">
              <a:spLocks noChangeArrowheads="1"/>
            </p:cNvSpPr>
            <p:nvPr/>
          </p:nvSpPr>
          <p:spPr bwMode="auto">
            <a:xfrm>
              <a:off x="3831" y="1979"/>
              <a:ext cx="54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endParaRPr lang="en-US" altLang="zh-CN" sz="2400" b="1"/>
            </a:p>
          </p:txBody>
        </p:sp>
        <p:sp>
          <p:nvSpPr>
            <p:cNvPr id="122900" name="Text Box 20"/>
            <p:cNvSpPr txBox="1">
              <a:spLocks noChangeArrowheads="1"/>
            </p:cNvSpPr>
            <p:nvPr/>
          </p:nvSpPr>
          <p:spPr bwMode="auto">
            <a:xfrm>
              <a:off x="3831" y="2352"/>
              <a:ext cx="54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endParaRPr lang="en-US" altLang="zh-CN" sz="2000" b="1"/>
            </a:p>
          </p:txBody>
        </p:sp>
      </p:grpSp>
      <p:grpSp>
        <p:nvGrpSpPr>
          <p:cNvPr id="122901" name="Group 21"/>
          <p:cNvGrpSpPr>
            <a:grpSpLocks/>
          </p:cNvGrpSpPr>
          <p:nvPr/>
        </p:nvGrpSpPr>
        <p:grpSpPr bwMode="auto">
          <a:xfrm>
            <a:off x="323850" y="3213100"/>
            <a:ext cx="5257800" cy="946150"/>
            <a:chOff x="179" y="2024"/>
            <a:chExt cx="3312" cy="596"/>
          </a:xfrm>
        </p:grpSpPr>
        <p:sp>
          <p:nvSpPr>
            <p:cNvPr id="122902" name="Text Box 22"/>
            <p:cNvSpPr txBox="1">
              <a:spLocks noChangeArrowheads="1"/>
            </p:cNvSpPr>
            <p:nvPr/>
          </p:nvSpPr>
          <p:spPr bwMode="auto">
            <a:xfrm>
              <a:off x="179" y="2024"/>
              <a:ext cx="3312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%"/>
                </a:spcBef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m</a:t>
              </a:r>
              <a:r>
                <a:rPr lang="en-US" altLang="zh-CN" b="1" baseline="-30%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%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sin30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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物体向下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B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物体沿斜面向上滑。</a:t>
              </a:r>
            </a:p>
          </p:txBody>
        </p:sp>
        <p:sp>
          <p:nvSpPr>
            <p:cNvPr id="122903" name="Text Box 23"/>
            <p:cNvSpPr txBox="1">
              <a:spLocks noChangeArrowheads="1"/>
            </p:cNvSpPr>
            <p:nvPr/>
          </p:nvSpPr>
          <p:spPr bwMode="auto">
            <a:xfrm>
              <a:off x="204" y="2024"/>
              <a:ext cx="10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解</a:t>
              </a:r>
              <a:r>
                <a:rPr lang="en-US" altLang="zh-CN" b="1">
                  <a:solidFill>
                    <a:schemeClr val="accent2"/>
                  </a:solidFill>
                  <a:latin typeface="宋体" panose="02010600030101010101" pitchFamily="2" charset="-122"/>
                </a:rPr>
                <a:t>:</a:t>
              </a:r>
            </a:p>
          </p:txBody>
        </p:sp>
      </p:grpSp>
      <p:sp>
        <p:nvSpPr>
          <p:cNvPr id="122904" name="Text Box 24"/>
          <p:cNvSpPr txBox="1">
            <a:spLocks noChangeArrowheads="1"/>
          </p:cNvSpPr>
          <p:nvPr/>
        </p:nvSpPr>
        <p:spPr bwMode="auto">
          <a:xfrm>
            <a:off x="250825" y="4684713"/>
            <a:ext cx="561657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2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sin30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定滑轮：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绳子不打滑，得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22905" name="Text Box 25"/>
          <p:cNvSpPr txBox="1">
            <a:spLocks noChangeArrowheads="1"/>
          </p:cNvSpPr>
          <p:nvPr/>
        </p:nvSpPr>
        <p:spPr bwMode="auto">
          <a:xfrm>
            <a:off x="323850" y="4165600"/>
            <a:ext cx="5688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受力分析如图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注意正负号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122906" name="Group 26"/>
          <p:cNvGrpSpPr>
            <a:grpSpLocks/>
          </p:cNvGrpSpPr>
          <p:nvPr/>
        </p:nvGrpSpPr>
        <p:grpSpPr bwMode="auto">
          <a:xfrm>
            <a:off x="6080125" y="5435600"/>
            <a:ext cx="504825" cy="715963"/>
            <a:chOff x="3741" y="3113"/>
            <a:chExt cx="318" cy="451"/>
          </a:xfrm>
        </p:grpSpPr>
        <p:sp>
          <p:nvSpPr>
            <p:cNvPr id="122907" name="Line 27"/>
            <p:cNvSpPr>
              <a:spLocks noChangeShapeType="1"/>
            </p:cNvSpPr>
            <p:nvPr/>
          </p:nvSpPr>
          <p:spPr bwMode="auto">
            <a:xfrm>
              <a:off x="3833" y="3113"/>
              <a:ext cx="0" cy="2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08" name="Object 28"/>
            <p:cNvGraphicFramePr>
              <a:graphicFrameLocks noChangeAspect="1"/>
            </p:cNvGraphicFramePr>
            <p:nvPr/>
          </p:nvGraphicFramePr>
          <p:xfrm>
            <a:off x="3741" y="3339"/>
            <a:ext cx="318" cy="22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2997" name="公式" r:id="rId5" imgW="304560" imgH="215640" progId="Equation.3">
                    <p:embed/>
                  </p:oleObj>
                </mc:Choice>
                <mc:Fallback>
                  <p:oleObj name="公式" r:id="rId5" imgW="304560" imgH="2156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1" y="3339"/>
                          <a:ext cx="31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09" name="Group 29"/>
          <p:cNvGrpSpPr>
            <a:grpSpLocks/>
          </p:cNvGrpSpPr>
          <p:nvPr/>
        </p:nvGrpSpPr>
        <p:grpSpPr bwMode="auto">
          <a:xfrm>
            <a:off x="8242300" y="5218113"/>
            <a:ext cx="574675" cy="504825"/>
            <a:chOff x="5103" y="2976"/>
            <a:chExt cx="362" cy="318"/>
          </a:xfrm>
        </p:grpSpPr>
        <p:sp>
          <p:nvSpPr>
            <p:cNvPr id="122910" name="Line 30"/>
            <p:cNvSpPr>
              <a:spLocks noChangeShapeType="1"/>
            </p:cNvSpPr>
            <p:nvPr/>
          </p:nvSpPr>
          <p:spPr bwMode="auto">
            <a:xfrm>
              <a:off x="5103" y="2976"/>
              <a:ext cx="0" cy="2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11" name="Object 31"/>
            <p:cNvGraphicFramePr>
              <a:graphicFrameLocks noChangeAspect="1"/>
            </p:cNvGraphicFramePr>
            <p:nvPr/>
          </p:nvGraphicFramePr>
          <p:xfrm>
            <a:off x="5134" y="3069"/>
            <a:ext cx="331" cy="22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2998" name="公式" r:id="rId7" imgW="317160" imgH="215640" progId="Equation.3">
                    <p:embed/>
                  </p:oleObj>
                </mc:Choice>
                <mc:Fallback>
                  <p:oleObj name="公式" r:id="rId7" imgW="317160" imgH="21564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4" y="3069"/>
                          <a:ext cx="33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12" name="Group 32"/>
          <p:cNvGrpSpPr>
            <a:grpSpLocks/>
          </p:cNvGrpSpPr>
          <p:nvPr/>
        </p:nvGrpSpPr>
        <p:grpSpPr bwMode="auto">
          <a:xfrm>
            <a:off x="5880100" y="4221163"/>
            <a:ext cx="336550" cy="481012"/>
            <a:chOff x="3601" y="2387"/>
            <a:chExt cx="212" cy="303"/>
          </a:xfrm>
        </p:grpSpPr>
        <p:sp>
          <p:nvSpPr>
            <p:cNvPr id="122913" name="Line 33"/>
            <p:cNvSpPr>
              <a:spLocks noChangeShapeType="1"/>
            </p:cNvSpPr>
            <p:nvPr/>
          </p:nvSpPr>
          <p:spPr bwMode="auto">
            <a:xfrm>
              <a:off x="3813" y="2418"/>
              <a:ext cx="0" cy="2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14" name="Object 34"/>
            <p:cNvGraphicFramePr>
              <a:graphicFrameLocks noChangeAspect="1"/>
            </p:cNvGraphicFramePr>
            <p:nvPr/>
          </p:nvGraphicFramePr>
          <p:xfrm>
            <a:off x="3601" y="2387"/>
            <a:ext cx="186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2999" name="公式" r:id="rId9" imgW="164880" imgH="241200" progId="Equation.3">
                    <p:embed/>
                  </p:oleObj>
                </mc:Choice>
                <mc:Fallback>
                  <p:oleObj name="公式" r:id="rId9" imgW="164880" imgH="2412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2387"/>
                          <a:ext cx="18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15" name="Group 35"/>
          <p:cNvGrpSpPr>
            <a:grpSpLocks/>
          </p:cNvGrpSpPr>
          <p:nvPr/>
        </p:nvGrpSpPr>
        <p:grpSpPr bwMode="auto">
          <a:xfrm>
            <a:off x="6584950" y="3851275"/>
            <a:ext cx="533400" cy="503238"/>
            <a:chOff x="4059" y="2115"/>
            <a:chExt cx="336" cy="317"/>
          </a:xfrm>
        </p:grpSpPr>
        <p:graphicFrame>
          <p:nvGraphicFramePr>
            <p:cNvPr id="122916" name="Object 36"/>
            <p:cNvGraphicFramePr>
              <a:graphicFrameLocks noChangeAspect="1"/>
            </p:cNvGraphicFramePr>
            <p:nvPr/>
          </p:nvGraphicFramePr>
          <p:xfrm>
            <a:off x="4195" y="2115"/>
            <a:ext cx="200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3000" name="公式" r:id="rId11" imgW="177480" imgH="241200" progId="Equation.3">
                    <p:embed/>
                  </p:oleObj>
                </mc:Choice>
                <mc:Fallback>
                  <p:oleObj name="公式" r:id="rId11" imgW="177480" imgH="2412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115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17" name="Line 37"/>
            <p:cNvSpPr>
              <a:spLocks noChangeShapeType="1"/>
            </p:cNvSpPr>
            <p:nvPr/>
          </p:nvSpPr>
          <p:spPr bwMode="auto">
            <a:xfrm>
              <a:off x="4059" y="2296"/>
              <a:ext cx="227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918" name="Group 38"/>
          <p:cNvGrpSpPr>
            <a:grpSpLocks/>
          </p:cNvGrpSpPr>
          <p:nvPr/>
        </p:nvGrpSpPr>
        <p:grpSpPr bwMode="auto">
          <a:xfrm>
            <a:off x="5888038" y="4786313"/>
            <a:ext cx="338137" cy="504825"/>
            <a:chOff x="3620" y="2704"/>
            <a:chExt cx="213" cy="318"/>
          </a:xfrm>
        </p:grpSpPr>
        <p:graphicFrame>
          <p:nvGraphicFramePr>
            <p:cNvPr id="122919" name="Object 39"/>
            <p:cNvGraphicFramePr>
              <a:graphicFrameLocks noChangeAspect="1"/>
            </p:cNvGraphicFramePr>
            <p:nvPr/>
          </p:nvGraphicFramePr>
          <p:xfrm>
            <a:off x="3620" y="2704"/>
            <a:ext cx="186" cy="27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3001" name="公式" r:id="rId13" imgW="164880" imgH="241200" progId="Equation.3">
                    <p:embed/>
                  </p:oleObj>
                </mc:Choice>
                <mc:Fallback>
                  <p:oleObj name="公式" r:id="rId13" imgW="164880" imgH="2412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2704"/>
                          <a:ext cx="18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20" name="Line 40"/>
            <p:cNvSpPr>
              <a:spLocks noChangeShapeType="1"/>
            </p:cNvSpPr>
            <p:nvPr/>
          </p:nvSpPr>
          <p:spPr bwMode="auto">
            <a:xfrm flipV="1">
              <a:off x="3833" y="2795"/>
              <a:ext cx="0" cy="22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921" name="Group 41"/>
          <p:cNvGrpSpPr>
            <a:grpSpLocks/>
          </p:cNvGrpSpPr>
          <p:nvPr/>
        </p:nvGrpSpPr>
        <p:grpSpPr bwMode="auto">
          <a:xfrm>
            <a:off x="7764463" y="4449763"/>
            <a:ext cx="361950" cy="625475"/>
            <a:chOff x="4802" y="2492"/>
            <a:chExt cx="228" cy="394"/>
          </a:xfrm>
        </p:grpSpPr>
        <p:graphicFrame>
          <p:nvGraphicFramePr>
            <p:cNvPr id="122922" name="Object 42"/>
            <p:cNvGraphicFramePr>
              <a:graphicFrameLocks noChangeAspect="1"/>
            </p:cNvGraphicFramePr>
            <p:nvPr/>
          </p:nvGraphicFramePr>
          <p:xfrm>
            <a:off x="4830" y="2492"/>
            <a:ext cx="200" cy="27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3002" name="公式" r:id="rId14" imgW="177480" imgH="241200" progId="Equation.3">
                    <p:embed/>
                  </p:oleObj>
                </mc:Choice>
                <mc:Fallback>
                  <p:oleObj name="公式" r:id="rId14" imgW="17748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2492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23" name="Line 43"/>
            <p:cNvSpPr>
              <a:spLocks noChangeShapeType="1"/>
            </p:cNvSpPr>
            <p:nvPr/>
          </p:nvSpPr>
          <p:spPr bwMode="auto">
            <a:xfrm>
              <a:off x="4802" y="2750"/>
              <a:ext cx="227" cy="1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24" name="Text Box 44"/>
          <p:cNvSpPr txBox="1">
            <a:spLocks noChangeArrowheads="1"/>
          </p:cNvSpPr>
          <p:nvPr/>
        </p:nvSpPr>
        <p:spPr bwMode="auto">
          <a:xfrm>
            <a:off x="6227763" y="3332163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⊙</a:t>
            </a:r>
            <a:r>
              <a:rPr kumimoji="1" lang="zh-CN" altLang="en-US" sz="2400" b="1">
                <a:sym typeface="Symbol" panose="05050102010706020507" pitchFamily="18" charset="2"/>
              </a:rPr>
              <a:t>为</a:t>
            </a:r>
            <a:r>
              <a:rPr kumimoji="1" lang="zh-CN" altLang="en-US" sz="2400" b="1"/>
              <a:t>正方向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2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2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%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2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4" grpId="0"/>
      <p:bldP spid="122905" grpId="0"/>
      <p:bldP spid="122924" grpId="0"/>
    </p:bldLst>
  </p:timing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179388" y="188913"/>
            <a:ext cx="633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的加速度大小为</a:t>
            </a:r>
          </a:p>
        </p:txBody>
      </p:sp>
      <p:graphicFrame>
        <p:nvGraphicFramePr>
          <p:cNvPr id="123910" name="Object 6"/>
          <p:cNvGraphicFramePr>
            <a:graphicFrameLocks noChangeAspect="1"/>
          </p:cNvGraphicFramePr>
          <p:nvPr/>
        </p:nvGraphicFramePr>
        <p:xfrm>
          <a:off x="468313" y="765175"/>
          <a:ext cx="7632700" cy="9636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4000" name="公式" r:id="rId3" imgW="3492360" imgH="444240" progId="Equation.3">
                  <p:embed/>
                </p:oleObj>
              </mc:Choice>
              <mc:Fallback>
                <p:oleObj name="公式" r:id="rId3" imgW="349236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65175"/>
                        <a:ext cx="7632700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250825" y="1844675"/>
            <a:ext cx="396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方向沿斜面向上。</a:t>
            </a:r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250825" y="2492375"/>
            <a:ext cx="604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向上滑动的距离为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3914" name="Object 10"/>
          <p:cNvGraphicFramePr>
            <a:graphicFrameLocks noChangeAspect="1"/>
          </p:cNvGraphicFramePr>
          <p:nvPr/>
        </p:nvGraphicFramePr>
        <p:xfrm>
          <a:off x="1027113" y="3055938"/>
          <a:ext cx="4389437" cy="8255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4001" name="公式" r:id="rId5" imgW="2145960" imgH="406080" progId="Equation.3">
                  <p:embed/>
                </p:oleObj>
              </mc:Choice>
              <mc:Fallback>
                <p:oleObj name="公式" r:id="rId5" imgW="214596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3055938"/>
                        <a:ext cx="4389437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5" name="Text Box 11"/>
          <p:cNvSpPr txBox="1">
            <a:spLocks noChangeArrowheads="1"/>
          </p:cNvSpPr>
          <p:nvPr/>
        </p:nvSpPr>
        <p:spPr bwMode="auto">
          <a:xfrm>
            <a:off x="323850" y="4005263"/>
            <a:ext cx="403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/>
              <a:t>重力对其做负功，</a:t>
            </a:r>
          </a:p>
        </p:txBody>
      </p:sp>
      <p:graphicFrame>
        <p:nvGraphicFramePr>
          <p:cNvPr id="123917" name="Object 13"/>
          <p:cNvGraphicFramePr>
            <a:graphicFrameLocks noChangeAspect="1"/>
          </p:cNvGraphicFramePr>
          <p:nvPr/>
        </p:nvGraphicFramePr>
        <p:xfrm>
          <a:off x="395288" y="4581525"/>
          <a:ext cx="7835900" cy="5159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4002" name="公式" r:id="rId7" imgW="3327120" imgH="215640" progId="Equation.3">
                  <p:embed/>
                </p:oleObj>
              </mc:Choice>
              <mc:Fallback>
                <p:oleObj name="公式" r:id="rId7" imgW="332712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81525"/>
                        <a:ext cx="783590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8" name="Group 14"/>
          <p:cNvGrpSpPr>
            <a:grpSpLocks/>
          </p:cNvGrpSpPr>
          <p:nvPr/>
        </p:nvGrpSpPr>
        <p:grpSpPr bwMode="auto">
          <a:xfrm>
            <a:off x="5651500" y="2133600"/>
            <a:ext cx="3314700" cy="2398713"/>
            <a:chOff x="3468" y="1979"/>
            <a:chExt cx="2088" cy="1511"/>
          </a:xfrm>
        </p:grpSpPr>
        <p:sp>
          <p:nvSpPr>
            <p:cNvPr id="123919" name="AutoShape 15" descr="纸莎草纸"/>
            <p:cNvSpPr>
              <a:spLocks noChangeArrowheads="1"/>
            </p:cNvSpPr>
            <p:nvPr/>
          </p:nvSpPr>
          <p:spPr bwMode="auto">
            <a:xfrm>
              <a:off x="4053" y="2495"/>
              <a:ext cx="1502" cy="938"/>
            </a:xfrm>
            <a:prstGeom prst="rtTriangle">
              <a:avLst/>
            </a:prstGeom>
            <a:blipFill dpi="0" rotWithShape="1">
              <a:blip r:embed="rId9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0" name="Oval 16"/>
            <p:cNvSpPr>
              <a:spLocks noChangeArrowheads="1"/>
            </p:cNvSpPr>
            <p:nvPr/>
          </p:nvSpPr>
          <p:spPr bwMode="auto">
            <a:xfrm>
              <a:off x="3828" y="2250"/>
              <a:ext cx="258" cy="256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gamma/>
                    <a:shade val="46.275%"/>
                    <a:invGamma/>
                  </a:schemeClr>
                </a:gs>
                <a:gs pos="100%">
                  <a:schemeClr val="accent1"/>
                </a:gs>
              </a:gsLst>
              <a:path path="shape">
                <a:fillToRect l="50%" t="50%" r="50%" b="50%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1" name="Line 17"/>
            <p:cNvSpPr>
              <a:spLocks noChangeShapeType="1"/>
            </p:cNvSpPr>
            <p:nvPr/>
          </p:nvSpPr>
          <p:spPr bwMode="auto">
            <a:xfrm>
              <a:off x="3963" y="2379"/>
              <a:ext cx="95" cy="1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2" name="Rectangle 18" descr="花岗岩"/>
            <p:cNvSpPr>
              <a:spLocks noChangeArrowheads="1"/>
            </p:cNvSpPr>
            <p:nvPr/>
          </p:nvSpPr>
          <p:spPr bwMode="auto">
            <a:xfrm>
              <a:off x="3691" y="2964"/>
              <a:ext cx="274" cy="234"/>
            </a:xfrm>
            <a:prstGeom prst="rect">
              <a:avLst/>
            </a:prstGeom>
            <a:blipFill dpi="0" rotWithShape="1">
              <a:blip r:embed="rId10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3" name="Line 19"/>
            <p:cNvSpPr>
              <a:spLocks noChangeShapeType="1"/>
            </p:cNvSpPr>
            <p:nvPr/>
          </p:nvSpPr>
          <p:spPr bwMode="auto">
            <a:xfrm>
              <a:off x="3828" y="2378"/>
              <a:ext cx="1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4" name="Rectangle 20" descr="花岗岩"/>
            <p:cNvSpPr>
              <a:spLocks noChangeArrowheads="1"/>
            </p:cNvSpPr>
            <p:nvPr/>
          </p:nvSpPr>
          <p:spPr bwMode="auto">
            <a:xfrm rot="1920000">
              <a:off x="4960" y="2824"/>
              <a:ext cx="273" cy="293"/>
            </a:xfrm>
            <a:prstGeom prst="rect">
              <a:avLst/>
            </a:prstGeom>
            <a:blipFill dpi="0" rotWithShape="1">
              <a:blip r:embed="rId10"/>
              <a:srcRect/>
              <a:tile tx="0" ty="0" sx="100%" sy="100%" flip="none" algn="tl"/>
            </a:blipFill>
            <a:ln w="12700">
              <a:solidFill>
                <a:srgbClr val="000000"/>
              </a:solidFill>
              <a:miter lim="800%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5" name="Line 21"/>
            <p:cNvSpPr>
              <a:spLocks noChangeShapeType="1"/>
            </p:cNvSpPr>
            <p:nvPr/>
          </p:nvSpPr>
          <p:spPr bwMode="auto">
            <a:xfrm>
              <a:off x="4037" y="2277"/>
              <a:ext cx="956" cy="5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6" name="Arc 22"/>
            <p:cNvSpPr>
              <a:spLocks/>
            </p:cNvSpPr>
            <p:nvPr/>
          </p:nvSpPr>
          <p:spPr bwMode="auto">
            <a:xfrm>
              <a:off x="5290" y="3294"/>
              <a:ext cx="130" cy="196"/>
            </a:xfrm>
            <a:custGeom>
              <a:avLst/>
              <a:gdLst>
                <a:gd name="G0" fmla="+- 20634 0 0"/>
                <a:gd name="G1" fmla="+- 18090 0 0"/>
                <a:gd name="G2" fmla="+- 21600 0 0"/>
                <a:gd name="T0" fmla="*/ 0 w 20634"/>
                <a:gd name="T1" fmla="*/ 11702 h 18090"/>
                <a:gd name="T2" fmla="*/ 8831 w 20634"/>
                <a:gd name="T3" fmla="*/ 0 h 18090"/>
                <a:gd name="T4" fmla="*/ 20634 w 20634"/>
                <a:gd name="T5" fmla="*/ 18090 h 1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34" h="18090" fill="none" extrusionOk="0">
                  <a:moveTo>
                    <a:pt x="0" y="11702"/>
                  </a:moveTo>
                  <a:cubicBezTo>
                    <a:pt x="1489" y="6891"/>
                    <a:pt x="4613" y="2751"/>
                    <a:pt x="8830" y="-1"/>
                  </a:cubicBezTo>
                </a:path>
                <a:path w="20634" h="18090" stroke="0" extrusionOk="0">
                  <a:moveTo>
                    <a:pt x="0" y="11702"/>
                  </a:moveTo>
                  <a:cubicBezTo>
                    <a:pt x="1489" y="6891"/>
                    <a:pt x="4613" y="2751"/>
                    <a:pt x="8830" y="-1"/>
                  </a:cubicBezTo>
                  <a:lnTo>
                    <a:pt x="20634" y="1809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7" name="Text Box 23"/>
            <p:cNvSpPr txBox="1">
              <a:spLocks noChangeArrowheads="1"/>
            </p:cNvSpPr>
            <p:nvPr/>
          </p:nvSpPr>
          <p:spPr bwMode="auto">
            <a:xfrm>
              <a:off x="5010" y="3214"/>
              <a:ext cx="54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30</a:t>
              </a: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</a:t>
              </a:r>
              <a:endParaRPr lang="en-US" altLang="zh-CN" sz="2000" b="1"/>
            </a:p>
          </p:txBody>
        </p:sp>
        <p:sp>
          <p:nvSpPr>
            <p:cNvPr id="123928" name="Text Box 24"/>
            <p:cNvSpPr txBox="1">
              <a:spLocks noChangeArrowheads="1"/>
            </p:cNvSpPr>
            <p:nvPr/>
          </p:nvSpPr>
          <p:spPr bwMode="auto">
            <a:xfrm>
              <a:off x="3468" y="2931"/>
              <a:ext cx="54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endParaRPr lang="en-US" altLang="zh-CN" sz="2400" b="1"/>
            </a:p>
          </p:txBody>
        </p:sp>
        <p:sp>
          <p:nvSpPr>
            <p:cNvPr id="123929" name="Text Box 25"/>
            <p:cNvSpPr txBox="1">
              <a:spLocks noChangeArrowheads="1"/>
            </p:cNvSpPr>
            <p:nvPr/>
          </p:nvSpPr>
          <p:spPr bwMode="auto">
            <a:xfrm>
              <a:off x="5082" y="2579"/>
              <a:ext cx="38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>
                  <a:latin typeface="Times New Roman" panose="02020603050405020304" pitchFamily="18" charset="0"/>
                </a:rPr>
                <a:t>B</a:t>
              </a:r>
              <a:endParaRPr lang="en-US" altLang="zh-CN" sz="2400" b="1"/>
            </a:p>
          </p:txBody>
        </p:sp>
        <p:sp>
          <p:nvSpPr>
            <p:cNvPr id="123930" name="Text Box 26"/>
            <p:cNvSpPr txBox="1">
              <a:spLocks noChangeArrowheads="1"/>
            </p:cNvSpPr>
            <p:nvPr/>
          </p:nvSpPr>
          <p:spPr bwMode="auto">
            <a:xfrm>
              <a:off x="3651" y="2898"/>
              <a:ext cx="546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5%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123931" name="Text Box 27"/>
            <p:cNvSpPr txBox="1">
              <a:spLocks noChangeArrowheads="1"/>
            </p:cNvSpPr>
            <p:nvPr/>
          </p:nvSpPr>
          <p:spPr bwMode="auto">
            <a:xfrm>
              <a:off x="4919" y="2750"/>
              <a:ext cx="41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 m</a:t>
              </a:r>
              <a:r>
                <a:rPr lang="en-US" altLang="zh-CN" sz="2400" b="1" baseline="-25%">
                  <a:latin typeface="Times New Roman" panose="02020603050405020304" pitchFamily="18" charset="0"/>
                </a:rPr>
                <a:t>2</a:t>
              </a:r>
              <a:endParaRPr lang="en-US" altLang="zh-CN" sz="2400" b="1"/>
            </a:p>
          </p:txBody>
        </p:sp>
        <p:sp>
          <p:nvSpPr>
            <p:cNvPr id="123932" name="Text Box 28"/>
            <p:cNvSpPr txBox="1">
              <a:spLocks noChangeArrowheads="1"/>
            </p:cNvSpPr>
            <p:nvPr/>
          </p:nvSpPr>
          <p:spPr bwMode="auto">
            <a:xfrm>
              <a:off x="3831" y="1979"/>
              <a:ext cx="54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endParaRPr lang="en-US" altLang="zh-CN" sz="2400" b="1"/>
            </a:p>
          </p:txBody>
        </p:sp>
        <p:sp>
          <p:nvSpPr>
            <p:cNvPr id="123933" name="Text Box 29"/>
            <p:cNvSpPr txBox="1">
              <a:spLocks noChangeArrowheads="1"/>
            </p:cNvSpPr>
            <p:nvPr/>
          </p:nvSpPr>
          <p:spPr bwMode="auto">
            <a:xfrm>
              <a:off x="3831" y="2352"/>
              <a:ext cx="54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endParaRPr lang="en-US" altLang="zh-CN" sz="2000" b="1"/>
            </a:p>
          </p:txBody>
        </p:sp>
      </p:grpSp>
      <p:grpSp>
        <p:nvGrpSpPr>
          <p:cNvPr id="123934" name="Group 30"/>
          <p:cNvGrpSpPr>
            <a:grpSpLocks/>
          </p:cNvGrpSpPr>
          <p:nvPr/>
        </p:nvGrpSpPr>
        <p:grpSpPr bwMode="auto">
          <a:xfrm>
            <a:off x="7451725" y="3500438"/>
            <a:ext cx="1365250" cy="720725"/>
            <a:chOff x="4694" y="2205"/>
            <a:chExt cx="860" cy="454"/>
          </a:xfrm>
        </p:grpSpPr>
        <p:grpSp>
          <p:nvGrpSpPr>
            <p:cNvPr id="123935" name="Group 31"/>
            <p:cNvGrpSpPr>
              <a:grpSpLocks/>
            </p:cNvGrpSpPr>
            <p:nvPr/>
          </p:nvGrpSpPr>
          <p:grpSpPr bwMode="auto">
            <a:xfrm>
              <a:off x="5192" y="2341"/>
              <a:ext cx="362" cy="318"/>
              <a:chOff x="5103" y="2976"/>
              <a:chExt cx="362" cy="318"/>
            </a:xfrm>
          </p:grpSpPr>
          <p:sp>
            <p:nvSpPr>
              <p:cNvPr id="123936" name="Line 32"/>
              <p:cNvSpPr>
                <a:spLocks noChangeShapeType="1"/>
              </p:cNvSpPr>
              <p:nvPr/>
            </p:nvSpPr>
            <p:spPr bwMode="auto">
              <a:xfrm>
                <a:off x="5103" y="2976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937" name="Object 33"/>
              <p:cNvGraphicFramePr>
                <a:graphicFrameLocks noChangeAspect="1"/>
              </p:cNvGraphicFramePr>
              <p:nvPr/>
            </p:nvGraphicFramePr>
            <p:xfrm>
              <a:off x="5134" y="3069"/>
              <a:ext cx="331" cy="225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124003" name="公式" r:id="rId11" imgW="317160" imgH="215640" progId="Equation.3">
                      <p:embed/>
                    </p:oleObj>
                  </mc:Choice>
                  <mc:Fallback>
                    <p:oleObj name="公式" r:id="rId11" imgW="317160" imgH="21564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4" y="3069"/>
                            <a:ext cx="331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938" name="Arc 34"/>
            <p:cNvSpPr>
              <a:spLocks/>
            </p:cNvSpPr>
            <p:nvPr/>
          </p:nvSpPr>
          <p:spPr bwMode="auto">
            <a:xfrm rot="-10463328">
              <a:off x="5012" y="2205"/>
              <a:ext cx="181" cy="22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939" name="Object 35"/>
            <p:cNvGraphicFramePr>
              <a:graphicFrameLocks noChangeAspect="1"/>
            </p:cNvGraphicFramePr>
            <p:nvPr/>
          </p:nvGraphicFramePr>
          <p:xfrm>
            <a:off x="4694" y="2251"/>
            <a:ext cx="331" cy="17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4004" name="公式" r:id="rId13" imgW="330120" imgH="177480" progId="Equation.3">
                    <p:embed/>
                  </p:oleObj>
                </mc:Choice>
                <mc:Fallback>
                  <p:oleObj name="公式" r:id="rId13" imgW="330120" imgH="1774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2251"/>
                          <a:ext cx="331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1" grpId="0"/>
      <p:bldP spid="123912" grpId="0"/>
      <p:bldP spid="123915" grpId="0"/>
    </p:bldLst>
  </p:timing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179388" y="177800"/>
            <a:ext cx="86074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18. </a:t>
            </a:r>
            <a:r>
              <a:rPr kumimoji="1" lang="zh-CN" altLang="en-US" b="1">
                <a:latin typeface="Times New Roman" panose="02020603050405020304" pitchFamily="18" charset="0"/>
              </a:rPr>
              <a:t>两个圆盘 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参数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;</a:t>
            </a:r>
            <a:r>
              <a:rPr kumimoji="1" lang="en-US" altLang="zh-CN" b="1" i="1">
                <a:latin typeface="Times New Roman" panose="02020603050405020304" pitchFamily="18" charset="0"/>
              </a:rPr>
              <a:t>R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en-US" altLang="zh-CN" b="1" i="1">
                <a:latin typeface="Times New Roman" panose="02020603050405020304" pitchFamily="18" charset="0"/>
              </a:rPr>
              <a:t>R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以角速度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en-US" altLang="zh-CN" b="1" baseline="-25%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en-US" altLang="zh-CN" b="1" baseline="-25%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1"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旋转，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b="1">
                <a:latin typeface="Times New Roman" panose="02020603050405020304" pitchFamily="18" charset="0"/>
              </a:rPr>
              <a:t>它们以下面两种方式衔接后各自的角速度。</a:t>
            </a:r>
          </a:p>
        </p:txBody>
      </p:sp>
      <p:grpSp>
        <p:nvGrpSpPr>
          <p:cNvPr id="128005" name="Group 5"/>
          <p:cNvGrpSpPr>
            <a:grpSpLocks/>
          </p:cNvGrpSpPr>
          <p:nvPr/>
        </p:nvGrpSpPr>
        <p:grpSpPr bwMode="auto">
          <a:xfrm>
            <a:off x="6588125" y="1341438"/>
            <a:ext cx="1638300" cy="1676400"/>
            <a:chOff x="4134" y="960"/>
            <a:chExt cx="1032" cy="1056"/>
          </a:xfrm>
        </p:grpSpPr>
        <p:grpSp>
          <p:nvGrpSpPr>
            <p:cNvPr id="128006" name="Group 6"/>
            <p:cNvGrpSpPr>
              <a:grpSpLocks/>
            </p:cNvGrpSpPr>
            <p:nvPr/>
          </p:nvGrpSpPr>
          <p:grpSpPr bwMode="auto">
            <a:xfrm>
              <a:off x="4272" y="960"/>
              <a:ext cx="894" cy="1056"/>
              <a:chOff x="3168" y="1152"/>
              <a:chExt cx="894" cy="1056"/>
            </a:xfrm>
          </p:grpSpPr>
          <p:sp>
            <p:nvSpPr>
              <p:cNvPr id="128007" name="AutoShape 7"/>
              <p:cNvSpPr>
                <a:spLocks noChangeArrowheads="1"/>
              </p:cNvSpPr>
              <p:nvPr/>
            </p:nvSpPr>
            <p:spPr bwMode="auto">
              <a:xfrm rot="5400000">
                <a:off x="3336" y="1464"/>
                <a:ext cx="144" cy="480"/>
              </a:xfrm>
              <a:prstGeom prst="can">
                <a:avLst>
                  <a:gd name="adj" fmla="val 61111"/>
                </a:avLst>
              </a:prstGeom>
              <a:gradFill rotWithShape="0">
                <a:gsLst>
                  <a:gs pos="0%">
                    <a:srgbClr val="FF9900">
                      <a:gamma/>
                      <a:shade val="0%"/>
                      <a:invGamma/>
                    </a:srgbClr>
                  </a:gs>
                  <a:gs pos="50%">
                    <a:srgbClr val="FF9900"/>
                  </a:gs>
                  <a:gs pos="100%">
                    <a:srgbClr val="FF9900">
                      <a:gamma/>
                      <a:shade val="0%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rgbClr val="FF6600"/>
                    </a:solidFill>
                    <a:round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08" name="Oval 8" descr="深色横线"/>
              <p:cNvSpPr>
                <a:spLocks noChangeArrowheads="1"/>
              </p:cNvSpPr>
              <p:nvPr/>
            </p:nvSpPr>
            <p:spPr bwMode="auto">
              <a:xfrm>
                <a:off x="3456" y="1152"/>
                <a:ext cx="528" cy="1056"/>
              </a:xfrm>
              <a:prstGeom prst="ellipse">
                <a:avLst/>
              </a:prstGeom>
              <a:pattFill prst="dkHorz">
                <a:fgClr>
                  <a:srgbClr val="FF9900"/>
                </a:fgClr>
                <a:bgClr>
                  <a:schemeClr val="bg1"/>
                </a:bgClr>
              </a:pattFill>
              <a:ln w="25400">
                <a:solidFill>
                  <a:srgbClr val="FF9900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09" name="Oval 9"/>
              <p:cNvSpPr>
                <a:spLocks noChangeArrowheads="1"/>
              </p:cNvSpPr>
              <p:nvPr/>
            </p:nvSpPr>
            <p:spPr bwMode="auto">
              <a:xfrm>
                <a:off x="3534" y="1152"/>
                <a:ext cx="528" cy="1056"/>
              </a:xfrm>
              <a:prstGeom prst="ellipse">
                <a:avLst/>
              </a:prstGeom>
              <a:gradFill rotWithShape="0">
                <a:gsLst>
                  <a:gs pos="0%">
                    <a:srgbClr val="FF9900">
                      <a:gamma/>
                      <a:shade val="0%"/>
                      <a:invGamma/>
                    </a:srgbClr>
                  </a:gs>
                  <a:gs pos="50%">
                    <a:srgbClr val="FF9900"/>
                  </a:gs>
                  <a:gs pos="100%">
                    <a:srgbClr val="FF9900">
                      <a:gamma/>
                      <a:shade val="0%"/>
                      <a:invGamma/>
                    </a:srgbClr>
                  </a:gs>
                </a:gsLst>
                <a:lin ang="2700000" scaled="1"/>
              </a:gradFill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10" name="Line 10"/>
              <p:cNvSpPr>
                <a:spLocks noChangeShapeType="1"/>
              </p:cNvSpPr>
              <p:nvPr/>
            </p:nvSpPr>
            <p:spPr bwMode="auto">
              <a:xfrm>
                <a:off x="3696" y="115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11" name="Line 11"/>
              <p:cNvSpPr>
                <a:spLocks noChangeShapeType="1"/>
              </p:cNvSpPr>
              <p:nvPr/>
            </p:nvSpPr>
            <p:spPr bwMode="auto">
              <a:xfrm>
                <a:off x="3708" y="2208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8012" name="Arc 12"/>
            <p:cNvSpPr>
              <a:spLocks/>
            </p:cNvSpPr>
            <p:nvPr/>
          </p:nvSpPr>
          <p:spPr bwMode="auto">
            <a:xfrm>
              <a:off x="4217" y="1323"/>
              <a:ext cx="179" cy="38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9008 w 39806"/>
                <a:gd name="T1" fmla="*/ 34388 h 43200"/>
                <a:gd name="T2" fmla="*/ 39806 w 39806"/>
                <a:gd name="T3" fmla="*/ 9976 h 43200"/>
                <a:gd name="T4" fmla="*/ 21600 w 398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806" h="43200" fill="none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</a:path>
                <a:path w="39806" h="43200" stroke="0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013" name="Text Box 13"/>
            <p:cNvSpPr txBox="1">
              <a:spLocks noChangeArrowheads="1"/>
            </p:cNvSpPr>
            <p:nvPr/>
          </p:nvSpPr>
          <p:spPr bwMode="auto">
            <a:xfrm>
              <a:off x="4134" y="1632"/>
              <a:ext cx="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%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1" lang="en-US" altLang="zh-CN" b="1" baseline="-25%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128014" name="Group 14"/>
          <p:cNvGrpSpPr>
            <a:grpSpLocks/>
          </p:cNvGrpSpPr>
          <p:nvPr/>
        </p:nvGrpSpPr>
        <p:grpSpPr bwMode="auto">
          <a:xfrm>
            <a:off x="7569200" y="1798638"/>
            <a:ext cx="1436688" cy="1138237"/>
            <a:chOff x="4752" y="1248"/>
            <a:chExt cx="905" cy="717"/>
          </a:xfrm>
        </p:grpSpPr>
        <p:grpSp>
          <p:nvGrpSpPr>
            <p:cNvPr id="128015" name="Group 15"/>
            <p:cNvGrpSpPr>
              <a:grpSpLocks/>
            </p:cNvGrpSpPr>
            <p:nvPr/>
          </p:nvGrpSpPr>
          <p:grpSpPr bwMode="auto">
            <a:xfrm>
              <a:off x="4752" y="1248"/>
              <a:ext cx="657" cy="528"/>
              <a:chOff x="4320" y="1440"/>
              <a:chExt cx="657" cy="528"/>
            </a:xfrm>
          </p:grpSpPr>
          <p:sp>
            <p:nvSpPr>
              <p:cNvPr id="128016" name="Oval 16" descr="深色横线"/>
              <p:cNvSpPr>
                <a:spLocks noChangeArrowheads="1"/>
              </p:cNvSpPr>
              <p:nvPr/>
            </p:nvSpPr>
            <p:spPr bwMode="auto">
              <a:xfrm>
                <a:off x="4320" y="1440"/>
                <a:ext cx="288" cy="528"/>
              </a:xfrm>
              <a:prstGeom prst="ellipse">
                <a:avLst/>
              </a:prstGeom>
              <a:pattFill prst="dkHorz">
                <a:fgClr>
                  <a:schemeClr val="accent1"/>
                </a:fgClr>
                <a:bgClr>
                  <a:schemeClr val="bg1"/>
                </a:bgClr>
              </a:pattFill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17" name="Oval 17"/>
              <p:cNvSpPr>
                <a:spLocks noChangeArrowheads="1"/>
              </p:cNvSpPr>
              <p:nvPr/>
            </p:nvSpPr>
            <p:spPr bwMode="auto">
              <a:xfrm>
                <a:off x="4398" y="1440"/>
                <a:ext cx="288" cy="528"/>
              </a:xfrm>
              <a:prstGeom prst="ellipse">
                <a:avLst/>
              </a:prstGeom>
              <a:gradFill rotWithShape="0">
                <a:gsLst>
                  <a:gs pos="0%">
                    <a:schemeClr val="accent1">
                      <a:gamma/>
                      <a:shade val="0%"/>
                      <a:invGamma/>
                    </a:schemeClr>
                  </a:gs>
                  <a:gs pos="50%">
                    <a:schemeClr val="accent1"/>
                  </a:gs>
                  <a:gs pos="100%">
                    <a:schemeClr val="accent1">
                      <a:gamma/>
                      <a:shade val="0%"/>
                      <a:invGamma/>
                    </a:schemeClr>
                  </a:gs>
                </a:gsLst>
                <a:lin ang="2700000" scaled="1"/>
              </a:gradFill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18" name="Line 18"/>
              <p:cNvSpPr>
                <a:spLocks noChangeShapeType="1"/>
              </p:cNvSpPr>
              <p:nvPr/>
            </p:nvSpPr>
            <p:spPr bwMode="auto">
              <a:xfrm>
                <a:off x="4464" y="14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19" name="Line 19"/>
              <p:cNvSpPr>
                <a:spLocks noChangeShapeType="1"/>
              </p:cNvSpPr>
              <p:nvPr/>
            </p:nvSpPr>
            <p:spPr bwMode="auto">
              <a:xfrm>
                <a:off x="4461" y="196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20" name="AutoShape 20"/>
              <p:cNvSpPr>
                <a:spLocks noChangeArrowheads="1"/>
              </p:cNvSpPr>
              <p:nvPr/>
            </p:nvSpPr>
            <p:spPr bwMode="auto">
              <a:xfrm rot="5400000">
                <a:off x="4665" y="1464"/>
                <a:ext cx="144" cy="480"/>
              </a:xfrm>
              <a:prstGeom prst="can">
                <a:avLst>
                  <a:gd name="adj" fmla="val 61111"/>
                </a:avLst>
              </a:prstGeom>
              <a:gradFill rotWithShape="0">
                <a:gsLst>
                  <a:gs pos="0%">
                    <a:schemeClr val="accent1">
                      <a:gamma/>
                      <a:shade val="0%"/>
                      <a:invGamma/>
                    </a:schemeClr>
                  </a:gs>
                  <a:gs pos="50%">
                    <a:schemeClr val="accent1"/>
                  </a:gs>
                  <a:gs pos="100%">
                    <a:schemeClr val="accent1">
                      <a:gamma/>
                      <a:shade val="0%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rgbClr val="FF6600"/>
                    </a:solidFill>
                    <a:round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8021" name="Arc 21"/>
            <p:cNvSpPr>
              <a:spLocks/>
            </p:cNvSpPr>
            <p:nvPr/>
          </p:nvSpPr>
          <p:spPr bwMode="auto">
            <a:xfrm>
              <a:off x="5257" y="1323"/>
              <a:ext cx="179" cy="38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9008 w 39806"/>
                <a:gd name="T1" fmla="*/ 34388 h 43200"/>
                <a:gd name="T2" fmla="*/ 39806 w 39806"/>
                <a:gd name="T3" fmla="*/ 9976 h 43200"/>
                <a:gd name="T4" fmla="*/ 21600 w 398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806" h="43200" fill="none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</a:path>
                <a:path w="39806" h="43200" stroke="0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022" name="Text Box 22"/>
            <p:cNvSpPr txBox="1">
              <a:spLocks noChangeArrowheads="1"/>
            </p:cNvSpPr>
            <p:nvPr/>
          </p:nvSpPr>
          <p:spPr bwMode="auto">
            <a:xfrm>
              <a:off x="5165" y="1638"/>
              <a:ext cx="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%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1" lang="en-US" altLang="zh-CN" b="1" baseline="-25%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128023" name="Group 23"/>
          <p:cNvGrpSpPr>
            <a:grpSpLocks/>
          </p:cNvGrpSpPr>
          <p:nvPr/>
        </p:nvGrpSpPr>
        <p:grpSpPr bwMode="auto">
          <a:xfrm>
            <a:off x="7578725" y="5003800"/>
            <a:ext cx="1414463" cy="1152525"/>
            <a:chOff x="4689" y="3327"/>
            <a:chExt cx="891" cy="726"/>
          </a:xfrm>
        </p:grpSpPr>
        <p:grpSp>
          <p:nvGrpSpPr>
            <p:cNvPr id="128024" name="Group 24"/>
            <p:cNvGrpSpPr>
              <a:grpSpLocks/>
            </p:cNvGrpSpPr>
            <p:nvPr/>
          </p:nvGrpSpPr>
          <p:grpSpPr bwMode="auto">
            <a:xfrm>
              <a:off x="4689" y="3327"/>
              <a:ext cx="657" cy="528"/>
              <a:chOff x="4320" y="1440"/>
              <a:chExt cx="657" cy="528"/>
            </a:xfrm>
          </p:grpSpPr>
          <p:sp>
            <p:nvSpPr>
              <p:cNvPr id="128025" name="Oval 25" descr="深色横线"/>
              <p:cNvSpPr>
                <a:spLocks noChangeArrowheads="1"/>
              </p:cNvSpPr>
              <p:nvPr/>
            </p:nvSpPr>
            <p:spPr bwMode="auto">
              <a:xfrm>
                <a:off x="4320" y="1440"/>
                <a:ext cx="288" cy="528"/>
              </a:xfrm>
              <a:prstGeom prst="ellipse">
                <a:avLst/>
              </a:prstGeom>
              <a:pattFill prst="dkHorz">
                <a:fgClr>
                  <a:schemeClr val="accent1"/>
                </a:fgClr>
                <a:bgClr>
                  <a:schemeClr val="bg1"/>
                </a:bgClr>
              </a:pattFill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26" name="Oval 26"/>
              <p:cNvSpPr>
                <a:spLocks noChangeArrowheads="1"/>
              </p:cNvSpPr>
              <p:nvPr/>
            </p:nvSpPr>
            <p:spPr bwMode="auto">
              <a:xfrm>
                <a:off x="4398" y="1440"/>
                <a:ext cx="288" cy="528"/>
              </a:xfrm>
              <a:prstGeom prst="ellipse">
                <a:avLst/>
              </a:prstGeom>
              <a:gradFill rotWithShape="0">
                <a:gsLst>
                  <a:gs pos="0%">
                    <a:schemeClr val="accent1">
                      <a:gamma/>
                      <a:shade val="0%"/>
                      <a:invGamma/>
                    </a:schemeClr>
                  </a:gs>
                  <a:gs pos="50%">
                    <a:schemeClr val="accent1"/>
                  </a:gs>
                  <a:gs pos="100%">
                    <a:schemeClr val="accent1">
                      <a:gamma/>
                      <a:shade val="0%"/>
                      <a:invGamma/>
                    </a:schemeClr>
                  </a:gs>
                </a:gsLst>
                <a:lin ang="2700000" scaled="1"/>
              </a:gradFill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27" name="Line 27"/>
              <p:cNvSpPr>
                <a:spLocks noChangeShapeType="1"/>
              </p:cNvSpPr>
              <p:nvPr/>
            </p:nvSpPr>
            <p:spPr bwMode="auto">
              <a:xfrm>
                <a:off x="4464" y="14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28" name="Line 28"/>
              <p:cNvSpPr>
                <a:spLocks noChangeShapeType="1"/>
              </p:cNvSpPr>
              <p:nvPr/>
            </p:nvSpPr>
            <p:spPr bwMode="auto">
              <a:xfrm>
                <a:off x="4461" y="196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29" name="AutoShape 29"/>
              <p:cNvSpPr>
                <a:spLocks noChangeArrowheads="1"/>
              </p:cNvSpPr>
              <p:nvPr/>
            </p:nvSpPr>
            <p:spPr bwMode="auto">
              <a:xfrm rot="5400000">
                <a:off x="4665" y="1464"/>
                <a:ext cx="144" cy="480"/>
              </a:xfrm>
              <a:prstGeom prst="can">
                <a:avLst>
                  <a:gd name="adj" fmla="val 61111"/>
                </a:avLst>
              </a:prstGeom>
              <a:gradFill rotWithShape="0">
                <a:gsLst>
                  <a:gs pos="0%">
                    <a:schemeClr val="accent1">
                      <a:gamma/>
                      <a:shade val="0%"/>
                      <a:invGamma/>
                    </a:schemeClr>
                  </a:gs>
                  <a:gs pos="50%">
                    <a:schemeClr val="accent1"/>
                  </a:gs>
                  <a:gs pos="100%">
                    <a:schemeClr val="accent1">
                      <a:gamma/>
                      <a:shade val="0%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rgbClr val="FF6600"/>
                    </a:solidFill>
                    <a:round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8030" name="Arc 30"/>
            <p:cNvSpPr>
              <a:spLocks/>
            </p:cNvSpPr>
            <p:nvPr/>
          </p:nvSpPr>
          <p:spPr bwMode="auto">
            <a:xfrm>
              <a:off x="5188" y="3401"/>
              <a:ext cx="179" cy="38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9008 w 39806"/>
                <a:gd name="T1" fmla="*/ 34388 h 43200"/>
                <a:gd name="T2" fmla="*/ 39806 w 39806"/>
                <a:gd name="T3" fmla="*/ 9976 h 43200"/>
                <a:gd name="T4" fmla="*/ 21600 w 398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806" h="43200" fill="none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</a:path>
                <a:path w="39806" h="43200" stroke="0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031" name="Text Box 31"/>
            <p:cNvSpPr txBox="1">
              <a:spLocks noChangeArrowheads="1"/>
            </p:cNvSpPr>
            <p:nvPr/>
          </p:nvSpPr>
          <p:spPr bwMode="auto">
            <a:xfrm>
              <a:off x="5088" y="3726"/>
              <a:ext cx="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%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1" lang="en-US" altLang="zh-CN" b="1" baseline="-25%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128032" name="Text Box 32"/>
          <p:cNvSpPr txBox="1">
            <a:spLocks noChangeArrowheads="1"/>
          </p:cNvSpPr>
          <p:nvPr/>
        </p:nvSpPr>
        <p:spPr bwMode="auto">
          <a:xfrm>
            <a:off x="179388" y="1050925"/>
            <a:ext cx="5927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kumimoji="1" lang="en-US" altLang="zh-CN" b="1">
                <a:latin typeface="Times New Roman" panose="02020603050405020304" pitchFamily="18" charset="0"/>
              </a:rPr>
              <a:t>1) </a:t>
            </a:r>
            <a:r>
              <a:rPr kumimoji="1" lang="zh-CN" altLang="en-US" b="1">
                <a:latin typeface="Times New Roman" panose="02020603050405020304" pitchFamily="18" charset="0"/>
              </a:rPr>
              <a:t>两圆盘系统仅有摩擦内力矩，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无外力矩作用，所以角动量守恒：</a:t>
            </a:r>
          </a:p>
        </p:txBody>
      </p:sp>
      <p:graphicFrame>
        <p:nvGraphicFramePr>
          <p:cNvPr id="128033" name="Object 33"/>
          <p:cNvGraphicFramePr>
            <a:graphicFrameLocks noChangeAspect="1"/>
          </p:cNvGraphicFramePr>
          <p:nvPr/>
        </p:nvGraphicFramePr>
        <p:xfrm>
          <a:off x="1116013" y="1989138"/>
          <a:ext cx="3927475" cy="5302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8144" name="公式" r:id="rId3" imgW="1688760" imgH="228600" progId="Equation.3">
                  <p:embed/>
                </p:oleObj>
              </mc:Choice>
              <mc:Fallback>
                <p:oleObj name="公式" r:id="rId3" imgW="168876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989138"/>
                        <a:ext cx="39274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34" name="Object 34"/>
          <p:cNvGraphicFramePr>
            <a:graphicFrameLocks noChangeAspect="1"/>
          </p:cNvGraphicFramePr>
          <p:nvPr/>
        </p:nvGraphicFramePr>
        <p:xfrm>
          <a:off x="395288" y="2520950"/>
          <a:ext cx="5976937" cy="10525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8145" name="公式" r:id="rId5" imgW="2590560" imgH="457200" progId="Equation.3">
                  <p:embed/>
                </p:oleObj>
              </mc:Choice>
              <mc:Fallback>
                <p:oleObj name="公式" r:id="rId5" imgW="2590560" imgH="4572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520950"/>
                        <a:ext cx="597693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35" name="Text Box 35"/>
          <p:cNvSpPr txBox="1">
            <a:spLocks noChangeArrowheads="1"/>
          </p:cNvSpPr>
          <p:nvPr/>
        </p:nvSpPr>
        <p:spPr bwMode="auto">
          <a:xfrm>
            <a:off x="252413" y="3562350"/>
            <a:ext cx="62849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2) </a:t>
            </a:r>
            <a:r>
              <a:rPr kumimoji="1" lang="zh-CN" altLang="en-US" b="1">
                <a:latin typeface="Times New Roman" panose="02020603050405020304" pitchFamily="18" charset="0"/>
              </a:rPr>
              <a:t>两圆盘旋转不同轴，无角动量守恒。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接触处分别有切向摩擦力 </a:t>
            </a:r>
            <a:r>
              <a:rPr kumimoji="1" lang="en-US" altLang="zh-CN" b="1" i="1"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en-US" altLang="zh-CN" b="1" i="1"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 (= </a:t>
            </a:r>
            <a:r>
              <a:rPr kumimoji="1" lang="en-US" altLang="zh-CN" b="1" i="1">
                <a:latin typeface="Times New Roman" panose="02020603050405020304" pitchFamily="18" charset="0"/>
              </a:rPr>
              <a:t>f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28036" name="Object 36"/>
          <p:cNvGraphicFramePr>
            <a:graphicFrameLocks noChangeAspect="1"/>
          </p:cNvGraphicFramePr>
          <p:nvPr/>
        </p:nvGraphicFramePr>
        <p:xfrm>
          <a:off x="468313" y="4481513"/>
          <a:ext cx="3744912" cy="13731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8146" name="公式" r:id="rId7" imgW="1612800" imgH="609480" progId="Equation.3">
                  <p:embed/>
                </p:oleObj>
              </mc:Choice>
              <mc:Fallback>
                <p:oleObj name="公式" r:id="rId7" imgW="1612800" imgH="6094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81513"/>
                        <a:ext cx="3744912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37" name="Group 37"/>
          <p:cNvGrpSpPr>
            <a:grpSpLocks/>
          </p:cNvGrpSpPr>
          <p:nvPr/>
        </p:nvGrpSpPr>
        <p:grpSpPr bwMode="auto">
          <a:xfrm>
            <a:off x="4429125" y="4868863"/>
            <a:ext cx="2463800" cy="539750"/>
            <a:chOff x="2790" y="3093"/>
            <a:chExt cx="1552" cy="340"/>
          </a:xfrm>
        </p:grpSpPr>
        <p:sp>
          <p:nvSpPr>
            <p:cNvPr id="128038" name="Text Box 38"/>
            <p:cNvSpPr txBox="1">
              <a:spLocks noChangeArrowheads="1"/>
            </p:cNvSpPr>
            <p:nvPr/>
          </p:nvSpPr>
          <p:spPr bwMode="auto">
            <a:xfrm>
              <a:off x="2790" y="3093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%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且</a:t>
              </a:r>
            </a:p>
          </p:txBody>
        </p:sp>
        <p:graphicFrame>
          <p:nvGraphicFramePr>
            <p:cNvPr id="128039" name="Object 39"/>
            <p:cNvGraphicFramePr>
              <a:graphicFrameLocks noChangeAspect="1"/>
            </p:cNvGraphicFramePr>
            <p:nvPr/>
          </p:nvGraphicFramePr>
          <p:xfrm>
            <a:off x="3024" y="3111"/>
            <a:ext cx="1318" cy="32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8147" name="公式" r:id="rId9" imgW="888840" imgH="215640" progId="Equation.3">
                    <p:embed/>
                  </p:oleObj>
                </mc:Choice>
                <mc:Fallback>
                  <p:oleObj name="公式" r:id="rId9" imgW="888840" imgH="21564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111"/>
                          <a:ext cx="1318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8040" name="Object 40"/>
          <p:cNvGraphicFramePr>
            <a:graphicFrameLocks noChangeAspect="1"/>
          </p:cNvGraphicFramePr>
          <p:nvPr/>
        </p:nvGraphicFramePr>
        <p:xfrm>
          <a:off x="684213" y="5729288"/>
          <a:ext cx="6192837" cy="10017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8148" name="公式" r:id="rId11" imgW="2666880" imgH="431640" progId="Equation.3">
                  <p:embed/>
                </p:oleObj>
              </mc:Choice>
              <mc:Fallback>
                <p:oleObj name="公式" r:id="rId11" imgW="2666880" imgH="4316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729288"/>
                        <a:ext cx="619283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41" name="Group 41"/>
          <p:cNvGrpSpPr>
            <a:grpSpLocks/>
          </p:cNvGrpSpPr>
          <p:nvPr/>
        </p:nvGrpSpPr>
        <p:grpSpPr bwMode="auto">
          <a:xfrm>
            <a:off x="6731000" y="3303588"/>
            <a:ext cx="1628775" cy="1676400"/>
            <a:chOff x="4155" y="2256"/>
            <a:chExt cx="1026" cy="1056"/>
          </a:xfrm>
        </p:grpSpPr>
        <p:grpSp>
          <p:nvGrpSpPr>
            <p:cNvPr id="128042" name="Group 42"/>
            <p:cNvGrpSpPr>
              <a:grpSpLocks/>
            </p:cNvGrpSpPr>
            <p:nvPr/>
          </p:nvGrpSpPr>
          <p:grpSpPr bwMode="auto">
            <a:xfrm>
              <a:off x="4287" y="2256"/>
              <a:ext cx="894" cy="1056"/>
              <a:chOff x="3168" y="1152"/>
              <a:chExt cx="894" cy="1056"/>
            </a:xfrm>
          </p:grpSpPr>
          <p:sp>
            <p:nvSpPr>
              <p:cNvPr id="128043" name="AutoShape 43"/>
              <p:cNvSpPr>
                <a:spLocks noChangeArrowheads="1"/>
              </p:cNvSpPr>
              <p:nvPr/>
            </p:nvSpPr>
            <p:spPr bwMode="auto">
              <a:xfrm rot="5400000">
                <a:off x="3336" y="1464"/>
                <a:ext cx="144" cy="480"/>
              </a:xfrm>
              <a:prstGeom prst="can">
                <a:avLst>
                  <a:gd name="adj" fmla="val 61111"/>
                </a:avLst>
              </a:prstGeom>
              <a:gradFill rotWithShape="0">
                <a:gsLst>
                  <a:gs pos="0%">
                    <a:srgbClr val="FF9900">
                      <a:gamma/>
                      <a:shade val="0%"/>
                      <a:invGamma/>
                    </a:srgbClr>
                  </a:gs>
                  <a:gs pos="50%">
                    <a:srgbClr val="FF9900"/>
                  </a:gs>
                  <a:gs pos="100%">
                    <a:srgbClr val="FF9900">
                      <a:gamma/>
                      <a:shade val="0%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rgbClr val="FF6600"/>
                    </a:solidFill>
                    <a:round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44" name="Oval 44" descr="深色横线"/>
              <p:cNvSpPr>
                <a:spLocks noChangeArrowheads="1"/>
              </p:cNvSpPr>
              <p:nvPr/>
            </p:nvSpPr>
            <p:spPr bwMode="auto">
              <a:xfrm>
                <a:off x="3456" y="1152"/>
                <a:ext cx="528" cy="1056"/>
              </a:xfrm>
              <a:prstGeom prst="ellipse">
                <a:avLst/>
              </a:prstGeom>
              <a:pattFill prst="dkHorz">
                <a:fgClr>
                  <a:srgbClr val="FF9900"/>
                </a:fgClr>
                <a:bgClr>
                  <a:schemeClr val="bg1"/>
                </a:bgClr>
              </a:pattFill>
              <a:ln w="25400">
                <a:solidFill>
                  <a:srgbClr val="FF9900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45" name="Oval 45"/>
              <p:cNvSpPr>
                <a:spLocks noChangeArrowheads="1"/>
              </p:cNvSpPr>
              <p:nvPr/>
            </p:nvSpPr>
            <p:spPr bwMode="auto">
              <a:xfrm>
                <a:off x="3534" y="1152"/>
                <a:ext cx="528" cy="1056"/>
              </a:xfrm>
              <a:prstGeom prst="ellipse">
                <a:avLst/>
              </a:prstGeom>
              <a:gradFill rotWithShape="0">
                <a:gsLst>
                  <a:gs pos="0%">
                    <a:srgbClr val="FF9900">
                      <a:gamma/>
                      <a:shade val="0%"/>
                      <a:invGamma/>
                    </a:srgbClr>
                  </a:gs>
                  <a:gs pos="50%">
                    <a:srgbClr val="FF9900"/>
                  </a:gs>
                  <a:gs pos="100%">
                    <a:srgbClr val="FF9900">
                      <a:gamma/>
                      <a:shade val="0%"/>
                      <a:invGamma/>
                    </a:srgbClr>
                  </a:gs>
                </a:gsLst>
                <a:lin ang="2700000" scaled="1"/>
              </a:gradFill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46" name="Line 46"/>
              <p:cNvSpPr>
                <a:spLocks noChangeShapeType="1"/>
              </p:cNvSpPr>
              <p:nvPr/>
            </p:nvSpPr>
            <p:spPr bwMode="auto">
              <a:xfrm>
                <a:off x="3696" y="115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047" name="Line 47"/>
              <p:cNvSpPr>
                <a:spLocks noChangeShapeType="1"/>
              </p:cNvSpPr>
              <p:nvPr/>
            </p:nvSpPr>
            <p:spPr bwMode="auto">
              <a:xfrm>
                <a:off x="3708" y="2208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8048" name="Arc 48"/>
            <p:cNvSpPr>
              <a:spLocks/>
            </p:cNvSpPr>
            <p:nvPr/>
          </p:nvSpPr>
          <p:spPr bwMode="auto">
            <a:xfrm>
              <a:off x="4224" y="2612"/>
              <a:ext cx="179" cy="38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9008 w 39806"/>
                <a:gd name="T1" fmla="*/ 34388 h 43200"/>
                <a:gd name="T2" fmla="*/ 39806 w 39806"/>
                <a:gd name="T3" fmla="*/ 9976 h 43200"/>
                <a:gd name="T4" fmla="*/ 21600 w 398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806" h="43200" fill="none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</a:path>
                <a:path w="39806" h="43200" stroke="0" extrusionOk="0">
                  <a:moveTo>
                    <a:pt x="39007" y="34387"/>
                  </a:moveTo>
                  <a:cubicBezTo>
                    <a:pt x="34938" y="39927"/>
                    <a:pt x="28474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973" y="0"/>
                    <a:pt x="35837" y="3761"/>
                    <a:pt x="39805" y="997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049" name="Text Box 49"/>
            <p:cNvSpPr txBox="1">
              <a:spLocks noChangeArrowheads="1"/>
            </p:cNvSpPr>
            <p:nvPr/>
          </p:nvSpPr>
          <p:spPr bwMode="auto">
            <a:xfrm>
              <a:off x="4155" y="2925"/>
              <a:ext cx="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%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1" lang="en-US" altLang="zh-CN" b="1" baseline="-25%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128051" name="Group 51"/>
          <p:cNvGrpSpPr>
            <a:grpSpLocks/>
          </p:cNvGrpSpPr>
          <p:nvPr/>
        </p:nvGrpSpPr>
        <p:grpSpPr bwMode="auto">
          <a:xfrm>
            <a:off x="7885113" y="4652963"/>
            <a:ext cx="641350" cy="481012"/>
            <a:chOff x="5012" y="2931"/>
            <a:chExt cx="404" cy="303"/>
          </a:xfrm>
        </p:grpSpPr>
        <p:sp>
          <p:nvSpPr>
            <p:cNvPr id="128052" name="Line 52"/>
            <p:cNvSpPr>
              <a:spLocks noChangeShapeType="1"/>
            </p:cNvSpPr>
            <p:nvPr/>
          </p:nvSpPr>
          <p:spPr bwMode="auto">
            <a:xfrm flipV="1">
              <a:off x="5012" y="3067"/>
              <a:ext cx="227" cy="9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8053" name="Object 53"/>
            <p:cNvGraphicFramePr>
              <a:graphicFrameLocks noChangeAspect="1"/>
            </p:cNvGraphicFramePr>
            <p:nvPr/>
          </p:nvGraphicFramePr>
          <p:xfrm>
            <a:off x="5193" y="2931"/>
            <a:ext cx="223" cy="30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8149" name="公式" r:id="rId13" imgW="177480" imgH="241200" progId="Equation.3">
                    <p:embed/>
                  </p:oleObj>
                </mc:Choice>
                <mc:Fallback>
                  <p:oleObj name="公式" r:id="rId13" imgW="177480" imgH="2412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2931"/>
                          <a:ext cx="22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8054" name="Group 54"/>
          <p:cNvGrpSpPr>
            <a:grpSpLocks/>
          </p:cNvGrpSpPr>
          <p:nvPr/>
        </p:nvGrpSpPr>
        <p:grpSpPr bwMode="auto">
          <a:xfrm>
            <a:off x="7126288" y="5013325"/>
            <a:ext cx="758825" cy="576263"/>
            <a:chOff x="4534" y="3158"/>
            <a:chExt cx="478" cy="363"/>
          </a:xfrm>
        </p:grpSpPr>
        <p:sp>
          <p:nvSpPr>
            <p:cNvPr id="128055" name="Line 55"/>
            <p:cNvSpPr>
              <a:spLocks noChangeShapeType="1"/>
            </p:cNvSpPr>
            <p:nvPr/>
          </p:nvSpPr>
          <p:spPr bwMode="auto">
            <a:xfrm flipH="1">
              <a:off x="4740" y="3158"/>
              <a:ext cx="272" cy="12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8056" name="Object 56"/>
            <p:cNvGraphicFramePr>
              <a:graphicFrameLocks noChangeAspect="1"/>
            </p:cNvGraphicFramePr>
            <p:nvPr/>
          </p:nvGraphicFramePr>
          <p:xfrm>
            <a:off x="4534" y="3203"/>
            <a:ext cx="251" cy="31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8150" name="公式" r:id="rId15" imgW="190440" imgH="241200" progId="Equation.3">
                    <p:embed/>
                  </p:oleObj>
                </mc:Choice>
                <mc:Fallback>
                  <p:oleObj name="公式" r:id="rId15" imgW="190440" imgH="2412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203"/>
                          <a:ext cx="251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8057" name="Group 57"/>
          <p:cNvGrpSpPr>
            <a:grpSpLocks/>
          </p:cNvGrpSpPr>
          <p:nvPr/>
        </p:nvGrpSpPr>
        <p:grpSpPr bwMode="auto">
          <a:xfrm>
            <a:off x="6445250" y="3109913"/>
            <a:ext cx="2482850" cy="519112"/>
            <a:chOff x="4105" y="1959"/>
            <a:chExt cx="1564" cy="327"/>
          </a:xfrm>
        </p:grpSpPr>
        <p:sp>
          <p:nvSpPr>
            <p:cNvPr id="128058" name="Line 58"/>
            <p:cNvSpPr>
              <a:spLocks noChangeShapeType="1"/>
            </p:cNvSpPr>
            <p:nvPr/>
          </p:nvSpPr>
          <p:spPr bwMode="auto">
            <a:xfrm flipH="1">
              <a:off x="4241" y="2024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9" name="Text Box 59"/>
            <p:cNvSpPr txBox="1">
              <a:spLocks noChangeArrowheads="1"/>
            </p:cNvSpPr>
            <p:nvPr/>
          </p:nvSpPr>
          <p:spPr bwMode="auto">
            <a:xfrm>
              <a:off x="4105" y="1959"/>
              <a:ext cx="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  <a:flatTx/>
            </a:bodyPr>
            <a:lstStyle/>
            <a:p>
              <a:pPr algn="ctr"/>
              <a:r>
                <a:rPr kumimoji="1" lang="en-US" altLang="zh-CN" b="1">
                  <a:latin typeface="Times New Roman" panose="02020603050405020304" pitchFamily="18" charset="0"/>
                </a:rPr>
                <a:t>+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2" grpId="0" autoUpdateAnimBg="0"/>
      <p:bldP spid="128035" grpId="0" autoUpdateAnimBg="0"/>
    </p:bldLst>
  </p:timing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250825" y="207963"/>
            <a:ext cx="8659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 dirty="0">
                <a:latin typeface="Times New Roman" panose="02020603050405020304" pitchFamily="18" charset="0"/>
              </a:rPr>
              <a:t>19. 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如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图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唱机的转盘绕着通过盘心的固定竖直轴转动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唱片放上去后将受到转盘摩擦力作用而随转盘转动。设唱片可看成是半径为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R</a:t>
            </a:r>
            <a:r>
              <a:rPr kumimoji="1" lang="zh-CN" altLang="en-US" b="1" dirty="0">
                <a:latin typeface="Times New Roman" panose="02020603050405020304" pitchFamily="18" charset="0"/>
              </a:rPr>
              <a:t>的均匀圆盘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质量为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m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唱片与转盘之间的滑动摩擦系数为</a:t>
            </a:r>
            <a:r>
              <a:rPr kumimoji="1"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b="1" i="1" baseline="-25%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。转盘原来以角速度</a:t>
            </a:r>
            <a:r>
              <a:rPr kumimoji="1"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匀速转动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(1)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唱片刚放上去时它受到的摩擦力矩是多大？ 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唱片达到角速度</a:t>
            </a:r>
            <a:r>
              <a:rPr kumimoji="1"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需要多长时间？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在这段时间内转盘保持角速度</a:t>
            </a:r>
            <a:r>
              <a:rPr kumimoji="1"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不变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kumimoji="1"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驱动力矩共做了多少功？唱片获得了多大动能？</a:t>
            </a:r>
          </a:p>
        </p:txBody>
      </p:sp>
      <p:graphicFrame>
        <p:nvGraphicFramePr>
          <p:cNvPr id="20509" name="Object 29"/>
          <p:cNvGraphicFramePr>
            <a:graphicFrameLocks noChangeAspect="1"/>
          </p:cNvGraphicFramePr>
          <p:nvPr/>
        </p:nvGraphicFramePr>
        <p:xfrm>
          <a:off x="2051050" y="4292600"/>
          <a:ext cx="2160588" cy="4016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0635" name="Equation" r:id="rId3" imgW="761760" imgH="177480" progId="Equation.3">
                  <p:embed/>
                </p:oleObj>
              </mc:Choice>
              <mc:Fallback>
                <p:oleObj name="Equation" r:id="rId3" imgW="761760" imgH="1774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292600"/>
                        <a:ext cx="21605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250825" y="3789363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唱片上一面元面积为</a:t>
            </a:r>
          </a:p>
        </p:txBody>
      </p:sp>
      <p:sp>
        <p:nvSpPr>
          <p:cNvPr id="20513" name="Text Box 33"/>
          <p:cNvSpPr txBox="1">
            <a:spLocks noChangeArrowheads="1"/>
          </p:cNvSpPr>
          <p:nvPr/>
        </p:nvSpPr>
        <p:spPr bwMode="auto">
          <a:xfrm>
            <a:off x="228600" y="5357813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此面元受转盘摩擦力矩：</a:t>
            </a:r>
          </a:p>
        </p:txBody>
      </p:sp>
      <p:sp>
        <p:nvSpPr>
          <p:cNvPr id="20515" name="AutoShape 35"/>
          <p:cNvSpPr>
            <a:spLocks noChangeArrowheads="1"/>
          </p:cNvSpPr>
          <p:nvPr/>
        </p:nvSpPr>
        <p:spPr bwMode="auto">
          <a:xfrm>
            <a:off x="5076825" y="4221163"/>
            <a:ext cx="3962400" cy="1219200"/>
          </a:xfrm>
          <a:prstGeom prst="parallelogram">
            <a:avLst>
              <a:gd name="adj" fmla="val 8125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6" name="Freeform 36"/>
          <p:cNvSpPr>
            <a:spLocks/>
          </p:cNvSpPr>
          <p:nvPr/>
        </p:nvSpPr>
        <p:spPr bwMode="auto">
          <a:xfrm>
            <a:off x="5076825" y="5440363"/>
            <a:ext cx="2971800" cy="457200"/>
          </a:xfrm>
          <a:custGeom>
            <a:avLst/>
            <a:gdLst>
              <a:gd name="T0" fmla="*/ 0 w 2352"/>
              <a:gd name="T1" fmla="*/ 192 h 240"/>
              <a:gd name="T2" fmla="*/ 0 w 2352"/>
              <a:gd name="T3" fmla="*/ 0 h 240"/>
              <a:gd name="T4" fmla="*/ 2352 w 2352"/>
              <a:gd name="T5" fmla="*/ 0 h 240"/>
              <a:gd name="T6" fmla="*/ 2352 w 2352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52" h="240">
                <a:moveTo>
                  <a:pt x="0" y="192"/>
                </a:moveTo>
                <a:lnTo>
                  <a:pt x="0" y="0"/>
                </a:lnTo>
                <a:lnTo>
                  <a:pt x="2352" y="0"/>
                </a:lnTo>
                <a:lnTo>
                  <a:pt x="2352" y="240"/>
                </a:lnTo>
              </a:path>
            </a:pathLst>
          </a:cu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0517" name="Group 37"/>
          <p:cNvGrpSpPr>
            <a:grpSpLocks/>
          </p:cNvGrpSpPr>
          <p:nvPr/>
        </p:nvGrpSpPr>
        <p:grpSpPr bwMode="auto">
          <a:xfrm>
            <a:off x="7058025" y="5110163"/>
            <a:ext cx="739775" cy="777875"/>
            <a:chOff x="4416" y="2304"/>
            <a:chExt cx="466" cy="490"/>
          </a:xfrm>
        </p:grpSpPr>
        <p:sp>
          <p:nvSpPr>
            <p:cNvPr id="20518" name="Line 38"/>
            <p:cNvSpPr>
              <a:spLocks noChangeShapeType="1"/>
            </p:cNvSpPr>
            <p:nvPr/>
          </p:nvSpPr>
          <p:spPr bwMode="auto">
            <a:xfrm>
              <a:off x="4416" y="230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9" name="Object 39"/>
            <p:cNvGraphicFramePr>
              <a:graphicFrameLocks noChangeAspect="1"/>
            </p:cNvGraphicFramePr>
            <p:nvPr/>
          </p:nvGraphicFramePr>
          <p:xfrm>
            <a:off x="4464" y="2471"/>
            <a:ext cx="418" cy="32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0636" name="Equation" r:id="rId5" imgW="279360" imgH="215640" progId="Equation.3">
                    <p:embed/>
                  </p:oleObj>
                </mc:Choice>
                <mc:Fallback>
                  <p:oleObj name="Equation" r:id="rId5" imgW="279360" imgH="21564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471"/>
                          <a:ext cx="418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23" name="Oval 43"/>
          <p:cNvSpPr>
            <a:spLocks noChangeArrowheads="1"/>
          </p:cNvSpPr>
          <p:nvPr/>
        </p:nvSpPr>
        <p:spPr bwMode="auto">
          <a:xfrm>
            <a:off x="5838825" y="4392613"/>
            <a:ext cx="2509838" cy="971550"/>
          </a:xfrm>
          <a:prstGeom prst="ellipse">
            <a:avLst/>
          </a:prstGeom>
          <a:gradFill rotWithShape="0">
            <a:gsLst>
              <a:gs pos="0%">
                <a:srgbClr val="33CCFF">
                  <a:gamma/>
                  <a:shade val="46.275%"/>
                  <a:invGamma/>
                </a:srgbClr>
              </a:gs>
              <a:gs pos="50%">
                <a:srgbClr val="33CCFF"/>
              </a:gs>
              <a:gs pos="100%">
                <a:srgbClr val="33CCFF">
                  <a:gamma/>
                  <a:shade val="46.275%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4" name="Oval 44" descr="50%"/>
          <p:cNvSpPr>
            <a:spLocks noChangeArrowheads="1"/>
          </p:cNvSpPr>
          <p:nvPr/>
        </p:nvSpPr>
        <p:spPr bwMode="auto">
          <a:xfrm>
            <a:off x="5686425" y="4237038"/>
            <a:ext cx="2819400" cy="1025525"/>
          </a:xfrm>
          <a:prstGeom prst="ellipse">
            <a:avLst/>
          </a:prstGeom>
          <a:pattFill prst="pct50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5" name="Freeform 45"/>
          <p:cNvSpPr>
            <a:spLocks/>
          </p:cNvSpPr>
          <p:nvPr/>
        </p:nvSpPr>
        <p:spPr bwMode="auto">
          <a:xfrm>
            <a:off x="8048625" y="4221163"/>
            <a:ext cx="990600" cy="1600200"/>
          </a:xfrm>
          <a:custGeom>
            <a:avLst/>
            <a:gdLst>
              <a:gd name="T0" fmla="*/ 0 w 775"/>
              <a:gd name="T1" fmla="*/ 1070 h 1070"/>
              <a:gd name="T2" fmla="*/ 7 w 775"/>
              <a:gd name="T3" fmla="*/ 816 h 1070"/>
              <a:gd name="T4" fmla="*/ 775 w 775"/>
              <a:gd name="T5" fmla="*/ 0 h 1070"/>
              <a:gd name="T6" fmla="*/ 775 w 775"/>
              <a:gd name="T7" fmla="*/ 240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1070">
                <a:moveTo>
                  <a:pt x="0" y="1070"/>
                </a:moveTo>
                <a:lnTo>
                  <a:pt x="7" y="816"/>
                </a:lnTo>
                <a:lnTo>
                  <a:pt x="775" y="0"/>
                </a:lnTo>
                <a:lnTo>
                  <a:pt x="775" y="240"/>
                </a:lnTo>
              </a:path>
            </a:pathLst>
          </a:cu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0551" name="Group 71"/>
          <p:cNvGrpSpPr>
            <a:grpSpLocks/>
          </p:cNvGrpSpPr>
          <p:nvPr/>
        </p:nvGrpSpPr>
        <p:grpSpPr bwMode="auto">
          <a:xfrm>
            <a:off x="6227763" y="4503738"/>
            <a:ext cx="1681162" cy="485775"/>
            <a:chOff x="3923" y="2837"/>
            <a:chExt cx="1059" cy="306"/>
          </a:xfrm>
        </p:grpSpPr>
        <p:grpSp>
          <p:nvGrpSpPr>
            <p:cNvPr id="20527" name="Group 47"/>
            <p:cNvGrpSpPr>
              <a:grpSpLocks/>
            </p:cNvGrpSpPr>
            <p:nvPr/>
          </p:nvGrpSpPr>
          <p:grpSpPr bwMode="auto">
            <a:xfrm>
              <a:off x="3923" y="2848"/>
              <a:ext cx="1059" cy="295"/>
              <a:chOff x="2640" y="1913"/>
              <a:chExt cx="1059" cy="295"/>
            </a:xfrm>
          </p:grpSpPr>
          <p:sp>
            <p:nvSpPr>
              <p:cNvPr id="20528" name="Oval 48"/>
              <p:cNvSpPr>
                <a:spLocks noChangeArrowheads="1"/>
              </p:cNvSpPr>
              <p:nvPr/>
            </p:nvSpPr>
            <p:spPr bwMode="auto">
              <a:xfrm>
                <a:off x="2640" y="1913"/>
                <a:ext cx="1059" cy="29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29" name="Oval 4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864" cy="1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0" name="Line 50"/>
              <p:cNvSpPr>
                <a:spLocks noChangeShapeType="1"/>
              </p:cNvSpPr>
              <p:nvPr/>
            </p:nvSpPr>
            <p:spPr bwMode="auto">
              <a:xfrm>
                <a:off x="3168" y="2064"/>
                <a:ext cx="462" cy="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31" name="Freeform 51"/>
              <p:cNvSpPr>
                <a:spLocks/>
              </p:cNvSpPr>
              <p:nvPr/>
            </p:nvSpPr>
            <p:spPr bwMode="auto">
              <a:xfrm>
                <a:off x="3408" y="2112"/>
                <a:ext cx="228" cy="63"/>
              </a:xfrm>
              <a:custGeom>
                <a:avLst/>
                <a:gdLst>
                  <a:gd name="T0" fmla="*/ 0 w 264"/>
                  <a:gd name="T1" fmla="*/ 18 h 69"/>
                  <a:gd name="T2" fmla="*/ 147 w 264"/>
                  <a:gd name="T3" fmla="*/ 0 h 69"/>
                  <a:gd name="T4" fmla="*/ 264 w 264"/>
                  <a:gd name="T5" fmla="*/ 24 h 69"/>
                  <a:gd name="T6" fmla="*/ 102 w 264"/>
                  <a:gd name="T7" fmla="*/ 69 h 69"/>
                  <a:gd name="T8" fmla="*/ 0 w 264"/>
                  <a:gd name="T9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4" h="69">
                    <a:moveTo>
                      <a:pt x="0" y="18"/>
                    </a:moveTo>
                    <a:lnTo>
                      <a:pt x="147" y="0"/>
                    </a:lnTo>
                    <a:lnTo>
                      <a:pt x="264" y="24"/>
                    </a:lnTo>
                    <a:lnTo>
                      <a:pt x="102" y="69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32" name="Line 52"/>
              <p:cNvSpPr>
                <a:spLocks noChangeShapeType="1"/>
              </p:cNvSpPr>
              <p:nvPr/>
            </p:nvSpPr>
            <p:spPr bwMode="auto">
              <a:xfrm>
                <a:off x="3168" y="2064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33" name="Text Box 53"/>
            <p:cNvSpPr txBox="1">
              <a:spLocks noChangeArrowheads="1"/>
            </p:cNvSpPr>
            <p:nvPr/>
          </p:nvSpPr>
          <p:spPr bwMode="auto">
            <a:xfrm>
              <a:off x="4622" y="2837"/>
              <a:ext cx="1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kumimoji="1" lang="en-US" altLang="zh-CN" sz="2000" b="1" baseline="-25%">
                <a:latin typeface="Times New Roman" panose="02020603050405020304" pitchFamily="18" charset="0"/>
              </a:endParaRPr>
            </a:p>
          </p:txBody>
        </p:sp>
      </p:grpSp>
      <p:sp>
        <p:nvSpPr>
          <p:cNvPr id="20535" name="AutoShape 55"/>
          <p:cNvSpPr>
            <a:spLocks noChangeArrowheads="1"/>
          </p:cNvSpPr>
          <p:nvPr/>
        </p:nvSpPr>
        <p:spPr bwMode="auto">
          <a:xfrm>
            <a:off x="7596188" y="4387850"/>
            <a:ext cx="457200" cy="287338"/>
          </a:xfrm>
          <a:prstGeom prst="wedgeRoundRectCallout">
            <a:avLst>
              <a:gd name="adj1" fmla="val -22222"/>
              <a:gd name="adj2" fmla="val 10303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000" b="1"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r</a:t>
            </a:r>
          </a:p>
        </p:txBody>
      </p:sp>
      <p:grpSp>
        <p:nvGrpSpPr>
          <p:cNvPr id="20540" name="Group 60"/>
          <p:cNvGrpSpPr>
            <a:grpSpLocks/>
          </p:cNvGrpSpPr>
          <p:nvPr/>
        </p:nvGrpSpPr>
        <p:grpSpPr bwMode="auto">
          <a:xfrm>
            <a:off x="6696075" y="4957763"/>
            <a:ext cx="895350" cy="533400"/>
            <a:chOff x="4188" y="2208"/>
            <a:chExt cx="564" cy="336"/>
          </a:xfrm>
        </p:grpSpPr>
        <p:sp>
          <p:nvSpPr>
            <p:cNvPr id="20541" name="Line 61"/>
            <p:cNvSpPr>
              <a:spLocks noChangeShapeType="1"/>
            </p:cNvSpPr>
            <p:nvPr/>
          </p:nvSpPr>
          <p:spPr bwMode="auto">
            <a:xfrm flipH="1">
              <a:off x="4459" y="2208"/>
              <a:ext cx="293" cy="9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42" name="Object 62"/>
            <p:cNvGraphicFramePr>
              <a:graphicFrameLocks noChangeAspect="1"/>
            </p:cNvGraphicFramePr>
            <p:nvPr/>
          </p:nvGraphicFramePr>
          <p:xfrm>
            <a:off x="4188" y="2208"/>
            <a:ext cx="307" cy="33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20637" name="Equation" r:id="rId7" imgW="215640" imgH="241200" progId="Equation.3">
                    <p:embed/>
                  </p:oleObj>
                </mc:Choice>
                <mc:Fallback>
                  <p:oleObj name="Equation" r:id="rId7" imgW="215640" imgH="24120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2208"/>
                          <a:ext cx="3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44" name="Object 64"/>
          <p:cNvGraphicFramePr>
            <a:graphicFrameLocks noChangeAspect="1"/>
          </p:cNvGraphicFramePr>
          <p:nvPr/>
        </p:nvGraphicFramePr>
        <p:xfrm>
          <a:off x="395288" y="5661025"/>
          <a:ext cx="5965825" cy="10874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0638" name="公式" r:id="rId9" imgW="2298600" imgH="419040" progId="Equation.3">
                  <p:embed/>
                </p:oleObj>
              </mc:Choice>
              <mc:Fallback>
                <p:oleObj name="公式" r:id="rId9" imgW="2298600" imgH="41904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61025"/>
                        <a:ext cx="5965825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8" name="Text Box 68"/>
          <p:cNvSpPr txBox="1">
            <a:spLocks noChangeArrowheads="1"/>
          </p:cNvSpPr>
          <p:nvPr/>
        </p:nvSpPr>
        <p:spPr bwMode="auto">
          <a:xfrm>
            <a:off x="7524750" y="479742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20510" name="Object 30"/>
          <p:cNvGraphicFramePr>
            <a:graphicFrameLocks noChangeAspect="1"/>
          </p:cNvGraphicFramePr>
          <p:nvPr/>
        </p:nvGraphicFramePr>
        <p:xfrm>
          <a:off x="2339975" y="4795838"/>
          <a:ext cx="2995613" cy="5207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0639" name="公式" r:id="rId11" imgW="1320480" imgH="228600" progId="Equation.3">
                  <p:embed/>
                </p:oleObj>
              </mc:Choice>
              <mc:Fallback>
                <p:oleObj name="公式" r:id="rId11" imgW="132048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795838"/>
                        <a:ext cx="29956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247650" y="4724400"/>
            <a:ext cx="257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面元的质量：</a:t>
            </a:r>
          </a:p>
        </p:txBody>
      </p:sp>
      <p:grpSp>
        <p:nvGrpSpPr>
          <p:cNvPr id="20550" name="Group 70"/>
          <p:cNvGrpSpPr>
            <a:grpSpLocks/>
          </p:cNvGrpSpPr>
          <p:nvPr/>
        </p:nvGrpSpPr>
        <p:grpSpPr bwMode="auto">
          <a:xfrm>
            <a:off x="6832600" y="4356100"/>
            <a:ext cx="530225" cy="495300"/>
            <a:chOff x="4304" y="2744"/>
            <a:chExt cx="334" cy="312"/>
          </a:xfrm>
        </p:grpSpPr>
        <p:sp>
          <p:nvSpPr>
            <p:cNvPr id="20539" name="AutoShape 59"/>
            <p:cNvSpPr>
              <a:spLocks noChangeArrowheads="1"/>
            </p:cNvSpPr>
            <p:nvPr/>
          </p:nvSpPr>
          <p:spPr bwMode="auto">
            <a:xfrm>
              <a:off x="4304" y="2744"/>
              <a:ext cx="288" cy="192"/>
            </a:xfrm>
            <a:prstGeom prst="wedgeRoundRectCallout">
              <a:avLst>
                <a:gd name="adj1" fmla="val 59375"/>
                <a:gd name="adj2" fmla="val 103125"/>
                <a:gd name="adj3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0549" name="Arc 69"/>
            <p:cNvSpPr>
              <a:spLocks/>
            </p:cNvSpPr>
            <p:nvPr/>
          </p:nvSpPr>
          <p:spPr bwMode="auto">
            <a:xfrm rot="11008081" flipH="1">
              <a:off x="4604" y="3022"/>
              <a:ext cx="34" cy="34"/>
            </a:xfrm>
            <a:custGeom>
              <a:avLst/>
              <a:gdLst>
                <a:gd name="G0" fmla="+- 0 0 0"/>
                <a:gd name="G1" fmla="+- 20325 0 0"/>
                <a:gd name="G2" fmla="+- 21600 0 0"/>
                <a:gd name="T0" fmla="*/ 7313 w 21600"/>
                <a:gd name="T1" fmla="*/ 0 h 20325"/>
                <a:gd name="T2" fmla="*/ 21600 w 21600"/>
                <a:gd name="T3" fmla="*/ 20325 h 20325"/>
                <a:gd name="T4" fmla="*/ 0 w 21600"/>
                <a:gd name="T5" fmla="*/ 20325 h 20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325" fill="none" extrusionOk="0">
                  <a:moveTo>
                    <a:pt x="7312" y="0"/>
                  </a:moveTo>
                  <a:cubicBezTo>
                    <a:pt x="15884" y="3084"/>
                    <a:pt x="21600" y="11215"/>
                    <a:pt x="21600" y="20325"/>
                  </a:cubicBezTo>
                </a:path>
                <a:path w="21600" h="20325" stroke="0" extrusionOk="0">
                  <a:moveTo>
                    <a:pt x="7312" y="0"/>
                  </a:moveTo>
                  <a:cubicBezTo>
                    <a:pt x="15884" y="3084"/>
                    <a:pt x="21600" y="11215"/>
                    <a:pt x="21600" y="20325"/>
                  </a:cubicBezTo>
                  <a:lnTo>
                    <a:pt x="0" y="203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56" name="Group 76"/>
          <p:cNvGrpSpPr>
            <a:grpSpLocks/>
          </p:cNvGrpSpPr>
          <p:nvPr/>
        </p:nvGrpSpPr>
        <p:grpSpPr bwMode="auto">
          <a:xfrm>
            <a:off x="6227763" y="3357563"/>
            <a:ext cx="1076325" cy="1397000"/>
            <a:chOff x="3923" y="2115"/>
            <a:chExt cx="678" cy="880"/>
          </a:xfrm>
        </p:grpSpPr>
        <p:sp>
          <p:nvSpPr>
            <p:cNvPr id="20534" name="Line 54"/>
            <p:cNvSpPr>
              <a:spLocks noChangeShapeType="1"/>
            </p:cNvSpPr>
            <p:nvPr/>
          </p:nvSpPr>
          <p:spPr bwMode="auto">
            <a:xfrm flipV="1">
              <a:off x="4454" y="2251"/>
              <a:ext cx="0" cy="7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0546" name="Group 66"/>
            <p:cNvGrpSpPr>
              <a:grpSpLocks/>
            </p:cNvGrpSpPr>
            <p:nvPr/>
          </p:nvGrpSpPr>
          <p:grpSpPr bwMode="auto">
            <a:xfrm>
              <a:off x="3923" y="2160"/>
              <a:ext cx="678" cy="343"/>
              <a:chOff x="3924" y="2160"/>
              <a:chExt cx="678" cy="343"/>
            </a:xfrm>
          </p:grpSpPr>
          <p:graphicFrame>
            <p:nvGraphicFramePr>
              <p:cNvPr id="20520" name="Object 40"/>
              <p:cNvGraphicFramePr>
                <a:graphicFrameLocks noChangeAspect="1"/>
              </p:cNvGraphicFramePr>
              <p:nvPr/>
            </p:nvGraphicFramePr>
            <p:xfrm>
              <a:off x="3924" y="2205"/>
              <a:ext cx="408" cy="298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20640" name="Equation" r:id="rId13" imgW="330120" imgH="241200" progId="Equation.3">
                      <p:embed/>
                    </p:oleObj>
                  </mc:Choice>
                  <mc:Fallback>
                    <p:oleObj name="Equation" r:id="rId13" imgW="330120" imgH="24120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4" y="2205"/>
                            <a:ext cx="408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43" name="AutoShape 63"/>
              <p:cNvSpPr>
                <a:spLocks noChangeArrowheads="1"/>
              </p:cNvSpPr>
              <p:nvPr/>
            </p:nvSpPr>
            <p:spPr bwMode="auto">
              <a:xfrm>
                <a:off x="4332" y="2160"/>
                <a:ext cx="270" cy="288"/>
              </a:xfrm>
              <a:prstGeom prst="curvedLeftArrow">
                <a:avLst>
                  <a:gd name="adj1" fmla="val 21333"/>
                  <a:gd name="adj2" fmla="val 42667"/>
                  <a:gd name="adj3" fmla="val 33333"/>
                </a:avLst>
              </a:prstGeom>
              <a:solidFill>
                <a:srgbClr val="FFFFCC"/>
              </a:solidFill>
              <a:ln w="12700">
                <a:solidFill>
                  <a:schemeClr val="tx1"/>
                </a:solidFill>
                <a:miter lim="800%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52" name="Line 72"/>
            <p:cNvSpPr>
              <a:spLocks noChangeShapeType="1"/>
            </p:cNvSpPr>
            <p:nvPr/>
          </p:nvSpPr>
          <p:spPr bwMode="auto">
            <a:xfrm flipV="1">
              <a:off x="4452" y="2115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55" name="Group 75"/>
          <p:cNvGrpSpPr>
            <a:grpSpLocks/>
          </p:cNvGrpSpPr>
          <p:nvPr/>
        </p:nvGrpSpPr>
        <p:grpSpPr bwMode="auto">
          <a:xfrm>
            <a:off x="7524750" y="3284538"/>
            <a:ext cx="431800" cy="649287"/>
            <a:chOff x="4740" y="2069"/>
            <a:chExt cx="272" cy="409"/>
          </a:xfrm>
        </p:grpSpPr>
        <p:sp>
          <p:nvSpPr>
            <p:cNvPr id="20553" name="Line 73"/>
            <p:cNvSpPr>
              <a:spLocks noChangeShapeType="1"/>
            </p:cNvSpPr>
            <p:nvPr/>
          </p:nvSpPr>
          <p:spPr bwMode="auto">
            <a:xfrm>
              <a:off x="4740" y="2115"/>
              <a:ext cx="0" cy="363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4" name="Text Box 74"/>
            <p:cNvSpPr txBox="1">
              <a:spLocks noChangeArrowheads="1"/>
            </p:cNvSpPr>
            <p:nvPr/>
          </p:nvSpPr>
          <p:spPr bwMode="auto">
            <a:xfrm>
              <a:off x="4765" y="2069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FF3300"/>
                  </a:solidFill>
                  <a:ea typeface="Gungsuh" panose="02030600000101010101" pitchFamily="18" charset="-127"/>
                </a:rPr>
                <a:t>+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50" presetClass="entr" presetSubtype="0" decel="10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1" grpId="0" autoUpdateAnimBg="0"/>
      <p:bldP spid="20513" grpId="0" autoUpdateAnimBg="0"/>
      <p:bldP spid="20535" grpId="0" animBg="1"/>
      <p:bldP spid="20548" grpId="0"/>
      <p:bldP spid="20512" grpId="0" autoUpdateAnimBg="0"/>
    </p:bldLst>
  </p:timing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52" name="Object 48"/>
          <p:cNvGraphicFramePr>
            <a:graphicFrameLocks noChangeAspect="1"/>
          </p:cNvGraphicFramePr>
          <p:nvPr/>
        </p:nvGraphicFramePr>
        <p:xfrm>
          <a:off x="627063" y="765175"/>
          <a:ext cx="7258050" cy="10445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1765" name="公式" r:id="rId3" imgW="2819160" imgH="406080" progId="Equation.3">
                  <p:embed/>
                </p:oleObj>
              </mc:Choice>
              <mc:Fallback>
                <p:oleObj name="公式" r:id="rId3" imgW="2819160" imgH="40608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765175"/>
                        <a:ext cx="72580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3" name="Object 49"/>
          <p:cNvGraphicFramePr>
            <a:graphicFrameLocks noChangeAspect="1"/>
          </p:cNvGraphicFramePr>
          <p:nvPr/>
        </p:nvGraphicFramePr>
        <p:xfrm>
          <a:off x="468313" y="2852738"/>
          <a:ext cx="4465637" cy="14890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1766" name="Equation" r:id="rId5" imgW="1904760" imgH="634680" progId="Equation.3">
                  <p:embed/>
                </p:oleObj>
              </mc:Choice>
              <mc:Fallback>
                <p:oleObj name="Equation" r:id="rId5" imgW="1904760" imgH="6346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52738"/>
                        <a:ext cx="4465637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4" name="Object 50"/>
          <p:cNvGraphicFramePr>
            <a:graphicFrameLocks noChangeAspect="1"/>
          </p:cNvGraphicFramePr>
          <p:nvPr/>
        </p:nvGraphicFramePr>
        <p:xfrm>
          <a:off x="3419475" y="4292600"/>
          <a:ext cx="4824413" cy="9715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1767" name="Equation" r:id="rId7" imgW="2019240" imgH="406080" progId="Equation.3">
                  <p:embed/>
                </p:oleObj>
              </mc:Choice>
              <mc:Fallback>
                <p:oleObj name="Equation" r:id="rId7" imgW="2019240" imgH="4060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292600"/>
                        <a:ext cx="48244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5" name="Object 51"/>
          <p:cNvGraphicFramePr>
            <a:graphicFrameLocks noChangeAspect="1"/>
          </p:cNvGraphicFramePr>
          <p:nvPr/>
        </p:nvGraphicFramePr>
        <p:xfrm>
          <a:off x="1619250" y="5445125"/>
          <a:ext cx="6480175" cy="11461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1768" name="公式" r:id="rId9" imgW="2514600" imgH="444240" progId="Equation.3">
                  <p:embed/>
                </p:oleObj>
              </mc:Choice>
              <mc:Fallback>
                <p:oleObj name="公式" r:id="rId9" imgW="2514600" imgH="44424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445125"/>
                        <a:ext cx="648017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250825" y="319088"/>
            <a:ext cx="883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各面元所受力矩方向相同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整个唱片所受摩擦力矩为</a:t>
            </a:r>
          </a:p>
        </p:txBody>
      </p:sp>
      <p:sp>
        <p:nvSpPr>
          <p:cNvPr id="21557" name="Text Box 53"/>
          <p:cNvSpPr txBox="1">
            <a:spLocks noChangeArrowheads="1"/>
          </p:cNvSpPr>
          <p:nvPr/>
        </p:nvSpPr>
        <p:spPr bwMode="auto">
          <a:xfrm>
            <a:off x="250825" y="1906588"/>
            <a:ext cx="568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唱片在此力矩作用下做匀加速转动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角速度从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增加到</a:t>
            </a:r>
            <a:r>
              <a:rPr kumimoji="1"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 需要时间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1558" name="Rectangle 54"/>
          <p:cNvSpPr>
            <a:spLocks noChangeArrowheads="1"/>
          </p:cNvSpPr>
          <p:nvPr/>
        </p:nvSpPr>
        <p:spPr bwMode="auto">
          <a:xfrm>
            <a:off x="323850" y="4494213"/>
            <a:ext cx="3502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驱动力矩做功为</a:t>
            </a:r>
            <a:endParaRPr kumimoji="1" lang="zh-CN" altLang="en-US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559" name="Rectangle 55"/>
          <p:cNvSpPr>
            <a:spLocks noChangeArrowheads="1"/>
          </p:cNvSpPr>
          <p:nvPr/>
        </p:nvSpPr>
        <p:spPr bwMode="auto">
          <a:xfrm>
            <a:off x="395288" y="5013325"/>
            <a:ext cx="3467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sym typeface="Symbol" panose="05050102010706020507" pitchFamily="18" charset="2"/>
              </a:rPr>
              <a:t>唱片获得动能为</a:t>
            </a:r>
            <a:endParaRPr kumimoji="1" lang="zh-CN" altLang="en-US" b="1" i="1">
              <a:sym typeface="Symbol" panose="05050102010706020507" pitchFamily="18" charset="2"/>
            </a:endParaRPr>
          </a:p>
        </p:txBody>
      </p:sp>
      <p:grpSp>
        <p:nvGrpSpPr>
          <p:cNvPr id="21680" name="Group 176"/>
          <p:cNvGrpSpPr>
            <a:grpSpLocks/>
          </p:cNvGrpSpPr>
          <p:nvPr/>
        </p:nvGrpSpPr>
        <p:grpSpPr bwMode="auto">
          <a:xfrm>
            <a:off x="5076825" y="1679575"/>
            <a:ext cx="3962400" cy="2613025"/>
            <a:chOff x="3198" y="1058"/>
            <a:chExt cx="2496" cy="1646"/>
          </a:xfrm>
        </p:grpSpPr>
        <p:sp>
          <p:nvSpPr>
            <p:cNvPr id="21648" name="AutoShape 144"/>
            <p:cNvSpPr>
              <a:spLocks noChangeArrowheads="1"/>
            </p:cNvSpPr>
            <p:nvPr/>
          </p:nvSpPr>
          <p:spPr bwMode="auto">
            <a:xfrm>
              <a:off x="3198" y="1648"/>
              <a:ext cx="2496" cy="768"/>
            </a:xfrm>
            <a:prstGeom prst="parallelogram">
              <a:avLst>
                <a:gd name="adj" fmla="val 81250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49" name="Freeform 145"/>
            <p:cNvSpPr>
              <a:spLocks/>
            </p:cNvSpPr>
            <p:nvPr/>
          </p:nvSpPr>
          <p:spPr bwMode="auto">
            <a:xfrm>
              <a:off x="3198" y="2416"/>
              <a:ext cx="1872" cy="288"/>
            </a:xfrm>
            <a:custGeom>
              <a:avLst/>
              <a:gdLst>
                <a:gd name="T0" fmla="*/ 0 w 2352"/>
                <a:gd name="T1" fmla="*/ 192 h 240"/>
                <a:gd name="T2" fmla="*/ 0 w 2352"/>
                <a:gd name="T3" fmla="*/ 0 h 240"/>
                <a:gd name="T4" fmla="*/ 2352 w 2352"/>
                <a:gd name="T5" fmla="*/ 0 h 240"/>
                <a:gd name="T6" fmla="*/ 2352 w 2352"/>
                <a:gd name="T7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52" h="240">
                  <a:moveTo>
                    <a:pt x="0" y="192"/>
                  </a:moveTo>
                  <a:lnTo>
                    <a:pt x="0" y="0"/>
                  </a:lnTo>
                  <a:lnTo>
                    <a:pt x="2352" y="0"/>
                  </a:lnTo>
                  <a:lnTo>
                    <a:pt x="2352" y="240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1650" name="Group 146"/>
            <p:cNvGrpSpPr>
              <a:grpSpLocks/>
            </p:cNvGrpSpPr>
            <p:nvPr/>
          </p:nvGrpSpPr>
          <p:grpSpPr bwMode="auto">
            <a:xfrm>
              <a:off x="4446" y="2208"/>
              <a:ext cx="466" cy="490"/>
              <a:chOff x="4416" y="2304"/>
              <a:chExt cx="466" cy="490"/>
            </a:xfrm>
          </p:grpSpPr>
          <p:sp>
            <p:nvSpPr>
              <p:cNvPr id="21651" name="Line 147"/>
              <p:cNvSpPr>
                <a:spLocks noChangeShapeType="1"/>
              </p:cNvSpPr>
              <p:nvPr/>
            </p:nvSpPr>
            <p:spPr bwMode="auto">
              <a:xfrm>
                <a:off x="4416" y="230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652" name="Object 148"/>
              <p:cNvGraphicFramePr>
                <a:graphicFrameLocks noChangeAspect="1"/>
              </p:cNvGraphicFramePr>
              <p:nvPr/>
            </p:nvGraphicFramePr>
            <p:xfrm>
              <a:off x="4464" y="2471"/>
              <a:ext cx="418" cy="323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21769" name="Equation" r:id="rId11" imgW="279360" imgH="215640" progId="Equation.3">
                      <p:embed/>
                    </p:oleObj>
                  </mc:Choice>
                  <mc:Fallback>
                    <p:oleObj name="Equation" r:id="rId11" imgW="279360" imgH="215640" progId="Equation.3">
                      <p:embed/>
                      <p:pic>
                        <p:nvPicPr>
                          <p:cNvPr id="0" name="Object 1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2471"/>
                            <a:ext cx="418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653" name="Oval 149"/>
            <p:cNvSpPr>
              <a:spLocks noChangeArrowheads="1"/>
            </p:cNvSpPr>
            <p:nvPr/>
          </p:nvSpPr>
          <p:spPr bwMode="auto">
            <a:xfrm>
              <a:off x="3678" y="1756"/>
              <a:ext cx="1581" cy="612"/>
            </a:xfrm>
            <a:prstGeom prst="ellipse">
              <a:avLst/>
            </a:prstGeom>
            <a:gradFill rotWithShape="0">
              <a:gsLst>
                <a:gs pos="0%">
                  <a:srgbClr val="33CCFF">
                    <a:gamma/>
                    <a:shade val="46.275%"/>
                    <a:invGamma/>
                  </a:srgbClr>
                </a:gs>
                <a:gs pos="50%">
                  <a:srgbClr val="33CCFF"/>
                </a:gs>
                <a:gs pos="100%">
                  <a:srgbClr val="33CCFF">
                    <a:gamma/>
                    <a:shade val="46.275%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54" name="Oval 150" descr="50%"/>
            <p:cNvSpPr>
              <a:spLocks noChangeArrowheads="1"/>
            </p:cNvSpPr>
            <p:nvPr/>
          </p:nvSpPr>
          <p:spPr bwMode="auto">
            <a:xfrm>
              <a:off x="3582" y="1658"/>
              <a:ext cx="1776" cy="646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55" name="Freeform 151"/>
            <p:cNvSpPr>
              <a:spLocks/>
            </p:cNvSpPr>
            <p:nvPr/>
          </p:nvSpPr>
          <p:spPr bwMode="auto">
            <a:xfrm>
              <a:off x="5070" y="1648"/>
              <a:ext cx="624" cy="1008"/>
            </a:xfrm>
            <a:custGeom>
              <a:avLst/>
              <a:gdLst>
                <a:gd name="T0" fmla="*/ 0 w 775"/>
                <a:gd name="T1" fmla="*/ 1070 h 1070"/>
                <a:gd name="T2" fmla="*/ 7 w 775"/>
                <a:gd name="T3" fmla="*/ 816 h 1070"/>
                <a:gd name="T4" fmla="*/ 775 w 775"/>
                <a:gd name="T5" fmla="*/ 0 h 1070"/>
                <a:gd name="T6" fmla="*/ 775 w 775"/>
                <a:gd name="T7" fmla="*/ 24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5" h="1070">
                  <a:moveTo>
                    <a:pt x="0" y="1070"/>
                  </a:moveTo>
                  <a:lnTo>
                    <a:pt x="7" y="816"/>
                  </a:lnTo>
                  <a:lnTo>
                    <a:pt x="775" y="0"/>
                  </a:lnTo>
                  <a:lnTo>
                    <a:pt x="775" y="240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1656" name="Group 152"/>
            <p:cNvGrpSpPr>
              <a:grpSpLocks/>
            </p:cNvGrpSpPr>
            <p:nvPr/>
          </p:nvGrpSpPr>
          <p:grpSpPr bwMode="auto">
            <a:xfrm>
              <a:off x="3923" y="1826"/>
              <a:ext cx="1059" cy="306"/>
              <a:chOff x="3923" y="2837"/>
              <a:chExt cx="1059" cy="306"/>
            </a:xfrm>
          </p:grpSpPr>
          <p:grpSp>
            <p:nvGrpSpPr>
              <p:cNvPr id="21657" name="Group 153"/>
              <p:cNvGrpSpPr>
                <a:grpSpLocks/>
              </p:cNvGrpSpPr>
              <p:nvPr/>
            </p:nvGrpSpPr>
            <p:grpSpPr bwMode="auto">
              <a:xfrm>
                <a:off x="3923" y="2848"/>
                <a:ext cx="1059" cy="295"/>
                <a:chOff x="2640" y="1913"/>
                <a:chExt cx="1059" cy="295"/>
              </a:xfrm>
            </p:grpSpPr>
            <p:sp>
              <p:nvSpPr>
                <p:cNvPr id="21658" name="Oval 154"/>
                <p:cNvSpPr>
                  <a:spLocks noChangeArrowheads="1"/>
                </p:cNvSpPr>
                <p:nvPr/>
              </p:nvSpPr>
              <p:spPr bwMode="auto">
                <a:xfrm>
                  <a:off x="2640" y="1913"/>
                  <a:ext cx="1059" cy="29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659" name="Oval 155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864" cy="17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660" name="Line 156"/>
                <p:cNvSpPr>
                  <a:spLocks noChangeShapeType="1"/>
                </p:cNvSpPr>
                <p:nvPr/>
              </p:nvSpPr>
              <p:spPr bwMode="auto">
                <a:xfrm>
                  <a:off x="3168" y="2064"/>
                  <a:ext cx="462" cy="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661" name="Freeform 157"/>
                <p:cNvSpPr>
                  <a:spLocks/>
                </p:cNvSpPr>
                <p:nvPr/>
              </p:nvSpPr>
              <p:spPr bwMode="auto">
                <a:xfrm>
                  <a:off x="3408" y="2112"/>
                  <a:ext cx="228" cy="63"/>
                </a:xfrm>
                <a:custGeom>
                  <a:avLst/>
                  <a:gdLst>
                    <a:gd name="T0" fmla="*/ 0 w 264"/>
                    <a:gd name="T1" fmla="*/ 18 h 69"/>
                    <a:gd name="T2" fmla="*/ 147 w 264"/>
                    <a:gd name="T3" fmla="*/ 0 h 69"/>
                    <a:gd name="T4" fmla="*/ 264 w 264"/>
                    <a:gd name="T5" fmla="*/ 24 h 69"/>
                    <a:gd name="T6" fmla="*/ 102 w 264"/>
                    <a:gd name="T7" fmla="*/ 69 h 69"/>
                    <a:gd name="T8" fmla="*/ 0 w 264"/>
                    <a:gd name="T9" fmla="*/ 1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4" h="69">
                      <a:moveTo>
                        <a:pt x="0" y="18"/>
                      </a:moveTo>
                      <a:lnTo>
                        <a:pt x="147" y="0"/>
                      </a:lnTo>
                      <a:lnTo>
                        <a:pt x="264" y="24"/>
                      </a:lnTo>
                      <a:lnTo>
                        <a:pt x="102" y="69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662" name="Line 158"/>
                <p:cNvSpPr>
                  <a:spLocks noChangeShapeType="1"/>
                </p:cNvSpPr>
                <p:nvPr/>
              </p:nvSpPr>
              <p:spPr bwMode="auto">
                <a:xfrm>
                  <a:off x="3168" y="2064"/>
                  <a:ext cx="288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663" name="Text Box 159"/>
              <p:cNvSpPr txBox="1">
                <a:spLocks noChangeArrowheads="1"/>
              </p:cNvSpPr>
              <p:nvPr/>
            </p:nvSpPr>
            <p:spPr bwMode="auto">
              <a:xfrm>
                <a:off x="4622" y="2837"/>
                <a:ext cx="19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0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endParaRPr kumimoji="1" lang="en-US" altLang="zh-CN" sz="2000" b="1" baseline="-25%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664" name="Line 160"/>
            <p:cNvSpPr>
              <a:spLocks noChangeShapeType="1"/>
            </p:cNvSpPr>
            <p:nvPr/>
          </p:nvSpPr>
          <p:spPr bwMode="auto">
            <a:xfrm flipV="1">
              <a:off x="4454" y="1240"/>
              <a:ext cx="0" cy="7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665" name="AutoShape 161"/>
            <p:cNvSpPr>
              <a:spLocks noChangeArrowheads="1"/>
            </p:cNvSpPr>
            <p:nvPr/>
          </p:nvSpPr>
          <p:spPr bwMode="auto">
            <a:xfrm>
              <a:off x="4785" y="1753"/>
              <a:ext cx="288" cy="181"/>
            </a:xfrm>
            <a:prstGeom prst="wedgeRoundRectCallout">
              <a:avLst>
                <a:gd name="adj1" fmla="val -22222"/>
                <a:gd name="adj2" fmla="val 103037"/>
                <a:gd name="adj3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21666" name="Group 162"/>
            <p:cNvGrpSpPr>
              <a:grpSpLocks/>
            </p:cNvGrpSpPr>
            <p:nvPr/>
          </p:nvGrpSpPr>
          <p:grpSpPr bwMode="auto">
            <a:xfrm>
              <a:off x="4218" y="2112"/>
              <a:ext cx="564" cy="336"/>
              <a:chOff x="4188" y="2208"/>
              <a:chExt cx="564" cy="336"/>
            </a:xfrm>
          </p:grpSpPr>
          <p:sp>
            <p:nvSpPr>
              <p:cNvPr id="21667" name="Line 163"/>
              <p:cNvSpPr>
                <a:spLocks noChangeShapeType="1"/>
              </p:cNvSpPr>
              <p:nvPr/>
            </p:nvSpPr>
            <p:spPr bwMode="auto">
              <a:xfrm flipH="1">
                <a:off x="4459" y="2208"/>
                <a:ext cx="293" cy="9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668" name="Object 164"/>
              <p:cNvGraphicFramePr>
                <a:graphicFrameLocks noChangeAspect="1"/>
              </p:cNvGraphicFramePr>
              <p:nvPr/>
            </p:nvGraphicFramePr>
            <p:xfrm>
              <a:off x="4188" y="2208"/>
              <a:ext cx="307" cy="336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21770" name="Equation" r:id="rId13" imgW="215640" imgH="241200" progId="Equation.3">
                      <p:embed/>
                    </p:oleObj>
                  </mc:Choice>
                  <mc:Fallback>
                    <p:oleObj name="Equation" r:id="rId13" imgW="215640" imgH="241200" progId="Equation.3">
                      <p:embed/>
                      <p:pic>
                        <p:nvPicPr>
                          <p:cNvPr id="0" name="Object 1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8" y="2208"/>
                            <a:ext cx="307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669" name="Group 165"/>
            <p:cNvGrpSpPr>
              <a:grpSpLocks/>
            </p:cNvGrpSpPr>
            <p:nvPr/>
          </p:nvGrpSpPr>
          <p:grpSpPr bwMode="auto">
            <a:xfrm>
              <a:off x="3923" y="1149"/>
              <a:ext cx="678" cy="343"/>
              <a:chOff x="3924" y="2160"/>
              <a:chExt cx="678" cy="343"/>
            </a:xfrm>
          </p:grpSpPr>
          <p:graphicFrame>
            <p:nvGraphicFramePr>
              <p:cNvPr id="21670" name="Object 166"/>
              <p:cNvGraphicFramePr>
                <a:graphicFrameLocks noChangeAspect="1"/>
              </p:cNvGraphicFramePr>
              <p:nvPr/>
            </p:nvGraphicFramePr>
            <p:xfrm>
              <a:off x="3924" y="2205"/>
              <a:ext cx="408" cy="298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21771" name="Equation" r:id="rId15" imgW="330120" imgH="241200" progId="Equation.3">
                      <p:embed/>
                    </p:oleObj>
                  </mc:Choice>
                  <mc:Fallback>
                    <p:oleObj name="Equation" r:id="rId15" imgW="330120" imgH="241200" progId="Equation.3">
                      <p:embed/>
                      <p:pic>
                        <p:nvPicPr>
                          <p:cNvPr id="0" name="Object 1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4" y="2205"/>
                            <a:ext cx="408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671" name="AutoShape 167"/>
              <p:cNvSpPr>
                <a:spLocks noChangeArrowheads="1"/>
              </p:cNvSpPr>
              <p:nvPr/>
            </p:nvSpPr>
            <p:spPr bwMode="auto">
              <a:xfrm>
                <a:off x="4332" y="2160"/>
                <a:ext cx="270" cy="288"/>
              </a:xfrm>
              <a:prstGeom prst="curvedLeftArrow">
                <a:avLst>
                  <a:gd name="adj1" fmla="val 21333"/>
                  <a:gd name="adj2" fmla="val 42667"/>
                  <a:gd name="adj3" fmla="val 33333"/>
                </a:avLst>
              </a:prstGeom>
              <a:solidFill>
                <a:srgbClr val="FFFFCC"/>
              </a:solidFill>
              <a:ln w="12700">
                <a:solidFill>
                  <a:schemeClr val="tx1"/>
                </a:solidFill>
                <a:miter lim="800%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672" name="Text Box 168"/>
            <p:cNvSpPr txBox="1">
              <a:spLocks noChangeArrowheads="1"/>
            </p:cNvSpPr>
            <p:nvPr/>
          </p:nvSpPr>
          <p:spPr bwMode="auto">
            <a:xfrm>
              <a:off x="4740" y="201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21673" name="Group 169"/>
            <p:cNvGrpSpPr>
              <a:grpSpLocks/>
            </p:cNvGrpSpPr>
            <p:nvPr/>
          </p:nvGrpSpPr>
          <p:grpSpPr bwMode="auto">
            <a:xfrm>
              <a:off x="4304" y="1733"/>
              <a:ext cx="334" cy="312"/>
              <a:chOff x="4304" y="2744"/>
              <a:chExt cx="334" cy="312"/>
            </a:xfrm>
          </p:grpSpPr>
          <p:sp>
            <p:nvSpPr>
              <p:cNvPr id="21674" name="AutoShape 170"/>
              <p:cNvSpPr>
                <a:spLocks noChangeArrowheads="1"/>
              </p:cNvSpPr>
              <p:nvPr/>
            </p:nvSpPr>
            <p:spPr bwMode="auto">
              <a:xfrm>
                <a:off x="4304" y="2744"/>
                <a:ext cx="288" cy="192"/>
              </a:xfrm>
              <a:prstGeom prst="wedgeRoundRectCallout">
                <a:avLst>
                  <a:gd name="adj1" fmla="val 59375"/>
                  <a:gd name="adj2" fmla="val 103125"/>
                  <a:gd name="adj3" fmla="val 16667"/>
                </a:avLst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latin typeface="Times New Roman" panose="02020603050405020304" pitchFamily="18" charset="0"/>
                  </a:rPr>
                  <a:t>d</a:t>
                </a: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1675" name="Arc 171"/>
              <p:cNvSpPr>
                <a:spLocks/>
              </p:cNvSpPr>
              <p:nvPr/>
            </p:nvSpPr>
            <p:spPr bwMode="auto">
              <a:xfrm rot="11008081" flipH="1">
                <a:off x="4604" y="3022"/>
                <a:ext cx="34" cy="34"/>
              </a:xfrm>
              <a:custGeom>
                <a:avLst/>
                <a:gdLst>
                  <a:gd name="G0" fmla="+- 0 0 0"/>
                  <a:gd name="G1" fmla="+- 20325 0 0"/>
                  <a:gd name="G2" fmla="+- 21600 0 0"/>
                  <a:gd name="T0" fmla="*/ 7313 w 21600"/>
                  <a:gd name="T1" fmla="*/ 0 h 20325"/>
                  <a:gd name="T2" fmla="*/ 21600 w 21600"/>
                  <a:gd name="T3" fmla="*/ 20325 h 20325"/>
                  <a:gd name="T4" fmla="*/ 0 w 21600"/>
                  <a:gd name="T5" fmla="*/ 20325 h 20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0325" fill="none" extrusionOk="0">
                    <a:moveTo>
                      <a:pt x="7312" y="0"/>
                    </a:moveTo>
                    <a:cubicBezTo>
                      <a:pt x="15884" y="3084"/>
                      <a:pt x="21600" y="11215"/>
                      <a:pt x="21600" y="20325"/>
                    </a:cubicBezTo>
                  </a:path>
                  <a:path w="21600" h="20325" stroke="0" extrusionOk="0">
                    <a:moveTo>
                      <a:pt x="7312" y="0"/>
                    </a:moveTo>
                    <a:cubicBezTo>
                      <a:pt x="15884" y="3084"/>
                      <a:pt x="21600" y="11215"/>
                      <a:pt x="21600" y="20325"/>
                    </a:cubicBezTo>
                    <a:lnTo>
                      <a:pt x="0" y="2032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676" name="Line 172"/>
            <p:cNvSpPr>
              <a:spLocks noChangeShapeType="1"/>
            </p:cNvSpPr>
            <p:nvPr/>
          </p:nvSpPr>
          <p:spPr bwMode="auto">
            <a:xfrm flipV="1">
              <a:off x="4452" y="1104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677" name="Group 173"/>
            <p:cNvGrpSpPr>
              <a:grpSpLocks/>
            </p:cNvGrpSpPr>
            <p:nvPr/>
          </p:nvGrpSpPr>
          <p:grpSpPr bwMode="auto">
            <a:xfrm>
              <a:off x="4740" y="1058"/>
              <a:ext cx="272" cy="409"/>
              <a:chOff x="4740" y="2069"/>
              <a:chExt cx="272" cy="409"/>
            </a:xfrm>
          </p:grpSpPr>
          <p:sp>
            <p:nvSpPr>
              <p:cNvPr id="21678" name="Line 174"/>
              <p:cNvSpPr>
                <a:spLocks noChangeShapeType="1"/>
              </p:cNvSpPr>
              <p:nvPr/>
            </p:nvSpPr>
            <p:spPr bwMode="auto">
              <a:xfrm>
                <a:off x="4740" y="2115"/>
                <a:ext cx="0" cy="363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79" name="Text Box 175"/>
              <p:cNvSpPr txBox="1">
                <a:spLocks noChangeArrowheads="1"/>
              </p:cNvSpPr>
              <p:nvPr/>
            </p:nvSpPr>
            <p:spPr bwMode="auto">
              <a:xfrm>
                <a:off x="4765" y="2069"/>
                <a:ext cx="24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  <a:ea typeface="Gungsuh" panose="02030600000101010101" pitchFamily="18" charset="-127"/>
                  </a:rPr>
                  <a:t>+</a:t>
                </a:r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0" presetClass="entr" presetSubtype="0" decel="10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7" grpId="0" autoUpdateAnimBg="0"/>
      <p:bldP spid="21558" grpId="0" autoUpdateAnimBg="0"/>
      <p:bldP spid="21559" grpId="0" autoUpdateAnimBg="0"/>
    </p:bldLst>
  </p:timing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0" name="Picture 4" descr="http://static.howstuffworks.com/gif/hydrogen-economy-station.jpg"/>
          <p:cNvPicPr>
            <a:picLocks noChangeAspect="1" noChangeArrowheads="1"/>
          </p:cNvPicPr>
          <p:nvPr/>
        </p:nvPicPr>
        <p:blipFill>
          <a:blip r:embed="rId2" r:link="rId3">
            <a:lum bright="-12%" contrast="18%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1" name="WordArt 5"/>
          <p:cNvSpPr>
            <a:spLocks noChangeArrowheads="1" noChangeShapeType="1" noTextEdit="1"/>
          </p:cNvSpPr>
          <p:nvPr/>
        </p:nvSpPr>
        <p:spPr bwMode="auto">
          <a:xfrm>
            <a:off x="2362200" y="990600"/>
            <a:ext cx="4495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25400">
                  <a:solidFill>
                    <a:srgbClr val="FFCC99"/>
                  </a:solidFill>
                  <a:round/>
                  <a:headEnd/>
                  <a:tailEnd/>
                </a:ln>
                <a:solidFill>
                  <a:srgbClr val="3366FF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大学物理</a:t>
            </a:r>
          </a:p>
        </p:txBody>
      </p:sp>
      <p:sp>
        <p:nvSpPr>
          <p:cNvPr id="50182" name="WordArt 6"/>
          <p:cNvSpPr>
            <a:spLocks noChangeArrowheads="1" noChangeShapeType="1" noTextEdit="1"/>
          </p:cNvSpPr>
          <p:nvPr/>
        </p:nvSpPr>
        <p:spPr bwMode="auto">
          <a:xfrm>
            <a:off x="2590800" y="2590800"/>
            <a:ext cx="4419600" cy="1981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8000" b="1" kern="10">
                <a:ln w="25400">
                  <a:solidFill>
                    <a:srgbClr val="00CCFF"/>
                  </a:solidFill>
                  <a:round/>
                  <a:headEnd/>
                  <a:tailEnd/>
                </a:ln>
                <a:solidFill>
                  <a:srgbClr val="FD3F03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热 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56" name="Group 76"/>
          <p:cNvGrpSpPr>
            <a:grpSpLocks/>
          </p:cNvGrpSpPr>
          <p:nvPr/>
        </p:nvGrpSpPr>
        <p:grpSpPr bwMode="auto">
          <a:xfrm>
            <a:off x="179388" y="260350"/>
            <a:ext cx="8848725" cy="6353175"/>
            <a:chOff x="118" y="210"/>
            <a:chExt cx="5574" cy="4002"/>
          </a:xfrm>
        </p:grpSpPr>
        <p:sp>
          <p:nvSpPr>
            <p:cNvPr id="97285" name="Text Box 5"/>
            <p:cNvSpPr txBox="1">
              <a:spLocks noChangeArrowheads="1"/>
            </p:cNvSpPr>
            <p:nvPr/>
          </p:nvSpPr>
          <p:spPr bwMode="auto">
            <a:xfrm>
              <a:off x="1990" y="210"/>
              <a:ext cx="1968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气体分子热运动描述</a:t>
              </a:r>
            </a:p>
          </p:txBody>
        </p:sp>
        <p:sp>
          <p:nvSpPr>
            <p:cNvPr id="97286" name="Text Box 6"/>
            <p:cNvSpPr txBox="1">
              <a:spLocks noChangeArrowheads="1"/>
            </p:cNvSpPr>
            <p:nvPr/>
          </p:nvSpPr>
          <p:spPr bwMode="auto">
            <a:xfrm>
              <a:off x="982" y="594"/>
              <a:ext cx="1536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状态参量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7288" name="Text Box 8"/>
            <p:cNvSpPr txBox="1">
              <a:spLocks noChangeArrowheads="1"/>
            </p:cNvSpPr>
            <p:nvPr/>
          </p:nvSpPr>
          <p:spPr bwMode="auto">
            <a:xfrm>
              <a:off x="3958" y="594"/>
              <a:ext cx="1680" cy="100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速率分布律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50%"/>
                </a:spcBef>
              </a:pP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%"/>
                </a:spcBef>
              </a:pP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7289" name="Object 9"/>
            <p:cNvGraphicFramePr>
              <a:graphicFrameLocks noChangeAspect="1"/>
            </p:cNvGraphicFramePr>
            <p:nvPr/>
          </p:nvGraphicFramePr>
          <p:xfrm>
            <a:off x="4050" y="834"/>
            <a:ext cx="1406" cy="38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7514" name="公式" r:id="rId3" imgW="838080" imgH="228600" progId="Equation.3">
                    <p:embed/>
                  </p:oleObj>
                </mc:Choice>
                <mc:Fallback>
                  <p:oleObj name="公式" r:id="rId3" imgW="83808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834"/>
                          <a:ext cx="1406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90" name="Object 10"/>
            <p:cNvGraphicFramePr>
              <a:graphicFrameLocks noChangeAspect="1"/>
            </p:cNvGraphicFramePr>
            <p:nvPr/>
          </p:nvGraphicFramePr>
          <p:xfrm>
            <a:off x="3969" y="1193"/>
            <a:ext cx="1633" cy="37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7515" name="公式" r:id="rId5" imgW="1473120" imgH="330120" progId="Equation.3">
                    <p:embed/>
                  </p:oleObj>
                </mc:Choice>
                <mc:Fallback>
                  <p:oleObj name="公式" r:id="rId5" imgW="1473120" imgH="3301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193"/>
                          <a:ext cx="163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91" name="Text Box 11"/>
            <p:cNvSpPr txBox="1">
              <a:spLocks noChangeArrowheads="1"/>
            </p:cNvSpPr>
            <p:nvPr/>
          </p:nvSpPr>
          <p:spPr bwMode="auto">
            <a:xfrm>
              <a:off x="358" y="1026"/>
              <a:ext cx="960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宏观表述</a:t>
              </a:r>
            </a:p>
          </p:txBody>
        </p:sp>
        <p:sp>
          <p:nvSpPr>
            <p:cNvPr id="97292" name="Text Box 12"/>
            <p:cNvSpPr txBox="1">
              <a:spLocks noChangeArrowheads="1"/>
            </p:cNvSpPr>
            <p:nvPr/>
          </p:nvSpPr>
          <p:spPr bwMode="auto">
            <a:xfrm>
              <a:off x="2326" y="1026"/>
              <a:ext cx="960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微观意义</a:t>
              </a:r>
            </a:p>
          </p:txBody>
        </p:sp>
        <p:grpSp>
          <p:nvGrpSpPr>
            <p:cNvPr id="97293" name="Group 13"/>
            <p:cNvGrpSpPr>
              <a:grpSpLocks/>
            </p:cNvGrpSpPr>
            <p:nvPr/>
          </p:nvGrpSpPr>
          <p:grpSpPr bwMode="auto">
            <a:xfrm>
              <a:off x="118" y="1554"/>
              <a:ext cx="1392" cy="1347"/>
              <a:chOff x="48" y="1536"/>
              <a:chExt cx="1392" cy="1347"/>
            </a:xfrm>
          </p:grpSpPr>
          <p:sp>
            <p:nvSpPr>
              <p:cNvPr id="97294" name="Text Box 14"/>
              <p:cNvSpPr txBox="1">
                <a:spLocks noChangeArrowheads="1"/>
              </p:cNvSpPr>
              <p:nvPr/>
            </p:nvSpPr>
            <p:spPr bwMode="auto">
              <a:xfrm>
                <a:off x="48" y="1536"/>
                <a:ext cx="1392" cy="134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理想气体方程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295" name="Object 15"/>
              <p:cNvGraphicFramePr>
                <a:graphicFrameLocks noChangeAspect="1"/>
              </p:cNvGraphicFramePr>
              <p:nvPr/>
            </p:nvGraphicFramePr>
            <p:xfrm>
              <a:off x="68" y="1776"/>
              <a:ext cx="1353" cy="382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16" name="Equation" r:id="rId7" imgW="901440" imgH="253800" progId="Equation.3">
                      <p:embed/>
                    </p:oleObj>
                  </mc:Choice>
                  <mc:Fallback>
                    <p:oleObj name="Equation" r:id="rId7" imgW="901440" imgH="2538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" y="1776"/>
                            <a:ext cx="1353" cy="3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296" name="Object 16"/>
              <p:cNvGraphicFramePr>
                <a:graphicFrameLocks noChangeAspect="1"/>
              </p:cNvGraphicFramePr>
              <p:nvPr/>
            </p:nvGraphicFramePr>
            <p:xfrm>
              <a:off x="106" y="2066"/>
              <a:ext cx="1216" cy="556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17" name="Equation" r:id="rId9" imgW="609480" imgH="279360" progId="Equation.3">
                      <p:embed/>
                    </p:oleObj>
                  </mc:Choice>
                  <mc:Fallback>
                    <p:oleObj name="Equation" r:id="rId9" imgW="609480" imgH="27936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" y="2066"/>
                            <a:ext cx="1216" cy="5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297" name="Object 17"/>
              <p:cNvGraphicFramePr>
                <a:graphicFrameLocks noChangeAspect="1"/>
              </p:cNvGraphicFramePr>
              <p:nvPr/>
            </p:nvGraphicFramePr>
            <p:xfrm>
              <a:off x="358" y="2574"/>
              <a:ext cx="821" cy="250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18" name="Equation" r:id="rId11" imgW="583920" imgH="177480" progId="Equation.3">
                      <p:embed/>
                    </p:oleObj>
                  </mc:Choice>
                  <mc:Fallback>
                    <p:oleObj name="Equation" r:id="rId11" imgW="583920" imgH="17748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8" y="2574"/>
                            <a:ext cx="821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298" name="Group 18"/>
            <p:cNvGrpSpPr>
              <a:grpSpLocks/>
            </p:cNvGrpSpPr>
            <p:nvPr/>
          </p:nvGrpSpPr>
          <p:grpSpPr bwMode="auto">
            <a:xfrm>
              <a:off x="1606" y="1554"/>
              <a:ext cx="1056" cy="657"/>
              <a:chOff x="1536" y="1536"/>
              <a:chExt cx="1056" cy="657"/>
            </a:xfrm>
          </p:grpSpPr>
          <p:sp>
            <p:nvSpPr>
              <p:cNvPr id="97299" name="Text Box 19"/>
              <p:cNvSpPr txBox="1">
                <a:spLocks noChangeArrowheads="1"/>
              </p:cNvSpPr>
              <p:nvPr/>
            </p:nvSpPr>
            <p:spPr bwMode="auto">
              <a:xfrm>
                <a:off x="1536" y="1536"/>
                <a:ext cx="1056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温度公式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00" name="Object 20"/>
              <p:cNvGraphicFramePr>
                <a:graphicFrameLocks noChangeAspect="1"/>
              </p:cNvGraphicFramePr>
              <p:nvPr/>
            </p:nvGraphicFramePr>
            <p:xfrm>
              <a:off x="1563" y="1796"/>
              <a:ext cx="1002" cy="352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19" name="Equation" r:id="rId13" imgW="609480" imgH="228600" progId="Equation.3">
                      <p:embed/>
                    </p:oleObj>
                  </mc:Choice>
                  <mc:Fallback>
                    <p:oleObj name="Equation" r:id="rId13" imgW="609480" imgH="2286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3" y="1796"/>
                            <a:ext cx="1002" cy="3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301" name="Group 21"/>
            <p:cNvGrpSpPr>
              <a:grpSpLocks/>
            </p:cNvGrpSpPr>
            <p:nvPr/>
          </p:nvGrpSpPr>
          <p:grpSpPr bwMode="auto">
            <a:xfrm>
              <a:off x="2758" y="1554"/>
              <a:ext cx="1056" cy="657"/>
              <a:chOff x="2688" y="1536"/>
              <a:chExt cx="1056" cy="657"/>
            </a:xfrm>
          </p:grpSpPr>
          <p:sp>
            <p:nvSpPr>
              <p:cNvPr id="97302" name="Text Box 22"/>
              <p:cNvSpPr txBox="1">
                <a:spLocks noChangeArrowheads="1"/>
              </p:cNvSpPr>
              <p:nvPr/>
            </p:nvSpPr>
            <p:spPr bwMode="auto">
              <a:xfrm>
                <a:off x="2688" y="1536"/>
                <a:ext cx="1056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压强公式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03" name="Object 23"/>
              <p:cNvGraphicFramePr>
                <a:graphicFrameLocks noChangeAspect="1"/>
              </p:cNvGraphicFramePr>
              <p:nvPr/>
            </p:nvGraphicFramePr>
            <p:xfrm>
              <a:off x="2717" y="1817"/>
              <a:ext cx="943" cy="353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0" name="Equation" r:id="rId15" imgW="609480" imgH="228600" progId="Equation.3">
                      <p:embed/>
                    </p:oleObj>
                  </mc:Choice>
                  <mc:Fallback>
                    <p:oleObj name="Equation" r:id="rId15" imgW="609480" imgH="2286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7" y="1817"/>
                            <a:ext cx="943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304" name="Group 24"/>
            <p:cNvGrpSpPr>
              <a:grpSpLocks/>
            </p:cNvGrpSpPr>
            <p:nvPr/>
          </p:nvGrpSpPr>
          <p:grpSpPr bwMode="auto">
            <a:xfrm>
              <a:off x="166" y="3393"/>
              <a:ext cx="1776" cy="657"/>
              <a:chOff x="96" y="3375"/>
              <a:chExt cx="1776" cy="657"/>
            </a:xfrm>
          </p:grpSpPr>
          <p:sp>
            <p:nvSpPr>
              <p:cNvPr id="97305" name="Text Box 25"/>
              <p:cNvSpPr txBox="1">
                <a:spLocks noChangeArrowheads="1"/>
              </p:cNvSpPr>
              <p:nvPr/>
            </p:nvSpPr>
            <p:spPr bwMode="auto">
              <a:xfrm>
                <a:off x="96" y="3375"/>
                <a:ext cx="1776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理想气体内能公式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06" name="Object 26"/>
              <p:cNvGraphicFramePr>
                <a:graphicFrameLocks noChangeAspect="1"/>
              </p:cNvGraphicFramePr>
              <p:nvPr/>
            </p:nvGraphicFramePr>
            <p:xfrm>
              <a:off x="257" y="3615"/>
              <a:ext cx="1454" cy="415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1" name="Equation" r:id="rId17" imgW="888840" imgH="253800" progId="Equation.3">
                      <p:embed/>
                    </p:oleObj>
                  </mc:Choice>
                  <mc:Fallback>
                    <p:oleObj name="Equation" r:id="rId17" imgW="888840" imgH="2538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" y="3615"/>
                            <a:ext cx="1454" cy="4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307" name="Group 27"/>
            <p:cNvGrpSpPr>
              <a:grpSpLocks/>
            </p:cNvGrpSpPr>
            <p:nvPr/>
          </p:nvGrpSpPr>
          <p:grpSpPr bwMode="auto">
            <a:xfrm>
              <a:off x="1702" y="2466"/>
              <a:ext cx="2131" cy="576"/>
              <a:chOff x="1632" y="2448"/>
              <a:chExt cx="2131" cy="576"/>
            </a:xfrm>
          </p:grpSpPr>
          <p:sp>
            <p:nvSpPr>
              <p:cNvPr id="97308" name="Text Box 28"/>
              <p:cNvSpPr txBox="1">
                <a:spLocks noChangeArrowheads="1"/>
              </p:cNvSpPr>
              <p:nvPr/>
            </p:nvSpPr>
            <p:spPr bwMode="auto">
              <a:xfrm>
                <a:off x="1632" y="2448"/>
                <a:ext cx="2112" cy="542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能量均分定理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分子每个自由度能量</a:t>
                </a:r>
              </a:p>
            </p:txBody>
          </p:sp>
          <p:graphicFrame>
            <p:nvGraphicFramePr>
              <p:cNvPr id="97309" name="Object 29"/>
              <p:cNvGraphicFramePr>
                <a:graphicFrameLocks noChangeAspect="1"/>
              </p:cNvGraphicFramePr>
              <p:nvPr/>
            </p:nvGraphicFramePr>
            <p:xfrm>
              <a:off x="3443" y="2640"/>
              <a:ext cx="320" cy="38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2" name="Equation" r:id="rId19" imgW="190440" imgH="228600" progId="Equation.3">
                      <p:embed/>
                    </p:oleObj>
                  </mc:Choice>
                  <mc:Fallback>
                    <p:oleObj name="Equation" r:id="rId19" imgW="190440" imgH="2286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43" y="2640"/>
                            <a:ext cx="320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310" name="Group 30"/>
            <p:cNvGrpSpPr>
              <a:grpSpLocks/>
            </p:cNvGrpSpPr>
            <p:nvPr/>
          </p:nvGrpSpPr>
          <p:grpSpPr bwMode="auto">
            <a:xfrm>
              <a:off x="3958" y="1986"/>
              <a:ext cx="1734" cy="715"/>
              <a:chOff x="3888" y="1968"/>
              <a:chExt cx="1734" cy="715"/>
            </a:xfrm>
          </p:grpSpPr>
          <p:sp>
            <p:nvSpPr>
              <p:cNvPr id="97311" name="Text Box 31"/>
              <p:cNvSpPr txBox="1">
                <a:spLocks noChangeArrowheads="1"/>
              </p:cNvSpPr>
              <p:nvPr/>
            </p:nvSpPr>
            <p:spPr bwMode="auto">
              <a:xfrm>
                <a:off x="3888" y="1968"/>
                <a:ext cx="1728" cy="715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麦氏速率分布函数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75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12" name="Object 32"/>
              <p:cNvGraphicFramePr>
                <a:graphicFrameLocks noChangeAspect="1"/>
              </p:cNvGraphicFramePr>
              <p:nvPr/>
            </p:nvGraphicFramePr>
            <p:xfrm>
              <a:off x="3899" y="2191"/>
              <a:ext cx="1723" cy="449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3" name="公式" r:id="rId21" imgW="1765080" imgH="444240" progId="Equation.3">
                      <p:embed/>
                    </p:oleObj>
                  </mc:Choice>
                  <mc:Fallback>
                    <p:oleObj name="公式" r:id="rId21" imgW="1765080" imgH="44424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9" y="2191"/>
                            <a:ext cx="1723" cy="4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7313" name="Text Box 33"/>
            <p:cNvSpPr txBox="1">
              <a:spLocks noChangeArrowheads="1"/>
            </p:cNvSpPr>
            <p:nvPr/>
          </p:nvSpPr>
          <p:spPr bwMode="auto">
            <a:xfrm>
              <a:off x="3430" y="3090"/>
              <a:ext cx="960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三种速率</a:t>
              </a:r>
            </a:p>
          </p:txBody>
        </p:sp>
        <p:grpSp>
          <p:nvGrpSpPr>
            <p:cNvPr id="97314" name="Group 34"/>
            <p:cNvGrpSpPr>
              <a:grpSpLocks/>
            </p:cNvGrpSpPr>
            <p:nvPr/>
          </p:nvGrpSpPr>
          <p:grpSpPr bwMode="auto">
            <a:xfrm>
              <a:off x="3382" y="3555"/>
              <a:ext cx="1027" cy="657"/>
              <a:chOff x="3312" y="3537"/>
              <a:chExt cx="1027" cy="657"/>
            </a:xfrm>
          </p:grpSpPr>
          <p:sp>
            <p:nvSpPr>
              <p:cNvPr id="97315" name="Text Box 35"/>
              <p:cNvSpPr txBox="1">
                <a:spLocks noChangeArrowheads="1"/>
              </p:cNvSpPr>
              <p:nvPr/>
            </p:nvSpPr>
            <p:spPr bwMode="auto">
              <a:xfrm>
                <a:off x="3312" y="3537"/>
                <a:ext cx="1008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平均速率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16" name="Object 36"/>
              <p:cNvGraphicFramePr>
                <a:graphicFrameLocks noChangeAspect="1"/>
              </p:cNvGraphicFramePr>
              <p:nvPr/>
            </p:nvGraphicFramePr>
            <p:xfrm>
              <a:off x="3342" y="3773"/>
              <a:ext cx="997" cy="403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4" name="公式" r:id="rId23" imgW="1015920" imgH="482400" progId="Equation.3">
                      <p:embed/>
                    </p:oleObj>
                  </mc:Choice>
                  <mc:Fallback>
                    <p:oleObj name="公式" r:id="rId23" imgW="1015920" imgH="4824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2" y="3773"/>
                            <a:ext cx="997" cy="4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7317" name="Text Box 37"/>
            <p:cNvSpPr txBox="1">
              <a:spLocks noChangeArrowheads="1"/>
            </p:cNvSpPr>
            <p:nvPr/>
          </p:nvSpPr>
          <p:spPr bwMode="auto">
            <a:xfrm>
              <a:off x="4534" y="3555"/>
              <a:ext cx="1152" cy="657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方均根速率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50%"/>
                </a:spcBef>
              </a:pP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7318" name="Object 38"/>
            <p:cNvGraphicFramePr>
              <a:graphicFrameLocks noChangeAspect="1"/>
            </p:cNvGraphicFramePr>
            <p:nvPr/>
          </p:nvGraphicFramePr>
          <p:xfrm>
            <a:off x="4575" y="3810"/>
            <a:ext cx="1057" cy="38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7525" name="公式" r:id="rId25" imgW="1168200" imgH="482400" progId="Equation.3">
                    <p:embed/>
                  </p:oleObj>
                </mc:Choice>
                <mc:Fallback>
                  <p:oleObj name="公式" r:id="rId25" imgW="1168200" imgH="4824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" y="3810"/>
                          <a:ext cx="105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FF33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7319" name="Group 39"/>
            <p:cNvGrpSpPr>
              <a:grpSpLocks/>
            </p:cNvGrpSpPr>
            <p:nvPr/>
          </p:nvGrpSpPr>
          <p:grpSpPr bwMode="auto">
            <a:xfrm>
              <a:off x="2086" y="3555"/>
              <a:ext cx="1152" cy="657"/>
              <a:chOff x="2016" y="3537"/>
              <a:chExt cx="1152" cy="657"/>
            </a:xfrm>
          </p:grpSpPr>
          <p:sp>
            <p:nvSpPr>
              <p:cNvPr id="97320" name="Text Box 40"/>
              <p:cNvSpPr txBox="1">
                <a:spLocks noChangeArrowheads="1"/>
              </p:cNvSpPr>
              <p:nvPr/>
            </p:nvSpPr>
            <p:spPr bwMode="auto">
              <a:xfrm>
                <a:off x="2016" y="3537"/>
                <a:ext cx="1152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最概然速率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7321" name="Object 41"/>
              <p:cNvGraphicFramePr>
                <a:graphicFrameLocks noChangeAspect="1"/>
              </p:cNvGraphicFramePr>
              <p:nvPr/>
            </p:nvGraphicFramePr>
            <p:xfrm>
              <a:off x="2050" y="3792"/>
              <a:ext cx="1083" cy="38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7526" name="公式" r:id="rId27" imgW="1054080" imgH="482400" progId="Equation.3">
                      <p:embed/>
                    </p:oleObj>
                  </mc:Choice>
                  <mc:Fallback>
                    <p:oleObj name="公式" r:id="rId27" imgW="1054080" imgH="482400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0" y="3792"/>
                            <a:ext cx="1083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7322" name="Group 42"/>
            <p:cNvGrpSpPr>
              <a:grpSpLocks/>
            </p:cNvGrpSpPr>
            <p:nvPr/>
          </p:nvGrpSpPr>
          <p:grpSpPr bwMode="auto">
            <a:xfrm>
              <a:off x="1702" y="354"/>
              <a:ext cx="288" cy="240"/>
              <a:chOff x="1488" y="336"/>
              <a:chExt cx="288" cy="240"/>
            </a:xfrm>
          </p:grpSpPr>
          <p:sp>
            <p:nvSpPr>
              <p:cNvPr id="97323" name="Line 43"/>
              <p:cNvSpPr>
                <a:spLocks noChangeShapeType="1"/>
              </p:cNvSpPr>
              <p:nvPr/>
            </p:nvSpPr>
            <p:spPr bwMode="auto">
              <a:xfrm flipH="1">
                <a:off x="1488" y="33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24" name="Line 44"/>
              <p:cNvSpPr>
                <a:spLocks noChangeShapeType="1"/>
              </p:cNvSpPr>
              <p:nvPr/>
            </p:nvSpPr>
            <p:spPr bwMode="auto">
              <a:xfrm>
                <a:off x="1488" y="3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25" name="Group 45"/>
            <p:cNvGrpSpPr>
              <a:grpSpLocks/>
            </p:cNvGrpSpPr>
            <p:nvPr/>
          </p:nvGrpSpPr>
          <p:grpSpPr bwMode="auto">
            <a:xfrm>
              <a:off x="790" y="738"/>
              <a:ext cx="192" cy="288"/>
              <a:chOff x="720" y="720"/>
              <a:chExt cx="192" cy="288"/>
            </a:xfrm>
          </p:grpSpPr>
          <p:sp>
            <p:nvSpPr>
              <p:cNvPr id="97326" name="Line 46"/>
              <p:cNvSpPr>
                <a:spLocks noChangeShapeType="1"/>
              </p:cNvSpPr>
              <p:nvPr/>
            </p:nvSpPr>
            <p:spPr bwMode="auto">
              <a:xfrm flipH="1">
                <a:off x="720" y="72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27" name="Line 47"/>
              <p:cNvSpPr>
                <a:spLocks noChangeShapeType="1"/>
              </p:cNvSpPr>
              <p:nvPr/>
            </p:nvSpPr>
            <p:spPr bwMode="auto">
              <a:xfrm>
                <a:off x="720" y="72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28" name="Group 48"/>
            <p:cNvGrpSpPr>
              <a:grpSpLocks/>
            </p:cNvGrpSpPr>
            <p:nvPr/>
          </p:nvGrpSpPr>
          <p:grpSpPr bwMode="auto">
            <a:xfrm>
              <a:off x="2518" y="738"/>
              <a:ext cx="288" cy="288"/>
              <a:chOff x="2448" y="720"/>
              <a:chExt cx="288" cy="288"/>
            </a:xfrm>
          </p:grpSpPr>
          <p:sp>
            <p:nvSpPr>
              <p:cNvPr id="97329" name="Line 49"/>
              <p:cNvSpPr>
                <a:spLocks noChangeShapeType="1"/>
              </p:cNvSpPr>
              <p:nvPr/>
            </p:nvSpPr>
            <p:spPr bwMode="auto">
              <a:xfrm>
                <a:off x="2448" y="72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30" name="Line 50"/>
              <p:cNvSpPr>
                <a:spLocks noChangeShapeType="1"/>
              </p:cNvSpPr>
              <p:nvPr/>
            </p:nvSpPr>
            <p:spPr bwMode="auto">
              <a:xfrm>
                <a:off x="2736" y="72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331" name="Line 51"/>
            <p:cNvSpPr>
              <a:spLocks noChangeShapeType="1"/>
            </p:cNvSpPr>
            <p:nvPr/>
          </p:nvSpPr>
          <p:spPr bwMode="auto">
            <a:xfrm>
              <a:off x="790" y="1345"/>
              <a:ext cx="0" cy="20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32" name="Group 52"/>
            <p:cNvGrpSpPr>
              <a:grpSpLocks/>
            </p:cNvGrpSpPr>
            <p:nvPr/>
          </p:nvGrpSpPr>
          <p:grpSpPr bwMode="auto">
            <a:xfrm>
              <a:off x="2086" y="1170"/>
              <a:ext cx="240" cy="384"/>
              <a:chOff x="2016" y="1152"/>
              <a:chExt cx="240" cy="384"/>
            </a:xfrm>
          </p:grpSpPr>
          <p:sp>
            <p:nvSpPr>
              <p:cNvPr id="97333" name="Line 53"/>
              <p:cNvSpPr>
                <a:spLocks noChangeShapeType="1"/>
              </p:cNvSpPr>
              <p:nvPr/>
            </p:nvSpPr>
            <p:spPr bwMode="auto">
              <a:xfrm flipH="1">
                <a:off x="2016" y="1152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34" name="Line 54"/>
              <p:cNvSpPr>
                <a:spLocks noChangeShapeType="1"/>
              </p:cNvSpPr>
              <p:nvPr/>
            </p:nvSpPr>
            <p:spPr bwMode="auto">
              <a:xfrm>
                <a:off x="2016" y="115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35" name="Group 55"/>
            <p:cNvGrpSpPr>
              <a:grpSpLocks/>
            </p:cNvGrpSpPr>
            <p:nvPr/>
          </p:nvGrpSpPr>
          <p:grpSpPr bwMode="auto">
            <a:xfrm>
              <a:off x="3286" y="1170"/>
              <a:ext cx="192" cy="384"/>
              <a:chOff x="3216" y="1152"/>
              <a:chExt cx="192" cy="384"/>
            </a:xfrm>
          </p:grpSpPr>
          <p:sp>
            <p:nvSpPr>
              <p:cNvPr id="97336" name="Line 56"/>
              <p:cNvSpPr>
                <a:spLocks noChangeShapeType="1"/>
              </p:cNvSpPr>
              <p:nvPr/>
            </p:nvSpPr>
            <p:spPr bwMode="auto">
              <a:xfrm>
                <a:off x="3216" y="1152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37" name="Line 57"/>
              <p:cNvSpPr>
                <a:spLocks noChangeShapeType="1"/>
              </p:cNvSpPr>
              <p:nvPr/>
            </p:nvSpPr>
            <p:spPr bwMode="auto">
              <a:xfrm>
                <a:off x="3408" y="115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338" name="Line 58"/>
            <p:cNvSpPr>
              <a:spLocks noChangeShapeType="1"/>
            </p:cNvSpPr>
            <p:nvPr/>
          </p:nvSpPr>
          <p:spPr bwMode="auto">
            <a:xfrm>
              <a:off x="2422" y="222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39" name="Line 59"/>
            <p:cNvSpPr>
              <a:spLocks noChangeShapeType="1"/>
            </p:cNvSpPr>
            <p:nvPr/>
          </p:nvSpPr>
          <p:spPr bwMode="auto">
            <a:xfrm>
              <a:off x="1510" y="2706"/>
              <a:ext cx="19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40" name="Group 60"/>
            <p:cNvGrpSpPr>
              <a:grpSpLocks/>
            </p:cNvGrpSpPr>
            <p:nvPr/>
          </p:nvGrpSpPr>
          <p:grpSpPr bwMode="auto">
            <a:xfrm>
              <a:off x="1020" y="3004"/>
              <a:ext cx="1104" cy="384"/>
              <a:chOff x="960" y="2976"/>
              <a:chExt cx="1104" cy="384"/>
            </a:xfrm>
          </p:grpSpPr>
          <p:sp>
            <p:nvSpPr>
              <p:cNvPr id="97341" name="Line 61"/>
              <p:cNvSpPr>
                <a:spLocks noChangeShapeType="1"/>
              </p:cNvSpPr>
              <p:nvPr/>
            </p:nvSpPr>
            <p:spPr bwMode="auto">
              <a:xfrm>
                <a:off x="2064" y="297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42" name="Line 62"/>
              <p:cNvSpPr>
                <a:spLocks noChangeShapeType="1"/>
              </p:cNvSpPr>
              <p:nvPr/>
            </p:nvSpPr>
            <p:spPr bwMode="auto">
              <a:xfrm flipH="1">
                <a:off x="960" y="3168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43" name="Line 63"/>
              <p:cNvSpPr>
                <a:spLocks noChangeShapeType="1"/>
              </p:cNvSpPr>
              <p:nvPr/>
            </p:nvSpPr>
            <p:spPr bwMode="auto">
              <a:xfrm>
                <a:off x="960" y="316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344" name="Group 64"/>
            <p:cNvGrpSpPr>
              <a:grpSpLocks/>
            </p:cNvGrpSpPr>
            <p:nvPr/>
          </p:nvGrpSpPr>
          <p:grpSpPr bwMode="auto">
            <a:xfrm>
              <a:off x="3958" y="354"/>
              <a:ext cx="912" cy="240"/>
              <a:chOff x="3888" y="336"/>
              <a:chExt cx="912" cy="240"/>
            </a:xfrm>
          </p:grpSpPr>
          <p:sp>
            <p:nvSpPr>
              <p:cNvPr id="97345" name="Line 65"/>
              <p:cNvSpPr>
                <a:spLocks noChangeShapeType="1"/>
              </p:cNvSpPr>
              <p:nvPr/>
            </p:nvSpPr>
            <p:spPr bwMode="auto">
              <a:xfrm>
                <a:off x="3888" y="336"/>
                <a:ext cx="91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46" name="Line 66"/>
              <p:cNvSpPr>
                <a:spLocks noChangeShapeType="1"/>
              </p:cNvSpPr>
              <p:nvPr/>
            </p:nvSpPr>
            <p:spPr bwMode="auto">
              <a:xfrm>
                <a:off x="4800" y="3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347" name="Line 67"/>
            <p:cNvSpPr>
              <a:spLocks noChangeShapeType="1"/>
            </p:cNvSpPr>
            <p:nvPr/>
          </p:nvSpPr>
          <p:spPr bwMode="auto">
            <a:xfrm>
              <a:off x="4876" y="1595"/>
              <a:ext cx="0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48" name="Line 68"/>
            <p:cNvSpPr>
              <a:spLocks noChangeShapeType="1"/>
            </p:cNvSpPr>
            <p:nvPr/>
          </p:nvSpPr>
          <p:spPr bwMode="auto">
            <a:xfrm>
              <a:off x="4102" y="2706"/>
              <a:ext cx="0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49" name="Group 69"/>
            <p:cNvGrpSpPr>
              <a:grpSpLocks/>
            </p:cNvGrpSpPr>
            <p:nvPr/>
          </p:nvGrpSpPr>
          <p:grpSpPr bwMode="auto">
            <a:xfrm>
              <a:off x="2662" y="3234"/>
              <a:ext cx="768" cy="336"/>
              <a:chOff x="2592" y="3216"/>
              <a:chExt cx="768" cy="336"/>
            </a:xfrm>
          </p:grpSpPr>
          <p:sp>
            <p:nvSpPr>
              <p:cNvPr id="97350" name="Line 70"/>
              <p:cNvSpPr>
                <a:spLocks noChangeShapeType="1"/>
              </p:cNvSpPr>
              <p:nvPr/>
            </p:nvSpPr>
            <p:spPr bwMode="auto">
              <a:xfrm flipH="1">
                <a:off x="2592" y="3216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51" name="Line 71"/>
              <p:cNvSpPr>
                <a:spLocks noChangeShapeType="1"/>
              </p:cNvSpPr>
              <p:nvPr/>
            </p:nvSpPr>
            <p:spPr bwMode="auto">
              <a:xfrm>
                <a:off x="2592" y="3216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352" name="Line 72"/>
            <p:cNvSpPr>
              <a:spLocks noChangeShapeType="1"/>
            </p:cNvSpPr>
            <p:nvPr/>
          </p:nvSpPr>
          <p:spPr bwMode="auto">
            <a:xfrm>
              <a:off x="3910" y="3399"/>
              <a:ext cx="0" cy="17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53" name="Group 73"/>
            <p:cNvGrpSpPr>
              <a:grpSpLocks/>
            </p:cNvGrpSpPr>
            <p:nvPr/>
          </p:nvGrpSpPr>
          <p:grpSpPr bwMode="auto">
            <a:xfrm>
              <a:off x="4390" y="3234"/>
              <a:ext cx="720" cy="336"/>
              <a:chOff x="4320" y="3216"/>
              <a:chExt cx="720" cy="288"/>
            </a:xfrm>
          </p:grpSpPr>
          <p:sp>
            <p:nvSpPr>
              <p:cNvPr id="97354" name="Line 74"/>
              <p:cNvSpPr>
                <a:spLocks noChangeShapeType="1"/>
              </p:cNvSpPr>
              <p:nvPr/>
            </p:nvSpPr>
            <p:spPr bwMode="auto">
              <a:xfrm>
                <a:off x="4320" y="3216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55" name="Line 75"/>
              <p:cNvSpPr>
                <a:spLocks noChangeShapeType="1"/>
              </p:cNvSpPr>
              <p:nvPr/>
            </p:nvSpPr>
            <p:spPr bwMode="auto">
              <a:xfrm>
                <a:off x="5040" y="321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7357" name="Text Box 77"/>
          <p:cNvSpPr txBox="1">
            <a:spLocks noChangeArrowheads="1"/>
          </p:cNvSpPr>
          <p:nvPr/>
        </p:nvSpPr>
        <p:spPr bwMode="auto">
          <a:xfrm>
            <a:off x="395288" y="246063"/>
            <a:ext cx="1728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</a:rPr>
              <a:t>知识网络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21" name="Group 65"/>
          <p:cNvGrpSpPr>
            <a:grpSpLocks/>
          </p:cNvGrpSpPr>
          <p:nvPr/>
        </p:nvGrpSpPr>
        <p:grpSpPr bwMode="auto">
          <a:xfrm>
            <a:off x="120650" y="115888"/>
            <a:ext cx="8915400" cy="6597650"/>
            <a:chOff x="0" y="164"/>
            <a:chExt cx="5616" cy="4156"/>
          </a:xfrm>
        </p:grpSpPr>
        <p:sp>
          <p:nvSpPr>
            <p:cNvPr id="96261" name="Text Box 5"/>
            <p:cNvSpPr txBox="1">
              <a:spLocks noChangeArrowheads="1"/>
            </p:cNvSpPr>
            <p:nvPr/>
          </p:nvSpPr>
          <p:spPr bwMode="auto">
            <a:xfrm>
              <a:off x="2064" y="237"/>
              <a:ext cx="1776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热力学基本物理量</a:t>
              </a:r>
            </a:p>
          </p:txBody>
        </p:sp>
        <p:sp>
          <p:nvSpPr>
            <p:cNvPr id="96262" name="Text Box 6"/>
            <p:cNvSpPr txBox="1">
              <a:spLocks noChangeArrowheads="1"/>
            </p:cNvSpPr>
            <p:nvPr/>
          </p:nvSpPr>
          <p:spPr bwMode="auto">
            <a:xfrm>
              <a:off x="816" y="544"/>
              <a:ext cx="912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状态量</a:t>
              </a:r>
            </a:p>
          </p:txBody>
        </p:sp>
        <p:sp>
          <p:nvSpPr>
            <p:cNvPr id="96263" name="Text Box 7"/>
            <p:cNvSpPr txBox="1">
              <a:spLocks noChangeArrowheads="1"/>
            </p:cNvSpPr>
            <p:nvPr/>
          </p:nvSpPr>
          <p:spPr bwMode="auto">
            <a:xfrm>
              <a:off x="4368" y="544"/>
              <a:ext cx="816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过程量</a:t>
              </a:r>
            </a:p>
          </p:txBody>
        </p:sp>
        <p:grpSp>
          <p:nvGrpSpPr>
            <p:cNvPr id="96264" name="Group 8"/>
            <p:cNvGrpSpPr>
              <a:grpSpLocks/>
            </p:cNvGrpSpPr>
            <p:nvPr/>
          </p:nvGrpSpPr>
          <p:grpSpPr bwMode="auto">
            <a:xfrm>
              <a:off x="157" y="1072"/>
              <a:ext cx="1957" cy="1008"/>
              <a:chOff x="253" y="960"/>
              <a:chExt cx="1957" cy="1008"/>
            </a:xfrm>
          </p:grpSpPr>
          <p:sp>
            <p:nvSpPr>
              <p:cNvPr id="96265" name="Text Box 9"/>
              <p:cNvSpPr txBox="1">
                <a:spLocks noChangeArrowheads="1"/>
              </p:cNvSpPr>
              <p:nvPr/>
            </p:nvSpPr>
            <p:spPr bwMode="auto">
              <a:xfrm>
                <a:off x="288" y="960"/>
                <a:ext cx="1920" cy="1002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内能</a:t>
                </a:r>
                <a:r>
                  <a:rPr kumimoji="1"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E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, </a:t>
                </a: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对理想气体</a:t>
                </a:r>
              </a:p>
              <a:p>
                <a:pPr>
                  <a:spcBef>
                    <a:spcPct val="50%"/>
                  </a:spcBef>
                </a:pPr>
                <a:endPara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6266" name="Object 10"/>
              <p:cNvGraphicFramePr>
                <a:graphicFrameLocks noChangeAspect="1"/>
              </p:cNvGraphicFramePr>
              <p:nvPr/>
            </p:nvGraphicFramePr>
            <p:xfrm>
              <a:off x="253" y="1248"/>
              <a:ext cx="1957" cy="31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2" name="Equation" r:id="rId3" imgW="1765080" imgH="253800" progId="Equation.3">
                      <p:embed/>
                    </p:oleObj>
                  </mc:Choice>
                  <mc:Fallback>
                    <p:oleObj name="Equation" r:id="rId3" imgW="1765080" imgH="2538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3" y="1248"/>
                            <a:ext cx="1957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267" name="Object 11"/>
              <p:cNvGraphicFramePr>
                <a:graphicFrameLocks noChangeAspect="1"/>
              </p:cNvGraphicFramePr>
              <p:nvPr/>
            </p:nvGraphicFramePr>
            <p:xfrm>
              <a:off x="322" y="1560"/>
              <a:ext cx="1637" cy="408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3" name="Equation" r:id="rId5" imgW="1079280" imgH="253800" progId="Equation.3">
                      <p:embed/>
                    </p:oleObj>
                  </mc:Choice>
                  <mc:Fallback>
                    <p:oleObj name="Equation" r:id="rId5" imgW="1079280" imgH="2538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" y="1560"/>
                            <a:ext cx="1637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6268" name="Group 12"/>
            <p:cNvGrpSpPr>
              <a:grpSpLocks/>
            </p:cNvGrpSpPr>
            <p:nvPr/>
          </p:nvGrpSpPr>
          <p:grpSpPr bwMode="auto">
            <a:xfrm>
              <a:off x="2494" y="1072"/>
              <a:ext cx="1240" cy="700"/>
              <a:chOff x="2590" y="960"/>
              <a:chExt cx="1240" cy="700"/>
            </a:xfrm>
          </p:grpSpPr>
          <p:sp>
            <p:nvSpPr>
              <p:cNvPr id="96269" name="Text Box 13"/>
              <p:cNvSpPr txBox="1">
                <a:spLocks noChangeArrowheads="1"/>
              </p:cNvSpPr>
              <p:nvPr/>
            </p:nvSpPr>
            <p:spPr bwMode="auto">
              <a:xfrm>
                <a:off x="2592" y="960"/>
                <a:ext cx="1200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      </a:t>
                </a: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功</a:t>
                </a:r>
                <a:r>
                  <a:rPr kumimoji="1"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A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6270" name="Object 14"/>
              <p:cNvGraphicFramePr>
                <a:graphicFrameLocks noChangeAspect="1"/>
              </p:cNvGraphicFramePr>
              <p:nvPr/>
            </p:nvGraphicFramePr>
            <p:xfrm>
              <a:off x="2590" y="1200"/>
              <a:ext cx="1240" cy="460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4" name="Equation" r:id="rId7" imgW="825480" imgH="355320" progId="Equation.3">
                      <p:embed/>
                    </p:oleObj>
                  </mc:Choice>
                  <mc:Fallback>
                    <p:oleObj name="Equation" r:id="rId7" imgW="825480" imgH="35532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0" y="1200"/>
                            <a:ext cx="1240" cy="4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71" name="Text Box 15"/>
            <p:cNvSpPr txBox="1">
              <a:spLocks noChangeArrowheads="1"/>
            </p:cNvSpPr>
            <p:nvPr/>
          </p:nvSpPr>
          <p:spPr bwMode="auto">
            <a:xfrm>
              <a:off x="1632" y="3088"/>
              <a:ext cx="1152" cy="123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在等容、等压、等温和绝热的准静态过程中的应用</a:t>
              </a:r>
            </a:p>
          </p:txBody>
        </p:sp>
        <p:sp>
          <p:nvSpPr>
            <p:cNvPr id="96272" name="Text Box 16"/>
            <p:cNvSpPr txBox="1">
              <a:spLocks noChangeArrowheads="1"/>
            </p:cNvSpPr>
            <p:nvPr/>
          </p:nvSpPr>
          <p:spPr bwMode="auto">
            <a:xfrm>
              <a:off x="1864" y="2344"/>
              <a:ext cx="1928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热力学系统变化规律</a:t>
              </a:r>
            </a:p>
          </p:txBody>
        </p:sp>
        <p:sp>
          <p:nvSpPr>
            <p:cNvPr id="96273" name="Text Box 17"/>
            <p:cNvSpPr txBox="1">
              <a:spLocks noChangeArrowheads="1"/>
            </p:cNvSpPr>
            <p:nvPr/>
          </p:nvSpPr>
          <p:spPr bwMode="auto">
            <a:xfrm>
              <a:off x="4512" y="3088"/>
              <a:ext cx="1104" cy="1137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系统熵变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50%"/>
                </a:spcBef>
              </a:pP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30%"/>
                </a:spcBef>
              </a:pPr>
              <a:r>
                <a:rPr kumimoji="1" lang="zh-CN" altLang="en-US" sz="2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熵增加原理</a:t>
              </a:r>
              <a:r>
                <a:rPr kumimoji="1" lang="en-US" altLang="zh-CN" sz="2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－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000" b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≥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96274" name="Text Box 18"/>
            <p:cNvSpPr txBox="1">
              <a:spLocks noChangeArrowheads="1"/>
            </p:cNvSpPr>
            <p:nvPr/>
          </p:nvSpPr>
          <p:spPr bwMode="auto">
            <a:xfrm>
              <a:off x="0" y="3088"/>
              <a:ext cx="1536" cy="123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循环过程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特点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=0</a:t>
              </a:r>
            </a:p>
            <a:p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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=1-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卡诺循环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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=1-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baseline="-25%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96275" name="Group 19"/>
            <p:cNvGrpSpPr>
              <a:grpSpLocks/>
            </p:cNvGrpSpPr>
            <p:nvPr/>
          </p:nvGrpSpPr>
          <p:grpSpPr bwMode="auto">
            <a:xfrm>
              <a:off x="1296" y="381"/>
              <a:ext cx="768" cy="163"/>
              <a:chOff x="1488" y="336"/>
              <a:chExt cx="288" cy="240"/>
            </a:xfrm>
          </p:grpSpPr>
          <p:sp>
            <p:nvSpPr>
              <p:cNvPr id="96276" name="Line 20"/>
              <p:cNvSpPr>
                <a:spLocks noChangeShapeType="1"/>
              </p:cNvSpPr>
              <p:nvPr/>
            </p:nvSpPr>
            <p:spPr bwMode="auto">
              <a:xfrm flipH="1">
                <a:off x="1488" y="33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7" name="Line 21"/>
              <p:cNvSpPr>
                <a:spLocks noChangeShapeType="1"/>
              </p:cNvSpPr>
              <p:nvPr/>
            </p:nvSpPr>
            <p:spPr bwMode="auto">
              <a:xfrm>
                <a:off x="1488" y="3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278" name="Line 22"/>
            <p:cNvSpPr>
              <a:spLocks noChangeShapeType="1"/>
            </p:cNvSpPr>
            <p:nvPr/>
          </p:nvSpPr>
          <p:spPr bwMode="auto">
            <a:xfrm>
              <a:off x="1248" y="859"/>
              <a:ext cx="0" cy="20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Line 23"/>
            <p:cNvSpPr>
              <a:spLocks noChangeShapeType="1"/>
            </p:cNvSpPr>
            <p:nvPr/>
          </p:nvSpPr>
          <p:spPr bwMode="auto">
            <a:xfrm>
              <a:off x="4752" y="859"/>
              <a:ext cx="0" cy="20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24"/>
            <p:cNvSpPr>
              <a:spLocks noChangeShapeType="1"/>
            </p:cNvSpPr>
            <p:nvPr/>
          </p:nvSpPr>
          <p:spPr bwMode="auto">
            <a:xfrm>
              <a:off x="1584" y="2512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281" name="Group 25"/>
            <p:cNvGrpSpPr>
              <a:grpSpLocks/>
            </p:cNvGrpSpPr>
            <p:nvPr/>
          </p:nvGrpSpPr>
          <p:grpSpPr bwMode="auto">
            <a:xfrm>
              <a:off x="3840" y="381"/>
              <a:ext cx="912" cy="163"/>
              <a:chOff x="3888" y="336"/>
              <a:chExt cx="912" cy="240"/>
            </a:xfrm>
          </p:grpSpPr>
          <p:sp>
            <p:nvSpPr>
              <p:cNvPr id="96282" name="Line 26"/>
              <p:cNvSpPr>
                <a:spLocks noChangeShapeType="1"/>
              </p:cNvSpPr>
              <p:nvPr/>
            </p:nvSpPr>
            <p:spPr bwMode="auto">
              <a:xfrm>
                <a:off x="3888" y="336"/>
                <a:ext cx="91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3" name="Line 27"/>
              <p:cNvSpPr>
                <a:spLocks noChangeShapeType="1"/>
              </p:cNvSpPr>
              <p:nvPr/>
            </p:nvSpPr>
            <p:spPr bwMode="auto">
              <a:xfrm>
                <a:off x="4800" y="3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284" name="Line 28"/>
            <p:cNvSpPr>
              <a:spLocks noChangeShapeType="1"/>
            </p:cNvSpPr>
            <p:nvPr/>
          </p:nvSpPr>
          <p:spPr bwMode="auto">
            <a:xfrm>
              <a:off x="5057" y="2638"/>
              <a:ext cx="0" cy="4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Line 29"/>
            <p:cNvSpPr>
              <a:spLocks noChangeShapeType="1"/>
            </p:cNvSpPr>
            <p:nvPr/>
          </p:nvSpPr>
          <p:spPr bwMode="auto">
            <a:xfrm>
              <a:off x="4216" y="2645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286" name="Group 30"/>
            <p:cNvGrpSpPr>
              <a:grpSpLocks/>
            </p:cNvGrpSpPr>
            <p:nvPr/>
          </p:nvGrpSpPr>
          <p:grpSpPr bwMode="auto">
            <a:xfrm>
              <a:off x="3072" y="717"/>
              <a:ext cx="1296" cy="355"/>
              <a:chOff x="2592" y="3216"/>
              <a:chExt cx="768" cy="336"/>
            </a:xfrm>
          </p:grpSpPr>
          <p:sp>
            <p:nvSpPr>
              <p:cNvPr id="96287" name="Line 31"/>
              <p:cNvSpPr>
                <a:spLocks noChangeShapeType="1"/>
              </p:cNvSpPr>
              <p:nvPr/>
            </p:nvSpPr>
            <p:spPr bwMode="auto">
              <a:xfrm flipH="1">
                <a:off x="2592" y="3216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8" name="Line 32"/>
              <p:cNvSpPr>
                <a:spLocks noChangeShapeType="1"/>
              </p:cNvSpPr>
              <p:nvPr/>
            </p:nvSpPr>
            <p:spPr bwMode="auto">
              <a:xfrm>
                <a:off x="2592" y="3216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289" name="Line 33"/>
            <p:cNvSpPr>
              <a:spLocks noChangeShapeType="1"/>
            </p:cNvSpPr>
            <p:nvPr/>
          </p:nvSpPr>
          <p:spPr bwMode="auto">
            <a:xfrm>
              <a:off x="768" y="2896"/>
              <a:ext cx="0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290" name="Group 34"/>
            <p:cNvGrpSpPr>
              <a:grpSpLocks/>
            </p:cNvGrpSpPr>
            <p:nvPr/>
          </p:nvGrpSpPr>
          <p:grpSpPr bwMode="auto">
            <a:xfrm>
              <a:off x="1584" y="2752"/>
              <a:ext cx="672" cy="336"/>
              <a:chOff x="4320" y="3216"/>
              <a:chExt cx="720" cy="288"/>
            </a:xfrm>
          </p:grpSpPr>
          <p:sp>
            <p:nvSpPr>
              <p:cNvPr id="96291" name="Line 35"/>
              <p:cNvSpPr>
                <a:spLocks noChangeShapeType="1"/>
              </p:cNvSpPr>
              <p:nvPr/>
            </p:nvSpPr>
            <p:spPr bwMode="auto">
              <a:xfrm>
                <a:off x="4320" y="3216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92" name="Line 36"/>
              <p:cNvSpPr>
                <a:spLocks noChangeShapeType="1"/>
              </p:cNvSpPr>
              <p:nvPr/>
            </p:nvSpPr>
            <p:spPr bwMode="auto">
              <a:xfrm>
                <a:off x="5040" y="321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293" name="Text Box 37"/>
            <p:cNvSpPr txBox="1">
              <a:spLocks noChangeArrowheads="1"/>
            </p:cNvSpPr>
            <p:nvPr/>
          </p:nvSpPr>
          <p:spPr bwMode="auto">
            <a:xfrm>
              <a:off x="90" y="164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b="1">
                  <a:solidFill>
                    <a:schemeClr val="accent2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知识网络</a:t>
              </a:r>
            </a:p>
          </p:txBody>
        </p:sp>
        <p:grpSp>
          <p:nvGrpSpPr>
            <p:cNvPr id="96294" name="Group 38"/>
            <p:cNvGrpSpPr>
              <a:grpSpLocks/>
            </p:cNvGrpSpPr>
            <p:nvPr/>
          </p:nvGrpSpPr>
          <p:grpSpPr bwMode="auto">
            <a:xfrm>
              <a:off x="3984" y="1072"/>
              <a:ext cx="1536" cy="679"/>
              <a:chOff x="4080" y="960"/>
              <a:chExt cx="1536" cy="679"/>
            </a:xfrm>
          </p:grpSpPr>
          <p:sp>
            <p:nvSpPr>
              <p:cNvPr id="96295" name="Text Box 39"/>
              <p:cNvSpPr txBox="1">
                <a:spLocks noChangeArrowheads="1"/>
              </p:cNvSpPr>
              <p:nvPr/>
            </p:nvSpPr>
            <p:spPr bwMode="auto">
              <a:xfrm>
                <a:off x="4080" y="960"/>
                <a:ext cx="1536" cy="65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          </a:t>
                </a: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热量</a:t>
                </a:r>
                <a:r>
                  <a:rPr kumimoji="1"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Q</a:t>
                </a: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6296" name="Object 40"/>
              <p:cNvGraphicFramePr>
                <a:graphicFrameLocks noChangeAspect="1"/>
              </p:cNvGraphicFramePr>
              <p:nvPr/>
            </p:nvGraphicFramePr>
            <p:xfrm>
              <a:off x="4093" y="1163"/>
              <a:ext cx="1463" cy="476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5" name="Equation" r:id="rId9" imgW="1320480" imgH="444240" progId="Equation.3">
                      <p:embed/>
                    </p:oleObj>
                  </mc:Choice>
                  <mc:Fallback>
                    <p:oleObj name="Equation" r:id="rId9" imgW="1320480" imgH="44424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3" y="1163"/>
                            <a:ext cx="1463" cy="4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97" name="Text Box 41"/>
            <p:cNvSpPr txBox="1">
              <a:spLocks noChangeArrowheads="1"/>
            </p:cNvSpPr>
            <p:nvPr/>
          </p:nvSpPr>
          <p:spPr bwMode="auto">
            <a:xfrm>
              <a:off x="4032" y="2330"/>
              <a:ext cx="1584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热力学第二定律</a:t>
              </a:r>
            </a:p>
          </p:txBody>
        </p:sp>
        <p:sp>
          <p:nvSpPr>
            <p:cNvPr id="96298" name="Line 42"/>
            <p:cNvSpPr>
              <a:spLocks noChangeShapeType="1"/>
            </p:cNvSpPr>
            <p:nvPr/>
          </p:nvSpPr>
          <p:spPr bwMode="auto">
            <a:xfrm>
              <a:off x="3792" y="2522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9" name="Text Box 43"/>
            <p:cNvSpPr txBox="1">
              <a:spLocks noChangeArrowheads="1"/>
            </p:cNvSpPr>
            <p:nvPr/>
          </p:nvSpPr>
          <p:spPr bwMode="auto">
            <a:xfrm>
              <a:off x="0" y="2128"/>
              <a:ext cx="1584" cy="77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热力学第一定律</a:t>
              </a:r>
            </a:p>
            <a:p>
              <a:endPara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6300" name="Object 44"/>
            <p:cNvGraphicFramePr>
              <a:graphicFrameLocks noChangeAspect="1"/>
            </p:cNvGraphicFramePr>
            <p:nvPr/>
          </p:nvGraphicFramePr>
          <p:xfrm>
            <a:off x="213" y="2608"/>
            <a:ext cx="1111" cy="29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6446" name="Equation" r:id="rId11" imgW="774360" imgH="203040" progId="Equation.3">
                    <p:embed/>
                  </p:oleObj>
                </mc:Choice>
                <mc:Fallback>
                  <p:oleObj name="Equation" r:id="rId11" imgW="774360" imgH="20304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" y="2608"/>
                          <a:ext cx="111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FF33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6301" name="Group 45"/>
            <p:cNvGrpSpPr>
              <a:grpSpLocks/>
            </p:cNvGrpSpPr>
            <p:nvPr/>
          </p:nvGrpSpPr>
          <p:grpSpPr bwMode="auto">
            <a:xfrm>
              <a:off x="115" y="2368"/>
              <a:ext cx="1403" cy="295"/>
              <a:chOff x="211" y="2256"/>
              <a:chExt cx="1403" cy="295"/>
            </a:xfrm>
          </p:grpSpPr>
          <p:graphicFrame>
            <p:nvGraphicFramePr>
              <p:cNvPr id="96302" name="Object 46"/>
              <p:cNvGraphicFramePr>
                <a:graphicFrameLocks noChangeAspect="1"/>
              </p:cNvGraphicFramePr>
              <p:nvPr/>
            </p:nvGraphicFramePr>
            <p:xfrm>
              <a:off x="211" y="2256"/>
              <a:ext cx="1403" cy="295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7" name="Equation" r:id="rId13" imgW="914400" imgH="203040" progId="Equation.3">
                      <p:embed/>
                    </p:oleObj>
                  </mc:Choice>
                  <mc:Fallback>
                    <p:oleObj name="Equation" r:id="rId13" imgW="914400" imgH="20304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" y="2256"/>
                            <a:ext cx="1403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303" name="Line 47"/>
              <p:cNvSpPr>
                <a:spLocks noChangeShapeType="1"/>
              </p:cNvSpPr>
              <p:nvPr/>
            </p:nvSpPr>
            <p:spPr bwMode="auto">
              <a:xfrm>
                <a:off x="262" y="2336"/>
                <a:ext cx="126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04" name="Line 48"/>
              <p:cNvSpPr>
                <a:spLocks noChangeShapeType="1"/>
              </p:cNvSpPr>
              <p:nvPr/>
            </p:nvSpPr>
            <p:spPr bwMode="auto">
              <a:xfrm>
                <a:off x="819" y="2336"/>
                <a:ext cx="94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6305" name="Group 49"/>
            <p:cNvGrpSpPr>
              <a:grpSpLocks/>
            </p:cNvGrpSpPr>
            <p:nvPr/>
          </p:nvGrpSpPr>
          <p:grpSpPr bwMode="auto">
            <a:xfrm>
              <a:off x="2256" y="2752"/>
              <a:ext cx="1056" cy="336"/>
              <a:chOff x="4320" y="3216"/>
              <a:chExt cx="720" cy="288"/>
            </a:xfrm>
          </p:grpSpPr>
          <p:sp>
            <p:nvSpPr>
              <p:cNvPr id="96306" name="Line 50"/>
              <p:cNvSpPr>
                <a:spLocks noChangeShapeType="1"/>
              </p:cNvSpPr>
              <p:nvPr/>
            </p:nvSpPr>
            <p:spPr bwMode="auto">
              <a:xfrm>
                <a:off x="4320" y="3216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07" name="Line 51"/>
              <p:cNvSpPr>
                <a:spLocks noChangeShapeType="1"/>
              </p:cNvSpPr>
              <p:nvPr/>
            </p:nvSpPr>
            <p:spPr bwMode="auto">
              <a:xfrm>
                <a:off x="5040" y="321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308" name="Group 52"/>
            <p:cNvGrpSpPr>
              <a:grpSpLocks/>
            </p:cNvGrpSpPr>
            <p:nvPr/>
          </p:nvGrpSpPr>
          <p:grpSpPr bwMode="auto">
            <a:xfrm>
              <a:off x="2880" y="3103"/>
              <a:ext cx="1104" cy="1117"/>
              <a:chOff x="2976" y="2991"/>
              <a:chExt cx="1104" cy="1117"/>
            </a:xfrm>
          </p:grpSpPr>
          <p:sp>
            <p:nvSpPr>
              <p:cNvPr id="96309" name="Text Box 53"/>
              <p:cNvSpPr txBox="1">
                <a:spLocks noChangeArrowheads="1"/>
              </p:cNvSpPr>
              <p:nvPr/>
            </p:nvSpPr>
            <p:spPr bwMode="auto">
              <a:xfrm>
                <a:off x="2976" y="2991"/>
                <a:ext cx="1104" cy="1117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%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%"/>
                  </a:spcBef>
                </a:pPr>
                <a:r>
                  <a:rPr kumimoji="1"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系统热容</a:t>
                </a:r>
                <a:r>
                  <a:rPr kumimoji="1"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  <a:p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%"/>
                  </a:spcBef>
                </a:pPr>
                <a:endPara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96310" name="Object 54"/>
              <p:cNvGraphicFramePr>
                <a:graphicFrameLocks noChangeAspect="1"/>
              </p:cNvGraphicFramePr>
              <p:nvPr/>
            </p:nvGraphicFramePr>
            <p:xfrm>
              <a:off x="3001" y="3243"/>
              <a:ext cx="940" cy="344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8" name="Equation" r:id="rId15" imgW="774360" imgH="241200" progId="Equation.3">
                      <p:embed/>
                    </p:oleObj>
                  </mc:Choice>
                  <mc:Fallback>
                    <p:oleObj name="Equation" r:id="rId15" imgW="774360" imgH="24120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1" y="3243"/>
                            <a:ext cx="940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311" name="Object 55"/>
              <p:cNvGraphicFramePr>
                <a:graphicFrameLocks noChangeAspect="1"/>
              </p:cNvGraphicFramePr>
              <p:nvPr/>
            </p:nvGraphicFramePr>
            <p:xfrm>
              <a:off x="3002" y="3539"/>
              <a:ext cx="1052" cy="301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49" name="Equation" r:id="rId17" imgW="1180800" imgH="241200" progId="Equation.3">
                      <p:embed/>
                    </p:oleObj>
                  </mc:Choice>
                  <mc:Fallback>
                    <p:oleObj name="Equation" r:id="rId17" imgW="1180800" imgH="241200" progId="Equation.3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2" y="3539"/>
                            <a:ext cx="1052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312" name="Object 56"/>
              <p:cNvGraphicFramePr>
                <a:graphicFrameLocks noChangeAspect="1"/>
              </p:cNvGraphicFramePr>
              <p:nvPr/>
            </p:nvGraphicFramePr>
            <p:xfrm>
              <a:off x="3006" y="3792"/>
              <a:ext cx="1045" cy="301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50" name="Equation" r:id="rId19" imgW="1091880" imgH="241200" progId="Equation.3">
                      <p:embed/>
                    </p:oleObj>
                  </mc:Choice>
                  <mc:Fallback>
                    <p:oleObj name="Equation" r:id="rId19" imgW="1091880" imgH="241200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6" y="3792"/>
                            <a:ext cx="1045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313" name="Text Box 57"/>
            <p:cNvSpPr txBox="1">
              <a:spLocks noChangeArrowheads="1"/>
            </p:cNvSpPr>
            <p:nvPr/>
          </p:nvSpPr>
          <p:spPr bwMode="auto">
            <a:xfrm>
              <a:off x="4032" y="3088"/>
              <a:ext cx="370" cy="115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dist"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两种表述</a:t>
              </a:r>
            </a:p>
          </p:txBody>
        </p:sp>
        <p:sp>
          <p:nvSpPr>
            <p:cNvPr id="96314" name="Text Box 58"/>
            <p:cNvSpPr txBox="1">
              <a:spLocks noChangeArrowheads="1"/>
            </p:cNvSpPr>
            <p:nvPr/>
          </p:nvSpPr>
          <p:spPr bwMode="auto">
            <a:xfrm>
              <a:off x="3504" y="1816"/>
              <a:ext cx="2112" cy="31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可逆过程与不可逆过程</a:t>
              </a:r>
            </a:p>
          </p:txBody>
        </p:sp>
        <p:sp>
          <p:nvSpPr>
            <p:cNvPr id="96315" name="Line 59"/>
            <p:cNvSpPr>
              <a:spLocks noChangeShapeType="1"/>
            </p:cNvSpPr>
            <p:nvPr/>
          </p:nvSpPr>
          <p:spPr bwMode="auto">
            <a:xfrm flipV="1">
              <a:off x="4752" y="2128"/>
              <a:ext cx="0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6319" name="Group 63"/>
            <p:cNvGrpSpPr>
              <a:grpSpLocks/>
            </p:cNvGrpSpPr>
            <p:nvPr/>
          </p:nvGrpSpPr>
          <p:grpSpPr bwMode="auto">
            <a:xfrm>
              <a:off x="4536" y="3308"/>
              <a:ext cx="1056" cy="460"/>
              <a:chOff x="4604" y="3235"/>
              <a:chExt cx="1056" cy="460"/>
            </a:xfrm>
          </p:grpSpPr>
          <p:graphicFrame>
            <p:nvGraphicFramePr>
              <p:cNvPr id="96317" name="Object 61"/>
              <p:cNvGraphicFramePr>
                <a:graphicFrameLocks noChangeAspect="1"/>
              </p:cNvGraphicFramePr>
              <p:nvPr/>
            </p:nvGraphicFramePr>
            <p:xfrm>
              <a:off x="4604" y="3235"/>
              <a:ext cx="1056" cy="460"/>
            </p:xfrm>
            <a:graphic>
              <a:graphicData uri="http://purl.oclc.org/ooxml/officeDocument/oleObject">
                <mc:AlternateContent xmlns:mc="http://schemas.openxmlformats.org/markup-compatibility/2006">
                  <mc:Choice xmlns:v="urn:schemas-microsoft-com:vml" Requires="v">
                    <p:oleObj spid="_x0000_s96451" name="Equation" r:id="rId21" imgW="1091880" imgH="406080" progId="Equation.3">
                      <p:embed/>
                    </p:oleObj>
                  </mc:Choice>
                  <mc:Fallback>
                    <p:oleObj name="Equation" r:id="rId21" imgW="1091880" imgH="406080" progId="Equation.3">
                      <p:embed/>
                      <p:pic>
                        <p:nvPicPr>
                          <p:cNvPr id="0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4" y="3235"/>
                            <a:ext cx="1056" cy="4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FF3300"/>
                                </a:solidFill>
                                <a:miter lim="800%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318" name="Line 62"/>
              <p:cNvSpPr>
                <a:spLocks noChangeShapeType="1"/>
              </p:cNvSpPr>
              <p:nvPr/>
            </p:nvSpPr>
            <p:spPr bwMode="auto">
              <a:xfrm flipV="1">
                <a:off x="5444" y="3315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6" name="Group 97"/>
          <p:cNvGrpSpPr>
            <a:grpSpLocks/>
          </p:cNvGrpSpPr>
          <p:nvPr/>
        </p:nvGrpSpPr>
        <p:grpSpPr bwMode="auto">
          <a:xfrm>
            <a:off x="0" y="1005160"/>
            <a:ext cx="8797925" cy="5664200"/>
            <a:chOff x="0" y="527"/>
            <a:chExt cx="5542" cy="3568"/>
          </a:xfrm>
        </p:grpSpPr>
        <p:sp>
          <p:nvSpPr>
            <p:cNvPr id="38917" name="Line 17"/>
            <p:cNvSpPr>
              <a:spLocks noChangeShapeType="1"/>
            </p:cNvSpPr>
            <p:nvPr/>
          </p:nvSpPr>
          <p:spPr bwMode="auto">
            <a:xfrm>
              <a:off x="113" y="527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8" name="Line 18"/>
            <p:cNvSpPr>
              <a:spLocks noChangeShapeType="1"/>
            </p:cNvSpPr>
            <p:nvPr/>
          </p:nvSpPr>
          <p:spPr bwMode="auto">
            <a:xfrm>
              <a:off x="113" y="911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9" name="Line 19"/>
            <p:cNvSpPr>
              <a:spLocks noChangeShapeType="1"/>
            </p:cNvSpPr>
            <p:nvPr/>
          </p:nvSpPr>
          <p:spPr bwMode="auto">
            <a:xfrm>
              <a:off x="113" y="1631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0" name="Line 20"/>
            <p:cNvSpPr>
              <a:spLocks noChangeShapeType="1"/>
            </p:cNvSpPr>
            <p:nvPr/>
          </p:nvSpPr>
          <p:spPr bwMode="auto">
            <a:xfrm>
              <a:off x="113" y="2351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1" name="Line 21"/>
            <p:cNvSpPr>
              <a:spLocks noChangeShapeType="1"/>
            </p:cNvSpPr>
            <p:nvPr/>
          </p:nvSpPr>
          <p:spPr bwMode="auto">
            <a:xfrm>
              <a:off x="113" y="3215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2" name="Line 22"/>
            <p:cNvSpPr>
              <a:spLocks noChangeShapeType="1"/>
            </p:cNvSpPr>
            <p:nvPr/>
          </p:nvSpPr>
          <p:spPr bwMode="auto">
            <a:xfrm>
              <a:off x="113" y="4079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3" name="Line 23"/>
            <p:cNvSpPr>
              <a:spLocks noChangeShapeType="1"/>
            </p:cNvSpPr>
            <p:nvPr/>
          </p:nvSpPr>
          <p:spPr bwMode="auto">
            <a:xfrm>
              <a:off x="113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4" name="Line 24"/>
            <p:cNvSpPr>
              <a:spLocks noChangeShapeType="1"/>
            </p:cNvSpPr>
            <p:nvPr/>
          </p:nvSpPr>
          <p:spPr bwMode="auto">
            <a:xfrm>
              <a:off x="476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5" name="Line 25"/>
            <p:cNvSpPr>
              <a:spLocks noChangeShapeType="1"/>
            </p:cNvSpPr>
            <p:nvPr/>
          </p:nvSpPr>
          <p:spPr bwMode="auto">
            <a:xfrm>
              <a:off x="975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26"/>
            <p:cNvSpPr>
              <a:spLocks noChangeShapeType="1"/>
            </p:cNvSpPr>
            <p:nvPr/>
          </p:nvSpPr>
          <p:spPr bwMode="auto">
            <a:xfrm>
              <a:off x="1837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Line 27"/>
            <p:cNvSpPr>
              <a:spLocks noChangeShapeType="1"/>
            </p:cNvSpPr>
            <p:nvPr/>
          </p:nvSpPr>
          <p:spPr bwMode="auto">
            <a:xfrm>
              <a:off x="3089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8" name="Line 28"/>
            <p:cNvSpPr>
              <a:spLocks noChangeShapeType="1"/>
            </p:cNvSpPr>
            <p:nvPr/>
          </p:nvSpPr>
          <p:spPr bwMode="auto">
            <a:xfrm>
              <a:off x="4385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9" name="Line 29"/>
            <p:cNvSpPr>
              <a:spLocks noChangeShapeType="1"/>
            </p:cNvSpPr>
            <p:nvPr/>
          </p:nvSpPr>
          <p:spPr bwMode="auto">
            <a:xfrm>
              <a:off x="5537" y="527"/>
              <a:ext cx="0" cy="3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0" name="Text Box 31"/>
            <p:cNvSpPr txBox="1">
              <a:spLocks noChangeArrowheads="1"/>
            </p:cNvSpPr>
            <p:nvPr/>
          </p:nvSpPr>
          <p:spPr bwMode="auto">
            <a:xfrm>
              <a:off x="0" y="613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过程</a:t>
              </a:r>
            </a:p>
          </p:txBody>
        </p:sp>
        <p:sp>
          <p:nvSpPr>
            <p:cNvPr id="38931" name="Text Box 32"/>
            <p:cNvSpPr txBox="1">
              <a:spLocks noChangeArrowheads="1"/>
            </p:cNvSpPr>
            <p:nvPr/>
          </p:nvSpPr>
          <p:spPr bwMode="auto">
            <a:xfrm>
              <a:off x="480" y="613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特征</a:t>
              </a:r>
            </a:p>
          </p:txBody>
        </p:sp>
        <p:sp>
          <p:nvSpPr>
            <p:cNvPr id="38932" name="Text Box 33"/>
            <p:cNvSpPr txBox="1">
              <a:spLocks noChangeArrowheads="1"/>
            </p:cNvSpPr>
            <p:nvPr/>
          </p:nvSpPr>
          <p:spPr bwMode="auto">
            <a:xfrm>
              <a:off x="960" y="613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过程方程</a:t>
              </a:r>
            </a:p>
          </p:txBody>
        </p:sp>
        <p:sp>
          <p:nvSpPr>
            <p:cNvPr id="38933" name="Text Box 34"/>
            <p:cNvSpPr txBox="1">
              <a:spLocks noChangeArrowheads="1"/>
            </p:cNvSpPr>
            <p:nvPr/>
          </p:nvSpPr>
          <p:spPr bwMode="auto">
            <a:xfrm>
              <a:off x="1968" y="623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吸收热量</a:t>
              </a:r>
              <a:r>
                <a:rPr lang="en-US" altLang="zh-CN" sz="2000" i="1"/>
                <a:t>Q</a:t>
              </a:r>
            </a:p>
          </p:txBody>
        </p:sp>
        <p:sp>
          <p:nvSpPr>
            <p:cNvPr id="38934" name="Text Box 35"/>
            <p:cNvSpPr txBox="1">
              <a:spLocks noChangeArrowheads="1"/>
            </p:cNvSpPr>
            <p:nvPr/>
          </p:nvSpPr>
          <p:spPr bwMode="auto">
            <a:xfrm>
              <a:off x="3264" y="623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系统做功</a:t>
              </a:r>
              <a:r>
                <a:rPr lang="en-US" altLang="zh-CN" sz="2000" i="1"/>
                <a:t>A</a:t>
              </a:r>
            </a:p>
          </p:txBody>
        </p:sp>
        <p:sp>
          <p:nvSpPr>
            <p:cNvPr id="38935" name="Text Box 36"/>
            <p:cNvSpPr txBox="1">
              <a:spLocks noChangeArrowheads="1"/>
            </p:cNvSpPr>
            <p:nvPr/>
          </p:nvSpPr>
          <p:spPr bwMode="auto">
            <a:xfrm>
              <a:off x="4320" y="623"/>
              <a:ext cx="12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/>
                <a:t>内能增量</a:t>
              </a:r>
              <a:r>
                <a:rPr lang="zh-CN" altLang="en-US" sz="2000"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000" i="1"/>
                <a:t>E</a:t>
              </a:r>
            </a:p>
          </p:txBody>
        </p:sp>
        <p:sp>
          <p:nvSpPr>
            <p:cNvPr id="38936" name="Text Box 38"/>
            <p:cNvSpPr txBox="1">
              <a:spLocks noChangeArrowheads="1"/>
            </p:cNvSpPr>
            <p:nvPr/>
          </p:nvSpPr>
          <p:spPr bwMode="auto">
            <a:xfrm>
              <a:off x="144" y="1055"/>
              <a:ext cx="30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>
                  <a:solidFill>
                    <a:schemeClr val="accent2"/>
                  </a:solidFill>
                </a:rPr>
                <a:t>等体</a:t>
              </a:r>
            </a:p>
          </p:txBody>
        </p:sp>
        <p:sp>
          <p:nvSpPr>
            <p:cNvPr id="38937" name="Text Box 39"/>
            <p:cNvSpPr txBox="1">
              <a:spLocks noChangeArrowheads="1"/>
            </p:cNvSpPr>
            <p:nvPr/>
          </p:nvSpPr>
          <p:spPr bwMode="auto">
            <a:xfrm>
              <a:off x="158" y="1797"/>
              <a:ext cx="30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>
                  <a:solidFill>
                    <a:schemeClr val="accent2"/>
                  </a:solidFill>
                </a:rPr>
                <a:t>等压</a:t>
              </a:r>
            </a:p>
          </p:txBody>
        </p:sp>
        <p:sp>
          <p:nvSpPr>
            <p:cNvPr id="38938" name="Text Box 40"/>
            <p:cNvSpPr txBox="1">
              <a:spLocks noChangeArrowheads="1"/>
            </p:cNvSpPr>
            <p:nvPr/>
          </p:nvSpPr>
          <p:spPr bwMode="auto">
            <a:xfrm>
              <a:off x="144" y="2543"/>
              <a:ext cx="30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>
                  <a:solidFill>
                    <a:schemeClr val="accent2"/>
                  </a:solidFill>
                </a:rPr>
                <a:t>等温</a:t>
              </a:r>
            </a:p>
          </p:txBody>
        </p:sp>
        <p:sp>
          <p:nvSpPr>
            <p:cNvPr id="38939" name="Text Box 41"/>
            <p:cNvSpPr txBox="1">
              <a:spLocks noChangeArrowheads="1"/>
            </p:cNvSpPr>
            <p:nvPr/>
          </p:nvSpPr>
          <p:spPr bwMode="auto">
            <a:xfrm>
              <a:off x="144" y="3407"/>
              <a:ext cx="30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%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%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%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%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%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%"/>
                </a:spcBef>
                <a:buFontTx/>
                <a:buNone/>
              </a:pPr>
              <a:r>
                <a:rPr lang="zh-CN" altLang="en-US" sz="2000">
                  <a:solidFill>
                    <a:schemeClr val="accent2"/>
                  </a:solidFill>
                </a:rPr>
                <a:t>绝热</a:t>
              </a:r>
            </a:p>
          </p:txBody>
        </p:sp>
        <p:graphicFrame>
          <p:nvGraphicFramePr>
            <p:cNvPr id="38940" name="Object 43"/>
            <p:cNvGraphicFramePr>
              <a:graphicFrameLocks noChangeAspect="1"/>
            </p:cNvGraphicFramePr>
            <p:nvPr/>
          </p:nvGraphicFramePr>
          <p:xfrm>
            <a:off x="476" y="1162"/>
            <a:ext cx="408" cy="23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76" name="Equation" r:id="rId3" imgW="418918" imgH="177723" progId="Equation.3">
                    <p:embed/>
                  </p:oleObj>
                </mc:Choice>
                <mc:Fallback>
                  <p:oleObj name="Equation" r:id="rId3" imgW="418918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162"/>
                          <a:ext cx="408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49"/>
            <p:cNvGraphicFramePr>
              <a:graphicFrameLocks noChangeAspect="1"/>
            </p:cNvGraphicFramePr>
            <p:nvPr/>
          </p:nvGraphicFramePr>
          <p:xfrm>
            <a:off x="1095" y="1019"/>
            <a:ext cx="642" cy="58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77" name="Equation" r:id="rId5" imgW="444114" imgH="406048" progId="Equation.3">
                    <p:embed/>
                  </p:oleObj>
                </mc:Choice>
                <mc:Fallback>
                  <p:oleObj name="Equation" r:id="rId5" imgW="444114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" y="1019"/>
                          <a:ext cx="642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2" name="Object 55"/>
            <p:cNvGraphicFramePr>
              <a:graphicFrameLocks noChangeAspect="1"/>
            </p:cNvGraphicFramePr>
            <p:nvPr/>
          </p:nvGraphicFramePr>
          <p:xfrm>
            <a:off x="1836" y="1071"/>
            <a:ext cx="1225" cy="50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78" name="Equation" r:id="rId7" imgW="1282700" imgH="444500" progId="Equation.3">
                    <p:embed/>
                  </p:oleObj>
                </mc:Choice>
                <mc:Fallback>
                  <p:oleObj name="Equation" r:id="rId7" imgW="1282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1071"/>
                          <a:ext cx="1225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56"/>
            <p:cNvGraphicFramePr>
              <a:graphicFrameLocks noChangeAspect="1"/>
            </p:cNvGraphicFramePr>
            <p:nvPr/>
          </p:nvGraphicFramePr>
          <p:xfrm>
            <a:off x="4391" y="1078"/>
            <a:ext cx="1134" cy="47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79" name="Equation" r:id="rId9" imgW="1282700" imgH="444500" progId="Equation.3">
                    <p:embed/>
                  </p:oleObj>
                </mc:Choice>
                <mc:Fallback>
                  <p:oleObj name="Equation" r:id="rId9" imgW="1282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1078"/>
                          <a:ext cx="1134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4" name="Object 60"/>
            <p:cNvGraphicFramePr>
              <a:graphicFrameLocks noChangeAspect="1"/>
            </p:cNvGraphicFramePr>
            <p:nvPr/>
          </p:nvGraphicFramePr>
          <p:xfrm>
            <a:off x="3600" y="1124"/>
            <a:ext cx="212" cy="29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0" name="Equation" r:id="rId11" imgW="126725" imgH="177415" progId="Equation.3">
                    <p:embed/>
                  </p:oleObj>
                </mc:Choice>
                <mc:Fallback>
                  <p:oleObj name="Equation" r:id="rId11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124"/>
                          <a:ext cx="21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5" name="Object 45"/>
            <p:cNvGraphicFramePr>
              <a:graphicFrameLocks noChangeAspect="1"/>
            </p:cNvGraphicFramePr>
            <p:nvPr/>
          </p:nvGraphicFramePr>
          <p:xfrm>
            <a:off x="476" y="2659"/>
            <a:ext cx="408" cy="23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1" name="Equation" r:id="rId13" imgW="405872" imgH="177569" progId="Equation.3">
                    <p:embed/>
                  </p:oleObj>
                </mc:Choice>
                <mc:Fallback>
                  <p:oleObj name="Equation" r:id="rId13" imgW="405872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2659"/>
                          <a:ext cx="408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6" name="Object 51"/>
            <p:cNvGraphicFramePr>
              <a:graphicFrameLocks noChangeAspect="1"/>
            </p:cNvGraphicFramePr>
            <p:nvPr/>
          </p:nvGraphicFramePr>
          <p:xfrm>
            <a:off x="1031" y="2660"/>
            <a:ext cx="771" cy="25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2" name="Equation" r:id="rId15" imgW="532937" imgH="177646" progId="Equation.3">
                    <p:embed/>
                  </p:oleObj>
                </mc:Choice>
                <mc:Fallback>
                  <p:oleObj name="Equation" r:id="rId15" imgW="53293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2660"/>
                          <a:ext cx="77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7" name="Object 62"/>
            <p:cNvGraphicFramePr>
              <a:graphicFrameLocks noChangeAspect="1"/>
            </p:cNvGraphicFramePr>
            <p:nvPr/>
          </p:nvGraphicFramePr>
          <p:xfrm>
            <a:off x="4848" y="2652"/>
            <a:ext cx="212" cy="29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3" name="Equation" r:id="rId17" imgW="126725" imgH="177415" progId="Equation.3">
                    <p:embed/>
                  </p:oleObj>
                </mc:Choice>
                <mc:Fallback>
                  <p:oleObj name="Equation" r:id="rId1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652"/>
                          <a:ext cx="21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8" name="Object 64"/>
            <p:cNvGraphicFramePr>
              <a:graphicFrameLocks noChangeAspect="1"/>
            </p:cNvGraphicFramePr>
            <p:nvPr/>
          </p:nvGraphicFramePr>
          <p:xfrm>
            <a:off x="1973" y="2341"/>
            <a:ext cx="1015" cy="46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4" name="Equation" r:id="rId18" imgW="965200" imgH="444500" progId="Equation.3">
                    <p:embed/>
                  </p:oleObj>
                </mc:Choice>
                <mc:Fallback>
                  <p:oleObj name="Equation" r:id="rId18" imgW="9652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341"/>
                          <a:ext cx="1015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9" name="Object 65"/>
            <p:cNvGraphicFramePr>
              <a:graphicFrameLocks noChangeAspect="1"/>
            </p:cNvGraphicFramePr>
            <p:nvPr/>
          </p:nvGraphicFramePr>
          <p:xfrm>
            <a:off x="1836" y="2750"/>
            <a:ext cx="1225" cy="49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5" name="Equation" r:id="rId20" imgW="1143000" imgH="444500" progId="Equation.3">
                    <p:embed/>
                  </p:oleObj>
                </mc:Choice>
                <mc:Fallback>
                  <p:oleObj name="Equation" r:id="rId20" imgW="11430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2750"/>
                          <a:ext cx="1225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0" name="Object 66"/>
            <p:cNvGraphicFramePr>
              <a:graphicFrameLocks noChangeAspect="1"/>
            </p:cNvGraphicFramePr>
            <p:nvPr/>
          </p:nvGraphicFramePr>
          <p:xfrm>
            <a:off x="3152" y="2750"/>
            <a:ext cx="1180" cy="49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6" name="Equation" r:id="rId22" imgW="1143000" imgH="444500" progId="Equation.3">
                    <p:embed/>
                  </p:oleObj>
                </mc:Choice>
                <mc:Fallback>
                  <p:oleObj name="Equation" r:id="rId22" imgW="11430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750"/>
                          <a:ext cx="1180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1" name="Object 67"/>
            <p:cNvGraphicFramePr>
              <a:graphicFrameLocks noChangeAspect="1"/>
            </p:cNvGraphicFramePr>
            <p:nvPr/>
          </p:nvGraphicFramePr>
          <p:xfrm>
            <a:off x="3243" y="2341"/>
            <a:ext cx="1016" cy="469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7" name="Equation" r:id="rId24" imgW="965200" imgH="444500" progId="Equation.3">
                    <p:embed/>
                  </p:oleObj>
                </mc:Choice>
                <mc:Fallback>
                  <p:oleObj name="Equation" r:id="rId24" imgW="9652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2341"/>
                          <a:ext cx="1016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2" name="Object 44"/>
            <p:cNvGraphicFramePr>
              <a:graphicFrameLocks noChangeAspect="1"/>
            </p:cNvGraphicFramePr>
            <p:nvPr/>
          </p:nvGraphicFramePr>
          <p:xfrm>
            <a:off x="476" y="1888"/>
            <a:ext cx="408" cy="23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8" name="Equation" r:id="rId26" imgW="418918" imgH="177723" progId="Equation.3">
                    <p:embed/>
                  </p:oleObj>
                </mc:Choice>
                <mc:Fallback>
                  <p:oleObj name="Equation" r:id="rId26" imgW="418918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888"/>
                          <a:ext cx="408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3" name="Object 50"/>
            <p:cNvGraphicFramePr>
              <a:graphicFrameLocks noChangeAspect="1"/>
            </p:cNvGraphicFramePr>
            <p:nvPr/>
          </p:nvGraphicFramePr>
          <p:xfrm>
            <a:off x="1095" y="1739"/>
            <a:ext cx="642" cy="58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89" name="Equation" r:id="rId28" imgW="444114" imgH="406048" progId="Equation.3">
                    <p:embed/>
                  </p:oleObj>
                </mc:Choice>
                <mc:Fallback>
                  <p:oleObj name="Equation" r:id="rId28" imgW="444114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" y="1739"/>
                          <a:ext cx="642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4" name="Object 57"/>
            <p:cNvGraphicFramePr>
              <a:graphicFrameLocks noChangeAspect="1"/>
            </p:cNvGraphicFramePr>
            <p:nvPr/>
          </p:nvGraphicFramePr>
          <p:xfrm>
            <a:off x="1836" y="1752"/>
            <a:ext cx="1225" cy="50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0" name="Equation" r:id="rId30" imgW="1282700" imgH="444500" progId="Equation.3">
                    <p:embed/>
                  </p:oleObj>
                </mc:Choice>
                <mc:Fallback>
                  <p:oleObj name="Equation" r:id="rId30" imgW="1282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1752"/>
                          <a:ext cx="1225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58"/>
            <p:cNvGraphicFramePr>
              <a:graphicFrameLocks noChangeAspect="1"/>
            </p:cNvGraphicFramePr>
            <p:nvPr/>
          </p:nvGraphicFramePr>
          <p:xfrm>
            <a:off x="4405" y="1783"/>
            <a:ext cx="1137" cy="44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1" name="Equation" r:id="rId32" imgW="1282700" imgH="444500" progId="Equation.3">
                    <p:embed/>
                  </p:oleObj>
                </mc:Choice>
                <mc:Fallback>
                  <p:oleObj name="Equation" r:id="rId32" imgW="1282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" y="1783"/>
                          <a:ext cx="1137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6" name="Object 63"/>
            <p:cNvGraphicFramePr>
              <a:graphicFrameLocks noChangeAspect="1"/>
            </p:cNvGraphicFramePr>
            <p:nvPr/>
          </p:nvGraphicFramePr>
          <p:xfrm>
            <a:off x="3312" y="1660"/>
            <a:ext cx="889" cy="28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2" name="Equation" r:id="rId34" imgW="685502" imgH="215806" progId="Equation.3">
                    <p:embed/>
                  </p:oleObj>
                </mc:Choice>
                <mc:Fallback>
                  <p:oleObj name="Equation" r:id="rId34" imgW="685502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660"/>
                          <a:ext cx="889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7" name="Object 68"/>
            <p:cNvGraphicFramePr>
              <a:graphicFrameLocks noChangeAspect="1"/>
            </p:cNvGraphicFramePr>
            <p:nvPr/>
          </p:nvGraphicFramePr>
          <p:xfrm>
            <a:off x="3089" y="1867"/>
            <a:ext cx="1271" cy="49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3" name="Equation" r:id="rId36" imgW="1193800" imgH="444500" progId="Equation.3">
                    <p:embed/>
                  </p:oleObj>
                </mc:Choice>
                <mc:Fallback>
                  <p:oleObj name="Equation" r:id="rId36" imgW="11938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9" y="1867"/>
                          <a:ext cx="1271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58" name="Line 47"/>
            <p:cNvSpPr>
              <a:spLocks noChangeShapeType="1"/>
            </p:cNvSpPr>
            <p:nvPr/>
          </p:nvSpPr>
          <p:spPr bwMode="auto">
            <a:xfrm>
              <a:off x="528" y="362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59" name="Object 52"/>
            <p:cNvGraphicFramePr>
              <a:graphicFrameLocks noChangeAspect="1"/>
            </p:cNvGraphicFramePr>
            <p:nvPr/>
          </p:nvGraphicFramePr>
          <p:xfrm>
            <a:off x="1021" y="3250"/>
            <a:ext cx="737" cy="29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4" name="Equation" r:id="rId38" imgW="647700" imgH="228600" progId="Equation.3">
                    <p:embed/>
                  </p:oleObj>
                </mc:Choice>
                <mc:Fallback>
                  <p:oleObj name="Equation" r:id="rId38" imgW="647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" y="3250"/>
                          <a:ext cx="737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0" name="Object 53"/>
            <p:cNvGraphicFramePr>
              <a:graphicFrameLocks noChangeAspect="1"/>
            </p:cNvGraphicFramePr>
            <p:nvPr/>
          </p:nvGraphicFramePr>
          <p:xfrm>
            <a:off x="1020" y="3793"/>
            <a:ext cx="784" cy="29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5" name="Equation" r:id="rId40" imgW="723586" imgH="241195" progId="Equation.3">
                    <p:embed/>
                  </p:oleObj>
                </mc:Choice>
                <mc:Fallback>
                  <p:oleObj name="Equation" r:id="rId40" imgW="723586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3793"/>
                          <a:ext cx="78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1" name="Object 54"/>
            <p:cNvGraphicFramePr>
              <a:graphicFrameLocks noChangeAspect="1"/>
            </p:cNvGraphicFramePr>
            <p:nvPr/>
          </p:nvGraphicFramePr>
          <p:xfrm>
            <a:off x="955" y="3525"/>
            <a:ext cx="861" cy="27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6" name="Equation" r:id="rId42" imgW="863225" imgH="228501" progId="Equation.3">
                    <p:embed/>
                  </p:oleObj>
                </mc:Choice>
                <mc:Fallback>
                  <p:oleObj name="Equation" r:id="rId42" imgW="863225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" y="3525"/>
                          <a:ext cx="861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2" name="Object 59"/>
            <p:cNvGraphicFramePr>
              <a:graphicFrameLocks noChangeAspect="1"/>
            </p:cNvGraphicFramePr>
            <p:nvPr/>
          </p:nvGraphicFramePr>
          <p:xfrm>
            <a:off x="4398" y="3424"/>
            <a:ext cx="1134" cy="460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7" name="Equation" r:id="rId44" imgW="1282700" imgH="444500" progId="Equation.3">
                    <p:embed/>
                  </p:oleObj>
                </mc:Choice>
                <mc:Fallback>
                  <p:oleObj name="Equation" r:id="rId44" imgW="12827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8" y="3424"/>
                          <a:ext cx="1134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3" name="Object 61"/>
            <p:cNvGraphicFramePr>
              <a:graphicFrameLocks noChangeAspect="1"/>
            </p:cNvGraphicFramePr>
            <p:nvPr/>
          </p:nvGraphicFramePr>
          <p:xfrm>
            <a:off x="2336" y="3521"/>
            <a:ext cx="212" cy="296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8" name="Equation" r:id="rId46" imgW="126725" imgH="177415" progId="Equation.3">
                    <p:embed/>
                  </p:oleObj>
                </mc:Choice>
                <mc:Fallback>
                  <p:oleObj name="Equation" r:id="rId4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521"/>
                          <a:ext cx="21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4" name="Object 69"/>
            <p:cNvGraphicFramePr>
              <a:graphicFrameLocks noChangeAspect="1"/>
            </p:cNvGraphicFramePr>
            <p:nvPr/>
          </p:nvGraphicFramePr>
          <p:xfrm>
            <a:off x="3107" y="3203"/>
            <a:ext cx="1225" cy="465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99" name="Equation" r:id="rId47" imgW="1396394" imgH="444307" progId="Equation.3">
                    <p:embed/>
                  </p:oleObj>
                </mc:Choice>
                <mc:Fallback>
                  <p:oleObj name="Equation" r:id="rId47" imgW="1396394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203"/>
                          <a:ext cx="1225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5" name="Object 70"/>
            <p:cNvGraphicFramePr>
              <a:graphicFrameLocks noChangeAspect="1"/>
            </p:cNvGraphicFramePr>
            <p:nvPr/>
          </p:nvGraphicFramePr>
          <p:xfrm>
            <a:off x="3191" y="3622"/>
            <a:ext cx="1048" cy="47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300" name="Equation" r:id="rId49" imgW="927100" imgH="419100" progId="Equation.3">
                    <p:embed/>
                  </p:oleObj>
                </mc:Choice>
                <mc:Fallback>
                  <p:oleObj name="Equation" r:id="rId49" imgW="927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1" y="3622"/>
                          <a:ext cx="1048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966" name="Group 91"/>
            <p:cNvGrpSpPr>
              <a:grpSpLocks noChangeAspect="1"/>
            </p:cNvGrpSpPr>
            <p:nvPr/>
          </p:nvGrpSpPr>
          <p:grpSpPr bwMode="auto">
            <a:xfrm>
              <a:off x="483" y="3521"/>
              <a:ext cx="459" cy="273"/>
              <a:chOff x="476" y="3549"/>
              <a:chExt cx="459" cy="273"/>
            </a:xfrm>
          </p:grpSpPr>
          <p:sp>
            <p:nvSpPr>
              <p:cNvPr id="38967" name="AutoShape 90"/>
              <p:cNvSpPr>
                <a:spLocks noChangeAspect="1" noChangeArrowheads="1" noTextEdit="1"/>
              </p:cNvSpPr>
              <p:nvPr/>
            </p:nvSpPr>
            <p:spPr bwMode="auto">
              <a:xfrm>
                <a:off x="476" y="3566"/>
                <a:ext cx="454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8" name="Rectangle 92"/>
              <p:cNvSpPr>
                <a:spLocks noChangeArrowheads="1"/>
              </p:cNvSpPr>
              <p:nvPr/>
            </p:nvSpPr>
            <p:spPr bwMode="auto">
              <a:xfrm>
                <a:off x="839" y="3571"/>
                <a:ext cx="9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800"/>
              </a:p>
            </p:txBody>
          </p:sp>
          <p:sp>
            <p:nvSpPr>
              <p:cNvPr id="38969" name="Rectangle 93"/>
              <p:cNvSpPr>
                <a:spLocks noChangeArrowheads="1"/>
              </p:cNvSpPr>
              <p:nvPr/>
            </p:nvSpPr>
            <p:spPr bwMode="auto">
              <a:xfrm>
                <a:off x="494" y="3571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d</a:t>
                </a:r>
                <a:endParaRPr lang="en-US" altLang="zh-CN" sz="2800"/>
              </a:p>
            </p:txBody>
          </p:sp>
          <p:sp>
            <p:nvSpPr>
              <p:cNvPr id="38970" name="Rectangle 94"/>
              <p:cNvSpPr>
                <a:spLocks noChangeArrowheads="1"/>
              </p:cNvSpPr>
              <p:nvPr/>
            </p:nvSpPr>
            <p:spPr bwMode="auto">
              <a:xfrm>
                <a:off x="721" y="3549"/>
                <a:ext cx="10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 sz="2800"/>
              </a:p>
            </p:txBody>
          </p:sp>
          <p:sp>
            <p:nvSpPr>
              <p:cNvPr id="38971" name="Rectangle 95"/>
              <p:cNvSpPr>
                <a:spLocks noChangeArrowheads="1"/>
              </p:cNvSpPr>
              <p:nvPr/>
            </p:nvSpPr>
            <p:spPr bwMode="auto">
              <a:xfrm>
                <a:off x="576" y="3571"/>
                <a:ext cx="16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%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%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%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%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%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</a:rPr>
                  <a:t>Q</a:t>
                </a:r>
                <a:endParaRPr lang="en-US" altLang="zh-CN" sz="2800"/>
              </a:p>
            </p:txBody>
          </p:sp>
        </p:grpSp>
      </p:grpSp>
      <p:graphicFrame>
        <p:nvGraphicFramePr>
          <p:cNvPr id="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73735"/>
              </p:ext>
            </p:extLst>
          </p:nvPr>
        </p:nvGraphicFramePr>
        <p:xfrm>
          <a:off x="4765155" y="165844"/>
          <a:ext cx="2467268" cy="747061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4301" name="Equation" r:id="rId51" imgW="1057107" imgH="237950" progId="Equation.3">
                  <p:embed/>
                </p:oleObj>
              </mc:Choice>
              <mc:Fallback>
                <p:oleObj name="Equation" r:id="rId51" imgW="1057107" imgH="2379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155" y="165844"/>
                        <a:ext cx="2467268" cy="747061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53853" y="269215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热力学第一定律的应用</a:t>
            </a:r>
          </a:p>
        </p:txBody>
      </p:sp>
    </p:spTree>
    <p:extLst>
      <p:ext uri="{BB962C8B-B14F-4D97-AF65-F5344CB8AC3E}">
        <p14:creationId xmlns:p14="http://schemas.microsoft.com/office/powerpoint/2010/main" val="362181270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23850" y="260350"/>
            <a:ext cx="835183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1. 2g</a:t>
            </a:r>
            <a:r>
              <a:rPr kumimoji="1" lang="zh-CN" altLang="en-US" b="1">
                <a:latin typeface="Times New Roman" panose="02020603050405020304" pitchFamily="18" charset="0"/>
              </a:rPr>
              <a:t>氢气与</a:t>
            </a:r>
            <a:r>
              <a:rPr kumimoji="1" lang="en-US" altLang="zh-CN" b="1">
                <a:latin typeface="Times New Roman" panose="02020603050405020304" pitchFamily="18" charset="0"/>
              </a:rPr>
              <a:t>2g</a:t>
            </a:r>
            <a:r>
              <a:rPr kumimoji="1" lang="zh-CN" altLang="en-US" b="1">
                <a:latin typeface="Times New Roman" panose="02020603050405020304" pitchFamily="18" charset="0"/>
              </a:rPr>
              <a:t>氦气分别装在两个容积相同的封闭容器内，温度也相同。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氢气视为刚性双原子分子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。</a:t>
            </a:r>
          </a:p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氢分子与氦分子的平均平动动能之比；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氢气与氦气压强之比；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kumimoji="1"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氢气与氦气内能之比。   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23850" y="218757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971550" y="219075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1547813" y="2035175"/>
          <a:ext cx="1460500" cy="8890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295" name="公式" r:id="rId3" imgW="1460160" imgH="888840" progId="Equation.3">
                  <p:embed/>
                </p:oleObj>
              </mc:Choice>
              <mc:Fallback>
                <p:oleObj name="公式" r:id="rId3" imgW="1460160" imgH="8888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35175"/>
                        <a:ext cx="1460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3779838" y="2271713"/>
          <a:ext cx="1943100" cy="5080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296" name="公式" r:id="rId5" imgW="1942920" imgH="507960" progId="Equation.3">
                  <p:embed/>
                </p:oleObj>
              </mc:Choice>
              <mc:Fallback>
                <p:oleObj name="公式" r:id="rId5" imgW="1942920" imgH="507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271713"/>
                        <a:ext cx="1943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323850" y="30226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900113" y="2911475"/>
          <a:ext cx="1419225" cy="87788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297" name="公式" r:id="rId7" imgW="634680" imgH="393480" progId="Equation.3">
                  <p:embed/>
                </p:oleObj>
              </mc:Choice>
              <mc:Fallback>
                <p:oleObj name="公式" r:id="rId7" imgW="63468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11475"/>
                        <a:ext cx="141922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827088" y="3500438"/>
          <a:ext cx="6988175" cy="9429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298" name="Equation" r:id="rId9" imgW="3352680" imgH="431640" progId="Equation.3">
                  <p:embed/>
                </p:oleObj>
              </mc:Choice>
              <mc:Fallback>
                <p:oleObj name="Equation" r:id="rId9" imgW="33526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00438"/>
                        <a:ext cx="69881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7019925" y="4652963"/>
          <a:ext cx="1655763" cy="584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299" name="公式" r:id="rId11" imgW="787320" imgH="241200" progId="Equation.3">
                  <p:embed/>
                </p:oleObj>
              </mc:Choice>
              <mc:Fallback>
                <p:oleObj name="公式" r:id="rId11" imgW="78732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652963"/>
                        <a:ext cx="16557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323850" y="5545138"/>
            <a:ext cx="792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855663" y="5386388"/>
          <a:ext cx="2132012" cy="9223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300" name="Equation" r:id="rId13" imgW="1028520" imgH="444240" progId="Equation.3">
                  <p:embed/>
                </p:oleObj>
              </mc:Choice>
              <mc:Fallback>
                <p:oleObj name="Equation" r:id="rId13" imgW="102852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5386388"/>
                        <a:ext cx="2132012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5"/>
          <p:cNvGraphicFramePr>
            <a:graphicFrameLocks noChangeAspect="1"/>
          </p:cNvGraphicFramePr>
          <p:nvPr/>
        </p:nvGraphicFramePr>
        <p:xfrm>
          <a:off x="755650" y="4437063"/>
          <a:ext cx="5803900" cy="9064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301" name="Equation" r:id="rId15" imgW="2781000" imgH="419040" progId="Equation.3">
                  <p:embed/>
                </p:oleObj>
              </mc:Choice>
              <mc:Fallback>
                <p:oleObj name="Equation" r:id="rId15" imgW="2781000" imgH="419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437063"/>
                        <a:ext cx="58039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6"/>
          <p:cNvGraphicFramePr>
            <a:graphicFrameLocks noChangeAspect="1"/>
          </p:cNvGraphicFramePr>
          <p:nvPr/>
        </p:nvGraphicFramePr>
        <p:xfrm>
          <a:off x="3276600" y="5329238"/>
          <a:ext cx="3911600" cy="10525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302" name="Equation" r:id="rId17" imgW="1828800" imgH="469800" progId="Equation.3">
                  <p:embed/>
                </p:oleObj>
              </mc:Choice>
              <mc:Fallback>
                <p:oleObj name="Equation" r:id="rId17" imgW="1828800" imgH="469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29238"/>
                        <a:ext cx="391160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17"/>
          <p:cNvGraphicFramePr>
            <a:graphicFrameLocks noChangeAspect="1"/>
          </p:cNvGraphicFramePr>
          <p:nvPr/>
        </p:nvGraphicFramePr>
        <p:xfrm>
          <a:off x="7235825" y="5445125"/>
          <a:ext cx="1439863" cy="7143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7303" name="公式" r:id="rId19" imgW="1828800" imgH="888840" progId="Equation.3">
                  <p:embed/>
                </p:oleObj>
              </mc:Choice>
              <mc:Fallback>
                <p:oleObj name="公式" r:id="rId19" imgW="1828800" imgH="8888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445125"/>
                        <a:ext cx="14398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0" presetClass="entr" presetSubtype="0" decel="10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/>
      <p:bldP spid="7177" grpId="0"/>
      <p:bldP spid="7181" grpId="0"/>
    </p:bldLst>
  </p:timing>
</p:sld>
</file>

<file path=ppt/slides/slide3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42875" y="322263"/>
            <a:ext cx="88931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b="1" dirty="0" smtClean="0"/>
              <a:t>水气分解</a:t>
            </a:r>
            <a:r>
              <a:rPr lang="zh-CN" altLang="en-US" b="1" dirty="0"/>
              <a:t>成同温度的氢气和氧气</a:t>
            </a:r>
            <a:r>
              <a:rPr lang="en-US" altLang="zh-CN" b="1" dirty="0"/>
              <a:t>,</a:t>
            </a:r>
            <a:r>
              <a:rPr lang="zh-CN" altLang="en-US" b="1" dirty="0"/>
              <a:t>内能增加百分之几？设分子都是刚性的。</a:t>
            </a:r>
            <a:r>
              <a:rPr lang="zh-CN" altLang="en-US" dirty="0"/>
              <a:t> 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250825" y="1468438"/>
            <a:ext cx="1081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/>
              <a:t> </a:t>
            </a:r>
          </a:p>
        </p:txBody>
      </p:sp>
      <p:sp>
        <p:nvSpPr>
          <p:cNvPr id="109581" name="Text Box 13"/>
          <p:cNvSpPr txBox="1">
            <a:spLocks noChangeArrowheads="1"/>
          </p:cNvSpPr>
          <p:nvPr/>
        </p:nvSpPr>
        <p:spPr bwMode="auto">
          <a:xfrm>
            <a:off x="250825" y="2278063"/>
            <a:ext cx="741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1mol  H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O,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自由度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= 6,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内能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9584" name="Text Box 16"/>
          <p:cNvSpPr txBox="1">
            <a:spLocks noChangeArrowheads="1"/>
          </p:cNvSpPr>
          <p:nvPr/>
        </p:nvSpPr>
        <p:spPr bwMode="auto">
          <a:xfrm>
            <a:off x="250825" y="3259138"/>
            <a:ext cx="5616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1mol  H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自由度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内能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09590" name="Object 22"/>
          <p:cNvGraphicFramePr>
            <a:graphicFrameLocks noChangeAspect="1"/>
          </p:cNvGraphicFramePr>
          <p:nvPr/>
        </p:nvGraphicFramePr>
        <p:xfrm>
          <a:off x="1042988" y="1268413"/>
          <a:ext cx="4438650" cy="9175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09663" name="公式" r:id="rId3" imgW="1904760" imgH="393480" progId="Equation.3">
                  <p:embed/>
                </p:oleObj>
              </mc:Choice>
              <mc:Fallback>
                <p:oleObj name="公式" r:id="rId3" imgW="1904760" imgH="393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443865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9592" name="Object 24"/>
          <p:cNvGraphicFramePr>
            <a:graphicFrameLocks noChangeAspect="1"/>
          </p:cNvGraphicFramePr>
          <p:nvPr/>
        </p:nvGraphicFramePr>
        <p:xfrm>
          <a:off x="5148263" y="2133600"/>
          <a:ext cx="2992437" cy="9207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09664" name="公式" r:id="rId5" imgW="1269720" imgH="393480" progId="Equation.3">
                  <p:embed/>
                </p:oleObj>
              </mc:Choice>
              <mc:Fallback>
                <p:oleObj name="公式" r:id="rId5" imgW="126972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133600"/>
                        <a:ext cx="2992437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4" name="Text Box 26"/>
          <p:cNvSpPr txBox="1">
            <a:spLocks noChangeArrowheads="1"/>
          </p:cNvSpPr>
          <p:nvPr/>
        </p:nvSpPr>
        <p:spPr bwMode="auto">
          <a:xfrm>
            <a:off x="250825" y="4222750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 mol O</a:t>
            </a:r>
            <a:r>
              <a:rPr lang="en-US" altLang="zh-CN" b="1" baseline="-30%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自由度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内能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959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9595" name="Object 27"/>
          <p:cNvGraphicFramePr>
            <a:graphicFrameLocks noChangeAspect="1"/>
          </p:cNvGraphicFramePr>
          <p:nvPr/>
        </p:nvGraphicFramePr>
        <p:xfrm>
          <a:off x="5076825" y="3141663"/>
          <a:ext cx="3141663" cy="8905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09665" name="公式" r:id="rId7" imgW="1384200" imgH="393480" progId="Equation.3">
                  <p:embed/>
                </p:oleObj>
              </mc:Choice>
              <mc:Fallback>
                <p:oleObj name="公式" r:id="rId7" imgW="1384200" imgH="3934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141663"/>
                        <a:ext cx="3141663" cy="890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7" name="Object 29"/>
          <p:cNvGraphicFramePr>
            <a:graphicFrameLocks noChangeAspect="1"/>
          </p:cNvGraphicFramePr>
          <p:nvPr/>
        </p:nvGraphicFramePr>
        <p:xfrm>
          <a:off x="5148263" y="4084638"/>
          <a:ext cx="3457575" cy="9286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09666" name="公式" r:id="rId9" imgW="1460160" imgH="393480" progId="Equation.3">
                  <p:embed/>
                </p:oleObj>
              </mc:Choice>
              <mc:Fallback>
                <p:oleObj name="公式" r:id="rId9" imgW="1460160" imgH="3934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084638"/>
                        <a:ext cx="3457575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9" name="Text Box 31"/>
          <p:cNvSpPr txBox="1">
            <a:spLocks noChangeArrowheads="1"/>
          </p:cNvSpPr>
          <p:nvPr/>
        </p:nvSpPr>
        <p:spPr bwMode="auto">
          <a:xfrm>
            <a:off x="179388" y="5070475"/>
            <a:ext cx="3671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内能增加的百分数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09601" name="Object 33"/>
          <p:cNvGraphicFramePr>
            <a:graphicFrameLocks noChangeAspect="1"/>
          </p:cNvGraphicFramePr>
          <p:nvPr/>
        </p:nvGraphicFramePr>
        <p:xfrm>
          <a:off x="1116013" y="5589588"/>
          <a:ext cx="6383337" cy="11207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09667" name="公式" r:id="rId11" imgW="2501640" imgH="431640" progId="Equation.3">
                  <p:embed/>
                </p:oleObj>
              </mc:Choice>
              <mc:Fallback>
                <p:oleObj name="公式" r:id="rId11" imgW="2501640" imgH="4316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589588"/>
                        <a:ext cx="6383337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9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.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10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50" presetClass="entr" presetSubtype="0" decel="10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/>
      <p:bldP spid="109581" grpId="0"/>
      <p:bldP spid="109584" grpId="0"/>
      <p:bldP spid="109594" grpId="0"/>
      <p:bldP spid="109599" grpId="0"/>
    </p:bldLst>
  </p:timing>
</p:sld>
</file>

<file path=ppt/slides/slide3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5" name="Group 93"/>
          <p:cNvGrpSpPr>
            <a:grpSpLocks/>
          </p:cNvGrpSpPr>
          <p:nvPr/>
        </p:nvGrpSpPr>
        <p:grpSpPr bwMode="auto">
          <a:xfrm>
            <a:off x="5802313" y="2276475"/>
            <a:ext cx="3090862" cy="2174875"/>
            <a:chOff x="3791" y="1389"/>
            <a:chExt cx="1947" cy="1370"/>
          </a:xfrm>
        </p:grpSpPr>
        <p:sp>
          <p:nvSpPr>
            <p:cNvPr id="8284" name="Line 92"/>
            <p:cNvSpPr>
              <a:spLocks noChangeShapeType="1"/>
            </p:cNvSpPr>
            <p:nvPr/>
          </p:nvSpPr>
          <p:spPr bwMode="auto">
            <a:xfrm>
              <a:off x="5180" y="2462"/>
              <a:ext cx="55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9" name="Line 7"/>
            <p:cNvSpPr>
              <a:spLocks noChangeShapeType="1"/>
            </p:cNvSpPr>
            <p:nvPr/>
          </p:nvSpPr>
          <p:spPr bwMode="auto">
            <a:xfrm flipV="1">
              <a:off x="4065" y="1907"/>
              <a:ext cx="557" cy="57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4622" y="1907"/>
              <a:ext cx="55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1" name="Line 9"/>
            <p:cNvSpPr>
              <a:spLocks noChangeShapeType="1"/>
            </p:cNvSpPr>
            <p:nvPr/>
          </p:nvSpPr>
          <p:spPr bwMode="auto">
            <a:xfrm>
              <a:off x="4622" y="1907"/>
              <a:ext cx="0" cy="5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5180" y="1907"/>
              <a:ext cx="0" cy="5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4065" y="1907"/>
              <a:ext cx="5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" name="Text Box 12"/>
            <p:cNvSpPr txBox="1">
              <a:spLocks noChangeArrowheads="1"/>
            </p:cNvSpPr>
            <p:nvPr/>
          </p:nvSpPr>
          <p:spPr bwMode="auto">
            <a:xfrm>
              <a:off x="4488" y="2418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 baseline="-25%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8205" name="Text Box 13"/>
            <p:cNvSpPr txBox="1">
              <a:spLocks noChangeArrowheads="1"/>
            </p:cNvSpPr>
            <p:nvPr/>
          </p:nvSpPr>
          <p:spPr bwMode="auto">
            <a:xfrm>
              <a:off x="4968" y="2426"/>
              <a:ext cx="4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2</a:t>
              </a: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 baseline="-25%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8206" name="Text Box 14"/>
            <p:cNvSpPr txBox="1">
              <a:spLocks noChangeArrowheads="1"/>
            </p:cNvSpPr>
            <p:nvPr/>
          </p:nvSpPr>
          <p:spPr bwMode="auto">
            <a:xfrm>
              <a:off x="3791" y="1734"/>
              <a:ext cx="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 a</a:t>
              </a:r>
            </a:p>
          </p:txBody>
        </p:sp>
        <p:grpSp>
          <p:nvGrpSpPr>
            <p:cNvPr id="8207" name="Group 15"/>
            <p:cNvGrpSpPr>
              <a:grpSpLocks/>
            </p:cNvGrpSpPr>
            <p:nvPr/>
          </p:nvGrpSpPr>
          <p:grpSpPr bwMode="auto">
            <a:xfrm>
              <a:off x="4065" y="1472"/>
              <a:ext cx="1632" cy="1014"/>
              <a:chOff x="3408" y="1824"/>
              <a:chExt cx="1968" cy="1008"/>
            </a:xfrm>
          </p:grpSpPr>
          <p:sp>
            <p:nvSpPr>
              <p:cNvPr id="8208" name="Line 16"/>
              <p:cNvSpPr>
                <a:spLocks noChangeShapeType="1"/>
              </p:cNvSpPr>
              <p:nvPr/>
            </p:nvSpPr>
            <p:spPr bwMode="auto">
              <a:xfrm>
                <a:off x="3408" y="2832"/>
                <a:ext cx="19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9" name="Line 17"/>
              <p:cNvSpPr>
                <a:spLocks noChangeShapeType="1"/>
              </p:cNvSpPr>
              <p:nvPr/>
            </p:nvSpPr>
            <p:spPr bwMode="auto">
              <a:xfrm flipV="1">
                <a:off x="3408" y="1824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10" name="Text Box 18"/>
            <p:cNvSpPr txBox="1">
              <a:spLocks noChangeArrowheads="1"/>
            </p:cNvSpPr>
            <p:nvPr/>
          </p:nvSpPr>
          <p:spPr bwMode="auto">
            <a:xfrm>
              <a:off x="3828" y="2429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5489" y="2432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</a:p>
          </p:txBody>
        </p:sp>
        <p:sp>
          <p:nvSpPr>
            <p:cNvPr id="8212" name="Text Box 20"/>
            <p:cNvSpPr txBox="1">
              <a:spLocks noChangeArrowheads="1"/>
            </p:cNvSpPr>
            <p:nvPr/>
          </p:nvSpPr>
          <p:spPr bwMode="auto">
            <a:xfrm>
              <a:off x="4098" y="1389"/>
              <a:ext cx="46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8213" name="Group 21"/>
          <p:cNvGrpSpPr>
            <a:grpSpLocks/>
          </p:cNvGrpSpPr>
          <p:nvPr/>
        </p:nvGrpSpPr>
        <p:grpSpPr bwMode="auto">
          <a:xfrm>
            <a:off x="179388" y="2905125"/>
            <a:ext cx="5815012" cy="519113"/>
            <a:chOff x="0" y="1752"/>
            <a:chExt cx="3663" cy="327"/>
          </a:xfrm>
        </p:grpSpPr>
        <p:sp>
          <p:nvSpPr>
            <p:cNvPr id="8214" name="Text Box 22"/>
            <p:cNvSpPr txBox="1">
              <a:spLocks noChangeArrowheads="1"/>
            </p:cNvSpPr>
            <p:nvPr/>
          </p:nvSpPr>
          <p:spPr bwMode="auto">
            <a:xfrm>
              <a:off x="431" y="1752"/>
              <a:ext cx="32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(1) </a:t>
              </a:r>
              <a:r>
                <a:rPr kumimoji="1" lang="zh-CN" altLang="en-US" b="1">
                  <a:latin typeface="Times New Roman" panose="02020603050405020304" pitchFamily="18" charset="0"/>
                </a:rPr>
                <a:t>速率分布曲线如右图所示：</a:t>
              </a:r>
            </a:p>
          </p:txBody>
        </p:sp>
        <p:sp>
          <p:nvSpPr>
            <p:cNvPr id="8215" name="Text Box 23"/>
            <p:cNvSpPr txBox="1">
              <a:spLocks noChangeArrowheads="1"/>
            </p:cNvSpPr>
            <p:nvPr/>
          </p:nvSpPr>
          <p:spPr bwMode="auto">
            <a:xfrm>
              <a:off x="0" y="175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解：</a:t>
              </a:r>
              <a:endParaRPr kumimoji="1" lang="en-US" altLang="zh-CN" b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8216" name="Object 24"/>
          <p:cNvGraphicFramePr>
            <a:graphicFrameLocks noChangeAspect="1"/>
          </p:cNvGraphicFramePr>
          <p:nvPr/>
        </p:nvGraphicFramePr>
        <p:xfrm>
          <a:off x="7524750" y="4892675"/>
          <a:ext cx="1368425" cy="9842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17" name="公式" r:id="rId3" imgW="660240" imgH="444240" progId="Equation.3">
                  <p:embed/>
                </p:oleObj>
              </mc:Choice>
              <mc:Fallback>
                <p:oleObj name="公式" r:id="rId3" imgW="660240" imgH="4442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892675"/>
                        <a:ext cx="136842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17" name="Group 25"/>
          <p:cNvGrpSpPr>
            <a:grpSpLocks/>
          </p:cNvGrpSpPr>
          <p:nvPr/>
        </p:nvGrpSpPr>
        <p:grpSpPr bwMode="auto">
          <a:xfrm>
            <a:off x="250825" y="3351213"/>
            <a:ext cx="4997450" cy="798512"/>
            <a:chOff x="-23" y="2065"/>
            <a:chExt cx="3148" cy="503"/>
          </a:xfrm>
        </p:grpSpPr>
        <p:graphicFrame>
          <p:nvGraphicFramePr>
            <p:cNvPr id="8218" name="Object 26"/>
            <p:cNvGraphicFramePr>
              <a:graphicFrameLocks noChangeAspect="1"/>
            </p:cNvGraphicFramePr>
            <p:nvPr/>
          </p:nvGraphicFramePr>
          <p:xfrm>
            <a:off x="1728" y="2065"/>
            <a:ext cx="1397" cy="50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8418" name="公式" r:id="rId5" imgW="977760" imgH="330120" progId="Equation.3">
                    <p:embed/>
                  </p:oleObj>
                </mc:Choice>
                <mc:Fallback>
                  <p:oleObj name="公式" r:id="rId5" imgW="977760" imgH="33012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065"/>
                          <a:ext cx="1397" cy="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9" name="Text Box 27"/>
            <p:cNvSpPr txBox="1">
              <a:spLocks noChangeArrowheads="1"/>
            </p:cNvSpPr>
            <p:nvPr/>
          </p:nvSpPr>
          <p:spPr bwMode="auto">
            <a:xfrm>
              <a:off x="-23" y="2160"/>
              <a:ext cx="22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zh-CN" b="1">
                  <a:latin typeface="宋体" panose="02010600030101010101" pitchFamily="2" charset="-122"/>
                </a:rPr>
                <a:t>由归一化条件：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220" name="Object 28"/>
          <p:cNvGraphicFramePr>
            <a:graphicFrameLocks noChangeAspect="1"/>
          </p:cNvGraphicFramePr>
          <p:nvPr/>
        </p:nvGraphicFramePr>
        <p:xfrm>
          <a:off x="250825" y="4076700"/>
          <a:ext cx="5735638" cy="7937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19" name="公式" r:id="rId7" imgW="2844720" imgH="355320" progId="Equation.3">
                  <p:embed/>
                </p:oleObj>
              </mc:Choice>
              <mc:Fallback>
                <p:oleObj name="公式" r:id="rId7" imgW="2844720" imgH="35532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076700"/>
                        <a:ext cx="57356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1" name="Object 29"/>
          <p:cNvGraphicFramePr>
            <a:graphicFrameLocks noChangeAspect="1"/>
          </p:cNvGraphicFramePr>
          <p:nvPr/>
        </p:nvGraphicFramePr>
        <p:xfrm>
          <a:off x="4402138" y="4876800"/>
          <a:ext cx="2881312" cy="9985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20" name="公式" r:id="rId9" imgW="1434960" imgH="457200" progId="Equation.3">
                  <p:embed/>
                </p:oleObj>
              </mc:Choice>
              <mc:Fallback>
                <p:oleObj name="公式" r:id="rId9" imgW="1434960" imgH="457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4876800"/>
                        <a:ext cx="2881312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" name="Object 30"/>
          <p:cNvGraphicFramePr>
            <a:graphicFrameLocks noChangeAspect="1"/>
          </p:cNvGraphicFramePr>
          <p:nvPr/>
        </p:nvGraphicFramePr>
        <p:xfrm>
          <a:off x="250825" y="4868863"/>
          <a:ext cx="3859213" cy="10001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21" name="公式" r:id="rId11" imgW="1879560" imgH="444240" progId="Equation.3">
                  <p:embed/>
                </p:oleObj>
              </mc:Choice>
              <mc:Fallback>
                <p:oleObj name="公式" r:id="rId11" imgW="1879560" imgH="4442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868863"/>
                        <a:ext cx="38592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" name="Object 31"/>
          <p:cNvGraphicFramePr>
            <a:graphicFrameLocks noChangeAspect="1"/>
          </p:cNvGraphicFramePr>
          <p:nvPr/>
        </p:nvGraphicFramePr>
        <p:xfrm>
          <a:off x="4238625" y="5805488"/>
          <a:ext cx="2925763" cy="8636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22" name="公式" r:id="rId13" imgW="1231560" imgH="393480" progId="Equation.3">
                  <p:embed/>
                </p:oleObj>
              </mc:Choice>
              <mc:Fallback>
                <p:oleObj name="公式" r:id="rId13" imgW="1231560" imgH="3934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5805488"/>
                        <a:ext cx="29257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6" name="Text Box 34"/>
          <p:cNvSpPr txBox="1">
            <a:spLocks noChangeArrowheads="1"/>
          </p:cNvSpPr>
          <p:nvPr/>
        </p:nvSpPr>
        <p:spPr bwMode="auto">
          <a:xfrm>
            <a:off x="179388" y="5949950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</a:rPr>
              <a:t>另法：</a:t>
            </a:r>
            <a:r>
              <a:rPr kumimoji="1" lang="zh-CN" altLang="en-US" b="1">
                <a:latin typeface="宋体" panose="02010600030101010101" pitchFamily="2" charset="-122"/>
              </a:rPr>
              <a:t>由图中面积</a:t>
            </a:r>
            <a:r>
              <a:rPr kumimoji="1" lang="en-US" altLang="zh-CN" b="1" i="1">
                <a:latin typeface="Times New Roman" panose="02020603050405020304" pitchFamily="18" charset="0"/>
              </a:rPr>
              <a:t>S</a:t>
            </a:r>
            <a:r>
              <a:rPr kumimoji="1" lang="zh-CN" altLang="en-US" b="1">
                <a:latin typeface="Times New Roman" panose="02020603050405020304" pitchFamily="18" charset="0"/>
              </a:rPr>
              <a:t>可求</a:t>
            </a:r>
          </a:p>
        </p:txBody>
      </p:sp>
      <p:graphicFrame>
        <p:nvGraphicFramePr>
          <p:cNvPr id="8227" name="Object 35"/>
          <p:cNvGraphicFramePr>
            <a:graphicFrameLocks noChangeAspect="1"/>
          </p:cNvGraphicFramePr>
          <p:nvPr/>
        </p:nvGraphicFramePr>
        <p:xfrm>
          <a:off x="7380288" y="5805488"/>
          <a:ext cx="1512887" cy="9509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8423" name="公式" r:id="rId15" imgW="660240" imgH="444240" progId="Equation.3">
                  <p:embed/>
                </p:oleObj>
              </mc:Choice>
              <mc:Fallback>
                <p:oleObj name="公式" r:id="rId15" imgW="660240" imgH="4442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5805488"/>
                        <a:ext cx="1512887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9" name="Text Box 37"/>
          <p:cNvSpPr txBox="1">
            <a:spLocks noChangeArrowheads="1"/>
          </p:cNvSpPr>
          <p:nvPr/>
        </p:nvSpPr>
        <p:spPr bwMode="auto">
          <a:xfrm>
            <a:off x="179388" y="2333625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33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(3)</a:t>
            </a:r>
            <a:r>
              <a:rPr kumimoji="1" lang="zh-CN" altLang="en-US" b="1">
                <a:latin typeface="宋体" panose="02010600030101010101" pitchFamily="2" charset="-122"/>
              </a:rPr>
              <a:t>求粒子的平均速率。</a:t>
            </a:r>
          </a:p>
        </p:txBody>
      </p:sp>
      <p:sp>
        <p:nvSpPr>
          <p:cNvPr id="8230" name="Text Box 38"/>
          <p:cNvSpPr txBox="1">
            <a:spLocks noChangeArrowheads="1"/>
          </p:cNvSpPr>
          <p:nvPr/>
        </p:nvSpPr>
        <p:spPr bwMode="auto">
          <a:xfrm>
            <a:off x="107950" y="677863"/>
            <a:ext cx="5545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33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14500" indent="-1714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095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286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76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9337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909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481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053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3. </a:t>
            </a:r>
            <a:r>
              <a:rPr kumimoji="1" lang="en-US" altLang="zh-CN" b="1" i="1">
                <a:latin typeface="Times New Roman" panose="02020603050405020304" pitchFamily="18" charset="0"/>
              </a:rPr>
              <a:t>N</a:t>
            </a:r>
            <a:r>
              <a:rPr kumimoji="1" lang="zh-CN" altLang="zh-CN" b="1">
                <a:latin typeface="宋体" panose="02010600030101010101" pitchFamily="2" charset="-122"/>
              </a:rPr>
              <a:t>个</a:t>
            </a:r>
            <a:r>
              <a:rPr kumimoji="1" lang="zh-CN" altLang="en-US" b="1">
                <a:latin typeface="宋体" panose="02010600030101010101" pitchFamily="2" charset="-122"/>
              </a:rPr>
              <a:t>粒子</a:t>
            </a:r>
            <a:r>
              <a:rPr kumimoji="1" lang="zh-CN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zh-CN" b="1">
                <a:latin typeface="宋体" panose="02010600030101010101" pitchFamily="2" charset="-122"/>
              </a:rPr>
              <a:t>其速率分布</a:t>
            </a:r>
            <a:r>
              <a:rPr kumimoji="1" lang="zh-CN" altLang="en-US" b="1">
                <a:latin typeface="宋体" panose="02010600030101010101" pitchFamily="2" charset="-122"/>
              </a:rPr>
              <a:t>函数为</a:t>
            </a:r>
          </a:p>
        </p:txBody>
      </p:sp>
      <p:sp>
        <p:nvSpPr>
          <p:cNvPr id="8231" name="Text Box 39"/>
          <p:cNvSpPr txBox="1">
            <a:spLocks noChangeArrowheads="1"/>
          </p:cNvSpPr>
          <p:nvPr/>
        </p:nvSpPr>
        <p:spPr bwMode="auto">
          <a:xfrm>
            <a:off x="179388" y="1268413"/>
            <a:ext cx="5076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33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(1)</a:t>
            </a:r>
            <a:r>
              <a:rPr kumimoji="1" lang="zh-CN" altLang="en-US" b="1">
                <a:latin typeface="宋体" panose="02010600030101010101" pitchFamily="2" charset="-122"/>
              </a:rPr>
              <a:t>作速率分布曲线并求常数</a:t>
            </a:r>
            <a:r>
              <a:rPr kumimoji="1" lang="en-US" altLang="zh-CN" b="1" i="1">
                <a:latin typeface="Times New Roman" panose="02020603050405020304" pitchFamily="18" charset="0"/>
              </a:rPr>
              <a:t>a</a:t>
            </a:r>
            <a:r>
              <a:rPr kumimoji="1" lang="zh-CN" altLang="en-US" b="1">
                <a:latin typeface="Times New Roman" panose="02020603050405020304" pitchFamily="18" charset="0"/>
              </a:rPr>
              <a:t>；</a:t>
            </a:r>
            <a:r>
              <a:rPr kumimoji="1" lang="zh-CN" altLang="en-US" b="1">
                <a:latin typeface="宋体" panose="02010600030101010101" pitchFamily="2" charset="-122"/>
              </a:rPr>
              <a:t>     </a:t>
            </a:r>
          </a:p>
        </p:txBody>
      </p:sp>
      <p:sp>
        <p:nvSpPr>
          <p:cNvPr id="8232" name="Text Box 40"/>
          <p:cNvSpPr txBox="1">
            <a:spLocks noChangeArrowheads="1"/>
          </p:cNvSpPr>
          <p:nvPr/>
        </p:nvSpPr>
        <p:spPr bwMode="auto">
          <a:xfrm>
            <a:off x="188913" y="1828800"/>
            <a:ext cx="6796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33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宋体" panose="02010600030101010101" pitchFamily="2" charset="-122"/>
              </a:rPr>
              <a:t>分别求速率大于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和小于 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</a:t>
            </a:r>
            <a:r>
              <a:rPr kumimoji="1" lang="zh-CN" altLang="zh-CN" b="1">
                <a:latin typeface="宋体" panose="02010600030101010101" pitchFamily="2" charset="-122"/>
              </a:rPr>
              <a:t>的</a:t>
            </a:r>
            <a:r>
              <a:rPr kumimoji="1" lang="zh-CN" altLang="en-US" b="1">
                <a:latin typeface="宋体" panose="02010600030101010101" pitchFamily="2" charset="-122"/>
              </a:rPr>
              <a:t>粒子</a:t>
            </a:r>
            <a:r>
              <a:rPr kumimoji="1" lang="zh-CN" altLang="zh-CN" b="1">
                <a:latin typeface="宋体" panose="02010600030101010101" pitchFamily="2" charset="-122"/>
              </a:rPr>
              <a:t>数；</a:t>
            </a:r>
            <a:endParaRPr kumimoji="1" lang="zh-CN" altLang="en-US" b="1">
              <a:latin typeface="宋体" panose="02010600030101010101" pitchFamily="2" charset="-122"/>
            </a:endParaRPr>
          </a:p>
        </p:txBody>
      </p:sp>
      <p:grpSp>
        <p:nvGrpSpPr>
          <p:cNvPr id="8308" name="Group 116"/>
          <p:cNvGrpSpPr>
            <a:grpSpLocks/>
          </p:cNvGrpSpPr>
          <p:nvPr/>
        </p:nvGrpSpPr>
        <p:grpSpPr bwMode="auto">
          <a:xfrm>
            <a:off x="4859338" y="44450"/>
            <a:ext cx="3783012" cy="1700213"/>
            <a:chOff x="3107" y="0"/>
            <a:chExt cx="2383" cy="1071"/>
          </a:xfrm>
        </p:grpSpPr>
        <p:graphicFrame>
          <p:nvGraphicFramePr>
            <p:cNvPr id="8287" name="Object 95"/>
            <p:cNvGraphicFramePr>
              <a:graphicFrameLocks noChangeAspect="1"/>
            </p:cNvGraphicFramePr>
            <p:nvPr/>
          </p:nvGraphicFramePr>
          <p:xfrm>
            <a:off x="3107" y="459"/>
            <a:ext cx="628" cy="271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8424" name="公式" r:id="rId17" imgW="469800" imgH="203040" progId="Equation.3">
                    <p:embed/>
                  </p:oleObj>
                </mc:Choice>
                <mc:Fallback>
                  <p:oleObj name="公式" r:id="rId17" imgW="469800" imgH="203040" progId="Equation.3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459"/>
                          <a:ext cx="628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88" name="Object 96"/>
            <p:cNvGraphicFramePr>
              <a:graphicFrameLocks noChangeAspect="1"/>
            </p:cNvGraphicFramePr>
            <p:nvPr/>
          </p:nvGraphicFramePr>
          <p:xfrm>
            <a:off x="3906" y="0"/>
            <a:ext cx="359" cy="503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8425" name="公式" r:id="rId19" imgW="317160" imgH="444240" progId="Equation.3">
                    <p:embed/>
                  </p:oleObj>
                </mc:Choice>
                <mc:Fallback>
                  <p:oleObj name="公式" r:id="rId19" imgW="317160" imgH="44424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0"/>
                          <a:ext cx="359" cy="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95" name="Group 103"/>
            <p:cNvGrpSpPr>
              <a:grpSpLocks/>
            </p:cNvGrpSpPr>
            <p:nvPr/>
          </p:nvGrpSpPr>
          <p:grpSpPr bwMode="auto">
            <a:xfrm>
              <a:off x="4492" y="478"/>
              <a:ext cx="975" cy="227"/>
              <a:chOff x="4513" y="416"/>
              <a:chExt cx="975" cy="227"/>
            </a:xfrm>
          </p:grpSpPr>
          <p:sp>
            <p:nvSpPr>
              <p:cNvPr id="8244" name="Rectangle 52"/>
              <p:cNvSpPr>
                <a:spLocks noChangeArrowheads="1"/>
              </p:cNvSpPr>
              <p:nvPr/>
            </p:nvSpPr>
            <p:spPr bwMode="auto">
              <a:xfrm>
                <a:off x="5432" y="441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45" name="Rectangle 53"/>
              <p:cNvSpPr>
                <a:spLocks noChangeArrowheads="1"/>
              </p:cNvSpPr>
              <p:nvPr/>
            </p:nvSpPr>
            <p:spPr bwMode="auto">
              <a:xfrm>
                <a:off x="4513" y="43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52" name="Rectangle 60"/>
              <p:cNvSpPr>
                <a:spLocks noChangeArrowheads="1"/>
              </p:cNvSpPr>
              <p:nvPr/>
            </p:nvSpPr>
            <p:spPr bwMode="auto">
              <a:xfrm>
                <a:off x="5026" y="423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£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53" name="Rectangle 61"/>
              <p:cNvSpPr>
                <a:spLocks noChangeArrowheads="1"/>
              </p:cNvSpPr>
              <p:nvPr/>
            </p:nvSpPr>
            <p:spPr bwMode="auto">
              <a:xfrm>
                <a:off x="4759" y="423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£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66" name="Rectangle 74"/>
              <p:cNvSpPr>
                <a:spLocks noChangeArrowheads="1"/>
              </p:cNvSpPr>
              <p:nvPr/>
            </p:nvSpPr>
            <p:spPr bwMode="auto">
              <a:xfrm>
                <a:off x="4897" y="428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89" name="Rectangle 97"/>
              <p:cNvSpPr>
                <a:spLocks noChangeArrowheads="1"/>
              </p:cNvSpPr>
              <p:nvPr/>
            </p:nvSpPr>
            <p:spPr bwMode="auto">
              <a:xfrm>
                <a:off x="5193" y="433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r>
                  <a:rPr kumimoji="1" lang="en-US" altLang="zh-CN" sz="2100" b="1" baseline="-25%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0" name="Rectangle 98"/>
              <p:cNvSpPr>
                <a:spLocks noChangeArrowheads="1"/>
              </p:cNvSpPr>
              <p:nvPr/>
            </p:nvSpPr>
            <p:spPr bwMode="auto">
              <a:xfrm>
                <a:off x="4558" y="416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r>
                  <a:rPr kumimoji="1" lang="en-US" altLang="zh-CN" sz="2100" b="1" baseline="-25%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8294" name="Group 102"/>
            <p:cNvGrpSpPr>
              <a:grpSpLocks/>
            </p:cNvGrpSpPr>
            <p:nvPr/>
          </p:nvGrpSpPr>
          <p:grpSpPr bwMode="auto">
            <a:xfrm>
              <a:off x="4492" y="799"/>
              <a:ext cx="998" cy="222"/>
              <a:chOff x="4541" y="741"/>
              <a:chExt cx="1015" cy="218"/>
            </a:xfrm>
          </p:grpSpPr>
          <p:sp>
            <p:nvSpPr>
              <p:cNvPr id="8242" name="Rectangle 50"/>
              <p:cNvSpPr>
                <a:spLocks noChangeArrowheads="1"/>
              </p:cNvSpPr>
              <p:nvPr/>
            </p:nvSpPr>
            <p:spPr bwMode="auto">
              <a:xfrm>
                <a:off x="5455" y="761"/>
                <a:ext cx="101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43" name="Rectangle 51"/>
              <p:cNvSpPr>
                <a:spLocks noChangeArrowheads="1"/>
              </p:cNvSpPr>
              <p:nvPr/>
            </p:nvSpPr>
            <p:spPr bwMode="auto">
              <a:xfrm>
                <a:off x="4541" y="754"/>
                <a:ext cx="57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48" name="Rectangle 56"/>
              <p:cNvSpPr>
                <a:spLocks noChangeArrowheads="1"/>
              </p:cNvSpPr>
              <p:nvPr/>
            </p:nvSpPr>
            <p:spPr bwMode="auto">
              <a:xfrm>
                <a:off x="5319" y="741"/>
                <a:ext cx="122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¥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49" name="Rectangle 57"/>
              <p:cNvSpPr>
                <a:spLocks noChangeArrowheads="1"/>
              </p:cNvSpPr>
              <p:nvPr/>
            </p:nvSpPr>
            <p:spPr bwMode="auto">
              <a:xfrm>
                <a:off x="5177" y="741"/>
                <a:ext cx="93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&lt;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50" name="Rectangle 58"/>
              <p:cNvSpPr>
                <a:spLocks noChangeArrowheads="1"/>
              </p:cNvSpPr>
              <p:nvPr/>
            </p:nvSpPr>
            <p:spPr bwMode="auto">
              <a:xfrm>
                <a:off x="4909" y="741"/>
                <a:ext cx="94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&lt;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58" name="Rectangle 66"/>
              <p:cNvSpPr>
                <a:spLocks noChangeArrowheads="1"/>
              </p:cNvSpPr>
              <p:nvPr/>
            </p:nvSpPr>
            <p:spPr bwMode="auto">
              <a:xfrm>
                <a:off x="5012" y="761"/>
                <a:ext cx="142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endParaRPr kumimoji="1" lang="en-US" altLang="zh-CN">
                  <a:latin typeface="Bookman Old Style" panose="020506040505050202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2" name="Rectangle 100"/>
              <p:cNvSpPr>
                <a:spLocks noChangeArrowheads="1"/>
              </p:cNvSpPr>
              <p:nvPr/>
            </p:nvSpPr>
            <p:spPr bwMode="auto">
              <a:xfrm>
                <a:off x="4649" y="754"/>
                <a:ext cx="292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r>
                  <a:rPr kumimoji="1" lang="en-US" altLang="zh-CN" sz="2100" b="1" baseline="-25%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8296" name="Group 104"/>
            <p:cNvGrpSpPr>
              <a:grpSpLocks/>
            </p:cNvGrpSpPr>
            <p:nvPr/>
          </p:nvGrpSpPr>
          <p:grpSpPr bwMode="auto">
            <a:xfrm>
              <a:off x="4492" y="164"/>
              <a:ext cx="975" cy="227"/>
              <a:chOff x="4513" y="416"/>
              <a:chExt cx="975" cy="227"/>
            </a:xfrm>
          </p:grpSpPr>
          <p:sp>
            <p:nvSpPr>
              <p:cNvPr id="8297" name="Rectangle 105"/>
              <p:cNvSpPr>
                <a:spLocks noChangeArrowheads="1"/>
              </p:cNvSpPr>
              <p:nvPr/>
            </p:nvSpPr>
            <p:spPr bwMode="auto">
              <a:xfrm>
                <a:off x="5432" y="441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" name="Rectangle 106"/>
              <p:cNvSpPr>
                <a:spLocks noChangeArrowheads="1"/>
              </p:cNvSpPr>
              <p:nvPr/>
            </p:nvSpPr>
            <p:spPr bwMode="auto">
              <a:xfrm>
                <a:off x="4513" y="43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" name="Rectangle 107"/>
              <p:cNvSpPr>
                <a:spLocks noChangeArrowheads="1"/>
              </p:cNvSpPr>
              <p:nvPr/>
            </p:nvSpPr>
            <p:spPr bwMode="auto">
              <a:xfrm>
                <a:off x="5026" y="423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£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300" name="Rectangle 108"/>
              <p:cNvSpPr>
                <a:spLocks noChangeArrowheads="1"/>
              </p:cNvSpPr>
              <p:nvPr/>
            </p:nvSpPr>
            <p:spPr bwMode="auto">
              <a:xfrm>
                <a:off x="4759" y="423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华文中宋" panose="02010600040101010101" pitchFamily="2" charset="-122"/>
                  </a:rPr>
                  <a:t>£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301" name="Rectangle 109"/>
              <p:cNvSpPr>
                <a:spLocks noChangeArrowheads="1"/>
              </p:cNvSpPr>
              <p:nvPr/>
            </p:nvSpPr>
            <p:spPr bwMode="auto">
              <a:xfrm>
                <a:off x="4897" y="428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302" name="Rectangle 110"/>
              <p:cNvSpPr>
                <a:spLocks noChangeArrowheads="1"/>
              </p:cNvSpPr>
              <p:nvPr/>
            </p:nvSpPr>
            <p:spPr bwMode="auto">
              <a:xfrm>
                <a:off x="5193" y="433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 i="1">
                    <a:solidFill>
                      <a:srgbClr val="000000"/>
                    </a:solidFill>
                    <a:latin typeface="Bookman Old Style" panose="02050604050505020204" pitchFamily="18" charset="0"/>
                    <a:ea typeface="华文中宋" panose="02010600040101010101" pitchFamily="2" charset="-122"/>
                  </a:rPr>
                  <a:t>v</a:t>
                </a:r>
                <a:r>
                  <a:rPr kumimoji="1" lang="en-US" altLang="zh-CN" sz="2100" b="1" baseline="-25%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8303" name="Rectangle 111"/>
              <p:cNvSpPr>
                <a:spLocks noChangeArrowheads="1"/>
              </p:cNvSpPr>
              <p:nvPr/>
            </p:nvSpPr>
            <p:spPr bwMode="auto">
              <a:xfrm>
                <a:off x="4558" y="416"/>
                <a:ext cx="2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%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fontAlgn="base">
                  <a:spcBef>
                    <a:spcPct val="0%"/>
                  </a:spcBef>
                  <a:spcAft>
                    <a:spcPct val="0%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0</a:t>
                </a:r>
                <a:endParaRPr kumimoji="1" lang="en-US" altLang="zh-CN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304" name="Text Box 112"/>
            <p:cNvSpPr txBox="1">
              <a:spLocks noChangeArrowheads="1"/>
            </p:cNvSpPr>
            <p:nvPr/>
          </p:nvSpPr>
          <p:spPr bwMode="auto">
            <a:xfrm>
              <a:off x="3902" y="4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305" name="Text Box 113"/>
            <p:cNvSpPr txBox="1">
              <a:spLocks noChangeArrowheads="1"/>
            </p:cNvSpPr>
            <p:nvPr/>
          </p:nvSpPr>
          <p:spPr bwMode="auto">
            <a:xfrm>
              <a:off x="3902" y="7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pic>
          <p:nvPicPr>
            <p:cNvPr id="8307" name="Picture 115" descr="图片1"/>
            <p:cNvPicPr>
              <a:picLocks noChangeAspect="1" noChangeArrowheads="1"/>
            </p:cNvPicPr>
            <p:nvPr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%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738" y="164"/>
              <a:ext cx="276" cy="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6" grpId="0"/>
    </p:bldLst>
  </p:timing>
</p:sld>
</file>

<file path=ppt/slides/slide3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19075" y="449263"/>
            <a:ext cx="453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33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 (2)</a:t>
            </a:r>
            <a:r>
              <a:rPr kumimoji="1" lang="zh-CN" altLang="en-US" b="1">
                <a:latin typeface="宋体" panose="02010600030101010101" pitchFamily="2" charset="-122"/>
              </a:rPr>
              <a:t>大于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0 </a:t>
            </a:r>
            <a:r>
              <a:rPr kumimoji="1" lang="zh-CN" altLang="zh-CN" b="1">
                <a:latin typeface="宋体" panose="02010600030101010101" pitchFamily="2" charset="-122"/>
              </a:rPr>
              <a:t>的</a:t>
            </a:r>
            <a:r>
              <a:rPr kumimoji="1" lang="zh-CN" altLang="en-US" b="1">
                <a:latin typeface="宋体" panose="02010600030101010101" pitchFamily="2" charset="-122"/>
              </a:rPr>
              <a:t>粒子数：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584200" y="981075"/>
          <a:ext cx="2986088" cy="8366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367" name="公式" r:id="rId3" imgW="1396800" imgH="355320" progId="Equation.3">
                  <p:embed/>
                </p:oleObj>
              </mc:Choice>
              <mc:Fallback>
                <p:oleObj name="公式" r:id="rId3" imgW="1396800" imgH="3553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981075"/>
                        <a:ext cx="2986088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3533775" y="981075"/>
          <a:ext cx="2149475" cy="8588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368" name="公式" r:id="rId5" imgW="888840" imgH="355320" progId="Equation.3">
                  <p:embed/>
                </p:oleObj>
              </mc:Choice>
              <mc:Fallback>
                <p:oleObj name="公式" r:id="rId5" imgW="888840" imgH="355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981075"/>
                        <a:ext cx="214947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1012825" y="1773238"/>
          <a:ext cx="3894138" cy="10398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369" name="公式" r:id="rId7" imgW="1663560" imgH="444240" progId="Equation.3">
                  <p:embed/>
                </p:oleObj>
              </mc:Choice>
              <mc:Fallback>
                <p:oleObj name="公式" r:id="rId7" imgW="166356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1773238"/>
                        <a:ext cx="3894138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1" name="Group 25"/>
          <p:cNvGrpSpPr>
            <a:grpSpLocks/>
          </p:cNvGrpSpPr>
          <p:nvPr/>
        </p:nvGrpSpPr>
        <p:grpSpPr bwMode="auto">
          <a:xfrm>
            <a:off x="250825" y="3644900"/>
            <a:ext cx="5373688" cy="823913"/>
            <a:chOff x="96" y="2222"/>
            <a:chExt cx="3385" cy="519"/>
          </a:xfrm>
        </p:grpSpPr>
        <p:sp>
          <p:nvSpPr>
            <p:cNvPr id="9242" name="Text Box 26"/>
            <p:cNvSpPr txBox="1">
              <a:spLocks noChangeArrowheads="1"/>
            </p:cNvSpPr>
            <p:nvPr/>
          </p:nvSpPr>
          <p:spPr bwMode="auto">
            <a:xfrm>
              <a:off x="96" y="2324"/>
              <a:ext cx="15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 (3)</a:t>
              </a:r>
              <a:r>
                <a:rPr kumimoji="1" lang="zh-CN" altLang="en-US" b="1">
                  <a:latin typeface="宋体" panose="02010600030101010101" pitchFamily="2" charset="-122"/>
                </a:rPr>
                <a:t>平均速率：</a:t>
              </a:r>
            </a:p>
          </p:txBody>
        </p:sp>
        <p:graphicFrame>
          <p:nvGraphicFramePr>
            <p:cNvPr id="9243" name="Object 27"/>
            <p:cNvGraphicFramePr>
              <a:graphicFrameLocks noChangeAspect="1"/>
            </p:cNvGraphicFramePr>
            <p:nvPr/>
          </p:nvGraphicFramePr>
          <p:xfrm>
            <a:off x="1605" y="2222"/>
            <a:ext cx="1876" cy="519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370" name="公式" r:id="rId9" imgW="1180800" imgH="330120" progId="Equation.3">
                    <p:embed/>
                  </p:oleObj>
                </mc:Choice>
                <mc:Fallback>
                  <p:oleObj name="公式" r:id="rId9" imgW="1180800" imgH="33012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5" y="2222"/>
                          <a:ext cx="1876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44" name="Object 28"/>
          <p:cNvGraphicFramePr>
            <a:graphicFrameLocks noChangeAspect="1"/>
          </p:cNvGraphicFramePr>
          <p:nvPr/>
        </p:nvGraphicFramePr>
        <p:xfrm>
          <a:off x="2663825" y="4508500"/>
          <a:ext cx="6118225" cy="9048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9371" name="公式" r:id="rId11" imgW="2501640" imgH="355320" progId="Equation.3">
                  <p:embed/>
                </p:oleObj>
              </mc:Choice>
              <mc:Fallback>
                <p:oleObj name="公式" r:id="rId11" imgW="2501640" imgH="35532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4508500"/>
                        <a:ext cx="61182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8" name="Group 32"/>
          <p:cNvGrpSpPr>
            <a:grpSpLocks/>
          </p:cNvGrpSpPr>
          <p:nvPr/>
        </p:nvGrpSpPr>
        <p:grpSpPr bwMode="auto">
          <a:xfrm>
            <a:off x="2987675" y="5373688"/>
            <a:ext cx="5272088" cy="1092200"/>
            <a:chOff x="1807" y="3422"/>
            <a:chExt cx="3321" cy="688"/>
          </a:xfrm>
        </p:grpSpPr>
        <p:graphicFrame>
          <p:nvGraphicFramePr>
            <p:cNvPr id="9249" name="Object 33"/>
            <p:cNvGraphicFramePr>
              <a:graphicFrameLocks noChangeAspect="1"/>
            </p:cNvGraphicFramePr>
            <p:nvPr/>
          </p:nvGraphicFramePr>
          <p:xfrm>
            <a:off x="1807" y="3422"/>
            <a:ext cx="2646" cy="68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372" name="公式" r:id="rId13" imgW="1790640" imgH="444240" progId="Equation.3">
                    <p:embed/>
                  </p:oleObj>
                </mc:Choice>
                <mc:Fallback>
                  <p:oleObj name="公式" r:id="rId13" imgW="1790640" imgH="44424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7" y="3422"/>
                          <a:ext cx="2646" cy="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0" name="Object 34"/>
            <p:cNvGraphicFramePr>
              <a:graphicFrameLocks noChangeAspect="1"/>
            </p:cNvGraphicFramePr>
            <p:nvPr/>
          </p:nvGraphicFramePr>
          <p:xfrm>
            <a:off x="4442" y="3462"/>
            <a:ext cx="686" cy="578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373" name="公式" r:id="rId15" imgW="482400" imgH="406080" progId="Equation.3">
                    <p:embed/>
                  </p:oleObj>
                </mc:Choice>
                <mc:Fallback>
                  <p:oleObj name="公式" r:id="rId15" imgW="482400" imgH="4060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3462"/>
                          <a:ext cx="686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51" name="Group 35"/>
          <p:cNvGrpSpPr>
            <a:grpSpLocks/>
          </p:cNvGrpSpPr>
          <p:nvPr/>
        </p:nvGrpSpPr>
        <p:grpSpPr bwMode="auto">
          <a:xfrm>
            <a:off x="5795963" y="317500"/>
            <a:ext cx="3090862" cy="2174875"/>
            <a:chOff x="3791" y="1389"/>
            <a:chExt cx="1947" cy="1370"/>
          </a:xfrm>
        </p:grpSpPr>
        <p:sp>
          <p:nvSpPr>
            <p:cNvPr id="9252" name="Line 36"/>
            <p:cNvSpPr>
              <a:spLocks noChangeShapeType="1"/>
            </p:cNvSpPr>
            <p:nvPr/>
          </p:nvSpPr>
          <p:spPr bwMode="auto">
            <a:xfrm>
              <a:off x="5180" y="2462"/>
              <a:ext cx="55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3" name="Line 37"/>
            <p:cNvSpPr>
              <a:spLocks noChangeShapeType="1"/>
            </p:cNvSpPr>
            <p:nvPr/>
          </p:nvSpPr>
          <p:spPr bwMode="auto">
            <a:xfrm flipV="1">
              <a:off x="4065" y="1907"/>
              <a:ext cx="557" cy="57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4" name="Line 38"/>
            <p:cNvSpPr>
              <a:spLocks noChangeShapeType="1"/>
            </p:cNvSpPr>
            <p:nvPr/>
          </p:nvSpPr>
          <p:spPr bwMode="auto">
            <a:xfrm>
              <a:off x="4622" y="1907"/>
              <a:ext cx="55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5" name="Line 39"/>
            <p:cNvSpPr>
              <a:spLocks noChangeShapeType="1"/>
            </p:cNvSpPr>
            <p:nvPr/>
          </p:nvSpPr>
          <p:spPr bwMode="auto">
            <a:xfrm>
              <a:off x="4622" y="1907"/>
              <a:ext cx="0" cy="5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6" name="Line 40"/>
            <p:cNvSpPr>
              <a:spLocks noChangeShapeType="1"/>
            </p:cNvSpPr>
            <p:nvPr/>
          </p:nvSpPr>
          <p:spPr bwMode="auto">
            <a:xfrm>
              <a:off x="5180" y="1907"/>
              <a:ext cx="0" cy="5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7" name="Line 41"/>
            <p:cNvSpPr>
              <a:spLocks noChangeShapeType="1"/>
            </p:cNvSpPr>
            <p:nvPr/>
          </p:nvSpPr>
          <p:spPr bwMode="auto">
            <a:xfrm>
              <a:off x="4065" y="1907"/>
              <a:ext cx="5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8" name="Text Box 42"/>
            <p:cNvSpPr txBox="1">
              <a:spLocks noChangeArrowheads="1"/>
            </p:cNvSpPr>
            <p:nvPr/>
          </p:nvSpPr>
          <p:spPr bwMode="auto">
            <a:xfrm>
              <a:off x="4488" y="2418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 baseline="-25%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9259" name="Text Box 43"/>
            <p:cNvSpPr txBox="1">
              <a:spLocks noChangeArrowheads="1"/>
            </p:cNvSpPr>
            <p:nvPr/>
          </p:nvSpPr>
          <p:spPr bwMode="auto">
            <a:xfrm>
              <a:off x="4968" y="2426"/>
              <a:ext cx="4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2</a:t>
              </a: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 baseline="-25%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9260" name="Text Box 44"/>
            <p:cNvSpPr txBox="1">
              <a:spLocks noChangeArrowheads="1"/>
            </p:cNvSpPr>
            <p:nvPr/>
          </p:nvSpPr>
          <p:spPr bwMode="auto">
            <a:xfrm>
              <a:off x="3791" y="1734"/>
              <a:ext cx="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 a</a:t>
              </a:r>
            </a:p>
          </p:txBody>
        </p:sp>
        <p:grpSp>
          <p:nvGrpSpPr>
            <p:cNvPr id="9261" name="Group 45"/>
            <p:cNvGrpSpPr>
              <a:grpSpLocks/>
            </p:cNvGrpSpPr>
            <p:nvPr/>
          </p:nvGrpSpPr>
          <p:grpSpPr bwMode="auto">
            <a:xfrm>
              <a:off x="4065" y="1472"/>
              <a:ext cx="1632" cy="1014"/>
              <a:chOff x="3408" y="1824"/>
              <a:chExt cx="1968" cy="1008"/>
            </a:xfrm>
          </p:grpSpPr>
          <p:sp>
            <p:nvSpPr>
              <p:cNvPr id="9262" name="Line 46"/>
              <p:cNvSpPr>
                <a:spLocks noChangeShapeType="1"/>
              </p:cNvSpPr>
              <p:nvPr/>
            </p:nvSpPr>
            <p:spPr bwMode="auto">
              <a:xfrm>
                <a:off x="3408" y="2832"/>
                <a:ext cx="19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3" name="Line 47"/>
              <p:cNvSpPr>
                <a:spLocks noChangeShapeType="1"/>
              </p:cNvSpPr>
              <p:nvPr/>
            </p:nvSpPr>
            <p:spPr bwMode="auto">
              <a:xfrm flipV="1">
                <a:off x="3408" y="1824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64" name="Text Box 48"/>
            <p:cNvSpPr txBox="1">
              <a:spLocks noChangeArrowheads="1"/>
            </p:cNvSpPr>
            <p:nvPr/>
          </p:nvSpPr>
          <p:spPr bwMode="auto">
            <a:xfrm>
              <a:off x="3828" y="2429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9265" name="Text Box 49"/>
            <p:cNvSpPr txBox="1">
              <a:spLocks noChangeArrowheads="1"/>
            </p:cNvSpPr>
            <p:nvPr/>
          </p:nvSpPr>
          <p:spPr bwMode="auto">
            <a:xfrm>
              <a:off x="5489" y="2432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</a:p>
          </p:txBody>
        </p:sp>
        <p:sp>
          <p:nvSpPr>
            <p:cNvPr id="9266" name="Text Box 50"/>
            <p:cNvSpPr txBox="1">
              <a:spLocks noChangeArrowheads="1"/>
            </p:cNvSpPr>
            <p:nvPr/>
          </p:nvSpPr>
          <p:spPr bwMode="auto">
            <a:xfrm>
              <a:off x="4098" y="1389"/>
              <a:ext cx="46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9268" name="Group 52"/>
          <p:cNvGrpSpPr>
            <a:grpSpLocks/>
          </p:cNvGrpSpPr>
          <p:nvPr/>
        </p:nvGrpSpPr>
        <p:grpSpPr bwMode="auto">
          <a:xfrm>
            <a:off x="723900" y="2841625"/>
            <a:ext cx="5400675" cy="815975"/>
            <a:chOff x="385" y="1616"/>
            <a:chExt cx="3402" cy="514"/>
          </a:xfrm>
        </p:grpSpPr>
        <p:sp>
          <p:nvSpPr>
            <p:cNvPr id="9269" name="Text Box 53"/>
            <p:cNvSpPr txBox="1">
              <a:spLocks noChangeArrowheads="1"/>
            </p:cNvSpPr>
            <p:nvPr/>
          </p:nvSpPr>
          <p:spPr bwMode="auto">
            <a:xfrm>
              <a:off x="385" y="1697"/>
              <a:ext cx="26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3300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zh-CN" altLang="en-US" b="1">
                  <a:latin typeface="Times New Roman" panose="02020603050405020304" pitchFamily="18" charset="0"/>
                </a:rPr>
                <a:t>小</a:t>
              </a:r>
              <a:r>
                <a:rPr kumimoji="1" lang="zh-CN" altLang="en-US" b="1">
                  <a:latin typeface="宋体" panose="02010600030101010101" pitchFamily="2" charset="-122"/>
                </a:rPr>
                <a:t>于</a:t>
              </a:r>
              <a:r>
                <a:rPr kumimoji="1" lang="en-US" altLang="zh-CN" b="1" i="1">
                  <a:latin typeface="Bookman Old Style" panose="02050604050505020204" pitchFamily="18" charset="0"/>
                </a:rPr>
                <a:t>v</a:t>
              </a:r>
              <a:r>
                <a:rPr kumimoji="1" lang="en-US" altLang="zh-CN" b="1" baseline="-25%">
                  <a:latin typeface="Times New Roman" panose="02020603050405020304" pitchFamily="18" charset="0"/>
                </a:rPr>
                <a:t>0 </a:t>
              </a:r>
              <a:r>
                <a:rPr kumimoji="1" lang="zh-CN" altLang="zh-CN" b="1">
                  <a:latin typeface="宋体" panose="02010600030101010101" pitchFamily="2" charset="-122"/>
                </a:rPr>
                <a:t>的</a:t>
              </a:r>
              <a:r>
                <a:rPr kumimoji="1" lang="zh-CN" altLang="en-US" b="1">
                  <a:latin typeface="宋体" panose="02010600030101010101" pitchFamily="2" charset="-122"/>
                </a:rPr>
                <a:t>粒子数</a:t>
              </a:r>
              <a:r>
                <a:rPr kumimoji="1" lang="en-US" altLang="zh-CN" b="1">
                  <a:latin typeface="宋体" panose="02010600030101010101" pitchFamily="2" charset="-122"/>
                </a:rPr>
                <a:t>:</a:t>
              </a:r>
            </a:p>
          </p:txBody>
        </p:sp>
        <p:graphicFrame>
          <p:nvGraphicFramePr>
            <p:cNvPr id="9270" name="Object 54"/>
            <p:cNvGraphicFramePr>
              <a:graphicFrameLocks noChangeAspect="1"/>
            </p:cNvGraphicFramePr>
            <p:nvPr/>
          </p:nvGraphicFramePr>
          <p:xfrm>
            <a:off x="2517" y="1616"/>
            <a:ext cx="1270" cy="514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9374" name="Equation" r:id="rId17" imgW="1002960" imgH="406080" progId="Equation.3">
                    <p:embed/>
                  </p:oleObj>
                </mc:Choice>
                <mc:Fallback>
                  <p:oleObj name="Equation" r:id="rId17" imgW="1002960" imgH="4060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1616"/>
                          <a:ext cx="127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</p:bldLst>
  </p:timing>
</p:sld>
</file>

<file path=ppt/slides/slide3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250825" y="260350"/>
            <a:ext cx="8686800" cy="235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4. </a:t>
            </a:r>
            <a:r>
              <a:rPr kumimoji="1" lang="zh-CN" altLang="en-US" b="1">
                <a:latin typeface="Times New Roman" panose="02020603050405020304" pitchFamily="18" charset="0"/>
              </a:rPr>
              <a:t>在平衡状态下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已知理想气体分子的麦克斯韦速率分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布函数为</a:t>
            </a:r>
            <a:r>
              <a:rPr kumimoji="1" lang="en-US" altLang="zh-CN" b="1" i="1">
                <a:latin typeface="Times New Roman" panose="02020603050405020304" pitchFamily="18" charset="0"/>
              </a:rPr>
              <a:t>f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、分子质量为</a:t>
            </a:r>
            <a:r>
              <a:rPr kumimoji="1" lang="en-US" altLang="zh-CN" b="1" i="1">
                <a:latin typeface="Times New Roman" panose="02020603050405020304" pitchFamily="18" charset="0"/>
              </a:rPr>
              <a:t>m</a:t>
            </a:r>
            <a:r>
              <a:rPr kumimoji="1" lang="zh-CN" altLang="en-US" b="1">
                <a:latin typeface="Times New Roman" panose="02020603050405020304" pitchFamily="18" charset="0"/>
              </a:rPr>
              <a:t>、最概然速率为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p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</a:p>
          <a:p>
            <a:pPr>
              <a:lnSpc>
                <a:spcPct val="150%"/>
              </a:lnSpc>
            </a:pPr>
            <a:r>
              <a:rPr kumimoji="1" lang="en-US" altLang="zh-CN" b="1">
                <a:latin typeface="Times New Roman" panose="02020603050405020304" pitchFamily="18" charset="0"/>
              </a:rPr>
              <a:t>(1)                 </a:t>
            </a:r>
            <a:r>
              <a:rPr kumimoji="1" lang="zh-CN" altLang="en-US" b="1">
                <a:latin typeface="Times New Roman" panose="02020603050405020304" pitchFamily="18" charset="0"/>
              </a:rPr>
              <a:t>表示</a:t>
            </a:r>
            <a:r>
              <a:rPr kumimoji="1" lang="en-US" altLang="zh-CN" b="1">
                <a:latin typeface="Times New Roman" panose="02020603050405020304" pitchFamily="18" charset="0"/>
              </a:rPr>
              <a:t>______________________________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</a:t>
            </a:r>
          </a:p>
          <a:p>
            <a:pPr>
              <a:spcBef>
                <a:spcPct val="8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                         </a:t>
            </a:r>
            <a:r>
              <a:rPr kumimoji="1" lang="zh-CN" altLang="en-US" b="1">
                <a:latin typeface="Times New Roman" panose="02020603050405020304" pitchFamily="18" charset="0"/>
              </a:rPr>
              <a:t>表示</a:t>
            </a:r>
            <a:r>
              <a:rPr kumimoji="1" lang="en-US" altLang="zh-CN" b="1">
                <a:latin typeface="Times New Roman" panose="02020603050405020304" pitchFamily="18" charset="0"/>
              </a:rPr>
              <a:t>__________________________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769938" y="1196975"/>
          <a:ext cx="1484312" cy="83026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5585" name="公式" r:id="rId3" imgW="698400" imgH="368280" progId="Equation.3">
                  <p:embed/>
                </p:oleObj>
              </mc:Choice>
              <mc:Fallback>
                <p:oleObj name="公式" r:id="rId3" imgW="698400" imgH="368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1196975"/>
                        <a:ext cx="1484312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755650" y="1901825"/>
          <a:ext cx="2232025" cy="9398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5586" name="公式" r:id="rId5" imgW="1104840" imgH="406080" progId="Equation.3">
                  <p:embed/>
                </p:oleObj>
              </mc:Choice>
              <mc:Fallback>
                <p:oleObj name="公式" r:id="rId5" imgW="110484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01825"/>
                        <a:ext cx="22320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250825" y="3500438"/>
            <a:ext cx="8893175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</a:rPr>
              <a:t>分布在</a:t>
            </a:r>
            <a:r>
              <a:rPr kumimoji="1" lang="en-US" altLang="zh-CN" b="1" i="1"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p</a:t>
            </a:r>
            <a:r>
              <a:rPr kumimoji="1" lang="en-US" altLang="zh-CN" b="1">
                <a:latin typeface="Times New Roman" panose="02020603050405020304" pitchFamily="18" charset="0"/>
              </a:rPr>
              <a:t>~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zh-CN" altLang="en-US" b="1">
                <a:latin typeface="Times New Roman" panose="02020603050405020304" pitchFamily="18" charset="0"/>
              </a:rPr>
              <a:t>速率区间的分子数占总分子数的百分比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     或速率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solidFill>
                  <a:srgbClr val="000000"/>
                </a:solidFill>
                <a:latin typeface="Times New Roman" panose="02020603050405020304" pitchFamily="18" charset="0"/>
              </a:rPr>
              <a:t>p 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的概率</a:t>
            </a:r>
            <a:endParaRPr kumimoji="1" lang="zh-CN" altLang="en-US" b="1">
              <a:latin typeface="Times New Roman" panose="02020603050405020304" pitchFamily="18" charset="0"/>
            </a:endParaRPr>
          </a:p>
          <a:p>
            <a:pPr>
              <a:spcBef>
                <a:spcPct val="3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分子平动动能的平均值。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250825" y="2924175"/>
            <a:ext cx="8732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速率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的分子平均速率表达式为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___________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5368925" y="4868863"/>
          <a:ext cx="3162300" cy="18065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5587" name="公式" r:id="rId7" imgW="1244520" imgH="711000" progId="Equation.3">
                  <p:embed/>
                </p:oleObj>
              </mc:Choice>
              <mc:Fallback>
                <p:oleObj name="公式" r:id="rId7" imgW="124452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868863"/>
                        <a:ext cx="3162300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250825" y="5508625"/>
            <a:ext cx="5724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速率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kumimoji="1" lang="en-US" altLang="zh-CN" i="1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="1" baseline="-25%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的分子平均速率为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4" grpId="0"/>
      <p:bldP spid="65548" grpId="0"/>
    </p:bldLst>
  </p:timing>
</p:sld>
</file>

<file path=ppt/slides/slide3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50825" y="309563"/>
            <a:ext cx="83518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5. </a:t>
            </a:r>
            <a:r>
              <a:rPr lang="zh-CN" altLang="en-US" b="1">
                <a:latin typeface="Times New Roman" panose="02020603050405020304" pitchFamily="18" charset="0"/>
              </a:rPr>
              <a:t>刚性双原子分子的理想气体在等压下膨胀所作的功为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则传递给气体的热量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___________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50825" y="1311275"/>
            <a:ext cx="6119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解一</a:t>
            </a:r>
            <a:r>
              <a:rPr lang="zh-CN" altLang="en-US" b="1">
                <a:latin typeface="Times New Roman" panose="02020603050405020304" pitchFamily="18" charset="0"/>
              </a:rPr>
              <a:t>：由热力学第一定律 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+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971550" y="2852738"/>
          <a:ext cx="5154613" cy="11620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0" name="Equation" r:id="rId3" imgW="1968480" imgH="444240" progId="Equation.3">
                  <p:embed/>
                </p:oleObj>
              </mc:Choice>
              <mc:Fallback>
                <p:oleObj name="Equation" r:id="rId3" imgW="19684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515461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1116013" y="1773238"/>
          <a:ext cx="5113337" cy="11842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1" name="Equation" r:id="rId5" imgW="1917360" imgH="444240" progId="Equation.3">
                  <p:embed/>
                </p:oleObj>
              </mc:Choice>
              <mc:Fallback>
                <p:oleObj name="Equation" r:id="rId5" imgW="191736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773238"/>
                        <a:ext cx="511333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1042988" y="3860800"/>
          <a:ext cx="3744912" cy="10620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2" name="Equation" r:id="rId7" imgW="1434960" imgH="406080" progId="Equation.3">
                  <p:embed/>
                </p:oleObj>
              </mc:Choice>
              <mc:Fallback>
                <p:oleObj name="Equation" r:id="rId7" imgW="143496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60800"/>
                        <a:ext cx="374491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50825" y="49180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</a:rPr>
              <a:t>解二</a:t>
            </a:r>
            <a:r>
              <a:rPr lang="zh-CN" altLang="en-US" b="1"/>
              <a:t>：由摩尔热容求</a:t>
            </a:r>
          </a:p>
        </p:txBody>
      </p:sp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395288" y="5373688"/>
          <a:ext cx="8424862" cy="11033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3" name="Equation" r:id="rId9" imgW="3200400" imgH="419040" progId="Equation.3">
                  <p:embed/>
                </p:oleObj>
              </mc:Choice>
              <mc:Fallback>
                <p:oleObj name="Equation" r:id="rId9" imgW="320040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373688"/>
                        <a:ext cx="8424862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/>
        </p:nvGraphicFramePr>
        <p:xfrm>
          <a:off x="7308850" y="3490913"/>
          <a:ext cx="1439863" cy="8747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4" name="Equation" r:id="rId11" imgW="799920" imgH="406080" progId="Equation.3">
                  <p:embed/>
                </p:oleObj>
              </mc:Choice>
              <mc:Fallback>
                <p:oleObj name="Equation" r:id="rId11" imgW="79992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490913"/>
                        <a:ext cx="1439863" cy="87471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3"/>
          <p:cNvGraphicFramePr>
            <a:graphicFrameLocks noChangeAspect="1"/>
          </p:cNvGraphicFramePr>
          <p:nvPr/>
        </p:nvGraphicFramePr>
        <p:xfrm>
          <a:off x="7164388" y="4589463"/>
          <a:ext cx="1800225" cy="85566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26715" name="Equation" r:id="rId13" imgW="990360" imgH="406080" progId="Equation.3">
                  <p:embed/>
                </p:oleObj>
              </mc:Choice>
              <mc:Fallback>
                <p:oleObj name="Equation" r:id="rId13" imgW="99036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589463"/>
                        <a:ext cx="1800225" cy="85566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decel="100%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26634" grpId="0"/>
    </p:bldLst>
  </p:timing>
</p:sld>
</file>

<file path=ppt/slides/slide3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59769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6. </a:t>
            </a:r>
            <a:r>
              <a:rPr kumimoji="1" lang="zh-CN" altLang="en-US" b="1">
                <a:latin typeface="Times New Roman" panose="02020603050405020304" pitchFamily="18" charset="0"/>
              </a:rPr>
              <a:t>图为理想气体状态变化过程的</a:t>
            </a:r>
            <a:r>
              <a:rPr kumimoji="1" lang="en-US" altLang="zh-CN" b="1" i="1">
                <a:latin typeface="Times New Roman" panose="02020603050405020304" pitchFamily="18" charset="0"/>
              </a:rPr>
              <a:t>P</a:t>
            </a:r>
            <a:r>
              <a:rPr kumimoji="1" lang="en-US" altLang="zh-CN" b="1">
                <a:latin typeface="Times New Roman" panose="02020603050405020304" pitchFamily="18" charset="0"/>
              </a:rPr>
              <a:t>-</a:t>
            </a:r>
            <a:r>
              <a:rPr kumimoji="1" lang="en-US" altLang="zh-CN" b="1" i="1">
                <a:latin typeface="Times New Roman" panose="02020603050405020304" pitchFamily="18" charset="0"/>
              </a:rPr>
              <a:t>V</a:t>
            </a:r>
            <a:r>
              <a:rPr kumimoji="1" lang="zh-CN" altLang="en-US" b="1">
                <a:latin typeface="Times New Roman" panose="02020603050405020304" pitchFamily="18" charset="0"/>
              </a:rPr>
              <a:t>图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其中</a:t>
            </a:r>
            <a:r>
              <a:rPr kumimoji="1" lang="en-US" altLang="zh-CN" b="1">
                <a:latin typeface="Times New Roman" panose="02020603050405020304" pitchFamily="18" charset="0"/>
              </a:rPr>
              <a:t>MT</a:t>
            </a:r>
            <a:r>
              <a:rPr kumimoji="1" lang="zh-CN" altLang="en-US" b="1">
                <a:latin typeface="Times New Roman" panose="02020603050405020304" pitchFamily="18" charset="0"/>
              </a:rPr>
              <a:t>为等温线</a:t>
            </a:r>
            <a:r>
              <a:rPr kumimoji="1" lang="en-US" altLang="zh-CN" b="1">
                <a:latin typeface="Times New Roman" panose="02020603050405020304" pitchFamily="18" charset="0"/>
              </a:rPr>
              <a:t>, MQ</a:t>
            </a:r>
            <a:r>
              <a:rPr kumimoji="1" lang="zh-CN" altLang="en-US" b="1">
                <a:latin typeface="Times New Roman" panose="02020603050405020304" pitchFamily="18" charset="0"/>
              </a:rPr>
              <a:t>为绝热线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在</a:t>
            </a:r>
            <a:r>
              <a:rPr kumimoji="1" lang="en-US" altLang="zh-CN" b="1">
                <a:latin typeface="Times New Roman" panose="02020603050405020304" pitchFamily="18" charset="0"/>
              </a:rPr>
              <a:t>AM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BM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CM</a:t>
            </a:r>
            <a:r>
              <a:rPr kumimoji="1" lang="zh-CN" altLang="en-US" b="1">
                <a:latin typeface="Times New Roman" panose="02020603050405020304" pitchFamily="18" charset="0"/>
              </a:rPr>
              <a:t>准静态过程中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(1)</a:t>
            </a:r>
            <a:r>
              <a:rPr kumimoji="1" lang="zh-CN" altLang="en-US" b="1">
                <a:latin typeface="Times New Roman" panose="02020603050405020304" pitchFamily="18" charset="0"/>
              </a:rPr>
              <a:t>温度升高的是</a:t>
            </a:r>
            <a:r>
              <a:rPr kumimoji="1" lang="en-US" altLang="zh-CN" b="1">
                <a:latin typeface="Times New Roman" panose="02020603050405020304" pitchFamily="18" charset="0"/>
              </a:rPr>
              <a:t>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过程</a:t>
            </a:r>
            <a:r>
              <a:rPr kumimoji="1" lang="en-US" altLang="zh-CN" b="1"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气体吸热的是</a:t>
            </a:r>
            <a:r>
              <a:rPr kumimoji="1" lang="en-US" altLang="zh-CN" b="1">
                <a:latin typeface="Times New Roman" panose="02020603050405020304" pitchFamily="18" charset="0"/>
              </a:rPr>
              <a:t>___________</a:t>
            </a:r>
            <a:r>
              <a:rPr kumimoji="1" lang="zh-CN" altLang="en-US" b="1">
                <a:latin typeface="Times New Roman" panose="02020603050405020304" pitchFamily="18" charset="0"/>
              </a:rPr>
              <a:t>过程。</a:t>
            </a:r>
          </a:p>
        </p:txBody>
      </p:sp>
      <p:grpSp>
        <p:nvGrpSpPr>
          <p:cNvPr id="107525" name="Group 5"/>
          <p:cNvGrpSpPr>
            <a:grpSpLocks/>
          </p:cNvGrpSpPr>
          <p:nvPr/>
        </p:nvGrpSpPr>
        <p:grpSpPr bwMode="auto">
          <a:xfrm>
            <a:off x="6137275" y="342900"/>
            <a:ext cx="2971800" cy="2438400"/>
            <a:chOff x="3742" y="164"/>
            <a:chExt cx="1872" cy="1536"/>
          </a:xfrm>
        </p:grpSpPr>
        <p:sp>
          <p:nvSpPr>
            <p:cNvPr id="107526" name="Line 6"/>
            <p:cNvSpPr>
              <a:spLocks noChangeShapeType="1"/>
            </p:cNvSpPr>
            <p:nvPr/>
          </p:nvSpPr>
          <p:spPr bwMode="auto">
            <a:xfrm flipV="1">
              <a:off x="4030" y="21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27" name="Line 7"/>
            <p:cNvSpPr>
              <a:spLocks noChangeShapeType="1"/>
            </p:cNvSpPr>
            <p:nvPr/>
          </p:nvSpPr>
          <p:spPr bwMode="auto">
            <a:xfrm>
              <a:off x="4030" y="141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28" name="Line 8"/>
            <p:cNvSpPr>
              <a:spLocks noChangeShapeType="1"/>
            </p:cNvSpPr>
            <p:nvPr/>
          </p:nvSpPr>
          <p:spPr bwMode="auto">
            <a:xfrm rot="720000" flipH="1" flipV="1">
              <a:off x="4654" y="1076"/>
              <a:ext cx="96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29" name="Line 9"/>
            <p:cNvSpPr>
              <a:spLocks noChangeShapeType="1"/>
            </p:cNvSpPr>
            <p:nvPr/>
          </p:nvSpPr>
          <p:spPr bwMode="auto">
            <a:xfrm flipH="1" flipV="1">
              <a:off x="4661" y="836"/>
              <a:ext cx="96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0" name="Line 10"/>
            <p:cNvSpPr>
              <a:spLocks noChangeShapeType="1"/>
            </p:cNvSpPr>
            <p:nvPr/>
          </p:nvSpPr>
          <p:spPr bwMode="auto">
            <a:xfrm rot="-1078062" flipH="1" flipV="1">
              <a:off x="4702" y="548"/>
              <a:ext cx="96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1" name="Text Box 11"/>
            <p:cNvSpPr txBox="1">
              <a:spLocks noChangeArrowheads="1"/>
            </p:cNvSpPr>
            <p:nvPr/>
          </p:nvSpPr>
          <p:spPr bwMode="auto">
            <a:xfrm>
              <a:off x="5038" y="45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7532" name="Text Box 12"/>
            <p:cNvSpPr txBox="1">
              <a:spLocks noChangeArrowheads="1"/>
            </p:cNvSpPr>
            <p:nvPr/>
          </p:nvSpPr>
          <p:spPr bwMode="auto">
            <a:xfrm>
              <a:off x="5038" y="77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7533" name="Text Box 13"/>
            <p:cNvSpPr txBox="1">
              <a:spLocks noChangeArrowheads="1"/>
            </p:cNvSpPr>
            <p:nvPr/>
          </p:nvSpPr>
          <p:spPr bwMode="auto">
            <a:xfrm>
              <a:off x="5038" y="93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07534" name="Text Box 14"/>
            <p:cNvSpPr txBox="1">
              <a:spLocks noChangeArrowheads="1"/>
            </p:cNvSpPr>
            <p:nvPr/>
          </p:nvSpPr>
          <p:spPr bwMode="auto">
            <a:xfrm>
              <a:off x="5038" y="111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7535" name="Line 15"/>
            <p:cNvSpPr>
              <a:spLocks noChangeShapeType="1"/>
            </p:cNvSpPr>
            <p:nvPr/>
          </p:nvSpPr>
          <p:spPr bwMode="auto">
            <a:xfrm>
              <a:off x="5038" y="4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6" name="Text Box 16"/>
            <p:cNvSpPr txBox="1">
              <a:spLocks noChangeArrowheads="1"/>
            </p:cNvSpPr>
            <p:nvPr/>
          </p:nvSpPr>
          <p:spPr bwMode="auto">
            <a:xfrm>
              <a:off x="5038" y="63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7537" name="Arc 17"/>
            <p:cNvSpPr>
              <a:spLocks/>
            </p:cNvSpPr>
            <p:nvPr/>
          </p:nvSpPr>
          <p:spPr bwMode="auto">
            <a:xfrm flipH="1" flipV="1">
              <a:off x="4366" y="356"/>
              <a:ext cx="672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8" name="Arc 18"/>
            <p:cNvSpPr>
              <a:spLocks/>
            </p:cNvSpPr>
            <p:nvPr/>
          </p:nvSpPr>
          <p:spPr bwMode="auto">
            <a:xfrm flipH="1" flipV="1">
              <a:off x="4366" y="356"/>
              <a:ext cx="672" cy="43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9" name="Arc 19"/>
            <p:cNvSpPr>
              <a:spLocks/>
            </p:cNvSpPr>
            <p:nvPr/>
          </p:nvSpPr>
          <p:spPr bwMode="auto">
            <a:xfrm flipH="1" flipV="1">
              <a:off x="4366" y="356"/>
              <a:ext cx="672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0" name="Arc 20"/>
            <p:cNvSpPr>
              <a:spLocks/>
            </p:cNvSpPr>
            <p:nvPr/>
          </p:nvSpPr>
          <p:spPr bwMode="auto">
            <a:xfrm flipH="1" flipV="1">
              <a:off x="4366" y="356"/>
              <a:ext cx="672" cy="7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1" name="Arc 21"/>
            <p:cNvSpPr>
              <a:spLocks/>
            </p:cNvSpPr>
            <p:nvPr/>
          </p:nvSpPr>
          <p:spPr bwMode="auto">
            <a:xfrm flipH="1" flipV="1">
              <a:off x="4366" y="356"/>
              <a:ext cx="672" cy="86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2" name="Text Box 22"/>
            <p:cNvSpPr txBox="1">
              <a:spLocks noChangeArrowheads="1"/>
            </p:cNvSpPr>
            <p:nvPr/>
          </p:nvSpPr>
          <p:spPr bwMode="auto">
            <a:xfrm>
              <a:off x="4126" y="21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07543" name="Text Box 23"/>
            <p:cNvSpPr txBox="1">
              <a:spLocks noChangeArrowheads="1"/>
            </p:cNvSpPr>
            <p:nvPr/>
          </p:nvSpPr>
          <p:spPr bwMode="auto">
            <a:xfrm>
              <a:off x="3742" y="1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07544" name="Text Box 24"/>
            <p:cNvSpPr txBox="1">
              <a:spLocks noChangeArrowheads="1"/>
            </p:cNvSpPr>
            <p:nvPr/>
          </p:nvSpPr>
          <p:spPr bwMode="auto">
            <a:xfrm>
              <a:off x="5326" y="14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V</a:t>
              </a:r>
            </a:p>
          </p:txBody>
        </p:sp>
      </p:grp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250825" y="25654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7566" name="Text Box 46"/>
          <p:cNvSpPr txBox="1">
            <a:spLocks noChangeArrowheads="1"/>
          </p:cNvSpPr>
          <p:nvPr/>
        </p:nvSpPr>
        <p:spPr bwMode="auto">
          <a:xfrm>
            <a:off x="827088" y="2565400"/>
            <a:ext cx="7921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(1) </a:t>
            </a:r>
            <a:r>
              <a:rPr kumimoji="1" lang="zh-CN" altLang="en-US" b="1">
                <a:latin typeface="Times New Roman" panose="02020603050405020304" pitchFamily="18" charset="0"/>
              </a:rPr>
              <a:t>利用等温线</a:t>
            </a:r>
            <a:r>
              <a:rPr kumimoji="1" lang="en-US" altLang="zh-CN" b="1">
                <a:latin typeface="Times New Roman" panose="02020603050405020304" pitchFamily="18" charset="0"/>
              </a:rPr>
              <a:t>,   </a:t>
            </a:r>
            <a:r>
              <a:rPr kumimoji="1" lang="zh-CN" altLang="en-US" b="1">
                <a:latin typeface="Times New Roman" panose="02020603050405020304" pitchFamily="18" charset="0"/>
              </a:rPr>
              <a:t>比较</a:t>
            </a:r>
            <a:r>
              <a:rPr kumimoji="1" lang="en-US" altLang="zh-CN" b="1">
                <a:latin typeface="Times New Roman" panose="02020603050405020304" pitchFamily="18" charset="0"/>
              </a:rPr>
              <a:t>A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B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C</a:t>
            </a:r>
            <a:r>
              <a:rPr kumimoji="1" lang="zh-CN" altLang="en-US" b="1">
                <a:latin typeface="Times New Roman" panose="02020603050405020304" pitchFamily="18" charset="0"/>
              </a:rPr>
              <a:t>三点与</a:t>
            </a:r>
            <a:r>
              <a:rPr kumimoji="1" lang="en-US" altLang="zh-CN" b="1">
                <a:latin typeface="Times New Roman" panose="02020603050405020304" pitchFamily="18" charset="0"/>
              </a:rPr>
              <a:t>T</a:t>
            </a:r>
            <a:r>
              <a:rPr kumimoji="1" lang="zh-CN" altLang="en-US" b="1">
                <a:latin typeface="Times New Roman" panose="02020603050405020304" pitchFamily="18" charset="0"/>
              </a:rPr>
              <a:t>点的温度</a:t>
            </a:r>
          </a:p>
        </p:txBody>
      </p:sp>
      <p:sp>
        <p:nvSpPr>
          <p:cNvPr id="107567" name="Text Box 47"/>
          <p:cNvSpPr txBox="1">
            <a:spLocks noChangeArrowheads="1"/>
          </p:cNvSpPr>
          <p:nvPr/>
        </p:nvSpPr>
        <p:spPr bwMode="auto">
          <a:xfrm>
            <a:off x="250825" y="3141663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可知</a:t>
            </a:r>
            <a:r>
              <a:rPr kumimoji="1" lang="en-US" altLang="zh-CN" b="1">
                <a:latin typeface="Times New Roman" panose="02020603050405020304" pitchFamily="18" charset="0"/>
              </a:rPr>
              <a:t>:B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C</a:t>
            </a:r>
            <a:r>
              <a:rPr kumimoji="1" lang="zh-CN" altLang="en-US" b="1">
                <a:latin typeface="Times New Roman" panose="02020603050405020304" pitchFamily="18" charset="0"/>
              </a:rPr>
              <a:t>点温度较</a:t>
            </a:r>
            <a:r>
              <a:rPr kumimoji="1" lang="en-US" altLang="zh-CN" b="1">
                <a:latin typeface="Times New Roman" panose="02020603050405020304" pitchFamily="18" charset="0"/>
              </a:rPr>
              <a:t>T</a:t>
            </a:r>
            <a:r>
              <a:rPr kumimoji="1" lang="zh-CN" altLang="en-US" b="1">
                <a:latin typeface="Times New Roman" panose="02020603050405020304" pitchFamily="18" charset="0"/>
              </a:rPr>
              <a:t>点低。</a:t>
            </a:r>
          </a:p>
        </p:txBody>
      </p:sp>
      <p:sp>
        <p:nvSpPr>
          <p:cNvPr id="107568" name="Text Box 48"/>
          <p:cNvSpPr txBox="1">
            <a:spLocks noChangeArrowheads="1"/>
          </p:cNvSpPr>
          <p:nvPr/>
        </p:nvSpPr>
        <p:spPr bwMode="auto">
          <a:xfrm>
            <a:off x="250825" y="370205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所以</a:t>
            </a:r>
            <a:r>
              <a:rPr kumimoji="1" lang="en-US" altLang="zh-CN" b="1">
                <a:latin typeface="Times New Roman" panose="02020603050405020304" pitchFamily="18" charset="0"/>
              </a:rPr>
              <a:t>BM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>
                <a:latin typeface="Times New Roman" panose="02020603050405020304" pitchFamily="18" charset="0"/>
              </a:rPr>
              <a:t>CM</a:t>
            </a:r>
            <a:r>
              <a:rPr kumimoji="1" lang="zh-CN" altLang="en-US" b="1">
                <a:latin typeface="Times New Roman" panose="02020603050405020304" pitchFamily="18" charset="0"/>
              </a:rPr>
              <a:t>过程为温度升高过程。</a:t>
            </a:r>
          </a:p>
        </p:txBody>
      </p:sp>
      <p:sp>
        <p:nvSpPr>
          <p:cNvPr id="107569" name="Text Box 49"/>
          <p:cNvSpPr txBox="1">
            <a:spLocks noChangeArrowheads="1"/>
          </p:cNvSpPr>
          <p:nvPr/>
        </p:nvSpPr>
        <p:spPr bwMode="auto">
          <a:xfrm>
            <a:off x="288925" y="4349750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利用绝热线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来判断吸热或放热。</a:t>
            </a:r>
          </a:p>
        </p:txBody>
      </p:sp>
      <p:grpSp>
        <p:nvGrpSpPr>
          <p:cNvPr id="107570" name="Group 50"/>
          <p:cNvGrpSpPr>
            <a:grpSpLocks/>
          </p:cNvGrpSpPr>
          <p:nvPr/>
        </p:nvGrpSpPr>
        <p:grpSpPr bwMode="auto">
          <a:xfrm>
            <a:off x="6886575" y="4421188"/>
            <a:ext cx="2149475" cy="1600200"/>
            <a:chOff x="4241" y="1616"/>
            <a:chExt cx="1354" cy="1008"/>
          </a:xfrm>
        </p:grpSpPr>
        <p:sp>
          <p:nvSpPr>
            <p:cNvPr id="107571" name="Line 51"/>
            <p:cNvSpPr>
              <a:spLocks noChangeShapeType="1"/>
            </p:cNvSpPr>
            <p:nvPr/>
          </p:nvSpPr>
          <p:spPr bwMode="auto">
            <a:xfrm flipH="1">
              <a:off x="5249" y="200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2" name="Arc 52"/>
            <p:cNvSpPr>
              <a:spLocks/>
            </p:cNvSpPr>
            <p:nvPr/>
          </p:nvSpPr>
          <p:spPr bwMode="auto">
            <a:xfrm flipH="1" flipV="1">
              <a:off x="4529" y="1760"/>
              <a:ext cx="720" cy="6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3" name="Arc 53"/>
            <p:cNvSpPr>
              <a:spLocks/>
            </p:cNvSpPr>
            <p:nvPr/>
          </p:nvSpPr>
          <p:spPr bwMode="auto">
            <a:xfrm flipH="1" flipV="1">
              <a:off x="4529" y="1760"/>
              <a:ext cx="720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4" name="Text Box 54"/>
            <p:cNvSpPr txBox="1">
              <a:spLocks noChangeArrowheads="1"/>
            </p:cNvSpPr>
            <p:nvPr/>
          </p:nvSpPr>
          <p:spPr bwMode="auto">
            <a:xfrm>
              <a:off x="4241" y="161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07575" name="Text Box 55"/>
            <p:cNvSpPr txBox="1">
              <a:spLocks noChangeArrowheads="1"/>
            </p:cNvSpPr>
            <p:nvPr/>
          </p:nvSpPr>
          <p:spPr bwMode="auto">
            <a:xfrm>
              <a:off x="5239" y="185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07576" name="Text Box 56"/>
            <p:cNvSpPr txBox="1">
              <a:spLocks noChangeArrowheads="1"/>
            </p:cNvSpPr>
            <p:nvPr/>
          </p:nvSpPr>
          <p:spPr bwMode="auto">
            <a:xfrm>
              <a:off x="5249" y="233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7577" name="Line 57"/>
            <p:cNvSpPr>
              <a:spLocks noChangeShapeType="1"/>
            </p:cNvSpPr>
            <p:nvPr/>
          </p:nvSpPr>
          <p:spPr bwMode="auto">
            <a:xfrm flipH="1" flipV="1">
              <a:off x="4900" y="2345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7578" name="Text Box 58"/>
          <p:cNvSpPr txBox="1">
            <a:spLocks noChangeArrowheads="1"/>
          </p:cNvSpPr>
          <p:nvPr/>
        </p:nvSpPr>
        <p:spPr bwMode="auto">
          <a:xfrm>
            <a:off x="323850" y="5003800"/>
            <a:ext cx="75612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在</a:t>
            </a:r>
            <a:r>
              <a:rPr kumimoji="1" lang="en-US" altLang="zh-CN" b="1">
                <a:latin typeface="Times New Roman" panose="02020603050405020304" pitchFamily="18" charset="0"/>
              </a:rPr>
              <a:t>CMQC</a:t>
            </a:r>
            <a:r>
              <a:rPr kumimoji="1" lang="zh-CN" altLang="en-US" b="1">
                <a:latin typeface="Times New Roman" panose="02020603050405020304" pitchFamily="18" charset="0"/>
              </a:rPr>
              <a:t>循环中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系统作正功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而内能不变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故由热一律</a:t>
            </a:r>
            <a:r>
              <a:rPr kumimoji="1" lang="en-US" altLang="zh-CN" b="1">
                <a:latin typeface="Times New Roman" panose="02020603050405020304" pitchFamily="18" charset="0"/>
              </a:rPr>
              <a:t>: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zh-CN" altLang="en-US" b="1">
                <a:latin typeface="Times New Roman" panose="02020603050405020304" pitchFamily="18" charset="0"/>
              </a:rPr>
              <a:t>＞</a:t>
            </a:r>
            <a:r>
              <a:rPr kumimoji="1" lang="en-US" altLang="zh-CN" b="1">
                <a:latin typeface="Times New Roman" panose="02020603050405020304" pitchFamily="18" charset="0"/>
              </a:rPr>
              <a:t>0(</a:t>
            </a:r>
            <a:r>
              <a:rPr kumimoji="1" lang="zh-CN" altLang="en-US" b="1">
                <a:latin typeface="Times New Roman" panose="02020603050405020304" pitchFamily="18" charset="0"/>
              </a:rPr>
              <a:t>吸热</a:t>
            </a:r>
            <a:r>
              <a:rPr kumimoji="1" lang="en-US" altLang="zh-CN" b="1">
                <a:latin typeface="Times New Roman" panose="02020603050405020304" pitchFamily="18" charset="0"/>
              </a:rPr>
              <a:t>); </a:t>
            </a:r>
            <a:r>
              <a:rPr kumimoji="1" lang="zh-CN" altLang="en-US" b="1">
                <a:latin typeface="Times New Roman" panose="02020603050405020304" pitchFamily="18" charset="0"/>
              </a:rPr>
              <a:t>又因</a:t>
            </a:r>
            <a:r>
              <a:rPr kumimoji="1" lang="en-US" altLang="zh-CN" b="1">
                <a:latin typeface="Times New Roman" panose="02020603050405020304" pitchFamily="18" charset="0"/>
              </a:rPr>
              <a:t>Q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>
                <a:latin typeface="Times New Roman" panose="02020603050405020304" pitchFamily="18" charset="0"/>
              </a:rPr>
              <a:t>C</a:t>
            </a:r>
            <a:r>
              <a:rPr kumimoji="1" lang="zh-CN" altLang="en-US" b="1">
                <a:latin typeface="Times New Roman" panose="02020603050405020304" pitchFamily="18" charset="0"/>
              </a:rPr>
              <a:t>过程放热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07579" name="Text Box 59"/>
          <p:cNvSpPr txBox="1">
            <a:spLocks noChangeArrowheads="1"/>
          </p:cNvSpPr>
          <p:nvPr/>
        </p:nvSpPr>
        <p:spPr bwMode="auto">
          <a:xfrm>
            <a:off x="365125" y="6092825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所以</a:t>
            </a:r>
            <a:r>
              <a:rPr kumimoji="1" lang="en-US" altLang="zh-CN" b="1">
                <a:latin typeface="Times New Roman" panose="02020603050405020304" pitchFamily="18" charset="0"/>
              </a:rPr>
              <a:t>CM</a:t>
            </a:r>
            <a:r>
              <a:rPr kumimoji="1" lang="zh-CN" altLang="en-US" b="1">
                <a:latin typeface="Times New Roman" panose="02020603050405020304" pitchFamily="18" charset="0"/>
              </a:rPr>
              <a:t>过程为吸热过程。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5" grpId="0"/>
      <p:bldP spid="107566" grpId="0"/>
      <p:bldP spid="107567" grpId="0"/>
      <p:bldP spid="107568" grpId="0"/>
      <p:bldP spid="107569" grpId="0"/>
      <p:bldP spid="107578" grpId="0"/>
      <p:bldP spid="107579" grpId="0"/>
    </p:bldLst>
  </p:timing>
</p:sld>
</file>

<file path=ppt/slides/slide3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52400" y="188913"/>
            <a:ext cx="80010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7. 1mol</a:t>
            </a:r>
            <a:r>
              <a:rPr kumimoji="1" lang="zh-CN" altLang="en-US" b="1">
                <a:latin typeface="Times New Roman" panose="02020603050405020304" pitchFamily="18" charset="0"/>
              </a:rPr>
              <a:t>单原子分子理想气体的循环过程如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>
                <a:latin typeface="Times New Roman" panose="02020603050405020304" pitchFamily="18" charset="0"/>
              </a:rPr>
              <a:t>-</a:t>
            </a:r>
            <a:r>
              <a:rPr kumimoji="1" lang="en-US" altLang="zh-CN" b="1" i="1">
                <a:latin typeface="Times New Roman" panose="02020603050405020304" pitchFamily="18" charset="0"/>
              </a:rPr>
              <a:t>V</a:t>
            </a:r>
            <a:r>
              <a:rPr kumimoji="1" lang="zh-CN" altLang="en-US" b="1">
                <a:latin typeface="Times New Roman" panose="02020603050405020304" pitchFamily="18" charset="0"/>
              </a:rPr>
              <a:t>图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其中</a:t>
            </a:r>
            <a:r>
              <a:rPr kumimoji="1" lang="en-US" altLang="zh-CN" b="1">
                <a:latin typeface="Times New Roman" panose="02020603050405020304" pitchFamily="18" charset="0"/>
              </a:rPr>
              <a:t>c</a:t>
            </a:r>
            <a:r>
              <a:rPr kumimoji="1" lang="zh-CN" altLang="en-US" b="1">
                <a:latin typeface="Times New Roman" panose="02020603050405020304" pitchFamily="18" charset="0"/>
              </a:rPr>
              <a:t>点的温度为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c</a:t>
            </a:r>
            <a:r>
              <a:rPr kumimoji="1" lang="en-US" altLang="zh-CN" b="1">
                <a:latin typeface="Times New Roman" panose="02020603050405020304" pitchFamily="18" charset="0"/>
              </a:rPr>
              <a:t>=600K, 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(1)ab,bc,ca</a:t>
            </a:r>
            <a:r>
              <a:rPr kumimoji="1" lang="zh-CN" altLang="en-US" b="1">
                <a:latin typeface="Times New Roman" panose="02020603050405020304" pitchFamily="18" charset="0"/>
              </a:rPr>
              <a:t>各个过程系统吸收的热量</a:t>
            </a:r>
            <a:r>
              <a:rPr kumimoji="1" lang="en-US" altLang="zh-CN" b="1"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经一循环系统所作的净功</a:t>
            </a:r>
            <a:r>
              <a:rPr kumimoji="1" lang="en-US" altLang="zh-CN" b="1">
                <a:latin typeface="Times New Roman" panose="02020603050405020304" pitchFamily="18" charset="0"/>
              </a:rPr>
              <a:t>;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(3)</a:t>
            </a:r>
            <a:r>
              <a:rPr kumimoji="1" lang="zh-CN" altLang="en-US" b="1">
                <a:latin typeface="Times New Roman" panose="02020603050405020304" pitchFamily="18" charset="0"/>
              </a:rPr>
              <a:t>循环的效率；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(4)ab</a:t>
            </a:r>
            <a:r>
              <a:rPr kumimoji="1" lang="zh-CN" altLang="en-US" b="1">
                <a:latin typeface="Times New Roman" panose="02020603050405020304" pitchFamily="18" charset="0"/>
              </a:rPr>
              <a:t>过程的熵变。</a:t>
            </a:r>
          </a:p>
        </p:txBody>
      </p:sp>
      <p:grpSp>
        <p:nvGrpSpPr>
          <p:cNvPr id="12330" name="Group 42"/>
          <p:cNvGrpSpPr>
            <a:grpSpLocks/>
          </p:cNvGrpSpPr>
          <p:nvPr/>
        </p:nvGrpSpPr>
        <p:grpSpPr bwMode="auto">
          <a:xfrm>
            <a:off x="5940425" y="806450"/>
            <a:ext cx="3132138" cy="1974850"/>
            <a:chOff x="3787" y="527"/>
            <a:chExt cx="1973" cy="1244"/>
          </a:xfrm>
        </p:grpSpPr>
        <p:sp>
          <p:nvSpPr>
            <p:cNvPr id="12294" name="Line 6"/>
            <p:cNvSpPr>
              <a:spLocks noChangeShapeType="1"/>
            </p:cNvSpPr>
            <p:nvPr/>
          </p:nvSpPr>
          <p:spPr bwMode="auto">
            <a:xfrm flipV="1">
              <a:off x="3977" y="62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>
              <a:off x="3977" y="1487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6" name="AutoShape 8"/>
            <p:cNvSpPr>
              <a:spLocks noChangeArrowheads="1"/>
            </p:cNvSpPr>
            <p:nvPr/>
          </p:nvSpPr>
          <p:spPr bwMode="auto">
            <a:xfrm rot="5394170">
              <a:off x="4337" y="945"/>
              <a:ext cx="288" cy="528"/>
            </a:xfrm>
            <a:prstGeom prst="rtTriangle">
              <a:avLst/>
            </a:prstGeom>
            <a:noFill/>
            <a:ln w="38100">
              <a:solidFill>
                <a:schemeClr val="accent2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 flipV="1">
              <a:off x="3977" y="1209"/>
              <a:ext cx="528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>
              <a:off x="4217" y="134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4745" y="1055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flipH="1">
              <a:off x="4373" y="1067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 flipV="1">
              <a:off x="4217" y="1103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 rot="20697638" flipH="1">
              <a:off x="4337" y="1209"/>
              <a:ext cx="192" cy="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" name="Text Box 15"/>
            <p:cNvSpPr txBox="1">
              <a:spLocks noChangeArrowheads="1"/>
            </p:cNvSpPr>
            <p:nvPr/>
          </p:nvSpPr>
          <p:spPr bwMode="auto">
            <a:xfrm>
              <a:off x="4745" y="815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4025" y="1141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305" name="Text Box 17"/>
            <p:cNvSpPr txBox="1">
              <a:spLocks noChangeArrowheads="1"/>
            </p:cNvSpPr>
            <p:nvPr/>
          </p:nvSpPr>
          <p:spPr bwMode="auto">
            <a:xfrm>
              <a:off x="4073" y="815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306" name="Text Box 18"/>
            <p:cNvSpPr txBox="1">
              <a:spLocks noChangeArrowheads="1"/>
            </p:cNvSpPr>
            <p:nvPr/>
          </p:nvSpPr>
          <p:spPr bwMode="auto">
            <a:xfrm>
              <a:off x="3977" y="527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(K)</a:t>
              </a:r>
            </a:p>
          </p:txBody>
        </p:sp>
        <p:sp>
          <p:nvSpPr>
            <p:cNvPr id="12307" name="Text Box 19"/>
            <p:cNvSpPr txBox="1">
              <a:spLocks noChangeArrowheads="1"/>
            </p:cNvSpPr>
            <p:nvPr/>
          </p:nvSpPr>
          <p:spPr bwMode="auto">
            <a:xfrm>
              <a:off x="4841" y="1253"/>
              <a:ext cx="9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       V</a:t>
              </a:r>
            </a:p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kumimoji="1" lang="en-US" altLang="zh-CN" sz="2400" b="1" baseline="30%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400" b="1" baseline="30%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308" name="Text Box 20"/>
            <p:cNvSpPr txBox="1">
              <a:spLocks noChangeArrowheads="1"/>
            </p:cNvSpPr>
            <p:nvPr/>
          </p:nvSpPr>
          <p:spPr bwMode="auto">
            <a:xfrm>
              <a:off x="3787" y="142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2309" name="Text Box 21"/>
            <p:cNvSpPr txBox="1">
              <a:spLocks noChangeArrowheads="1"/>
            </p:cNvSpPr>
            <p:nvPr/>
          </p:nvSpPr>
          <p:spPr bwMode="auto">
            <a:xfrm>
              <a:off x="4649" y="144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310" name="Text Box 22"/>
            <p:cNvSpPr txBox="1">
              <a:spLocks noChangeArrowheads="1"/>
            </p:cNvSpPr>
            <p:nvPr/>
          </p:nvSpPr>
          <p:spPr bwMode="auto">
            <a:xfrm>
              <a:off x="4134" y="144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214313" y="282892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827088" y="2843213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zh-CN" altLang="en-US" b="1">
                <a:latin typeface="Times New Roman" panose="02020603050405020304" pitchFamily="18" charset="0"/>
              </a:rPr>
              <a:t>单原子分子的自由度</a:t>
            </a:r>
            <a:r>
              <a:rPr kumimoji="1" lang="en-US" altLang="zh-CN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>
                <a:latin typeface="Times New Roman" panose="02020603050405020304" pitchFamily="18" charset="0"/>
              </a:rPr>
              <a:t> =3; </a:t>
            </a:r>
            <a:r>
              <a:rPr kumimoji="1" lang="zh-CN" altLang="en-US" b="1">
                <a:latin typeface="Times New Roman" panose="02020603050405020304" pitchFamily="18" charset="0"/>
              </a:rPr>
              <a:t>图中可知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ab</a:t>
            </a:r>
            <a:r>
              <a:rPr kumimoji="1" lang="zh-CN" altLang="en-US" b="1">
                <a:latin typeface="Times New Roman" panose="02020603050405020304" pitchFamily="18" charset="0"/>
              </a:rPr>
              <a:t>是等压过程</a:t>
            </a:r>
            <a:r>
              <a:rPr kumimoji="1" lang="en-US" altLang="zh-CN" b="1">
                <a:latin typeface="Times New Roman" panose="02020603050405020304" pitchFamily="18" charset="0"/>
              </a:rPr>
              <a:t>,  bc</a:t>
            </a:r>
            <a:r>
              <a:rPr kumimoji="1" lang="zh-CN" altLang="en-US" b="1">
                <a:latin typeface="Times New Roman" panose="02020603050405020304" pitchFamily="18" charset="0"/>
              </a:rPr>
              <a:t>是等容过程</a:t>
            </a:r>
            <a:r>
              <a:rPr kumimoji="1" lang="en-US" altLang="zh-CN" b="1">
                <a:latin typeface="Times New Roman" panose="02020603050405020304" pitchFamily="18" charset="0"/>
              </a:rPr>
              <a:t>, ca </a:t>
            </a:r>
            <a:r>
              <a:rPr kumimoji="1" lang="zh-CN" altLang="en-US" b="1">
                <a:latin typeface="Times New Roman" panose="02020603050405020304" pitchFamily="18" charset="0"/>
              </a:rPr>
              <a:t>是等温过程</a:t>
            </a:r>
          </a:p>
        </p:txBody>
      </p:sp>
      <p:graphicFrame>
        <p:nvGraphicFramePr>
          <p:cNvPr id="12314" name="Object 26"/>
          <p:cNvGraphicFramePr>
            <a:graphicFrameLocks noChangeAspect="1"/>
          </p:cNvGraphicFramePr>
          <p:nvPr/>
        </p:nvGraphicFramePr>
        <p:xfrm>
          <a:off x="1038225" y="3962400"/>
          <a:ext cx="2789238" cy="584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379" name="Equation" r:id="rId3" imgW="1066680" imgH="228600" progId="Equation.3">
                  <p:embed/>
                </p:oleObj>
              </mc:Choice>
              <mc:Fallback>
                <p:oleObj name="Equation" r:id="rId3" imgW="106668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962400"/>
                        <a:ext cx="27892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5" name="Object 27"/>
          <p:cNvGraphicFramePr>
            <a:graphicFrameLocks noChangeAspect="1"/>
          </p:cNvGraphicFramePr>
          <p:nvPr/>
        </p:nvGraphicFramePr>
        <p:xfrm>
          <a:off x="4427538" y="3789363"/>
          <a:ext cx="2979737" cy="10429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380" name="Equation" r:id="rId5" imgW="1269720" imgH="444240" progId="Equation.3">
                  <p:embed/>
                </p:oleObj>
              </mc:Choice>
              <mc:Fallback>
                <p:oleObj name="Equation" r:id="rId5" imgW="1269720" imgH="4442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789363"/>
                        <a:ext cx="2979737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250825" y="47498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12326" name="Object 38"/>
          <p:cNvGraphicFramePr>
            <a:graphicFrameLocks noChangeAspect="1"/>
          </p:cNvGraphicFramePr>
          <p:nvPr/>
        </p:nvGraphicFramePr>
        <p:xfrm>
          <a:off x="741363" y="4568825"/>
          <a:ext cx="8223250" cy="98266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381" name="Equation" r:id="rId7" imgW="3352680" imgH="406080" progId="Equation.3">
                  <p:embed/>
                </p:oleObj>
              </mc:Choice>
              <mc:Fallback>
                <p:oleObj name="Equation" r:id="rId7" imgW="3352680" imgH="4060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4568825"/>
                        <a:ext cx="822325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7" name="Object 39"/>
          <p:cNvGraphicFramePr>
            <a:graphicFrameLocks noChangeAspect="1"/>
          </p:cNvGraphicFramePr>
          <p:nvPr/>
        </p:nvGraphicFramePr>
        <p:xfrm>
          <a:off x="755650" y="5589588"/>
          <a:ext cx="7477125" cy="10271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382" name="Equation" r:id="rId9" imgW="2958840" imgH="406080" progId="Equation.3">
                  <p:embed/>
                </p:oleObj>
              </mc:Choice>
              <mc:Fallback>
                <p:oleObj name="Equation" r:id="rId9" imgW="2958840" imgH="4060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589588"/>
                        <a:ext cx="7477125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1" grpId="0"/>
      <p:bldP spid="12312" grpId="0"/>
      <p:bldP spid="12325" grpId="0"/>
    </p:bldLst>
  </p:timing>
</p:sld>
</file>

<file path=ppt/slides/slide4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95288" y="1160463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971550" y="1160463"/>
          <a:ext cx="4810125" cy="61277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421" name="Equation" r:id="rId3" imgW="1790640" imgH="228600" progId="Equation.3">
                  <p:embed/>
                </p:oleObj>
              </mc:Choice>
              <mc:Fallback>
                <p:oleObj name="Equation" r:id="rId3" imgW="17906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60463"/>
                        <a:ext cx="481012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395288" y="18875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989013" y="1700213"/>
          <a:ext cx="3633787" cy="11271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422" name="Equation" r:id="rId5" imgW="1434960" imgH="444240" progId="Equation.3">
                  <p:embed/>
                </p:oleObj>
              </mc:Choice>
              <mc:Fallback>
                <p:oleObj name="Equation" r:id="rId5" imgW="143496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1700213"/>
                        <a:ext cx="3633787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8" name="Object 26"/>
          <p:cNvGraphicFramePr>
            <a:graphicFrameLocks noChangeAspect="1"/>
          </p:cNvGraphicFramePr>
          <p:nvPr/>
        </p:nvGraphicFramePr>
        <p:xfrm>
          <a:off x="576263" y="115888"/>
          <a:ext cx="4645025" cy="11445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3423" name="Equation" r:id="rId7" imgW="1625400" imgH="444240" progId="Equation.3">
                  <p:embed/>
                </p:oleObj>
              </mc:Choice>
              <mc:Fallback>
                <p:oleObj name="Equation" r:id="rId7" imgW="1625400" imgH="4442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15888"/>
                        <a:ext cx="4645025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395288" y="2882900"/>
            <a:ext cx="3744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(4) </a:t>
            </a:r>
            <a:r>
              <a:rPr kumimoji="1" lang="en-US" altLang="zh-CN" b="1">
                <a:latin typeface="Times New Roman" panose="02020603050405020304" pitchFamily="18" charset="0"/>
              </a:rPr>
              <a:t>ab</a:t>
            </a:r>
            <a:r>
              <a:rPr kumimoji="1" lang="zh-CN" altLang="en-US" b="1">
                <a:latin typeface="Times New Roman" panose="02020603050405020304" pitchFamily="18" charset="0"/>
              </a:rPr>
              <a:t>过程的熵变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3344" name="Group 32"/>
          <p:cNvGrpSpPr>
            <a:grpSpLocks/>
          </p:cNvGrpSpPr>
          <p:nvPr/>
        </p:nvGrpSpPr>
        <p:grpSpPr bwMode="auto">
          <a:xfrm>
            <a:off x="684213" y="3459163"/>
            <a:ext cx="7940675" cy="1122362"/>
            <a:chOff x="449" y="2619"/>
            <a:chExt cx="5002" cy="707"/>
          </a:xfrm>
        </p:grpSpPr>
        <p:graphicFrame>
          <p:nvGraphicFramePr>
            <p:cNvPr id="13342" name="Object 30"/>
            <p:cNvGraphicFramePr>
              <a:graphicFrameLocks noChangeAspect="1"/>
            </p:cNvGraphicFramePr>
            <p:nvPr/>
          </p:nvGraphicFramePr>
          <p:xfrm>
            <a:off x="449" y="2619"/>
            <a:ext cx="5002" cy="707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3424" name="Equation" r:id="rId9" imgW="3352680" imgH="457200" progId="Equation.3">
                    <p:embed/>
                  </p:oleObj>
                </mc:Choice>
                <mc:Fallback>
                  <p:oleObj name="Equation" r:id="rId9" imgW="3352680" imgH="457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" y="2619"/>
                          <a:ext cx="5002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3" name="Line 31"/>
            <p:cNvSpPr>
              <a:spLocks noChangeShapeType="1"/>
            </p:cNvSpPr>
            <p:nvPr/>
          </p:nvSpPr>
          <p:spPr bwMode="auto">
            <a:xfrm>
              <a:off x="1429" y="2750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49" name="Group 37"/>
          <p:cNvGrpSpPr>
            <a:grpSpLocks/>
          </p:cNvGrpSpPr>
          <p:nvPr/>
        </p:nvGrpSpPr>
        <p:grpSpPr bwMode="auto">
          <a:xfrm>
            <a:off x="5940425" y="331788"/>
            <a:ext cx="3132138" cy="1974850"/>
            <a:chOff x="3787" y="527"/>
            <a:chExt cx="1973" cy="1244"/>
          </a:xfrm>
        </p:grpSpPr>
        <p:sp>
          <p:nvSpPr>
            <p:cNvPr id="13350" name="Line 38"/>
            <p:cNvSpPr>
              <a:spLocks noChangeShapeType="1"/>
            </p:cNvSpPr>
            <p:nvPr/>
          </p:nvSpPr>
          <p:spPr bwMode="auto">
            <a:xfrm flipV="1">
              <a:off x="3977" y="62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1" name="Line 39"/>
            <p:cNvSpPr>
              <a:spLocks noChangeShapeType="1"/>
            </p:cNvSpPr>
            <p:nvPr/>
          </p:nvSpPr>
          <p:spPr bwMode="auto">
            <a:xfrm>
              <a:off x="3977" y="1487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2" name="AutoShape 40"/>
            <p:cNvSpPr>
              <a:spLocks noChangeArrowheads="1"/>
            </p:cNvSpPr>
            <p:nvPr/>
          </p:nvSpPr>
          <p:spPr bwMode="auto">
            <a:xfrm rot="5394170">
              <a:off x="4337" y="945"/>
              <a:ext cx="288" cy="528"/>
            </a:xfrm>
            <a:prstGeom prst="rtTriangle">
              <a:avLst/>
            </a:prstGeom>
            <a:noFill/>
            <a:ln w="38100">
              <a:solidFill>
                <a:schemeClr val="accent2"/>
              </a:solidFill>
              <a:miter lim="800%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3" name="Line 41"/>
            <p:cNvSpPr>
              <a:spLocks noChangeShapeType="1"/>
            </p:cNvSpPr>
            <p:nvPr/>
          </p:nvSpPr>
          <p:spPr bwMode="auto">
            <a:xfrm flipV="1">
              <a:off x="3977" y="1209"/>
              <a:ext cx="528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4" name="Line 42"/>
            <p:cNvSpPr>
              <a:spLocks noChangeShapeType="1"/>
            </p:cNvSpPr>
            <p:nvPr/>
          </p:nvSpPr>
          <p:spPr bwMode="auto">
            <a:xfrm>
              <a:off x="4217" y="134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5" name="Line 43"/>
            <p:cNvSpPr>
              <a:spLocks noChangeShapeType="1"/>
            </p:cNvSpPr>
            <p:nvPr/>
          </p:nvSpPr>
          <p:spPr bwMode="auto">
            <a:xfrm>
              <a:off x="4745" y="1055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Line 44"/>
            <p:cNvSpPr>
              <a:spLocks noChangeShapeType="1"/>
            </p:cNvSpPr>
            <p:nvPr/>
          </p:nvSpPr>
          <p:spPr bwMode="auto">
            <a:xfrm flipH="1">
              <a:off x="4373" y="1067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7" name="Line 45"/>
            <p:cNvSpPr>
              <a:spLocks noChangeShapeType="1"/>
            </p:cNvSpPr>
            <p:nvPr/>
          </p:nvSpPr>
          <p:spPr bwMode="auto">
            <a:xfrm flipV="1">
              <a:off x="4217" y="1103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8" name="Line 46"/>
            <p:cNvSpPr>
              <a:spLocks noChangeShapeType="1"/>
            </p:cNvSpPr>
            <p:nvPr/>
          </p:nvSpPr>
          <p:spPr bwMode="auto">
            <a:xfrm rot="20697638" flipH="1">
              <a:off x="4337" y="1209"/>
              <a:ext cx="192" cy="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9" name="Text Box 47"/>
            <p:cNvSpPr txBox="1">
              <a:spLocks noChangeArrowheads="1"/>
            </p:cNvSpPr>
            <p:nvPr/>
          </p:nvSpPr>
          <p:spPr bwMode="auto">
            <a:xfrm>
              <a:off x="4745" y="815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60" name="Text Box 48"/>
            <p:cNvSpPr txBox="1">
              <a:spLocks noChangeArrowheads="1"/>
            </p:cNvSpPr>
            <p:nvPr/>
          </p:nvSpPr>
          <p:spPr bwMode="auto">
            <a:xfrm>
              <a:off x="4025" y="1141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361" name="Text Box 49"/>
            <p:cNvSpPr txBox="1">
              <a:spLocks noChangeArrowheads="1"/>
            </p:cNvSpPr>
            <p:nvPr/>
          </p:nvSpPr>
          <p:spPr bwMode="auto">
            <a:xfrm>
              <a:off x="4073" y="815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362" name="Text Box 50"/>
            <p:cNvSpPr txBox="1">
              <a:spLocks noChangeArrowheads="1"/>
            </p:cNvSpPr>
            <p:nvPr/>
          </p:nvSpPr>
          <p:spPr bwMode="auto">
            <a:xfrm>
              <a:off x="3977" y="527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(K)</a:t>
              </a:r>
            </a:p>
          </p:txBody>
        </p:sp>
        <p:sp>
          <p:nvSpPr>
            <p:cNvPr id="13363" name="Text Box 51"/>
            <p:cNvSpPr txBox="1">
              <a:spLocks noChangeArrowheads="1"/>
            </p:cNvSpPr>
            <p:nvPr/>
          </p:nvSpPr>
          <p:spPr bwMode="auto">
            <a:xfrm>
              <a:off x="4841" y="1253"/>
              <a:ext cx="9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       V</a:t>
              </a:r>
            </a:p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kumimoji="1" lang="en-US" altLang="zh-CN" sz="2400" b="1" baseline="30%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400" b="1" baseline="30%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3364" name="Text Box 52"/>
            <p:cNvSpPr txBox="1">
              <a:spLocks noChangeArrowheads="1"/>
            </p:cNvSpPr>
            <p:nvPr/>
          </p:nvSpPr>
          <p:spPr bwMode="auto">
            <a:xfrm>
              <a:off x="3787" y="142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365" name="Text Box 53"/>
            <p:cNvSpPr txBox="1">
              <a:spLocks noChangeArrowheads="1"/>
            </p:cNvSpPr>
            <p:nvPr/>
          </p:nvSpPr>
          <p:spPr bwMode="auto">
            <a:xfrm>
              <a:off x="4649" y="144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66" name="Text Box 54"/>
            <p:cNvSpPr txBox="1">
              <a:spLocks noChangeArrowheads="1"/>
            </p:cNvSpPr>
            <p:nvPr/>
          </p:nvSpPr>
          <p:spPr bwMode="auto">
            <a:xfrm>
              <a:off x="4134" y="144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3372" name="Group 60"/>
          <p:cNvGrpSpPr>
            <a:grpSpLocks/>
          </p:cNvGrpSpPr>
          <p:nvPr/>
        </p:nvGrpSpPr>
        <p:grpSpPr bwMode="auto">
          <a:xfrm>
            <a:off x="250825" y="4652963"/>
            <a:ext cx="8642350" cy="1838325"/>
            <a:chOff x="158" y="2931"/>
            <a:chExt cx="5444" cy="1158"/>
          </a:xfrm>
        </p:grpSpPr>
        <p:sp>
          <p:nvSpPr>
            <p:cNvPr id="13367" name="Text Box 55"/>
            <p:cNvSpPr txBox="1">
              <a:spLocks noChangeArrowheads="1"/>
            </p:cNvSpPr>
            <p:nvPr/>
          </p:nvSpPr>
          <p:spPr bwMode="auto">
            <a:xfrm>
              <a:off x="158" y="2931"/>
              <a:ext cx="5444" cy="1158"/>
            </a:xfrm>
            <a:prstGeom prst="rect">
              <a:avLst/>
            </a:prstGeom>
            <a:solidFill>
              <a:srgbClr val="F3F7A7"/>
            </a:solidFill>
            <a:ln w="38100">
              <a:solidFill>
                <a:srgbClr val="FF3300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%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求克劳修斯熵的方法</a:t>
              </a:r>
              <a:r>
                <a:rPr lang="en-US" altLang="zh-CN" b="1">
                  <a:latin typeface="Times New Roman" panose="02020603050405020304" pitchFamily="18" charset="0"/>
                </a:rPr>
                <a:t>: </a:t>
              </a:r>
            </a:p>
            <a:p>
              <a:r>
                <a:rPr lang="zh-CN" altLang="en-US" b="1">
                  <a:latin typeface="Times New Roman" panose="02020603050405020304" pitchFamily="18" charset="0"/>
                </a:rPr>
                <a:t>确定好热力学过程</a:t>
              </a:r>
              <a:r>
                <a:rPr lang="en-US" altLang="zh-CN" b="1">
                  <a:latin typeface="Times New Roman" panose="02020603050405020304" pitchFamily="18" charset="0"/>
                </a:rPr>
                <a:t>,    </a:t>
              </a:r>
              <a:r>
                <a:rPr lang="zh-CN" altLang="en-US" b="1">
                  <a:latin typeface="Times New Roman" panose="02020603050405020304" pitchFamily="18" charset="0"/>
                </a:rPr>
                <a:t>然后在该热力学过程下如何表示</a:t>
              </a:r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i="1">
                  <a:latin typeface="Times New Roman" panose="02020603050405020304" pitchFamily="18" charset="0"/>
                </a:rPr>
                <a:t>Q </a:t>
              </a:r>
              <a:r>
                <a:rPr lang="en-US" altLang="zh-CN" b="1">
                  <a:latin typeface="Times New Roman" panose="02020603050405020304" pitchFamily="18" charset="0"/>
                </a:rPr>
                <a:t>, </a:t>
              </a:r>
              <a:r>
                <a:rPr lang="zh-CN" altLang="en-US" b="1">
                  <a:latin typeface="Times New Roman" panose="02020603050405020304" pitchFamily="18" charset="0"/>
                </a:rPr>
                <a:t>或由热力学第一定律写出</a:t>
              </a:r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i="1">
                  <a:latin typeface="Times New Roman" panose="02020603050405020304" pitchFamily="18" charset="0"/>
                </a:rPr>
                <a:t>Q=P</a:t>
              </a:r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i="1">
                  <a:latin typeface="Times New Roman" panose="02020603050405020304" pitchFamily="18" charset="0"/>
                </a:rPr>
                <a:t>V+</a:t>
              </a:r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i="1">
                  <a:latin typeface="Times New Roman" panose="02020603050405020304" pitchFamily="18" charset="0"/>
                </a:rPr>
                <a:t>E </a:t>
              </a:r>
              <a:r>
                <a:rPr lang="en-US" altLang="zh-CN" b="1">
                  <a:latin typeface="Times New Roman" panose="02020603050405020304" pitchFamily="18" charset="0"/>
                </a:rPr>
                <a:t>, </a:t>
              </a:r>
              <a:r>
                <a:rPr lang="zh-CN" altLang="en-US" b="1">
                  <a:latin typeface="Times New Roman" panose="02020603050405020304" pitchFamily="18" charset="0"/>
                </a:rPr>
                <a:t>最后由克劳修斯熵公式计算</a:t>
              </a:r>
            </a:p>
          </p:txBody>
        </p:sp>
        <p:sp>
          <p:nvSpPr>
            <p:cNvPr id="13368" name="Line 56"/>
            <p:cNvSpPr>
              <a:spLocks noChangeShapeType="1"/>
            </p:cNvSpPr>
            <p:nvPr/>
          </p:nvSpPr>
          <p:spPr bwMode="auto">
            <a:xfrm>
              <a:off x="260" y="3607"/>
              <a:ext cx="1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Line 59"/>
            <p:cNvSpPr>
              <a:spLocks noChangeShapeType="1"/>
            </p:cNvSpPr>
            <p:nvPr/>
          </p:nvSpPr>
          <p:spPr bwMode="auto">
            <a:xfrm>
              <a:off x="3201" y="3607"/>
              <a:ext cx="1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8" grpId="0"/>
      <p:bldP spid="13341" grpId="0"/>
    </p:bldLst>
  </p:timing>
</p:sld>
</file>

<file path=ppt/slides/slide4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5693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100m/s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的速度做匀速直线运动的容积为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10L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的绝热密闭容器中贮存了温度为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14g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理想氮气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当容器运动停止后氮气的温度变化多少？熵变化多少？设氮气分子是刚性的。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323850" y="2205038"/>
            <a:ext cx="4103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</a:rPr>
              <a:t>解</a:t>
            </a:r>
            <a:r>
              <a:rPr lang="en-US" altLang="zh-CN" b="1"/>
              <a:t>: </a:t>
            </a:r>
          </a:p>
        </p:txBody>
      </p:sp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9031" name="Object 7"/>
          <p:cNvGraphicFramePr>
            <a:graphicFrameLocks noChangeAspect="1"/>
          </p:cNvGraphicFramePr>
          <p:nvPr/>
        </p:nvGraphicFramePr>
        <p:xfrm>
          <a:off x="1482725" y="1998663"/>
          <a:ext cx="3376613" cy="10287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9087" name="公式" r:id="rId3" imgW="1434960" imgH="444240" progId="Equation.3">
                  <p:embed/>
                </p:oleObj>
              </mc:Choice>
              <mc:Fallback>
                <p:oleObj name="公式" r:id="rId3" imgW="143496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1998663"/>
                        <a:ext cx="3376613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2" name="Object 8"/>
          <p:cNvGraphicFramePr>
            <a:graphicFrameLocks noChangeAspect="1"/>
          </p:cNvGraphicFramePr>
          <p:nvPr/>
        </p:nvGraphicFramePr>
        <p:xfrm>
          <a:off x="941388" y="3065463"/>
          <a:ext cx="6373812" cy="9604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9088" name="公式" r:id="rId5" imgW="2781000" imgH="419040" progId="Equation.3">
                  <p:embed/>
                </p:oleObj>
              </mc:Choice>
              <mc:Fallback>
                <p:oleObj name="公式" r:id="rId5" imgW="278100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3065463"/>
                        <a:ext cx="63738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3" name="Text Box 9"/>
          <p:cNvSpPr txBox="1">
            <a:spLocks noChangeArrowheads="1"/>
          </p:cNvSpPr>
          <p:nvPr/>
        </p:nvSpPr>
        <p:spPr bwMode="auto">
          <a:xfrm>
            <a:off x="357188" y="4095750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用可逆等容过程代替这个不可逆等容过程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求熵变</a:t>
            </a:r>
          </a:p>
        </p:txBody>
      </p:sp>
      <p:sp>
        <p:nvSpPr>
          <p:cNvPr id="129034" name="Rectangle 10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9035" name="Object 11"/>
          <p:cNvGraphicFramePr>
            <a:graphicFrameLocks noChangeAspect="1"/>
          </p:cNvGraphicFramePr>
          <p:nvPr/>
        </p:nvGraphicFramePr>
        <p:xfrm>
          <a:off x="1054100" y="5722938"/>
          <a:ext cx="7766050" cy="10128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129089" name="公式" r:id="rId7" imgW="3454200" imgH="444240" progId="Equation.3">
                  <p:embed/>
                </p:oleObj>
              </mc:Choice>
              <mc:Fallback>
                <p:oleObj name="公式" r:id="rId7" imgW="345420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5722938"/>
                        <a:ext cx="776605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9036" name="Group 12"/>
          <p:cNvGrpSpPr>
            <a:grpSpLocks/>
          </p:cNvGrpSpPr>
          <p:nvPr/>
        </p:nvGrpSpPr>
        <p:grpSpPr bwMode="auto">
          <a:xfrm>
            <a:off x="566738" y="4652963"/>
            <a:ext cx="7029450" cy="1082675"/>
            <a:chOff x="357" y="2931"/>
            <a:chExt cx="4428" cy="682"/>
          </a:xfrm>
        </p:grpSpPr>
        <p:graphicFrame>
          <p:nvGraphicFramePr>
            <p:cNvPr id="129037" name="Object 13"/>
            <p:cNvGraphicFramePr>
              <a:graphicFrameLocks noChangeAspect="1"/>
            </p:cNvGraphicFramePr>
            <p:nvPr/>
          </p:nvGraphicFramePr>
          <p:xfrm>
            <a:off x="357" y="2931"/>
            <a:ext cx="4428" cy="682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129090" name="公式" r:id="rId9" imgW="3225600" imgH="457200" progId="Equation.3">
                    <p:embed/>
                  </p:oleObj>
                </mc:Choice>
                <mc:Fallback>
                  <p:oleObj name="公式" r:id="rId9" imgW="3225600" imgH="4572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2931"/>
                          <a:ext cx="4428" cy="6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9038" name="Line 14"/>
            <p:cNvSpPr>
              <a:spLocks noChangeShapeType="1"/>
            </p:cNvSpPr>
            <p:nvPr/>
          </p:nvSpPr>
          <p:spPr bwMode="auto">
            <a:xfrm>
              <a:off x="1087" y="3058"/>
              <a:ext cx="1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0" presetClass="entr" presetSubtype="0" decel="10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w+.3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h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/>
      <p:bldP spid="129033" grpId="0"/>
    </p:bldLst>
  </p:timing>
</p:sld>
</file>

<file path=ppt/slides/slide4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323850" y="255588"/>
            <a:ext cx="8640763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9. </a:t>
            </a:r>
            <a:r>
              <a:rPr kumimoji="1" lang="zh-CN" altLang="en-US" b="1">
                <a:latin typeface="Times New Roman" panose="02020603050405020304" pitchFamily="18" charset="0"/>
              </a:rPr>
              <a:t>一绝热容器被中间的隔板分成相等的两半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一半装有氦气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温度为</a:t>
            </a:r>
            <a:r>
              <a:rPr kumimoji="1" lang="en-US" altLang="zh-CN" b="1">
                <a:latin typeface="Times New Roman" panose="02020603050405020304" pitchFamily="18" charset="0"/>
              </a:rPr>
              <a:t>250K; </a:t>
            </a:r>
            <a:r>
              <a:rPr kumimoji="1" lang="zh-CN" altLang="en-US" b="1">
                <a:latin typeface="Times New Roman" panose="02020603050405020304" pitchFamily="18" charset="0"/>
              </a:rPr>
              <a:t>另一半装有氧气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温度为</a:t>
            </a:r>
            <a:r>
              <a:rPr kumimoji="1" lang="en-US" altLang="zh-CN" b="1">
                <a:latin typeface="Times New Roman" panose="02020603050405020304" pitchFamily="18" charset="0"/>
              </a:rPr>
              <a:t>310K, </a:t>
            </a:r>
            <a:r>
              <a:rPr kumimoji="1" lang="zh-CN" altLang="en-US" b="1">
                <a:latin typeface="Times New Roman" panose="02020603050405020304" pitchFamily="18" charset="0"/>
              </a:rPr>
              <a:t>二者压强相等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撤去隔板两种气体混合后的温度？ </a:t>
            </a:r>
          </a:p>
        </p:txBody>
      </p:sp>
      <p:graphicFrame>
        <p:nvGraphicFramePr>
          <p:cNvPr id="38931" name="Object 19"/>
          <p:cNvGraphicFramePr>
            <a:graphicFrameLocks noChangeAspect="1"/>
          </p:cNvGraphicFramePr>
          <p:nvPr/>
        </p:nvGraphicFramePr>
        <p:xfrm>
          <a:off x="395288" y="2997200"/>
          <a:ext cx="5040312" cy="5143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8962" name="公式" r:id="rId3" imgW="2120760" imgH="215640" progId="Equation.3">
                  <p:embed/>
                </p:oleObj>
              </mc:Choice>
              <mc:Fallback>
                <p:oleObj name="公式" r:id="rId3" imgW="212076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997200"/>
                        <a:ext cx="504031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468313" y="5084763"/>
          <a:ext cx="6624637" cy="155098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38963" name="公式" r:id="rId5" imgW="2527200" imgH="622080" progId="Equation.3">
                  <p:embed/>
                </p:oleObj>
              </mc:Choice>
              <mc:Fallback>
                <p:oleObj name="公式" r:id="rId5" imgW="2527200" imgH="622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084763"/>
                        <a:ext cx="6624637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323850" y="1700213"/>
            <a:ext cx="6048375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混合前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zh-CN" altLang="en-US" b="1">
                <a:latin typeface="Times New Roman" panose="02020603050405020304" pitchFamily="18" charset="0"/>
              </a:rPr>
              <a:t>对</a:t>
            </a:r>
            <a:r>
              <a:rPr lang="en-US" altLang="zh-CN" b="1">
                <a:latin typeface="Times New Roman" panose="02020603050405020304" pitchFamily="18" charset="0"/>
              </a:rPr>
              <a:t>He</a:t>
            </a:r>
            <a:r>
              <a:rPr lang="zh-CN" altLang="en-US" b="1">
                <a:latin typeface="Times New Roman" panose="02020603050405020304" pitchFamily="18" charset="0"/>
              </a:rPr>
              <a:t>气有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%">
                <a:latin typeface="Times New Roman" panose="02020603050405020304" pitchFamily="18" charset="0"/>
              </a:rPr>
              <a:t>1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%">
                <a:latin typeface="Times New Roman" panose="02020603050405020304" pitchFamily="18" charset="0"/>
              </a:rPr>
              <a:t>1</a:t>
            </a:r>
            <a:r>
              <a:rPr lang="en-US" altLang="zh-CN" b="1" i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RT</a:t>
            </a:r>
            <a:r>
              <a:rPr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对</a:t>
            </a:r>
            <a:r>
              <a:rPr lang="en-US" altLang="zh-CN" b="1">
                <a:latin typeface="Times New Roman" panose="02020603050405020304" pitchFamily="18" charset="0"/>
              </a:rPr>
              <a:t>O</a:t>
            </a:r>
            <a:r>
              <a:rPr lang="en-US" altLang="zh-CN" b="1" baseline="-25%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气有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%">
                <a:latin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%">
                <a:latin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RT</a:t>
            </a:r>
            <a:r>
              <a:rPr lang="en-US" altLang="zh-CN" b="1" baseline="-25%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,  </a:t>
            </a:r>
          </a:p>
        </p:txBody>
      </p:sp>
      <p:grpSp>
        <p:nvGrpSpPr>
          <p:cNvPr id="38935" name="Group 23"/>
          <p:cNvGrpSpPr>
            <a:grpSpLocks/>
          </p:cNvGrpSpPr>
          <p:nvPr/>
        </p:nvGrpSpPr>
        <p:grpSpPr bwMode="auto">
          <a:xfrm>
            <a:off x="6156325" y="1844675"/>
            <a:ext cx="2728913" cy="3424238"/>
            <a:chOff x="3923" y="1198"/>
            <a:chExt cx="1719" cy="2157"/>
          </a:xfrm>
        </p:grpSpPr>
        <p:grpSp>
          <p:nvGrpSpPr>
            <p:cNvPr id="38916" name="Group 4"/>
            <p:cNvGrpSpPr>
              <a:grpSpLocks/>
            </p:cNvGrpSpPr>
            <p:nvPr/>
          </p:nvGrpSpPr>
          <p:grpSpPr bwMode="auto">
            <a:xfrm>
              <a:off x="3923" y="2486"/>
              <a:ext cx="1632" cy="581"/>
              <a:chOff x="3504" y="2256"/>
              <a:chExt cx="1968" cy="720"/>
            </a:xfrm>
          </p:grpSpPr>
          <p:sp>
            <p:nvSpPr>
              <p:cNvPr id="38917" name="Rectangle 5" descr="宽上对角线"/>
              <p:cNvSpPr>
                <a:spLocks noChangeArrowheads="1"/>
              </p:cNvSpPr>
              <p:nvPr/>
            </p:nvSpPr>
            <p:spPr bwMode="auto">
              <a:xfrm>
                <a:off x="3504" y="2256"/>
                <a:ext cx="1968" cy="720"/>
              </a:xfrm>
              <a:prstGeom prst="rect">
                <a:avLst/>
              </a:prstGeom>
              <a:pattFill prst="wdUpDiag">
                <a:fgClr>
                  <a:srgbClr val="FF9900"/>
                </a:fgClr>
                <a:bgClr>
                  <a:srgbClr val="3333CC"/>
                </a:bgClr>
              </a:pattFill>
              <a:ln w="28575">
                <a:solidFill>
                  <a:schemeClr val="bg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18" name="Rectangle 6"/>
              <p:cNvSpPr>
                <a:spLocks noChangeArrowheads="1"/>
              </p:cNvSpPr>
              <p:nvPr/>
            </p:nvSpPr>
            <p:spPr bwMode="auto">
              <a:xfrm>
                <a:off x="3552" y="2304"/>
                <a:ext cx="1872" cy="62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bg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20" name="Group 8"/>
            <p:cNvGrpSpPr>
              <a:grpSpLocks/>
            </p:cNvGrpSpPr>
            <p:nvPr/>
          </p:nvGrpSpPr>
          <p:grpSpPr bwMode="auto">
            <a:xfrm>
              <a:off x="3923" y="1216"/>
              <a:ext cx="1632" cy="581"/>
              <a:chOff x="3504" y="2256"/>
              <a:chExt cx="1968" cy="720"/>
            </a:xfrm>
          </p:grpSpPr>
          <p:sp>
            <p:nvSpPr>
              <p:cNvPr id="38921" name="Rectangle 9" descr="宽上对角线"/>
              <p:cNvSpPr>
                <a:spLocks noChangeArrowheads="1"/>
              </p:cNvSpPr>
              <p:nvPr/>
            </p:nvSpPr>
            <p:spPr bwMode="auto">
              <a:xfrm>
                <a:off x="3504" y="2256"/>
                <a:ext cx="1968" cy="720"/>
              </a:xfrm>
              <a:prstGeom prst="rect">
                <a:avLst/>
              </a:prstGeom>
              <a:pattFill prst="wdUpDiag">
                <a:fgClr>
                  <a:srgbClr val="FF9900"/>
                </a:fgClr>
                <a:bgClr>
                  <a:srgbClr val="3333CC"/>
                </a:bgClr>
              </a:pattFill>
              <a:ln w="28575">
                <a:solidFill>
                  <a:schemeClr val="bg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22" name="Rectangle 10"/>
              <p:cNvSpPr>
                <a:spLocks noChangeArrowheads="1"/>
              </p:cNvSpPr>
              <p:nvPr/>
            </p:nvSpPr>
            <p:spPr bwMode="auto">
              <a:xfrm>
                <a:off x="3552" y="2304"/>
                <a:ext cx="1872" cy="62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bg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23" name="Text Box 11"/>
            <p:cNvSpPr txBox="1">
              <a:spLocks noChangeArrowheads="1"/>
            </p:cNvSpPr>
            <p:nvPr/>
          </p:nvSpPr>
          <p:spPr bwMode="auto">
            <a:xfrm>
              <a:off x="4106" y="1198"/>
              <a:ext cx="3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He</a:t>
              </a:r>
            </a:p>
          </p:txBody>
        </p:sp>
        <p:sp>
          <p:nvSpPr>
            <p:cNvPr id="38924" name="Text Box 12"/>
            <p:cNvSpPr txBox="1">
              <a:spLocks noChangeArrowheads="1"/>
            </p:cNvSpPr>
            <p:nvPr/>
          </p:nvSpPr>
          <p:spPr bwMode="auto">
            <a:xfrm>
              <a:off x="4918" y="1198"/>
              <a:ext cx="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en-US" altLang="zh-CN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en-US" altLang="zh-CN" b="1" baseline="-25%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b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4767" y="1225"/>
              <a:ext cx="0" cy="545"/>
            </a:xfrm>
            <a:prstGeom prst="line">
              <a:avLst/>
            </a:prstGeom>
            <a:noFill/>
            <a:ln w="762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Text Box 14"/>
            <p:cNvSpPr txBox="1">
              <a:spLocks noChangeArrowheads="1"/>
            </p:cNvSpPr>
            <p:nvPr/>
          </p:nvSpPr>
          <p:spPr bwMode="auto">
            <a:xfrm>
              <a:off x="4422" y="1793"/>
              <a:ext cx="7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rgbClr val="0033CC"/>
                  </a:solidFill>
                  <a:latin typeface="宋体" panose="02010600030101010101" pitchFamily="2" charset="-122"/>
                </a:rPr>
                <a:t>初态</a:t>
              </a:r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4010" y="1477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%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kumimoji="1" lang="en-US" altLang="zh-CN" sz="2000" b="1" baseline="-25%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r>
                <a:rPr kumimoji="1" lang="en-US" altLang="zh-CN" sz="2000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=250K</a:t>
              </a:r>
            </a:p>
          </p:txBody>
        </p:sp>
        <p:sp>
          <p:nvSpPr>
            <p:cNvPr id="38928" name="Text Box 16"/>
            <p:cNvSpPr txBox="1">
              <a:spLocks noChangeArrowheads="1"/>
            </p:cNvSpPr>
            <p:nvPr/>
          </p:nvSpPr>
          <p:spPr bwMode="auto">
            <a:xfrm>
              <a:off x="4778" y="1477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%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kumimoji="1" lang="en-US" altLang="zh-CN" sz="2000" b="1" baseline="-25%">
                  <a:latin typeface="Times New Roman" panose="02020603050405020304" pitchFamily="18" charset="0"/>
                  <a:ea typeface="华文中宋" panose="02010600040101010101" pitchFamily="2" charset="-122"/>
                </a:rPr>
                <a:t>2</a:t>
              </a:r>
              <a:r>
                <a:rPr kumimoji="1" lang="en-US" altLang="zh-CN" sz="2000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=310K</a:t>
              </a:r>
            </a:p>
          </p:txBody>
        </p:sp>
        <p:sp>
          <p:nvSpPr>
            <p:cNvPr id="38929" name="Text Box 17"/>
            <p:cNvSpPr txBox="1">
              <a:spLocks noChangeArrowheads="1"/>
            </p:cNvSpPr>
            <p:nvPr/>
          </p:nvSpPr>
          <p:spPr bwMode="auto">
            <a:xfrm>
              <a:off x="4332" y="2014"/>
              <a:ext cx="11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P</a:t>
              </a:r>
              <a:r>
                <a:rPr kumimoji="1" lang="en-US" altLang="zh-CN" b="1" baseline="-25%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r>
                <a:rPr kumimoji="1" lang="en-US" altLang="zh-CN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  =  </a:t>
              </a:r>
              <a:r>
                <a:rPr kumimoji="1" lang="en-US" altLang="zh-CN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P</a:t>
              </a:r>
              <a:r>
                <a:rPr kumimoji="1" lang="en-US" altLang="zh-CN" b="1" baseline="-25%">
                  <a:latin typeface="Times New Roman" panose="0202060305040502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38930" name="Text Box 18"/>
            <p:cNvSpPr txBox="1">
              <a:spLocks noChangeArrowheads="1"/>
            </p:cNvSpPr>
            <p:nvPr/>
          </p:nvSpPr>
          <p:spPr bwMode="auto">
            <a:xfrm>
              <a:off x="4486" y="2618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%"/>
                </a:spcBef>
                <a:spcAft>
                  <a:spcPct val="0%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%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  <a:ea typeface="华文中宋" panose="02010600040101010101" pitchFamily="2" charset="-122"/>
                </a:rPr>
                <a:t>T </a:t>
              </a:r>
              <a:r>
                <a:rPr kumimoji="1" lang="en-US" altLang="zh-CN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=?</a:t>
              </a:r>
            </a:p>
          </p:txBody>
        </p:sp>
        <p:sp>
          <p:nvSpPr>
            <p:cNvPr id="38934" name="Text Box 22"/>
            <p:cNvSpPr txBox="1">
              <a:spLocks noChangeArrowheads="1"/>
            </p:cNvSpPr>
            <p:nvPr/>
          </p:nvSpPr>
          <p:spPr bwMode="auto">
            <a:xfrm>
              <a:off x="4331" y="3067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%"/>
                </a:spcBef>
              </a:pPr>
              <a:r>
                <a:rPr kumimoji="1" lang="zh-CN" altLang="en-US" sz="2400" b="1">
                  <a:solidFill>
                    <a:srgbClr val="0033CC"/>
                  </a:solidFill>
                  <a:latin typeface="宋体" panose="02010600030101010101" pitchFamily="2" charset="-122"/>
                </a:rPr>
                <a:t>末态</a:t>
              </a:r>
            </a:p>
          </p:txBody>
        </p:sp>
      </p:grp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323850" y="3644900"/>
            <a:ext cx="56165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将</a:t>
            </a:r>
            <a:r>
              <a:rPr lang="en-US" altLang="zh-CN" b="1">
                <a:latin typeface="Times New Roman" panose="02020603050405020304" pitchFamily="18" charset="0"/>
              </a:rPr>
              <a:t>He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O</a:t>
            </a:r>
            <a:r>
              <a:rPr lang="en-US" altLang="zh-CN" b="1" baseline="-25%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看成一个系统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因绝热和对外不做功</a:t>
            </a:r>
            <a:r>
              <a:rPr lang="en-US" altLang="zh-CN" b="1">
                <a:latin typeface="Times New Roman" panose="02020603050405020304" pitchFamily="18" charset="0"/>
              </a:rPr>
              <a:t>,  </a:t>
            </a:r>
            <a:r>
              <a:rPr lang="zh-CN" altLang="en-US" b="1">
                <a:latin typeface="Times New Roman" panose="02020603050405020304" pitchFamily="18" charset="0"/>
              </a:rPr>
              <a:t>又热一律可知系统混合前后总内能相等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3" grpId="0"/>
      <p:bldP spid="38937" grpId="0"/>
    </p:bldLst>
  </p:timing>
</p:sld>
</file>

<file path=ppt/slides/slide4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30188" y="115888"/>
            <a:ext cx="8662987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%"/>
              </a:lnSpc>
            </a:pPr>
            <a:r>
              <a:rPr kumimoji="1" lang="en-US" altLang="zh-CN" b="1">
                <a:latin typeface="Times New Roman" panose="02020603050405020304" pitchFamily="18" charset="0"/>
              </a:rPr>
              <a:t>10. </a:t>
            </a:r>
            <a:r>
              <a:rPr kumimoji="1" lang="zh-CN" altLang="en-US" b="1">
                <a:latin typeface="Times New Roman" panose="02020603050405020304" pitchFamily="18" charset="0"/>
              </a:rPr>
              <a:t>汽缸</a:t>
            </a:r>
            <a:r>
              <a:rPr kumimoji="1" lang="en-US" altLang="zh-CN" b="1">
                <a:latin typeface="Times New Roman" panose="02020603050405020304" pitchFamily="18" charset="0"/>
              </a:rPr>
              <a:t>A, B</a:t>
            </a:r>
            <a:r>
              <a:rPr kumimoji="1" lang="zh-CN" altLang="en-US" b="1">
                <a:latin typeface="Times New Roman" panose="02020603050405020304" pitchFamily="18" charset="0"/>
              </a:rPr>
              <a:t>两室各盛 </a:t>
            </a:r>
            <a:r>
              <a:rPr kumimoji="1" lang="en-US" altLang="zh-CN" b="1">
                <a:latin typeface="Times New Roman" panose="02020603050405020304" pitchFamily="18" charset="0"/>
              </a:rPr>
              <a:t>1mol</a:t>
            </a:r>
            <a:r>
              <a:rPr kumimoji="1" lang="en-US" altLang="zh-CN" b="1" i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理想氮气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现将</a:t>
            </a:r>
            <a:r>
              <a:rPr kumimoji="1" lang="en-US" altLang="zh-CN" b="1">
                <a:latin typeface="Times New Roman" panose="02020603050405020304" pitchFamily="18" charset="0"/>
              </a:rPr>
              <a:t>335J </a:t>
            </a:r>
            <a:r>
              <a:rPr kumimoji="1" lang="zh-CN" altLang="en-US" b="1">
                <a:latin typeface="Times New Roman" panose="02020603050405020304" pitchFamily="18" charset="0"/>
              </a:rPr>
              <a:t>热量由底部缓缓传给气体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活塞上始终保持 </a:t>
            </a:r>
            <a:r>
              <a:rPr kumimoji="1" lang="en-US" altLang="zh-CN" b="1">
                <a:latin typeface="Times New Roman" panose="02020603050405020304" pitchFamily="18" charset="0"/>
              </a:rPr>
              <a:t>1 atm </a:t>
            </a:r>
            <a:r>
              <a:rPr kumimoji="1" lang="zh-CN" altLang="en-US" b="1">
                <a:latin typeface="Times New Roman" panose="02020603050405020304" pitchFamily="18" charset="0"/>
              </a:rPr>
              <a:t>的压强 </a:t>
            </a:r>
          </a:p>
          <a:p>
            <a:pPr>
              <a:lnSpc>
                <a:spcPct val="105%"/>
              </a:lnSpc>
            </a:pPr>
            <a:r>
              <a:rPr kumimoji="1" lang="en-US" altLang="zh-CN" b="1">
                <a:latin typeface="Times New Roman" panose="02020603050405020304" pitchFamily="18" charset="0"/>
              </a:rPr>
              <a:t>1)</a:t>
            </a:r>
            <a:r>
              <a:rPr kumimoji="1" lang="zh-CN" altLang="en-US" b="1">
                <a:latin typeface="Times New Roman" panose="02020603050405020304" pitchFamily="18" charset="0"/>
              </a:rPr>
              <a:t>若隔板导热且固定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</a:rPr>
              <a:t>A, B </a:t>
            </a:r>
            <a:r>
              <a:rPr kumimoji="1" lang="zh-CN" altLang="en-US" b="1">
                <a:latin typeface="Times New Roman" panose="02020603050405020304" pitchFamily="18" charset="0"/>
              </a:rPr>
              <a:t>两室的温度变化及吸收热量</a:t>
            </a:r>
            <a:r>
              <a:rPr kumimoji="1" lang="en-US" altLang="zh-CN" b="1">
                <a:latin typeface="Times New Roman" panose="02020603050405020304" pitchFamily="18" charset="0"/>
              </a:rPr>
              <a:t>; 2) </a:t>
            </a:r>
            <a:r>
              <a:rPr kumimoji="1" lang="zh-CN" altLang="en-US" b="1">
                <a:latin typeface="Times New Roman" panose="02020603050405020304" pitchFamily="18" charset="0"/>
              </a:rPr>
              <a:t>若隔板可自由滑动且绝热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情况怎样</a:t>
            </a:r>
            <a:r>
              <a:rPr kumimoji="1" lang="en-US" altLang="zh-CN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62500" name="Line 36"/>
          <p:cNvSpPr>
            <a:spLocks noChangeShapeType="1"/>
          </p:cNvSpPr>
          <p:nvPr/>
        </p:nvSpPr>
        <p:spPr bwMode="auto">
          <a:xfrm>
            <a:off x="7069138" y="4738688"/>
            <a:ext cx="1447800" cy="0"/>
          </a:xfrm>
          <a:prstGeom prst="line">
            <a:avLst/>
          </a:prstGeom>
          <a:noFill/>
          <a:ln w="76200">
            <a:pattFill prst="dkUpDiag">
              <a:fgClr>
                <a:schemeClr val="tx1"/>
              </a:fgClr>
              <a:bgClr>
                <a:schemeClr val="bg1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1" name="Text Box 37"/>
          <p:cNvSpPr txBox="1">
            <a:spLocks noChangeArrowheads="1"/>
          </p:cNvSpPr>
          <p:nvPr/>
        </p:nvSpPr>
        <p:spPr bwMode="auto">
          <a:xfrm>
            <a:off x="250825" y="1998663"/>
            <a:ext cx="64087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b="1">
                <a:latin typeface="Times New Roman" panose="02020603050405020304" pitchFamily="18" charset="0"/>
              </a:rPr>
              <a:t> 1) </a:t>
            </a:r>
            <a:r>
              <a:rPr kumimoji="1" lang="zh-CN" altLang="en-US" b="1">
                <a:latin typeface="Times New Roman" panose="02020603050405020304" pitchFamily="18" charset="0"/>
              </a:rPr>
              <a:t>因隔板可自由导热</a:t>
            </a:r>
            <a:r>
              <a:rPr kumimoji="1" lang="en-US" altLang="zh-CN" b="1">
                <a:latin typeface="Times New Roman" panose="02020603050405020304" pitchFamily="18" charset="0"/>
              </a:rPr>
              <a:t>, A, B</a:t>
            </a:r>
            <a:r>
              <a:rPr kumimoji="1" lang="en-US" altLang="zh-CN" sz="900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两室</a:t>
            </a:r>
          </a:p>
          <a:p>
            <a:r>
              <a:rPr kumimoji="1" lang="zh-CN" altLang="en-US" b="1">
                <a:latin typeface="Times New Roman" panose="02020603050405020304" pitchFamily="18" charset="0"/>
              </a:rPr>
              <a:t>温度始终相等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温度变化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也相等。</a:t>
            </a:r>
          </a:p>
        </p:txBody>
      </p:sp>
      <p:sp>
        <p:nvSpPr>
          <p:cNvPr id="62502" name="Text Box 38"/>
          <p:cNvSpPr txBox="1">
            <a:spLocks noChangeArrowheads="1"/>
          </p:cNvSpPr>
          <p:nvPr/>
        </p:nvSpPr>
        <p:spPr bwMode="auto">
          <a:xfrm>
            <a:off x="223838" y="2935288"/>
            <a:ext cx="5572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latin typeface="Times New Roman" panose="02020603050405020304" pitchFamily="18" charset="0"/>
              </a:rPr>
              <a:t>设 </a:t>
            </a:r>
            <a:r>
              <a:rPr kumimoji="1" lang="en-US" altLang="zh-CN" b="1">
                <a:latin typeface="Times New Roman" panose="02020603050405020304" pitchFamily="18" charset="0"/>
              </a:rPr>
              <a:t>A </a:t>
            </a:r>
            <a:r>
              <a:rPr kumimoji="1" lang="zh-CN" altLang="en-US" b="1">
                <a:latin typeface="Times New Roman" panose="02020603050405020304" pitchFamily="18" charset="0"/>
              </a:rPr>
              <a:t>吸热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向 </a:t>
            </a:r>
            <a:r>
              <a:rPr kumimoji="1" lang="en-US" altLang="zh-CN" b="1">
                <a:latin typeface="Times New Roman" panose="02020603050405020304" pitchFamily="18" charset="0"/>
              </a:rPr>
              <a:t>B </a:t>
            </a:r>
            <a:r>
              <a:rPr kumimoji="1" lang="zh-CN" altLang="en-US" b="1">
                <a:latin typeface="Times New Roman" panose="02020603050405020304" pitchFamily="18" charset="0"/>
              </a:rPr>
              <a:t>中放热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 i="1" baseline="30%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62503" name="Object 39"/>
          <p:cNvGraphicFramePr>
            <a:graphicFrameLocks noChangeAspect="1"/>
          </p:cNvGraphicFramePr>
          <p:nvPr/>
        </p:nvGraphicFramePr>
        <p:xfrm>
          <a:off x="922338" y="4662488"/>
          <a:ext cx="4586287" cy="9112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2577" name="Equation" r:id="rId3" imgW="2044440" imgH="406080" progId="Equation.3">
                  <p:embed/>
                </p:oleObj>
              </mc:Choice>
              <mc:Fallback>
                <p:oleObj name="Equation" r:id="rId3" imgW="2044440" imgH="4060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4662488"/>
                        <a:ext cx="45862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88925" y="3495675"/>
            <a:ext cx="2266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A</a:t>
            </a:r>
            <a:r>
              <a:rPr kumimoji="1" lang="zh-CN" altLang="en-US" b="1">
                <a:latin typeface="Times New Roman" panose="02020603050405020304" pitchFamily="18" charset="0"/>
              </a:rPr>
              <a:t>：等容</a:t>
            </a:r>
          </a:p>
        </p:txBody>
      </p:sp>
      <p:graphicFrame>
        <p:nvGraphicFramePr>
          <p:cNvPr id="62505" name="Object 41"/>
          <p:cNvGraphicFramePr>
            <a:graphicFrameLocks noChangeAspect="1"/>
          </p:cNvGraphicFramePr>
          <p:nvPr/>
        </p:nvGraphicFramePr>
        <p:xfrm>
          <a:off x="1903413" y="3438525"/>
          <a:ext cx="4684712" cy="6556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2578" name="Equation" r:id="rId5" imgW="1726920" imgH="241200" progId="Equation.3">
                  <p:embed/>
                </p:oleObj>
              </mc:Choice>
              <mc:Fallback>
                <p:oleObj name="Equation" r:id="rId5" imgW="1726920" imgH="2412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3438525"/>
                        <a:ext cx="4684712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6" name="Text Box 42"/>
          <p:cNvSpPr txBox="1">
            <a:spLocks noChangeArrowheads="1"/>
          </p:cNvSpPr>
          <p:nvPr/>
        </p:nvSpPr>
        <p:spPr bwMode="auto">
          <a:xfrm>
            <a:off x="317500" y="4087813"/>
            <a:ext cx="2382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B</a:t>
            </a:r>
            <a:r>
              <a:rPr kumimoji="1" lang="zh-CN" altLang="en-US" b="1">
                <a:latin typeface="Times New Roman" panose="02020603050405020304" pitchFamily="18" charset="0"/>
              </a:rPr>
              <a:t>：等压</a:t>
            </a:r>
          </a:p>
        </p:txBody>
      </p:sp>
      <p:graphicFrame>
        <p:nvGraphicFramePr>
          <p:cNvPr id="62507" name="Object 43"/>
          <p:cNvGraphicFramePr>
            <a:graphicFrameLocks noChangeAspect="1"/>
          </p:cNvGraphicFramePr>
          <p:nvPr/>
        </p:nvGraphicFramePr>
        <p:xfrm>
          <a:off x="1800225" y="4087813"/>
          <a:ext cx="4013200" cy="6588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2579" name="Equation" r:id="rId7" imgW="1473120" imgH="241200" progId="Equation.3">
                  <p:embed/>
                </p:oleObj>
              </mc:Choice>
              <mc:Fallback>
                <p:oleObj name="Equation" r:id="rId7" imgW="1473120" imgH="2412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4087813"/>
                        <a:ext cx="401320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8" name="Text Box 44"/>
          <p:cNvSpPr txBox="1">
            <a:spLocks noChangeArrowheads="1"/>
          </p:cNvSpPr>
          <p:nvPr/>
        </p:nvSpPr>
        <p:spPr bwMode="auto">
          <a:xfrm>
            <a:off x="288925" y="5599113"/>
            <a:ext cx="1835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B </a:t>
            </a:r>
            <a:r>
              <a:rPr kumimoji="1" lang="zh-CN" altLang="en-US" b="1">
                <a:latin typeface="Times New Roman" panose="02020603050405020304" pitchFamily="18" charset="0"/>
              </a:rPr>
              <a:t>吸热</a:t>
            </a:r>
            <a:r>
              <a:rPr kumimoji="1" lang="en-US" altLang="zh-CN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62509" name="Object 45"/>
          <p:cNvGraphicFramePr>
            <a:graphicFrameLocks noChangeAspect="1"/>
          </p:cNvGraphicFramePr>
          <p:nvPr/>
        </p:nvGraphicFramePr>
        <p:xfrm>
          <a:off x="1692275" y="5589588"/>
          <a:ext cx="4895850" cy="5461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2580" name="Equation" r:id="rId9" imgW="1726920" imgH="228600" progId="Equation.3">
                  <p:embed/>
                </p:oleObj>
              </mc:Choice>
              <mc:Fallback>
                <p:oleObj name="Equation" r:id="rId9" imgW="1726920" imgH="2286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589588"/>
                        <a:ext cx="48958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10" name="Text Box 46"/>
          <p:cNvSpPr txBox="1">
            <a:spLocks noChangeArrowheads="1"/>
          </p:cNvSpPr>
          <p:nvPr/>
        </p:nvSpPr>
        <p:spPr bwMode="auto">
          <a:xfrm>
            <a:off x="288925" y="6103938"/>
            <a:ext cx="6011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A </a:t>
            </a:r>
            <a:r>
              <a:rPr kumimoji="1" lang="zh-CN" altLang="en-US" b="1">
                <a:latin typeface="Times New Roman" panose="02020603050405020304" pitchFamily="18" charset="0"/>
              </a:rPr>
              <a:t>净吸热</a:t>
            </a:r>
            <a:r>
              <a:rPr kumimoji="1" lang="en-US" altLang="zh-CN" b="1">
                <a:latin typeface="Times New Roman" panose="02020603050405020304" pitchFamily="18" charset="0"/>
              </a:rPr>
              <a:t>:  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zh-CN" altLang="en-US" b="1">
                <a:latin typeface="Times New Roman" panose="02020603050405020304" pitchFamily="18" charset="0"/>
              </a:rPr>
              <a:t>－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= 139 [J]</a:t>
            </a:r>
          </a:p>
        </p:txBody>
      </p:sp>
      <p:sp>
        <p:nvSpPr>
          <p:cNvPr id="62512" name="Rectangle 48" descr="10%"/>
          <p:cNvSpPr>
            <a:spLocks noChangeArrowheads="1"/>
          </p:cNvSpPr>
          <p:nvPr/>
        </p:nvSpPr>
        <p:spPr bwMode="auto">
          <a:xfrm>
            <a:off x="7108825" y="2840038"/>
            <a:ext cx="1376363" cy="1871662"/>
          </a:xfrm>
          <a:prstGeom prst="rect">
            <a:avLst/>
          </a:prstGeom>
          <a:pattFill prst="pct10">
            <a:fgClr>
              <a:schemeClr val="bg1">
                <a:alpha val="50%"/>
              </a:schemeClr>
            </a:fgClr>
            <a:bgClr>
              <a:schemeClr val="hlink">
                <a:alpha val="50%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13" name="Rectangle 49" descr="宽上对角线"/>
          <p:cNvSpPr>
            <a:spLocks noChangeArrowheads="1"/>
          </p:cNvSpPr>
          <p:nvPr/>
        </p:nvSpPr>
        <p:spPr bwMode="auto">
          <a:xfrm>
            <a:off x="7069138" y="3702050"/>
            <a:ext cx="1447800" cy="152400"/>
          </a:xfrm>
          <a:prstGeom prst="rect">
            <a:avLst/>
          </a:prstGeom>
          <a:pattFill prst="wdUpDiag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14" name="Line 50"/>
          <p:cNvSpPr>
            <a:spLocks noChangeShapeType="1"/>
          </p:cNvSpPr>
          <p:nvPr/>
        </p:nvSpPr>
        <p:spPr bwMode="auto">
          <a:xfrm>
            <a:off x="7069138" y="2559050"/>
            <a:ext cx="0" cy="2209800"/>
          </a:xfrm>
          <a:prstGeom prst="line">
            <a:avLst/>
          </a:prstGeom>
          <a:noFill/>
          <a:ln w="76200">
            <a:pattFill prst="lgConfetti">
              <a:fgClr>
                <a:srgbClr val="CC6600"/>
              </a:fgClr>
              <a:bgClr>
                <a:schemeClr val="tx1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5" name="Line 51"/>
          <p:cNvSpPr>
            <a:spLocks noChangeShapeType="1"/>
          </p:cNvSpPr>
          <p:nvPr/>
        </p:nvSpPr>
        <p:spPr bwMode="auto">
          <a:xfrm>
            <a:off x="8505825" y="2559050"/>
            <a:ext cx="0" cy="2209800"/>
          </a:xfrm>
          <a:prstGeom prst="line">
            <a:avLst/>
          </a:prstGeom>
          <a:noFill/>
          <a:ln w="76200">
            <a:pattFill prst="lgConfetti">
              <a:fgClr>
                <a:srgbClr val="CC6600"/>
              </a:fgClr>
              <a:bgClr>
                <a:schemeClr val="tx1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6" name="Text Box 52"/>
          <p:cNvSpPr txBox="1">
            <a:spLocks noChangeArrowheads="1"/>
          </p:cNvSpPr>
          <p:nvPr/>
        </p:nvSpPr>
        <p:spPr bwMode="auto">
          <a:xfrm>
            <a:off x="7923213" y="4132263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2517" name="Text Box 53"/>
          <p:cNvSpPr txBox="1">
            <a:spLocks noChangeArrowheads="1"/>
          </p:cNvSpPr>
          <p:nvPr/>
        </p:nvSpPr>
        <p:spPr bwMode="auto">
          <a:xfrm>
            <a:off x="7929563" y="31369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2518" name="Text Box 54"/>
          <p:cNvSpPr txBox="1">
            <a:spLocks noChangeArrowheads="1"/>
          </p:cNvSpPr>
          <p:nvPr/>
        </p:nvSpPr>
        <p:spPr bwMode="auto">
          <a:xfrm>
            <a:off x="6443663" y="20986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>
                <a:latin typeface="Times New Roman" panose="02020603050405020304" pitchFamily="18" charset="0"/>
              </a:rPr>
              <a:t>绝热</a:t>
            </a:r>
          </a:p>
        </p:txBody>
      </p:sp>
      <p:sp>
        <p:nvSpPr>
          <p:cNvPr id="62519" name="Freeform 55"/>
          <p:cNvSpPr>
            <a:spLocks/>
          </p:cNvSpPr>
          <p:nvPr/>
        </p:nvSpPr>
        <p:spPr bwMode="auto">
          <a:xfrm>
            <a:off x="6697663" y="2492375"/>
            <a:ext cx="342900" cy="1047750"/>
          </a:xfrm>
          <a:custGeom>
            <a:avLst/>
            <a:gdLst>
              <a:gd name="T0" fmla="*/ 0 w 216"/>
              <a:gd name="T1" fmla="*/ 0 h 660"/>
              <a:gd name="T2" fmla="*/ 24 w 216"/>
              <a:gd name="T3" fmla="*/ 213 h 660"/>
              <a:gd name="T4" fmla="*/ 90 w 216"/>
              <a:gd name="T5" fmla="*/ 441 h 660"/>
              <a:gd name="T6" fmla="*/ 216 w 216"/>
              <a:gd name="T7" fmla="*/ 66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" h="660">
                <a:moveTo>
                  <a:pt x="0" y="0"/>
                </a:moveTo>
                <a:cubicBezTo>
                  <a:pt x="4" y="35"/>
                  <a:pt x="9" y="140"/>
                  <a:pt x="24" y="213"/>
                </a:cubicBezTo>
                <a:cubicBezTo>
                  <a:pt x="39" y="286"/>
                  <a:pt x="58" y="366"/>
                  <a:pt x="90" y="441"/>
                </a:cubicBezTo>
                <a:cubicBezTo>
                  <a:pt x="122" y="516"/>
                  <a:pt x="190" y="615"/>
                  <a:pt x="216" y="6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20" name="Text Box 56"/>
          <p:cNvSpPr txBox="1">
            <a:spLocks noChangeArrowheads="1"/>
          </p:cNvSpPr>
          <p:nvPr/>
        </p:nvSpPr>
        <p:spPr bwMode="auto">
          <a:xfrm>
            <a:off x="7092950" y="3860800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>
                <a:latin typeface="Times New Roman" panose="02020603050405020304" pitchFamily="18" charset="0"/>
              </a:rPr>
              <a:t>导热固定</a:t>
            </a:r>
          </a:p>
        </p:txBody>
      </p:sp>
      <p:grpSp>
        <p:nvGrpSpPr>
          <p:cNvPr id="62521" name="Group 57"/>
          <p:cNvGrpSpPr>
            <a:grpSpLocks/>
          </p:cNvGrpSpPr>
          <p:nvPr/>
        </p:nvGrpSpPr>
        <p:grpSpPr bwMode="auto">
          <a:xfrm>
            <a:off x="7105650" y="2025650"/>
            <a:ext cx="1427163" cy="1152525"/>
            <a:chOff x="4476" y="663"/>
            <a:chExt cx="899" cy="726"/>
          </a:xfrm>
        </p:grpSpPr>
        <p:sp>
          <p:nvSpPr>
            <p:cNvPr id="62522" name="Rectangle 58"/>
            <p:cNvSpPr>
              <a:spLocks noChangeArrowheads="1"/>
            </p:cNvSpPr>
            <p:nvPr/>
          </p:nvSpPr>
          <p:spPr bwMode="auto">
            <a:xfrm>
              <a:off x="4476" y="1162"/>
              <a:ext cx="861" cy="227"/>
            </a:xfrm>
            <a:prstGeom prst="rect">
              <a:avLst/>
            </a:prstGeom>
            <a:gradFill rotWithShape="0">
              <a:gsLst>
                <a:gs pos="0%">
                  <a:srgbClr val="FF6600">
                    <a:gamma/>
                    <a:shade val="0%"/>
                    <a:invGamma/>
                  </a:srgbClr>
                </a:gs>
                <a:gs pos="50%">
                  <a:srgbClr val="FF6600"/>
                </a:gs>
                <a:gs pos="100%">
                  <a:srgbClr val="FF6600">
                    <a:gamma/>
                    <a:shade val="0%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3" name="Rectangle 59"/>
            <p:cNvSpPr>
              <a:spLocks noChangeArrowheads="1"/>
            </p:cNvSpPr>
            <p:nvPr/>
          </p:nvSpPr>
          <p:spPr bwMode="auto">
            <a:xfrm>
              <a:off x="4830" y="799"/>
              <a:ext cx="144" cy="384"/>
            </a:xfrm>
            <a:prstGeom prst="rect">
              <a:avLst/>
            </a:prstGeom>
            <a:gradFill rotWithShape="0">
              <a:gsLst>
                <a:gs pos="0%">
                  <a:srgbClr val="FF6600">
                    <a:gamma/>
                    <a:shade val="36.863%"/>
                    <a:invGamma/>
                  </a:srgbClr>
                </a:gs>
                <a:gs pos="50%">
                  <a:srgbClr val="FF6600"/>
                </a:gs>
                <a:gs pos="100%">
                  <a:srgbClr val="FF6600">
                    <a:gamma/>
                    <a:shade val="36.863%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4" name="Text Box 60"/>
            <p:cNvSpPr txBox="1">
              <a:spLocks noChangeArrowheads="1"/>
            </p:cNvSpPr>
            <p:nvPr/>
          </p:nvSpPr>
          <p:spPr bwMode="auto">
            <a:xfrm>
              <a:off x="4939" y="663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活塞</a:t>
              </a:r>
            </a:p>
          </p:txBody>
        </p:sp>
      </p:grpSp>
      <p:sp>
        <p:nvSpPr>
          <p:cNvPr id="62525" name="Freeform 61"/>
          <p:cNvSpPr>
            <a:spLocks/>
          </p:cNvSpPr>
          <p:nvPr/>
        </p:nvSpPr>
        <p:spPr bwMode="auto">
          <a:xfrm>
            <a:off x="7092950" y="2349500"/>
            <a:ext cx="431800" cy="288925"/>
          </a:xfrm>
          <a:custGeom>
            <a:avLst/>
            <a:gdLst>
              <a:gd name="T0" fmla="*/ 0 w 123"/>
              <a:gd name="T1" fmla="*/ 0 h 228"/>
              <a:gd name="T2" fmla="*/ 123 w 123"/>
              <a:gd name="T3" fmla="*/ 228 h 2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3" h="228">
                <a:moveTo>
                  <a:pt x="0" y="0"/>
                </a:moveTo>
                <a:cubicBezTo>
                  <a:pt x="20" y="38"/>
                  <a:pt x="98" y="181"/>
                  <a:pt x="123" y="2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2526" name="Group 62"/>
          <p:cNvGrpSpPr>
            <a:grpSpLocks/>
          </p:cNvGrpSpPr>
          <p:nvPr/>
        </p:nvGrpSpPr>
        <p:grpSpPr bwMode="auto">
          <a:xfrm>
            <a:off x="7164388" y="4508500"/>
            <a:ext cx="1079500" cy="1008063"/>
            <a:chOff x="4513" y="2840"/>
            <a:chExt cx="680" cy="635"/>
          </a:xfrm>
        </p:grpSpPr>
        <p:sp>
          <p:nvSpPr>
            <p:cNvPr id="62527" name="AutoShape 63"/>
            <p:cNvSpPr>
              <a:spLocks noChangeArrowheads="1"/>
            </p:cNvSpPr>
            <p:nvPr/>
          </p:nvSpPr>
          <p:spPr bwMode="auto">
            <a:xfrm>
              <a:off x="4731" y="2840"/>
              <a:ext cx="288" cy="384"/>
            </a:xfrm>
            <a:prstGeom prst="upArrow">
              <a:avLst>
                <a:gd name="adj1" fmla="val 41667"/>
                <a:gd name="adj2" fmla="val 73265"/>
              </a:avLst>
            </a:prstGeom>
            <a:solidFill>
              <a:srgbClr val="FF6600"/>
            </a:solidFill>
            <a:ln w="25400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62528" name="Text Box 64"/>
            <p:cNvSpPr txBox="1">
              <a:spLocks noChangeArrowheads="1"/>
            </p:cNvSpPr>
            <p:nvPr/>
          </p:nvSpPr>
          <p:spPr bwMode="auto">
            <a:xfrm>
              <a:off x="4513" y="3225"/>
              <a:ext cx="6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000" b="1">
                  <a:latin typeface="Times New Roman" panose="02020603050405020304" pitchFamily="18" charset="0"/>
                </a:rPr>
                <a:t>吸热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-5.92593E-6 L 6.94444E-6 -0.04214 " pathEditMode="relative" ptsTypes="AA">
                                      <p:cBhvr>
                                        <p:cTn id="11" dur="2000" fill="hold"/>
                                        <p:tgtEl>
                                          <p:spTgt spid="62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625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62526"/>
                                        </p:tgtEl>
                                      </p:cBhvr>
                                      <p:by x="105%" y="105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62501" grpId="0" autoUpdateAnimBg="0"/>
      <p:bldP spid="62502" grpId="0" autoUpdateAnimBg="0"/>
      <p:bldP spid="62504" grpId="0" autoUpdateAnimBg="0"/>
      <p:bldP spid="62506" grpId="0" autoUpdateAnimBg="0"/>
      <p:bldP spid="62508" grpId="0" autoUpdateAnimBg="0"/>
      <p:bldP spid="62510" grpId="0" autoUpdateAnimBg="0"/>
    </p:bldLst>
  </p:timing>
</p:sld>
</file>

<file path=ppt/slides/slide4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22" name="Text Box 34"/>
          <p:cNvSpPr txBox="1">
            <a:spLocks noChangeArrowheads="1"/>
          </p:cNvSpPr>
          <p:nvPr/>
        </p:nvSpPr>
        <p:spPr bwMode="auto">
          <a:xfrm>
            <a:off x="152400" y="260350"/>
            <a:ext cx="4995863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%"/>
              </a:lnSpc>
            </a:pPr>
            <a:r>
              <a:rPr kumimoji="1" lang="en-US" altLang="zh-CN" b="1">
                <a:latin typeface="Times New Roman" panose="02020603050405020304" pitchFamily="18" charset="0"/>
              </a:rPr>
              <a:t>2)</a:t>
            </a:r>
            <a:r>
              <a:rPr kumimoji="1" lang="zh-CN" altLang="en-US" b="1">
                <a:latin typeface="Times New Roman" panose="02020603050405020304" pitchFamily="18" charset="0"/>
              </a:rPr>
              <a:t>因隔板可自由滑动且绝热，</a:t>
            </a:r>
          </a:p>
        </p:txBody>
      </p:sp>
      <p:sp>
        <p:nvSpPr>
          <p:cNvPr id="63523" name="Text Box 35"/>
          <p:cNvSpPr txBox="1">
            <a:spLocks noChangeArrowheads="1"/>
          </p:cNvSpPr>
          <p:nvPr/>
        </p:nvSpPr>
        <p:spPr bwMode="auto">
          <a:xfrm>
            <a:off x="250825" y="1527175"/>
            <a:ext cx="194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A </a:t>
            </a:r>
            <a:r>
              <a:rPr kumimoji="1" lang="zh-CN" altLang="en-US" b="1">
                <a:latin typeface="Times New Roman" panose="02020603050405020304" pitchFamily="18" charset="0"/>
              </a:rPr>
              <a:t>吸热</a:t>
            </a:r>
          </a:p>
        </p:txBody>
      </p:sp>
      <p:graphicFrame>
        <p:nvGraphicFramePr>
          <p:cNvPr id="63524" name="Object 36"/>
          <p:cNvGraphicFramePr>
            <a:graphicFrameLocks noChangeAspect="1"/>
          </p:cNvGraphicFramePr>
          <p:nvPr/>
        </p:nvGraphicFramePr>
        <p:xfrm>
          <a:off x="1576388" y="1555750"/>
          <a:ext cx="5387975" cy="57308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3577" name="Equation" r:id="rId3" imgW="2184120" imgH="241200" progId="Equation.3">
                  <p:embed/>
                </p:oleObj>
              </mc:Choice>
              <mc:Fallback>
                <p:oleObj name="Equation" r:id="rId3" imgW="2184120" imgH="2412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1555750"/>
                        <a:ext cx="53879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25" name="Object 37"/>
          <p:cNvGraphicFramePr>
            <a:graphicFrameLocks noChangeAspect="1"/>
          </p:cNvGraphicFramePr>
          <p:nvPr/>
        </p:nvGraphicFramePr>
        <p:xfrm>
          <a:off x="1947863" y="2190750"/>
          <a:ext cx="5072062" cy="107791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3578" name="Equation" r:id="rId5" imgW="2070000" imgH="444240" progId="Equation.3">
                  <p:embed/>
                </p:oleObj>
              </mc:Choice>
              <mc:Fallback>
                <p:oleObj name="Equation" r:id="rId5" imgW="2070000" imgH="4442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2190750"/>
                        <a:ext cx="5072062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6" name="Text Box 38"/>
          <p:cNvSpPr txBox="1">
            <a:spLocks noChangeArrowheads="1"/>
          </p:cNvSpPr>
          <p:nvPr/>
        </p:nvSpPr>
        <p:spPr bwMode="auto">
          <a:xfrm>
            <a:off x="206375" y="23876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latin typeface="Times New Roman" panose="02020603050405020304" pitchFamily="18" charset="0"/>
              </a:rPr>
              <a:t>温度变化</a:t>
            </a:r>
          </a:p>
        </p:txBody>
      </p:sp>
      <p:sp>
        <p:nvSpPr>
          <p:cNvPr id="63527" name="Text Box 39"/>
          <p:cNvSpPr txBox="1">
            <a:spLocks noChangeArrowheads="1"/>
          </p:cNvSpPr>
          <p:nvPr/>
        </p:nvSpPr>
        <p:spPr bwMode="auto">
          <a:xfrm>
            <a:off x="250825" y="3213100"/>
            <a:ext cx="5329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B </a:t>
            </a:r>
            <a:r>
              <a:rPr kumimoji="1" lang="zh-CN" altLang="en-US" b="1">
                <a:latin typeface="Times New Roman" panose="02020603050405020304" pitchFamily="18" charset="0"/>
              </a:rPr>
              <a:t>绝热    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B</a:t>
            </a:r>
            <a:r>
              <a:rPr kumimoji="1" lang="en-US" altLang="zh-CN" b="1">
                <a:latin typeface="Times New Roman" panose="02020603050405020304" pitchFamily="18" charset="0"/>
              </a:rPr>
              <a:t> = 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r>
              <a:rPr kumimoji="1" lang="en-US" altLang="zh-CN" b="1" i="1" baseline="-25%">
                <a:latin typeface="Times New Roman" panose="02020603050405020304" pitchFamily="18" charset="0"/>
              </a:rPr>
              <a:t>P, 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mol</a:t>
            </a:r>
            <a:r>
              <a:rPr kumimoji="1" lang="en-US" altLang="zh-CN" b="1" i="1" baseline="-25%"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B</a:t>
            </a:r>
            <a:r>
              <a:rPr kumimoji="1" lang="en-US" altLang="zh-CN" b="1">
                <a:latin typeface="Times New Roman" panose="02020603050405020304" pitchFamily="18" charset="0"/>
              </a:rPr>
              <a:t> = 0 </a:t>
            </a:r>
          </a:p>
        </p:txBody>
      </p:sp>
      <p:sp>
        <p:nvSpPr>
          <p:cNvPr id="63528" name="Text Box 40"/>
          <p:cNvSpPr txBox="1">
            <a:spLocks noChangeArrowheads="1"/>
          </p:cNvSpPr>
          <p:nvPr/>
        </p:nvSpPr>
        <p:spPr bwMode="auto">
          <a:xfrm>
            <a:off x="220663" y="3860800"/>
            <a:ext cx="5575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latin typeface="Times New Roman" panose="02020603050405020304" pitchFamily="18" charset="0"/>
              </a:rPr>
              <a:t>温度变化 </a:t>
            </a:r>
            <a:r>
              <a:rPr kumimoji="1"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B</a:t>
            </a:r>
            <a:r>
              <a:rPr kumimoji="1" lang="en-US" altLang="zh-CN" b="1">
                <a:latin typeface="Times New Roman" panose="02020603050405020304" pitchFamily="18" charset="0"/>
              </a:rPr>
              <a:t> = 0</a:t>
            </a:r>
            <a:r>
              <a:rPr kumimoji="1" lang="zh-CN" altLang="en-US" b="1">
                <a:latin typeface="Times New Roman" panose="02020603050405020304" pitchFamily="18" charset="0"/>
              </a:rPr>
              <a:t>，内能不变。</a:t>
            </a:r>
          </a:p>
        </p:txBody>
      </p:sp>
      <p:sp>
        <p:nvSpPr>
          <p:cNvPr id="63529" name="Text Box 41"/>
          <p:cNvSpPr txBox="1">
            <a:spLocks noChangeArrowheads="1"/>
          </p:cNvSpPr>
          <p:nvPr/>
        </p:nvSpPr>
        <p:spPr bwMode="auto">
          <a:xfrm>
            <a:off x="179388" y="4365625"/>
            <a:ext cx="864076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%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热力学过程：</a:t>
            </a:r>
            <a:r>
              <a:rPr kumimoji="1" lang="en-US" altLang="zh-CN" b="1">
                <a:latin typeface="Times New Roman" panose="02020603050405020304" pitchFamily="18" charset="0"/>
              </a:rPr>
              <a:t>A </a:t>
            </a:r>
            <a:r>
              <a:rPr kumimoji="1" lang="zh-CN" altLang="en-US" b="1">
                <a:latin typeface="Times New Roman" panose="02020603050405020304" pitchFamily="18" charset="0"/>
              </a:rPr>
              <a:t>吸热 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>
                <a:latin typeface="Times New Roman" panose="02020603050405020304" pitchFamily="18" charset="0"/>
              </a:rPr>
              <a:t>,  </a:t>
            </a:r>
            <a:r>
              <a:rPr kumimoji="1" lang="zh-CN" altLang="en-US" b="1">
                <a:latin typeface="Times New Roman" panose="02020603050405020304" pitchFamily="18" charset="0"/>
              </a:rPr>
              <a:t>一部分转化为内能 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使温度升高</a:t>
            </a:r>
            <a:r>
              <a:rPr kumimoji="1" lang="en-US" altLang="zh-CN" b="1">
                <a:latin typeface="Times New Roman" panose="02020603050405020304" pitchFamily="18" charset="0"/>
              </a:rPr>
              <a:t>), </a:t>
            </a:r>
            <a:r>
              <a:rPr kumimoji="1" lang="zh-CN" altLang="en-US" b="1">
                <a:latin typeface="Times New Roman" panose="02020603050405020304" pitchFamily="18" charset="0"/>
              </a:rPr>
              <a:t>另一部分用于对 </a:t>
            </a:r>
            <a:r>
              <a:rPr kumimoji="1" lang="en-US" altLang="zh-CN" b="1">
                <a:latin typeface="Times New Roman" panose="02020603050405020304" pitchFamily="18" charset="0"/>
              </a:rPr>
              <a:t>B </a:t>
            </a:r>
            <a:r>
              <a:rPr kumimoji="1" lang="zh-CN" altLang="en-US" b="1">
                <a:latin typeface="Times New Roman" panose="02020603050405020304" pitchFamily="18" charset="0"/>
              </a:rPr>
              <a:t>做功大小为</a:t>
            </a:r>
            <a:r>
              <a:rPr kumimoji="1" lang="en-US" altLang="zh-CN" b="1" i="1">
                <a:latin typeface="Times New Roman" panose="02020603050405020304" pitchFamily="18" charset="0"/>
              </a:rPr>
              <a:t>A</a:t>
            </a:r>
            <a:r>
              <a:rPr kumimoji="1" lang="en-US" altLang="zh-CN" b="1">
                <a:latin typeface="Times New Roman" panose="02020603050405020304" pitchFamily="18" charset="0"/>
              </a:rPr>
              <a:t>;  B </a:t>
            </a:r>
            <a:r>
              <a:rPr kumimoji="1" lang="zh-CN" altLang="en-US" b="1">
                <a:latin typeface="Times New Roman" panose="02020603050405020304" pitchFamily="18" charset="0"/>
              </a:rPr>
              <a:t>中 </a:t>
            </a:r>
            <a:r>
              <a:rPr kumimoji="1" lang="en-US" altLang="zh-CN" b="1" i="1">
                <a:latin typeface="Times New Roman" panose="02020603050405020304" pitchFamily="18" charset="0"/>
              </a:rPr>
              <a:t>P</a:t>
            </a:r>
            <a:r>
              <a:rPr kumimoji="1" lang="zh-CN" altLang="en-US" b="1">
                <a:latin typeface="Times New Roman" panose="02020603050405020304" pitchFamily="18" charset="0"/>
              </a:rPr>
              <a:t>、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不变 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内能不变</a:t>
            </a:r>
            <a:r>
              <a:rPr kumimoji="1" lang="en-US" altLang="zh-CN" b="1">
                <a:latin typeface="Times New Roman" panose="02020603050405020304" pitchFamily="18" charset="0"/>
              </a:rPr>
              <a:t>), </a:t>
            </a:r>
            <a:r>
              <a:rPr kumimoji="1" lang="en-US" altLang="zh-CN" b="1" i="1">
                <a:latin typeface="Times New Roman" panose="02020603050405020304" pitchFamily="18" charset="0"/>
              </a:rPr>
              <a:t>V</a:t>
            </a: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也不变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但它对外做功为</a:t>
            </a:r>
            <a:r>
              <a:rPr kumimoji="1" lang="en-US" altLang="zh-CN" b="1" i="1">
                <a:latin typeface="Times New Roman" panose="02020603050405020304" pitchFamily="18" charset="0"/>
              </a:rPr>
              <a:t>A 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</a:rPr>
              <a:t>总功为零。</a:t>
            </a:r>
          </a:p>
        </p:txBody>
      </p:sp>
      <p:sp>
        <p:nvSpPr>
          <p:cNvPr id="63530" name="Rectangle 42"/>
          <p:cNvSpPr>
            <a:spLocks noChangeArrowheads="1"/>
          </p:cNvSpPr>
          <p:nvPr/>
        </p:nvSpPr>
        <p:spPr bwMode="auto">
          <a:xfrm>
            <a:off x="250825" y="833438"/>
            <a:ext cx="52578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%"/>
              </a:lnSpc>
              <a:spcBef>
                <a:spcPct val="50%"/>
              </a:spcBef>
            </a:pPr>
            <a:r>
              <a:rPr kumimoji="1" lang="en-US" altLang="zh-CN" b="1">
                <a:latin typeface="Times New Roman" panose="02020603050405020304" pitchFamily="18" charset="0"/>
              </a:rPr>
              <a:t>A, B </a:t>
            </a:r>
            <a:r>
              <a:rPr kumimoji="1" lang="zh-CN" altLang="en-US" b="1">
                <a:latin typeface="Times New Roman" panose="02020603050405020304" pitchFamily="18" charset="0"/>
              </a:rPr>
              <a:t>两室气体均为等压过程。</a:t>
            </a:r>
          </a:p>
        </p:txBody>
      </p:sp>
      <p:sp>
        <p:nvSpPr>
          <p:cNvPr id="63531" name="Rectangle 43" descr="10%"/>
          <p:cNvSpPr>
            <a:spLocks noChangeArrowheads="1"/>
          </p:cNvSpPr>
          <p:nvPr/>
        </p:nvSpPr>
        <p:spPr bwMode="auto">
          <a:xfrm>
            <a:off x="7380288" y="1152525"/>
            <a:ext cx="1376362" cy="1944688"/>
          </a:xfrm>
          <a:prstGeom prst="rect">
            <a:avLst/>
          </a:prstGeom>
          <a:pattFill prst="pct10">
            <a:fgClr>
              <a:schemeClr val="bg1">
                <a:alpha val="50%"/>
              </a:schemeClr>
            </a:fgClr>
            <a:bgClr>
              <a:schemeClr val="hlink">
                <a:alpha val="50%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2" name="Line 44"/>
          <p:cNvSpPr>
            <a:spLocks noChangeShapeType="1"/>
          </p:cNvSpPr>
          <p:nvPr/>
        </p:nvSpPr>
        <p:spPr bwMode="auto">
          <a:xfrm>
            <a:off x="7345363" y="3082925"/>
            <a:ext cx="1447800" cy="0"/>
          </a:xfrm>
          <a:prstGeom prst="line">
            <a:avLst/>
          </a:prstGeom>
          <a:noFill/>
          <a:ln w="76200">
            <a:pattFill prst="dkUpDiag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33" name="Text Box 45"/>
          <p:cNvSpPr txBox="1">
            <a:spLocks noChangeArrowheads="1"/>
          </p:cNvSpPr>
          <p:nvPr/>
        </p:nvSpPr>
        <p:spPr bwMode="auto">
          <a:xfrm>
            <a:off x="8210550" y="24765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3534" name="Text Box 46"/>
          <p:cNvSpPr txBox="1">
            <a:spLocks noChangeArrowheads="1"/>
          </p:cNvSpPr>
          <p:nvPr/>
        </p:nvSpPr>
        <p:spPr bwMode="auto">
          <a:xfrm>
            <a:off x="6731000" y="442913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>
                <a:latin typeface="Times New Roman" panose="02020603050405020304" pitchFamily="18" charset="0"/>
              </a:rPr>
              <a:t>绝热</a:t>
            </a:r>
          </a:p>
        </p:txBody>
      </p:sp>
      <p:sp>
        <p:nvSpPr>
          <p:cNvPr id="63535" name="Freeform 47"/>
          <p:cNvSpPr>
            <a:spLocks/>
          </p:cNvSpPr>
          <p:nvPr/>
        </p:nvSpPr>
        <p:spPr bwMode="auto">
          <a:xfrm>
            <a:off x="6985000" y="836613"/>
            <a:ext cx="342900" cy="1047750"/>
          </a:xfrm>
          <a:custGeom>
            <a:avLst/>
            <a:gdLst>
              <a:gd name="T0" fmla="*/ 0 w 216"/>
              <a:gd name="T1" fmla="*/ 0 h 660"/>
              <a:gd name="T2" fmla="*/ 24 w 216"/>
              <a:gd name="T3" fmla="*/ 213 h 660"/>
              <a:gd name="T4" fmla="*/ 90 w 216"/>
              <a:gd name="T5" fmla="*/ 441 h 660"/>
              <a:gd name="T6" fmla="*/ 216 w 216"/>
              <a:gd name="T7" fmla="*/ 66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" h="660">
                <a:moveTo>
                  <a:pt x="0" y="0"/>
                </a:moveTo>
                <a:cubicBezTo>
                  <a:pt x="4" y="35"/>
                  <a:pt x="9" y="140"/>
                  <a:pt x="24" y="213"/>
                </a:cubicBezTo>
                <a:cubicBezTo>
                  <a:pt x="39" y="286"/>
                  <a:pt x="58" y="366"/>
                  <a:pt x="90" y="441"/>
                </a:cubicBezTo>
                <a:cubicBezTo>
                  <a:pt x="122" y="516"/>
                  <a:pt x="190" y="615"/>
                  <a:pt x="216" y="6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3536" name="Group 48"/>
          <p:cNvGrpSpPr>
            <a:grpSpLocks/>
          </p:cNvGrpSpPr>
          <p:nvPr/>
        </p:nvGrpSpPr>
        <p:grpSpPr bwMode="auto">
          <a:xfrm>
            <a:off x="7451725" y="2852738"/>
            <a:ext cx="1079500" cy="1008062"/>
            <a:chOff x="4513" y="2840"/>
            <a:chExt cx="680" cy="635"/>
          </a:xfrm>
        </p:grpSpPr>
        <p:sp>
          <p:nvSpPr>
            <p:cNvPr id="63537" name="AutoShape 49"/>
            <p:cNvSpPr>
              <a:spLocks noChangeArrowheads="1"/>
            </p:cNvSpPr>
            <p:nvPr/>
          </p:nvSpPr>
          <p:spPr bwMode="auto">
            <a:xfrm>
              <a:off x="4731" y="2840"/>
              <a:ext cx="288" cy="384"/>
            </a:xfrm>
            <a:prstGeom prst="upArrow">
              <a:avLst>
                <a:gd name="adj1" fmla="val 41667"/>
                <a:gd name="adj2" fmla="val 73265"/>
              </a:avLst>
            </a:prstGeom>
            <a:solidFill>
              <a:srgbClr val="FF6600"/>
            </a:solidFill>
            <a:ln w="25400">
              <a:solidFill>
                <a:schemeClr val="tx1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63538" name="Text Box 50"/>
            <p:cNvSpPr txBox="1">
              <a:spLocks noChangeArrowheads="1"/>
            </p:cNvSpPr>
            <p:nvPr/>
          </p:nvSpPr>
          <p:spPr bwMode="auto">
            <a:xfrm>
              <a:off x="4513" y="3225"/>
              <a:ext cx="6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000" b="1">
                  <a:latin typeface="Times New Roman" panose="02020603050405020304" pitchFamily="18" charset="0"/>
                </a:rPr>
                <a:t>吸热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000" b="1" baseline="-25%">
                  <a:latin typeface="Times New Roman" panose="02020603050405020304" pitchFamily="18" charset="0"/>
                </a:rPr>
                <a:t>A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539" name="Group 51"/>
          <p:cNvGrpSpPr>
            <a:grpSpLocks/>
          </p:cNvGrpSpPr>
          <p:nvPr/>
        </p:nvGrpSpPr>
        <p:grpSpPr bwMode="auto">
          <a:xfrm>
            <a:off x="7356475" y="369888"/>
            <a:ext cx="1466850" cy="2232025"/>
            <a:chOff x="4634" y="188"/>
            <a:chExt cx="924" cy="1406"/>
          </a:xfrm>
        </p:grpSpPr>
        <p:sp>
          <p:nvSpPr>
            <p:cNvPr id="63540" name="Rectangle 52" descr="大纸屑"/>
            <p:cNvSpPr>
              <a:spLocks noChangeArrowheads="1"/>
            </p:cNvSpPr>
            <p:nvPr/>
          </p:nvSpPr>
          <p:spPr bwMode="auto">
            <a:xfrm>
              <a:off x="4634" y="1244"/>
              <a:ext cx="912" cy="96"/>
            </a:xfrm>
            <a:prstGeom prst="rect">
              <a:avLst/>
            </a:prstGeom>
            <a:pattFill prst="lgConfetti">
              <a:fgClr>
                <a:srgbClr val="993300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1" name="Text Box 53"/>
            <p:cNvSpPr txBox="1">
              <a:spLocks noChangeArrowheads="1"/>
            </p:cNvSpPr>
            <p:nvPr/>
          </p:nvSpPr>
          <p:spPr bwMode="auto">
            <a:xfrm>
              <a:off x="5176" y="88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3542" name="Text Box 54"/>
            <p:cNvSpPr txBox="1">
              <a:spLocks noChangeArrowheads="1"/>
            </p:cNvSpPr>
            <p:nvPr/>
          </p:nvSpPr>
          <p:spPr bwMode="auto">
            <a:xfrm>
              <a:off x="4649" y="1344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绝热滑动</a:t>
              </a:r>
            </a:p>
          </p:txBody>
        </p:sp>
        <p:grpSp>
          <p:nvGrpSpPr>
            <p:cNvPr id="63543" name="Group 55"/>
            <p:cNvGrpSpPr>
              <a:grpSpLocks/>
            </p:cNvGrpSpPr>
            <p:nvPr/>
          </p:nvGrpSpPr>
          <p:grpSpPr bwMode="auto">
            <a:xfrm>
              <a:off x="4657" y="188"/>
              <a:ext cx="901" cy="726"/>
              <a:chOff x="4476" y="663"/>
              <a:chExt cx="901" cy="726"/>
            </a:xfrm>
          </p:grpSpPr>
          <p:sp>
            <p:nvSpPr>
              <p:cNvPr id="63544" name="Rectangle 56"/>
              <p:cNvSpPr>
                <a:spLocks noChangeArrowheads="1"/>
              </p:cNvSpPr>
              <p:nvPr/>
            </p:nvSpPr>
            <p:spPr bwMode="auto">
              <a:xfrm>
                <a:off x="4476" y="1162"/>
                <a:ext cx="861" cy="227"/>
              </a:xfrm>
              <a:prstGeom prst="rect">
                <a:avLst/>
              </a:prstGeom>
              <a:gradFill rotWithShape="0">
                <a:gsLst>
                  <a:gs pos="0%">
                    <a:srgbClr val="FF6600">
                      <a:gamma/>
                      <a:shade val="0%"/>
                      <a:invGamma/>
                    </a:srgbClr>
                  </a:gs>
                  <a:gs pos="50%">
                    <a:srgbClr val="FF6600"/>
                  </a:gs>
                  <a:gs pos="100%">
                    <a:srgbClr val="FF6600">
                      <a:gamma/>
                      <a:shade val="0%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45" name="Rectangle 57"/>
              <p:cNvSpPr>
                <a:spLocks noChangeArrowheads="1"/>
              </p:cNvSpPr>
              <p:nvPr/>
            </p:nvSpPr>
            <p:spPr bwMode="auto">
              <a:xfrm>
                <a:off x="4830" y="799"/>
                <a:ext cx="144" cy="384"/>
              </a:xfrm>
              <a:prstGeom prst="rect">
                <a:avLst/>
              </a:prstGeom>
              <a:gradFill rotWithShape="0">
                <a:gsLst>
                  <a:gs pos="0%">
                    <a:srgbClr val="FF6600">
                      <a:gamma/>
                      <a:shade val="36.863%"/>
                      <a:invGamma/>
                    </a:srgbClr>
                  </a:gs>
                  <a:gs pos="50%">
                    <a:srgbClr val="FF6600"/>
                  </a:gs>
                  <a:gs pos="100%">
                    <a:srgbClr val="FF6600">
                      <a:gamma/>
                      <a:shade val="36.863%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46" name="Text Box 58"/>
              <p:cNvSpPr txBox="1">
                <a:spLocks noChangeArrowheads="1"/>
              </p:cNvSpPr>
              <p:nvPr/>
            </p:nvSpPr>
            <p:spPr bwMode="auto">
              <a:xfrm>
                <a:off x="4939" y="663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000" b="1">
                    <a:latin typeface="Times New Roman" panose="02020603050405020304" pitchFamily="18" charset="0"/>
                  </a:rPr>
                  <a:t>活塞</a:t>
                </a:r>
              </a:p>
            </p:txBody>
          </p:sp>
        </p:grpSp>
      </p:grpSp>
      <p:sp>
        <p:nvSpPr>
          <p:cNvPr id="63547" name="Freeform 59"/>
          <p:cNvSpPr>
            <a:spLocks/>
          </p:cNvSpPr>
          <p:nvPr/>
        </p:nvSpPr>
        <p:spPr bwMode="auto">
          <a:xfrm>
            <a:off x="7380288" y="692150"/>
            <a:ext cx="431800" cy="288925"/>
          </a:xfrm>
          <a:custGeom>
            <a:avLst/>
            <a:gdLst>
              <a:gd name="T0" fmla="*/ 0 w 123"/>
              <a:gd name="T1" fmla="*/ 0 h 228"/>
              <a:gd name="T2" fmla="*/ 123 w 123"/>
              <a:gd name="T3" fmla="*/ 228 h 2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3" h="228">
                <a:moveTo>
                  <a:pt x="0" y="0"/>
                </a:moveTo>
                <a:cubicBezTo>
                  <a:pt x="20" y="38"/>
                  <a:pt x="98" y="181"/>
                  <a:pt x="123" y="2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8" name="Line 60"/>
          <p:cNvSpPr>
            <a:spLocks noChangeShapeType="1"/>
          </p:cNvSpPr>
          <p:nvPr/>
        </p:nvSpPr>
        <p:spPr bwMode="auto">
          <a:xfrm>
            <a:off x="8793163" y="903288"/>
            <a:ext cx="0" cy="2209800"/>
          </a:xfrm>
          <a:prstGeom prst="line">
            <a:avLst/>
          </a:prstGeom>
          <a:noFill/>
          <a:ln w="76200">
            <a:pattFill prst="lgConfetti">
              <a:fgClr>
                <a:srgbClr val="CC6600"/>
              </a:fgClr>
              <a:bgClr>
                <a:schemeClr val="tx1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9" name="Line 61"/>
          <p:cNvSpPr>
            <a:spLocks noChangeShapeType="1"/>
          </p:cNvSpPr>
          <p:nvPr/>
        </p:nvSpPr>
        <p:spPr bwMode="auto">
          <a:xfrm>
            <a:off x="7356475" y="903288"/>
            <a:ext cx="0" cy="2209800"/>
          </a:xfrm>
          <a:prstGeom prst="line">
            <a:avLst/>
          </a:prstGeom>
          <a:noFill/>
          <a:ln w="76200">
            <a:pattFill prst="lgConfetti">
              <a:fgClr>
                <a:srgbClr val="CC6600"/>
              </a:fgClr>
              <a:bgClr>
                <a:schemeClr val="tx1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1.48148E-6 L 1.11111E-6 -0.05255 " pathEditMode="relative" ptsTypes="AA">
                                      <p:cBhvr>
                                        <p:cTn id="6" dur="2000" fill="hold"/>
                                        <p:tgtEl>
                                          <p:spTgt spid="635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3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3536"/>
                                        </p:tgtEl>
                                      </p:cBhvr>
                                      <p:by x="105%" y="105%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3" grpId="0" autoUpdateAnimBg="0"/>
      <p:bldP spid="63526" grpId="0" autoUpdateAnimBg="0"/>
      <p:bldP spid="63527" grpId="0" autoUpdateAnimBg="0"/>
      <p:bldP spid="63528" grpId="0" autoUpdateAnimBg="0"/>
      <p:bldP spid="63529" grpId="0" autoUpdateAnimBg="0"/>
      <p:bldP spid="63530" grpId="0" autoUpdateAnimBg="0"/>
    </p:bldLst>
  </p:timing>
</p:sld>
</file>

<file path=ppt/slides/slide4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323850" y="265113"/>
            <a:ext cx="845185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11. 1mol</a:t>
            </a:r>
            <a:r>
              <a:rPr kumimoji="1" lang="zh-CN" altLang="en-US" b="1">
                <a:latin typeface="Times New Roman" panose="02020603050405020304" pitchFamily="18" charset="0"/>
              </a:rPr>
              <a:t>双原子分子理想气体作如图的可逆循环过程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其中</a:t>
            </a:r>
            <a:r>
              <a:rPr kumimoji="1" lang="en-US" altLang="zh-CN" b="1">
                <a:latin typeface="Times New Roman" panose="02020603050405020304" pitchFamily="18" charset="0"/>
              </a:rPr>
              <a:t>1-2</a:t>
            </a:r>
            <a:r>
              <a:rPr kumimoji="1" lang="zh-CN" altLang="en-US" b="1">
                <a:latin typeface="Times New Roman" panose="02020603050405020304" pitchFamily="18" charset="0"/>
              </a:rPr>
              <a:t>为直线</a:t>
            </a:r>
            <a:r>
              <a:rPr kumimoji="1" lang="en-US" altLang="zh-CN" b="1">
                <a:latin typeface="Times New Roman" panose="02020603050405020304" pitchFamily="18" charset="0"/>
              </a:rPr>
              <a:t>,2-3</a:t>
            </a:r>
            <a:r>
              <a:rPr kumimoji="1" lang="zh-CN" altLang="en-US" b="1">
                <a:latin typeface="Times New Roman" panose="02020603050405020304" pitchFamily="18" charset="0"/>
              </a:rPr>
              <a:t>为绝热线</a:t>
            </a:r>
            <a:r>
              <a:rPr kumimoji="1" lang="en-US" altLang="zh-CN" b="1">
                <a:latin typeface="Times New Roman" panose="02020603050405020304" pitchFamily="18" charset="0"/>
              </a:rPr>
              <a:t>,3-1</a:t>
            </a:r>
            <a:r>
              <a:rPr kumimoji="1" lang="zh-CN" altLang="en-US" b="1">
                <a:latin typeface="Times New Roman" panose="02020603050405020304" pitchFamily="18" charset="0"/>
              </a:rPr>
              <a:t>为等温线</a:t>
            </a:r>
            <a:r>
              <a:rPr kumimoji="1" lang="en-US" altLang="zh-CN" b="1">
                <a:latin typeface="Times New Roman" panose="02020603050405020304" pitchFamily="18" charset="0"/>
              </a:rPr>
              <a:t>,</a:t>
            </a:r>
            <a:r>
              <a:rPr kumimoji="1" lang="zh-CN" altLang="en-US" b="1">
                <a:latin typeface="Times New Roman" panose="02020603050405020304" pitchFamily="18" charset="0"/>
              </a:rPr>
              <a:t>已知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latin typeface="Times New Roman" panose="02020603050405020304" pitchFamily="18" charset="0"/>
              </a:rPr>
              <a:t>=2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, </a:t>
            </a:r>
            <a:r>
              <a:rPr kumimoji="1" lang="en-US" altLang="zh-CN" b="1" i="1">
                <a:latin typeface="Times New Roman" panose="020206030504050203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3</a:t>
            </a:r>
            <a:r>
              <a:rPr kumimoji="1" lang="en-US" altLang="zh-CN" b="1">
                <a:latin typeface="Times New Roman" panose="02020603050405020304" pitchFamily="18" charset="0"/>
              </a:rPr>
              <a:t>=8</a:t>
            </a:r>
            <a:r>
              <a:rPr kumimoji="1" lang="en-US" altLang="zh-CN" b="1" i="1">
                <a:latin typeface="Times New Roman" panose="02020603050405020304" pitchFamily="18" charset="0"/>
              </a:rPr>
              <a:t>V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en-US" altLang="zh-CN" b="1">
                <a:latin typeface="Times New Roman" panose="02020603050405020304" pitchFamily="18" charset="0"/>
              </a:rPr>
              <a:t> ,  </a:t>
            </a:r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试求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  <a:r>
              <a:rPr kumimoji="1"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kumimoji="1" lang="en-US" altLang="zh-CN" b="1">
                <a:latin typeface="Times New Roman" panose="02020603050405020304" pitchFamily="18" charset="0"/>
              </a:rPr>
              <a:t>1)</a:t>
            </a:r>
            <a:r>
              <a:rPr kumimoji="1" lang="zh-CN" altLang="en-US" b="1">
                <a:latin typeface="Times New Roman" panose="02020603050405020304" pitchFamily="18" charset="0"/>
              </a:rPr>
              <a:t>各过程的功，内能增量和传递的热量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用</a:t>
            </a:r>
            <a:r>
              <a:rPr kumimoji="1" lang="en-US" altLang="zh-CN" b="1" i="1">
                <a:latin typeface="Times New Roman" panose="02020603050405020304" pitchFamily="18" charset="0"/>
              </a:rPr>
              <a:t>T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latin typeface="Times New Roman" panose="02020603050405020304" pitchFamily="18" charset="0"/>
              </a:rPr>
              <a:t>和已知常数表示</a:t>
            </a:r>
            <a:r>
              <a:rPr kumimoji="1" lang="en-US" altLang="zh-CN" b="1">
                <a:latin typeface="Times New Roman" panose="02020603050405020304" pitchFamily="18" charset="0"/>
              </a:rPr>
              <a:t>)</a:t>
            </a:r>
            <a:r>
              <a:rPr kumimoji="1" lang="zh-CN" altLang="en-US" b="1">
                <a:latin typeface="Times New Roman" panose="02020603050405020304" pitchFamily="18" charset="0"/>
              </a:rPr>
              <a:t>；</a:t>
            </a:r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  <a:r>
              <a:rPr kumimoji="1" lang="zh-CN" altLang="en-US" b="1">
                <a:latin typeface="Times New Roman" panose="02020603050405020304" pitchFamily="18" charset="0"/>
              </a:rPr>
              <a:t>此循环的效率</a:t>
            </a:r>
            <a:r>
              <a:rPr kumimoji="1"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</a:t>
            </a:r>
            <a:r>
              <a:rPr kumimoji="1" lang="zh-CN" altLang="en-US" b="1">
                <a:latin typeface="Times New Roman" panose="02020603050405020304" pitchFamily="18" charset="0"/>
              </a:rPr>
              <a:t> ；</a:t>
            </a:r>
          </a:p>
          <a:p>
            <a:r>
              <a:rPr kumimoji="1" lang="en-US" altLang="zh-CN" b="1">
                <a:latin typeface="Times New Roman" panose="02020603050405020304" pitchFamily="18" charset="0"/>
              </a:rPr>
              <a:t>(3) 3-1</a:t>
            </a:r>
            <a:r>
              <a:rPr kumimoji="1" lang="zh-CN" altLang="en-US" b="1">
                <a:latin typeface="Times New Roman" panose="02020603050405020304" pitchFamily="18" charset="0"/>
              </a:rPr>
              <a:t>过程的熵变。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23850" y="26209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973138" y="2620963"/>
            <a:ext cx="331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(1) 1-2</a:t>
            </a:r>
            <a:r>
              <a:rPr kumimoji="1" lang="zh-CN" altLang="en-US" b="1">
                <a:latin typeface="Times New Roman" panose="02020603050405020304" pitchFamily="18" charset="0"/>
              </a:rPr>
              <a:t>任意过程</a:t>
            </a:r>
          </a:p>
        </p:txBody>
      </p:sp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468313" y="3284538"/>
          <a:ext cx="3167062" cy="57785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36" name="Equation" r:id="rId3" imgW="1320480" imgH="241200" progId="Equation.3">
                  <p:embed/>
                </p:oleObj>
              </mc:Choice>
              <mc:Fallback>
                <p:oleObj name="Equation" r:id="rId3" imgW="132048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84538"/>
                        <a:ext cx="31670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1116013" y="3762375"/>
          <a:ext cx="3671887" cy="96202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37" name="Equation" r:id="rId5" imgW="1612800" imgH="406080" progId="Equation.3">
                  <p:embed/>
                </p:oleObj>
              </mc:Choice>
              <mc:Fallback>
                <p:oleObj name="Equation" r:id="rId5" imgW="161280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62375"/>
                        <a:ext cx="36718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175053"/>
              </p:ext>
            </p:extLst>
          </p:nvPr>
        </p:nvGraphicFramePr>
        <p:xfrm>
          <a:off x="251520" y="4775889"/>
          <a:ext cx="5544616" cy="82623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38" name="公式" r:id="rId7" imgW="2641320" imgH="393480" progId="Equation.3">
                  <p:embed/>
                </p:oleObj>
              </mc:Choice>
              <mc:Fallback>
                <p:oleObj name="公式" r:id="rId7" imgW="264132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775889"/>
                        <a:ext cx="5544616" cy="826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543998"/>
              </p:ext>
            </p:extLst>
          </p:nvPr>
        </p:nvGraphicFramePr>
        <p:xfrm>
          <a:off x="5796136" y="4771450"/>
          <a:ext cx="3241103" cy="782285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39" name="公式" r:id="rId9" imgW="3682800" imgH="888840" progId="Equation.3">
                  <p:embed/>
                </p:oleObj>
              </mc:Choice>
              <mc:Fallback>
                <p:oleObj name="公式" r:id="rId9" imgW="3682800" imgH="888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771450"/>
                        <a:ext cx="3241103" cy="782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593725" y="5661025"/>
          <a:ext cx="5707063" cy="87788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40" name="公式" r:id="rId11" imgW="5778360" imgH="888840" progId="Equation.3">
                  <p:embed/>
                </p:oleObj>
              </mc:Choice>
              <mc:Fallback>
                <p:oleObj name="公式" r:id="rId11" imgW="5778360" imgH="888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5661025"/>
                        <a:ext cx="5707063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8" name="Group 12"/>
          <p:cNvGrpSpPr>
            <a:grpSpLocks/>
          </p:cNvGrpSpPr>
          <p:nvPr/>
        </p:nvGrpSpPr>
        <p:grpSpPr bwMode="auto">
          <a:xfrm>
            <a:off x="4932363" y="2060575"/>
            <a:ext cx="4059237" cy="2670175"/>
            <a:chOff x="3107" y="1492"/>
            <a:chExt cx="2557" cy="1682"/>
          </a:xfrm>
        </p:grpSpPr>
        <p:grpSp>
          <p:nvGrpSpPr>
            <p:cNvPr id="60429" name="Group 13"/>
            <p:cNvGrpSpPr>
              <a:grpSpLocks/>
            </p:cNvGrpSpPr>
            <p:nvPr/>
          </p:nvGrpSpPr>
          <p:grpSpPr bwMode="auto">
            <a:xfrm>
              <a:off x="3107" y="1492"/>
              <a:ext cx="2557" cy="1682"/>
              <a:chOff x="3107" y="1492"/>
              <a:chExt cx="2557" cy="1682"/>
            </a:xfrm>
          </p:grpSpPr>
          <p:grpSp>
            <p:nvGrpSpPr>
              <p:cNvPr id="60430" name="Group 14"/>
              <p:cNvGrpSpPr>
                <a:grpSpLocks/>
              </p:cNvGrpSpPr>
              <p:nvPr/>
            </p:nvGrpSpPr>
            <p:grpSpPr bwMode="auto">
              <a:xfrm>
                <a:off x="3379" y="1616"/>
                <a:ext cx="2154" cy="1270"/>
                <a:chOff x="3538" y="1616"/>
                <a:chExt cx="2154" cy="1270"/>
              </a:xfrm>
            </p:grpSpPr>
            <p:sp>
              <p:nvSpPr>
                <p:cNvPr id="60431" name="Line 15"/>
                <p:cNvSpPr>
                  <a:spLocks noChangeShapeType="1"/>
                </p:cNvSpPr>
                <p:nvPr/>
              </p:nvSpPr>
              <p:spPr bwMode="auto">
                <a:xfrm>
                  <a:off x="3538" y="1616"/>
                  <a:ext cx="0" cy="127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2" name="Line 16"/>
                <p:cNvSpPr>
                  <a:spLocks noChangeShapeType="1"/>
                </p:cNvSpPr>
                <p:nvPr/>
              </p:nvSpPr>
              <p:spPr bwMode="auto">
                <a:xfrm>
                  <a:off x="3538" y="2886"/>
                  <a:ext cx="215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538" y="2432"/>
                  <a:ext cx="317" cy="4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4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855" y="1888"/>
                  <a:ext cx="409" cy="544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5" name="Freeform 19"/>
                <p:cNvSpPr>
                  <a:spLocks/>
                </p:cNvSpPr>
                <p:nvPr/>
              </p:nvSpPr>
              <p:spPr bwMode="auto">
                <a:xfrm>
                  <a:off x="4264" y="1888"/>
                  <a:ext cx="1088" cy="862"/>
                </a:xfrm>
                <a:custGeom>
                  <a:avLst/>
                  <a:gdLst>
                    <a:gd name="T0" fmla="*/ 0 w 1088"/>
                    <a:gd name="T1" fmla="*/ 0 h 862"/>
                    <a:gd name="T2" fmla="*/ 267 w 1088"/>
                    <a:gd name="T3" fmla="*/ 343 h 862"/>
                    <a:gd name="T4" fmla="*/ 596 w 1088"/>
                    <a:gd name="T5" fmla="*/ 599 h 862"/>
                    <a:gd name="T6" fmla="*/ 1088 w 1088"/>
                    <a:gd name="T7" fmla="*/ 862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88" h="862">
                      <a:moveTo>
                        <a:pt x="0" y="0"/>
                      </a:moveTo>
                      <a:cubicBezTo>
                        <a:pt x="45" y="57"/>
                        <a:pt x="168" y="243"/>
                        <a:pt x="267" y="343"/>
                      </a:cubicBezTo>
                      <a:cubicBezTo>
                        <a:pt x="366" y="443"/>
                        <a:pt x="459" y="512"/>
                        <a:pt x="596" y="599"/>
                      </a:cubicBezTo>
                      <a:cubicBezTo>
                        <a:pt x="733" y="686"/>
                        <a:pt x="986" y="807"/>
                        <a:pt x="1088" y="862"/>
                      </a:cubicBez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6" name="Freeform 20"/>
                <p:cNvSpPr>
                  <a:spLocks/>
                </p:cNvSpPr>
                <p:nvPr/>
              </p:nvSpPr>
              <p:spPr bwMode="auto">
                <a:xfrm>
                  <a:off x="3855" y="2432"/>
                  <a:ext cx="1497" cy="320"/>
                </a:xfrm>
                <a:custGeom>
                  <a:avLst/>
                  <a:gdLst>
                    <a:gd name="T0" fmla="*/ 0 w 1497"/>
                    <a:gd name="T1" fmla="*/ 0 h 320"/>
                    <a:gd name="T2" fmla="*/ 383 w 1497"/>
                    <a:gd name="T3" fmla="*/ 174 h 320"/>
                    <a:gd name="T4" fmla="*/ 722 w 1497"/>
                    <a:gd name="T5" fmla="*/ 274 h 320"/>
                    <a:gd name="T6" fmla="*/ 1096 w 1497"/>
                    <a:gd name="T7" fmla="*/ 320 h 320"/>
                    <a:gd name="T8" fmla="*/ 1497 w 1497"/>
                    <a:gd name="T9" fmla="*/ 318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7" h="320">
                      <a:moveTo>
                        <a:pt x="0" y="0"/>
                      </a:moveTo>
                      <a:lnTo>
                        <a:pt x="383" y="174"/>
                      </a:lnTo>
                      <a:lnTo>
                        <a:pt x="722" y="274"/>
                      </a:lnTo>
                      <a:lnTo>
                        <a:pt x="1096" y="320"/>
                      </a:lnTo>
                      <a:lnTo>
                        <a:pt x="1497" y="318"/>
                      </a:ln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7" name="Line 21"/>
                <p:cNvSpPr>
                  <a:spLocks noChangeShapeType="1"/>
                </p:cNvSpPr>
                <p:nvPr/>
              </p:nvSpPr>
              <p:spPr bwMode="auto">
                <a:xfrm>
                  <a:off x="3855" y="2432"/>
                  <a:ext cx="0" cy="4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8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538" y="2432"/>
                  <a:ext cx="31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9" name="Line 23"/>
                <p:cNvSpPr>
                  <a:spLocks noChangeShapeType="1"/>
                </p:cNvSpPr>
                <p:nvPr/>
              </p:nvSpPr>
              <p:spPr bwMode="auto">
                <a:xfrm>
                  <a:off x="4264" y="1888"/>
                  <a:ext cx="0" cy="9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40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538" y="1888"/>
                  <a:ext cx="72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41" name="Line 25"/>
                <p:cNvSpPr>
                  <a:spLocks noChangeShapeType="1"/>
                </p:cNvSpPr>
                <p:nvPr/>
              </p:nvSpPr>
              <p:spPr bwMode="auto">
                <a:xfrm>
                  <a:off x="5352" y="2750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2" name="Text Box 26"/>
              <p:cNvSpPr txBox="1">
                <a:spLocks noChangeArrowheads="1"/>
              </p:cNvSpPr>
              <p:nvPr/>
            </p:nvSpPr>
            <p:spPr bwMode="auto">
              <a:xfrm>
                <a:off x="3412" y="1492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60443" name="Text Box 27"/>
              <p:cNvSpPr txBox="1">
                <a:spLocks noChangeArrowheads="1"/>
              </p:cNvSpPr>
              <p:nvPr/>
            </p:nvSpPr>
            <p:spPr bwMode="auto">
              <a:xfrm>
                <a:off x="3107" y="175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0444" name="Text Box 28"/>
              <p:cNvSpPr txBox="1">
                <a:spLocks noChangeArrowheads="1"/>
              </p:cNvSpPr>
              <p:nvPr/>
            </p:nvSpPr>
            <p:spPr bwMode="auto">
              <a:xfrm>
                <a:off x="3107" y="2251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0445" name="Text Box 29"/>
              <p:cNvSpPr txBox="1">
                <a:spLocks noChangeArrowheads="1"/>
              </p:cNvSpPr>
              <p:nvPr/>
            </p:nvSpPr>
            <p:spPr bwMode="auto">
              <a:xfrm>
                <a:off x="3124" y="2750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60446" name="Text Box 30"/>
              <p:cNvSpPr txBox="1">
                <a:spLocks noChangeArrowheads="1"/>
              </p:cNvSpPr>
              <p:nvPr/>
            </p:nvSpPr>
            <p:spPr bwMode="auto">
              <a:xfrm>
                <a:off x="3560" y="287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0447" name="Text Box 31"/>
              <p:cNvSpPr txBox="1">
                <a:spLocks noChangeArrowheads="1"/>
              </p:cNvSpPr>
              <p:nvPr/>
            </p:nvSpPr>
            <p:spPr bwMode="auto">
              <a:xfrm>
                <a:off x="3933" y="287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0448" name="Text Box 32"/>
              <p:cNvSpPr txBox="1">
                <a:spLocks noChangeArrowheads="1"/>
              </p:cNvSpPr>
              <p:nvPr/>
            </p:nvSpPr>
            <p:spPr bwMode="auto">
              <a:xfrm>
                <a:off x="5021" y="288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0449" name="Text Box 33"/>
              <p:cNvSpPr txBox="1">
                <a:spLocks noChangeArrowheads="1"/>
              </p:cNvSpPr>
              <p:nvPr/>
            </p:nvSpPr>
            <p:spPr bwMode="auto">
              <a:xfrm>
                <a:off x="5420" y="2886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endParaRPr kumimoji="1" lang="en-US" altLang="zh-CN" sz="2400" b="1" baseline="-25%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50" name="Text Box 34"/>
              <p:cNvSpPr txBox="1">
                <a:spLocks noChangeArrowheads="1"/>
              </p:cNvSpPr>
              <p:nvPr/>
            </p:nvSpPr>
            <p:spPr bwMode="auto">
              <a:xfrm>
                <a:off x="3575" y="214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0451" name="Text Box 35"/>
              <p:cNvSpPr txBox="1">
                <a:spLocks noChangeArrowheads="1"/>
              </p:cNvSpPr>
              <p:nvPr/>
            </p:nvSpPr>
            <p:spPr bwMode="auto">
              <a:xfrm>
                <a:off x="4014" y="16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0452" name="Text Box 36"/>
              <p:cNvSpPr txBox="1">
                <a:spLocks noChangeArrowheads="1"/>
              </p:cNvSpPr>
              <p:nvPr/>
            </p:nvSpPr>
            <p:spPr bwMode="auto">
              <a:xfrm>
                <a:off x="5103" y="246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60453" name="Freeform 37"/>
            <p:cNvSpPr>
              <a:spLocks/>
            </p:cNvSpPr>
            <p:nvPr/>
          </p:nvSpPr>
          <p:spPr bwMode="auto">
            <a:xfrm>
              <a:off x="3833" y="2139"/>
              <a:ext cx="80" cy="113"/>
            </a:xfrm>
            <a:custGeom>
              <a:avLst/>
              <a:gdLst>
                <a:gd name="T0" fmla="*/ 0 w 80"/>
                <a:gd name="T1" fmla="*/ 113 h 113"/>
                <a:gd name="T2" fmla="*/ 80 w 80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113">
                  <a:moveTo>
                    <a:pt x="0" y="113"/>
                  </a:moveTo>
                  <a:lnTo>
                    <a:pt x="8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4" name="Freeform 38"/>
            <p:cNvSpPr>
              <a:spLocks/>
            </p:cNvSpPr>
            <p:nvPr/>
          </p:nvSpPr>
          <p:spPr bwMode="auto">
            <a:xfrm>
              <a:off x="4558" y="2387"/>
              <a:ext cx="96" cy="72"/>
            </a:xfrm>
            <a:custGeom>
              <a:avLst/>
              <a:gdLst>
                <a:gd name="T0" fmla="*/ 0 w 96"/>
                <a:gd name="T1" fmla="*/ 0 h 72"/>
                <a:gd name="T2" fmla="*/ 96 w 96"/>
                <a:gd name="T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72">
                  <a:moveTo>
                    <a:pt x="0" y="0"/>
                  </a:moveTo>
                  <a:lnTo>
                    <a:pt x="96" y="72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5" name="Freeform 39"/>
            <p:cNvSpPr>
              <a:spLocks/>
            </p:cNvSpPr>
            <p:nvPr/>
          </p:nvSpPr>
          <p:spPr bwMode="auto">
            <a:xfrm>
              <a:off x="4379" y="2688"/>
              <a:ext cx="91" cy="24"/>
            </a:xfrm>
            <a:custGeom>
              <a:avLst/>
              <a:gdLst>
                <a:gd name="T0" fmla="*/ 91 w 91"/>
                <a:gd name="T1" fmla="*/ 24 h 24"/>
                <a:gd name="T2" fmla="*/ 0 w 91"/>
                <a:gd name="T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" h="24">
                  <a:moveTo>
                    <a:pt x="91" y="2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0457" name="Object 41"/>
          <p:cNvGraphicFramePr>
            <a:graphicFrameLocks noChangeAspect="1"/>
          </p:cNvGraphicFramePr>
          <p:nvPr/>
        </p:nvGraphicFramePr>
        <p:xfrm>
          <a:off x="6948488" y="2205038"/>
          <a:ext cx="2084387" cy="8747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0541" name="公式" r:id="rId13" imgW="1028520" imgH="431640" progId="Equation.3">
                  <p:embed/>
                </p:oleObj>
              </mc:Choice>
              <mc:Fallback>
                <p:oleObj name="公式" r:id="rId13" imgW="1028520" imgH="431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205038"/>
                        <a:ext cx="2084387" cy="874712"/>
                      </a:xfrm>
                      <a:prstGeom prst="rect">
                        <a:avLst/>
                      </a:prstGeom>
                      <a:solidFill>
                        <a:srgbClr val="F3F7A7"/>
                      </a:solidFill>
                      <a:ln w="28575">
                        <a:solidFill>
                          <a:srgbClr val="FF3300"/>
                        </a:solidFill>
                        <a:miter lim="800%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y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  <p:bldP spid="60422" grpId="0"/>
    </p:bldLst>
  </p:timing>
</p:sld>
</file>

<file path=ppt/slides/slide4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466725" y="276225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2-3</a:t>
            </a:r>
            <a:r>
              <a:rPr kumimoji="1" lang="zh-CN" altLang="en-US" b="1">
                <a:latin typeface="Times New Roman" panose="02020603050405020304" pitchFamily="18" charset="0"/>
              </a:rPr>
              <a:t>绝热膨胀过程，</a:t>
            </a:r>
            <a:r>
              <a:rPr kumimoji="1" lang="en-US" altLang="zh-CN" b="1" i="1">
                <a:latin typeface="Times New Roman" panose="02020603050405020304" pitchFamily="18" charset="0"/>
              </a:rPr>
              <a:t>Q</a:t>
            </a:r>
            <a:r>
              <a:rPr kumimoji="1" lang="en-US" altLang="zh-CN" b="1" baseline="-25%">
                <a:latin typeface="Times New Roman" panose="02020603050405020304" pitchFamily="18" charset="0"/>
              </a:rPr>
              <a:t>2 </a:t>
            </a:r>
            <a:r>
              <a:rPr kumimoji="1" lang="en-US" altLang="zh-CN" b="1">
                <a:latin typeface="Times New Roman" panose="02020603050405020304" pitchFamily="18" charset="0"/>
              </a:rPr>
              <a:t>= 0</a:t>
            </a: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395288" y="850900"/>
          <a:ext cx="3144837" cy="563563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0" name="Equation" r:id="rId3" imgW="1346040" imgH="241200" progId="Equation.3">
                  <p:embed/>
                </p:oleObj>
              </mc:Choice>
              <mc:Fallback>
                <p:oleObj name="Equation" r:id="rId3" imgW="134604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850900"/>
                        <a:ext cx="314483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755650" y="1268413"/>
          <a:ext cx="3959225" cy="973137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1" name="Equation" r:id="rId5" imgW="1650960" imgH="406080" progId="Equation.3">
                  <p:embed/>
                </p:oleObj>
              </mc:Choice>
              <mc:Fallback>
                <p:oleObj name="Equation" r:id="rId5" imgW="165096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268413"/>
                        <a:ext cx="395922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466725" y="2060575"/>
          <a:ext cx="3024188" cy="998538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2" name="Equation" r:id="rId7" imgW="1231560" imgH="406080" progId="Equation.3">
                  <p:embed/>
                </p:oleObj>
              </mc:Choice>
              <mc:Fallback>
                <p:oleObj name="Equation" r:id="rId7" imgW="123156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2060575"/>
                        <a:ext cx="3024188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Text Box 9"/>
          <p:cNvSpPr txBox="1">
            <a:spLocks noChangeArrowheads="1"/>
          </p:cNvSpPr>
          <p:nvPr/>
        </p:nvSpPr>
        <p:spPr bwMode="auto">
          <a:xfrm>
            <a:off x="395288" y="3068638"/>
            <a:ext cx="2801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3-1</a:t>
            </a:r>
            <a:r>
              <a:rPr kumimoji="1" lang="zh-CN" altLang="en-US" b="1">
                <a:latin typeface="Times New Roman" panose="02020603050405020304" pitchFamily="18" charset="0"/>
              </a:rPr>
              <a:t>等温压缩过程</a:t>
            </a:r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/>
        </p:nvGraphicFramePr>
        <p:xfrm>
          <a:off x="3459163" y="3140075"/>
          <a:ext cx="1257300" cy="457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3" name="公式" r:id="rId9" imgW="1257120" imgH="457200" progId="Equation.3">
                  <p:embed/>
                </p:oleObj>
              </mc:Choice>
              <mc:Fallback>
                <p:oleObj name="公式" r:id="rId9" imgW="125712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3140075"/>
                        <a:ext cx="1257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1"/>
          <p:cNvGraphicFramePr>
            <a:graphicFrameLocks noChangeAspect="1"/>
          </p:cNvGraphicFramePr>
          <p:nvPr/>
        </p:nvGraphicFramePr>
        <p:xfrm>
          <a:off x="468313" y="3740150"/>
          <a:ext cx="3213100" cy="457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4" name="公式" r:id="rId11" imgW="3213000" imgH="457200" progId="Equation.3">
                  <p:embed/>
                </p:oleObj>
              </mc:Choice>
              <mc:Fallback>
                <p:oleObj name="公式" r:id="rId11" imgW="32130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740150"/>
                        <a:ext cx="3213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/>
        </p:nvGraphicFramePr>
        <p:xfrm>
          <a:off x="3770313" y="3716338"/>
          <a:ext cx="4762500" cy="457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5" name="公式" r:id="rId13" imgW="4762440" imgH="457200" progId="Equation.3">
                  <p:embed/>
                </p:oleObj>
              </mc:Choice>
              <mc:Fallback>
                <p:oleObj name="公式" r:id="rId13" imgW="476244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3716338"/>
                        <a:ext cx="4762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539750" y="4340225"/>
          <a:ext cx="3098800" cy="457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6" name="公式" r:id="rId15" imgW="3098520" imgH="457200" progId="Equation.3">
                  <p:embed/>
                </p:oleObj>
              </mc:Choice>
              <mc:Fallback>
                <p:oleObj name="公式" r:id="rId15" imgW="309852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340225"/>
                        <a:ext cx="309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323850" y="4926013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61455" name="Object 15"/>
          <p:cNvGraphicFramePr>
            <a:graphicFrameLocks noChangeAspect="1"/>
          </p:cNvGraphicFramePr>
          <p:nvPr/>
        </p:nvGraphicFramePr>
        <p:xfrm>
          <a:off x="971550" y="4956175"/>
          <a:ext cx="2209800" cy="4826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7" name="公式" r:id="rId17" imgW="2209680" imgH="482400" progId="Equation.3">
                  <p:embed/>
                </p:oleObj>
              </mc:Choice>
              <mc:Fallback>
                <p:oleObj name="公式" r:id="rId17" imgW="2209680" imgH="482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956175"/>
                        <a:ext cx="2209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3300413" y="4987925"/>
          <a:ext cx="4800600" cy="457200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spid="_x0000_s61618" name="公式" r:id="rId19" imgW="4800600" imgH="457200" progId="Equation.3">
                  <p:embed/>
                </p:oleObj>
              </mc:Choice>
              <mc:Fallback>
                <p:oleObj name="公式" r:id="rId19" imgW="4800600" imgH="457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4987925"/>
                        <a:ext cx="4800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57" name="Group 17"/>
          <p:cNvGrpSpPr>
            <a:grpSpLocks/>
          </p:cNvGrpSpPr>
          <p:nvPr/>
        </p:nvGrpSpPr>
        <p:grpSpPr bwMode="auto">
          <a:xfrm>
            <a:off x="4976813" y="404813"/>
            <a:ext cx="4059237" cy="2670175"/>
            <a:chOff x="3107" y="1492"/>
            <a:chExt cx="2557" cy="1682"/>
          </a:xfrm>
        </p:grpSpPr>
        <p:grpSp>
          <p:nvGrpSpPr>
            <p:cNvPr id="61458" name="Group 18"/>
            <p:cNvGrpSpPr>
              <a:grpSpLocks/>
            </p:cNvGrpSpPr>
            <p:nvPr/>
          </p:nvGrpSpPr>
          <p:grpSpPr bwMode="auto">
            <a:xfrm>
              <a:off x="3107" y="1492"/>
              <a:ext cx="2557" cy="1682"/>
              <a:chOff x="3107" y="1492"/>
              <a:chExt cx="2557" cy="1682"/>
            </a:xfrm>
          </p:grpSpPr>
          <p:grpSp>
            <p:nvGrpSpPr>
              <p:cNvPr id="61459" name="Group 19"/>
              <p:cNvGrpSpPr>
                <a:grpSpLocks/>
              </p:cNvGrpSpPr>
              <p:nvPr/>
            </p:nvGrpSpPr>
            <p:grpSpPr bwMode="auto">
              <a:xfrm>
                <a:off x="3379" y="1616"/>
                <a:ext cx="2154" cy="1270"/>
                <a:chOff x="3538" y="1616"/>
                <a:chExt cx="2154" cy="1270"/>
              </a:xfrm>
            </p:grpSpPr>
            <p:sp>
              <p:nvSpPr>
                <p:cNvPr id="61460" name="Line 20"/>
                <p:cNvSpPr>
                  <a:spLocks noChangeShapeType="1"/>
                </p:cNvSpPr>
                <p:nvPr/>
              </p:nvSpPr>
              <p:spPr bwMode="auto">
                <a:xfrm>
                  <a:off x="3538" y="1616"/>
                  <a:ext cx="0" cy="127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1" name="Line 21"/>
                <p:cNvSpPr>
                  <a:spLocks noChangeShapeType="1"/>
                </p:cNvSpPr>
                <p:nvPr/>
              </p:nvSpPr>
              <p:spPr bwMode="auto">
                <a:xfrm>
                  <a:off x="3538" y="2886"/>
                  <a:ext cx="215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2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538" y="2432"/>
                  <a:ext cx="317" cy="4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3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855" y="1888"/>
                  <a:ext cx="409" cy="544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4" name="Freeform 24"/>
                <p:cNvSpPr>
                  <a:spLocks/>
                </p:cNvSpPr>
                <p:nvPr/>
              </p:nvSpPr>
              <p:spPr bwMode="auto">
                <a:xfrm>
                  <a:off x="4264" y="1888"/>
                  <a:ext cx="1088" cy="862"/>
                </a:xfrm>
                <a:custGeom>
                  <a:avLst/>
                  <a:gdLst>
                    <a:gd name="T0" fmla="*/ 0 w 1088"/>
                    <a:gd name="T1" fmla="*/ 0 h 862"/>
                    <a:gd name="T2" fmla="*/ 267 w 1088"/>
                    <a:gd name="T3" fmla="*/ 343 h 862"/>
                    <a:gd name="T4" fmla="*/ 596 w 1088"/>
                    <a:gd name="T5" fmla="*/ 599 h 862"/>
                    <a:gd name="T6" fmla="*/ 1088 w 1088"/>
                    <a:gd name="T7" fmla="*/ 862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88" h="862">
                      <a:moveTo>
                        <a:pt x="0" y="0"/>
                      </a:moveTo>
                      <a:cubicBezTo>
                        <a:pt x="45" y="57"/>
                        <a:pt x="168" y="243"/>
                        <a:pt x="267" y="343"/>
                      </a:cubicBezTo>
                      <a:cubicBezTo>
                        <a:pt x="366" y="443"/>
                        <a:pt x="459" y="512"/>
                        <a:pt x="596" y="599"/>
                      </a:cubicBezTo>
                      <a:cubicBezTo>
                        <a:pt x="733" y="686"/>
                        <a:pt x="986" y="807"/>
                        <a:pt x="1088" y="862"/>
                      </a:cubicBez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5" name="Freeform 25"/>
                <p:cNvSpPr>
                  <a:spLocks/>
                </p:cNvSpPr>
                <p:nvPr/>
              </p:nvSpPr>
              <p:spPr bwMode="auto">
                <a:xfrm>
                  <a:off x="3855" y="2432"/>
                  <a:ext cx="1497" cy="320"/>
                </a:xfrm>
                <a:custGeom>
                  <a:avLst/>
                  <a:gdLst>
                    <a:gd name="T0" fmla="*/ 0 w 1497"/>
                    <a:gd name="T1" fmla="*/ 0 h 320"/>
                    <a:gd name="T2" fmla="*/ 383 w 1497"/>
                    <a:gd name="T3" fmla="*/ 174 h 320"/>
                    <a:gd name="T4" fmla="*/ 722 w 1497"/>
                    <a:gd name="T5" fmla="*/ 274 h 320"/>
                    <a:gd name="T6" fmla="*/ 1096 w 1497"/>
                    <a:gd name="T7" fmla="*/ 320 h 320"/>
                    <a:gd name="T8" fmla="*/ 1497 w 1497"/>
                    <a:gd name="T9" fmla="*/ 318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7" h="320">
                      <a:moveTo>
                        <a:pt x="0" y="0"/>
                      </a:moveTo>
                      <a:lnTo>
                        <a:pt x="383" y="174"/>
                      </a:lnTo>
                      <a:lnTo>
                        <a:pt x="722" y="274"/>
                      </a:lnTo>
                      <a:lnTo>
                        <a:pt x="1096" y="320"/>
                      </a:lnTo>
                      <a:lnTo>
                        <a:pt x="1497" y="318"/>
                      </a:ln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6" name="Line 26"/>
                <p:cNvSpPr>
                  <a:spLocks noChangeShapeType="1"/>
                </p:cNvSpPr>
                <p:nvPr/>
              </p:nvSpPr>
              <p:spPr bwMode="auto">
                <a:xfrm>
                  <a:off x="3855" y="2432"/>
                  <a:ext cx="0" cy="4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538" y="2432"/>
                  <a:ext cx="31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8" name="Line 28"/>
                <p:cNvSpPr>
                  <a:spLocks noChangeShapeType="1"/>
                </p:cNvSpPr>
                <p:nvPr/>
              </p:nvSpPr>
              <p:spPr bwMode="auto">
                <a:xfrm>
                  <a:off x="4264" y="1888"/>
                  <a:ext cx="0" cy="9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69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38" y="1888"/>
                  <a:ext cx="72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70" name="Line 30"/>
                <p:cNvSpPr>
                  <a:spLocks noChangeShapeType="1"/>
                </p:cNvSpPr>
                <p:nvPr/>
              </p:nvSpPr>
              <p:spPr bwMode="auto">
                <a:xfrm>
                  <a:off x="5352" y="2750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1471" name="Text Box 31"/>
              <p:cNvSpPr txBox="1">
                <a:spLocks noChangeArrowheads="1"/>
              </p:cNvSpPr>
              <p:nvPr/>
            </p:nvSpPr>
            <p:spPr bwMode="auto">
              <a:xfrm>
                <a:off x="3412" y="1492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61472" name="Text Box 32"/>
              <p:cNvSpPr txBox="1">
                <a:spLocks noChangeArrowheads="1"/>
              </p:cNvSpPr>
              <p:nvPr/>
            </p:nvSpPr>
            <p:spPr bwMode="auto">
              <a:xfrm>
                <a:off x="3107" y="175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1473" name="Text Box 33"/>
              <p:cNvSpPr txBox="1">
                <a:spLocks noChangeArrowheads="1"/>
              </p:cNvSpPr>
              <p:nvPr/>
            </p:nvSpPr>
            <p:spPr bwMode="auto">
              <a:xfrm>
                <a:off x="3107" y="2251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1474" name="Text Box 34"/>
              <p:cNvSpPr txBox="1">
                <a:spLocks noChangeArrowheads="1"/>
              </p:cNvSpPr>
              <p:nvPr/>
            </p:nvSpPr>
            <p:spPr bwMode="auto">
              <a:xfrm>
                <a:off x="3124" y="2750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61475" name="Text Box 35"/>
              <p:cNvSpPr txBox="1">
                <a:spLocks noChangeArrowheads="1"/>
              </p:cNvSpPr>
              <p:nvPr/>
            </p:nvSpPr>
            <p:spPr bwMode="auto">
              <a:xfrm>
                <a:off x="3560" y="287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1476" name="Text Box 36"/>
              <p:cNvSpPr txBox="1">
                <a:spLocks noChangeArrowheads="1"/>
              </p:cNvSpPr>
              <p:nvPr/>
            </p:nvSpPr>
            <p:spPr bwMode="auto">
              <a:xfrm>
                <a:off x="3933" y="287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1477" name="Text Box 37"/>
              <p:cNvSpPr txBox="1">
                <a:spLocks noChangeArrowheads="1"/>
              </p:cNvSpPr>
              <p:nvPr/>
            </p:nvSpPr>
            <p:spPr bwMode="auto">
              <a:xfrm>
                <a:off x="5021" y="288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2400" b="1" baseline="-25%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1478" name="Text Box 38"/>
              <p:cNvSpPr txBox="1">
                <a:spLocks noChangeArrowheads="1"/>
              </p:cNvSpPr>
              <p:nvPr/>
            </p:nvSpPr>
            <p:spPr bwMode="auto">
              <a:xfrm>
                <a:off x="5420" y="2886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V</a:t>
                </a:r>
                <a:endParaRPr kumimoji="1" lang="en-US" altLang="zh-CN" sz="2400" b="1" baseline="-25%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79" name="Text Box 39"/>
              <p:cNvSpPr txBox="1">
                <a:spLocks noChangeArrowheads="1"/>
              </p:cNvSpPr>
              <p:nvPr/>
            </p:nvSpPr>
            <p:spPr bwMode="auto">
              <a:xfrm>
                <a:off x="3575" y="214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1480" name="Text Box 40"/>
              <p:cNvSpPr txBox="1">
                <a:spLocks noChangeArrowheads="1"/>
              </p:cNvSpPr>
              <p:nvPr/>
            </p:nvSpPr>
            <p:spPr bwMode="auto">
              <a:xfrm>
                <a:off x="4014" y="16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1481" name="Text Box 41"/>
              <p:cNvSpPr txBox="1">
                <a:spLocks noChangeArrowheads="1"/>
              </p:cNvSpPr>
              <p:nvPr/>
            </p:nvSpPr>
            <p:spPr bwMode="auto">
              <a:xfrm>
                <a:off x="5103" y="246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61482" name="Freeform 42"/>
            <p:cNvSpPr>
              <a:spLocks/>
            </p:cNvSpPr>
            <p:nvPr/>
          </p:nvSpPr>
          <p:spPr bwMode="auto">
            <a:xfrm>
              <a:off x="3833" y="2139"/>
              <a:ext cx="80" cy="113"/>
            </a:xfrm>
            <a:custGeom>
              <a:avLst/>
              <a:gdLst>
                <a:gd name="T0" fmla="*/ 0 w 80"/>
                <a:gd name="T1" fmla="*/ 113 h 113"/>
                <a:gd name="T2" fmla="*/ 80 w 80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113">
                  <a:moveTo>
                    <a:pt x="0" y="113"/>
                  </a:moveTo>
                  <a:lnTo>
                    <a:pt x="8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3" name="Freeform 43"/>
            <p:cNvSpPr>
              <a:spLocks/>
            </p:cNvSpPr>
            <p:nvPr/>
          </p:nvSpPr>
          <p:spPr bwMode="auto">
            <a:xfrm>
              <a:off x="4558" y="2387"/>
              <a:ext cx="96" cy="72"/>
            </a:xfrm>
            <a:custGeom>
              <a:avLst/>
              <a:gdLst>
                <a:gd name="T0" fmla="*/ 0 w 96"/>
                <a:gd name="T1" fmla="*/ 0 h 72"/>
                <a:gd name="T2" fmla="*/ 96 w 96"/>
                <a:gd name="T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72">
                  <a:moveTo>
                    <a:pt x="0" y="0"/>
                  </a:moveTo>
                  <a:lnTo>
                    <a:pt x="96" y="72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4" name="Freeform 44"/>
            <p:cNvSpPr>
              <a:spLocks/>
            </p:cNvSpPr>
            <p:nvPr/>
          </p:nvSpPr>
          <p:spPr bwMode="auto">
            <a:xfrm>
              <a:off x="4379" y="2688"/>
              <a:ext cx="91" cy="24"/>
            </a:xfrm>
            <a:custGeom>
              <a:avLst/>
              <a:gdLst>
                <a:gd name="T0" fmla="*/ 91 w 91"/>
                <a:gd name="T1" fmla="*/ 24 h 24"/>
                <a:gd name="T2" fmla="*/ 0 w 91"/>
                <a:gd name="T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" h="24">
                  <a:moveTo>
                    <a:pt x="91" y="2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86" name="Text Box 46"/>
          <p:cNvSpPr txBox="1">
            <a:spLocks noChangeArrowheads="1"/>
          </p:cNvSpPr>
          <p:nvPr/>
        </p:nvSpPr>
        <p:spPr bwMode="auto">
          <a:xfrm>
            <a:off x="323850" y="5718175"/>
            <a:ext cx="396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%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kumimoji="1" lang="en-US" altLang="zh-CN" b="1">
                <a:latin typeface="Times New Roman" panose="02020603050405020304" pitchFamily="18" charset="0"/>
              </a:rPr>
              <a:t>3-1</a:t>
            </a:r>
            <a:r>
              <a:rPr kumimoji="1" lang="zh-CN" altLang="en-US" b="1">
                <a:latin typeface="Times New Roman" panose="02020603050405020304" pitchFamily="18" charset="0"/>
              </a:rPr>
              <a:t>过程的熵变：</a:t>
            </a:r>
          </a:p>
        </p:txBody>
      </p:sp>
      <p:grpSp>
        <p:nvGrpSpPr>
          <p:cNvPr id="61489" name="Group 49"/>
          <p:cNvGrpSpPr>
            <a:grpSpLocks/>
          </p:cNvGrpSpPr>
          <p:nvPr/>
        </p:nvGrpSpPr>
        <p:grpSpPr bwMode="auto">
          <a:xfrm>
            <a:off x="3443288" y="5562600"/>
            <a:ext cx="5016500" cy="982663"/>
            <a:chOff x="2305" y="3504"/>
            <a:chExt cx="3160" cy="619"/>
          </a:xfrm>
        </p:grpSpPr>
        <p:graphicFrame>
          <p:nvGraphicFramePr>
            <p:cNvPr id="61487" name="Object 47"/>
            <p:cNvGraphicFramePr>
              <a:graphicFrameLocks noChangeAspect="1"/>
            </p:cNvGraphicFramePr>
            <p:nvPr/>
          </p:nvGraphicFramePr>
          <p:xfrm>
            <a:off x="2305" y="3504"/>
            <a:ext cx="3160" cy="619"/>
          </p:xfrm>
          <a:graphic>
            <a:graphicData uri="http://purl.oclc.org/ooxml/officeDocument/oleObject">
              <mc:AlternateContent xmlns:mc="http://schemas.openxmlformats.org/markup-compatibility/2006">
                <mc:Choice xmlns:v="urn:schemas-microsoft-com:vml" Requires="v">
                  <p:oleObj spid="_x0000_s61619" name="Equation" r:id="rId21" imgW="2400120" imgH="444240" progId="Equation.3">
                    <p:embed/>
                  </p:oleObj>
                </mc:Choice>
                <mc:Fallback>
                  <p:oleObj name="Equation" r:id="rId21" imgW="2400120" imgH="44424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5" y="3504"/>
                          <a:ext cx="3160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%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8" name="Line 48"/>
            <p:cNvSpPr>
              <a:spLocks noChangeShapeType="1"/>
            </p:cNvSpPr>
            <p:nvPr/>
          </p:nvSpPr>
          <p:spPr bwMode="auto">
            <a:xfrm>
              <a:off x="3296" y="360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/>
      <p:bldP spid="61449" grpId="0"/>
      <p:bldP spid="61454" grpId="0"/>
      <p:bldP spid="61486" grpId="0"/>
    </p:bldLst>
  </p:timing>
</p:sld>
</file>

<file path=ppt/slides/slide47.xml><?xml version="1.0" encoding="utf-8"?>
<p:sld xmlns:a="http://purl.oclc.org/ooxml/drawingml/main" xmlns:r="http://purl.oclc.org/ooxml/officeDocument/relationships" xmlns:p="http://purl.oclc.org/ooxml/presentationml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4" descr="A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</p:pic>
      <p:sp>
        <p:nvSpPr>
          <p:cNvPr id="110595" name="WordArt 5"/>
          <p:cNvSpPr>
            <a:spLocks noChangeArrowheads="1" noChangeShapeType="1" noTextEdit="1"/>
          </p:cNvSpPr>
          <p:nvPr/>
        </p:nvSpPr>
        <p:spPr bwMode="auto">
          <a:xfrm>
            <a:off x="1763713" y="2590800"/>
            <a:ext cx="5976937" cy="1981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8000" b="1" kern="10">
                <a:ln w="25400">
                  <a:solidFill>
                    <a:srgbClr val="00CCFF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黑体"/>
                <a:ea typeface="黑体"/>
              </a:rPr>
              <a:t>考试顺利！</a:t>
            </a:r>
          </a:p>
        </p:txBody>
      </p:sp>
      <p:sp>
        <p:nvSpPr>
          <p:cNvPr id="110596" name="Text Box 6"/>
          <p:cNvSpPr txBox="1">
            <a:spLocks noChangeArrowheads="1"/>
          </p:cNvSpPr>
          <p:nvPr/>
        </p:nvSpPr>
        <p:spPr bwMode="auto">
          <a:xfrm>
            <a:off x="828675" y="663575"/>
            <a:ext cx="717550" cy="519113"/>
          </a:xfrm>
          <a:prstGeom prst="rect">
            <a:avLst/>
          </a:prstGeom>
          <a:noFill/>
          <a:ln w="19050" algn="ctr">
            <a:noFill/>
            <a:miter lim="800%"/>
            <a:headEnd type="none" w="med" len="lg"/>
            <a:tailEnd type="none" w="med" len="lg"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10597" name="Text Box 7"/>
          <p:cNvSpPr txBox="1">
            <a:spLocks noChangeArrowheads="1"/>
          </p:cNvSpPr>
          <p:nvPr/>
        </p:nvSpPr>
        <p:spPr bwMode="auto">
          <a:xfrm>
            <a:off x="7900988" y="620713"/>
            <a:ext cx="539750" cy="519112"/>
          </a:xfrm>
          <a:prstGeom prst="rect">
            <a:avLst/>
          </a:prstGeom>
          <a:noFill/>
          <a:ln w="19050" algn="ctr">
            <a:noFill/>
            <a:miter lim="800%"/>
            <a:headEnd type="none" w="med" len="lg"/>
            <a:tailEnd type="none" w="med" len="lg"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98</a:t>
            </a:r>
          </a:p>
        </p:txBody>
      </p:sp>
      <p:sp>
        <p:nvSpPr>
          <p:cNvPr id="110598" name="Text Box 8"/>
          <p:cNvSpPr txBox="1">
            <a:spLocks noChangeArrowheads="1"/>
          </p:cNvSpPr>
          <p:nvPr/>
        </p:nvSpPr>
        <p:spPr bwMode="auto">
          <a:xfrm>
            <a:off x="936625" y="5734050"/>
            <a:ext cx="539750" cy="519113"/>
          </a:xfrm>
          <a:prstGeom prst="rect">
            <a:avLst/>
          </a:prstGeom>
          <a:noFill/>
          <a:ln w="19050" algn="ctr">
            <a:noFill/>
            <a:miter lim="800%"/>
            <a:headEnd type="none" w="med" len="lg"/>
            <a:tailEnd type="none" w="med" len="lg"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95</a:t>
            </a:r>
          </a:p>
        </p:txBody>
      </p:sp>
      <p:sp>
        <p:nvSpPr>
          <p:cNvPr id="110599" name="Text Box 9"/>
          <p:cNvSpPr txBox="1">
            <a:spLocks noChangeArrowheads="1"/>
          </p:cNvSpPr>
          <p:nvPr/>
        </p:nvSpPr>
        <p:spPr bwMode="auto">
          <a:xfrm>
            <a:off x="7885113" y="5661025"/>
            <a:ext cx="539750" cy="519113"/>
          </a:xfrm>
          <a:prstGeom prst="rect">
            <a:avLst/>
          </a:prstGeom>
          <a:noFill/>
          <a:ln w="19050" algn="ctr">
            <a:noFill/>
            <a:miter lim="800%"/>
            <a:headEnd type="none" w="med" len="lg"/>
            <a:tailEnd type="none" w="med" len="lg"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946779-8ECF-4F2D-92B3-FAC13FE46DCD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804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purl.oclc.org/ooxml/drawingml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purl.oclc.org/ooxml/drawingml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CDESIGNK</Template>
  <TotalTime>4981</TotalTime>
  <Words>3775</Words>
  <Application>Microsoft Office PowerPoint</Application>
  <PresentationFormat>全屏显示(4:3)</PresentationFormat>
  <Paragraphs>517</Paragraphs>
  <Slides>47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1" baseType="lpstr">
      <vt:lpstr>Gungsuh</vt:lpstr>
      <vt:lpstr>黑体</vt:lpstr>
      <vt:lpstr>华文新魏</vt:lpstr>
      <vt:lpstr>华文中宋</vt:lpstr>
      <vt:lpstr>宋体</vt:lpstr>
      <vt:lpstr>Arial</vt:lpstr>
      <vt:lpstr>Bookman Old Style</vt:lpstr>
      <vt:lpstr>Calibri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Bo</dc:creator>
  <cp:lastModifiedBy>ljshi</cp:lastModifiedBy>
  <cp:revision>172</cp:revision>
  <dcterms:created xsi:type="dcterms:W3CDTF">2007-06-21T16:21:06Z</dcterms:created>
  <dcterms:modified xsi:type="dcterms:W3CDTF">2017-06-14T23:48:34Z</dcterms:modified>
</cp:coreProperties>
</file>