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2"/>
    <p:sldMasterId id="2147483674" r:id="rId3"/>
    <p:sldMasterId id="2147484271" r:id="rId4"/>
  </p:sldMasterIdLst>
  <p:notesMasterIdLst>
    <p:notesMasterId r:id="rId20"/>
  </p:notesMasterIdLst>
  <p:sldIdLst>
    <p:sldId id="269" r:id="rId5"/>
    <p:sldId id="258" r:id="rId6"/>
    <p:sldId id="270" r:id="rId7"/>
    <p:sldId id="271" r:id="rId8"/>
    <p:sldId id="272" r:id="rId9"/>
    <p:sldId id="273" r:id="rId10"/>
    <p:sldId id="274" r:id="rId11"/>
    <p:sldId id="282" r:id="rId12"/>
    <p:sldId id="275" r:id="rId13"/>
    <p:sldId id="277" r:id="rId14"/>
    <p:sldId id="278" r:id="rId15"/>
    <p:sldId id="279" r:id="rId16"/>
    <p:sldId id="280" r:id="rId17"/>
    <p:sldId id="265" r:id="rId18"/>
    <p:sldId id="281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9"/>
    <a:srgbClr val="72FEBF"/>
    <a:srgbClr val="4EF893"/>
    <a:srgbClr val="99FF99"/>
    <a:srgbClr val="66FF66"/>
    <a:srgbClr val="66FF99"/>
    <a:srgbClr val="F1FD51"/>
    <a:srgbClr val="F5ED4D"/>
    <a:srgbClr val="FEFEF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281" autoAdjust="0"/>
  </p:normalViewPr>
  <p:slideViewPr>
    <p:cSldViewPr>
      <p:cViewPr varScale="1">
        <p:scale>
          <a:sx n="107" d="100"/>
          <a:sy n="107" d="100"/>
        </p:scale>
        <p:origin x="171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2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45B8B0-016C-439E-8421-4AAEC9BF054E}" type="doc">
      <dgm:prSet loTypeId="urn:microsoft.com/office/officeart/2008/layout/HorizontalMultiLevelHierarchy" loCatId="hierarchy" qsTypeId="urn:microsoft.com/office/officeart/2005/8/quickstyle/3d5" qsCatId="3D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3CCCCC56-CE06-4F7C-8758-C0F544F4091A}">
      <dgm:prSet phldrT="[文本]"/>
      <dgm:spPr/>
      <dgm:t>
        <a:bodyPr/>
        <a:lstStyle/>
        <a:p>
          <a:endParaRPr lang="zh-CN" altLang="en-US" dirty="0"/>
        </a:p>
      </dgm:t>
    </dgm:pt>
    <dgm:pt modelId="{CDB29B38-238C-4949-ABD7-03C41E7BB7EB}" type="parTrans" cxnId="{77EB4FBE-2479-41C2-B764-6320BCB8984D}">
      <dgm:prSet/>
      <dgm:spPr/>
      <dgm:t>
        <a:bodyPr/>
        <a:lstStyle/>
        <a:p>
          <a:endParaRPr lang="zh-CN" altLang="en-US"/>
        </a:p>
      </dgm:t>
    </dgm:pt>
    <dgm:pt modelId="{D57E974E-A593-4AFE-8E5F-26FF6128DDE7}" type="sibTrans" cxnId="{77EB4FBE-2479-41C2-B764-6320BCB8984D}">
      <dgm:prSet/>
      <dgm:spPr/>
      <dgm:t>
        <a:bodyPr/>
        <a:lstStyle/>
        <a:p>
          <a:endParaRPr lang="zh-CN" altLang="en-US"/>
        </a:p>
      </dgm:t>
    </dgm:pt>
    <dgm:pt modelId="{C905E806-5E4E-4898-A9AA-92D9F63661B5}">
      <dgm:prSet phldrT="[文本]"/>
      <dgm:spPr/>
      <dgm:t>
        <a:bodyPr/>
        <a:lstStyle/>
        <a:p>
          <a:r>
            <a:rPr lang="zh-CN" altLang="en-US" b="1" cap="none" spc="0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rPr>
            <a:t>数值型</a:t>
          </a:r>
          <a:endParaRPr lang="zh-CN" altLang="en-US" b="1" cap="none" spc="0" dirty="0">
            <a:ln w="13462">
              <a:solidFill>
                <a:schemeClr val="bg1"/>
              </a:solidFill>
              <a:prstDash val="solid"/>
            </a:ln>
            <a:solidFill>
              <a:schemeClr val="tx1">
                <a:lumMod val="85000"/>
                <a:lumOff val="15000"/>
              </a:schemeClr>
            </a:solidFill>
            <a:effectLst>
              <a:outerShdw dist="38100" dir="2700000" algn="bl" rotWithShape="0">
                <a:schemeClr val="accent5"/>
              </a:outerShdw>
            </a:effectLst>
            <a:latin typeface="方正舒体" panose="02010601030101010101" pitchFamily="2" charset="-122"/>
            <a:ea typeface="方正舒体" panose="02010601030101010101" pitchFamily="2" charset="-122"/>
          </a:endParaRPr>
        </a:p>
      </dgm:t>
    </dgm:pt>
    <dgm:pt modelId="{0860C579-A539-438B-95A5-F82142018469}" type="parTrans" cxnId="{0E4E4274-E46B-4CB1-9A94-51FCD8E5B093}">
      <dgm:prSet/>
      <dgm:spPr/>
      <dgm:t>
        <a:bodyPr/>
        <a:lstStyle/>
        <a:p>
          <a:endParaRPr lang="zh-CN" altLang="en-US"/>
        </a:p>
      </dgm:t>
    </dgm:pt>
    <dgm:pt modelId="{9EA1AA88-1578-4A1C-AB1C-C91A7C279CEB}" type="sibTrans" cxnId="{0E4E4274-E46B-4CB1-9A94-51FCD8E5B093}">
      <dgm:prSet/>
      <dgm:spPr/>
      <dgm:t>
        <a:bodyPr/>
        <a:lstStyle/>
        <a:p>
          <a:endParaRPr lang="zh-CN" altLang="en-US"/>
        </a:p>
      </dgm:t>
    </dgm:pt>
    <dgm:pt modelId="{DF8D97A6-CABB-4E43-8919-14B530E9A43F}">
      <dgm:prSet phldrT="[文本]"/>
      <dgm:spPr/>
      <dgm:t>
        <a:bodyPr/>
        <a:lstStyle/>
        <a:p>
          <a:r>
            <a:rPr lang="zh-CN" altLang="en-US" b="1" cap="none" spc="0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rPr>
            <a:t>非数值型</a:t>
          </a:r>
          <a:endParaRPr lang="zh-CN" altLang="en-US" b="1" cap="none" spc="0" dirty="0">
            <a:ln w="13462">
              <a:solidFill>
                <a:schemeClr val="bg1"/>
              </a:solidFill>
              <a:prstDash val="solid"/>
            </a:ln>
            <a:solidFill>
              <a:schemeClr val="tx1">
                <a:lumMod val="85000"/>
                <a:lumOff val="15000"/>
              </a:schemeClr>
            </a:solidFill>
            <a:effectLst>
              <a:outerShdw dist="38100" dir="2700000" algn="bl" rotWithShape="0">
                <a:schemeClr val="accent5"/>
              </a:outerShdw>
            </a:effectLst>
            <a:latin typeface="方正舒体" panose="02010601030101010101" pitchFamily="2" charset="-122"/>
            <a:ea typeface="方正舒体" panose="02010601030101010101" pitchFamily="2" charset="-122"/>
          </a:endParaRPr>
        </a:p>
      </dgm:t>
    </dgm:pt>
    <dgm:pt modelId="{CBAD2AA5-CDF0-4B79-A7CC-7362EE6AC888}" type="parTrans" cxnId="{A848B649-21A8-44D0-84F7-06BD5D0E1BF3}">
      <dgm:prSet/>
      <dgm:spPr/>
      <dgm:t>
        <a:bodyPr/>
        <a:lstStyle/>
        <a:p>
          <a:endParaRPr lang="zh-CN" altLang="en-US"/>
        </a:p>
      </dgm:t>
    </dgm:pt>
    <dgm:pt modelId="{B614CA5B-CC1F-47AD-98DC-CE134E52BA56}" type="sibTrans" cxnId="{A848B649-21A8-44D0-84F7-06BD5D0E1BF3}">
      <dgm:prSet/>
      <dgm:spPr/>
      <dgm:t>
        <a:bodyPr/>
        <a:lstStyle/>
        <a:p>
          <a:endParaRPr lang="zh-CN" altLang="en-US"/>
        </a:p>
      </dgm:t>
    </dgm:pt>
    <dgm:pt modelId="{7413666C-561E-4312-BA0D-51868BEBB4C0}" type="pres">
      <dgm:prSet presAssocID="{4C45B8B0-016C-439E-8421-4AAEC9BF054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81D2AE6-1B3F-4F5A-A23F-746556EDC5ED}" type="pres">
      <dgm:prSet presAssocID="{3CCCCC56-CE06-4F7C-8758-C0F544F4091A}" presName="root1" presStyleCnt="0"/>
      <dgm:spPr/>
    </dgm:pt>
    <dgm:pt modelId="{4193FFB2-85F4-44E1-889B-EEE2EE3771B0}" type="pres">
      <dgm:prSet presAssocID="{3CCCCC56-CE06-4F7C-8758-C0F544F4091A}" presName="LevelOneTextNode" presStyleLbl="node0" presStyleIdx="0" presStyleCnt="1" custLinFactNeighborX="-217" custLinFactNeighborY="504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011931E-6E37-44B0-976A-9CB4D2AB0E96}" type="pres">
      <dgm:prSet presAssocID="{3CCCCC56-CE06-4F7C-8758-C0F544F4091A}" presName="level2hierChild" presStyleCnt="0"/>
      <dgm:spPr/>
    </dgm:pt>
    <dgm:pt modelId="{740DA522-0DA0-4381-BBA9-F2CC33E0F0EE}" type="pres">
      <dgm:prSet presAssocID="{0860C579-A539-438B-95A5-F82142018469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D993197E-AF6A-4B7C-AF60-E50B29EEF503}" type="pres">
      <dgm:prSet presAssocID="{0860C579-A539-438B-95A5-F82142018469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6939B079-FE57-4934-9970-7AB193395F01}" type="pres">
      <dgm:prSet presAssocID="{C905E806-5E4E-4898-A9AA-92D9F63661B5}" presName="root2" presStyleCnt="0"/>
      <dgm:spPr/>
    </dgm:pt>
    <dgm:pt modelId="{B6B0AE26-13D4-4508-AB70-0814C9E2586F}" type="pres">
      <dgm:prSet presAssocID="{C905E806-5E4E-4898-A9AA-92D9F63661B5}" presName="LevelTwoTextNode" presStyleLbl="node2" presStyleIdx="0" presStyleCnt="2" custLinFactY="-1141" custLinFactNeighborX="7242" custLinFactNeighborY="-10000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E64F73F-F0E6-497F-8CCF-E3F66B1A3505}" type="pres">
      <dgm:prSet presAssocID="{C905E806-5E4E-4898-A9AA-92D9F63661B5}" presName="level3hierChild" presStyleCnt="0"/>
      <dgm:spPr/>
    </dgm:pt>
    <dgm:pt modelId="{87F6C282-7337-4698-9DF1-6FC411DEBCAF}" type="pres">
      <dgm:prSet presAssocID="{CBAD2AA5-CDF0-4B79-A7CC-7362EE6AC888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EECECF58-394F-4EA8-9B1B-74C01C773C1A}" type="pres">
      <dgm:prSet presAssocID="{CBAD2AA5-CDF0-4B79-A7CC-7362EE6AC888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9751C8E7-D4E1-4098-9A1D-29B3694EB654}" type="pres">
      <dgm:prSet presAssocID="{DF8D97A6-CABB-4E43-8919-14B530E9A43F}" presName="root2" presStyleCnt="0"/>
      <dgm:spPr/>
    </dgm:pt>
    <dgm:pt modelId="{34BCEE75-F1DA-4AF3-81AA-4E88CFFE6B6D}" type="pres">
      <dgm:prSet presAssocID="{DF8D97A6-CABB-4E43-8919-14B530E9A43F}" presName="LevelTwoTextNode" presStyleLbl="node2" presStyleIdx="1" presStyleCnt="2" custLinFactNeighborX="7242" custLinFactNeighborY="9555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CF5C170-5808-41D9-9D7D-38B322202E2E}" type="pres">
      <dgm:prSet presAssocID="{DF8D97A6-CABB-4E43-8919-14B530E9A43F}" presName="level3hierChild" presStyleCnt="0"/>
      <dgm:spPr/>
    </dgm:pt>
  </dgm:ptLst>
  <dgm:cxnLst>
    <dgm:cxn modelId="{8A7163E3-068F-4CBF-8B32-BAB016253D33}" type="presOf" srcId="{CBAD2AA5-CDF0-4B79-A7CC-7362EE6AC888}" destId="{EECECF58-394F-4EA8-9B1B-74C01C773C1A}" srcOrd="1" destOrd="0" presId="urn:microsoft.com/office/officeart/2008/layout/HorizontalMultiLevelHierarchy"/>
    <dgm:cxn modelId="{5871F442-6596-4E9C-B22B-B27C3D0293F4}" type="presOf" srcId="{C905E806-5E4E-4898-A9AA-92D9F63661B5}" destId="{B6B0AE26-13D4-4508-AB70-0814C9E2586F}" srcOrd="0" destOrd="0" presId="urn:microsoft.com/office/officeart/2008/layout/HorizontalMultiLevelHierarchy"/>
    <dgm:cxn modelId="{8730603F-FC55-4D91-8076-6F0A01D38B44}" type="presOf" srcId="{0860C579-A539-438B-95A5-F82142018469}" destId="{D993197E-AF6A-4B7C-AF60-E50B29EEF503}" srcOrd="1" destOrd="0" presId="urn:microsoft.com/office/officeart/2008/layout/HorizontalMultiLevelHierarchy"/>
    <dgm:cxn modelId="{4B7B6EC5-7237-4B90-97D2-EFA5E417B594}" type="presOf" srcId="{DF8D97A6-CABB-4E43-8919-14B530E9A43F}" destId="{34BCEE75-F1DA-4AF3-81AA-4E88CFFE6B6D}" srcOrd="0" destOrd="0" presId="urn:microsoft.com/office/officeart/2008/layout/HorizontalMultiLevelHierarchy"/>
    <dgm:cxn modelId="{77EB4FBE-2479-41C2-B764-6320BCB8984D}" srcId="{4C45B8B0-016C-439E-8421-4AAEC9BF054E}" destId="{3CCCCC56-CE06-4F7C-8758-C0F544F4091A}" srcOrd="0" destOrd="0" parTransId="{CDB29B38-238C-4949-ABD7-03C41E7BB7EB}" sibTransId="{D57E974E-A593-4AFE-8E5F-26FF6128DDE7}"/>
    <dgm:cxn modelId="{0E4E4274-E46B-4CB1-9A94-51FCD8E5B093}" srcId="{3CCCCC56-CE06-4F7C-8758-C0F544F4091A}" destId="{C905E806-5E4E-4898-A9AA-92D9F63661B5}" srcOrd="0" destOrd="0" parTransId="{0860C579-A539-438B-95A5-F82142018469}" sibTransId="{9EA1AA88-1578-4A1C-AB1C-C91A7C279CEB}"/>
    <dgm:cxn modelId="{753C3C81-FAAE-48A2-94D1-F40BB242B790}" type="presOf" srcId="{0860C579-A539-438B-95A5-F82142018469}" destId="{740DA522-0DA0-4381-BBA9-F2CC33E0F0EE}" srcOrd="0" destOrd="0" presId="urn:microsoft.com/office/officeart/2008/layout/HorizontalMultiLevelHierarchy"/>
    <dgm:cxn modelId="{A848B649-21A8-44D0-84F7-06BD5D0E1BF3}" srcId="{3CCCCC56-CE06-4F7C-8758-C0F544F4091A}" destId="{DF8D97A6-CABB-4E43-8919-14B530E9A43F}" srcOrd="1" destOrd="0" parTransId="{CBAD2AA5-CDF0-4B79-A7CC-7362EE6AC888}" sibTransId="{B614CA5B-CC1F-47AD-98DC-CE134E52BA56}"/>
    <dgm:cxn modelId="{5531D4A1-3B0A-47A2-8207-AA146D043AA1}" type="presOf" srcId="{CBAD2AA5-CDF0-4B79-A7CC-7362EE6AC888}" destId="{87F6C282-7337-4698-9DF1-6FC411DEBCAF}" srcOrd="0" destOrd="0" presId="urn:microsoft.com/office/officeart/2008/layout/HorizontalMultiLevelHierarchy"/>
    <dgm:cxn modelId="{5A9BF47A-54D4-45ED-984F-6DAB07CE4CEF}" type="presOf" srcId="{4C45B8B0-016C-439E-8421-4AAEC9BF054E}" destId="{7413666C-561E-4312-BA0D-51868BEBB4C0}" srcOrd="0" destOrd="0" presId="urn:microsoft.com/office/officeart/2008/layout/HorizontalMultiLevelHierarchy"/>
    <dgm:cxn modelId="{494A6538-4425-48F7-B950-2F5C4F78B69E}" type="presOf" srcId="{3CCCCC56-CE06-4F7C-8758-C0F544F4091A}" destId="{4193FFB2-85F4-44E1-889B-EEE2EE3771B0}" srcOrd="0" destOrd="0" presId="urn:microsoft.com/office/officeart/2008/layout/HorizontalMultiLevelHierarchy"/>
    <dgm:cxn modelId="{40DA5CB7-FE3B-4EC0-9355-480B7E3F9178}" type="presParOf" srcId="{7413666C-561E-4312-BA0D-51868BEBB4C0}" destId="{481D2AE6-1B3F-4F5A-A23F-746556EDC5ED}" srcOrd="0" destOrd="0" presId="urn:microsoft.com/office/officeart/2008/layout/HorizontalMultiLevelHierarchy"/>
    <dgm:cxn modelId="{9EC901B7-5FD2-4F14-8469-38C68F538C76}" type="presParOf" srcId="{481D2AE6-1B3F-4F5A-A23F-746556EDC5ED}" destId="{4193FFB2-85F4-44E1-889B-EEE2EE3771B0}" srcOrd="0" destOrd="0" presId="urn:microsoft.com/office/officeart/2008/layout/HorizontalMultiLevelHierarchy"/>
    <dgm:cxn modelId="{8203129E-F02C-4CA4-8991-0E8280D12CC9}" type="presParOf" srcId="{481D2AE6-1B3F-4F5A-A23F-746556EDC5ED}" destId="{A011931E-6E37-44B0-976A-9CB4D2AB0E96}" srcOrd="1" destOrd="0" presId="urn:microsoft.com/office/officeart/2008/layout/HorizontalMultiLevelHierarchy"/>
    <dgm:cxn modelId="{6BFB807C-7D76-4C5B-B592-BCADC029CEDD}" type="presParOf" srcId="{A011931E-6E37-44B0-976A-9CB4D2AB0E96}" destId="{740DA522-0DA0-4381-BBA9-F2CC33E0F0EE}" srcOrd="0" destOrd="0" presId="urn:microsoft.com/office/officeart/2008/layout/HorizontalMultiLevelHierarchy"/>
    <dgm:cxn modelId="{C7648BDB-4ED7-47B3-A0BD-1288A27C914A}" type="presParOf" srcId="{740DA522-0DA0-4381-BBA9-F2CC33E0F0EE}" destId="{D993197E-AF6A-4B7C-AF60-E50B29EEF503}" srcOrd="0" destOrd="0" presId="urn:microsoft.com/office/officeart/2008/layout/HorizontalMultiLevelHierarchy"/>
    <dgm:cxn modelId="{16E2F60C-A1F7-4E47-9E58-F364EF0A3A89}" type="presParOf" srcId="{A011931E-6E37-44B0-976A-9CB4D2AB0E96}" destId="{6939B079-FE57-4934-9970-7AB193395F01}" srcOrd="1" destOrd="0" presId="urn:microsoft.com/office/officeart/2008/layout/HorizontalMultiLevelHierarchy"/>
    <dgm:cxn modelId="{B33E31DC-C8BA-450E-802A-6C7F94CD3AC1}" type="presParOf" srcId="{6939B079-FE57-4934-9970-7AB193395F01}" destId="{B6B0AE26-13D4-4508-AB70-0814C9E2586F}" srcOrd="0" destOrd="0" presId="urn:microsoft.com/office/officeart/2008/layout/HorizontalMultiLevelHierarchy"/>
    <dgm:cxn modelId="{1670BAE4-680F-4E81-B454-600AE166B5D9}" type="presParOf" srcId="{6939B079-FE57-4934-9970-7AB193395F01}" destId="{8E64F73F-F0E6-497F-8CCF-E3F66B1A3505}" srcOrd="1" destOrd="0" presId="urn:microsoft.com/office/officeart/2008/layout/HorizontalMultiLevelHierarchy"/>
    <dgm:cxn modelId="{FF5C14C1-EBBE-4AA8-A5BA-C9E77328B7F6}" type="presParOf" srcId="{A011931E-6E37-44B0-976A-9CB4D2AB0E96}" destId="{87F6C282-7337-4698-9DF1-6FC411DEBCAF}" srcOrd="2" destOrd="0" presId="urn:microsoft.com/office/officeart/2008/layout/HorizontalMultiLevelHierarchy"/>
    <dgm:cxn modelId="{BF34B184-FD6B-4628-8D47-7DC9A4121AFB}" type="presParOf" srcId="{87F6C282-7337-4698-9DF1-6FC411DEBCAF}" destId="{EECECF58-394F-4EA8-9B1B-74C01C773C1A}" srcOrd="0" destOrd="0" presId="urn:microsoft.com/office/officeart/2008/layout/HorizontalMultiLevelHierarchy"/>
    <dgm:cxn modelId="{E8461753-3D7F-4B0D-AEB1-7D31428A45CA}" type="presParOf" srcId="{A011931E-6E37-44B0-976A-9CB4D2AB0E96}" destId="{9751C8E7-D4E1-4098-9A1D-29B3694EB654}" srcOrd="3" destOrd="0" presId="urn:microsoft.com/office/officeart/2008/layout/HorizontalMultiLevelHierarchy"/>
    <dgm:cxn modelId="{B1BE3187-06F5-4274-ADEC-CD7F341091DB}" type="presParOf" srcId="{9751C8E7-D4E1-4098-9A1D-29B3694EB654}" destId="{34BCEE75-F1DA-4AF3-81AA-4E88CFFE6B6D}" srcOrd="0" destOrd="0" presId="urn:microsoft.com/office/officeart/2008/layout/HorizontalMultiLevelHierarchy"/>
    <dgm:cxn modelId="{3B029EED-EEDA-4EDF-9CED-7D4DE3D445BD}" type="presParOf" srcId="{9751C8E7-D4E1-4098-9A1D-29B3694EB654}" destId="{1CF5C170-5808-41D9-9D7D-38B322202E2E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C9330D-DC46-4255-AAA3-CEBBFE59DBFE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30BC1BCA-473B-4090-B335-05AF3FF2A195}">
      <dgm:prSet phldrT="[文本]" custT="1"/>
      <dgm:spPr/>
      <dgm:t>
        <a:bodyPr/>
        <a:lstStyle/>
        <a:p>
          <a:r>
            <a:rPr lang="zh-CN" altLang="en-US" sz="2800" dirty="0" smtClean="0">
              <a:latin typeface="幼圆" panose="02010509060101010101" pitchFamily="49" charset="-122"/>
              <a:ea typeface="幼圆" panose="02010509060101010101" pitchFamily="49" charset="-122"/>
            </a:rPr>
            <a:t>建立数学模型</a:t>
          </a:r>
          <a:endParaRPr lang="zh-CN" altLang="en-US" sz="2800" dirty="0">
            <a:latin typeface="幼圆" panose="02010509060101010101" pitchFamily="49" charset="-122"/>
            <a:ea typeface="幼圆" panose="02010509060101010101" pitchFamily="49" charset="-122"/>
          </a:endParaRPr>
        </a:p>
      </dgm:t>
    </dgm:pt>
    <dgm:pt modelId="{431E06CE-078C-45A6-80A7-7068BE342A6C}" type="parTrans" cxnId="{019CF7E0-70DD-4543-90A4-DB034CE12A3D}">
      <dgm:prSet/>
      <dgm:spPr/>
      <dgm:t>
        <a:bodyPr/>
        <a:lstStyle/>
        <a:p>
          <a:endParaRPr lang="zh-CN" altLang="en-US"/>
        </a:p>
      </dgm:t>
    </dgm:pt>
    <dgm:pt modelId="{0C31B31C-743A-41D2-AEA2-806BF259B741}" type="sibTrans" cxnId="{019CF7E0-70DD-4543-90A4-DB034CE12A3D}">
      <dgm:prSet/>
      <dgm:spPr/>
      <dgm:t>
        <a:bodyPr/>
        <a:lstStyle/>
        <a:p>
          <a:endParaRPr lang="zh-CN" altLang="en-US"/>
        </a:p>
      </dgm:t>
    </dgm:pt>
    <dgm:pt modelId="{2DA581E9-F7FA-4060-8CCC-1D7C1942C551}">
      <dgm:prSet phldrT="[文本]" custT="1"/>
      <dgm:spPr/>
      <dgm:t>
        <a:bodyPr/>
        <a:lstStyle/>
        <a:p>
          <a:r>
            <a:rPr lang="zh-CN" altLang="en-US" sz="2800" dirty="0" smtClean="0">
              <a:latin typeface="幼圆" panose="02010509060101010101" pitchFamily="49" charset="-122"/>
              <a:ea typeface="幼圆" panose="02010509060101010101" pitchFamily="49" charset="-122"/>
            </a:rPr>
            <a:t>相当于写递推公式：在前一项基础上做什么才能得到它的下一项？</a:t>
          </a:r>
          <a:endParaRPr lang="zh-CN" altLang="en-US" sz="2800" dirty="0">
            <a:latin typeface="幼圆" panose="02010509060101010101" pitchFamily="49" charset="-122"/>
            <a:ea typeface="幼圆" panose="02010509060101010101" pitchFamily="49" charset="-122"/>
          </a:endParaRPr>
        </a:p>
      </dgm:t>
    </dgm:pt>
    <dgm:pt modelId="{629FB7BB-F3D1-4E2D-A44D-89DDF5312C6B}" type="parTrans" cxnId="{EC46D5FA-8A66-478E-AA5A-E56C8C33B310}">
      <dgm:prSet/>
      <dgm:spPr/>
      <dgm:t>
        <a:bodyPr/>
        <a:lstStyle/>
        <a:p>
          <a:endParaRPr lang="zh-CN" altLang="en-US"/>
        </a:p>
      </dgm:t>
    </dgm:pt>
    <dgm:pt modelId="{4B4E4D77-70CA-40D9-872F-BFFFB342CB74}" type="sibTrans" cxnId="{EC46D5FA-8A66-478E-AA5A-E56C8C33B310}">
      <dgm:prSet/>
      <dgm:spPr/>
      <dgm:t>
        <a:bodyPr/>
        <a:lstStyle/>
        <a:p>
          <a:endParaRPr lang="zh-CN" altLang="en-US"/>
        </a:p>
      </dgm:t>
    </dgm:pt>
    <dgm:pt modelId="{45B8574E-013F-43E1-8F49-9809C4E71885}">
      <dgm:prSet phldrT="[文本]" custT="1"/>
      <dgm:spPr/>
      <dgm:t>
        <a:bodyPr/>
        <a:lstStyle/>
        <a:p>
          <a:r>
            <a:rPr lang="zh-CN" altLang="en-US" sz="2800" dirty="0" smtClean="0">
              <a:latin typeface="幼圆" panose="02010509060101010101" pitchFamily="49" charset="-122"/>
              <a:ea typeface="幼圆" panose="02010509060101010101" pitchFamily="49" charset="-122"/>
            </a:rPr>
            <a:t>确定终止条件</a:t>
          </a:r>
          <a:endParaRPr lang="zh-CN" altLang="en-US" sz="2800" dirty="0">
            <a:latin typeface="幼圆" panose="02010509060101010101" pitchFamily="49" charset="-122"/>
            <a:ea typeface="幼圆" panose="02010509060101010101" pitchFamily="49" charset="-122"/>
          </a:endParaRPr>
        </a:p>
      </dgm:t>
    </dgm:pt>
    <dgm:pt modelId="{D085D1C9-89BA-4D69-AEB7-CC1EF2E541DE}" type="parTrans" cxnId="{C640F3D8-803C-4C44-810A-951D0BA246E7}">
      <dgm:prSet/>
      <dgm:spPr/>
      <dgm:t>
        <a:bodyPr/>
        <a:lstStyle/>
        <a:p>
          <a:endParaRPr lang="zh-CN" altLang="en-US"/>
        </a:p>
      </dgm:t>
    </dgm:pt>
    <dgm:pt modelId="{4BA40538-54D1-4854-A076-085BEE4DFC3D}" type="sibTrans" cxnId="{C640F3D8-803C-4C44-810A-951D0BA246E7}">
      <dgm:prSet/>
      <dgm:spPr/>
      <dgm:t>
        <a:bodyPr/>
        <a:lstStyle/>
        <a:p>
          <a:endParaRPr lang="zh-CN" altLang="en-US"/>
        </a:p>
      </dgm:t>
    </dgm:pt>
    <dgm:pt modelId="{88C1D29F-95EE-4450-8CFE-4D0307033819}">
      <dgm:prSet phldrT="[文本]" custT="1"/>
      <dgm:spPr/>
      <dgm:t>
        <a:bodyPr/>
        <a:lstStyle/>
        <a:p>
          <a:r>
            <a:rPr lang="zh-CN" altLang="en-US" sz="2800" dirty="0" smtClean="0">
              <a:latin typeface="幼圆" panose="02010509060101010101" pitchFamily="49" charset="-122"/>
              <a:ea typeface="幼圆" panose="02010509060101010101" pitchFamily="49" charset="-122"/>
            </a:rPr>
            <a:t>相当于确定首项：遇到什么的时候无法再往下计算？</a:t>
          </a:r>
          <a:endParaRPr lang="zh-CN" altLang="en-US" sz="2800" dirty="0">
            <a:latin typeface="幼圆" panose="02010509060101010101" pitchFamily="49" charset="-122"/>
            <a:ea typeface="幼圆" panose="02010509060101010101" pitchFamily="49" charset="-122"/>
          </a:endParaRPr>
        </a:p>
      </dgm:t>
    </dgm:pt>
    <dgm:pt modelId="{5599F508-0764-4ACF-A9D6-4583BF754F92}" type="parTrans" cxnId="{5C93C66C-233E-44C7-8997-D74CF44770CA}">
      <dgm:prSet/>
      <dgm:spPr/>
      <dgm:t>
        <a:bodyPr/>
        <a:lstStyle/>
        <a:p>
          <a:endParaRPr lang="zh-CN" altLang="en-US"/>
        </a:p>
      </dgm:t>
    </dgm:pt>
    <dgm:pt modelId="{278C07F2-43BD-4493-B138-1A650FA8305D}" type="sibTrans" cxnId="{5C93C66C-233E-44C7-8997-D74CF44770CA}">
      <dgm:prSet/>
      <dgm:spPr/>
      <dgm:t>
        <a:bodyPr/>
        <a:lstStyle/>
        <a:p>
          <a:endParaRPr lang="zh-CN" altLang="en-US"/>
        </a:p>
      </dgm:t>
    </dgm:pt>
    <dgm:pt modelId="{9142E0E4-D844-458C-99E1-2E7C138980FD}">
      <dgm:prSet phldrT="[文本]" custT="1"/>
      <dgm:spPr/>
      <dgm:t>
        <a:bodyPr/>
        <a:lstStyle/>
        <a:p>
          <a:r>
            <a:rPr lang="zh-CN" altLang="en-US" sz="2800" dirty="0" smtClean="0">
              <a:latin typeface="幼圆" panose="02010509060101010101" pitchFamily="49" charset="-122"/>
              <a:ea typeface="幼圆" panose="02010509060101010101" pitchFamily="49" charset="-122"/>
            </a:rPr>
            <a:t>模型转为程序</a:t>
          </a:r>
          <a:endParaRPr lang="zh-CN" altLang="en-US" sz="2800" dirty="0">
            <a:latin typeface="幼圆" panose="02010509060101010101" pitchFamily="49" charset="-122"/>
            <a:ea typeface="幼圆" panose="02010509060101010101" pitchFamily="49" charset="-122"/>
          </a:endParaRPr>
        </a:p>
      </dgm:t>
    </dgm:pt>
    <dgm:pt modelId="{0B94F2D0-A405-4D0E-921B-F282E24244B1}" type="parTrans" cxnId="{F4AED3F3-98F5-45CF-8B52-EE19D1BBFABA}">
      <dgm:prSet/>
      <dgm:spPr/>
      <dgm:t>
        <a:bodyPr/>
        <a:lstStyle/>
        <a:p>
          <a:endParaRPr lang="zh-CN" altLang="en-US"/>
        </a:p>
      </dgm:t>
    </dgm:pt>
    <dgm:pt modelId="{7E7A01B3-0F2A-42F9-96F6-C94EE8362172}" type="sibTrans" cxnId="{F4AED3F3-98F5-45CF-8B52-EE19D1BBFABA}">
      <dgm:prSet/>
      <dgm:spPr/>
      <dgm:t>
        <a:bodyPr/>
        <a:lstStyle/>
        <a:p>
          <a:endParaRPr lang="zh-CN" altLang="en-US"/>
        </a:p>
      </dgm:t>
    </dgm:pt>
    <dgm:pt modelId="{BDBE07F3-D6E1-4ACE-A2F0-6FF68F8A29E3}">
      <dgm:prSet phldrT="[文本]" custT="1"/>
      <dgm:spPr/>
      <dgm:t>
        <a:bodyPr/>
        <a:lstStyle/>
        <a:p>
          <a:pPr algn="ctr"/>
          <a:r>
            <a:rPr lang="zh-CN" altLang="en-US" sz="4800" dirty="0" smtClean="0">
              <a:latin typeface="幼圆" panose="02010509060101010101" pitchFamily="49" charset="-122"/>
              <a:ea typeface="幼圆" panose="02010509060101010101" pitchFamily="49" charset="-122"/>
            </a:rPr>
            <a:t>你懂的 </a:t>
          </a:r>
          <a:r>
            <a:rPr lang="en-US" altLang="zh-CN" sz="4800" dirty="0" smtClean="0">
              <a:latin typeface="幼圆" panose="02010509060101010101" pitchFamily="49" charset="-122"/>
              <a:ea typeface="幼圆" panose="02010509060101010101" pitchFamily="49" charset="-122"/>
            </a:rPr>
            <a:t>- - </a:t>
          </a:r>
          <a:r>
            <a:rPr lang="zh-CN" altLang="en-US" sz="4800" dirty="0" smtClean="0">
              <a:latin typeface="幼圆" panose="02010509060101010101" pitchFamily="49" charset="-122"/>
              <a:ea typeface="幼圆" panose="02010509060101010101" pitchFamily="49" charset="-122"/>
            </a:rPr>
            <a:t>！</a:t>
          </a:r>
          <a:endParaRPr lang="zh-CN" altLang="en-US" sz="4800" dirty="0">
            <a:latin typeface="幼圆" panose="02010509060101010101" pitchFamily="49" charset="-122"/>
            <a:ea typeface="幼圆" panose="02010509060101010101" pitchFamily="49" charset="-122"/>
          </a:endParaRPr>
        </a:p>
      </dgm:t>
    </dgm:pt>
    <dgm:pt modelId="{5C7EE243-4AF0-4F80-A214-22D3CB5518B6}" type="parTrans" cxnId="{D59F4706-4C04-4BAB-AA41-A19751A4B613}">
      <dgm:prSet/>
      <dgm:spPr/>
      <dgm:t>
        <a:bodyPr/>
        <a:lstStyle/>
        <a:p>
          <a:endParaRPr lang="zh-CN" altLang="en-US"/>
        </a:p>
      </dgm:t>
    </dgm:pt>
    <dgm:pt modelId="{6ECCBDA8-5209-45C7-A64B-2526D088402B}" type="sibTrans" cxnId="{D59F4706-4C04-4BAB-AA41-A19751A4B613}">
      <dgm:prSet/>
      <dgm:spPr/>
      <dgm:t>
        <a:bodyPr/>
        <a:lstStyle/>
        <a:p>
          <a:endParaRPr lang="zh-CN" altLang="en-US"/>
        </a:p>
      </dgm:t>
    </dgm:pt>
    <dgm:pt modelId="{0B9F6AF6-5026-4984-9169-3C527EDCB4DE}" type="pres">
      <dgm:prSet presAssocID="{A5C9330D-DC46-4255-AAA3-CEBBFE59DBFE}" presName="Name0" presStyleCnt="0">
        <dgm:presLayoutVars>
          <dgm:chMax val="5"/>
          <dgm:chPref val="5"/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9D91DED0-160F-4BF7-AAA3-E7DB9E8DCF57}" type="pres">
      <dgm:prSet presAssocID="{30BC1BCA-473B-4090-B335-05AF3FF2A195}" presName="parentText1" presStyleLbl="node1" presStyleIdx="0" presStyleCnt="3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0715FF9-0C3C-464F-8127-FDCE059465C8}" type="pres">
      <dgm:prSet presAssocID="{30BC1BCA-473B-4090-B335-05AF3FF2A195}" presName="childText1" presStyleLbl="solidAlignAcc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6134861-8D41-434A-93DB-61B95076826D}" type="pres">
      <dgm:prSet presAssocID="{45B8574E-013F-43E1-8F49-9809C4E71885}" presName="parentText2" presStyleLbl="node1" presStyleIdx="1" presStyleCnt="3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1676887-C5B5-4670-9027-7A01D632C3D6}" type="pres">
      <dgm:prSet presAssocID="{45B8574E-013F-43E1-8F49-9809C4E71885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DEB229E-9EE9-47AE-8881-E5DDC711279C}" type="pres">
      <dgm:prSet presAssocID="{9142E0E4-D844-458C-99E1-2E7C138980FD}" presName="parentText3" presStyleLbl="node1" presStyleIdx="2" presStyleCnt="3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59D0037-D3AE-4D21-AF6A-23ABE818FAD3}" type="pres">
      <dgm:prSet presAssocID="{9142E0E4-D844-458C-99E1-2E7C138980FD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C46D5FA-8A66-478E-AA5A-E56C8C33B310}" srcId="{30BC1BCA-473B-4090-B335-05AF3FF2A195}" destId="{2DA581E9-F7FA-4060-8CCC-1D7C1942C551}" srcOrd="0" destOrd="0" parTransId="{629FB7BB-F3D1-4E2D-A44D-89DDF5312C6B}" sibTransId="{4B4E4D77-70CA-40D9-872F-BFFFB342CB74}"/>
    <dgm:cxn modelId="{D12A40E0-BCA6-4886-8C19-2050E138662F}" type="presOf" srcId="{A5C9330D-DC46-4255-AAA3-CEBBFE59DBFE}" destId="{0B9F6AF6-5026-4984-9169-3C527EDCB4DE}" srcOrd="0" destOrd="0" presId="urn:microsoft.com/office/officeart/2009/3/layout/IncreasingArrowsProcess"/>
    <dgm:cxn modelId="{33FB9AEA-7433-4DC7-A59D-62E0F1733F69}" type="presOf" srcId="{2DA581E9-F7FA-4060-8CCC-1D7C1942C551}" destId="{60715FF9-0C3C-464F-8127-FDCE059465C8}" srcOrd="0" destOrd="0" presId="urn:microsoft.com/office/officeart/2009/3/layout/IncreasingArrowsProcess"/>
    <dgm:cxn modelId="{33A88A71-95F2-4EDE-97C3-02FB61156678}" type="presOf" srcId="{BDBE07F3-D6E1-4ACE-A2F0-6FF68F8A29E3}" destId="{A59D0037-D3AE-4D21-AF6A-23ABE818FAD3}" srcOrd="0" destOrd="0" presId="urn:microsoft.com/office/officeart/2009/3/layout/IncreasingArrowsProcess"/>
    <dgm:cxn modelId="{22601171-D97F-4CBC-98CD-2846013860CE}" type="presOf" srcId="{45B8574E-013F-43E1-8F49-9809C4E71885}" destId="{56134861-8D41-434A-93DB-61B95076826D}" srcOrd="0" destOrd="0" presId="urn:microsoft.com/office/officeart/2009/3/layout/IncreasingArrowsProcess"/>
    <dgm:cxn modelId="{BFE7DAAC-1767-428B-A908-85480BBFD1D6}" type="presOf" srcId="{30BC1BCA-473B-4090-B335-05AF3FF2A195}" destId="{9D91DED0-160F-4BF7-AAA3-E7DB9E8DCF57}" srcOrd="0" destOrd="0" presId="urn:microsoft.com/office/officeart/2009/3/layout/IncreasingArrowsProcess"/>
    <dgm:cxn modelId="{EF1C225B-13C4-4896-BDD4-347F7EEB2ECD}" type="presOf" srcId="{88C1D29F-95EE-4450-8CFE-4D0307033819}" destId="{F1676887-C5B5-4670-9027-7A01D632C3D6}" srcOrd="0" destOrd="0" presId="urn:microsoft.com/office/officeart/2009/3/layout/IncreasingArrowsProcess"/>
    <dgm:cxn modelId="{C640F3D8-803C-4C44-810A-951D0BA246E7}" srcId="{A5C9330D-DC46-4255-AAA3-CEBBFE59DBFE}" destId="{45B8574E-013F-43E1-8F49-9809C4E71885}" srcOrd="1" destOrd="0" parTransId="{D085D1C9-89BA-4D69-AEB7-CC1EF2E541DE}" sibTransId="{4BA40538-54D1-4854-A076-085BEE4DFC3D}"/>
    <dgm:cxn modelId="{F4AED3F3-98F5-45CF-8B52-EE19D1BBFABA}" srcId="{A5C9330D-DC46-4255-AAA3-CEBBFE59DBFE}" destId="{9142E0E4-D844-458C-99E1-2E7C138980FD}" srcOrd="2" destOrd="0" parTransId="{0B94F2D0-A405-4D0E-921B-F282E24244B1}" sibTransId="{7E7A01B3-0F2A-42F9-96F6-C94EE8362172}"/>
    <dgm:cxn modelId="{019CF7E0-70DD-4543-90A4-DB034CE12A3D}" srcId="{A5C9330D-DC46-4255-AAA3-CEBBFE59DBFE}" destId="{30BC1BCA-473B-4090-B335-05AF3FF2A195}" srcOrd="0" destOrd="0" parTransId="{431E06CE-078C-45A6-80A7-7068BE342A6C}" sibTransId="{0C31B31C-743A-41D2-AEA2-806BF259B741}"/>
    <dgm:cxn modelId="{5C93C66C-233E-44C7-8997-D74CF44770CA}" srcId="{45B8574E-013F-43E1-8F49-9809C4E71885}" destId="{88C1D29F-95EE-4450-8CFE-4D0307033819}" srcOrd="0" destOrd="0" parTransId="{5599F508-0764-4ACF-A9D6-4583BF754F92}" sibTransId="{278C07F2-43BD-4493-B138-1A650FA8305D}"/>
    <dgm:cxn modelId="{ABE32E76-D932-4628-B241-CE630C8BA518}" type="presOf" srcId="{9142E0E4-D844-458C-99E1-2E7C138980FD}" destId="{9DEB229E-9EE9-47AE-8881-E5DDC711279C}" srcOrd="0" destOrd="0" presId="urn:microsoft.com/office/officeart/2009/3/layout/IncreasingArrowsProcess"/>
    <dgm:cxn modelId="{D59F4706-4C04-4BAB-AA41-A19751A4B613}" srcId="{9142E0E4-D844-458C-99E1-2E7C138980FD}" destId="{BDBE07F3-D6E1-4ACE-A2F0-6FF68F8A29E3}" srcOrd="0" destOrd="0" parTransId="{5C7EE243-4AF0-4F80-A214-22D3CB5518B6}" sibTransId="{6ECCBDA8-5209-45C7-A64B-2526D088402B}"/>
    <dgm:cxn modelId="{C24A0364-91E7-4C14-8170-084B882E023F}" type="presParOf" srcId="{0B9F6AF6-5026-4984-9169-3C527EDCB4DE}" destId="{9D91DED0-160F-4BF7-AAA3-E7DB9E8DCF57}" srcOrd="0" destOrd="0" presId="urn:microsoft.com/office/officeart/2009/3/layout/IncreasingArrowsProcess"/>
    <dgm:cxn modelId="{676C1F71-C2BE-4001-8CCE-AE6B7953E969}" type="presParOf" srcId="{0B9F6AF6-5026-4984-9169-3C527EDCB4DE}" destId="{60715FF9-0C3C-464F-8127-FDCE059465C8}" srcOrd="1" destOrd="0" presId="urn:microsoft.com/office/officeart/2009/3/layout/IncreasingArrowsProcess"/>
    <dgm:cxn modelId="{3B5E3D87-080E-4ACF-B03D-E6F87367DC1D}" type="presParOf" srcId="{0B9F6AF6-5026-4984-9169-3C527EDCB4DE}" destId="{56134861-8D41-434A-93DB-61B95076826D}" srcOrd="2" destOrd="0" presId="urn:microsoft.com/office/officeart/2009/3/layout/IncreasingArrowsProcess"/>
    <dgm:cxn modelId="{32F0F288-3487-4FC6-B673-D1F4EFF4F172}" type="presParOf" srcId="{0B9F6AF6-5026-4984-9169-3C527EDCB4DE}" destId="{F1676887-C5B5-4670-9027-7A01D632C3D6}" srcOrd="3" destOrd="0" presId="urn:microsoft.com/office/officeart/2009/3/layout/IncreasingArrowsProcess"/>
    <dgm:cxn modelId="{21122346-2314-4596-83DD-BC94728185CD}" type="presParOf" srcId="{0B9F6AF6-5026-4984-9169-3C527EDCB4DE}" destId="{9DEB229E-9EE9-47AE-8881-E5DDC711279C}" srcOrd="4" destOrd="0" presId="urn:microsoft.com/office/officeart/2009/3/layout/IncreasingArrowsProcess"/>
    <dgm:cxn modelId="{3F08C4EF-8CA4-435C-A100-B3F21D368898}" type="presParOf" srcId="{0B9F6AF6-5026-4984-9169-3C527EDCB4DE}" destId="{A59D0037-D3AE-4D21-AF6A-23ABE818FAD3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F3EC73-5272-4D88-97CB-039162F3F48C}" type="doc">
      <dgm:prSet loTypeId="urn:microsoft.com/office/officeart/2005/8/layout/hProcess9" loCatId="process" qsTypeId="urn:microsoft.com/office/officeart/2005/8/quickstyle/3d3" qsCatId="3D" csTypeId="urn:microsoft.com/office/officeart/2005/8/colors/colorful5" csCatId="colorful" phldr="1"/>
      <dgm:spPr/>
    </dgm:pt>
    <dgm:pt modelId="{927836E6-BD07-4093-ABC3-AA7F211597E5}">
      <dgm:prSet phldrT="[文本]" custT="1"/>
      <dgm:spPr/>
      <dgm:t>
        <a:bodyPr/>
        <a:lstStyle/>
        <a:p>
          <a:r>
            <a:rPr lang="zh-CN" altLang="en-US" sz="3600" dirty="0" smtClean="0"/>
            <a:t>分解大问题求递推式</a:t>
          </a:r>
          <a:endParaRPr lang="zh-CN" altLang="en-US" sz="3600" dirty="0"/>
        </a:p>
      </dgm:t>
    </dgm:pt>
    <dgm:pt modelId="{0DEFD38E-B018-4C1F-A512-80CABEED25F8}" type="parTrans" cxnId="{059C2EAE-CE42-48BE-8878-49C022C537CE}">
      <dgm:prSet/>
      <dgm:spPr/>
      <dgm:t>
        <a:bodyPr/>
        <a:lstStyle/>
        <a:p>
          <a:endParaRPr lang="zh-CN" altLang="en-US"/>
        </a:p>
      </dgm:t>
    </dgm:pt>
    <dgm:pt modelId="{8D56205D-B768-4B03-A53A-AC7272634A55}" type="sibTrans" cxnId="{059C2EAE-CE42-48BE-8878-49C022C537CE}">
      <dgm:prSet/>
      <dgm:spPr/>
      <dgm:t>
        <a:bodyPr/>
        <a:lstStyle/>
        <a:p>
          <a:endParaRPr lang="zh-CN" altLang="en-US"/>
        </a:p>
      </dgm:t>
    </dgm:pt>
    <dgm:pt modelId="{97D99950-F158-4282-8766-A331116EA2CA}">
      <dgm:prSet phldrT="[文本]" custT="1"/>
      <dgm:spPr/>
      <dgm:t>
        <a:bodyPr/>
        <a:lstStyle/>
        <a:p>
          <a:r>
            <a:rPr lang="zh-CN" altLang="en-US" sz="3600" dirty="0" smtClean="0"/>
            <a:t>确定终止条件</a:t>
          </a:r>
          <a:endParaRPr lang="zh-CN" altLang="en-US" sz="3600" dirty="0"/>
        </a:p>
      </dgm:t>
    </dgm:pt>
    <dgm:pt modelId="{9A9C1FE5-A293-4C4A-9483-D509B991FB5C}" type="parTrans" cxnId="{A2FC5012-3229-45CC-9769-55D4B344D9F4}">
      <dgm:prSet/>
      <dgm:spPr/>
      <dgm:t>
        <a:bodyPr/>
        <a:lstStyle/>
        <a:p>
          <a:endParaRPr lang="zh-CN" altLang="en-US"/>
        </a:p>
      </dgm:t>
    </dgm:pt>
    <dgm:pt modelId="{69ED2E6B-C7B1-4DCE-9061-69EF4301718E}" type="sibTrans" cxnId="{A2FC5012-3229-45CC-9769-55D4B344D9F4}">
      <dgm:prSet/>
      <dgm:spPr/>
      <dgm:t>
        <a:bodyPr/>
        <a:lstStyle/>
        <a:p>
          <a:endParaRPr lang="zh-CN" altLang="en-US"/>
        </a:p>
      </dgm:t>
    </dgm:pt>
    <dgm:pt modelId="{CEBC2DDB-A3B5-40A6-B745-1DC372A0F0BB}">
      <dgm:prSet phldrT="[文本]" custT="1"/>
      <dgm:spPr/>
      <dgm:t>
        <a:bodyPr/>
        <a:lstStyle/>
        <a:p>
          <a:r>
            <a:rPr lang="zh-CN" altLang="en-US" sz="3600" dirty="0" smtClean="0"/>
            <a:t>模型转化为程序</a:t>
          </a:r>
          <a:endParaRPr lang="zh-CN" altLang="en-US" sz="3600" dirty="0"/>
        </a:p>
      </dgm:t>
    </dgm:pt>
    <dgm:pt modelId="{0BF7B4AD-A999-438F-B026-42CDC80CFF0E}" type="parTrans" cxnId="{36213484-0AC5-48CA-8594-7700C329CB78}">
      <dgm:prSet/>
      <dgm:spPr/>
      <dgm:t>
        <a:bodyPr/>
        <a:lstStyle/>
        <a:p>
          <a:endParaRPr lang="zh-CN" altLang="en-US"/>
        </a:p>
      </dgm:t>
    </dgm:pt>
    <dgm:pt modelId="{DE1B462F-9758-4310-8CE8-BCB58BA071BC}" type="sibTrans" cxnId="{36213484-0AC5-48CA-8594-7700C329CB78}">
      <dgm:prSet/>
      <dgm:spPr/>
      <dgm:t>
        <a:bodyPr/>
        <a:lstStyle/>
        <a:p>
          <a:endParaRPr lang="zh-CN" altLang="en-US"/>
        </a:p>
      </dgm:t>
    </dgm:pt>
    <dgm:pt modelId="{CD9D58DD-FCDC-4D80-94DD-366C3B33BD40}" type="pres">
      <dgm:prSet presAssocID="{29F3EC73-5272-4D88-97CB-039162F3F48C}" presName="CompostProcess" presStyleCnt="0">
        <dgm:presLayoutVars>
          <dgm:dir/>
          <dgm:resizeHandles val="exact"/>
        </dgm:presLayoutVars>
      </dgm:prSet>
      <dgm:spPr/>
    </dgm:pt>
    <dgm:pt modelId="{1726BE4D-2023-4129-B4CB-E651C5F615E4}" type="pres">
      <dgm:prSet presAssocID="{29F3EC73-5272-4D88-97CB-039162F3F48C}" presName="arrow" presStyleLbl="bgShp" presStyleIdx="0" presStyleCnt="1" custLinFactNeighborX="1961" custLinFactNeighborY="3371"/>
      <dgm:spPr/>
    </dgm:pt>
    <dgm:pt modelId="{63420085-DAB4-4BDC-9B09-668BB6C7AD71}" type="pres">
      <dgm:prSet presAssocID="{29F3EC73-5272-4D88-97CB-039162F3F48C}" presName="linearProcess" presStyleCnt="0"/>
      <dgm:spPr/>
    </dgm:pt>
    <dgm:pt modelId="{0B8B8531-C8F7-46B1-A7A1-6C05580F4E53}" type="pres">
      <dgm:prSet presAssocID="{927836E6-BD07-4093-ABC3-AA7F211597E5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0BA6055-003B-494B-A1C2-6E1C315C22AC}" type="pres">
      <dgm:prSet presAssocID="{8D56205D-B768-4B03-A53A-AC7272634A55}" presName="sibTrans" presStyleCnt="0"/>
      <dgm:spPr/>
    </dgm:pt>
    <dgm:pt modelId="{9DB481B6-F634-4205-B729-B01DBB09F364}" type="pres">
      <dgm:prSet presAssocID="{97D99950-F158-4282-8766-A331116EA2CA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361CA79-2112-426B-819A-FB0BC91CF4F4}" type="pres">
      <dgm:prSet presAssocID="{69ED2E6B-C7B1-4DCE-9061-69EF4301718E}" presName="sibTrans" presStyleCnt="0"/>
      <dgm:spPr/>
    </dgm:pt>
    <dgm:pt modelId="{5A2A5FB1-D465-4909-AB9F-1E595416E7E0}" type="pres">
      <dgm:prSet presAssocID="{CEBC2DDB-A3B5-40A6-B745-1DC372A0F0BB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59C2EAE-CE42-48BE-8878-49C022C537CE}" srcId="{29F3EC73-5272-4D88-97CB-039162F3F48C}" destId="{927836E6-BD07-4093-ABC3-AA7F211597E5}" srcOrd="0" destOrd="0" parTransId="{0DEFD38E-B018-4C1F-A512-80CABEED25F8}" sibTransId="{8D56205D-B768-4B03-A53A-AC7272634A55}"/>
    <dgm:cxn modelId="{36213484-0AC5-48CA-8594-7700C329CB78}" srcId="{29F3EC73-5272-4D88-97CB-039162F3F48C}" destId="{CEBC2DDB-A3B5-40A6-B745-1DC372A0F0BB}" srcOrd="2" destOrd="0" parTransId="{0BF7B4AD-A999-438F-B026-42CDC80CFF0E}" sibTransId="{DE1B462F-9758-4310-8CE8-BCB58BA071BC}"/>
    <dgm:cxn modelId="{F0492DC8-9455-4A20-86C8-7C91DC1BBFC9}" type="presOf" srcId="{29F3EC73-5272-4D88-97CB-039162F3F48C}" destId="{CD9D58DD-FCDC-4D80-94DD-366C3B33BD40}" srcOrd="0" destOrd="0" presId="urn:microsoft.com/office/officeart/2005/8/layout/hProcess9"/>
    <dgm:cxn modelId="{6082CA99-6FBA-48AB-90A2-A342A12B8BB0}" type="presOf" srcId="{CEBC2DDB-A3B5-40A6-B745-1DC372A0F0BB}" destId="{5A2A5FB1-D465-4909-AB9F-1E595416E7E0}" srcOrd="0" destOrd="0" presId="urn:microsoft.com/office/officeart/2005/8/layout/hProcess9"/>
    <dgm:cxn modelId="{A2FC5012-3229-45CC-9769-55D4B344D9F4}" srcId="{29F3EC73-5272-4D88-97CB-039162F3F48C}" destId="{97D99950-F158-4282-8766-A331116EA2CA}" srcOrd="1" destOrd="0" parTransId="{9A9C1FE5-A293-4C4A-9483-D509B991FB5C}" sibTransId="{69ED2E6B-C7B1-4DCE-9061-69EF4301718E}"/>
    <dgm:cxn modelId="{3C1E12FE-E0FD-49D4-B8DE-279A87247DF0}" type="presOf" srcId="{97D99950-F158-4282-8766-A331116EA2CA}" destId="{9DB481B6-F634-4205-B729-B01DBB09F364}" srcOrd="0" destOrd="0" presId="urn:microsoft.com/office/officeart/2005/8/layout/hProcess9"/>
    <dgm:cxn modelId="{9EB320CF-016A-48B5-9C72-7EA7DB290E41}" type="presOf" srcId="{927836E6-BD07-4093-ABC3-AA7F211597E5}" destId="{0B8B8531-C8F7-46B1-A7A1-6C05580F4E53}" srcOrd="0" destOrd="0" presId="urn:microsoft.com/office/officeart/2005/8/layout/hProcess9"/>
    <dgm:cxn modelId="{C264CF4B-CAB6-4323-9495-FE8227A8774B}" type="presParOf" srcId="{CD9D58DD-FCDC-4D80-94DD-366C3B33BD40}" destId="{1726BE4D-2023-4129-B4CB-E651C5F615E4}" srcOrd="0" destOrd="0" presId="urn:microsoft.com/office/officeart/2005/8/layout/hProcess9"/>
    <dgm:cxn modelId="{E102B8EF-232B-46AC-989D-848A56E3506E}" type="presParOf" srcId="{CD9D58DD-FCDC-4D80-94DD-366C3B33BD40}" destId="{63420085-DAB4-4BDC-9B09-668BB6C7AD71}" srcOrd="1" destOrd="0" presId="urn:microsoft.com/office/officeart/2005/8/layout/hProcess9"/>
    <dgm:cxn modelId="{5BB21626-8B9C-4C9A-B907-FA57AD0C0827}" type="presParOf" srcId="{63420085-DAB4-4BDC-9B09-668BB6C7AD71}" destId="{0B8B8531-C8F7-46B1-A7A1-6C05580F4E53}" srcOrd="0" destOrd="0" presId="urn:microsoft.com/office/officeart/2005/8/layout/hProcess9"/>
    <dgm:cxn modelId="{3F8D45EE-3735-4C9D-989C-7E4A3356ACC9}" type="presParOf" srcId="{63420085-DAB4-4BDC-9B09-668BB6C7AD71}" destId="{E0BA6055-003B-494B-A1C2-6E1C315C22AC}" srcOrd="1" destOrd="0" presId="urn:microsoft.com/office/officeart/2005/8/layout/hProcess9"/>
    <dgm:cxn modelId="{3F9FD34E-92E0-49AB-A59E-36328E79937F}" type="presParOf" srcId="{63420085-DAB4-4BDC-9B09-668BB6C7AD71}" destId="{9DB481B6-F634-4205-B729-B01DBB09F364}" srcOrd="2" destOrd="0" presId="urn:microsoft.com/office/officeart/2005/8/layout/hProcess9"/>
    <dgm:cxn modelId="{95A428CD-29DF-47CB-989D-DA5D161240E2}" type="presParOf" srcId="{63420085-DAB4-4BDC-9B09-668BB6C7AD71}" destId="{2361CA79-2112-426B-819A-FB0BC91CF4F4}" srcOrd="3" destOrd="0" presId="urn:microsoft.com/office/officeart/2005/8/layout/hProcess9"/>
    <dgm:cxn modelId="{8E3E77AB-1C2D-41BA-BDA1-9D62157CF8F0}" type="presParOf" srcId="{63420085-DAB4-4BDC-9B09-668BB6C7AD71}" destId="{5A2A5FB1-D465-4909-AB9F-1E595416E7E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F6C282-7337-4698-9DF1-6FC411DEBCAF}">
      <dsp:nvSpPr>
        <dsp:cNvPr id="0" name=""/>
        <dsp:cNvSpPr/>
      </dsp:nvSpPr>
      <dsp:spPr>
        <a:xfrm>
          <a:off x="2729146" y="3298676"/>
          <a:ext cx="1122766" cy="1981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61383" y="0"/>
              </a:lnTo>
              <a:lnTo>
                <a:pt x="561383" y="1981214"/>
              </a:lnTo>
              <a:lnTo>
                <a:pt x="1122766" y="1981214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kern="1200"/>
        </a:p>
      </dsp:txBody>
      <dsp:txXfrm>
        <a:off x="3233598" y="4232352"/>
        <a:ext cx="113861" cy="113861"/>
      </dsp:txXfrm>
    </dsp:sp>
    <dsp:sp modelId="{740DA522-0DA0-4381-BBA9-F2CC33E0F0EE}">
      <dsp:nvSpPr>
        <dsp:cNvPr id="0" name=""/>
        <dsp:cNvSpPr/>
      </dsp:nvSpPr>
      <dsp:spPr>
        <a:xfrm>
          <a:off x="2729146" y="1247441"/>
          <a:ext cx="1122766" cy="2051234"/>
        </a:xfrm>
        <a:custGeom>
          <a:avLst/>
          <a:gdLst/>
          <a:ahLst/>
          <a:cxnLst/>
          <a:rect l="0" t="0" r="0" b="0"/>
          <a:pathLst>
            <a:path>
              <a:moveTo>
                <a:pt x="0" y="2051234"/>
              </a:moveTo>
              <a:lnTo>
                <a:pt x="561383" y="2051234"/>
              </a:lnTo>
              <a:lnTo>
                <a:pt x="561383" y="0"/>
              </a:lnTo>
              <a:lnTo>
                <a:pt x="1122766" y="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kern="1200"/>
        </a:p>
      </dsp:txBody>
      <dsp:txXfrm>
        <a:off x="3232069" y="2214598"/>
        <a:ext cx="116920" cy="116920"/>
      </dsp:txXfrm>
    </dsp:sp>
    <dsp:sp modelId="{4193FFB2-85F4-44E1-889B-EEE2EE3771B0}">
      <dsp:nvSpPr>
        <dsp:cNvPr id="0" name=""/>
        <dsp:cNvSpPr/>
      </dsp:nvSpPr>
      <dsp:spPr>
        <a:xfrm rot="16200000">
          <a:off x="-1196277" y="2671927"/>
          <a:ext cx="6597352" cy="125349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6500" kern="1200" dirty="0"/>
        </a:p>
      </dsp:txBody>
      <dsp:txXfrm>
        <a:off x="-1196277" y="2671927"/>
        <a:ext cx="6597352" cy="1253496"/>
      </dsp:txXfrm>
    </dsp:sp>
    <dsp:sp modelId="{B6B0AE26-13D4-4508-AB70-0814C9E2586F}">
      <dsp:nvSpPr>
        <dsp:cNvPr id="0" name=""/>
        <dsp:cNvSpPr/>
      </dsp:nvSpPr>
      <dsp:spPr>
        <a:xfrm>
          <a:off x="3851913" y="620692"/>
          <a:ext cx="4111469" cy="125349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6500" b="1" kern="1200" cap="none" spc="0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rPr>
            <a:t>数值型</a:t>
          </a:r>
          <a:endParaRPr lang="zh-CN" altLang="en-US" sz="6500" b="1" kern="1200" cap="none" spc="0" dirty="0">
            <a:ln w="13462">
              <a:solidFill>
                <a:schemeClr val="bg1"/>
              </a:solidFill>
              <a:prstDash val="solid"/>
            </a:ln>
            <a:solidFill>
              <a:schemeClr val="tx1">
                <a:lumMod val="85000"/>
                <a:lumOff val="15000"/>
              </a:schemeClr>
            </a:solidFill>
            <a:effectLst>
              <a:outerShdw dist="38100" dir="2700000" algn="bl" rotWithShape="0">
                <a:schemeClr val="accent5"/>
              </a:outerShdw>
            </a:effectLst>
            <a:latin typeface="方正舒体" panose="02010601030101010101" pitchFamily="2" charset="-122"/>
            <a:ea typeface="方正舒体" panose="02010601030101010101" pitchFamily="2" charset="-122"/>
          </a:endParaRPr>
        </a:p>
      </dsp:txBody>
      <dsp:txXfrm>
        <a:off x="3851913" y="620692"/>
        <a:ext cx="4111469" cy="1253496"/>
      </dsp:txXfrm>
    </dsp:sp>
    <dsp:sp modelId="{34BCEE75-F1DA-4AF3-81AA-4E88CFFE6B6D}">
      <dsp:nvSpPr>
        <dsp:cNvPr id="0" name=""/>
        <dsp:cNvSpPr/>
      </dsp:nvSpPr>
      <dsp:spPr>
        <a:xfrm>
          <a:off x="3851913" y="4653142"/>
          <a:ext cx="4111469" cy="125349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6500" b="1" kern="1200" cap="none" spc="0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rPr>
            <a:t>非数值型</a:t>
          </a:r>
          <a:endParaRPr lang="zh-CN" altLang="en-US" sz="6500" b="1" kern="1200" cap="none" spc="0" dirty="0">
            <a:ln w="13462">
              <a:solidFill>
                <a:schemeClr val="bg1"/>
              </a:solidFill>
              <a:prstDash val="solid"/>
            </a:ln>
            <a:solidFill>
              <a:schemeClr val="tx1">
                <a:lumMod val="85000"/>
                <a:lumOff val="15000"/>
              </a:schemeClr>
            </a:solidFill>
            <a:effectLst>
              <a:outerShdw dist="38100" dir="2700000" algn="bl" rotWithShape="0">
                <a:schemeClr val="accent5"/>
              </a:outerShdw>
            </a:effectLst>
            <a:latin typeface="方正舒体" panose="02010601030101010101" pitchFamily="2" charset="-122"/>
            <a:ea typeface="方正舒体" panose="02010601030101010101" pitchFamily="2" charset="-122"/>
          </a:endParaRPr>
        </a:p>
      </dsp:txBody>
      <dsp:txXfrm>
        <a:off x="3851913" y="4653142"/>
        <a:ext cx="4111469" cy="12534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1DED0-160F-4BF7-AAA3-E7DB9E8DCF57}">
      <dsp:nvSpPr>
        <dsp:cNvPr id="0" name=""/>
        <dsp:cNvSpPr/>
      </dsp:nvSpPr>
      <dsp:spPr>
        <a:xfrm>
          <a:off x="23253" y="1763049"/>
          <a:ext cx="8018389" cy="1167783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185386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latin typeface="幼圆" panose="02010509060101010101" pitchFamily="49" charset="-122"/>
              <a:ea typeface="幼圆" panose="02010509060101010101" pitchFamily="49" charset="-122"/>
            </a:rPr>
            <a:t>建立数学模型</a:t>
          </a:r>
          <a:endParaRPr lang="zh-CN" altLang="en-US" sz="2800" kern="1200" dirty="0">
            <a:latin typeface="幼圆" panose="02010509060101010101" pitchFamily="49" charset="-122"/>
            <a:ea typeface="幼圆" panose="02010509060101010101" pitchFamily="49" charset="-122"/>
          </a:endParaRPr>
        </a:p>
      </dsp:txBody>
      <dsp:txXfrm>
        <a:off x="23253" y="2054995"/>
        <a:ext cx="7726443" cy="583891"/>
      </dsp:txXfrm>
    </dsp:sp>
    <dsp:sp modelId="{60715FF9-0C3C-464F-8127-FDCE059465C8}">
      <dsp:nvSpPr>
        <dsp:cNvPr id="0" name=""/>
        <dsp:cNvSpPr/>
      </dsp:nvSpPr>
      <dsp:spPr>
        <a:xfrm>
          <a:off x="23253" y="2663578"/>
          <a:ext cx="2469663" cy="22495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latin typeface="幼圆" panose="02010509060101010101" pitchFamily="49" charset="-122"/>
              <a:ea typeface="幼圆" panose="02010509060101010101" pitchFamily="49" charset="-122"/>
            </a:rPr>
            <a:t>相当于写递推公式：在前一项基础上做什么才能得到它的下一项？</a:t>
          </a:r>
          <a:endParaRPr lang="zh-CN" altLang="en-US" sz="2800" kern="1200" dirty="0">
            <a:latin typeface="幼圆" panose="02010509060101010101" pitchFamily="49" charset="-122"/>
            <a:ea typeface="幼圆" panose="02010509060101010101" pitchFamily="49" charset="-122"/>
          </a:endParaRPr>
        </a:p>
      </dsp:txBody>
      <dsp:txXfrm>
        <a:off x="23253" y="2663578"/>
        <a:ext cx="2469663" cy="2249580"/>
      </dsp:txXfrm>
    </dsp:sp>
    <dsp:sp modelId="{56134861-8D41-434A-93DB-61B95076826D}">
      <dsp:nvSpPr>
        <dsp:cNvPr id="0" name=""/>
        <dsp:cNvSpPr/>
      </dsp:nvSpPr>
      <dsp:spPr>
        <a:xfrm>
          <a:off x="2492917" y="2152310"/>
          <a:ext cx="5548725" cy="1167783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-9214729"/>
            <a:satOff val="10313"/>
            <a:lumOff val="58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185386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latin typeface="幼圆" panose="02010509060101010101" pitchFamily="49" charset="-122"/>
              <a:ea typeface="幼圆" panose="02010509060101010101" pitchFamily="49" charset="-122"/>
            </a:rPr>
            <a:t>确定终止条件</a:t>
          </a:r>
          <a:endParaRPr lang="zh-CN" altLang="en-US" sz="2800" kern="1200" dirty="0">
            <a:latin typeface="幼圆" panose="02010509060101010101" pitchFamily="49" charset="-122"/>
            <a:ea typeface="幼圆" panose="02010509060101010101" pitchFamily="49" charset="-122"/>
          </a:endParaRPr>
        </a:p>
      </dsp:txBody>
      <dsp:txXfrm>
        <a:off x="2492917" y="2444256"/>
        <a:ext cx="5256779" cy="583891"/>
      </dsp:txXfrm>
    </dsp:sp>
    <dsp:sp modelId="{F1676887-C5B5-4670-9027-7A01D632C3D6}">
      <dsp:nvSpPr>
        <dsp:cNvPr id="0" name=""/>
        <dsp:cNvSpPr/>
      </dsp:nvSpPr>
      <dsp:spPr>
        <a:xfrm>
          <a:off x="2492917" y="3052839"/>
          <a:ext cx="2469663" cy="22495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9214729"/>
              <a:satOff val="10313"/>
              <a:lumOff val="5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latin typeface="幼圆" panose="02010509060101010101" pitchFamily="49" charset="-122"/>
              <a:ea typeface="幼圆" panose="02010509060101010101" pitchFamily="49" charset="-122"/>
            </a:rPr>
            <a:t>相当于确定首项：遇到什么的时候无法再往下计算？</a:t>
          </a:r>
          <a:endParaRPr lang="zh-CN" altLang="en-US" sz="2800" kern="1200" dirty="0">
            <a:latin typeface="幼圆" panose="02010509060101010101" pitchFamily="49" charset="-122"/>
            <a:ea typeface="幼圆" panose="02010509060101010101" pitchFamily="49" charset="-122"/>
          </a:endParaRPr>
        </a:p>
      </dsp:txBody>
      <dsp:txXfrm>
        <a:off x="2492917" y="3052839"/>
        <a:ext cx="2469663" cy="2249580"/>
      </dsp:txXfrm>
    </dsp:sp>
    <dsp:sp modelId="{9DEB229E-9EE9-47AE-8881-E5DDC711279C}">
      <dsp:nvSpPr>
        <dsp:cNvPr id="0" name=""/>
        <dsp:cNvSpPr/>
      </dsp:nvSpPr>
      <dsp:spPr>
        <a:xfrm>
          <a:off x="4962581" y="2541571"/>
          <a:ext cx="3079061" cy="1167783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-18429457"/>
            <a:satOff val="20625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185386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latin typeface="幼圆" panose="02010509060101010101" pitchFamily="49" charset="-122"/>
              <a:ea typeface="幼圆" panose="02010509060101010101" pitchFamily="49" charset="-122"/>
            </a:rPr>
            <a:t>模型转为程序</a:t>
          </a:r>
          <a:endParaRPr lang="zh-CN" altLang="en-US" sz="2800" kern="1200" dirty="0">
            <a:latin typeface="幼圆" panose="02010509060101010101" pitchFamily="49" charset="-122"/>
            <a:ea typeface="幼圆" panose="02010509060101010101" pitchFamily="49" charset="-122"/>
          </a:endParaRPr>
        </a:p>
      </dsp:txBody>
      <dsp:txXfrm>
        <a:off x="4962581" y="2833517"/>
        <a:ext cx="2787115" cy="583891"/>
      </dsp:txXfrm>
    </dsp:sp>
    <dsp:sp modelId="{A59D0037-D3AE-4D21-AF6A-23ABE818FAD3}">
      <dsp:nvSpPr>
        <dsp:cNvPr id="0" name=""/>
        <dsp:cNvSpPr/>
      </dsp:nvSpPr>
      <dsp:spPr>
        <a:xfrm>
          <a:off x="4962581" y="3442100"/>
          <a:ext cx="2469663" cy="22166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8429457"/>
              <a:satOff val="20625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800" kern="1200" dirty="0" smtClean="0">
              <a:latin typeface="幼圆" panose="02010509060101010101" pitchFamily="49" charset="-122"/>
              <a:ea typeface="幼圆" panose="02010509060101010101" pitchFamily="49" charset="-122"/>
            </a:rPr>
            <a:t>你懂的 </a:t>
          </a:r>
          <a:r>
            <a:rPr lang="en-US" altLang="zh-CN" sz="4800" kern="1200" dirty="0" smtClean="0">
              <a:latin typeface="幼圆" panose="02010509060101010101" pitchFamily="49" charset="-122"/>
              <a:ea typeface="幼圆" panose="02010509060101010101" pitchFamily="49" charset="-122"/>
            </a:rPr>
            <a:t>- - </a:t>
          </a:r>
          <a:r>
            <a:rPr lang="zh-CN" altLang="en-US" sz="4800" kern="1200" dirty="0" smtClean="0">
              <a:latin typeface="幼圆" panose="02010509060101010101" pitchFamily="49" charset="-122"/>
              <a:ea typeface="幼圆" panose="02010509060101010101" pitchFamily="49" charset="-122"/>
            </a:rPr>
            <a:t>！</a:t>
          </a:r>
          <a:endParaRPr lang="zh-CN" altLang="en-US" sz="4800" kern="1200" dirty="0">
            <a:latin typeface="幼圆" panose="02010509060101010101" pitchFamily="49" charset="-122"/>
            <a:ea typeface="幼圆" panose="02010509060101010101" pitchFamily="49" charset="-122"/>
          </a:endParaRPr>
        </a:p>
      </dsp:txBody>
      <dsp:txXfrm>
        <a:off x="4962581" y="3442100"/>
        <a:ext cx="2469663" cy="22166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26BE4D-2023-4129-B4CB-E651C5F615E4}">
      <dsp:nvSpPr>
        <dsp:cNvPr id="0" name=""/>
        <dsp:cNvSpPr/>
      </dsp:nvSpPr>
      <dsp:spPr>
        <a:xfrm>
          <a:off x="745897" y="0"/>
          <a:ext cx="6916368" cy="5013176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8B8531-C8F7-46B1-A7A1-6C05580F4E53}">
      <dsp:nvSpPr>
        <dsp:cNvPr id="0" name=""/>
        <dsp:cNvSpPr/>
      </dsp:nvSpPr>
      <dsp:spPr>
        <a:xfrm>
          <a:off x="869" y="1503952"/>
          <a:ext cx="2472011" cy="20052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分解大问题求递推式</a:t>
          </a:r>
          <a:endParaRPr lang="zh-CN" altLang="en-US" sz="3600" kern="1200" dirty="0"/>
        </a:p>
      </dsp:txBody>
      <dsp:txXfrm>
        <a:off x="98758" y="1601841"/>
        <a:ext cx="2276233" cy="1809492"/>
      </dsp:txXfrm>
    </dsp:sp>
    <dsp:sp modelId="{9DB481B6-F634-4205-B729-B01DBB09F364}">
      <dsp:nvSpPr>
        <dsp:cNvPr id="0" name=""/>
        <dsp:cNvSpPr/>
      </dsp:nvSpPr>
      <dsp:spPr>
        <a:xfrm>
          <a:off x="2832446" y="1503952"/>
          <a:ext cx="2472011" cy="2005270"/>
        </a:xfrm>
        <a:prstGeom prst="roundRect">
          <a:avLst/>
        </a:prstGeom>
        <a:solidFill>
          <a:schemeClr val="accent5">
            <a:hueOff val="-9214729"/>
            <a:satOff val="10313"/>
            <a:lumOff val="589"/>
            <a:alphaOff val="0"/>
          </a:schemeClr>
        </a:soli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确定终止条件</a:t>
          </a:r>
          <a:endParaRPr lang="zh-CN" altLang="en-US" sz="3600" kern="1200" dirty="0"/>
        </a:p>
      </dsp:txBody>
      <dsp:txXfrm>
        <a:off x="2930335" y="1601841"/>
        <a:ext cx="2276233" cy="1809492"/>
      </dsp:txXfrm>
    </dsp:sp>
    <dsp:sp modelId="{5A2A5FB1-D465-4909-AB9F-1E595416E7E0}">
      <dsp:nvSpPr>
        <dsp:cNvPr id="0" name=""/>
        <dsp:cNvSpPr/>
      </dsp:nvSpPr>
      <dsp:spPr>
        <a:xfrm>
          <a:off x="5664023" y="1503952"/>
          <a:ext cx="2472011" cy="2005270"/>
        </a:xfrm>
        <a:prstGeom prst="roundRect">
          <a:avLst/>
        </a:prstGeom>
        <a:solidFill>
          <a:schemeClr val="accent5">
            <a:hueOff val="-18429457"/>
            <a:satOff val="20625"/>
            <a:lumOff val="1177"/>
            <a:alphaOff val="0"/>
          </a:schemeClr>
        </a:soli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模型转化为程序</a:t>
          </a:r>
          <a:endParaRPr lang="zh-CN" altLang="en-US" sz="3600" kern="1200" dirty="0"/>
        </a:p>
      </dsp:txBody>
      <dsp:txXfrm>
        <a:off x="5761912" y="1601841"/>
        <a:ext cx="2276233" cy="18094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BB91D25-52B9-4A3D-AC14-8F3DB5854C0F}" type="datetimeFigureOut">
              <a:rPr lang="en-US" altLang="zh-CN"/>
              <a:pPr/>
              <a:t>6/15/2013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C3533F7-71F6-4DB7-9DA0-C811504961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21232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223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反正我信了</a:t>
            </a:r>
            <a:r>
              <a:rPr lang="en-US" altLang="zh-CN" sz="1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……</a:t>
            </a:r>
            <a:endParaRPr lang="zh-CN" altLang="en-US" sz="1200" b="1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endParaRPr>
          </a:p>
          <a:p>
            <a:pPr>
              <a:spcBef>
                <a:spcPct val="0"/>
              </a:spcBef>
            </a:pPr>
            <a:endParaRPr lang="zh-CN" altLang="zh-CN" dirty="0" smtClean="0"/>
          </a:p>
        </p:txBody>
      </p:sp>
      <p:sp>
        <p:nvSpPr>
          <p:cNvPr id="19460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19461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BD11795A-9B29-4733-8C3C-6D86CC2EE5F8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6:37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1946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19463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CBADB33-3CC1-4069-8A2C-CD8F75B6EBC0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2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696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 smtClean="0"/>
          </a:p>
        </p:txBody>
      </p:sp>
      <p:sp>
        <p:nvSpPr>
          <p:cNvPr id="19460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19461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BD11795A-9B29-4733-8C3C-6D86CC2EE5F8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6:35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1946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19463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CBADB33-3CC1-4069-8A2C-CD8F75B6EBC0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3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878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r>
              <a:rPr lang="en-US" altLang="zh-CN" sz="4000" b="1" dirty="0" err="1" smtClean="0"/>
              <a:t>int</a:t>
            </a:r>
            <a:r>
              <a:rPr lang="en-US" altLang="zh-CN" sz="4000" b="1" dirty="0" smtClean="0"/>
              <a:t>  </a:t>
            </a:r>
            <a:r>
              <a:rPr lang="en-US" altLang="zh-CN" sz="4000" b="1" dirty="0" err="1" smtClean="0"/>
              <a:t>sumn</a:t>
            </a:r>
            <a:r>
              <a:rPr lang="en-US" altLang="zh-CN" sz="4000" b="1" dirty="0" smtClean="0"/>
              <a:t>( </a:t>
            </a:r>
            <a:r>
              <a:rPr lang="en-US" altLang="zh-CN" sz="4000" b="1" dirty="0" err="1" smtClean="0"/>
              <a:t>int</a:t>
            </a:r>
            <a:r>
              <a:rPr lang="en-US" altLang="zh-CN" sz="4000" b="1" dirty="0" smtClean="0"/>
              <a:t> n, </a:t>
            </a:r>
            <a:r>
              <a:rPr lang="en-US" altLang="zh-CN" sz="4000" b="1" dirty="0" err="1" smtClean="0"/>
              <a:t>int</a:t>
            </a:r>
            <a:r>
              <a:rPr lang="en-US" altLang="zh-CN" sz="4000" b="1" dirty="0" smtClean="0"/>
              <a:t> *flag )   </a:t>
            </a:r>
            <a:endParaRPr lang="zh-CN" altLang="zh-CN" sz="4000" dirty="0" smtClean="0"/>
          </a:p>
          <a:p>
            <a:r>
              <a:rPr lang="en-US" altLang="zh-CN" sz="4000" b="1" dirty="0" smtClean="0"/>
              <a:t>{   </a:t>
            </a:r>
            <a:endParaRPr lang="zh-CN" altLang="zh-CN" sz="4000" dirty="0" smtClean="0"/>
          </a:p>
          <a:p>
            <a:r>
              <a:rPr lang="en-US" altLang="zh-CN" sz="4000" b="1" dirty="0" smtClean="0"/>
              <a:t>     (*flag)++; </a:t>
            </a:r>
          </a:p>
          <a:p>
            <a:r>
              <a:rPr lang="en-US" altLang="zh-CN" sz="4000" b="1" dirty="0" smtClean="0"/>
              <a:t>/*</a:t>
            </a:r>
            <a:r>
              <a:rPr lang="zh-CN" altLang="en-US" sz="4000" b="1" dirty="0" smtClean="0"/>
              <a:t>如果你纠结这个指针，那么你想多了</a:t>
            </a:r>
            <a:r>
              <a:rPr lang="en-US" altLang="zh-CN" sz="4000" b="1" dirty="0" smtClean="0"/>
              <a:t>……*/</a:t>
            </a:r>
            <a:endParaRPr lang="zh-CN" altLang="zh-CN" sz="4000" dirty="0" smtClean="0"/>
          </a:p>
          <a:p>
            <a:r>
              <a:rPr lang="en-US" altLang="zh-CN" sz="4000" b="1" dirty="0" smtClean="0"/>
              <a:t>     if(n==1) return 2;      </a:t>
            </a:r>
            <a:endParaRPr lang="zh-CN" altLang="zh-CN" sz="4000" dirty="0" smtClean="0"/>
          </a:p>
          <a:p>
            <a:r>
              <a:rPr lang="en-US" altLang="zh-CN" sz="4000" b="1" dirty="0" smtClean="0"/>
              <a:t>     if(n&gt;1)  return  </a:t>
            </a:r>
          </a:p>
          <a:p>
            <a:r>
              <a:rPr lang="en-US" altLang="zh-CN" sz="4000" b="1" dirty="0" smtClean="0"/>
              <a:t>     n*(n+1)+</a:t>
            </a:r>
            <a:r>
              <a:rPr lang="en-US" altLang="zh-CN" sz="4000" b="1" dirty="0" err="1" smtClean="0"/>
              <a:t>sumn</a:t>
            </a:r>
            <a:r>
              <a:rPr lang="en-US" altLang="zh-CN" sz="4000" b="1" dirty="0" smtClean="0"/>
              <a:t>(n-1,flag);   </a:t>
            </a:r>
            <a:endParaRPr lang="zh-CN" altLang="zh-CN" sz="4000" dirty="0" smtClean="0"/>
          </a:p>
          <a:p>
            <a:r>
              <a:rPr lang="en-US" altLang="zh-CN" sz="4000" b="1" dirty="0" smtClean="0"/>
              <a:t>} </a:t>
            </a:r>
            <a:endParaRPr lang="zh-CN" altLang="zh-CN" sz="4000" dirty="0" smtClean="0"/>
          </a:p>
          <a:p>
            <a:pPr>
              <a:spcBef>
                <a:spcPct val="0"/>
              </a:spcBef>
            </a:pPr>
            <a:endParaRPr lang="zh-CN" altLang="zh-CN" dirty="0" smtClean="0"/>
          </a:p>
        </p:txBody>
      </p:sp>
      <p:sp>
        <p:nvSpPr>
          <p:cNvPr id="19460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19461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BD11795A-9B29-4733-8C3C-6D86CC2EE5F8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6:36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1946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19463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CBADB33-3CC1-4069-8A2C-CD8F75B6EBC0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4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536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r>
              <a:rPr lang="en-US" altLang="zh-CN" sz="4000" dirty="0" smtClean="0"/>
              <a:t>peach(</a:t>
            </a:r>
            <a:r>
              <a:rPr lang="en-US" altLang="zh-CN" sz="4000" dirty="0" err="1" smtClean="0"/>
              <a:t>int</a:t>
            </a:r>
            <a:r>
              <a:rPr lang="en-US" altLang="zh-CN" sz="4000" dirty="0" smtClean="0"/>
              <a:t> </a:t>
            </a:r>
            <a:r>
              <a:rPr lang="en-US" altLang="zh-CN" sz="4000" dirty="0" err="1" smtClean="0"/>
              <a:t>begin,int</a:t>
            </a:r>
            <a:r>
              <a:rPr lang="en-US" altLang="zh-CN" sz="4000" dirty="0" smtClean="0"/>
              <a:t> times)</a:t>
            </a:r>
            <a:endParaRPr lang="zh-CN" altLang="zh-CN" sz="4000" dirty="0" smtClean="0"/>
          </a:p>
          <a:p>
            <a:r>
              <a:rPr lang="en-US" altLang="zh-CN" sz="4000" dirty="0" smtClean="0"/>
              <a:t>{</a:t>
            </a:r>
            <a:endParaRPr lang="zh-CN" altLang="zh-CN" sz="4000" dirty="0" smtClean="0"/>
          </a:p>
          <a:p>
            <a:r>
              <a:rPr lang="en-US" altLang="zh-CN" sz="4000" dirty="0" smtClean="0"/>
              <a:t>	if(times==10) return begin;</a:t>
            </a:r>
            <a:endParaRPr lang="zh-CN" altLang="zh-CN" sz="4000" dirty="0" smtClean="0"/>
          </a:p>
          <a:p>
            <a:r>
              <a:rPr lang="en-US" altLang="zh-CN" sz="4000" dirty="0" smtClean="0"/>
              <a:t>	return peach((begin+1)*2,times+1);</a:t>
            </a:r>
            <a:endParaRPr lang="zh-CN" altLang="zh-CN" sz="4000" dirty="0" smtClean="0"/>
          </a:p>
          <a:p>
            <a:r>
              <a:rPr lang="en-US" altLang="zh-CN" sz="4000" dirty="0" smtClean="0"/>
              <a:t>}</a:t>
            </a:r>
            <a:endParaRPr lang="zh-CN" altLang="zh-CN" sz="4000" dirty="0" smtClean="0"/>
          </a:p>
        </p:txBody>
      </p:sp>
      <p:sp>
        <p:nvSpPr>
          <p:cNvPr id="19460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19461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BD11795A-9B29-4733-8C3C-6D86CC2EE5F8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6:36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1946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19463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CBADB33-3CC1-4069-8A2C-CD8F75B6EBC0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5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837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r>
              <a:rPr lang="en-US" altLang="zh-CN" sz="4000" dirty="0" err="1" smtClean="0"/>
              <a:t>int</a:t>
            </a:r>
            <a:r>
              <a:rPr lang="en-US" altLang="zh-CN" sz="4000" dirty="0" smtClean="0"/>
              <a:t> count(</a:t>
            </a:r>
            <a:r>
              <a:rPr lang="en-US" altLang="zh-CN" sz="4000" dirty="0" err="1" smtClean="0"/>
              <a:t>int</a:t>
            </a:r>
            <a:r>
              <a:rPr lang="en-US" altLang="zh-CN" sz="4000" dirty="0" smtClean="0"/>
              <a:t> n) </a:t>
            </a:r>
            <a:br>
              <a:rPr lang="en-US" altLang="zh-CN" sz="4000" dirty="0" smtClean="0"/>
            </a:br>
            <a:r>
              <a:rPr lang="en-US" altLang="zh-CN" sz="4000" dirty="0" smtClean="0"/>
              <a:t>{ 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if(1==n) 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    return 1; 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else if(2==n) 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    return 2; 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else </a:t>
            </a:r>
          </a:p>
          <a:p>
            <a:r>
              <a:rPr lang="en-US" altLang="zh-CN" sz="4000" dirty="0" smtClean="0"/>
              <a:t>        return count(n-1)+count(n-2); </a:t>
            </a:r>
            <a:br>
              <a:rPr lang="en-US" altLang="zh-CN" sz="4000" dirty="0" smtClean="0"/>
            </a:br>
            <a:r>
              <a:rPr lang="en-US" altLang="zh-CN" sz="4000" dirty="0" smtClean="0"/>
              <a:t>}</a:t>
            </a:r>
            <a:endParaRPr lang="zh-CN" altLang="en-US" sz="4000" dirty="0" smtClean="0"/>
          </a:p>
          <a:p>
            <a:pPr>
              <a:spcBef>
                <a:spcPct val="0"/>
              </a:spcBef>
            </a:pPr>
            <a:endParaRPr lang="zh-CN" altLang="zh-CN" sz="4000" dirty="0" smtClean="0"/>
          </a:p>
        </p:txBody>
      </p:sp>
      <p:sp>
        <p:nvSpPr>
          <p:cNvPr id="19460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19461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BD11795A-9B29-4733-8C3C-6D86CC2EE5F8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6:36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1946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19463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CBADB33-3CC1-4069-8A2C-CD8F75B6EBC0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023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00"/>
                </a:solidFill>
              </a:rPr>
              <a:t>WARNING:</a:t>
            </a:r>
            <a:r>
              <a:rPr lang="zh-CN" altLang="en-US" sz="4000" b="1" dirty="0" smtClean="0">
                <a:solidFill>
                  <a:srgbClr val="FFFF00"/>
                </a:solidFill>
              </a:rPr>
              <a:t>两次用了变量</a:t>
            </a:r>
            <a:r>
              <a:rPr lang="en-US" altLang="zh-CN" sz="4000" b="1" dirty="0" smtClean="0">
                <a:solidFill>
                  <a:srgbClr val="FFFF00"/>
                </a:solidFill>
              </a:rPr>
              <a:t>n。</a:t>
            </a:r>
            <a:r>
              <a:rPr lang="zh-CN" altLang="en-US" sz="4000" b="1" dirty="0" smtClean="0">
                <a:solidFill>
                  <a:srgbClr val="FFFF00"/>
                </a:solidFill>
              </a:rPr>
              <a:t>由于自减运算符有副作用，第二个</a:t>
            </a:r>
            <a:r>
              <a:rPr lang="en-US" altLang="zh-CN" sz="4000" b="1" dirty="0" smtClean="0">
                <a:solidFill>
                  <a:srgbClr val="FFFF00"/>
                </a:solidFill>
              </a:rPr>
              <a:t>n</a:t>
            </a:r>
            <a:r>
              <a:rPr lang="zh-CN" altLang="en-US" sz="4000" b="1" dirty="0" smtClean="0">
                <a:solidFill>
                  <a:srgbClr val="FFFF00"/>
                </a:solidFill>
              </a:rPr>
              <a:t>可能影响第一个</a:t>
            </a:r>
            <a:r>
              <a:rPr lang="en-US" altLang="zh-CN" sz="4000" b="1" dirty="0" smtClean="0">
                <a:solidFill>
                  <a:srgbClr val="FFFF00"/>
                </a:solidFill>
              </a:rPr>
              <a:t>n</a:t>
            </a:r>
            <a:r>
              <a:rPr lang="zh-CN" altLang="en-US" sz="4000" b="1" dirty="0" smtClean="0">
                <a:solidFill>
                  <a:srgbClr val="FFFF00"/>
                </a:solidFill>
              </a:rPr>
              <a:t>的值。这种类型的编程错误是常见的。</a:t>
            </a:r>
          </a:p>
          <a:p>
            <a:pPr>
              <a:spcBef>
                <a:spcPct val="0"/>
              </a:spcBef>
            </a:pPr>
            <a:endParaRPr lang="zh-CN" altLang="zh-CN" sz="4000" dirty="0" smtClean="0"/>
          </a:p>
        </p:txBody>
      </p:sp>
      <p:sp>
        <p:nvSpPr>
          <p:cNvPr id="19460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19461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BD11795A-9B29-4733-8C3C-6D86CC2EE5F8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6:36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1946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19463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CBADB33-3CC1-4069-8A2C-CD8F75B6EBC0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7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688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179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 smtClean="0"/>
          </a:p>
        </p:txBody>
      </p:sp>
      <p:sp>
        <p:nvSpPr>
          <p:cNvPr id="19460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19461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BD11795A-9B29-4733-8C3C-6D86CC2EE5F8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6:35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1946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19463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CBADB33-3CC1-4069-8A2C-CD8F75B6EBC0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9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180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r>
              <a:rPr lang="en-US" altLang="zh-CN" sz="4000" dirty="0" smtClean="0"/>
              <a:t>void </a:t>
            </a:r>
            <a:r>
              <a:rPr lang="en-US" altLang="zh-CN" sz="4000" dirty="0" err="1" smtClean="0"/>
              <a:t>BubSort</a:t>
            </a:r>
            <a:r>
              <a:rPr lang="en-US" altLang="zh-CN" sz="4000" dirty="0" smtClean="0"/>
              <a:t>(</a:t>
            </a:r>
            <a:r>
              <a:rPr lang="en-US" altLang="zh-CN" sz="4000" dirty="0" err="1" smtClean="0"/>
              <a:t>int</a:t>
            </a:r>
            <a:r>
              <a:rPr lang="en-US" altLang="zh-CN" sz="4000" dirty="0" smtClean="0"/>
              <a:t> a[],</a:t>
            </a:r>
            <a:r>
              <a:rPr lang="en-US" altLang="zh-CN" sz="4000" dirty="0" err="1" smtClean="0"/>
              <a:t>int</a:t>
            </a:r>
            <a:r>
              <a:rPr lang="en-US" altLang="zh-CN" sz="4000" dirty="0" smtClean="0"/>
              <a:t> r) </a:t>
            </a:r>
            <a:endParaRPr lang="zh-CN" altLang="zh-CN" sz="4000" dirty="0" smtClean="0"/>
          </a:p>
          <a:p>
            <a:r>
              <a:rPr lang="en-US" altLang="zh-CN" sz="4000" dirty="0" smtClean="0"/>
              <a:t>{  </a:t>
            </a:r>
            <a:endParaRPr lang="zh-CN" altLang="zh-CN" sz="4000" dirty="0" smtClean="0"/>
          </a:p>
          <a:p>
            <a:r>
              <a:rPr lang="en-US" altLang="zh-CN" sz="4000" dirty="0" smtClean="0"/>
              <a:t>  </a:t>
            </a:r>
            <a:r>
              <a:rPr lang="en-US" altLang="zh-CN" sz="4000" dirty="0" err="1" smtClean="0"/>
              <a:t>int</a:t>
            </a:r>
            <a:r>
              <a:rPr lang="en-US" altLang="zh-CN" sz="4000" dirty="0" smtClean="0"/>
              <a:t> </a:t>
            </a:r>
            <a:r>
              <a:rPr lang="en-US" altLang="zh-CN" sz="4000" dirty="0" err="1" smtClean="0"/>
              <a:t>j,t</a:t>
            </a:r>
            <a:r>
              <a:rPr lang="en-US" altLang="zh-CN" sz="4000" dirty="0" smtClean="0"/>
              <a:t>;   </a:t>
            </a:r>
            <a:endParaRPr lang="zh-CN" altLang="zh-CN" sz="4000" dirty="0" smtClean="0"/>
          </a:p>
          <a:p>
            <a:r>
              <a:rPr lang="en-US" altLang="zh-CN" sz="4000" dirty="0" smtClean="0"/>
              <a:t> if(r &lt;= 0)      </a:t>
            </a:r>
            <a:endParaRPr lang="zh-CN" altLang="zh-CN" sz="4000" dirty="0" smtClean="0"/>
          </a:p>
          <a:p>
            <a:r>
              <a:rPr lang="en-US" altLang="zh-CN" sz="4000" dirty="0" smtClean="0"/>
              <a:t> return;    </a:t>
            </a:r>
            <a:endParaRPr lang="zh-CN" altLang="zh-CN" sz="4000" dirty="0" smtClean="0"/>
          </a:p>
          <a:p>
            <a:r>
              <a:rPr lang="en-US" altLang="zh-CN" sz="4000" dirty="0" smtClean="0"/>
              <a:t>for (j = 0;j &lt; </a:t>
            </a:r>
            <a:r>
              <a:rPr lang="en-US" altLang="zh-CN" sz="4000" dirty="0" err="1" smtClean="0"/>
              <a:t>r;j</a:t>
            </a:r>
            <a:r>
              <a:rPr lang="en-US" altLang="zh-CN" sz="4000" dirty="0" smtClean="0"/>
              <a:t>++)    </a:t>
            </a:r>
            <a:endParaRPr lang="zh-CN" altLang="zh-CN" sz="4000" dirty="0" smtClean="0"/>
          </a:p>
          <a:p>
            <a:r>
              <a:rPr lang="en-US" altLang="zh-CN" sz="4000" dirty="0" smtClean="0"/>
              <a:t>if (a[j] &lt; a[j+1]) </a:t>
            </a:r>
            <a:endParaRPr lang="zh-CN" altLang="zh-CN" sz="4000" dirty="0" smtClean="0"/>
          </a:p>
          <a:p>
            <a:r>
              <a:rPr lang="en-US" altLang="zh-CN" sz="4000" dirty="0" smtClean="0"/>
              <a:t>{      </a:t>
            </a:r>
            <a:endParaRPr lang="zh-CN" altLang="zh-CN" sz="4000" dirty="0" smtClean="0"/>
          </a:p>
          <a:p>
            <a:r>
              <a:rPr lang="en-US" altLang="zh-CN" sz="4000" dirty="0" smtClean="0"/>
              <a:t> t = a[j];       </a:t>
            </a:r>
            <a:endParaRPr lang="zh-CN" altLang="zh-CN" sz="4000" dirty="0" smtClean="0"/>
          </a:p>
          <a:p>
            <a:r>
              <a:rPr lang="en-US" altLang="zh-CN" sz="4000" dirty="0" smtClean="0"/>
              <a:t>a[j] = a[j+1];       </a:t>
            </a:r>
            <a:endParaRPr lang="zh-CN" altLang="zh-CN" sz="4000" dirty="0" smtClean="0"/>
          </a:p>
          <a:p>
            <a:r>
              <a:rPr lang="en-US" altLang="zh-CN" sz="4000" dirty="0" smtClean="0"/>
              <a:t>a[j+1] = t;   </a:t>
            </a:r>
            <a:endParaRPr lang="zh-CN" altLang="zh-CN" sz="4000" dirty="0" smtClean="0"/>
          </a:p>
          <a:p>
            <a:r>
              <a:rPr lang="en-US" altLang="zh-CN" sz="4000" dirty="0" smtClean="0"/>
              <a:t> } </a:t>
            </a:r>
            <a:endParaRPr lang="zh-CN" altLang="zh-CN" sz="4000" dirty="0" smtClean="0"/>
          </a:p>
          <a:p>
            <a:r>
              <a:rPr lang="en-US" altLang="zh-CN" sz="4000" dirty="0" smtClean="0"/>
              <a:t>   </a:t>
            </a:r>
            <a:r>
              <a:rPr lang="en-US" altLang="zh-CN" sz="4000" dirty="0" err="1" smtClean="0"/>
              <a:t>BubSort</a:t>
            </a:r>
            <a:r>
              <a:rPr lang="en-US" altLang="zh-CN" sz="4000" dirty="0" smtClean="0"/>
              <a:t>(a,r-1); //</a:t>
            </a:r>
            <a:r>
              <a:rPr lang="zh-CN" altLang="en-US" sz="4000" dirty="0" smtClean="0"/>
              <a:t>相当于冒泡排序双循环的外层循环</a:t>
            </a:r>
            <a:endParaRPr lang="zh-CN" altLang="zh-CN" sz="4000" dirty="0" smtClean="0"/>
          </a:p>
          <a:p>
            <a:r>
              <a:rPr lang="en-US" altLang="zh-CN" sz="4000" dirty="0" smtClean="0"/>
              <a:t>} </a:t>
            </a:r>
            <a:endParaRPr lang="zh-CN" altLang="en-US" sz="4000" dirty="0" smtClean="0"/>
          </a:p>
          <a:p>
            <a:pPr>
              <a:spcBef>
                <a:spcPct val="0"/>
              </a:spcBef>
            </a:pPr>
            <a:endParaRPr lang="zh-CN" altLang="zh-CN" sz="4000" dirty="0" smtClean="0"/>
          </a:p>
        </p:txBody>
      </p:sp>
      <p:sp>
        <p:nvSpPr>
          <p:cNvPr id="19460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19461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BD11795A-9B29-4733-8C3C-6D86CC2EE5F8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6:37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1946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19463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CBADB33-3CC1-4069-8A2C-CD8F75B6EBC0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10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253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r>
              <a:rPr lang="pt-BR" altLang="zh-CN" sz="4000" dirty="0" smtClean="0"/>
              <a:t>int max(int a[],int n) </a:t>
            </a:r>
          </a:p>
          <a:p>
            <a:r>
              <a:rPr lang="pt-BR" altLang="zh-CN" sz="4000" dirty="0" smtClean="0"/>
              <a:t>{ </a:t>
            </a:r>
          </a:p>
          <a:p>
            <a:r>
              <a:rPr lang="pt-BR" altLang="zh-CN" sz="4000" dirty="0" smtClean="0"/>
              <a:t>    if(0==n) </a:t>
            </a:r>
          </a:p>
          <a:p>
            <a:r>
              <a:rPr lang="pt-BR" altLang="zh-CN" sz="4000" dirty="0" smtClean="0"/>
              <a:t>        return a[n]; </a:t>
            </a:r>
          </a:p>
          <a:p>
            <a:r>
              <a:rPr lang="pt-BR" altLang="zh-CN" sz="4000" dirty="0" smtClean="0"/>
              <a:t>    else     </a:t>
            </a:r>
          </a:p>
          <a:p>
            <a:r>
              <a:rPr lang="pt-BR" altLang="zh-CN" sz="4000" dirty="0" smtClean="0"/>
              <a:t>        return (a[n]&gt;max(a,n-1)?a[n]:max(a,n-1));    </a:t>
            </a:r>
          </a:p>
          <a:p>
            <a:r>
              <a:rPr lang="pt-BR" altLang="zh-CN" sz="4000" dirty="0" smtClean="0"/>
              <a:t>} </a:t>
            </a:r>
            <a:endParaRPr lang="zh-CN" altLang="en-US" sz="4000" dirty="0" smtClean="0"/>
          </a:p>
          <a:p>
            <a:pPr>
              <a:spcBef>
                <a:spcPct val="0"/>
              </a:spcBef>
            </a:pPr>
            <a:endParaRPr lang="zh-CN" altLang="zh-CN" sz="4000" dirty="0" smtClean="0"/>
          </a:p>
        </p:txBody>
      </p:sp>
      <p:sp>
        <p:nvSpPr>
          <p:cNvPr id="19460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19461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BD11795A-9B29-4733-8C3C-6D86CC2EE5F8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6:37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1946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19463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CBADB33-3CC1-4069-8A2C-CD8F75B6EBC0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11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6000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altLang="zh-CN" sz="4000" dirty="0" err="1" smtClean="0"/>
              <a:t>int</a:t>
            </a:r>
            <a:r>
              <a:rPr lang="en-US" altLang="zh-CN" sz="4000" dirty="0" smtClean="0"/>
              <a:t> fc(</a:t>
            </a:r>
            <a:r>
              <a:rPr lang="en-US" altLang="zh-CN" sz="4000" dirty="0" err="1" smtClean="0"/>
              <a:t>int</a:t>
            </a:r>
            <a:r>
              <a:rPr lang="en-US" altLang="zh-CN" sz="4000" dirty="0" smtClean="0"/>
              <a:t> </a:t>
            </a:r>
            <a:r>
              <a:rPr lang="en-US" altLang="zh-CN" sz="4000" dirty="0" err="1" smtClean="0"/>
              <a:t>num</a:t>
            </a:r>
            <a:r>
              <a:rPr lang="en-US" altLang="zh-CN" sz="4000" dirty="0" smtClean="0"/>
              <a:t>)</a:t>
            </a:r>
            <a:endParaRPr lang="zh-CN" altLang="zh-CN" sz="4000" dirty="0" smtClean="0"/>
          </a:p>
          <a:p>
            <a:r>
              <a:rPr lang="en-US" altLang="zh-CN" sz="4000" dirty="0" smtClean="0"/>
              <a:t>{	</a:t>
            </a:r>
            <a:endParaRPr lang="zh-CN" altLang="zh-CN" sz="4000" dirty="0" smtClean="0"/>
          </a:p>
          <a:p>
            <a:r>
              <a:rPr lang="en-US" altLang="zh-CN" sz="4000" dirty="0" smtClean="0"/>
              <a:t>	if(</a:t>
            </a:r>
            <a:r>
              <a:rPr lang="en-US" altLang="zh-CN" sz="4000" dirty="0" err="1" smtClean="0"/>
              <a:t>num</a:t>
            </a:r>
            <a:r>
              <a:rPr lang="en-US" altLang="zh-CN" sz="4000" dirty="0" smtClean="0"/>
              <a:t> == 1)</a:t>
            </a:r>
            <a:endParaRPr lang="zh-CN" altLang="zh-CN" sz="4000" dirty="0" smtClean="0"/>
          </a:p>
          <a:p>
            <a:r>
              <a:rPr lang="en-US" altLang="zh-CN" sz="4000" dirty="0" smtClean="0"/>
              <a:t>	{</a:t>
            </a:r>
            <a:endParaRPr lang="zh-CN" altLang="zh-CN" sz="4000" dirty="0" smtClean="0"/>
          </a:p>
          <a:p>
            <a:r>
              <a:rPr lang="en-US" altLang="zh-CN" sz="4000" dirty="0" smtClean="0"/>
              <a:t>		</a:t>
            </a:r>
            <a:r>
              <a:rPr lang="en-US" altLang="zh-CN" sz="4000" dirty="0" err="1" smtClean="0"/>
              <a:t>printf</a:t>
            </a:r>
            <a:r>
              <a:rPr lang="en-US" altLang="zh-CN" sz="4000" dirty="0" smtClean="0"/>
              <a:t>("%d",</a:t>
            </a:r>
            <a:r>
              <a:rPr lang="en-US" altLang="zh-CN" sz="4000" dirty="0" err="1" smtClean="0"/>
              <a:t>num</a:t>
            </a:r>
            <a:r>
              <a:rPr lang="en-US" altLang="zh-CN" sz="4000" dirty="0" smtClean="0"/>
              <a:t>);</a:t>
            </a:r>
            <a:endParaRPr lang="zh-CN" altLang="zh-CN" sz="4000" dirty="0" smtClean="0"/>
          </a:p>
          <a:p>
            <a:r>
              <a:rPr lang="en-US" altLang="zh-CN" sz="4000" dirty="0" smtClean="0"/>
              <a:t>		return 0;</a:t>
            </a:r>
            <a:endParaRPr lang="zh-CN" altLang="zh-CN" sz="4000" dirty="0" smtClean="0"/>
          </a:p>
          <a:p>
            <a:r>
              <a:rPr lang="en-US" altLang="zh-CN" sz="4000" dirty="0" smtClean="0"/>
              <a:t>	}</a:t>
            </a:r>
            <a:endParaRPr lang="zh-CN" altLang="zh-CN" sz="4000" dirty="0" smtClean="0"/>
          </a:p>
          <a:p>
            <a:r>
              <a:rPr lang="en-US" altLang="zh-CN" sz="4000" dirty="0" smtClean="0"/>
              <a:t>	fc(</a:t>
            </a:r>
            <a:r>
              <a:rPr lang="en-US" altLang="zh-CN" sz="4000" dirty="0" err="1" smtClean="0"/>
              <a:t>num</a:t>
            </a:r>
            <a:r>
              <a:rPr lang="en-US" altLang="zh-CN" sz="4000" dirty="0" smtClean="0"/>
              <a:t>/2);</a:t>
            </a:r>
            <a:endParaRPr lang="zh-CN" altLang="zh-CN" sz="4000" dirty="0" smtClean="0"/>
          </a:p>
          <a:p>
            <a:r>
              <a:rPr lang="en-US" altLang="zh-CN" sz="4000" dirty="0" smtClean="0"/>
              <a:t>	</a:t>
            </a:r>
            <a:r>
              <a:rPr lang="en-US" altLang="zh-CN" sz="4000" dirty="0" err="1" smtClean="0"/>
              <a:t>printf</a:t>
            </a:r>
            <a:r>
              <a:rPr lang="en-US" altLang="zh-CN" sz="4000" dirty="0" smtClean="0"/>
              <a:t>("%d",num%2);	</a:t>
            </a:r>
            <a:endParaRPr lang="zh-CN" altLang="zh-CN" sz="4000" dirty="0" smtClean="0"/>
          </a:p>
          <a:p>
            <a:r>
              <a:rPr lang="en-US" altLang="zh-CN" sz="4000" dirty="0" smtClean="0"/>
              <a:t>}</a:t>
            </a:r>
            <a:endParaRPr lang="zh-CN" altLang="zh-CN" sz="4000" dirty="0" smtClean="0"/>
          </a:p>
          <a:p>
            <a:endParaRPr lang="zh-CN" altLang="en-US" sz="4000" dirty="0" smtClean="0"/>
          </a:p>
          <a:p>
            <a:pPr>
              <a:spcBef>
                <a:spcPct val="0"/>
              </a:spcBef>
            </a:pPr>
            <a:endParaRPr lang="zh-CN" altLang="zh-CN" sz="4000" dirty="0" smtClean="0"/>
          </a:p>
        </p:txBody>
      </p:sp>
      <p:sp>
        <p:nvSpPr>
          <p:cNvPr id="19460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19461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BD11795A-9B29-4733-8C3C-6D86CC2EE5F8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6:37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1946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19463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CBADB33-3CC1-4069-8A2C-CD8F75B6EBC0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12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222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spcBef>
                <a:spcPct val="0"/>
              </a:spcBef>
            </a:pPr>
            <a:r>
              <a:rPr lang="en-US" altLang="zh-CN" sz="4000" dirty="0" err="1" smtClean="0"/>
              <a:t>int</a:t>
            </a:r>
            <a:r>
              <a:rPr lang="en-US" altLang="zh-CN" sz="4000" dirty="0" smtClean="0"/>
              <a:t> method(</a:t>
            </a:r>
            <a:r>
              <a:rPr lang="en-US" altLang="zh-CN" sz="4000" dirty="0" err="1" smtClean="0"/>
              <a:t>int</a:t>
            </a:r>
            <a:r>
              <a:rPr lang="en-US" altLang="zh-CN" sz="4000" dirty="0" smtClean="0"/>
              <a:t> </a:t>
            </a:r>
            <a:r>
              <a:rPr lang="en-US" altLang="zh-CN" sz="4000" dirty="0" err="1" smtClean="0"/>
              <a:t>n,char</a:t>
            </a:r>
            <a:r>
              <a:rPr lang="en-US" altLang="zh-CN" sz="4000" dirty="0" smtClean="0"/>
              <a:t> a, char b)</a:t>
            </a:r>
            <a:br>
              <a:rPr lang="en-US" altLang="zh-CN" sz="4000" dirty="0" smtClean="0"/>
            </a:br>
            <a:r>
              <a:rPr lang="en-US" altLang="zh-CN" sz="4000" dirty="0" smtClean="0"/>
              <a:t>{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 </a:t>
            </a:r>
            <a:r>
              <a:rPr lang="en-US" altLang="zh-CN" sz="4000" dirty="0" err="1" smtClean="0"/>
              <a:t>printf</a:t>
            </a:r>
            <a:r>
              <a:rPr lang="en-US" altLang="zh-CN" sz="4000" dirty="0" smtClean="0"/>
              <a:t>("number..%d..form..%c..to..%c.."n",</a:t>
            </a:r>
            <a:r>
              <a:rPr lang="en-US" altLang="zh-CN" sz="4000" dirty="0" err="1" smtClean="0"/>
              <a:t>n,a,b</a:t>
            </a:r>
            <a:r>
              <a:rPr lang="en-US" altLang="zh-CN" sz="4000" dirty="0" smtClean="0"/>
              <a:t>);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 return 0;</a:t>
            </a:r>
            <a:br>
              <a:rPr lang="en-US" altLang="zh-CN" sz="4000" dirty="0" smtClean="0"/>
            </a:br>
            <a:r>
              <a:rPr lang="en-US" altLang="zh-CN" sz="4000" dirty="0" smtClean="0"/>
              <a:t>}</a:t>
            </a:r>
            <a:br>
              <a:rPr lang="en-US" altLang="zh-CN" sz="4000" dirty="0" smtClean="0"/>
            </a:br>
            <a:r>
              <a:rPr lang="en-US" altLang="zh-CN" sz="4000" dirty="0" err="1" smtClean="0"/>
              <a:t>int</a:t>
            </a:r>
            <a:r>
              <a:rPr lang="en-US" altLang="zh-CN" sz="4000" dirty="0" smtClean="0"/>
              <a:t> </a:t>
            </a:r>
            <a:r>
              <a:rPr lang="en-US" altLang="zh-CN" sz="4000" dirty="0" err="1" smtClean="0"/>
              <a:t>hanoi</a:t>
            </a:r>
            <a:r>
              <a:rPr lang="en-US" altLang="zh-CN" sz="4000" dirty="0" smtClean="0"/>
              <a:t>(</a:t>
            </a:r>
            <a:r>
              <a:rPr lang="en-US" altLang="zh-CN" sz="4000" dirty="0" err="1" smtClean="0"/>
              <a:t>int</a:t>
            </a:r>
            <a:r>
              <a:rPr lang="en-US" altLang="zh-CN" sz="4000" dirty="0" smtClean="0"/>
              <a:t> </a:t>
            </a:r>
            <a:r>
              <a:rPr lang="en-US" altLang="zh-CN" sz="4000" dirty="0" err="1" smtClean="0"/>
              <a:t>n,char</a:t>
            </a:r>
            <a:r>
              <a:rPr lang="en-US" altLang="zh-CN" sz="4000" dirty="0" smtClean="0"/>
              <a:t> </a:t>
            </a:r>
            <a:r>
              <a:rPr lang="en-US" altLang="zh-CN" sz="4000" dirty="0" err="1" smtClean="0"/>
              <a:t>a,char</a:t>
            </a:r>
            <a:r>
              <a:rPr lang="en-US" altLang="zh-CN" sz="4000" dirty="0" smtClean="0"/>
              <a:t> </a:t>
            </a:r>
            <a:r>
              <a:rPr lang="en-US" altLang="zh-CN" sz="4000" dirty="0" err="1" smtClean="0"/>
              <a:t>b,char</a:t>
            </a:r>
            <a:r>
              <a:rPr lang="en-US" altLang="zh-CN" sz="4000" dirty="0" smtClean="0"/>
              <a:t> c)</a:t>
            </a:r>
            <a:br>
              <a:rPr lang="en-US" altLang="zh-CN" sz="4000" dirty="0" smtClean="0"/>
            </a:br>
            <a:r>
              <a:rPr lang="en-US" altLang="zh-CN" sz="4000" dirty="0" smtClean="0"/>
              <a:t>{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 if( n==1 ) move (1,a,c);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 else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      {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           </a:t>
            </a:r>
            <a:r>
              <a:rPr lang="en-US" altLang="zh-CN" sz="4000" dirty="0" err="1" smtClean="0"/>
              <a:t>hanoi</a:t>
            </a:r>
            <a:r>
              <a:rPr lang="en-US" altLang="zh-CN" sz="4000" dirty="0" smtClean="0"/>
              <a:t>(n-1,a,c,b);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           move(</a:t>
            </a:r>
            <a:r>
              <a:rPr lang="en-US" altLang="zh-CN" sz="4000" dirty="0" err="1" smtClean="0"/>
              <a:t>n,a,c</a:t>
            </a:r>
            <a:r>
              <a:rPr lang="en-US" altLang="zh-CN" sz="4000" dirty="0" smtClean="0"/>
              <a:t>);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           </a:t>
            </a:r>
            <a:r>
              <a:rPr lang="en-US" altLang="zh-CN" sz="4000" dirty="0" err="1" smtClean="0"/>
              <a:t>hanoi</a:t>
            </a:r>
            <a:r>
              <a:rPr lang="en-US" altLang="zh-CN" sz="4000" dirty="0" smtClean="0"/>
              <a:t>(n-1,b,a,c);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      };</a:t>
            </a:r>
            <a:br>
              <a:rPr lang="en-US" altLang="zh-CN" sz="4000" dirty="0" smtClean="0"/>
            </a:br>
            <a:r>
              <a:rPr lang="en-US" altLang="zh-CN" sz="4000" dirty="0" smtClean="0"/>
              <a:t>     return 0;</a:t>
            </a:r>
            <a:br>
              <a:rPr lang="en-US" altLang="zh-CN" sz="4000" dirty="0" smtClean="0"/>
            </a:br>
            <a:r>
              <a:rPr lang="en-US" altLang="zh-CN" sz="4000" dirty="0" smtClean="0"/>
              <a:t>}</a:t>
            </a:r>
            <a:endParaRPr lang="zh-CN" altLang="zh-CN" sz="4000" dirty="0" smtClean="0"/>
          </a:p>
        </p:txBody>
      </p:sp>
      <p:sp>
        <p:nvSpPr>
          <p:cNvPr id="19460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19461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BD11795A-9B29-4733-8C3C-6D86CC2EE5F8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6:37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19462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19463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CBADB33-3CC1-4069-8A2C-CD8F75B6EBC0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13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4628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 smtClean="0"/>
          </a:p>
        </p:txBody>
      </p:sp>
      <p:sp>
        <p:nvSpPr>
          <p:cNvPr id="26628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26629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57FA668F-728F-4117-931B-CE6DE986F127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6:35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26630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26631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6B03DAF-8E8D-45C7-B428-D835DA4CBC2B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14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871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 smtClean="0"/>
          </a:p>
        </p:txBody>
      </p:sp>
      <p:sp>
        <p:nvSpPr>
          <p:cNvPr id="26628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mtClean="0"/>
          </a:p>
        </p:txBody>
      </p:sp>
      <p:sp>
        <p:nvSpPr>
          <p:cNvPr id="26629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57FA668F-728F-4117-931B-CE6DE986F127}" type="datetime8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6/15/2013 6:35 PM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  <p:sp>
        <p:nvSpPr>
          <p:cNvPr id="26630" name="Footer Placeholder 5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© 2007 Microsoft Corporation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。 保留所有权利。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、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Windows Vista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和其他产品名称是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在美国和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或其他国家或地区的注册商标和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/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或商标。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本文中的信息仅供参考，并代表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Corporation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截至此演示文稿发布之日的观点。 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必须对不断变化的市场条件做出响应，因此不应将本演示文稿视为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方面的承诺，并且 </a:t>
            </a: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不能保证所提供的任何信息在此演示文稿发布日期之后的准确性。  </a:t>
            </a:r>
            <a:b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</a:br>
            <a:r>
              <a:rPr lang="en-US" altLang="zh-CN" smtClean="0">
                <a:solidFill>
                  <a:srgbClr val="000000"/>
                </a:solidFill>
                <a:sym typeface="Calibri" pitchFamily="34" charset="0"/>
              </a:rPr>
              <a:t>Microsoft </a:t>
            </a:r>
            <a:r>
              <a:rPr lang="zh-CN" altLang="en-US" smtClean="0">
                <a:solidFill>
                  <a:srgbClr val="000000"/>
                </a:solidFill>
                <a:sym typeface="Calibri" pitchFamily="34" charset="0"/>
              </a:rPr>
              <a:t>不对此演示文稿中的信息做任何明示、暗示或法定保证。</a:t>
            </a:r>
          </a:p>
        </p:txBody>
      </p:sp>
      <p:sp>
        <p:nvSpPr>
          <p:cNvPr id="26631" name="Slide Number Placeholder 6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SzPct val="100000"/>
            </a:pPr>
            <a:fld id="{D6B03DAF-8E8D-45C7-B428-D835DA4CBC2B}" type="slidenum">
              <a:rPr lang="en-US" altLang="zh-CN">
                <a:solidFill>
                  <a:srgbClr val="FFFFFF"/>
                </a:solidFill>
                <a:sym typeface="Calibri" pitchFamily="34" charset="0"/>
              </a:rPr>
              <a:pPr>
                <a:buSzPct val="100000"/>
              </a:pPr>
              <a:t>15</a:t>
            </a:fld>
            <a:endParaRPr lang="en-US" altLang="zh-CN">
              <a:solidFill>
                <a:srgbClr val="FFFFFF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55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37984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49" y="2355850"/>
            <a:ext cx="7690114" cy="1384994"/>
          </a:xfr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7656215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1548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06343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2129814"/>
          </a:xfrm>
        </p:spPr>
        <p:txBody>
          <a:bodyPr/>
          <a:lstStyle>
            <a:lvl1pPr marL="339976" indent="-339976">
              <a:lnSpc>
                <a:spcPct val="90000"/>
              </a:lnSpc>
              <a:defRPr sz="2800"/>
            </a:lvl1pPr>
            <a:lvl2pPr marL="673338" indent="-325424">
              <a:lnSpc>
                <a:spcPct val="90000"/>
              </a:lnSpc>
              <a:defRPr sz="2400"/>
            </a:lvl2pPr>
            <a:lvl3pPr marL="953785" indent="-288384">
              <a:lnSpc>
                <a:spcPct val="90000"/>
              </a:lnSpc>
              <a:defRPr sz="2000"/>
            </a:lvl3pPr>
            <a:lvl4pPr marL="1227618" indent="-273833">
              <a:lnSpc>
                <a:spcPct val="90000"/>
              </a:lnSpc>
              <a:defRPr sz="1800"/>
            </a:lvl4pPr>
            <a:lvl5pPr marL="1516002" indent="-280447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129814"/>
          </a:xfrm>
        </p:spPr>
        <p:txBody>
          <a:bodyPr/>
          <a:lstStyle>
            <a:lvl1pPr marL="347914" indent="-347914">
              <a:lnSpc>
                <a:spcPct val="90000"/>
              </a:lnSpc>
              <a:defRPr sz="2800"/>
            </a:lvl1pPr>
            <a:lvl2pPr marL="673338" indent="-339976">
              <a:lnSpc>
                <a:spcPct val="90000"/>
              </a:lnSpc>
              <a:defRPr sz="2400"/>
            </a:lvl2pPr>
            <a:lvl3pPr marL="961722" indent="-302936">
              <a:lnSpc>
                <a:spcPct val="90000"/>
              </a:lnSpc>
              <a:defRPr sz="2000"/>
            </a:lvl3pPr>
            <a:lvl4pPr marL="1227618" indent="-265896">
              <a:lnSpc>
                <a:spcPct val="90000"/>
              </a:lnSpc>
              <a:defRPr sz="1800"/>
            </a:lvl4pPr>
            <a:lvl5pPr marL="1516002" indent="-273833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27930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1553"/>
            <a:ext cx="4114800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1537344"/>
          </a:xfrm>
        </p:spPr>
        <p:txBody>
          <a:bodyPr/>
          <a:lstStyle>
            <a:lvl1pPr marL="281770" indent="-281770">
              <a:defRPr sz="2300"/>
            </a:lvl1pPr>
            <a:lvl2pPr marL="562218" indent="-265896">
              <a:defRPr sz="2000"/>
            </a:lvl2pPr>
            <a:lvl3pPr marL="813562" indent="-243407">
              <a:defRPr sz="1800"/>
            </a:lvl3pPr>
            <a:lvl4pPr marL="1050354" indent="-228856">
              <a:defRPr sz="1700"/>
            </a:lvl4pPr>
            <a:lvl5pPr marL="1279210" indent="-206367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411553"/>
            <a:ext cx="4117019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1537344"/>
          </a:xfrm>
        </p:spPr>
        <p:txBody>
          <a:bodyPr/>
          <a:lstStyle>
            <a:lvl1pPr marL="296321" indent="-296321">
              <a:defRPr sz="2300"/>
            </a:lvl1pPr>
            <a:lvl2pPr marL="570155" indent="-273833">
              <a:defRPr sz="2000"/>
            </a:lvl2pPr>
            <a:lvl3pPr marL="821499" indent="-244730">
              <a:defRPr sz="1800"/>
            </a:lvl3pPr>
            <a:lvl4pPr marL="1050354" indent="-236793">
              <a:defRPr sz="1700"/>
            </a:lvl4pPr>
            <a:lvl5pPr marL="1279210" indent="-220919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67474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96977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83699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10266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19504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6238875"/>
            <a:ext cx="9144001" cy="619125"/>
          </a:xfrm>
          <a:solidFill>
            <a:srgbClr val="FFFF99"/>
          </a:solidFill>
        </p:spPr>
        <p:txBody>
          <a:bodyPr lIns="152394" tIns="76197" rIns="152394" bIns="76197" anchor="b">
            <a:noAutofit/>
          </a:bodyPr>
          <a:lstStyle>
            <a:lvl1pPr algn="r">
              <a:buFont typeface="Arial" pitchFamily="34" charset="0"/>
              <a:buNone/>
              <a:defRPr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1462170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49" y="2355850"/>
            <a:ext cx="7690114" cy="1384994"/>
          </a:xfr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5149170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49" y="2355850"/>
            <a:ext cx="7690114" cy="1384994"/>
          </a:xfr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92151399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2313" y="1905000"/>
            <a:ext cx="8040688" cy="193899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771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5485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3449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078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3263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28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286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0980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7309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410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0417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0223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02484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0386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1979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4206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0890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9496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852791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49" y="2355850"/>
            <a:ext cx="7690114" cy="1384994"/>
          </a:xfr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0228519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51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412875"/>
            <a:ext cx="8382000" cy="213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9" r:id="rId10"/>
    <p:sldLayoutId id="2147483690" r:id="rId11"/>
    <p:sldLayoutId id="2147483687" r:id="rId12"/>
    <p:sldLayoutId id="2147483830" r:id="rId13"/>
  </p:sldLayoutIdLst>
  <p:transition>
    <p:fade/>
  </p:transition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4800" kern="1200" spc="-150" dirty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9pPr>
    </p:titleStyle>
    <p:bodyStyle>
      <a:lvl1pPr marL="396875" indent="-396875" algn="l" defTabSz="912813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Blip>
          <a:blip r:embed="rId16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2813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Blip>
          <a:blip r:embed="rId17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2813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Blip>
          <a:blip r:embed="rId17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2813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Blip>
          <a:blip r:embed="rId17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2813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Blip>
          <a:blip r:embed="rId17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 descr="white rectangl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52"/>
          <a:stretch>
            <a:fillRect/>
          </a:stretch>
        </p:blipFill>
        <p:spPr bwMode="auto">
          <a:xfrm>
            <a:off x="0" y="1300163"/>
            <a:ext cx="9144000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51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0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1905000"/>
            <a:ext cx="8040687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ransition>
    <p:fade/>
  </p:transition>
  <p:txStyles>
    <p:titleStyle>
      <a:lvl1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lang="en-US" sz="4800" kern="1200" spc="-125" dirty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  <a:lvl2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2pPr>
      <a:lvl3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3pPr>
      <a:lvl4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4pPr>
      <a:lvl5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5pPr>
      <a:lvl6pPr marL="4572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6pPr>
      <a:lvl7pPr marL="9144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7pPr>
      <a:lvl8pPr marL="13716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8pPr>
      <a:lvl9pPr marL="18288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  <a:cs typeface="Arial" charset="0"/>
        </a:defRPr>
      </a:lvl9pPr>
    </p:titleStyle>
    <p:bodyStyle>
      <a:lvl1pPr algn="l" defTabSz="912813" rtl="0" fontAlgn="base">
        <a:lnSpc>
          <a:spcPct val="90000"/>
        </a:lnSpc>
        <a:spcBef>
          <a:spcPct val="20000"/>
        </a:spcBef>
        <a:spcAft>
          <a:spcPct val="0"/>
        </a:spcAft>
        <a:buFont typeface="Arial" charset="0"/>
        <a:defRPr sz="30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1pPr>
      <a:lvl2pPr marL="384175" indent="-6350" algn="l" defTabSz="912813" rtl="0" fontAlgn="base">
        <a:lnSpc>
          <a:spcPct val="90000"/>
        </a:lnSpc>
        <a:spcBef>
          <a:spcPct val="20000"/>
        </a:spcBef>
        <a:spcAft>
          <a:spcPct val="0"/>
        </a:spcAft>
        <a:buFont typeface="Arial" charset="0"/>
        <a:defRPr sz="28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2pPr>
      <a:lvl3pPr marL="760413" indent="-6350" algn="l" defTabSz="912813" rtl="0" fontAlgn="base">
        <a:lnSpc>
          <a:spcPct val="90000"/>
        </a:lnSpc>
        <a:spcBef>
          <a:spcPct val="20000"/>
        </a:spcBef>
        <a:spcAft>
          <a:spcPct val="0"/>
        </a:spcAft>
        <a:buFont typeface="Arial" charset="0"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3pPr>
      <a:lvl4pPr marL="1093788" indent="6350" algn="l" defTabSz="912813" rtl="0" fontAlgn="base">
        <a:lnSpc>
          <a:spcPct val="90000"/>
        </a:lnSpc>
        <a:spcBef>
          <a:spcPct val="20000"/>
        </a:spcBef>
        <a:spcAft>
          <a:spcPct val="0"/>
        </a:spcAft>
        <a:buFont typeface="Arial" charset="0"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4pPr>
      <a:lvl5pPr marL="1425575" algn="l" defTabSz="912813" rtl="0" fontAlgn="base">
        <a:lnSpc>
          <a:spcPct val="90000"/>
        </a:lnSpc>
        <a:spcBef>
          <a:spcPct val="20000"/>
        </a:spcBef>
        <a:spcAft>
          <a:spcPct val="0"/>
        </a:spcAft>
        <a:buFont typeface="Arial" charset="0"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0642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72" r:id="rId1"/>
    <p:sldLayoutId id="2147484273" r:id="rId2"/>
    <p:sldLayoutId id="2147484274" r:id="rId3"/>
    <p:sldLayoutId id="2147484275" r:id="rId4"/>
    <p:sldLayoutId id="2147484276" r:id="rId5"/>
    <p:sldLayoutId id="2147484277" r:id="rId6"/>
    <p:sldLayoutId id="2147484278" r:id="rId7"/>
    <p:sldLayoutId id="2147484279" r:id="rId8"/>
    <p:sldLayoutId id="2147484280" r:id="rId9"/>
    <p:sldLayoutId id="2147484281" r:id="rId10"/>
    <p:sldLayoutId id="2147484282" r:id="rId11"/>
    <p:sldLayoutId id="2147484283" r:id="rId12"/>
    <p:sldLayoutId id="2147484284" r:id="rId13"/>
    <p:sldLayoutId id="2147484285" r:id="rId14"/>
    <p:sldLayoutId id="2147484286" r:id="rId15"/>
    <p:sldLayoutId id="2147484287" r:id="rId16"/>
    <p:sldLayoutId id="2147484288" r:id="rId17"/>
    <p:sldLayoutId id="2147484289" r:id="rId18"/>
    <p:sldLayoutId id="2147484290" r:id="rId19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openxmlformats.org/officeDocument/2006/relationships/audio" Target="../media/audio1.wav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827584" y="1412776"/>
            <a:ext cx="7738016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Jokerman" panose="04090605060D06020702" pitchFamily="82" charset="0"/>
              </a:rPr>
              <a:t>Recursion</a:t>
            </a:r>
            <a:endParaRPr lang="en-US" altLang="zh-CN" sz="12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Jokerman" panose="04090605060D06020702" pitchFamily="82" charset="0"/>
              <a:ea typeface="方正舒体" panose="02010601030101010101" pitchFamily="2" charset="-122"/>
            </a:endParaRPr>
          </a:p>
          <a:p>
            <a:pPr algn="ctr"/>
            <a:r>
              <a:rPr lang="zh-CN" altLang="en-US" sz="12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reflection blurRad="6350" stA="60000" endA="900" endPos="58000" dir="5400000" sy="-100000" algn="bl" rotWithShape="0"/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递归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818762" y="1412776"/>
            <a:ext cx="7738016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Jokerman" panose="04090605060D06020702" pitchFamily="82" charset="0"/>
              </a:rPr>
              <a:t>Recursion</a:t>
            </a:r>
            <a:endParaRPr lang="en-US" altLang="zh-CN" sz="12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Jokerman" panose="04090605060D06020702" pitchFamily="82" charset="0"/>
              <a:ea typeface="方正舒体" panose="02010601030101010101" pitchFamily="2" charset="-122"/>
            </a:endParaRPr>
          </a:p>
          <a:p>
            <a:pPr algn="ctr"/>
            <a:r>
              <a:rPr lang="zh-CN" altLang="en-US" sz="12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reflection blurRad="6350" stA="60000" endA="900" endPos="58000" dir="5400000" sy="-100000" algn="bl" rotWithShape="0"/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递归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818762" y="1412776"/>
            <a:ext cx="7738016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9FF99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Jokerman" panose="04090605060D06020702" pitchFamily="82" charset="0"/>
              </a:rPr>
              <a:t>Recursion</a:t>
            </a:r>
            <a:endParaRPr lang="en-US" altLang="zh-CN" sz="120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99FF99"/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Jokerman" panose="04090605060D06020702" pitchFamily="82" charset="0"/>
              <a:ea typeface="方正舒体" panose="02010601030101010101" pitchFamily="2" charset="-122"/>
            </a:endParaRPr>
          </a:p>
          <a:p>
            <a:pPr algn="ctr"/>
            <a:r>
              <a:rPr lang="zh-CN" altLang="en-US" sz="12000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rgbClr val="F1FD51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reflection blurRad="6350" stA="60000" endA="900" endPos="58000" dir="5400000" sy="-100000" algn="bl" rotWithShape="0"/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递归</a:t>
            </a:r>
          </a:p>
        </p:txBody>
      </p:sp>
      <p:sp>
        <p:nvSpPr>
          <p:cNvPr id="2" name="矩形 1"/>
          <p:cNvSpPr/>
          <p:nvPr/>
        </p:nvSpPr>
        <p:spPr>
          <a:xfrm>
            <a:off x="5436096" y="5949280"/>
            <a:ext cx="343074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计算机学院</a:t>
            </a:r>
            <a:r>
              <a:rPr lang="en-US" altLang="zh-CN" sz="2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——</a:t>
            </a:r>
            <a:r>
              <a:rPr lang="zh-CN" altLang="en-US" sz="2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孙鹏</a:t>
            </a:r>
            <a:endParaRPr lang="zh-CN" alt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1026" name="Picture 2" descr="图片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07651"/>
            <a:ext cx="2466860" cy="88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35912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 advClick="0">
        <p15:prstTrans prst="curtains"/>
        <p:sndAc>
          <p:stSnd loop="1">
            <p:snd r:embed="rId3" name="Enigmate-Asim_Kha-2032.wav"/>
          </p:stSnd>
        </p:sndAc>
      </p:transition>
    </mc:Choice>
    <mc:Fallback xmlns="">
      <p:transition spd="slow" advClick="0">
        <p:fade/>
        <p:sndAc>
          <p:stSnd loop="1">
            <p:snd r:embed="rId5" name="Enigmate-Asim_Kha-2032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3" presetClass="emph" presetSubtype="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14" dur="50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6" fill="hold" grpId="1" nodeType="withEffect">
                                  <p:stCondLst>
                                    <p:cond delay="2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16" dur="50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3400"/>
                            </p:stCondLst>
                            <p:childTnLst>
                              <p:par>
                                <p:cTn id="1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3400"/>
                            </p:stCondLst>
                            <p:childTnLst>
                              <p:par>
                                <p:cTn id="2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3400"/>
                            </p:stCondLst>
                            <p:childTnLst>
                              <p:par>
                                <p:cTn id="24" presetID="3" presetClass="emph" presetSubtype="6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25" dur="5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3" presetClass="emph" presetSubtype="6" fill="hold" grpId="1" nodeType="withEffect">
                                  <p:stCondLst>
                                    <p:cond delay="3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27" dur="5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6900"/>
                            </p:stCondLst>
                            <p:childTnLst>
                              <p:par>
                                <p:cTn id="29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6900"/>
                            </p:stCondLst>
                            <p:childTnLst>
                              <p:par>
                                <p:cTn id="3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6900"/>
                            </p:stCondLst>
                            <p:childTnLst>
                              <p:par>
                                <p:cTn id="35" presetID="3" presetClass="emph" presetSubtype="6" fill="hold" grpId="0" nodeType="afterEffect">
                                  <p:stCondLst>
                                    <p:cond delay="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36" dur="50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" presetID="3" presetClass="emph" presetSubtype="6" fill="hold" grpId="1" nodeType="withEffect">
                                  <p:stCondLst>
                                    <p:cond delay="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38" dur="50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  <p:bldP spid="10246" grpId="1"/>
      <p:bldP spid="10246" grpId="2"/>
      <p:bldP spid="10246" grpId="3"/>
      <p:bldP spid="10247" grpId="0"/>
      <p:bldP spid="10247" grpId="1"/>
      <p:bldP spid="10247" grpId="2"/>
      <p:bldP spid="10248" grpId="0"/>
      <p:bldP spid="10248" grpId="1"/>
      <p:bldP spid="10248" grpId="2"/>
      <p:bldP spid="2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图示 10"/>
          <p:cNvGraphicFramePr/>
          <p:nvPr>
            <p:extLst>
              <p:ext uri="{D42A27DB-BD31-4B8C-83A1-F6EECF244321}">
                <p14:modId xmlns:p14="http://schemas.microsoft.com/office/powerpoint/2010/main" val="1656351544"/>
              </p:ext>
            </p:extLst>
          </p:nvPr>
        </p:nvGraphicFramePr>
        <p:xfrm>
          <a:off x="0" y="476672"/>
          <a:ext cx="9144000" cy="6597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051720" y="620688"/>
            <a:ext cx="1015663" cy="59046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递归求解问题分类</a:t>
            </a:r>
            <a:endParaRPr lang="zh-CN" alt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6" name="前凸弯带形 15"/>
          <p:cNvSpPr/>
          <p:nvPr/>
        </p:nvSpPr>
        <p:spPr bwMode="auto">
          <a:xfrm rot="2685811">
            <a:off x="6091029" y="1115725"/>
            <a:ext cx="2664296" cy="1152128"/>
          </a:xfrm>
          <a:prstGeom prst="ellipseRibbon">
            <a:avLst>
              <a:gd name="adj1" fmla="val 32364"/>
              <a:gd name="adj2" fmla="val 49384"/>
              <a:gd name="adj3" fmla="val 12500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考点</a:t>
            </a:r>
          </a:p>
        </p:txBody>
      </p:sp>
      <p:sp>
        <p:nvSpPr>
          <p:cNvPr id="17" name="云形标注 16"/>
          <p:cNvSpPr/>
          <p:nvPr/>
        </p:nvSpPr>
        <p:spPr bwMode="auto">
          <a:xfrm rot="1089035">
            <a:off x="5873025" y="3337031"/>
            <a:ext cx="2827313" cy="1311538"/>
          </a:xfrm>
          <a:prstGeom prst="cloudCallout">
            <a:avLst>
              <a:gd name="adj1" fmla="val -19396"/>
              <a:gd name="adj2" fmla="val 97870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辅助工具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95536" y="777632"/>
            <a:ext cx="1107996" cy="57606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6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反正我信了</a:t>
            </a:r>
            <a:r>
              <a:rPr lang="en-US" altLang="zh-CN" sz="6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……</a:t>
            </a:r>
            <a:endParaRPr lang="zh-CN" altLang="en-US" sz="6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7664" y="692696"/>
            <a:ext cx="593492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ArchUp">
              <a:avLst>
                <a:gd name="adj" fmla="val 11049945"/>
              </a:avLst>
            </a:prstTxWarp>
            <a:spAutoFit/>
          </a:bodyPr>
          <a:lstStyle/>
          <a:p>
            <a:pPr algn="ctr"/>
            <a:r>
              <a:rPr lang="zh-CN" altLang="en-US" sz="72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数值型递归问题解题步骤</a:t>
            </a:r>
            <a:endParaRPr lang="zh-CN" altLang="en-US" sz="72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885400493"/>
              </p:ext>
            </p:extLst>
          </p:nvPr>
        </p:nvGraphicFramePr>
        <p:xfrm>
          <a:off x="539552" y="332656"/>
          <a:ext cx="8064896" cy="7421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095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475656" y="116632"/>
            <a:ext cx="66175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2FEB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你必须要懂的</a:t>
            </a:r>
            <a:r>
              <a:rPr lang="en-US" altLang="zh-CN" sz="54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2FEB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 </a:t>
            </a:r>
            <a:r>
              <a:rPr lang="en-US" altLang="zh-CN" sz="54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72FEB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= =!!!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72FEBF"/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3568" y="1099765"/>
            <a:ext cx="784887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b="1" dirty="0"/>
              <a:t>求函数的第</a:t>
            </a:r>
            <a:r>
              <a:rPr lang="en-US" altLang="zh-CN" sz="2400" b="1" dirty="0"/>
              <a:t>n</a:t>
            </a:r>
            <a:r>
              <a:rPr lang="zh-CN" altLang="zh-CN" sz="2400" b="1" dirty="0"/>
              <a:t>项</a:t>
            </a:r>
          </a:p>
          <a:p>
            <a:r>
              <a:rPr lang="zh-CN" altLang="zh-CN" sz="2400" dirty="0" smtClean="0"/>
              <a:t>已知</a:t>
            </a:r>
            <a:r>
              <a:rPr lang="zh-CN" altLang="zh-CN" sz="2400" dirty="0"/>
              <a:t>：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f(n) = 1×2 + 2×3 + 3×4 + …… + n×(n+1)</a:t>
            </a:r>
            <a:br>
              <a:rPr lang="en-US" altLang="zh-CN" sz="2400" dirty="0"/>
            </a:br>
            <a:r>
              <a:rPr lang="zh-CN" altLang="zh-CN" sz="2400" dirty="0"/>
              <a:t>编写递归函数，输入</a:t>
            </a:r>
            <a:r>
              <a:rPr lang="en-US" altLang="zh-CN" sz="2400" dirty="0"/>
              <a:t>n </a:t>
            </a:r>
            <a:r>
              <a:rPr lang="zh-CN" altLang="zh-CN" sz="2400" dirty="0"/>
              <a:t>值，求</a:t>
            </a:r>
            <a:r>
              <a:rPr lang="en-US" altLang="zh-CN" sz="2400" dirty="0"/>
              <a:t>f(n)</a:t>
            </a:r>
            <a:r>
              <a:rPr lang="zh-CN" altLang="zh-CN" sz="2400" dirty="0"/>
              <a:t>。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zh-CN" altLang="zh-CN" sz="2400" dirty="0"/>
              <a:t>函数原型：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 err="1"/>
              <a:t>int</a:t>
            </a:r>
            <a:r>
              <a:rPr lang="en-US" altLang="zh-CN" sz="2400" dirty="0"/>
              <a:t>  </a:t>
            </a:r>
            <a:r>
              <a:rPr lang="en-US" altLang="zh-CN" sz="2400" dirty="0" err="1"/>
              <a:t>sumn</a:t>
            </a:r>
            <a:r>
              <a:rPr lang="en-US" altLang="zh-CN" sz="2400" dirty="0"/>
              <a:t>(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n,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*flag )</a:t>
            </a:r>
            <a:br>
              <a:rPr lang="en-US" altLang="zh-CN" sz="2400" dirty="0"/>
            </a:br>
            <a:r>
              <a:rPr lang="zh-CN" altLang="zh-CN" sz="2400" dirty="0"/>
              <a:t>参数</a:t>
            </a:r>
            <a:r>
              <a:rPr lang="en-US" altLang="zh-CN" sz="2400" dirty="0"/>
              <a:t> n: </a:t>
            </a:r>
            <a:r>
              <a:rPr lang="zh-CN" altLang="zh-CN" sz="2400" dirty="0"/>
              <a:t>输入；参数</a:t>
            </a:r>
            <a:r>
              <a:rPr lang="en-US" altLang="zh-CN" sz="2400" dirty="0"/>
              <a:t> flag</a:t>
            </a:r>
            <a:r>
              <a:rPr lang="zh-CN" altLang="zh-CN" sz="2400" dirty="0"/>
              <a:t>：测试</a:t>
            </a:r>
            <a:r>
              <a:rPr lang="zh-CN" altLang="zh-CN" sz="2400" dirty="0" smtClean="0"/>
              <a:t>编写</a:t>
            </a:r>
            <a:r>
              <a:rPr lang="zh-CN" altLang="en-US" sz="2400" dirty="0"/>
              <a:t>的</a:t>
            </a:r>
            <a:r>
              <a:rPr lang="zh-CN" altLang="zh-CN" sz="2400" dirty="0" smtClean="0"/>
              <a:t>函数</a:t>
            </a:r>
            <a:r>
              <a:rPr lang="zh-CN" altLang="zh-CN" sz="2400" dirty="0"/>
              <a:t>是否为</a:t>
            </a:r>
            <a:r>
              <a:rPr lang="zh-CN" altLang="zh-CN" sz="2400" dirty="0" smtClean="0"/>
              <a:t>递归。</a:t>
            </a:r>
            <a:r>
              <a:rPr lang="zh-CN" altLang="zh-CN" sz="2400" dirty="0"/>
              <a:t>在自己编写的</a:t>
            </a:r>
            <a:r>
              <a:rPr lang="en-US" altLang="zh-CN" sz="2400" dirty="0" err="1"/>
              <a:t>sumn</a:t>
            </a:r>
            <a:r>
              <a:rPr lang="zh-CN" altLang="zh-CN" sz="2400" dirty="0"/>
              <a:t>函数中，写入以下语句：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zh-CN" altLang="zh-CN" sz="2400" dirty="0"/>
              <a:t>（</a:t>
            </a:r>
            <a:r>
              <a:rPr lang="en-US" altLang="zh-CN" sz="2400" dirty="0"/>
              <a:t> *flag </a:t>
            </a:r>
            <a:r>
              <a:rPr lang="zh-CN" altLang="zh-CN" sz="2400" dirty="0"/>
              <a:t>）</a:t>
            </a:r>
            <a:r>
              <a:rPr lang="en-US" altLang="zh-CN" sz="2400" dirty="0"/>
              <a:t>++;</a:t>
            </a:r>
            <a:br>
              <a:rPr lang="en-US" altLang="zh-CN" sz="2400" dirty="0"/>
            </a:br>
            <a:r>
              <a:rPr lang="zh-CN" altLang="zh-CN" sz="2400" dirty="0"/>
              <a:t>注意：仅提交自己编写的</a:t>
            </a:r>
            <a:r>
              <a:rPr lang="en-US" altLang="zh-CN" sz="2400" dirty="0" err="1"/>
              <a:t>sumn</a:t>
            </a:r>
            <a:r>
              <a:rPr lang="zh-CN" altLang="zh-CN" sz="2400" dirty="0"/>
              <a:t>函数。</a:t>
            </a:r>
          </a:p>
          <a:p>
            <a:r>
              <a:rPr lang="zh-CN" altLang="zh-CN" sz="2400" b="1" dirty="0"/>
              <a:t>预设</a:t>
            </a:r>
            <a:r>
              <a:rPr lang="zh-CN" altLang="zh-CN" sz="2400" b="1" dirty="0" smtClean="0"/>
              <a:t>代码</a:t>
            </a:r>
            <a:r>
              <a:rPr lang="zh-CN" altLang="en-US" sz="2400" b="1" dirty="0" smtClean="0"/>
              <a:t>：</a:t>
            </a:r>
            <a:endParaRPr lang="zh-CN" altLang="zh-CN" sz="2400" b="1" dirty="0"/>
          </a:p>
          <a:p>
            <a:r>
              <a:rPr lang="zh-CN" altLang="zh-CN" sz="2400" b="1" dirty="0"/>
              <a:t>前置代码</a:t>
            </a:r>
          </a:p>
          <a:p>
            <a:r>
              <a:rPr lang="en-US" altLang="zh-CN" sz="2400" dirty="0"/>
              <a:t>/* PRESET CODE BEGIN - NEVER TOUCH CODE BELOW */</a:t>
            </a:r>
            <a:endParaRPr lang="zh-CN" altLang="zh-CN" sz="2400" dirty="0"/>
          </a:p>
          <a:p>
            <a:r>
              <a:rPr lang="en-US" altLang="zh-CN" sz="2400" dirty="0"/>
              <a:t> 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/>
              <a:t>sumn</a:t>
            </a:r>
            <a:r>
              <a:rPr lang="en-US" altLang="zh-CN" sz="2400" dirty="0"/>
              <a:t>(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n,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*flag);</a:t>
            </a:r>
            <a:endParaRPr lang="zh-CN" altLang="zh-CN" sz="2400" dirty="0"/>
          </a:p>
          <a:p>
            <a:r>
              <a:rPr lang="en-US" altLang="zh-CN" sz="2400" dirty="0"/>
              <a:t> </a:t>
            </a:r>
            <a:r>
              <a:rPr lang="en-US" altLang="zh-CN" sz="2400" dirty="0" smtClean="0"/>
              <a:t>/* </a:t>
            </a:r>
            <a:r>
              <a:rPr lang="en-US" altLang="zh-CN" sz="2400" dirty="0"/>
              <a:t>PRESET CODE END - NEVER TOUCH CODE ABOVE */</a:t>
            </a:r>
            <a:endParaRPr lang="zh-CN" altLang="zh-CN" sz="2400" dirty="0"/>
          </a:p>
          <a:p>
            <a:endParaRPr lang="zh-CN" altLang="zh-CN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920426" y="1039962"/>
            <a:ext cx="73751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err="1"/>
              <a:t>int</a:t>
            </a:r>
            <a:r>
              <a:rPr lang="en-US" altLang="zh-CN" sz="4000" b="1" dirty="0"/>
              <a:t>  </a:t>
            </a:r>
            <a:r>
              <a:rPr lang="en-US" altLang="zh-CN" sz="4000" b="1" dirty="0" err="1"/>
              <a:t>sumn</a:t>
            </a:r>
            <a:r>
              <a:rPr lang="en-US" altLang="zh-CN" sz="4000" b="1" dirty="0"/>
              <a:t>( </a:t>
            </a:r>
            <a:r>
              <a:rPr lang="en-US" altLang="zh-CN" sz="4000" b="1" dirty="0" err="1"/>
              <a:t>int</a:t>
            </a:r>
            <a:r>
              <a:rPr lang="en-US" altLang="zh-CN" sz="4000" b="1" dirty="0"/>
              <a:t> n, </a:t>
            </a:r>
            <a:r>
              <a:rPr lang="en-US" altLang="zh-CN" sz="4000" b="1" dirty="0" err="1"/>
              <a:t>int</a:t>
            </a:r>
            <a:r>
              <a:rPr lang="en-US" altLang="zh-CN" sz="4000" b="1" dirty="0"/>
              <a:t> *flag )   </a:t>
            </a:r>
            <a:endParaRPr lang="zh-CN" altLang="zh-CN" sz="4000" dirty="0"/>
          </a:p>
          <a:p>
            <a:r>
              <a:rPr lang="en-US" altLang="zh-CN" sz="4000" b="1" dirty="0"/>
              <a:t>{   </a:t>
            </a:r>
            <a:endParaRPr lang="zh-CN" altLang="zh-CN" sz="4000" dirty="0"/>
          </a:p>
          <a:p>
            <a:r>
              <a:rPr lang="en-US" altLang="zh-CN" sz="4000" b="1" dirty="0"/>
              <a:t>     (*flag)++; </a:t>
            </a:r>
            <a:endParaRPr lang="en-US" altLang="zh-CN" sz="4000" b="1" dirty="0" smtClean="0"/>
          </a:p>
          <a:p>
            <a:r>
              <a:rPr lang="en-US" altLang="zh-CN" sz="4000" b="1" dirty="0" smtClean="0"/>
              <a:t>/*</a:t>
            </a:r>
            <a:r>
              <a:rPr lang="zh-CN" altLang="en-US" sz="4000" b="1" dirty="0" smtClean="0"/>
              <a:t>如果你纠结这个指针，那么你想多了</a:t>
            </a:r>
            <a:r>
              <a:rPr lang="en-US" altLang="zh-CN" sz="4000" b="1" dirty="0" smtClean="0"/>
              <a:t>……*/</a:t>
            </a:r>
            <a:endParaRPr lang="zh-CN" altLang="zh-CN" sz="4000" dirty="0"/>
          </a:p>
          <a:p>
            <a:r>
              <a:rPr lang="en-US" altLang="zh-CN" sz="4000" b="1" dirty="0"/>
              <a:t>     if(n==1) return 2;      </a:t>
            </a:r>
            <a:endParaRPr lang="zh-CN" altLang="zh-CN" sz="4000" dirty="0"/>
          </a:p>
          <a:p>
            <a:r>
              <a:rPr lang="en-US" altLang="zh-CN" sz="4000" b="1" dirty="0"/>
              <a:t>     if(n&gt;1)  return  </a:t>
            </a:r>
            <a:endParaRPr lang="en-US" altLang="zh-CN" sz="4000" b="1" dirty="0" smtClean="0"/>
          </a:p>
          <a:p>
            <a:r>
              <a:rPr lang="en-US" altLang="zh-CN" sz="4000" b="1" dirty="0"/>
              <a:t> </a:t>
            </a:r>
            <a:r>
              <a:rPr lang="en-US" altLang="zh-CN" sz="4000" b="1" dirty="0" smtClean="0"/>
              <a:t>    n</a:t>
            </a:r>
            <a:r>
              <a:rPr lang="en-US" altLang="zh-CN" sz="4000" b="1" dirty="0"/>
              <a:t>*(n+1)+</a:t>
            </a:r>
            <a:r>
              <a:rPr lang="en-US" altLang="zh-CN" sz="4000" b="1" dirty="0" err="1"/>
              <a:t>sumn</a:t>
            </a:r>
            <a:r>
              <a:rPr lang="en-US" altLang="zh-CN" sz="4000" b="1" dirty="0"/>
              <a:t>(n-1,flag);   </a:t>
            </a:r>
            <a:endParaRPr lang="zh-CN" altLang="zh-CN" sz="4000" dirty="0"/>
          </a:p>
          <a:p>
            <a:r>
              <a:rPr lang="en-US" altLang="zh-CN" sz="4000" b="1" dirty="0" smtClean="0"/>
              <a:t>} </a:t>
            </a:r>
            <a:endParaRPr lang="zh-CN" altLang="zh-CN" sz="4000" dirty="0"/>
          </a:p>
        </p:txBody>
      </p:sp>
      <p:sp>
        <p:nvSpPr>
          <p:cNvPr id="10" name="矩形 9"/>
          <p:cNvSpPr/>
          <p:nvPr/>
        </p:nvSpPr>
        <p:spPr>
          <a:xfrm rot="20965586">
            <a:off x="845840" y="1810938"/>
            <a:ext cx="752432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96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69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骚年们，</a:t>
            </a:r>
            <a:r>
              <a:rPr lang="zh-CN" altLang="en-US" sz="9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69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介</a:t>
            </a:r>
            <a:r>
              <a:rPr lang="zh-CN" altLang="en-US" sz="96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69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货就是考试题型啊！！！</a:t>
            </a:r>
            <a:endParaRPr lang="zh-CN" altLang="en-US" sz="9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69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5680" y="980728"/>
            <a:ext cx="10871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8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47172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 tmFilter="0,0; .5, 1; 1, 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250" tmFilter="0,0; .5, 1; 1, 1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50" tmFilter="0,0; .5, 1; 1, 1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250" tmFilter="0,0; .5, 1; 1, 1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14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9" decel="50000" autoRev="1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4" fill="hold">
                                          <p:stCondLst>
                                            <p:cond delay="21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375"/>
                            </p:stCondLst>
                            <p:childTnLst>
                              <p:par>
                                <p:cTn id="82" presetID="4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 tmFilter="0,0; .5, 1; 1, 1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5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92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5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2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5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12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5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22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5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2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5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2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25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52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5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62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allAtOnce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259632" y="548680"/>
            <a:ext cx="7344816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/>
              <a:t>小猴子第一天摘下若干桃子</a:t>
            </a:r>
            <a:r>
              <a:rPr lang="en-US" altLang="zh-CN" sz="3200" dirty="0"/>
              <a:t>,</a:t>
            </a:r>
            <a:r>
              <a:rPr lang="zh-CN" altLang="zh-CN" sz="3200" dirty="0"/>
              <a:t>当即吃掉一半</a:t>
            </a:r>
            <a:r>
              <a:rPr lang="en-US" altLang="zh-CN" sz="3200" dirty="0"/>
              <a:t>,</a:t>
            </a:r>
            <a:r>
              <a:rPr lang="zh-CN" altLang="zh-CN" sz="3200" dirty="0"/>
              <a:t>又多吃一个</a:t>
            </a:r>
            <a:r>
              <a:rPr lang="en-US" altLang="zh-CN" sz="3200" dirty="0"/>
              <a:t>.</a:t>
            </a:r>
            <a:r>
              <a:rPr lang="zh-CN" altLang="zh-CN" sz="3200" dirty="0"/>
              <a:t>第二天早上又将剩下的桃子吃一半</a:t>
            </a:r>
            <a:r>
              <a:rPr lang="en-US" altLang="zh-CN" sz="3200" dirty="0"/>
              <a:t>,</a:t>
            </a:r>
            <a:r>
              <a:rPr lang="zh-CN" altLang="zh-CN" sz="3200" dirty="0"/>
              <a:t>又多吃一个</a:t>
            </a:r>
            <a:r>
              <a:rPr lang="en-US" altLang="zh-CN" sz="3200" dirty="0"/>
              <a:t>.</a:t>
            </a:r>
            <a:r>
              <a:rPr lang="zh-CN" altLang="zh-CN" sz="3200" dirty="0"/>
              <a:t>以后每天早上吃前一天剩下的一半另一个</a:t>
            </a:r>
            <a:r>
              <a:rPr lang="en-US" altLang="zh-CN" sz="3200" dirty="0"/>
              <a:t>.</a:t>
            </a:r>
            <a:r>
              <a:rPr lang="zh-CN" altLang="zh-CN" sz="3200" dirty="0"/>
              <a:t>到第</a:t>
            </a:r>
            <a:r>
              <a:rPr lang="en-US" altLang="zh-CN" sz="3200" dirty="0"/>
              <a:t>10</a:t>
            </a:r>
            <a:r>
              <a:rPr lang="zh-CN" altLang="zh-CN" sz="3200" dirty="0"/>
              <a:t>天早上猴子想再吃时发现</a:t>
            </a:r>
            <a:r>
              <a:rPr lang="en-US" altLang="zh-CN" sz="3200" dirty="0"/>
              <a:t>,</a:t>
            </a:r>
            <a:r>
              <a:rPr lang="zh-CN" altLang="zh-CN" sz="3200" dirty="0"/>
              <a:t>只剩下一个桃子了</a:t>
            </a:r>
            <a:r>
              <a:rPr lang="en-US" altLang="zh-CN" sz="3200" dirty="0"/>
              <a:t>.</a:t>
            </a:r>
            <a:r>
              <a:rPr lang="zh-CN" altLang="zh-CN" sz="3200" dirty="0"/>
              <a:t>问第一天猴子共摘多少个桃子？</a:t>
            </a:r>
          </a:p>
          <a:p>
            <a:endParaRPr lang="en-US" altLang="zh-CN" sz="3200" dirty="0" smtClean="0"/>
          </a:p>
          <a:p>
            <a:r>
              <a:rPr lang="en-US" altLang="zh-CN" sz="3200" dirty="0"/>
              <a:t>peach</a:t>
            </a:r>
            <a:r>
              <a:rPr lang="en-US" altLang="zh-CN" sz="3200" dirty="0" smtClean="0"/>
              <a:t>(</a:t>
            </a:r>
            <a:r>
              <a:rPr lang="en-US" altLang="zh-CN" sz="3200" dirty="0" err="1" smtClean="0"/>
              <a:t>int</a:t>
            </a:r>
            <a:r>
              <a:rPr lang="en-US" altLang="zh-CN" sz="3200" dirty="0" smtClean="0"/>
              <a:t> </a:t>
            </a:r>
            <a:r>
              <a:rPr lang="en-US" altLang="zh-CN" sz="3200" dirty="0" err="1"/>
              <a:t>begin,int</a:t>
            </a:r>
            <a:r>
              <a:rPr lang="en-US" altLang="zh-CN" sz="3200" dirty="0"/>
              <a:t> times)</a:t>
            </a:r>
            <a:endParaRPr lang="zh-CN" altLang="zh-CN" sz="3200" dirty="0"/>
          </a:p>
          <a:p>
            <a:r>
              <a:rPr lang="en-US" altLang="zh-CN" sz="3200" dirty="0"/>
              <a:t>{</a:t>
            </a:r>
            <a:endParaRPr lang="zh-CN" altLang="zh-CN" sz="3200" dirty="0"/>
          </a:p>
          <a:p>
            <a:r>
              <a:rPr lang="en-US" altLang="zh-CN" sz="3200" dirty="0"/>
              <a:t>	</a:t>
            </a:r>
            <a:r>
              <a:rPr lang="en-US" altLang="zh-CN" sz="3200" dirty="0" smtClean="0"/>
              <a:t>if(times</a:t>
            </a:r>
            <a:r>
              <a:rPr lang="en-US" altLang="zh-CN" sz="3200" dirty="0"/>
              <a:t>==10) return begin;</a:t>
            </a:r>
            <a:endParaRPr lang="zh-CN" altLang="zh-CN" sz="3200" dirty="0"/>
          </a:p>
          <a:p>
            <a:r>
              <a:rPr lang="en-US" altLang="zh-CN" sz="3200" dirty="0"/>
              <a:t>	return peach</a:t>
            </a:r>
            <a:r>
              <a:rPr lang="en-US" altLang="zh-CN" sz="3200" dirty="0" smtClean="0"/>
              <a:t>((</a:t>
            </a:r>
            <a:r>
              <a:rPr lang="en-US" altLang="zh-CN" sz="3200" dirty="0"/>
              <a:t>begin+1)*2,times+1);</a:t>
            </a:r>
            <a:endParaRPr lang="zh-CN" altLang="zh-CN" sz="3200" dirty="0"/>
          </a:p>
          <a:p>
            <a:r>
              <a:rPr lang="en-US" altLang="zh-CN" sz="3200" dirty="0"/>
              <a:t>}</a:t>
            </a:r>
            <a:br>
              <a:rPr lang="en-US" altLang="zh-CN" sz="3200" dirty="0"/>
            </a:br>
            <a:endParaRPr lang="zh-CN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395536" y="476672"/>
            <a:ext cx="121539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3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1163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 tmFilter="0,0; .5, 1; 1, 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50" tmFilter="0,0; .5, 1; 1, 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 tmFilter="0,0; .5, 1; 1, 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 tmFilter="0,0; .5, 1; 1, 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608" y="260648"/>
            <a:ext cx="7128792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/>
              <a:t>梯有</a:t>
            </a:r>
            <a:r>
              <a:rPr lang="en-US" altLang="zh-CN" sz="3200" dirty="0"/>
              <a:t>N</a:t>
            </a:r>
            <a:r>
              <a:rPr lang="zh-CN" altLang="zh-CN" sz="3200" dirty="0"/>
              <a:t>阶，上楼可以一步上一阶，也可以一步上二阶。编写一个程序</a:t>
            </a:r>
            <a:r>
              <a:rPr lang="zh-CN" altLang="zh-CN" sz="3200" dirty="0" smtClean="0"/>
              <a:t>，</a:t>
            </a:r>
            <a:r>
              <a:rPr lang="zh-CN" altLang="en-US" sz="3200" dirty="0" smtClean="0"/>
              <a:t>输入：</a:t>
            </a:r>
            <a:r>
              <a:rPr lang="en-US" altLang="zh-CN" sz="3200" dirty="0" smtClean="0"/>
              <a:t>N</a:t>
            </a:r>
            <a:r>
              <a:rPr lang="zh-CN" altLang="en-US" sz="3200" dirty="0" smtClean="0"/>
              <a:t>，输出：</a:t>
            </a:r>
            <a:r>
              <a:rPr lang="zh-CN" altLang="zh-CN" sz="3200" dirty="0" smtClean="0"/>
              <a:t>共有</a:t>
            </a:r>
            <a:r>
              <a:rPr lang="zh-CN" altLang="zh-CN" sz="3200" dirty="0"/>
              <a:t>多少中不同的走法 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endParaRPr lang="en-US" altLang="zh-CN" sz="3200" dirty="0" smtClean="0"/>
          </a:p>
          <a:p>
            <a:r>
              <a:rPr lang="en-US" altLang="zh-CN" sz="3200" dirty="0" err="1"/>
              <a:t>int</a:t>
            </a:r>
            <a:r>
              <a:rPr lang="en-US" altLang="zh-CN" sz="3200" dirty="0"/>
              <a:t> count(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 n) </a:t>
            </a:r>
            <a:br>
              <a:rPr lang="en-US" altLang="zh-CN" sz="3200" dirty="0"/>
            </a:br>
            <a:r>
              <a:rPr lang="en-US" altLang="zh-CN" sz="3200" dirty="0"/>
              <a:t>{ </a:t>
            </a:r>
            <a:br>
              <a:rPr lang="en-US" altLang="zh-CN" sz="3200" dirty="0"/>
            </a:br>
            <a:r>
              <a:rPr lang="en-US" altLang="zh-CN" sz="3200" dirty="0"/>
              <a:t>    if(1==n) </a:t>
            </a:r>
            <a:br>
              <a:rPr lang="en-US" altLang="zh-CN" sz="3200" dirty="0"/>
            </a:br>
            <a:r>
              <a:rPr lang="en-US" altLang="zh-CN" sz="3200" dirty="0"/>
              <a:t>        return 1; </a:t>
            </a:r>
            <a:br>
              <a:rPr lang="en-US" altLang="zh-CN" sz="3200" dirty="0"/>
            </a:br>
            <a:r>
              <a:rPr lang="en-US" altLang="zh-CN" sz="3200" dirty="0"/>
              <a:t>    else if(2==n) </a:t>
            </a:r>
            <a:br>
              <a:rPr lang="en-US" altLang="zh-CN" sz="3200" dirty="0"/>
            </a:br>
            <a:r>
              <a:rPr lang="en-US" altLang="zh-CN" sz="3200" dirty="0"/>
              <a:t>        return 2; </a:t>
            </a:r>
            <a:br>
              <a:rPr lang="en-US" altLang="zh-CN" sz="3200" dirty="0"/>
            </a:br>
            <a:r>
              <a:rPr lang="en-US" altLang="zh-CN" sz="3200" dirty="0"/>
              <a:t>    else </a:t>
            </a:r>
            <a:endParaRPr lang="en-US" altLang="zh-CN" sz="3200" dirty="0" smtClean="0"/>
          </a:p>
          <a:p>
            <a:r>
              <a:rPr lang="en-US" altLang="zh-CN" sz="3200" dirty="0"/>
              <a:t> </a:t>
            </a:r>
            <a:r>
              <a:rPr lang="en-US" altLang="zh-CN" sz="3200" dirty="0" smtClean="0"/>
              <a:t>       return</a:t>
            </a:r>
            <a:r>
              <a:rPr lang="en-US" altLang="zh-CN" sz="3200" dirty="0"/>
              <a:t> count(n-1)+count(n-2); </a:t>
            </a:r>
            <a:br>
              <a:rPr lang="en-US" altLang="zh-CN" sz="3200" dirty="0"/>
            </a:br>
            <a:r>
              <a:rPr lang="en-US" altLang="zh-CN" sz="3200" dirty="0"/>
              <a:t>}</a:t>
            </a:r>
            <a:endParaRPr lang="zh-CN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179512" y="188640"/>
            <a:ext cx="121539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3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24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50" tmFilter="0,0; .5, 1; 1, 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50" tmFilter="0,0; .5, 1; 1, 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50" tmFilter="0,0; .5, 1; 1, 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50" tmFilter="0,0; .5, 1; 1, 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76530" y="404664"/>
            <a:ext cx="7488832" cy="5022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求：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！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pPr lvl="1">
              <a:lnSpc>
                <a:spcPct val="80000"/>
              </a:lnSpc>
            </a:pPr>
            <a:r>
              <a:rPr lang="en-US" altLang="zh-CN" sz="2800" dirty="0" err="1"/>
              <a:t>int</a:t>
            </a:r>
            <a:r>
              <a:rPr lang="en-US" altLang="zh-CN" sz="2800" dirty="0"/>
              <a:t> Factorial(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n)</a:t>
            </a:r>
          </a:p>
          <a:p>
            <a:pPr lvl="1">
              <a:lnSpc>
                <a:spcPct val="80000"/>
              </a:lnSpc>
            </a:pPr>
            <a:r>
              <a:rPr lang="en-US" altLang="zh-CN" sz="2800" dirty="0"/>
              <a:t>{</a:t>
            </a:r>
          </a:p>
          <a:p>
            <a:pPr lvl="1">
              <a:lnSpc>
                <a:spcPct val="80000"/>
              </a:lnSpc>
            </a:pPr>
            <a:r>
              <a:rPr lang="en-US" altLang="zh-CN" sz="2800" dirty="0"/>
              <a:t>	if (n &lt;= 0)</a:t>
            </a:r>
          </a:p>
          <a:p>
            <a:pPr lvl="1">
              <a:lnSpc>
                <a:spcPct val="80000"/>
              </a:lnSpc>
            </a:pPr>
            <a:r>
              <a:rPr lang="en-US" altLang="zh-CN" sz="2800" dirty="0"/>
              <a:t>	{	</a:t>
            </a:r>
            <a:endParaRPr lang="en-US" altLang="zh-CN" sz="2800" dirty="0" smtClean="0"/>
          </a:p>
          <a:p>
            <a:pPr lvl="1">
              <a:lnSpc>
                <a:spcPct val="80000"/>
              </a:lnSpc>
            </a:pPr>
            <a:r>
              <a:rPr lang="zh-CN" altLang="en-US" sz="2800" dirty="0"/>
              <a:t>		</a:t>
            </a:r>
            <a:r>
              <a:rPr lang="en-US" altLang="zh-CN" sz="2800" dirty="0"/>
              <a:t>return 1;</a:t>
            </a:r>
          </a:p>
          <a:p>
            <a:pPr lvl="1">
              <a:lnSpc>
                <a:spcPct val="80000"/>
              </a:lnSpc>
            </a:pPr>
            <a:r>
              <a:rPr lang="en-US" altLang="zh-CN" sz="2800" dirty="0"/>
              <a:t>	}</a:t>
            </a:r>
          </a:p>
          <a:p>
            <a:pPr lvl="1">
              <a:lnSpc>
                <a:spcPct val="80000"/>
              </a:lnSpc>
            </a:pPr>
            <a:r>
              <a:rPr lang="en-US" altLang="zh-CN" sz="2800" dirty="0"/>
              <a:t>	else</a:t>
            </a:r>
          </a:p>
          <a:p>
            <a:pPr lvl="1">
              <a:lnSpc>
                <a:spcPct val="80000"/>
              </a:lnSpc>
            </a:pPr>
            <a:r>
              <a:rPr lang="en-US" altLang="zh-CN" sz="2800" dirty="0"/>
              <a:t>	{	</a:t>
            </a:r>
            <a:endParaRPr lang="en-US" altLang="zh-CN" sz="2800" dirty="0" smtClean="0"/>
          </a:p>
          <a:p>
            <a:pPr lvl="1">
              <a:lnSpc>
                <a:spcPct val="80000"/>
              </a:lnSpc>
            </a:pPr>
            <a:r>
              <a:rPr lang="zh-CN" altLang="en-US" sz="2800" dirty="0"/>
              <a:t>		</a:t>
            </a:r>
            <a:r>
              <a:rPr lang="en-US" altLang="zh-CN" sz="2800" dirty="0"/>
              <a:t>return n * factorial(--n);</a:t>
            </a:r>
          </a:p>
          <a:p>
            <a:pPr lvl="1">
              <a:lnSpc>
                <a:spcPct val="80000"/>
              </a:lnSpc>
            </a:pPr>
            <a:r>
              <a:rPr lang="en-US" altLang="zh-CN" sz="2800" dirty="0"/>
              <a:t>	}</a:t>
            </a:r>
          </a:p>
          <a:p>
            <a:pPr lvl="1">
              <a:lnSpc>
                <a:spcPct val="80000"/>
              </a:lnSpc>
            </a:pPr>
            <a:r>
              <a:rPr lang="en-US" altLang="zh-CN" sz="2800" dirty="0"/>
              <a:t>}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61133" y="332656"/>
            <a:ext cx="121539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3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3568" y="5229200"/>
            <a:ext cx="806489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FFFF00"/>
                </a:solidFill>
              </a:rPr>
              <a:t>WARNING:</a:t>
            </a:r>
            <a:r>
              <a:rPr lang="zh-CN" altLang="en-US" sz="2800" b="1" dirty="0" smtClean="0">
                <a:solidFill>
                  <a:srgbClr val="FFFF00"/>
                </a:solidFill>
              </a:rPr>
              <a:t>两</a:t>
            </a:r>
            <a:r>
              <a:rPr lang="zh-CN" altLang="en-US" sz="2800" b="1" dirty="0">
                <a:solidFill>
                  <a:srgbClr val="FFFF00"/>
                </a:solidFill>
              </a:rPr>
              <a:t>次用了变量</a:t>
            </a:r>
            <a:r>
              <a:rPr lang="en-US" altLang="zh-CN" sz="2800" b="1" dirty="0">
                <a:solidFill>
                  <a:srgbClr val="FFFF00"/>
                </a:solidFill>
              </a:rPr>
              <a:t>n。</a:t>
            </a:r>
            <a:r>
              <a:rPr lang="zh-CN" altLang="en-US" sz="2800" b="1" dirty="0">
                <a:solidFill>
                  <a:srgbClr val="FFFF00"/>
                </a:solidFill>
              </a:rPr>
              <a:t>由于自减运算符有副作用，第二个</a:t>
            </a:r>
            <a:r>
              <a:rPr lang="en-US" altLang="zh-CN" sz="2800" b="1" dirty="0">
                <a:solidFill>
                  <a:srgbClr val="FFFF00"/>
                </a:solidFill>
              </a:rPr>
              <a:t>n</a:t>
            </a:r>
            <a:r>
              <a:rPr lang="zh-CN" altLang="en-US" sz="2800" b="1" dirty="0">
                <a:solidFill>
                  <a:srgbClr val="FFFF00"/>
                </a:solidFill>
              </a:rPr>
              <a:t>可能影响第一个</a:t>
            </a:r>
            <a:r>
              <a:rPr lang="en-US" altLang="zh-CN" sz="2800" b="1" dirty="0">
                <a:solidFill>
                  <a:srgbClr val="FFFF00"/>
                </a:solidFill>
              </a:rPr>
              <a:t>n</a:t>
            </a:r>
            <a:r>
              <a:rPr lang="zh-CN" altLang="en-US" sz="2800" b="1" dirty="0">
                <a:solidFill>
                  <a:srgbClr val="FFFF00"/>
                </a:solidFill>
              </a:rPr>
              <a:t>的值。这种类型的编程错误是常见的。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17674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5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6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1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2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7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8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3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4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9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0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5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6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1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2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7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8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50" tmFilter="0,0; .5, 1; 1, 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WordArt 5"/>
          <p:cNvSpPr>
            <a:spLocks noChangeArrowheads="1" noChangeShapeType="1" noTextEdit="1"/>
          </p:cNvSpPr>
          <p:nvPr/>
        </p:nvSpPr>
        <p:spPr bwMode="auto">
          <a:xfrm>
            <a:off x="899592" y="1628800"/>
            <a:ext cx="7704856" cy="374441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Wave1">
              <a:avLst/>
            </a:prstTxWarp>
          </a:bodyPr>
          <a:lstStyle/>
          <a:p>
            <a:pPr algn="ctr"/>
            <a:r>
              <a:rPr lang="zh-CN" altLang="en-US" sz="9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给你透个底</a:t>
            </a:r>
            <a:endParaRPr lang="en-US" altLang="zh-CN" sz="96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algn="ctr"/>
            <a:r>
              <a:rPr lang="en-US" altLang="zh-CN" sz="9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#- - </a:t>
            </a:r>
            <a:endParaRPr lang="zh-CN" altLang="en-US" sz="96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 rot="20773438">
            <a:off x="1409374" y="346251"/>
            <a:ext cx="6579390" cy="60016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9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话说</a:t>
            </a:r>
            <a:r>
              <a:rPr lang="en-US" altLang="zh-CN" sz="9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……</a:t>
            </a:r>
            <a:r>
              <a:rPr lang="zh-CN" altLang="en-US" sz="9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上学期我的</a:t>
            </a:r>
            <a:r>
              <a:rPr lang="en-US" altLang="zh-CN" sz="9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C</a:t>
            </a:r>
            <a:r>
              <a:rPr lang="zh-CN" altLang="en-US" sz="9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语言考试题</a:t>
            </a:r>
            <a:r>
              <a:rPr lang="en-US" altLang="zh-CN" sz="9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……</a:t>
            </a:r>
            <a:endParaRPr lang="zh-CN" altLang="en-US" sz="9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15182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airplane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50000" autoRev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14341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10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3" presetClass="exit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4*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4*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0.33333  E" pathEditMode="relative" rAng="0" ptsTypes="">
                                      <p:cBhvr>
                                        <p:cTn id="16" dur="125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14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9" decel="50000" autoRev="1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4" fill="hold">
                                          <p:stCondLst>
                                            <p:cond delay="21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nimBg="1"/>
      <p:bldP spid="14341" grpId="1" animBg="1"/>
      <p:bldP spid="14341" grpId="2" animBg="1"/>
      <p:bldP spid="14341" grpId="3" animBg="1"/>
      <p:bldP spid="2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2598203455"/>
              </p:ext>
            </p:extLst>
          </p:nvPr>
        </p:nvGraphicFramePr>
        <p:xfrm>
          <a:off x="539552" y="1700808"/>
          <a:ext cx="8136904" cy="5013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矩形 3"/>
          <p:cNvSpPr/>
          <p:nvPr/>
        </p:nvSpPr>
        <p:spPr>
          <a:xfrm>
            <a:off x="1187624" y="980728"/>
            <a:ext cx="7141699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0746068"/>
              </a:avLst>
            </a:prstTxWarp>
            <a:spAutoFit/>
          </a:bodyPr>
          <a:lstStyle/>
          <a:p>
            <a:pPr algn="ctr"/>
            <a:r>
              <a:rPr lang="zh-CN" altLang="en-US" sz="88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69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非数值型递归问题求解</a:t>
            </a:r>
            <a:endParaRPr lang="zh-CN" altLang="en-US" sz="8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69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" name="前凸弯带形 5"/>
          <p:cNvSpPr/>
          <p:nvPr/>
        </p:nvSpPr>
        <p:spPr bwMode="auto">
          <a:xfrm rot="945268">
            <a:off x="5270234" y="1990549"/>
            <a:ext cx="3384376" cy="1368152"/>
          </a:xfrm>
          <a:prstGeom prst="ellipseRibbon">
            <a:avLst/>
          </a:prstGeom>
          <a:solidFill>
            <a:srgbClr val="00B050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工具</a:t>
            </a:r>
          </a:p>
        </p:txBody>
      </p:sp>
    </p:spTree>
    <p:extLst>
      <p:ext uri="{BB962C8B-B14F-4D97-AF65-F5344CB8AC3E}">
        <p14:creationId xmlns:p14="http://schemas.microsoft.com/office/powerpoint/2010/main" val="57186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59632" y="1052736"/>
            <a:ext cx="6768752" cy="4896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41740" y="548680"/>
            <a:ext cx="759475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用递归法实现</a:t>
            </a:r>
            <a:r>
              <a:rPr lang="en-US" altLang="zh-CN" sz="2400" dirty="0"/>
              <a:t>N</a:t>
            </a:r>
            <a:r>
              <a:rPr lang="zh-CN" altLang="zh-CN" sz="2400" dirty="0"/>
              <a:t>元数组</a:t>
            </a:r>
            <a:r>
              <a:rPr lang="en-US" altLang="zh-CN" sz="2400" dirty="0"/>
              <a:t>a[0]~a[N-1]</a:t>
            </a:r>
            <a:r>
              <a:rPr lang="zh-CN" altLang="zh-CN" sz="2400" dirty="0"/>
              <a:t>冒泡排序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en-US" altLang="zh-CN" sz="2400" dirty="0" smtClean="0"/>
              <a:t>void</a:t>
            </a:r>
            <a:r>
              <a:rPr lang="en-US" altLang="zh-CN" sz="2400" dirty="0"/>
              <a:t> </a:t>
            </a:r>
            <a:r>
              <a:rPr lang="en-US" altLang="zh-CN" sz="2400" dirty="0" err="1"/>
              <a:t>BubSort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 a[],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 r) </a:t>
            </a:r>
            <a:endParaRPr lang="zh-CN" altLang="zh-CN" sz="2400" dirty="0"/>
          </a:p>
          <a:p>
            <a:r>
              <a:rPr lang="en-US" altLang="zh-CN" sz="2400" dirty="0"/>
              <a:t>{  </a:t>
            </a:r>
            <a:endParaRPr lang="zh-CN" altLang="zh-CN" sz="2400" dirty="0"/>
          </a:p>
          <a:p>
            <a:r>
              <a:rPr lang="en-US" altLang="zh-CN" sz="2400" dirty="0"/>
              <a:t>  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 </a:t>
            </a:r>
            <a:r>
              <a:rPr lang="en-US" altLang="zh-CN" sz="2400" dirty="0" err="1"/>
              <a:t>j,t</a:t>
            </a:r>
            <a:r>
              <a:rPr lang="en-US" altLang="zh-CN" sz="2400" dirty="0"/>
              <a:t>;   </a:t>
            </a:r>
            <a:endParaRPr lang="zh-CN" altLang="zh-CN" sz="2400" dirty="0"/>
          </a:p>
          <a:p>
            <a:r>
              <a:rPr lang="en-US" altLang="zh-CN" sz="2400" dirty="0"/>
              <a:t> if(r &lt;= 0)      </a:t>
            </a:r>
            <a:endParaRPr lang="zh-CN" altLang="zh-CN" sz="2400" dirty="0"/>
          </a:p>
          <a:p>
            <a:r>
              <a:rPr lang="en-US" altLang="zh-CN" sz="2400" dirty="0"/>
              <a:t> return;    </a:t>
            </a:r>
            <a:endParaRPr lang="zh-CN" altLang="zh-CN" sz="2400" dirty="0"/>
          </a:p>
          <a:p>
            <a:r>
              <a:rPr lang="en-US" altLang="zh-CN" sz="2400" dirty="0"/>
              <a:t>for (j = 0;j &lt; </a:t>
            </a:r>
            <a:r>
              <a:rPr lang="en-US" altLang="zh-CN" sz="2400" dirty="0" err="1"/>
              <a:t>r;j</a:t>
            </a:r>
            <a:r>
              <a:rPr lang="en-US" altLang="zh-CN" sz="2400" dirty="0"/>
              <a:t>++)    </a:t>
            </a:r>
            <a:endParaRPr lang="zh-CN" altLang="zh-CN" sz="2400" dirty="0"/>
          </a:p>
          <a:p>
            <a:r>
              <a:rPr lang="en-US" altLang="zh-CN" sz="2400" dirty="0"/>
              <a:t>if (a[j] &lt; a[j+1]) </a:t>
            </a:r>
            <a:endParaRPr lang="zh-CN" altLang="zh-CN" sz="2400" dirty="0"/>
          </a:p>
          <a:p>
            <a:r>
              <a:rPr lang="en-US" altLang="zh-CN" sz="2400" dirty="0"/>
              <a:t>{      </a:t>
            </a:r>
            <a:endParaRPr lang="zh-CN" altLang="zh-CN" sz="2400" dirty="0"/>
          </a:p>
          <a:p>
            <a:r>
              <a:rPr lang="en-US" altLang="zh-CN" sz="2400" dirty="0"/>
              <a:t> t = a[j];       </a:t>
            </a:r>
            <a:endParaRPr lang="zh-CN" altLang="zh-CN" sz="2400" dirty="0"/>
          </a:p>
          <a:p>
            <a:r>
              <a:rPr lang="en-US" altLang="zh-CN" sz="2400" dirty="0"/>
              <a:t>a[j] = a[j+1];       </a:t>
            </a:r>
            <a:endParaRPr lang="zh-CN" altLang="zh-CN" sz="2400" dirty="0"/>
          </a:p>
          <a:p>
            <a:r>
              <a:rPr lang="en-US" altLang="zh-CN" sz="2400" dirty="0"/>
              <a:t>a[j+1] = t;   </a:t>
            </a:r>
            <a:endParaRPr lang="zh-CN" altLang="zh-CN" sz="2400" dirty="0"/>
          </a:p>
          <a:p>
            <a:r>
              <a:rPr lang="en-US" altLang="zh-CN" sz="2400" dirty="0"/>
              <a:t> } </a:t>
            </a:r>
            <a:endParaRPr lang="zh-CN" altLang="zh-CN" sz="2400" dirty="0"/>
          </a:p>
          <a:p>
            <a:r>
              <a:rPr lang="en-US" altLang="zh-CN" sz="2400" dirty="0"/>
              <a:t>   </a:t>
            </a:r>
            <a:r>
              <a:rPr lang="en-US" altLang="zh-CN" sz="2400" dirty="0" err="1"/>
              <a:t>BubSort</a:t>
            </a:r>
            <a:r>
              <a:rPr lang="en-US" altLang="zh-CN" sz="2400" dirty="0"/>
              <a:t>(a,r-1); 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相当于冒泡排序双循环的外层循环</a:t>
            </a:r>
            <a:endParaRPr lang="zh-CN" altLang="zh-CN" sz="2400" dirty="0"/>
          </a:p>
          <a:p>
            <a:r>
              <a:rPr lang="en-US" altLang="zh-CN" sz="2400" dirty="0"/>
              <a:t>} 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354584" y="451693"/>
            <a:ext cx="108715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8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604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 tmFilter="0,0; .5, 1; 1, 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50" tmFilter="0,0; .5, 1; 1, 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 tmFilter="0,0; .5, 1; 1, 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250" tmFilter="0,0; .5, 1; 1, 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50" tmFilter="0,0; .5, 1; 1, 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 tmFilter="0,0; .5, 1; 1, 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250" tmFilter="0,0; .5, 1; 1, 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250" tmFilter="0,0; .5, 1; 1, 1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50" tmFilter="0,0; .5, 1; 1, 1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25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5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5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250" tmFilter="0,0; .5, 1; 1, 1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5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250" tmFilter="0,0; .5, 1; 1, 1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5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5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25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250" tmFilter="0,0; .5, 1; 1, 1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25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25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5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5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250" tmFilter="0,0; .5, 1; 1, 1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15616" y="980728"/>
            <a:ext cx="78488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/>
              <a:t>用递归算法实现求一个数组中的最大元素</a:t>
            </a:r>
            <a:r>
              <a:rPr lang="zh-CN" altLang="zh-CN" sz="3200" dirty="0" smtClean="0"/>
              <a:t>。</a:t>
            </a:r>
            <a:endParaRPr lang="en-US" altLang="zh-CN" sz="3200" dirty="0" smtClean="0"/>
          </a:p>
          <a:p>
            <a:endParaRPr lang="pt-BR" altLang="zh-CN" sz="3200" dirty="0" smtClean="0"/>
          </a:p>
          <a:p>
            <a:r>
              <a:rPr lang="pt-BR" altLang="zh-CN" sz="3200" dirty="0" smtClean="0"/>
              <a:t>int </a:t>
            </a:r>
            <a:r>
              <a:rPr lang="pt-BR" altLang="zh-CN" sz="3200" dirty="0"/>
              <a:t>max(int a[],int n) </a:t>
            </a:r>
          </a:p>
          <a:p>
            <a:r>
              <a:rPr lang="pt-BR" altLang="zh-CN" sz="3200" dirty="0"/>
              <a:t>{ </a:t>
            </a:r>
          </a:p>
          <a:p>
            <a:r>
              <a:rPr lang="pt-BR" altLang="zh-CN" sz="3200" dirty="0"/>
              <a:t>    if(0==n) </a:t>
            </a:r>
          </a:p>
          <a:p>
            <a:r>
              <a:rPr lang="pt-BR" altLang="zh-CN" sz="3200" dirty="0"/>
              <a:t>        return a[n]; </a:t>
            </a:r>
          </a:p>
          <a:p>
            <a:r>
              <a:rPr lang="pt-BR" altLang="zh-CN" sz="3200" dirty="0"/>
              <a:t>    else     </a:t>
            </a:r>
          </a:p>
          <a:p>
            <a:r>
              <a:rPr lang="pt-BR" altLang="zh-CN" sz="3200" dirty="0"/>
              <a:t>        return (a[n]&gt;max(a,n-1)?a[n]:max(a,n-1));    </a:t>
            </a:r>
          </a:p>
          <a:p>
            <a:r>
              <a:rPr lang="pt-BR" altLang="zh-CN" sz="3200" dirty="0"/>
              <a:t>} </a:t>
            </a:r>
            <a:endParaRPr lang="zh-CN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107504" y="948494"/>
            <a:ext cx="121539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3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21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 tmFilter="0,0; .5, 1; 1, 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50" tmFilter="0,0; .5, 1; 1, 1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 tmFilter="0,0; .5, 1; 1, 1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 tmFilter="0,0; .5, 1; 1, 1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 tmFilter="0,0; .5, 1; 1, 1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50" tmFilter="0,0; .5, 1; 1, 1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91680" y="404664"/>
            <a:ext cx="6912768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/>
              <a:t>将十进制转换为二进制</a:t>
            </a:r>
            <a:r>
              <a:rPr lang="zh-CN" altLang="zh-CN" sz="3200" dirty="0" smtClean="0"/>
              <a:t>。</a:t>
            </a:r>
            <a:endParaRPr lang="en-US" altLang="zh-CN" sz="3200" dirty="0" smtClean="0"/>
          </a:p>
          <a:p>
            <a:endParaRPr lang="en-US" altLang="zh-CN" sz="3200" dirty="0" smtClean="0"/>
          </a:p>
          <a:p>
            <a:r>
              <a:rPr lang="en-US" altLang="zh-CN" sz="3200" dirty="0" err="1" smtClean="0"/>
              <a:t>int</a:t>
            </a:r>
            <a:r>
              <a:rPr lang="en-US" altLang="zh-CN" sz="3200" dirty="0" smtClean="0"/>
              <a:t> </a:t>
            </a:r>
            <a:r>
              <a:rPr lang="en-US" altLang="zh-CN" sz="3200" dirty="0"/>
              <a:t>fc(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 </a:t>
            </a:r>
            <a:r>
              <a:rPr lang="en-US" altLang="zh-CN" sz="3200" dirty="0" err="1"/>
              <a:t>num</a:t>
            </a:r>
            <a:r>
              <a:rPr lang="en-US" altLang="zh-CN" sz="3200" dirty="0"/>
              <a:t>)</a:t>
            </a:r>
            <a:endParaRPr lang="zh-CN" altLang="zh-CN" sz="3200" dirty="0"/>
          </a:p>
          <a:p>
            <a:r>
              <a:rPr lang="en-US" altLang="zh-CN" sz="3200" dirty="0"/>
              <a:t>{	</a:t>
            </a:r>
            <a:endParaRPr lang="zh-CN" altLang="zh-CN" sz="3200" dirty="0"/>
          </a:p>
          <a:p>
            <a:r>
              <a:rPr lang="en-US" altLang="zh-CN" sz="3200" dirty="0"/>
              <a:t>	if(</a:t>
            </a:r>
            <a:r>
              <a:rPr lang="en-US" altLang="zh-CN" sz="3200" dirty="0" err="1"/>
              <a:t>num</a:t>
            </a:r>
            <a:r>
              <a:rPr lang="en-US" altLang="zh-CN" sz="3200" dirty="0"/>
              <a:t> == 1)</a:t>
            </a:r>
            <a:endParaRPr lang="zh-CN" altLang="zh-CN" sz="3200" dirty="0"/>
          </a:p>
          <a:p>
            <a:r>
              <a:rPr lang="en-US" altLang="zh-CN" sz="3200" dirty="0"/>
              <a:t>	{</a:t>
            </a:r>
            <a:endParaRPr lang="zh-CN" altLang="zh-CN" sz="3200" dirty="0"/>
          </a:p>
          <a:p>
            <a:r>
              <a:rPr lang="en-US" altLang="zh-CN" sz="3200" dirty="0"/>
              <a:t>		</a:t>
            </a:r>
            <a:r>
              <a:rPr lang="en-US" altLang="zh-CN" sz="3200" dirty="0" err="1"/>
              <a:t>printf</a:t>
            </a:r>
            <a:r>
              <a:rPr lang="en-US" altLang="zh-CN" sz="3200" dirty="0"/>
              <a:t>("%d",</a:t>
            </a:r>
            <a:r>
              <a:rPr lang="en-US" altLang="zh-CN" sz="3200" dirty="0" err="1"/>
              <a:t>num</a:t>
            </a:r>
            <a:r>
              <a:rPr lang="en-US" altLang="zh-CN" sz="3200" dirty="0"/>
              <a:t>);</a:t>
            </a:r>
            <a:endParaRPr lang="zh-CN" altLang="zh-CN" sz="3200" dirty="0"/>
          </a:p>
          <a:p>
            <a:r>
              <a:rPr lang="en-US" altLang="zh-CN" sz="3200" dirty="0"/>
              <a:t>		return 0;</a:t>
            </a:r>
            <a:endParaRPr lang="zh-CN" altLang="zh-CN" sz="3200" dirty="0"/>
          </a:p>
          <a:p>
            <a:r>
              <a:rPr lang="en-US" altLang="zh-CN" sz="3200" dirty="0"/>
              <a:t>	}</a:t>
            </a:r>
            <a:endParaRPr lang="zh-CN" altLang="zh-CN" sz="3200" dirty="0"/>
          </a:p>
          <a:p>
            <a:r>
              <a:rPr lang="en-US" altLang="zh-CN" sz="3200" dirty="0"/>
              <a:t>	fc(</a:t>
            </a:r>
            <a:r>
              <a:rPr lang="en-US" altLang="zh-CN" sz="3200" dirty="0" err="1"/>
              <a:t>num</a:t>
            </a:r>
            <a:r>
              <a:rPr lang="en-US" altLang="zh-CN" sz="3200" dirty="0"/>
              <a:t>/2);</a:t>
            </a:r>
            <a:endParaRPr lang="zh-CN" altLang="zh-CN" sz="3200" dirty="0"/>
          </a:p>
          <a:p>
            <a:r>
              <a:rPr lang="en-US" altLang="zh-CN" sz="3200" dirty="0"/>
              <a:t>	</a:t>
            </a:r>
            <a:r>
              <a:rPr lang="en-US" altLang="zh-CN" sz="3200" dirty="0" err="1"/>
              <a:t>printf</a:t>
            </a:r>
            <a:r>
              <a:rPr lang="en-US" altLang="zh-CN" sz="3200" dirty="0"/>
              <a:t>("%d",num%2);	</a:t>
            </a:r>
            <a:endParaRPr lang="zh-CN" altLang="zh-CN" sz="3200" dirty="0"/>
          </a:p>
          <a:p>
            <a:r>
              <a:rPr lang="en-US" altLang="zh-CN" sz="3200" dirty="0"/>
              <a:t>}</a:t>
            </a:r>
            <a:endParaRPr lang="zh-CN" altLang="zh-CN" sz="3200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75818" y="332656"/>
            <a:ext cx="121539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3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620990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 tmFilter="0,0; .5, 1; 1, 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 tmFilter="0,0; .5, 1; 1, 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 tmFilter="0,0; .5, 1; 1, 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50" tmFilter="0,0; .5, 1; 1, 1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 tmFilter="0,0; .5, 1; 1, 1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250" tmFilter="0,0; .5, 1; 1, 1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50" tmFilter="0,0; .5, 1; 1, 1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 tmFilter="0,0; .5, 1; 1, 1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250" tmFilter="0,0; .5, 1; 1, 1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250" tmFilter="0,0; .5, 1; 1, 1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50" tmFilter="0,0; .5, 1; 1, 1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79712" y="260648"/>
            <a:ext cx="7992888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 err="1"/>
              <a:t>int</a:t>
            </a:r>
            <a:r>
              <a:rPr lang="en-US" altLang="zh-CN" sz="2600" dirty="0"/>
              <a:t> method(</a:t>
            </a:r>
            <a:r>
              <a:rPr lang="en-US" altLang="zh-CN" sz="2600" dirty="0" err="1"/>
              <a:t>int</a:t>
            </a:r>
            <a:r>
              <a:rPr lang="en-US" altLang="zh-CN" sz="2600" dirty="0"/>
              <a:t> </a:t>
            </a:r>
            <a:r>
              <a:rPr lang="en-US" altLang="zh-CN" sz="2600" dirty="0" err="1"/>
              <a:t>n,char</a:t>
            </a:r>
            <a:r>
              <a:rPr lang="en-US" altLang="zh-CN" sz="2600" dirty="0"/>
              <a:t> a, char b)</a:t>
            </a:r>
            <a:br>
              <a:rPr lang="en-US" altLang="zh-CN" sz="2600" dirty="0"/>
            </a:br>
            <a:r>
              <a:rPr lang="en-US" altLang="zh-CN" sz="2600" dirty="0"/>
              <a:t>{</a:t>
            </a:r>
            <a:br>
              <a:rPr lang="en-US" altLang="zh-CN" sz="2600" dirty="0"/>
            </a:br>
            <a:r>
              <a:rPr lang="en-US" altLang="zh-CN" sz="2600" dirty="0"/>
              <a:t>     </a:t>
            </a:r>
            <a:r>
              <a:rPr lang="en-US" altLang="zh-CN" sz="2600" dirty="0" err="1"/>
              <a:t>printf</a:t>
            </a:r>
            <a:r>
              <a:rPr lang="en-US" altLang="zh-CN" sz="2600" dirty="0"/>
              <a:t>("number..%d..form..%c..to..%c.."n",</a:t>
            </a:r>
            <a:r>
              <a:rPr lang="en-US" altLang="zh-CN" sz="2600" dirty="0" err="1"/>
              <a:t>n,a,b</a:t>
            </a:r>
            <a:r>
              <a:rPr lang="en-US" altLang="zh-CN" sz="2600" dirty="0"/>
              <a:t>);</a:t>
            </a:r>
            <a:br>
              <a:rPr lang="en-US" altLang="zh-CN" sz="2600" dirty="0"/>
            </a:br>
            <a:r>
              <a:rPr lang="en-US" altLang="zh-CN" sz="2600" dirty="0"/>
              <a:t>     return 0;</a:t>
            </a:r>
            <a:br>
              <a:rPr lang="en-US" altLang="zh-CN" sz="2600" dirty="0"/>
            </a:br>
            <a:r>
              <a:rPr lang="en-US" altLang="zh-CN" sz="2600" dirty="0"/>
              <a:t>}</a:t>
            </a:r>
            <a:br>
              <a:rPr lang="en-US" altLang="zh-CN" sz="2600" dirty="0"/>
            </a:br>
            <a:r>
              <a:rPr lang="en-US" altLang="zh-CN" sz="2600" dirty="0" err="1"/>
              <a:t>int</a:t>
            </a:r>
            <a:r>
              <a:rPr lang="en-US" altLang="zh-CN" sz="2600" dirty="0"/>
              <a:t> </a:t>
            </a:r>
            <a:r>
              <a:rPr lang="en-US" altLang="zh-CN" sz="2600" dirty="0" err="1"/>
              <a:t>hanoi</a:t>
            </a:r>
            <a:r>
              <a:rPr lang="en-US" altLang="zh-CN" sz="2600" dirty="0"/>
              <a:t>(</a:t>
            </a:r>
            <a:r>
              <a:rPr lang="en-US" altLang="zh-CN" sz="2600" dirty="0" err="1"/>
              <a:t>int</a:t>
            </a:r>
            <a:r>
              <a:rPr lang="en-US" altLang="zh-CN" sz="2600" dirty="0"/>
              <a:t> </a:t>
            </a:r>
            <a:r>
              <a:rPr lang="en-US" altLang="zh-CN" sz="2600" dirty="0" err="1"/>
              <a:t>n,char</a:t>
            </a:r>
            <a:r>
              <a:rPr lang="en-US" altLang="zh-CN" sz="2600" dirty="0"/>
              <a:t> </a:t>
            </a:r>
            <a:r>
              <a:rPr lang="en-US" altLang="zh-CN" sz="2600" dirty="0" err="1"/>
              <a:t>a,char</a:t>
            </a:r>
            <a:r>
              <a:rPr lang="en-US" altLang="zh-CN" sz="2600" dirty="0"/>
              <a:t> </a:t>
            </a:r>
            <a:r>
              <a:rPr lang="en-US" altLang="zh-CN" sz="2600" dirty="0" err="1"/>
              <a:t>b,char</a:t>
            </a:r>
            <a:r>
              <a:rPr lang="en-US" altLang="zh-CN" sz="2600" dirty="0"/>
              <a:t> c)</a:t>
            </a:r>
            <a:br>
              <a:rPr lang="en-US" altLang="zh-CN" sz="2600" dirty="0"/>
            </a:br>
            <a:r>
              <a:rPr lang="en-US" altLang="zh-CN" sz="2600" dirty="0"/>
              <a:t>{</a:t>
            </a:r>
            <a:br>
              <a:rPr lang="en-US" altLang="zh-CN" sz="2600" dirty="0"/>
            </a:br>
            <a:r>
              <a:rPr lang="en-US" altLang="zh-CN" sz="2600" dirty="0"/>
              <a:t>     if( n==1 ) move (1,a,c);</a:t>
            </a:r>
            <a:br>
              <a:rPr lang="en-US" altLang="zh-CN" sz="2600" dirty="0"/>
            </a:br>
            <a:r>
              <a:rPr lang="en-US" altLang="zh-CN" sz="2600" dirty="0"/>
              <a:t>     else</a:t>
            </a:r>
            <a:br>
              <a:rPr lang="en-US" altLang="zh-CN" sz="2600" dirty="0"/>
            </a:br>
            <a:r>
              <a:rPr lang="en-US" altLang="zh-CN" sz="2600" dirty="0"/>
              <a:t>          {</a:t>
            </a:r>
            <a:br>
              <a:rPr lang="en-US" altLang="zh-CN" sz="2600" dirty="0"/>
            </a:br>
            <a:r>
              <a:rPr lang="en-US" altLang="zh-CN" sz="2600" dirty="0"/>
              <a:t>               </a:t>
            </a:r>
            <a:r>
              <a:rPr lang="en-US" altLang="zh-CN" sz="2600" dirty="0" err="1"/>
              <a:t>hanoi</a:t>
            </a:r>
            <a:r>
              <a:rPr lang="en-US" altLang="zh-CN" sz="2600" dirty="0"/>
              <a:t>(n-1,a,c,b);</a:t>
            </a:r>
            <a:br>
              <a:rPr lang="en-US" altLang="zh-CN" sz="2600" dirty="0"/>
            </a:br>
            <a:r>
              <a:rPr lang="en-US" altLang="zh-CN" sz="2600" dirty="0"/>
              <a:t>               move(</a:t>
            </a:r>
            <a:r>
              <a:rPr lang="en-US" altLang="zh-CN" sz="2600" dirty="0" err="1"/>
              <a:t>n,a,c</a:t>
            </a:r>
            <a:r>
              <a:rPr lang="en-US" altLang="zh-CN" sz="2600" dirty="0"/>
              <a:t>);</a:t>
            </a:r>
            <a:br>
              <a:rPr lang="en-US" altLang="zh-CN" sz="2600" dirty="0"/>
            </a:br>
            <a:r>
              <a:rPr lang="en-US" altLang="zh-CN" sz="2600" dirty="0"/>
              <a:t>               </a:t>
            </a:r>
            <a:r>
              <a:rPr lang="en-US" altLang="zh-CN" sz="2600" dirty="0" err="1"/>
              <a:t>hanoi</a:t>
            </a:r>
            <a:r>
              <a:rPr lang="en-US" altLang="zh-CN" sz="2600" dirty="0"/>
              <a:t>(n-1,b,a,c);</a:t>
            </a:r>
            <a:br>
              <a:rPr lang="en-US" altLang="zh-CN" sz="2600" dirty="0"/>
            </a:br>
            <a:r>
              <a:rPr lang="en-US" altLang="zh-CN" sz="2600" dirty="0"/>
              <a:t>          };</a:t>
            </a:r>
            <a:br>
              <a:rPr lang="en-US" altLang="zh-CN" sz="2600" dirty="0"/>
            </a:br>
            <a:r>
              <a:rPr lang="en-US" altLang="zh-CN" sz="2600" dirty="0"/>
              <a:t>     return 0;</a:t>
            </a:r>
            <a:br>
              <a:rPr lang="en-US" altLang="zh-CN" sz="2600" dirty="0"/>
            </a:br>
            <a:r>
              <a:rPr lang="en-US" altLang="zh-CN" sz="2600" dirty="0"/>
              <a:t>}</a:t>
            </a:r>
            <a:r>
              <a:rPr lang="en-US" altLang="zh-CN" sz="2800" dirty="0"/>
              <a:t/>
            </a:r>
            <a:br>
              <a:rPr lang="en-US" altLang="zh-CN" sz="2800" dirty="0"/>
            </a:br>
            <a:endParaRPr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-376520" y="404664"/>
            <a:ext cx="1846659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例</a:t>
            </a:r>
            <a:r>
              <a:rPr lang="en-US" altLang="zh-CN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4</a:t>
            </a:r>
            <a:r>
              <a:rPr lang="zh-CN" alt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：</a:t>
            </a:r>
            <a:endParaRPr lang="zh-CN" alt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4476" y="1988840"/>
            <a:ext cx="1015663" cy="47525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400" dirty="0" smtClean="0"/>
              <a:t>汉诺了个塔</a:t>
            </a:r>
            <a:r>
              <a:rPr lang="en-US" altLang="zh-CN" sz="5400" dirty="0" smtClean="0"/>
              <a:t>……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1879722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39552" y="260648"/>
            <a:ext cx="297068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7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69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Jokerman" panose="04090605060D06020702" pitchFamily="82" charset="0"/>
              </a:rPr>
              <a:t>Tips</a:t>
            </a:r>
            <a:r>
              <a:rPr lang="zh-CN" altLang="en-US" sz="7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69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Jokerman" panose="04090605060D06020702" pitchFamily="82" charset="0"/>
              </a:rPr>
              <a:t>：</a:t>
            </a:r>
            <a:endParaRPr lang="zh-CN" altLang="en-US" sz="7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69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Jokerman" panose="04090605060D06020702" pitchFamily="82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568" y="1844824"/>
            <a:ext cx="78488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smtClean="0">
                <a:latin typeface="Jokerman" panose="04090605060D06020702" pitchFamily="82" charset="0"/>
              </a:rPr>
              <a:t>1</a:t>
            </a:r>
            <a:r>
              <a:rPr lang="zh-CN" altLang="en-US" sz="4000" b="1" dirty="0" smtClean="0">
                <a:latin typeface="Jokerman" panose="04090605060D06020702" pitchFamily="82" charset="0"/>
              </a:rPr>
              <a:t>、所有递归问题都一定能用非递归的算法实现。</a:t>
            </a:r>
            <a:endParaRPr lang="en-US" altLang="zh-CN" sz="4000" b="1" dirty="0" smtClean="0">
              <a:latin typeface="Jokerman" panose="04090605060D06020702" pitchFamily="82" charset="0"/>
            </a:endParaRPr>
          </a:p>
          <a:p>
            <a:endParaRPr lang="en-US" altLang="zh-CN" sz="4000" b="1" dirty="0" smtClean="0">
              <a:latin typeface="Jokerman" panose="04090605060D06020702" pitchFamily="82" charset="0"/>
            </a:endParaRPr>
          </a:p>
          <a:p>
            <a:endParaRPr lang="en-US" altLang="zh-CN" sz="4000" b="1" dirty="0">
              <a:latin typeface="Jokerman" panose="04090605060D06020702" pitchFamily="82" charset="0"/>
            </a:endParaRPr>
          </a:p>
          <a:p>
            <a:r>
              <a:rPr lang="en-US" altLang="zh-CN" sz="4000" b="1" dirty="0" smtClean="0">
                <a:latin typeface="Jokerman" panose="04090605060D06020702" pitchFamily="82" charset="0"/>
              </a:rPr>
              <a:t>2</a:t>
            </a:r>
            <a:r>
              <a:rPr lang="zh-CN" altLang="en-US" sz="4000" b="1" dirty="0" smtClean="0">
                <a:latin typeface="Jokerman" panose="04090605060D06020702" pitchFamily="82" charset="0"/>
              </a:rPr>
              <a:t>、</a:t>
            </a:r>
            <a:r>
              <a:rPr lang="zh-CN" altLang="en-US" sz="4000" b="1" dirty="0">
                <a:latin typeface="Jokerman" panose="04090605060D06020702" pitchFamily="82" charset="0"/>
              </a:rPr>
              <a:t>使用递归函数最常犯</a:t>
            </a:r>
            <a:r>
              <a:rPr lang="zh-CN" altLang="en-US" sz="4000" b="1" dirty="0" smtClean="0">
                <a:latin typeface="Jokerman" panose="04090605060D06020702" pitchFamily="82" charset="0"/>
              </a:rPr>
              <a:t>的</a:t>
            </a:r>
            <a:r>
              <a:rPr lang="zh-CN" altLang="en-US" sz="4000" b="1" dirty="0">
                <a:latin typeface="Jokerman" panose="04090605060D06020702" pitchFamily="82" charset="0"/>
              </a:rPr>
              <a:t>错误</a:t>
            </a:r>
            <a:r>
              <a:rPr lang="zh-CN" altLang="en-US" sz="4000" b="1" dirty="0" smtClean="0">
                <a:latin typeface="Jokerman" panose="04090605060D06020702" pitchFamily="82" charset="0"/>
              </a:rPr>
              <a:t>是走进死循环，一定要避免。</a:t>
            </a:r>
            <a:endParaRPr lang="zh-CN" altLang="en-US" sz="4000" b="1" dirty="0">
              <a:latin typeface="Jokerman" panose="04090605060D06020702" pitchFamily="82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3739" y="1700808"/>
            <a:ext cx="770485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Jokerman" panose="04090605060D06020702" pitchFamily="82" charset="0"/>
              </a:rPr>
              <a:t>3</a:t>
            </a:r>
            <a:r>
              <a:rPr lang="zh-CN" altLang="en-US" sz="2800" b="1" dirty="0" smtClean="0">
                <a:latin typeface="Jokerman" panose="04090605060D06020702" pitchFamily="82" charset="0"/>
              </a:rPr>
              <a:t>、</a:t>
            </a:r>
            <a:r>
              <a:rPr lang="en-US" altLang="zh-CN" sz="2800" b="1" dirty="0" smtClean="0">
                <a:latin typeface="Jokerman" panose="04090605060D06020702" pitchFamily="82" charset="0"/>
              </a:rPr>
              <a:t>C</a:t>
            </a:r>
            <a:r>
              <a:rPr lang="zh-CN" altLang="en-US" sz="2800" b="1" dirty="0" smtClean="0">
                <a:latin typeface="Jokerman" panose="04090605060D06020702" pitchFamily="82" charset="0"/>
              </a:rPr>
              <a:t>语言并没有</a:t>
            </a:r>
            <a:r>
              <a:rPr lang="zh-CN" altLang="en-US" sz="2800" b="1" dirty="0">
                <a:latin typeface="Jokerman" panose="04090605060D06020702" pitchFamily="82" charset="0"/>
              </a:rPr>
              <a:t>想象的那么难，</a:t>
            </a:r>
            <a:r>
              <a:rPr lang="zh-CN" altLang="en-US" sz="2800" b="1" dirty="0" smtClean="0">
                <a:latin typeface="Jokerman" panose="04090605060D06020702" pitchFamily="82" charset="0"/>
              </a:rPr>
              <a:t>觉得它苦逼是因为你没接触过这个全新领  域，入门总是没那么简单的。</a:t>
            </a:r>
            <a:endParaRPr lang="en-US" altLang="zh-CN" sz="2800" b="1" dirty="0">
              <a:latin typeface="Jokerman" panose="04090605060D06020702" pitchFamily="82" charset="0"/>
            </a:endParaRPr>
          </a:p>
          <a:p>
            <a:endParaRPr lang="en-US" altLang="zh-CN" sz="2800" b="1" dirty="0" smtClean="0">
              <a:latin typeface="Jokerman" panose="04090605060D06020702" pitchFamily="82" charset="0"/>
            </a:endParaRPr>
          </a:p>
          <a:p>
            <a:r>
              <a:rPr lang="en-US" altLang="zh-CN" sz="2800" b="1" dirty="0" smtClean="0">
                <a:latin typeface="Jokerman" panose="04090605060D06020702" pitchFamily="82" charset="0"/>
              </a:rPr>
              <a:t>4</a:t>
            </a:r>
            <a:r>
              <a:rPr lang="zh-CN" altLang="en-US" sz="2800" b="1" dirty="0" smtClean="0">
                <a:latin typeface="Jokerman" panose="04090605060D06020702" pitchFamily="82" charset="0"/>
              </a:rPr>
              <a:t>、实践</a:t>
            </a:r>
            <a:r>
              <a:rPr lang="zh-CN" altLang="en-US" sz="2800" b="1" dirty="0">
                <a:latin typeface="Jokerman" panose="04090605060D06020702" pitchFamily="82" charset="0"/>
              </a:rPr>
              <a:t>是学习</a:t>
            </a:r>
            <a:r>
              <a:rPr lang="en-US" altLang="zh-CN" sz="2800" b="1" dirty="0">
                <a:latin typeface="Jokerman" panose="04090605060D06020702" pitchFamily="82" charset="0"/>
              </a:rPr>
              <a:t>C</a:t>
            </a:r>
            <a:r>
              <a:rPr lang="zh-CN" altLang="en-US" sz="2800" b="1" dirty="0">
                <a:latin typeface="Jokerman" panose="04090605060D06020702" pitchFamily="82" charset="0"/>
              </a:rPr>
              <a:t>语言的最好的方法，一定要自己做题，哪怕一道两道，自己独立</a:t>
            </a:r>
            <a:r>
              <a:rPr lang="zh-CN" altLang="en-US" sz="2800" b="1" dirty="0" smtClean="0">
                <a:latin typeface="Jokerman" panose="04090605060D06020702" pitchFamily="82" charset="0"/>
              </a:rPr>
              <a:t>完成，你必须相信：</a:t>
            </a:r>
            <a:r>
              <a:rPr lang="en-US" altLang="zh-CN" sz="2800" b="1" dirty="0">
                <a:latin typeface="Jokerman" panose="04090605060D06020702" pitchFamily="82" charset="0"/>
              </a:rPr>
              <a:t>I</a:t>
            </a:r>
            <a:r>
              <a:rPr lang="en-US" altLang="zh-CN" sz="2800" b="1" dirty="0" smtClean="0">
                <a:latin typeface="Jokerman" panose="04090605060D06020702" pitchFamily="82" charset="0"/>
              </a:rPr>
              <a:t>t</a:t>
            </a:r>
            <a:r>
              <a:rPr lang="zh-CN" altLang="en-US" sz="2800" b="1" dirty="0" smtClean="0">
                <a:latin typeface="Jokerman" panose="04090605060D06020702" pitchFamily="82" charset="0"/>
              </a:rPr>
              <a:t>‘</a:t>
            </a:r>
            <a:r>
              <a:rPr lang="en-US" altLang="zh-CN" sz="2800" b="1" dirty="0" smtClean="0">
                <a:latin typeface="Jokerman" panose="04090605060D06020702" pitchFamily="82" charset="0"/>
              </a:rPr>
              <a:t>s never too late - -!!!</a:t>
            </a:r>
            <a:endParaRPr lang="en-US" altLang="zh-CN" sz="2800" b="1" dirty="0">
              <a:latin typeface="Jokerman" panose="04090605060D06020702" pitchFamily="82" charset="0"/>
            </a:endParaRPr>
          </a:p>
          <a:p>
            <a:endParaRPr lang="en-US" altLang="zh-CN" sz="2800" b="1" dirty="0">
              <a:latin typeface="Jokerman" panose="04090605060D06020702" pitchFamily="82" charset="0"/>
            </a:endParaRPr>
          </a:p>
          <a:p>
            <a:r>
              <a:rPr lang="en-US" altLang="zh-CN" sz="2800" b="1" dirty="0" smtClean="0">
                <a:latin typeface="Jokerman" panose="04090605060D06020702" pitchFamily="82" charset="0"/>
              </a:rPr>
              <a:t>5</a:t>
            </a:r>
            <a:r>
              <a:rPr lang="zh-CN" altLang="en-US" sz="2800" b="1" dirty="0" smtClean="0">
                <a:latin typeface="Jokerman" panose="04090605060D06020702" pitchFamily="82" charset="0"/>
              </a:rPr>
              <a:t>、如果你只为应付</a:t>
            </a:r>
            <a:r>
              <a:rPr lang="zh-CN" altLang="en-US" sz="2800" b="1" dirty="0">
                <a:latin typeface="Jokerman" panose="04090605060D06020702" pitchFamily="82" charset="0"/>
              </a:rPr>
              <a:t>考试，教材作为书籍就足够了。</a:t>
            </a:r>
            <a:r>
              <a:rPr lang="zh-CN" altLang="en-US" sz="2800" b="1" dirty="0" smtClean="0">
                <a:latin typeface="Jokerman" panose="04090605060D06020702" pitchFamily="82" charset="0"/>
              </a:rPr>
              <a:t>把它看透</a:t>
            </a:r>
            <a:r>
              <a:rPr lang="zh-CN" altLang="en-US" sz="2800" b="1" dirty="0">
                <a:latin typeface="Jokerman" panose="04090605060D06020702" pitchFamily="82" charset="0"/>
              </a:rPr>
              <a:t>，看</a:t>
            </a:r>
            <a:r>
              <a:rPr lang="zh-CN" altLang="en-US" sz="2800" b="1" dirty="0" smtClean="0">
                <a:latin typeface="Jokerman" panose="04090605060D06020702" pitchFamily="82" charset="0"/>
              </a:rPr>
              <a:t>精。如果你对此有兴趣，北理</a:t>
            </a:r>
            <a:r>
              <a:rPr lang="en-US" altLang="zh-CN" sz="2800" b="1" dirty="0" smtClean="0">
                <a:latin typeface="Jokerman" panose="04090605060D06020702" pitchFamily="82" charset="0"/>
              </a:rPr>
              <a:t>ACM</a:t>
            </a:r>
            <a:r>
              <a:rPr lang="zh-CN" altLang="en-US" sz="2800" b="1" dirty="0" smtClean="0">
                <a:latin typeface="Jokerman" panose="04090605060D06020702" pitchFamily="82" charset="0"/>
              </a:rPr>
              <a:t>网站各种题库欢迎你</a:t>
            </a:r>
            <a:r>
              <a:rPr lang="en-US" altLang="zh-CN" sz="2800" b="1" dirty="0" smtClean="0">
                <a:latin typeface="Jokerman" panose="04090605060D06020702" pitchFamily="82" charset="0"/>
              </a:rPr>
              <a:t>……</a:t>
            </a:r>
            <a:endParaRPr lang="en-US" altLang="zh-CN" sz="2800" b="1" dirty="0">
              <a:latin typeface="Jokerman" panose="04090605060D0602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75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75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75" accel="50000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75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75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75" accel="50000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75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75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75" accel="50000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75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75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75" accel="50000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50" tmFilter="0,0; .5, 1; 1, 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50" tmFilter="0,0; .5, 1; 1, 1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250" tmFilter="0,0; .5, 1; 1, 1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/>
      <p:bldP spid="8" grpId="0" uiExpand="1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56" y="404664"/>
            <a:ext cx="8856984" cy="609397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30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69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Jokerman" panose="04090605060D06020702" pitchFamily="82" charset="0"/>
              </a:rPr>
              <a:t>Wish you the </a:t>
            </a:r>
            <a:r>
              <a:rPr lang="en-US" altLang="zh-CN" sz="126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69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Jokerman" panose="04090605060D06020702" pitchFamily="82" charset="0"/>
              </a:rPr>
              <a:t>best</a:t>
            </a:r>
            <a:r>
              <a:rPr lang="en-US" altLang="zh-CN" sz="130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69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Jokerman" panose="04090605060D06020702" pitchFamily="82" charset="0"/>
              </a:rPr>
              <a:t> of luck - - !</a:t>
            </a:r>
            <a:endParaRPr lang="zh-CN" altLang="en-US" sz="13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69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Jokerman" panose="04090605060D0602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9734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6" fill="hold">
                                          <p:stCondLst>
                                            <p:cond delay="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6" decel="50000" autoRev="1" fill="hold">
                                          <p:stCondLst>
                                            <p:cond delay="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4" fill="hold">
                                          <p:stCondLst>
                                            <p:cond delay="8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Green Segoe 4-3 template-template_April-17-2007">
  <a:themeElements>
    <a:clrScheme name="Green Template-Template">
      <a:dk1>
        <a:srgbClr val="000000"/>
      </a:dk1>
      <a:lt1>
        <a:srgbClr val="FFFFFF"/>
      </a:lt1>
      <a:dk2>
        <a:srgbClr val="1F7335"/>
      </a:dk2>
      <a:lt2>
        <a:srgbClr val="C4FF8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0ED7B"/>
      </a:hlink>
      <a:folHlink>
        <a:srgbClr val="F3EB4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White with Courier font for code slides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FF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09728" tIns="54864" rIns="109728" bIns="54864" numCol="1" rtlCol="0" anchor="ctr" anchorCtr="0" compatLnSpc="1">
        <a:prstTxWarp prst="textNoShape">
          <a:avLst/>
        </a:prstTxWarp>
      </a:bodyPr>
      <a:lstStyle>
        <a:defPPr marL="0" marR="0" indent="0" algn="ctr" defTabSz="10969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51DED46-D66D-454A-B8B2-8EE17CF4DC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演示文稿幻灯片示例(绿色金色纹理设计)</Template>
  <TotalTime>2197</TotalTime>
  <Words>2093</Words>
  <Application>Microsoft Office PowerPoint</Application>
  <PresentationFormat>全屏显示(4:3)</PresentationFormat>
  <Paragraphs>229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方正舒体</vt:lpstr>
      <vt:lpstr>华文琥珀</vt:lpstr>
      <vt:lpstr>宋体</vt:lpstr>
      <vt:lpstr>幼圆</vt:lpstr>
      <vt:lpstr>Arial</vt:lpstr>
      <vt:lpstr>Bookman Old Style</vt:lpstr>
      <vt:lpstr>Calibri</vt:lpstr>
      <vt:lpstr>Courier New</vt:lpstr>
      <vt:lpstr>Jokerman</vt:lpstr>
      <vt:lpstr>Rockwell</vt:lpstr>
      <vt:lpstr>Wingdings</vt:lpstr>
      <vt:lpstr>Green Segoe 4-3 template-template_April-17-2007</vt:lpstr>
      <vt:lpstr>White with Courier font for code slides</vt:lpstr>
      <vt:lpstr>Damask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Kenber</dc:creator>
  <cp:keywords/>
  <cp:lastModifiedBy>Kenber</cp:lastModifiedBy>
  <cp:revision>45</cp:revision>
  <dcterms:created xsi:type="dcterms:W3CDTF">2013-06-06T14:21:22Z</dcterms:created>
  <dcterms:modified xsi:type="dcterms:W3CDTF">2013-06-15T10:39:39Z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TC102867489990</vt:lpwstr>
  </property>
</Properties>
</file>