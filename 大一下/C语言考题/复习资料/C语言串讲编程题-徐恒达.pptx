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8" r:id="rId2"/>
  </p:sldMasterIdLst>
  <p:notesMasterIdLst>
    <p:notesMasterId r:id="rId47"/>
  </p:notesMasterIdLst>
  <p:handoutMasterIdLst>
    <p:handoutMasterId r:id="rId48"/>
  </p:handoutMasterIdLst>
  <p:sldIdLst>
    <p:sldId id="378" r:id="rId3"/>
    <p:sldId id="295" r:id="rId4"/>
    <p:sldId id="290" r:id="rId5"/>
    <p:sldId id="386" r:id="rId6"/>
    <p:sldId id="397" r:id="rId7"/>
    <p:sldId id="393" r:id="rId8"/>
    <p:sldId id="399" r:id="rId9"/>
    <p:sldId id="394" r:id="rId10"/>
    <p:sldId id="400" r:id="rId11"/>
    <p:sldId id="395" r:id="rId12"/>
    <p:sldId id="401" r:id="rId13"/>
    <p:sldId id="396" r:id="rId14"/>
    <p:sldId id="387" r:id="rId15"/>
    <p:sldId id="388" r:id="rId16"/>
    <p:sldId id="389" r:id="rId17"/>
    <p:sldId id="390" r:id="rId18"/>
    <p:sldId id="296" r:id="rId19"/>
    <p:sldId id="289" r:id="rId20"/>
    <p:sldId id="369" r:id="rId21"/>
    <p:sldId id="357" r:id="rId22"/>
    <p:sldId id="371" r:id="rId23"/>
    <p:sldId id="372" r:id="rId24"/>
    <p:sldId id="373" r:id="rId25"/>
    <p:sldId id="374" r:id="rId26"/>
    <p:sldId id="358" r:id="rId27"/>
    <p:sldId id="402" r:id="rId28"/>
    <p:sldId id="391" r:id="rId29"/>
    <p:sldId id="351" r:id="rId30"/>
    <p:sldId id="403" r:id="rId31"/>
    <p:sldId id="406" r:id="rId32"/>
    <p:sldId id="405" r:id="rId33"/>
    <p:sldId id="408" r:id="rId34"/>
    <p:sldId id="407" r:id="rId35"/>
    <p:sldId id="404" r:id="rId36"/>
    <p:sldId id="376" r:id="rId37"/>
    <p:sldId id="382" r:id="rId38"/>
    <p:sldId id="377" r:id="rId39"/>
    <p:sldId id="383" r:id="rId40"/>
    <p:sldId id="384" r:id="rId41"/>
    <p:sldId id="385" r:id="rId42"/>
    <p:sldId id="392" r:id="rId43"/>
    <p:sldId id="379" r:id="rId44"/>
    <p:sldId id="380" r:id="rId45"/>
    <p:sldId id="381" r:id="rId46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49"/>
      <p:bold r:id="rId50"/>
      <p:italic r:id="rId51"/>
      <p:boldItalic r:id="rId52"/>
    </p:embeddedFont>
    <p:embeddedFont>
      <p:font typeface="微软雅黑" panose="020B0503020204020204" pitchFamily="34" charset="-122"/>
      <p:regular r:id="rId53"/>
      <p:bold r:id="rId54"/>
    </p:embeddedFont>
    <p:embeddedFont>
      <p:font typeface="Microsoft YaHei UI" panose="020B0503020204020204" pitchFamily="34" charset="-122"/>
      <p:regular r:id="rId55"/>
      <p:bold r:id="rId56"/>
    </p:embeddedFont>
    <p:embeddedFont>
      <p:font typeface="Impact" panose="020B0806030902050204" pitchFamily="34" charset="0"/>
      <p:regular r:id="rId57"/>
    </p:embeddedFont>
    <p:embeddedFont>
      <p:font typeface="Calibri" panose="020F0502020204030204" pitchFamily="34" charset="0"/>
      <p:regular r:id="rId58"/>
      <p:bold r:id="rId59"/>
      <p:italic r:id="rId60"/>
      <p:boldItalic r:id="rId6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orient="horz" pos="1053">
          <p15:clr>
            <a:srgbClr val="A4A3A4"/>
          </p15:clr>
        </p15:guide>
        <p15:guide id="3" pos="3844">
          <p15:clr>
            <a:srgbClr val="A4A3A4"/>
          </p15:clr>
        </p15:guide>
        <p15:guide id="4" pos="19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元玮" initials="王元玮" lastIdx="1" clrIdx="0">
    <p:extLst>
      <p:ext uri="{19B8F6BF-5375-455C-9EA6-DF929625EA0E}">
        <p15:presenceInfo xmlns:p15="http://schemas.microsoft.com/office/powerpoint/2012/main" userId="b8a2fd202a2fe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7BAE"/>
    <a:srgbClr val="95BC49"/>
    <a:srgbClr val="FDA907"/>
    <a:srgbClr val="BF3420"/>
    <a:srgbClr val="1D8AC1"/>
    <a:srgbClr val="062A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773" autoAdjust="0"/>
    <p:restoredTop sz="86466" autoAdjust="0"/>
  </p:normalViewPr>
  <p:slideViewPr>
    <p:cSldViewPr>
      <p:cViewPr varScale="1">
        <p:scale>
          <a:sx n="113" d="100"/>
          <a:sy n="113" d="100"/>
        </p:scale>
        <p:origin x="80" y="600"/>
      </p:cViewPr>
      <p:guideLst>
        <p:guide orient="horz" pos="2159"/>
        <p:guide orient="horz" pos="1053"/>
        <p:guide pos="3844"/>
        <p:guide pos="191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44" y="-84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63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font" Target="fonts/font6.fntdata"/><Relationship Id="rId62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66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61" Type="http://schemas.openxmlformats.org/officeDocument/2006/relationships/font" Target="fonts/font13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font" Target="fonts/font4.fntdata"/><Relationship Id="rId60" Type="http://schemas.openxmlformats.org/officeDocument/2006/relationships/font" Target="fonts/font12.fntdata"/><Relationship Id="rId65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handoutMaster" Target="handoutMasters/handoutMaster1.xml"/><Relationship Id="rId56" Type="http://schemas.openxmlformats.org/officeDocument/2006/relationships/font" Target="fonts/font8.fntdata"/><Relationship Id="rId64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font" Target="fonts/font3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11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B56024-E033-460B-B461-F9C8C93C904B}" type="datetimeFigureOut">
              <a:rPr lang="zh-CN" altLang="en-US" smtClean="0"/>
              <a:t>2016/6/22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72FC-EDD4-43B4-B218-6888597E2A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2364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03541-C361-4440-AA44-DBB6527DDBFB}" type="datetimeFigureOut">
              <a:rPr lang="zh-CN" altLang="en-US" smtClean="0"/>
              <a:t>2016/6/22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461BB-BB29-447B-86E6-652C097B04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622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 userDrawn="1"/>
        </p:nvSpPr>
        <p:spPr>
          <a:xfrm rot="5400000">
            <a:off x="1790966" y="425408"/>
            <a:ext cx="2028376" cy="1177563"/>
          </a:xfrm>
          <a:custGeom>
            <a:avLst/>
            <a:gdLst/>
            <a:ahLst/>
            <a:cxnLst/>
            <a:rect l="l" t="t" r="r" b="b"/>
            <a:pathLst>
              <a:path w="2028376" h="1177563">
                <a:moveTo>
                  <a:pt x="0" y="1177563"/>
                </a:moveTo>
                <a:lnTo>
                  <a:pt x="0" y="0"/>
                </a:lnTo>
                <a:lnTo>
                  <a:pt x="2028376" y="0"/>
                </a:lnTo>
                <a:cubicBezTo>
                  <a:pt x="1624320" y="702037"/>
                  <a:pt x="867468" y="1174384"/>
                  <a:pt x="0" y="1177563"/>
                </a:cubicBezTo>
                <a:close/>
              </a:path>
            </a:pathLst>
          </a:custGeom>
          <a:solidFill>
            <a:srgbClr val="BF34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7"/>
          <p:cNvSpPr/>
          <p:nvPr userDrawn="1"/>
        </p:nvSpPr>
        <p:spPr>
          <a:xfrm rot="5400000">
            <a:off x="2809827" y="584110"/>
            <a:ext cx="2346109" cy="1177890"/>
          </a:xfrm>
          <a:custGeom>
            <a:avLst/>
            <a:gdLst/>
            <a:ahLst/>
            <a:cxnLst/>
            <a:rect l="l" t="t" r="r" b="b"/>
            <a:pathLst>
              <a:path w="2346109" h="1177890">
                <a:moveTo>
                  <a:pt x="0" y="1177890"/>
                </a:moveTo>
                <a:lnTo>
                  <a:pt x="0" y="0"/>
                </a:lnTo>
                <a:lnTo>
                  <a:pt x="2346109" y="0"/>
                </a:lnTo>
                <a:cubicBezTo>
                  <a:pt x="2346109" y="429552"/>
                  <a:pt x="2231144" y="832251"/>
                  <a:pt x="2028377" y="1177890"/>
                </a:cubicBezTo>
                <a:close/>
              </a:path>
            </a:pathLst>
          </a:cu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12"/>
          <p:cNvSpPr/>
          <p:nvPr userDrawn="1"/>
        </p:nvSpPr>
        <p:spPr>
          <a:xfrm rot="5400000">
            <a:off x="5324309" y="425407"/>
            <a:ext cx="2028375" cy="1177562"/>
          </a:xfrm>
          <a:custGeom>
            <a:avLst/>
            <a:gdLst/>
            <a:ahLst/>
            <a:cxnLst/>
            <a:rect l="l" t="t" r="r" b="b"/>
            <a:pathLst>
              <a:path w="2028375" h="1177562">
                <a:moveTo>
                  <a:pt x="0" y="1177562"/>
                </a:moveTo>
                <a:lnTo>
                  <a:pt x="0" y="0"/>
                </a:lnTo>
                <a:cubicBezTo>
                  <a:pt x="867468" y="3179"/>
                  <a:pt x="1624319" y="475526"/>
                  <a:pt x="2028375" y="1177562"/>
                </a:cubicBezTo>
                <a:close/>
              </a:path>
            </a:pathLst>
          </a:cu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13"/>
          <p:cNvSpPr/>
          <p:nvPr userDrawn="1"/>
        </p:nvSpPr>
        <p:spPr>
          <a:xfrm rot="5400000">
            <a:off x="3987408" y="584418"/>
            <a:ext cx="2346724" cy="1177890"/>
          </a:xfrm>
          <a:custGeom>
            <a:avLst/>
            <a:gdLst/>
            <a:ahLst/>
            <a:cxnLst/>
            <a:rect l="l" t="t" r="r" b="b"/>
            <a:pathLst>
              <a:path w="2346724" h="1177890">
                <a:moveTo>
                  <a:pt x="0" y="1177890"/>
                </a:moveTo>
                <a:lnTo>
                  <a:pt x="0" y="0"/>
                </a:lnTo>
                <a:lnTo>
                  <a:pt x="2028990" y="0"/>
                </a:lnTo>
                <a:cubicBezTo>
                  <a:pt x="2231759" y="345641"/>
                  <a:pt x="2346724" y="748340"/>
                  <a:pt x="2346724" y="1177890"/>
                </a:cubicBezTo>
                <a:close/>
              </a:path>
            </a:pathLst>
          </a:custGeom>
          <a:solidFill>
            <a:srgbClr val="95BC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弧形 5"/>
          <p:cNvSpPr/>
          <p:nvPr userDrawn="1"/>
        </p:nvSpPr>
        <p:spPr>
          <a:xfrm>
            <a:off x="2074528" y="-2513200"/>
            <a:ext cx="4994940" cy="4994940"/>
          </a:xfrm>
          <a:prstGeom prst="arc">
            <a:avLst>
              <a:gd name="adj1" fmla="val 3404"/>
              <a:gd name="adj2" fmla="val 10819516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 userDrawn="1"/>
        </p:nvSpPr>
        <p:spPr>
          <a:xfrm>
            <a:off x="4493240" y="2414232"/>
            <a:ext cx="157518" cy="15751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058450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1A7BAE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1A7BAE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067350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95BC49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95BC49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6618931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6466869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BF3420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BF3420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572704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161510" y="0"/>
            <a:ext cx="225739" cy="721610"/>
            <a:chOff x="161510" y="0"/>
            <a:chExt cx="225739" cy="721610"/>
          </a:xfrm>
        </p:grpSpPr>
        <p:sp>
          <p:nvSpPr>
            <p:cNvPr id="3" name="矩形 2"/>
            <p:cNvSpPr/>
            <p:nvPr/>
          </p:nvSpPr>
          <p:spPr>
            <a:xfrm>
              <a:off x="161510" y="0"/>
              <a:ext cx="45719" cy="721610"/>
            </a:xfrm>
            <a:prstGeom prst="rect">
              <a:avLst/>
            </a:prstGeom>
            <a:solidFill>
              <a:srgbClr val="1A7B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221517" y="0"/>
              <a:ext cx="45719" cy="721610"/>
            </a:xfrm>
            <a:prstGeom prst="rect">
              <a:avLst/>
            </a:prstGeom>
            <a:solidFill>
              <a:srgbClr val="95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FDA9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BF34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225739" cy="180402"/>
            <a:chOff x="161510" y="0"/>
            <a:chExt cx="225739" cy="721610"/>
          </a:xfrm>
        </p:grpSpPr>
        <p:sp>
          <p:nvSpPr>
            <p:cNvPr id="8" name="矩形 7"/>
            <p:cNvSpPr/>
            <p:nvPr/>
          </p:nvSpPr>
          <p:spPr>
            <a:xfrm>
              <a:off x="161510" y="0"/>
              <a:ext cx="45719" cy="721610"/>
            </a:xfrm>
            <a:prstGeom prst="rect">
              <a:avLst/>
            </a:prstGeom>
            <a:solidFill>
              <a:srgbClr val="1A7B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221517" y="0"/>
              <a:ext cx="45719" cy="721610"/>
            </a:xfrm>
            <a:prstGeom prst="rect">
              <a:avLst/>
            </a:prstGeom>
            <a:solidFill>
              <a:srgbClr val="95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FDA9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BF34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8371333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3392713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0" y="2706765"/>
            <a:ext cx="9144000" cy="1350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Picture 2" descr="C:\Documents and Settings\yangweizhou\桌面\2.jpg"/>
          <p:cNvPicPr>
            <a:picLocks noChangeAspect="1" noChangeArrowheads="1"/>
          </p:cNvPicPr>
          <p:nvPr userDrawn="1"/>
        </p:nvPicPr>
        <p:blipFill rotWithShape="1">
          <a:blip r:embed="rId2"/>
          <a:srcRect b="20467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 userDrawn="1"/>
        </p:nvSpPr>
        <p:spPr>
          <a:xfrm rot="5400000">
            <a:off x="1790966" y="425408"/>
            <a:ext cx="2028376" cy="1177563"/>
          </a:xfrm>
          <a:custGeom>
            <a:avLst/>
            <a:gdLst/>
            <a:ahLst/>
            <a:cxnLst/>
            <a:rect l="l" t="t" r="r" b="b"/>
            <a:pathLst>
              <a:path w="2028376" h="1177563">
                <a:moveTo>
                  <a:pt x="0" y="1177563"/>
                </a:moveTo>
                <a:lnTo>
                  <a:pt x="0" y="0"/>
                </a:lnTo>
                <a:lnTo>
                  <a:pt x="2028376" y="0"/>
                </a:lnTo>
                <a:cubicBezTo>
                  <a:pt x="1624320" y="702037"/>
                  <a:pt x="867468" y="1174384"/>
                  <a:pt x="0" y="1177563"/>
                </a:cubicBezTo>
                <a:close/>
              </a:path>
            </a:pathLst>
          </a:custGeom>
          <a:solidFill>
            <a:srgbClr val="BF34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7"/>
          <p:cNvSpPr/>
          <p:nvPr userDrawn="1"/>
        </p:nvSpPr>
        <p:spPr>
          <a:xfrm rot="5400000">
            <a:off x="2809827" y="584110"/>
            <a:ext cx="2346109" cy="1177890"/>
          </a:xfrm>
          <a:custGeom>
            <a:avLst/>
            <a:gdLst/>
            <a:ahLst/>
            <a:cxnLst/>
            <a:rect l="l" t="t" r="r" b="b"/>
            <a:pathLst>
              <a:path w="2346109" h="1177890">
                <a:moveTo>
                  <a:pt x="0" y="1177890"/>
                </a:moveTo>
                <a:lnTo>
                  <a:pt x="0" y="0"/>
                </a:lnTo>
                <a:lnTo>
                  <a:pt x="2346109" y="0"/>
                </a:lnTo>
                <a:cubicBezTo>
                  <a:pt x="2346109" y="429552"/>
                  <a:pt x="2231144" y="832251"/>
                  <a:pt x="2028377" y="1177890"/>
                </a:cubicBezTo>
                <a:close/>
              </a:path>
            </a:pathLst>
          </a:cu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12"/>
          <p:cNvSpPr/>
          <p:nvPr userDrawn="1"/>
        </p:nvSpPr>
        <p:spPr>
          <a:xfrm rot="5400000">
            <a:off x="5324309" y="425407"/>
            <a:ext cx="2028375" cy="1177562"/>
          </a:xfrm>
          <a:custGeom>
            <a:avLst/>
            <a:gdLst/>
            <a:ahLst/>
            <a:cxnLst/>
            <a:rect l="l" t="t" r="r" b="b"/>
            <a:pathLst>
              <a:path w="2028375" h="1177562">
                <a:moveTo>
                  <a:pt x="0" y="1177562"/>
                </a:moveTo>
                <a:lnTo>
                  <a:pt x="0" y="0"/>
                </a:lnTo>
                <a:cubicBezTo>
                  <a:pt x="867468" y="3179"/>
                  <a:pt x="1624319" y="475526"/>
                  <a:pt x="2028375" y="1177562"/>
                </a:cubicBezTo>
                <a:close/>
              </a:path>
            </a:pathLst>
          </a:cu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13"/>
          <p:cNvSpPr/>
          <p:nvPr userDrawn="1"/>
        </p:nvSpPr>
        <p:spPr>
          <a:xfrm rot="5400000">
            <a:off x="3987408" y="584418"/>
            <a:ext cx="2346724" cy="1177890"/>
          </a:xfrm>
          <a:custGeom>
            <a:avLst/>
            <a:gdLst/>
            <a:ahLst/>
            <a:cxnLst/>
            <a:rect l="l" t="t" r="r" b="b"/>
            <a:pathLst>
              <a:path w="2346724" h="1177890">
                <a:moveTo>
                  <a:pt x="0" y="1177890"/>
                </a:moveTo>
                <a:lnTo>
                  <a:pt x="0" y="0"/>
                </a:lnTo>
                <a:lnTo>
                  <a:pt x="2028990" y="0"/>
                </a:lnTo>
                <a:cubicBezTo>
                  <a:pt x="2231759" y="345641"/>
                  <a:pt x="2346724" y="748340"/>
                  <a:pt x="2346724" y="1177890"/>
                </a:cubicBezTo>
                <a:close/>
              </a:path>
            </a:pathLst>
          </a:custGeom>
          <a:solidFill>
            <a:srgbClr val="95BC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弧形 5"/>
          <p:cNvSpPr/>
          <p:nvPr userDrawn="1"/>
        </p:nvSpPr>
        <p:spPr>
          <a:xfrm>
            <a:off x="2074528" y="-2513200"/>
            <a:ext cx="4994940" cy="4994940"/>
          </a:xfrm>
          <a:prstGeom prst="arc">
            <a:avLst>
              <a:gd name="adj1" fmla="val 3404"/>
              <a:gd name="adj2" fmla="val 10819516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 userDrawn="1"/>
        </p:nvSpPr>
        <p:spPr>
          <a:xfrm>
            <a:off x="4493240" y="2414232"/>
            <a:ext cx="157518" cy="15751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5722015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1A7BAE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1A7BAE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127976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95BC49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95BC49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9339327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9785717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BF3420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BF3420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3002978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161510" y="0"/>
            <a:ext cx="225739" cy="721610"/>
            <a:chOff x="161510" y="0"/>
            <a:chExt cx="225739" cy="721610"/>
          </a:xfrm>
        </p:grpSpPr>
        <p:sp>
          <p:nvSpPr>
            <p:cNvPr id="3" name="矩形 2"/>
            <p:cNvSpPr/>
            <p:nvPr/>
          </p:nvSpPr>
          <p:spPr>
            <a:xfrm>
              <a:off x="161510" y="0"/>
              <a:ext cx="45719" cy="721610"/>
            </a:xfrm>
            <a:prstGeom prst="rect">
              <a:avLst/>
            </a:prstGeom>
            <a:solidFill>
              <a:srgbClr val="1A7B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221517" y="0"/>
              <a:ext cx="45719" cy="721610"/>
            </a:xfrm>
            <a:prstGeom prst="rect">
              <a:avLst/>
            </a:prstGeom>
            <a:solidFill>
              <a:srgbClr val="95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FDA9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BF34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225739" cy="180402"/>
            <a:chOff x="161510" y="0"/>
            <a:chExt cx="225739" cy="721610"/>
          </a:xfrm>
        </p:grpSpPr>
        <p:sp>
          <p:nvSpPr>
            <p:cNvPr id="8" name="矩形 7"/>
            <p:cNvSpPr/>
            <p:nvPr/>
          </p:nvSpPr>
          <p:spPr>
            <a:xfrm>
              <a:off x="161510" y="0"/>
              <a:ext cx="45719" cy="721610"/>
            </a:xfrm>
            <a:prstGeom prst="rect">
              <a:avLst/>
            </a:prstGeom>
            <a:solidFill>
              <a:srgbClr val="1A7B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221517" y="0"/>
              <a:ext cx="45719" cy="721610"/>
            </a:xfrm>
            <a:prstGeom prst="rect">
              <a:avLst/>
            </a:prstGeom>
            <a:solidFill>
              <a:srgbClr val="95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FDA9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BF34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1482898"/>
      </p:ext>
    </p:extLst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1130803"/>
      </p:ext>
    </p:extLst>
  </p:cSld>
  <p:clrMapOvr>
    <a:masterClrMapping/>
  </p:clrMapOvr>
  <p:transition spd="slow">
    <p:push dir="u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6284333"/>
      </p:ext>
    </p:extLst>
  </p:cSld>
  <p:clrMapOvr>
    <a:masterClrMapping/>
  </p:clrMapOvr>
  <p:transition spd="slow">
    <p:push dir="u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0" y="2706765"/>
            <a:ext cx="9144000" cy="1350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Picture 2" descr="C:\Documents and Settings\yangweizhou\桌面\2.jpg"/>
          <p:cNvPicPr>
            <a:picLocks noChangeAspect="1" noChangeArrowheads="1"/>
          </p:cNvPicPr>
          <p:nvPr userDrawn="1"/>
        </p:nvPicPr>
        <p:blipFill rotWithShape="1">
          <a:blip r:embed="rId2"/>
          <a:srcRect b="20467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77706329"/>
      </p:ext>
    </p:extLst>
  </p:cSld>
  <p:clrMapOvr>
    <a:masterClrMapping/>
  </p:clrMapOvr>
  <p:transition spd="slow">
    <p:push dir="u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614597"/>
      </p:ext>
    </p:extLst>
  </p:cSld>
  <p:clrMapOvr>
    <a:masterClrMapping/>
  </p:clrMapOvr>
  <p:transition spd="slow">
    <p:push dir="u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0350208"/>
      </p:ext>
    </p:extLst>
  </p:cSld>
  <p:clrMapOvr>
    <a:masterClrMapping/>
  </p:clrMapOvr>
  <p:transition spd="slow">
    <p:push dir="u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2354262"/>
      </p:ext>
    </p:extLst>
  </p:cSld>
  <p:clrMapOvr>
    <a:masterClrMapping/>
  </p:clrMapOvr>
  <p:transition spd="slow">
    <p:push dir="u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727755"/>
      </p:ext>
    </p:extLst>
  </p:cSld>
  <p:clrMapOvr>
    <a:masterClrMapping/>
  </p:clrMapOvr>
  <p:transition spd="slow">
    <p:push dir="u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2290719"/>
      </p:ext>
    </p:extLst>
  </p:cSld>
  <p:clrMapOvr>
    <a:masterClrMapping/>
  </p:clrMapOvr>
  <p:transition spd="slow">
    <p:push dir="u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3614622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6" r:id="rId4"/>
    <p:sldLayoutId id="2147483665" r:id="rId5"/>
    <p:sldLayoutId id="2147483667" r:id="rId6"/>
    <p:sldLayoutId id="2147483653" r:id="rId7"/>
    <p:sldLayoutId id="2147483662" r:id="rId8"/>
    <p:sldLayoutId id="2147483654" r:id="rId9"/>
    <p:sldLayoutId id="2147483651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transition spd="slow">
    <p:push dir="u"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8690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</p:sldLayoutIdLst>
  <p:transition spd="slow">
    <p:push dir="u"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gif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://blog.csdn.net/cfhm_r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40.png"/><Relationship Id="rId5" Type="http://schemas.openxmlformats.org/officeDocument/2006/relationships/image" Target="../media/image39.jpg"/><Relationship Id="rId4" Type="http://schemas.openxmlformats.org/officeDocument/2006/relationships/image" Target="../media/image3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1092459" y="1246789"/>
            <a:ext cx="3638327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1A7BAE"/>
                </a:solidFill>
                <a:cs typeface="+mn-ea"/>
                <a:sym typeface="+mn-lt"/>
              </a:rPr>
              <a:t>选择题</a:t>
            </a:r>
          </a:p>
        </p:txBody>
      </p:sp>
      <p:sp>
        <p:nvSpPr>
          <p:cNvPr id="19" name="矩形 8"/>
          <p:cNvSpPr/>
          <p:nvPr/>
        </p:nvSpPr>
        <p:spPr>
          <a:xfrm>
            <a:off x="597404" y="1221600"/>
            <a:ext cx="478941" cy="388931"/>
          </a:xfrm>
          <a:custGeom>
            <a:avLst/>
            <a:gdLst/>
            <a:ahLst/>
            <a:cxnLst/>
            <a:rect l="l" t="t" r="r" b="b"/>
            <a:pathLst>
              <a:path w="855095" h="855095">
                <a:moveTo>
                  <a:pt x="805897" y="427546"/>
                </a:moveTo>
                <a:lnTo>
                  <a:pt x="855095" y="427546"/>
                </a:lnTo>
                <a:lnTo>
                  <a:pt x="855095" y="855095"/>
                </a:lnTo>
                <a:lnTo>
                  <a:pt x="427546" y="855095"/>
                </a:lnTo>
                <a:lnTo>
                  <a:pt x="427546" y="805897"/>
                </a:lnTo>
                <a:lnTo>
                  <a:pt x="805897" y="805897"/>
                </a:lnTo>
                <a:close/>
                <a:moveTo>
                  <a:pt x="0" y="0"/>
                </a:moveTo>
                <a:lnTo>
                  <a:pt x="427546" y="0"/>
                </a:lnTo>
                <a:lnTo>
                  <a:pt x="427546" y="49196"/>
                </a:lnTo>
                <a:lnTo>
                  <a:pt x="49196" y="49196"/>
                </a:lnTo>
                <a:lnTo>
                  <a:pt x="49196" y="427546"/>
                </a:lnTo>
                <a:lnTo>
                  <a:pt x="0" y="427546"/>
                </a:lnTo>
                <a:close/>
              </a:path>
            </a:pathLst>
          </a:cu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solidFill>
                  <a:srgbClr val="1A7BAE"/>
                </a:solidFill>
                <a:cs typeface="+mn-ea"/>
                <a:sym typeface="+mn-lt"/>
              </a:rPr>
              <a:t>00</a:t>
            </a:r>
            <a:endParaRPr lang="zh-CN" altLang="en-US" sz="1600" dirty="0">
              <a:solidFill>
                <a:srgbClr val="1A7BAE"/>
              </a:solidFill>
              <a:cs typeface="+mn-ea"/>
              <a:sym typeface="+mn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99537" y="1970572"/>
            <a:ext cx="3638327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95BC49"/>
                </a:solidFill>
                <a:cs typeface="+mn-ea"/>
                <a:sym typeface="+mn-lt"/>
              </a:rPr>
              <a:t>打印图形</a:t>
            </a:r>
          </a:p>
        </p:txBody>
      </p:sp>
      <p:sp>
        <p:nvSpPr>
          <p:cNvPr id="22" name="矩形 8"/>
          <p:cNvSpPr/>
          <p:nvPr/>
        </p:nvSpPr>
        <p:spPr>
          <a:xfrm>
            <a:off x="604482" y="1945383"/>
            <a:ext cx="478941" cy="388931"/>
          </a:xfrm>
          <a:custGeom>
            <a:avLst/>
            <a:gdLst/>
            <a:ahLst/>
            <a:cxnLst/>
            <a:rect l="l" t="t" r="r" b="b"/>
            <a:pathLst>
              <a:path w="855095" h="855095">
                <a:moveTo>
                  <a:pt x="805897" y="427546"/>
                </a:moveTo>
                <a:lnTo>
                  <a:pt x="855095" y="427546"/>
                </a:lnTo>
                <a:lnTo>
                  <a:pt x="855095" y="855095"/>
                </a:lnTo>
                <a:lnTo>
                  <a:pt x="427546" y="855095"/>
                </a:lnTo>
                <a:lnTo>
                  <a:pt x="427546" y="805897"/>
                </a:lnTo>
                <a:lnTo>
                  <a:pt x="805897" y="805897"/>
                </a:lnTo>
                <a:close/>
                <a:moveTo>
                  <a:pt x="0" y="0"/>
                </a:moveTo>
                <a:lnTo>
                  <a:pt x="427546" y="0"/>
                </a:lnTo>
                <a:lnTo>
                  <a:pt x="427546" y="49196"/>
                </a:lnTo>
                <a:lnTo>
                  <a:pt x="49196" y="49196"/>
                </a:lnTo>
                <a:lnTo>
                  <a:pt x="49196" y="427546"/>
                </a:lnTo>
                <a:lnTo>
                  <a:pt x="0" y="427546"/>
                </a:lnTo>
                <a:close/>
              </a:path>
            </a:pathLst>
          </a:custGeom>
          <a:solidFill>
            <a:srgbClr val="95BC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solidFill>
                  <a:srgbClr val="95BC49"/>
                </a:solidFill>
                <a:cs typeface="+mn-ea"/>
                <a:sym typeface="+mn-lt"/>
              </a:rPr>
              <a:t>01</a:t>
            </a:r>
            <a:endParaRPr lang="zh-CN" altLang="en-US" sz="1600" dirty="0">
              <a:solidFill>
                <a:srgbClr val="95BC49"/>
              </a:solidFill>
              <a:cs typeface="+mn-ea"/>
              <a:sym typeface="+mn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06615" y="2686949"/>
            <a:ext cx="3638327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DA907"/>
                </a:solidFill>
                <a:cs typeface="+mn-ea"/>
                <a:sym typeface="+mn-lt"/>
              </a:rPr>
              <a:t>递归</a:t>
            </a:r>
          </a:p>
        </p:txBody>
      </p:sp>
      <p:sp>
        <p:nvSpPr>
          <p:cNvPr id="24" name="矩形 8"/>
          <p:cNvSpPr/>
          <p:nvPr/>
        </p:nvSpPr>
        <p:spPr>
          <a:xfrm>
            <a:off x="611560" y="2661760"/>
            <a:ext cx="478941" cy="388931"/>
          </a:xfrm>
          <a:custGeom>
            <a:avLst/>
            <a:gdLst/>
            <a:ahLst/>
            <a:cxnLst/>
            <a:rect l="l" t="t" r="r" b="b"/>
            <a:pathLst>
              <a:path w="855095" h="855095">
                <a:moveTo>
                  <a:pt x="805897" y="427546"/>
                </a:moveTo>
                <a:lnTo>
                  <a:pt x="855095" y="427546"/>
                </a:lnTo>
                <a:lnTo>
                  <a:pt x="855095" y="855095"/>
                </a:lnTo>
                <a:lnTo>
                  <a:pt x="427546" y="855095"/>
                </a:lnTo>
                <a:lnTo>
                  <a:pt x="427546" y="805897"/>
                </a:lnTo>
                <a:lnTo>
                  <a:pt x="805897" y="805897"/>
                </a:lnTo>
                <a:close/>
                <a:moveTo>
                  <a:pt x="0" y="0"/>
                </a:moveTo>
                <a:lnTo>
                  <a:pt x="427546" y="0"/>
                </a:lnTo>
                <a:lnTo>
                  <a:pt x="427546" y="49196"/>
                </a:lnTo>
                <a:lnTo>
                  <a:pt x="49196" y="49196"/>
                </a:lnTo>
                <a:lnTo>
                  <a:pt x="49196" y="427546"/>
                </a:lnTo>
                <a:lnTo>
                  <a:pt x="0" y="427546"/>
                </a:lnTo>
                <a:close/>
              </a:path>
            </a:pathLst>
          </a:cu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solidFill>
                  <a:srgbClr val="FDA907"/>
                </a:solidFill>
                <a:cs typeface="+mn-ea"/>
                <a:sym typeface="+mn-lt"/>
              </a:rPr>
              <a:t>02</a:t>
            </a:r>
            <a:endParaRPr lang="zh-CN" altLang="en-US" sz="1600" dirty="0">
              <a:solidFill>
                <a:srgbClr val="FDA907"/>
              </a:solidFill>
              <a:cs typeface="+mn-ea"/>
              <a:sym typeface="+mn-l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13693" y="3403326"/>
            <a:ext cx="3638327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BF3420"/>
                </a:solidFill>
                <a:cs typeface="+mn-ea"/>
                <a:sym typeface="+mn-lt"/>
              </a:rPr>
              <a:t>穷举</a:t>
            </a:r>
          </a:p>
        </p:txBody>
      </p:sp>
      <p:sp>
        <p:nvSpPr>
          <p:cNvPr id="27" name="矩形 8"/>
          <p:cNvSpPr/>
          <p:nvPr/>
        </p:nvSpPr>
        <p:spPr>
          <a:xfrm>
            <a:off x="618638" y="3378137"/>
            <a:ext cx="478941" cy="388931"/>
          </a:xfrm>
          <a:custGeom>
            <a:avLst/>
            <a:gdLst/>
            <a:ahLst/>
            <a:cxnLst/>
            <a:rect l="l" t="t" r="r" b="b"/>
            <a:pathLst>
              <a:path w="855095" h="855095">
                <a:moveTo>
                  <a:pt x="805897" y="427546"/>
                </a:moveTo>
                <a:lnTo>
                  <a:pt x="855095" y="427546"/>
                </a:lnTo>
                <a:lnTo>
                  <a:pt x="855095" y="855095"/>
                </a:lnTo>
                <a:lnTo>
                  <a:pt x="427546" y="855095"/>
                </a:lnTo>
                <a:lnTo>
                  <a:pt x="427546" y="805897"/>
                </a:lnTo>
                <a:lnTo>
                  <a:pt x="805897" y="805897"/>
                </a:lnTo>
                <a:close/>
                <a:moveTo>
                  <a:pt x="0" y="0"/>
                </a:moveTo>
                <a:lnTo>
                  <a:pt x="427546" y="0"/>
                </a:lnTo>
                <a:lnTo>
                  <a:pt x="427546" y="49196"/>
                </a:lnTo>
                <a:lnTo>
                  <a:pt x="49196" y="49196"/>
                </a:lnTo>
                <a:lnTo>
                  <a:pt x="49196" y="427546"/>
                </a:lnTo>
                <a:lnTo>
                  <a:pt x="0" y="427546"/>
                </a:lnTo>
                <a:close/>
              </a:path>
            </a:pathLst>
          </a:custGeom>
          <a:solidFill>
            <a:srgbClr val="BF34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solidFill>
                  <a:srgbClr val="BF3420"/>
                </a:solidFill>
                <a:cs typeface="+mn-ea"/>
                <a:sym typeface="+mn-lt"/>
              </a:rPr>
              <a:t>03</a:t>
            </a:r>
            <a:endParaRPr lang="zh-CN" altLang="en-US" sz="1600" dirty="0">
              <a:solidFill>
                <a:srgbClr val="BF3420"/>
              </a:solidFill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4887036" y="0"/>
            <a:ext cx="4256964" cy="5143500"/>
            <a:chOff x="566555" y="877035"/>
            <a:chExt cx="2340260" cy="164545"/>
          </a:xfrm>
        </p:grpSpPr>
        <p:sp>
          <p:nvSpPr>
            <p:cNvPr id="12" name="矩形 11"/>
            <p:cNvSpPr/>
            <p:nvPr/>
          </p:nvSpPr>
          <p:spPr>
            <a:xfrm>
              <a:off x="566555" y="877035"/>
              <a:ext cx="585065" cy="164545"/>
            </a:xfrm>
            <a:prstGeom prst="rect">
              <a:avLst/>
            </a:prstGeom>
            <a:solidFill>
              <a:srgbClr val="1A7B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1151620" y="877035"/>
              <a:ext cx="585065" cy="164545"/>
            </a:xfrm>
            <a:prstGeom prst="rect">
              <a:avLst/>
            </a:prstGeom>
            <a:solidFill>
              <a:srgbClr val="95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736685" y="877035"/>
              <a:ext cx="585065" cy="164545"/>
            </a:xfrm>
            <a:prstGeom prst="rect">
              <a:avLst/>
            </a:prstGeom>
            <a:solidFill>
              <a:srgbClr val="FDA9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2321750" y="877035"/>
              <a:ext cx="585065" cy="164545"/>
            </a:xfrm>
            <a:prstGeom prst="rect">
              <a:avLst/>
            </a:prstGeom>
            <a:solidFill>
              <a:srgbClr val="BF34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4887036" y="1997305"/>
            <a:ext cx="4256964" cy="926956"/>
          </a:xfrm>
          <a:prstGeom prst="rect">
            <a:avLst/>
          </a:prstGeom>
          <a:solidFill>
            <a:schemeClr val="tx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solidFill>
                  <a:prstClr val="white"/>
                </a:solidFill>
                <a:cs typeface="+mn-ea"/>
                <a:sym typeface="+mn-lt"/>
              </a:rPr>
              <a:t>CONTENT</a:t>
            </a:r>
            <a:endParaRPr lang="zh-CN" altLang="en-US" sz="3200">
              <a:solidFill>
                <a:prstClr val="white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92033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" y="2166704"/>
            <a:ext cx="9144000" cy="45005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495" y="-1433695"/>
            <a:ext cx="4095993" cy="8094524"/>
          </a:xfrm>
          <a:prstGeom prst="rect">
            <a:avLst/>
          </a:prstGeom>
          <a:noFill/>
          <a:effectLst>
            <a:outerShdw blurRad="165100" dist="76200" dir="1200000" algn="tl" rotWithShape="0">
              <a:prstClr val="black">
                <a:alpha val="1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52000" dirty="0">
                <a:solidFill>
                  <a:schemeClr val="bg1"/>
                </a:solidFill>
                <a:cs typeface="+mn-ea"/>
                <a:sym typeface="+mn-lt"/>
              </a:rPr>
              <a:t>1</a:t>
            </a:r>
            <a:endParaRPr lang="zh-CN" altLang="en-US" sz="52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79089" y="2155090"/>
            <a:ext cx="51783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打印图形</a:t>
            </a:r>
          </a:p>
        </p:txBody>
      </p:sp>
      <p:sp>
        <p:nvSpPr>
          <p:cNvPr id="3" name="矩形 2"/>
          <p:cNvSpPr/>
          <p:nvPr/>
        </p:nvSpPr>
        <p:spPr>
          <a:xfrm>
            <a:off x="5804734" y="1397264"/>
            <a:ext cx="295273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altLang="zh-CN" sz="4400" dirty="0">
                <a:solidFill>
                  <a:schemeClr val="bg1"/>
                </a:solidFill>
                <a:cs typeface="+mn-ea"/>
                <a:sym typeface="+mn-lt"/>
              </a:rPr>
              <a:t>PART ONE</a:t>
            </a:r>
            <a:endParaRPr lang="zh-CN" altLang="en-US" sz="4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957265" y="2826681"/>
            <a:ext cx="1215135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 smtClean="0">
                <a:solidFill>
                  <a:schemeClr val="bg1"/>
                </a:solidFill>
                <a:cs typeface="+mn-ea"/>
                <a:sym typeface="+mn-lt"/>
              </a:rPr>
              <a:t>数列通项</a:t>
            </a:r>
            <a:endParaRPr lang="en-US" altLang="zh-CN" sz="1100" dirty="0">
              <a:solidFill>
                <a:schemeClr val="bg1"/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找规律</a:t>
            </a:r>
          </a:p>
        </p:txBody>
      </p:sp>
    </p:spTree>
    <p:extLst>
      <p:ext uri="{BB962C8B-B14F-4D97-AF65-F5344CB8AC3E}">
        <p14:creationId xmlns:p14="http://schemas.microsoft.com/office/powerpoint/2010/main" val="19668887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打印图形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486056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46875" y="1626645"/>
            <a:ext cx="2236510" cy="18774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dirty="0" smtClean="0">
                <a:cs typeface="+mn-ea"/>
                <a:sym typeface="+mn-lt"/>
              </a:rPr>
              <a:t>数列通项</a:t>
            </a:r>
            <a:endParaRPr lang="en-US" altLang="zh-CN" sz="4000" dirty="0" smtClean="0">
              <a:cs typeface="+mn-ea"/>
              <a:sym typeface="+mn-lt"/>
            </a:endParaRPr>
          </a:p>
          <a:p>
            <a:pPr algn="ctr"/>
            <a:endParaRPr lang="en-US" altLang="zh-CN" sz="3600" dirty="0" smtClean="0">
              <a:cs typeface="+mn-ea"/>
              <a:sym typeface="+mn-lt"/>
            </a:endParaRPr>
          </a:p>
          <a:p>
            <a:pPr algn="ctr"/>
            <a:r>
              <a:rPr lang="zh-CN" altLang="en-US" sz="4000" dirty="0">
                <a:cs typeface="+mn-ea"/>
                <a:sym typeface="+mn-lt"/>
              </a:rPr>
              <a:t>找规律</a:t>
            </a:r>
          </a:p>
        </p:txBody>
      </p:sp>
    </p:spTree>
    <p:extLst>
      <p:ext uri="{BB962C8B-B14F-4D97-AF65-F5344CB8AC3E}">
        <p14:creationId xmlns:p14="http://schemas.microsoft.com/office/powerpoint/2010/main" val="21487130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打印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图形 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Level 1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477055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66555" y="1232372"/>
            <a:ext cx="7039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输入一个整数</a:t>
            </a:r>
            <a:r>
              <a:rPr lang="en-US" altLang="zh-CN" dirty="0"/>
              <a:t>n</a:t>
            </a:r>
            <a:r>
              <a:rPr lang="zh-CN" altLang="en-US" dirty="0"/>
              <a:t>，输出一个由“*”围成的腰长为</a:t>
            </a:r>
            <a:r>
              <a:rPr lang="en-US" altLang="zh-CN" dirty="0"/>
              <a:t>n</a:t>
            </a:r>
            <a:r>
              <a:rPr lang="zh-CN" altLang="en-US" dirty="0"/>
              <a:t>的空心等腰三角形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66555" y="2124371"/>
            <a:ext cx="11079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样例输入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>
                <a:cs typeface="+mn-ea"/>
                <a:sym typeface="+mn-lt"/>
              </a:rPr>
              <a:t>4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411747" y="2120786"/>
            <a:ext cx="110799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样例输出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 </a:t>
            </a:r>
            <a:r>
              <a:rPr lang="en-US" altLang="zh-CN" dirty="0" smtClean="0">
                <a:latin typeface="Consolas" panose="020B0609020204030204" pitchFamily="49" charset="0"/>
                <a:cs typeface="+mn-ea"/>
                <a:sym typeface="+mn-lt"/>
              </a:rPr>
              <a:t>  *  </a:t>
            </a:r>
          </a:p>
          <a:p>
            <a:r>
              <a:rPr lang="en-US" altLang="zh-CN" dirty="0" smtClean="0">
                <a:latin typeface="Consolas" panose="020B0609020204030204" pitchFamily="49" charset="0"/>
                <a:cs typeface="+mn-ea"/>
                <a:sym typeface="+mn-lt"/>
              </a:rPr>
              <a:t>  * * </a:t>
            </a:r>
          </a:p>
          <a:p>
            <a:r>
              <a:rPr lang="en-US" altLang="zh-CN" dirty="0" smtClean="0">
                <a:latin typeface="Consolas" panose="020B0609020204030204" pitchFamily="49" charset="0"/>
                <a:cs typeface="+mn-ea"/>
                <a:sym typeface="+mn-lt"/>
              </a:rPr>
              <a:t> *   *</a:t>
            </a:r>
          </a:p>
          <a:p>
            <a:r>
              <a:rPr lang="en-US" altLang="zh-CN" dirty="0" smtClean="0">
                <a:latin typeface="Consolas" panose="020B0609020204030204" pitchFamily="49" charset="0"/>
                <a:cs typeface="+mn-ea"/>
                <a:sym typeface="+mn-lt"/>
              </a:rPr>
              <a:t>*******</a:t>
            </a:r>
          </a:p>
        </p:txBody>
      </p:sp>
    </p:spTree>
    <p:extLst>
      <p:ext uri="{BB962C8B-B14F-4D97-AF65-F5344CB8AC3E}">
        <p14:creationId xmlns:p14="http://schemas.microsoft.com/office/powerpoint/2010/main" val="2615925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打印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图形 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Level 1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477055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823097"/>
              </p:ext>
            </p:extLst>
          </p:nvPr>
        </p:nvGraphicFramePr>
        <p:xfrm>
          <a:off x="656565" y="1536635"/>
          <a:ext cx="4112775" cy="2262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6975"/>
                <a:gridCol w="456975"/>
                <a:gridCol w="456975"/>
                <a:gridCol w="456975"/>
                <a:gridCol w="456975"/>
                <a:gridCol w="456975"/>
                <a:gridCol w="456975"/>
                <a:gridCol w="456975"/>
                <a:gridCol w="456975"/>
              </a:tblGrid>
              <a:tr h="452488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248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latin typeface="Consolas" panose="020B0609020204030204" pitchFamily="49" charset="0"/>
                        </a:rPr>
                        <a:t>*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latin typeface="Consolas" panose="020B0609020204030204" pitchFamily="49" charset="0"/>
                        </a:rPr>
                        <a:t>\n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248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latin typeface="Consolas" panose="020B0609020204030204" pitchFamily="49" charset="0"/>
                        </a:rPr>
                        <a:t>*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latin typeface="Consolas" panose="020B0609020204030204" pitchFamily="49" charset="0"/>
                        </a:rPr>
                        <a:t>*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latin typeface="Consolas" panose="020B0609020204030204" pitchFamily="49" charset="0"/>
                        </a:rPr>
                        <a:t>\n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248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latin typeface="Consolas" panose="020B0609020204030204" pitchFamily="49" charset="0"/>
                        </a:rPr>
                        <a:t>*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latin typeface="Consolas" panose="020B0609020204030204" pitchFamily="49" charset="0"/>
                        </a:rPr>
                        <a:t>*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latin typeface="Consolas" panose="020B0609020204030204" pitchFamily="49" charset="0"/>
                        </a:rPr>
                        <a:t>\n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248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latin typeface="Consolas" panose="020B0609020204030204" pitchFamily="49" charset="0"/>
                        </a:rPr>
                        <a:t>*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latin typeface="Consolas" panose="020B0609020204030204" pitchFamily="49" charset="0"/>
                        </a:rPr>
                        <a:t>*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latin typeface="Consolas" panose="020B0609020204030204" pitchFamily="49" charset="0"/>
                        </a:rPr>
                        <a:t>*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latin typeface="Consolas" panose="020B0609020204030204" pitchFamily="49" charset="0"/>
                        </a:rPr>
                        <a:t>*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latin typeface="Consolas" panose="020B0609020204030204" pitchFamily="49" charset="0"/>
                        </a:rPr>
                        <a:t>*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latin typeface="Consolas" panose="020B0609020204030204" pitchFamily="49" charset="0"/>
                        </a:rPr>
                        <a:t>*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latin typeface="Consolas" panose="020B0609020204030204" pitchFamily="49" charset="0"/>
                        </a:rPr>
                        <a:t>*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latin typeface="Consolas" panose="020B0609020204030204" pitchFamily="49" charset="0"/>
                        </a:rPr>
                        <a:t>\n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833818"/>
              </p:ext>
            </p:extLst>
          </p:nvPr>
        </p:nvGraphicFramePr>
        <p:xfrm>
          <a:off x="5238581" y="1007721"/>
          <a:ext cx="1499008" cy="27149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6975"/>
                <a:gridCol w="1042033"/>
              </a:tblGrid>
              <a:tr h="452488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2488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Consolas" panose="020B0609020204030204" pitchFamily="49" charset="0"/>
                        </a:rPr>
                        <a:t>Spaces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248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kern="12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kern="12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Consolas" panose="020B0609020204030204" pitchFamily="49" charset="0"/>
                        </a:rPr>
                        <a:t>3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248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kern="12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kern="12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Consolas" panose="020B0609020204030204" pitchFamily="49" charset="0"/>
                        </a:rPr>
                        <a:t>2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248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kern="12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kern="12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248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kern="12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4</a:t>
                      </a:r>
                      <a:endParaRPr lang="zh-CN" altLang="en-US" sz="1600" kern="12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434545"/>
              </p:ext>
            </p:extLst>
          </p:nvPr>
        </p:nvGraphicFramePr>
        <p:xfrm>
          <a:off x="576922" y="1024655"/>
          <a:ext cx="4569750" cy="4524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6975"/>
                <a:gridCol w="456975"/>
                <a:gridCol w="456975"/>
                <a:gridCol w="456975"/>
                <a:gridCol w="456975"/>
                <a:gridCol w="456975"/>
                <a:gridCol w="456975"/>
                <a:gridCol w="456975"/>
                <a:gridCol w="456975"/>
                <a:gridCol w="456975"/>
              </a:tblGrid>
              <a:tr h="452488">
                <a:tc gridSpan="9">
                  <a:txBody>
                    <a:bodyPr/>
                    <a:lstStyle/>
                    <a:p>
                      <a:pPr algn="l"/>
                      <a:r>
                        <a:rPr lang="en-US" altLang="zh-CN" dirty="0" smtClean="0">
                          <a:latin typeface="Consolas" panose="020B0609020204030204" pitchFamily="49" charset="0"/>
                        </a:rPr>
                        <a:t>n</a:t>
                      </a:r>
                      <a:r>
                        <a:rPr lang="en-US" altLang="zh-CN" baseline="0" dirty="0" smtClean="0">
                          <a:latin typeface="Consolas" panose="020B0609020204030204" pitchFamily="49" charset="0"/>
                        </a:rPr>
                        <a:t> = 4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126924"/>
              </p:ext>
            </p:extLst>
          </p:nvPr>
        </p:nvGraphicFramePr>
        <p:xfrm>
          <a:off x="6753772" y="3722649"/>
          <a:ext cx="1042033" cy="4524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42033"/>
              </a:tblGrid>
              <a:tr h="452488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2i-3</a:t>
                      </a:r>
                      <a:endParaRPr lang="zh-CN" altLang="en-US" b="1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794824"/>
              </p:ext>
            </p:extLst>
          </p:nvPr>
        </p:nvGraphicFramePr>
        <p:xfrm>
          <a:off x="6753772" y="1007721"/>
          <a:ext cx="1042033" cy="27149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42033"/>
              </a:tblGrid>
              <a:tr h="452488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248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Consolas" panose="020B0609020204030204" pitchFamily="49" charset="0"/>
                        </a:rPr>
                        <a:t>Spaces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2488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248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248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Consolas" panose="020B0609020204030204" pitchFamily="49" charset="0"/>
                        </a:rPr>
                        <a:t>3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248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Consolas" panose="020B0609020204030204" pitchFamily="49" charset="0"/>
                        </a:rPr>
                        <a:t>5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867300"/>
              </p:ext>
            </p:extLst>
          </p:nvPr>
        </p:nvGraphicFramePr>
        <p:xfrm>
          <a:off x="5239112" y="3739583"/>
          <a:ext cx="456975" cy="4524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6975"/>
              </a:tblGrid>
              <a:tr h="45248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endParaRPr lang="zh-CN" altLang="en-US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3" name="矩形 12"/>
          <p:cNvSpPr/>
          <p:nvPr/>
        </p:nvSpPr>
        <p:spPr>
          <a:xfrm>
            <a:off x="5832165" y="3764227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n-i</a:t>
            </a:r>
            <a:endParaRPr lang="zh-CN" alt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963967"/>
              </p:ext>
            </p:extLst>
          </p:nvPr>
        </p:nvGraphicFramePr>
        <p:xfrm>
          <a:off x="45564" y="1986685"/>
          <a:ext cx="836026" cy="4524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6026"/>
              </a:tblGrid>
              <a:tr h="452488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n-1</a:t>
                      </a:r>
                      <a:endParaRPr lang="zh-CN" altLang="en-US" b="1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214966"/>
              </p:ext>
            </p:extLst>
          </p:nvPr>
        </p:nvGraphicFramePr>
        <p:xfrm>
          <a:off x="26495" y="3323944"/>
          <a:ext cx="826645" cy="4524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26645"/>
              </a:tblGrid>
              <a:tr h="452488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2n-1</a:t>
                      </a:r>
                      <a:endParaRPr lang="zh-CN" altLang="en-US" b="1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40672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打印图形 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Level 1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531061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805" y="231490"/>
            <a:ext cx="4410490" cy="46970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0958163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打印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图形 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Level 2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477055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66555" y="1232372"/>
            <a:ext cx="6577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输入一个整数</a:t>
            </a:r>
            <a:r>
              <a:rPr lang="en-US" altLang="zh-CN" dirty="0"/>
              <a:t>n</a:t>
            </a:r>
            <a:r>
              <a:rPr lang="zh-CN" altLang="en-US" dirty="0"/>
              <a:t>，输出一个由“*”围成边长为</a:t>
            </a:r>
            <a:r>
              <a:rPr lang="en-US" altLang="zh-CN" dirty="0"/>
              <a:t>n</a:t>
            </a:r>
            <a:r>
              <a:rPr lang="zh-CN" altLang="en-US" dirty="0"/>
              <a:t>的空心字符</a:t>
            </a:r>
            <a:r>
              <a:rPr lang="zh-CN" altLang="en-US" dirty="0">
                <a:solidFill>
                  <a:srgbClr val="FF0000"/>
                </a:solidFill>
              </a:rPr>
              <a:t>菱形</a:t>
            </a:r>
            <a:endParaRPr lang="zh-CN" altLang="en-US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66555" y="2124371"/>
            <a:ext cx="11079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样例输入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>
                <a:cs typeface="+mn-ea"/>
                <a:sym typeface="+mn-lt"/>
              </a:rPr>
              <a:t>4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411747" y="2120786"/>
            <a:ext cx="119776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样例输出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>
                <a:latin typeface="Consolas" panose="020B0609020204030204" pitchFamily="49" charset="0"/>
                <a:cs typeface="+mn-ea"/>
                <a:sym typeface="+mn-lt"/>
              </a:rPr>
              <a:t>   *</a:t>
            </a:r>
          </a:p>
          <a:p>
            <a:r>
              <a:rPr lang="en-US" altLang="zh-CN" dirty="0" smtClean="0">
                <a:latin typeface="Consolas" panose="020B0609020204030204" pitchFamily="49" charset="0"/>
                <a:cs typeface="+mn-ea"/>
                <a:sym typeface="+mn-lt"/>
              </a:rPr>
              <a:t>  </a:t>
            </a:r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* * </a:t>
            </a:r>
            <a:endParaRPr lang="en-US" altLang="zh-CN" dirty="0" smtClean="0">
              <a:latin typeface="Consolas" panose="020B0609020204030204" pitchFamily="49" charset="0"/>
              <a:cs typeface="+mn-ea"/>
              <a:sym typeface="+mn-lt"/>
            </a:endParaRPr>
          </a:p>
          <a:p>
            <a:r>
              <a:rPr lang="en-US" altLang="zh-CN" dirty="0" smtClean="0">
                <a:latin typeface="Consolas" panose="020B0609020204030204" pitchFamily="49" charset="0"/>
                <a:cs typeface="+mn-ea"/>
                <a:sym typeface="+mn-lt"/>
              </a:rPr>
              <a:t> *   *</a:t>
            </a:r>
          </a:p>
          <a:p>
            <a:r>
              <a:rPr lang="en-US" altLang="zh-CN" dirty="0" smtClean="0">
                <a:latin typeface="Consolas" panose="020B0609020204030204" pitchFamily="49" charset="0"/>
                <a:cs typeface="+mn-ea"/>
                <a:sym typeface="+mn-lt"/>
              </a:rPr>
              <a:t>*     *</a:t>
            </a:r>
          </a:p>
          <a:p>
            <a:r>
              <a:rPr lang="en-US" altLang="zh-CN" dirty="0" smtClean="0">
                <a:latin typeface="Consolas" panose="020B0609020204030204" pitchFamily="49" charset="0"/>
                <a:cs typeface="+mn-ea"/>
                <a:sym typeface="+mn-lt"/>
              </a:rPr>
              <a:t> </a:t>
            </a:r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*   *  </a:t>
            </a:r>
            <a:endParaRPr lang="en-US" altLang="zh-CN" dirty="0" smtClean="0">
              <a:latin typeface="Consolas" panose="020B0609020204030204" pitchFamily="49" charset="0"/>
              <a:cs typeface="+mn-ea"/>
              <a:sym typeface="+mn-lt"/>
            </a:endParaRPr>
          </a:p>
          <a:p>
            <a:r>
              <a:rPr lang="en-US" altLang="zh-CN" dirty="0" smtClean="0">
                <a:latin typeface="Consolas" panose="020B0609020204030204" pitchFamily="49" charset="0"/>
                <a:cs typeface="+mn-ea"/>
                <a:sym typeface="+mn-lt"/>
              </a:rPr>
              <a:t>  * *</a:t>
            </a:r>
          </a:p>
          <a:p>
            <a:r>
              <a:rPr lang="en-US" altLang="zh-CN" dirty="0" smtClean="0">
                <a:latin typeface="Consolas" panose="020B0609020204030204" pitchFamily="49" charset="0"/>
                <a:cs typeface="+mn-ea"/>
                <a:sym typeface="+mn-lt"/>
              </a:rPr>
              <a:t>   </a:t>
            </a:r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*</a:t>
            </a:r>
            <a:endParaRPr lang="en-US" altLang="zh-CN" dirty="0" smtClean="0">
              <a:latin typeface="Consolas" panose="020B0609020204030204" pitchFamily="49" charset="0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89013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打印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图形 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Level 2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495057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743561"/>
              </p:ext>
            </p:extLst>
          </p:nvPr>
        </p:nvGraphicFramePr>
        <p:xfrm>
          <a:off x="836585" y="951570"/>
          <a:ext cx="4275477" cy="3600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75053"/>
                <a:gridCol w="475053"/>
                <a:gridCol w="475053"/>
                <a:gridCol w="475053"/>
                <a:gridCol w="475053"/>
                <a:gridCol w="475053"/>
                <a:gridCol w="475053"/>
                <a:gridCol w="475053"/>
                <a:gridCol w="475053"/>
              </a:tblGrid>
              <a:tr h="45005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00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latin typeface="Consolas" panose="020B0609020204030204" pitchFamily="49" charset="0"/>
                        </a:rPr>
                        <a:t>*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latin typeface="Consolas" panose="020B0609020204030204" pitchFamily="49" charset="0"/>
                        </a:rPr>
                        <a:t>\n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00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latin typeface="Consolas" panose="020B0609020204030204" pitchFamily="49" charset="0"/>
                        </a:rPr>
                        <a:t>*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latin typeface="Consolas" panose="020B0609020204030204" pitchFamily="49" charset="0"/>
                        </a:rPr>
                        <a:t>*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latin typeface="Consolas" panose="020B0609020204030204" pitchFamily="49" charset="0"/>
                        </a:rPr>
                        <a:t>\n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00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latin typeface="Consolas" panose="020B0609020204030204" pitchFamily="49" charset="0"/>
                        </a:rPr>
                        <a:t>*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latin typeface="Consolas" panose="020B0609020204030204" pitchFamily="49" charset="0"/>
                        </a:rPr>
                        <a:t>*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latin typeface="Consolas" panose="020B0609020204030204" pitchFamily="49" charset="0"/>
                        </a:rPr>
                        <a:t>\n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00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latin typeface="Consolas" panose="020B0609020204030204" pitchFamily="49" charset="0"/>
                        </a:rPr>
                        <a:t>*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latin typeface="Consolas" panose="020B0609020204030204" pitchFamily="49" charset="0"/>
                        </a:rPr>
                        <a:t>*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latin typeface="Consolas" panose="020B0609020204030204" pitchFamily="49" charset="0"/>
                        </a:rPr>
                        <a:t>\n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00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 smtClean="0">
                          <a:latin typeface="Consolas" panose="020B0609020204030204" pitchFamily="49" charset="0"/>
                        </a:rPr>
                        <a:t>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latin typeface="Consolas" panose="020B0609020204030204" pitchFamily="49" charset="0"/>
                        </a:rPr>
                        <a:t>*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latin typeface="Consolas" panose="020B0609020204030204" pitchFamily="49" charset="0"/>
                        </a:rPr>
                        <a:t>\n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00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latin typeface="Consolas" panose="020B0609020204030204" pitchFamily="49" charset="0"/>
                        </a:rPr>
                        <a:t>*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latin typeface="Consolas" panose="020B0609020204030204" pitchFamily="49" charset="0"/>
                        </a:rPr>
                        <a:t>*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latin typeface="Consolas" panose="020B0609020204030204" pitchFamily="49" charset="0"/>
                        </a:rPr>
                        <a:t>\n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00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latin typeface="Consolas" panose="020B0609020204030204" pitchFamily="49" charset="0"/>
                        </a:rPr>
                        <a:t>*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latin typeface="Consolas" panose="020B0609020204030204" pitchFamily="49" charset="0"/>
                        </a:rPr>
                        <a:t>\n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11571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打印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图形 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Level 3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477055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66555" y="1232372"/>
            <a:ext cx="83183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输入一个整数</a:t>
            </a:r>
            <a:r>
              <a:rPr lang="en-US" altLang="zh-CN" dirty="0"/>
              <a:t>n</a:t>
            </a:r>
            <a:r>
              <a:rPr lang="zh-CN" altLang="en-US" dirty="0"/>
              <a:t>和一个大写字母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r>
              <a:rPr lang="zh-CN" altLang="en-US" dirty="0" smtClean="0"/>
              <a:t>输出</a:t>
            </a:r>
            <a:r>
              <a:rPr lang="zh-CN" altLang="en-US" dirty="0"/>
              <a:t>一个腰长为</a:t>
            </a:r>
            <a:r>
              <a:rPr lang="en-US" altLang="zh-CN" dirty="0"/>
              <a:t>n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字母</a:t>
            </a:r>
            <a:r>
              <a:rPr lang="zh-CN" altLang="en-US" dirty="0"/>
              <a:t>空心等腰三角形，字母按序依次递增，但保证不会超过</a:t>
            </a:r>
            <a:r>
              <a:rPr lang="en-US" altLang="zh-CN" dirty="0"/>
              <a:t>Z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66555" y="2124371"/>
            <a:ext cx="11079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样例输入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>
                <a:cs typeface="+mn-ea"/>
                <a:sym typeface="+mn-lt"/>
              </a:rPr>
              <a:t>4 B</a:t>
            </a:r>
            <a:endParaRPr lang="en-US" altLang="zh-CN" dirty="0" smtClean="0"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411747" y="2120786"/>
            <a:ext cx="110799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样例输出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 </a:t>
            </a:r>
            <a:r>
              <a:rPr lang="en-US" altLang="zh-CN" dirty="0" smtClean="0">
                <a:latin typeface="Consolas" panose="020B0609020204030204" pitchFamily="49" charset="0"/>
                <a:cs typeface="+mn-ea"/>
                <a:sym typeface="+mn-lt"/>
              </a:rPr>
              <a:t>  B  </a:t>
            </a:r>
          </a:p>
          <a:p>
            <a:r>
              <a:rPr lang="en-US" altLang="zh-CN" dirty="0" smtClean="0">
                <a:latin typeface="Consolas" panose="020B0609020204030204" pitchFamily="49" charset="0"/>
                <a:cs typeface="+mn-ea"/>
                <a:sym typeface="+mn-lt"/>
              </a:rPr>
              <a:t>  C </a:t>
            </a:r>
            <a:r>
              <a:rPr lang="en-US" altLang="zh-CN" dirty="0" smtClean="0">
                <a:latin typeface="Consolas" panose="020B0609020204030204" pitchFamily="49" charset="0"/>
                <a:cs typeface="+mn-ea"/>
                <a:sym typeface="+mn-lt"/>
              </a:rPr>
              <a:t>C</a:t>
            </a:r>
            <a:endParaRPr lang="en-US" altLang="zh-CN" dirty="0" smtClean="0">
              <a:latin typeface="Consolas" panose="020B0609020204030204" pitchFamily="49" charset="0"/>
              <a:cs typeface="+mn-ea"/>
              <a:sym typeface="+mn-lt"/>
            </a:endParaRPr>
          </a:p>
          <a:p>
            <a:r>
              <a:rPr lang="en-US" altLang="zh-CN" dirty="0" smtClean="0">
                <a:latin typeface="Consolas" panose="020B0609020204030204" pitchFamily="49" charset="0"/>
                <a:cs typeface="+mn-ea"/>
                <a:sym typeface="+mn-lt"/>
              </a:rPr>
              <a:t> D   </a:t>
            </a:r>
            <a:r>
              <a:rPr lang="en-US" altLang="zh-CN" dirty="0" smtClean="0">
                <a:latin typeface="Consolas" panose="020B0609020204030204" pitchFamily="49" charset="0"/>
                <a:cs typeface="+mn-ea"/>
                <a:sym typeface="+mn-lt"/>
              </a:rPr>
              <a:t>D</a:t>
            </a:r>
            <a:endParaRPr lang="en-US" altLang="zh-CN" dirty="0" smtClean="0">
              <a:latin typeface="Consolas" panose="020B0609020204030204" pitchFamily="49" charset="0"/>
              <a:cs typeface="+mn-ea"/>
              <a:sym typeface="+mn-lt"/>
            </a:endParaRPr>
          </a:p>
          <a:p>
            <a:r>
              <a:rPr lang="en-US" altLang="zh-CN" dirty="0" smtClean="0">
                <a:latin typeface="Consolas" panose="020B0609020204030204" pitchFamily="49" charset="0"/>
                <a:cs typeface="+mn-ea"/>
                <a:sym typeface="+mn-lt"/>
              </a:rPr>
              <a:t>EDCBCDE</a:t>
            </a:r>
          </a:p>
        </p:txBody>
      </p:sp>
    </p:spTree>
    <p:extLst>
      <p:ext uri="{BB962C8B-B14F-4D97-AF65-F5344CB8AC3E}">
        <p14:creationId xmlns:p14="http://schemas.microsoft.com/office/powerpoint/2010/main" val="4741841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打印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图形 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Level 3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418549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386461"/>
              </p:ext>
            </p:extLst>
          </p:nvPr>
        </p:nvGraphicFramePr>
        <p:xfrm>
          <a:off x="469824" y="794490"/>
          <a:ext cx="4468316" cy="43204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468316"/>
              </a:tblGrid>
              <a:tr h="432048">
                <a:tc>
                  <a:txBody>
                    <a:bodyPr/>
                    <a:lstStyle/>
                    <a:p>
                      <a:pPr algn="l"/>
                      <a:r>
                        <a:rPr lang="en-US" altLang="zh-CN" smtClean="0">
                          <a:latin typeface="Consolas" panose="020B0609020204030204" pitchFamily="49" charset="0"/>
                        </a:rPr>
                        <a:t>n </a:t>
                      </a:r>
                      <a:r>
                        <a:rPr lang="en-US" altLang="zh-CN" baseline="0" smtClean="0">
                          <a:latin typeface="Consolas" panose="020B0609020204030204" pitchFamily="49" charset="0"/>
                        </a:rPr>
                        <a:t>= </a:t>
                      </a:r>
                      <a:r>
                        <a:rPr lang="en-US" altLang="zh-CN" b="1" baseline="0" smtClean="0">
                          <a:latin typeface="Consolas" panose="020B0609020204030204" pitchFamily="49" charset="0"/>
                        </a:rPr>
                        <a:t>4</a:t>
                      </a:r>
                      <a:r>
                        <a:rPr lang="en-US" altLang="zh-CN" baseline="0" smtClean="0">
                          <a:latin typeface="Consolas" panose="020B0609020204030204" pitchFamily="49" charset="0"/>
                        </a:rPr>
                        <a:t>  c = </a:t>
                      </a:r>
                      <a:r>
                        <a:rPr lang="en-US" altLang="zh-CN" b="1" baseline="0" smtClean="0">
                          <a:latin typeface="Consolas" panose="020B0609020204030204" pitchFamily="49" charset="0"/>
                        </a:rPr>
                        <a:t>B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0348225"/>
              </p:ext>
            </p:extLst>
          </p:nvPr>
        </p:nvGraphicFramePr>
        <p:xfrm>
          <a:off x="5337085" y="1280106"/>
          <a:ext cx="1413470" cy="21602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41252"/>
                <a:gridCol w="972218"/>
              </a:tblGrid>
              <a:tr h="432048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latin typeface="Consolas" panose="020B0609020204030204" pitchFamily="49" charset="0"/>
                        </a:rPr>
                        <a:t>Letter</a:t>
                      </a:r>
                      <a:endParaRPr lang="zh-CN" altLang="en-US" sz="18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204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kern="12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kern="12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latin typeface="Consolas" panose="020B0609020204030204" pitchFamily="49" charset="0"/>
                        </a:rPr>
                        <a:t>B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204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kern="12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kern="12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latin typeface="Consolas" panose="020B0609020204030204" pitchFamily="49" charset="0"/>
                        </a:rPr>
                        <a:t>C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204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kern="12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kern="12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latin typeface="Consolas" panose="020B0609020204030204" pitchFamily="49" charset="0"/>
                        </a:rPr>
                        <a:t>D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204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kern="12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4</a:t>
                      </a:r>
                      <a:endParaRPr lang="zh-CN" altLang="en-US" sz="1600" kern="12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latin typeface="Consolas" panose="020B0609020204030204" pitchFamily="49" charset="0"/>
                        </a:rPr>
                        <a:t>E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495331"/>
              </p:ext>
            </p:extLst>
          </p:nvPr>
        </p:nvGraphicFramePr>
        <p:xfrm>
          <a:off x="476520" y="3651870"/>
          <a:ext cx="2454784" cy="129614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41252"/>
                <a:gridCol w="503383"/>
                <a:gridCol w="503383"/>
                <a:gridCol w="503383"/>
                <a:gridCol w="503383"/>
              </a:tblGrid>
              <a:tr h="432048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kern="12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kern="12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kern="12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kern="12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kern="12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kern="12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kern="12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4</a:t>
                      </a:r>
                      <a:endParaRPr lang="zh-CN" altLang="en-US" sz="1600" kern="12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E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D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Consolas" panose="020B0609020204030204" pitchFamily="49" charset="0"/>
                        </a:rPr>
                        <a:t>c+3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Consolas" panose="020B0609020204030204" pitchFamily="49" charset="0"/>
                        </a:rPr>
                        <a:t>c+2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Consolas" panose="020B0609020204030204" pitchFamily="49" charset="0"/>
                        </a:rPr>
                        <a:t>c+1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Consolas" panose="020B0609020204030204" pitchFamily="49" charset="0"/>
                        </a:rPr>
                        <a:t>c+0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679419"/>
              </p:ext>
            </p:extLst>
          </p:nvPr>
        </p:nvGraphicFramePr>
        <p:xfrm>
          <a:off x="469824" y="1280106"/>
          <a:ext cx="4468316" cy="21602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41252"/>
                <a:gridCol w="503383"/>
                <a:gridCol w="503383"/>
                <a:gridCol w="503383"/>
                <a:gridCol w="503383"/>
                <a:gridCol w="503383"/>
                <a:gridCol w="503383"/>
                <a:gridCol w="503383"/>
                <a:gridCol w="503383"/>
              </a:tblGrid>
              <a:tr h="432048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latin typeface="Consolas" panose="020B0609020204030204" pitchFamily="49" charset="0"/>
                        </a:rPr>
                        <a:t>B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latin typeface="Consolas" panose="020B0609020204030204" pitchFamily="49" charset="0"/>
                        </a:rPr>
                        <a:t>\n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latin typeface="Consolas" panose="020B0609020204030204" pitchFamily="49" charset="0"/>
                        </a:rPr>
                        <a:t>C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latin typeface="Consolas" panose="020B0609020204030204" pitchFamily="49" charset="0"/>
                        </a:rPr>
                        <a:t>C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latin typeface="Consolas" panose="020B0609020204030204" pitchFamily="49" charset="0"/>
                        </a:rPr>
                        <a:t>\n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latin typeface="Consolas" panose="020B0609020204030204" pitchFamily="49" charset="0"/>
                        </a:rPr>
                        <a:t>D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latin typeface="Consolas" panose="020B0609020204030204" pitchFamily="49" charset="0"/>
                        </a:rPr>
                        <a:t>D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latin typeface="Consolas" panose="020B0609020204030204" pitchFamily="49" charset="0"/>
                        </a:rPr>
                        <a:t>\n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latin typeface="Consolas" panose="020B0609020204030204" pitchFamily="49" charset="0"/>
                        </a:rPr>
                        <a:t>E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latin typeface="Consolas" panose="020B0609020204030204" pitchFamily="49" charset="0"/>
                        </a:rPr>
                        <a:t>D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latin typeface="Consolas" panose="020B0609020204030204" pitchFamily="49" charset="0"/>
                        </a:rPr>
                        <a:t>C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latin typeface="Consolas" panose="020B0609020204030204" pitchFamily="49" charset="0"/>
                        </a:rPr>
                        <a:t>B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latin typeface="Consolas" panose="020B0609020204030204" pitchFamily="49" charset="0"/>
                        </a:rPr>
                        <a:t>C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latin typeface="Consolas" panose="020B0609020204030204" pitchFamily="49" charset="0"/>
                        </a:rPr>
                        <a:t>D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latin typeface="Consolas" panose="020B0609020204030204" pitchFamily="49" charset="0"/>
                        </a:rPr>
                        <a:t>E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latin typeface="Consolas" panose="020B0609020204030204" pitchFamily="49" charset="0"/>
                        </a:rPr>
                        <a:t>\n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391751"/>
              </p:ext>
            </p:extLst>
          </p:nvPr>
        </p:nvGraphicFramePr>
        <p:xfrm>
          <a:off x="6823900" y="3440346"/>
          <a:ext cx="1340125" cy="43204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40125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c</a:t>
                      </a:r>
                      <a:r>
                        <a:rPr lang="en-US" altLang="zh-CN" b="1" baseline="0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 + i - 1</a:t>
                      </a:r>
                      <a:endParaRPr lang="zh-CN" altLang="en-US" b="1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3787316"/>
              </p:ext>
            </p:extLst>
          </p:nvPr>
        </p:nvGraphicFramePr>
        <p:xfrm>
          <a:off x="2931304" y="3651870"/>
          <a:ext cx="1006766" cy="43204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06766"/>
              </a:tblGrid>
              <a:tr h="43204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b="1" kern="12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j</a:t>
                      </a:r>
                      <a:endParaRPr lang="zh-CN" altLang="en-US" sz="1600" b="1" kern="12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522265"/>
              </p:ext>
            </p:extLst>
          </p:nvPr>
        </p:nvGraphicFramePr>
        <p:xfrm>
          <a:off x="6750555" y="1280106"/>
          <a:ext cx="1340125" cy="21602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40125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latin typeface="Consolas" panose="020B0609020204030204" pitchFamily="49" charset="0"/>
                        </a:rPr>
                        <a:t>ASCII</a:t>
                      </a:r>
                      <a:endParaRPr lang="zh-CN" altLang="en-US" sz="18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 smtClean="0">
                          <a:latin typeface="Consolas" panose="020B0609020204030204" pitchFamily="49" charset="0"/>
                        </a:rPr>
                        <a:t>c</a:t>
                      </a:r>
                      <a:r>
                        <a:rPr lang="en-US" altLang="zh-CN" b="0" baseline="0" dirty="0" smtClean="0">
                          <a:latin typeface="Consolas" panose="020B0609020204030204" pitchFamily="49" charset="0"/>
                        </a:rPr>
                        <a:t> + 0</a:t>
                      </a:r>
                      <a:endParaRPr lang="zh-CN" altLang="en-US" b="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 smtClean="0">
                          <a:latin typeface="Consolas" panose="020B0609020204030204" pitchFamily="49" charset="0"/>
                        </a:rPr>
                        <a:t>c </a:t>
                      </a:r>
                      <a:r>
                        <a:rPr lang="en-US" altLang="zh-CN" b="0" baseline="0" dirty="0" smtClean="0">
                          <a:latin typeface="Consolas" panose="020B0609020204030204" pitchFamily="49" charset="0"/>
                        </a:rPr>
                        <a:t>+ 1</a:t>
                      </a:r>
                      <a:endParaRPr lang="zh-CN" altLang="en-US" b="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 smtClean="0">
                          <a:latin typeface="Consolas" panose="020B0609020204030204" pitchFamily="49" charset="0"/>
                        </a:rPr>
                        <a:t>c</a:t>
                      </a:r>
                      <a:r>
                        <a:rPr lang="en-US" altLang="zh-CN" b="0" baseline="0" dirty="0" smtClean="0">
                          <a:latin typeface="Consolas" panose="020B0609020204030204" pitchFamily="49" charset="0"/>
                        </a:rPr>
                        <a:t> + 2</a:t>
                      </a:r>
                      <a:endParaRPr lang="zh-CN" altLang="en-US" b="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 smtClean="0">
                          <a:latin typeface="Consolas" panose="020B0609020204030204" pitchFamily="49" charset="0"/>
                        </a:rPr>
                        <a:t>c + 3</a:t>
                      </a:r>
                      <a:endParaRPr lang="zh-CN" altLang="en-US" b="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977383"/>
              </p:ext>
            </p:extLst>
          </p:nvPr>
        </p:nvGraphicFramePr>
        <p:xfrm>
          <a:off x="5337085" y="3440346"/>
          <a:ext cx="1413470" cy="43204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41252"/>
                <a:gridCol w="972218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endParaRPr lang="zh-CN" altLang="en-US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 dirty="0" smtClean="0">
                          <a:latin typeface="Consolas" panose="020B0609020204030204" pitchFamily="49" charset="0"/>
                        </a:rPr>
                        <a:t> </a:t>
                      </a:r>
                      <a:endParaRPr lang="zh-CN" altLang="en-US" b="1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2018144"/>
              </p:ext>
            </p:extLst>
          </p:nvPr>
        </p:nvGraphicFramePr>
        <p:xfrm>
          <a:off x="2931304" y="4083918"/>
          <a:ext cx="1006766" cy="8640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06766"/>
              </a:tblGrid>
              <a:tr h="432048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c+n-j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86639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打印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图形 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Level 4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477055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66555" y="1232372"/>
            <a:ext cx="83183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输入一个整数</a:t>
            </a:r>
            <a:r>
              <a:rPr lang="en-US" altLang="zh-CN" dirty="0"/>
              <a:t>n</a:t>
            </a:r>
            <a:r>
              <a:rPr lang="zh-CN" altLang="en-US" dirty="0"/>
              <a:t>和一个大写字母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r>
              <a:rPr lang="zh-CN" altLang="en-US" dirty="0" smtClean="0"/>
              <a:t>输出</a:t>
            </a:r>
            <a:r>
              <a:rPr lang="zh-CN" altLang="en-US" dirty="0"/>
              <a:t>一个腰长为</a:t>
            </a:r>
            <a:r>
              <a:rPr lang="en-US" altLang="zh-CN" dirty="0"/>
              <a:t>n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字母</a:t>
            </a:r>
            <a:r>
              <a:rPr lang="zh-CN" altLang="en-US" dirty="0"/>
              <a:t>空心等腰三角形，字母按序依次递增，但保证不会超过</a:t>
            </a:r>
            <a:r>
              <a:rPr lang="en-US" altLang="zh-CN" dirty="0"/>
              <a:t>Z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66555" y="2124371"/>
            <a:ext cx="11079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样例输入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>
                <a:cs typeface="+mn-ea"/>
                <a:sym typeface="+mn-lt"/>
              </a:rPr>
              <a:t>4 B</a:t>
            </a:r>
            <a:endParaRPr lang="en-US" altLang="zh-CN" dirty="0" smtClean="0"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411747" y="2120786"/>
            <a:ext cx="110799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样例输出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 </a:t>
            </a:r>
            <a:r>
              <a:rPr lang="en-US" altLang="zh-CN" dirty="0" smtClean="0">
                <a:latin typeface="Consolas" panose="020B0609020204030204" pitchFamily="49" charset="0"/>
                <a:cs typeface="+mn-ea"/>
                <a:sym typeface="+mn-lt"/>
              </a:rPr>
              <a:t>  E  </a:t>
            </a:r>
          </a:p>
          <a:p>
            <a:r>
              <a:rPr lang="en-US" altLang="zh-CN" dirty="0" smtClean="0">
                <a:latin typeface="Consolas" panose="020B0609020204030204" pitchFamily="49" charset="0"/>
                <a:cs typeface="+mn-ea"/>
                <a:sym typeface="+mn-lt"/>
              </a:rPr>
              <a:t>  D F</a:t>
            </a:r>
          </a:p>
          <a:p>
            <a:r>
              <a:rPr lang="en-US" altLang="zh-CN" dirty="0" smtClean="0">
                <a:latin typeface="Consolas" panose="020B0609020204030204" pitchFamily="49" charset="0"/>
                <a:cs typeface="+mn-ea"/>
                <a:sym typeface="+mn-lt"/>
              </a:rPr>
              <a:t> C   G</a:t>
            </a:r>
          </a:p>
          <a:p>
            <a:r>
              <a:rPr lang="en-US" altLang="zh-CN" dirty="0" smtClean="0">
                <a:latin typeface="Consolas" panose="020B0609020204030204" pitchFamily="49" charset="0"/>
                <a:cs typeface="+mn-ea"/>
                <a:sym typeface="+mn-lt"/>
              </a:rPr>
              <a:t>BCDEFGH</a:t>
            </a:r>
          </a:p>
        </p:txBody>
      </p:sp>
    </p:spTree>
    <p:extLst>
      <p:ext uri="{BB962C8B-B14F-4D97-AF65-F5344CB8AC3E}">
        <p14:creationId xmlns:p14="http://schemas.microsoft.com/office/powerpoint/2010/main" val="7131941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打印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图形 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Level 4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418549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261670"/>
              </p:ext>
            </p:extLst>
          </p:nvPr>
        </p:nvGraphicFramePr>
        <p:xfrm>
          <a:off x="476520" y="830494"/>
          <a:ext cx="3837822" cy="335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837822"/>
              </a:tblGrid>
              <a:tr h="321637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 smtClean="0">
                          <a:latin typeface="Consolas" panose="020B0609020204030204" pitchFamily="49" charset="0"/>
                        </a:rPr>
                        <a:t>n </a:t>
                      </a:r>
                      <a:r>
                        <a:rPr lang="en-US" altLang="zh-CN" sz="1600" baseline="0" dirty="0" smtClean="0">
                          <a:latin typeface="Consolas" panose="020B0609020204030204" pitchFamily="49" charset="0"/>
                        </a:rPr>
                        <a:t>= </a:t>
                      </a:r>
                      <a:r>
                        <a:rPr lang="en-US" altLang="zh-CN" sz="1600" b="1" baseline="0" dirty="0" smtClean="0">
                          <a:latin typeface="Consolas" panose="020B0609020204030204" pitchFamily="49" charset="0"/>
                        </a:rPr>
                        <a:t>4</a:t>
                      </a:r>
                      <a:r>
                        <a:rPr lang="en-US" altLang="zh-CN" sz="1600" baseline="0" dirty="0" smtClean="0">
                          <a:latin typeface="Consolas" panose="020B0609020204030204" pitchFamily="49" charset="0"/>
                        </a:rPr>
                        <a:t>  c = </a:t>
                      </a:r>
                      <a:r>
                        <a:rPr lang="en-US" altLang="zh-CN" sz="1600" b="1" baseline="0" dirty="0" smtClean="0">
                          <a:latin typeface="Consolas" panose="020B0609020204030204" pitchFamily="49" charset="0"/>
                        </a:rPr>
                        <a:t>B</a:t>
                      </a:r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068350"/>
              </p:ext>
            </p:extLst>
          </p:nvPr>
        </p:nvGraphicFramePr>
        <p:xfrm>
          <a:off x="6642230" y="1564030"/>
          <a:ext cx="741009" cy="222285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41009"/>
              </a:tblGrid>
              <a:tr h="4445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Consolas" panose="020B0609020204030204" pitchFamily="49" charset="0"/>
                        </a:rPr>
                        <a:t>E</a:t>
                      </a:r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445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Consolas" panose="020B0609020204030204" pitchFamily="49" charset="0"/>
                        </a:rPr>
                        <a:t>F</a:t>
                      </a:r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445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Consolas" panose="020B0609020204030204" pitchFamily="49" charset="0"/>
                        </a:rPr>
                        <a:t>G</a:t>
                      </a:r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445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Consolas" panose="020B0609020204030204" pitchFamily="49" charset="0"/>
                        </a:rPr>
                        <a:t>H</a:t>
                      </a:r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44571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755859"/>
              </p:ext>
            </p:extLst>
          </p:nvPr>
        </p:nvGraphicFramePr>
        <p:xfrm>
          <a:off x="145206" y="3638747"/>
          <a:ext cx="2672626" cy="124215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80410"/>
                <a:gridCol w="548054"/>
                <a:gridCol w="548054"/>
                <a:gridCol w="548054"/>
                <a:gridCol w="548054"/>
              </a:tblGrid>
              <a:tr h="335280"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4</a:t>
                      </a:r>
                      <a:endParaRPr lang="zh-CN" altLang="en-US" sz="1400" kern="12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21637"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D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E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71592"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Consolas" panose="020B0609020204030204" pitchFamily="49" charset="0"/>
                        </a:rPr>
                        <a:t>c+0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Consolas" panose="020B0609020204030204" pitchFamily="49" charset="0"/>
                        </a:rPr>
                        <a:t>c+1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Consolas" panose="020B0609020204030204" pitchFamily="49" charset="0"/>
                        </a:rPr>
                        <a:t>c+2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Consolas" panose="020B0609020204030204" pitchFamily="49" charset="0"/>
                        </a:rPr>
                        <a:t>c+3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133964"/>
              </p:ext>
            </p:extLst>
          </p:nvPr>
        </p:nvGraphicFramePr>
        <p:xfrm>
          <a:off x="265648" y="1323751"/>
          <a:ext cx="3837822" cy="211356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78990"/>
                <a:gridCol w="432354"/>
                <a:gridCol w="432354"/>
                <a:gridCol w="432354"/>
                <a:gridCol w="432354"/>
                <a:gridCol w="432354"/>
                <a:gridCol w="432354"/>
                <a:gridCol w="432354"/>
                <a:gridCol w="432354"/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sz="14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zh-CN" altLang="en-US" sz="14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zh-CN" altLang="en-US" sz="14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endParaRPr lang="zh-CN" altLang="en-US" sz="14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  <a:endParaRPr lang="zh-CN" altLang="en-US" sz="14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  <a:endParaRPr lang="zh-CN" altLang="en-US" sz="14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  <a:endParaRPr lang="zh-CN" altLang="en-US" sz="14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  <a:endParaRPr lang="zh-CN" altLang="en-US" sz="14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445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sz="14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Consolas" panose="020B0609020204030204" pitchFamily="49" charset="0"/>
                        </a:rPr>
                        <a:t>E</a:t>
                      </a:r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Consolas" panose="020B0609020204030204" pitchFamily="49" charset="0"/>
                        </a:rPr>
                        <a:t>\n</a:t>
                      </a:r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445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zh-CN" altLang="en-US" sz="14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Consolas" panose="020B0609020204030204" pitchFamily="49" charset="0"/>
                        </a:rPr>
                        <a:t>D</a:t>
                      </a:r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Consolas" panose="020B0609020204030204" pitchFamily="49" charset="0"/>
                        </a:rPr>
                        <a:t>F</a:t>
                      </a:r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Consolas" panose="020B0609020204030204" pitchFamily="49" charset="0"/>
                        </a:rPr>
                        <a:t>\n</a:t>
                      </a:r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445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zh-CN" altLang="en-US" sz="14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Consolas" panose="020B0609020204030204" pitchFamily="49" charset="0"/>
                        </a:rPr>
                        <a:t>C</a:t>
                      </a:r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Consolas" panose="020B0609020204030204" pitchFamily="49" charset="0"/>
                        </a:rPr>
                        <a:t>G</a:t>
                      </a:r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Consolas" panose="020B0609020204030204" pitchFamily="49" charset="0"/>
                        </a:rPr>
                        <a:t>\n</a:t>
                      </a:r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445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endParaRPr lang="zh-CN" altLang="en-US" sz="14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Consolas" panose="020B0609020204030204" pitchFamily="49" charset="0"/>
                        </a:rPr>
                        <a:t>B</a:t>
                      </a:r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Consolas" panose="020B0609020204030204" pitchFamily="49" charset="0"/>
                        </a:rPr>
                        <a:t>C</a:t>
                      </a:r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Consolas" panose="020B0609020204030204" pitchFamily="49" charset="0"/>
                        </a:rPr>
                        <a:t>D</a:t>
                      </a:r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Consolas" panose="020B0609020204030204" pitchFamily="49" charset="0"/>
                        </a:rPr>
                        <a:t>E</a:t>
                      </a:r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Consolas" panose="020B0609020204030204" pitchFamily="49" charset="0"/>
                        </a:rPr>
                        <a:t>F</a:t>
                      </a:r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Consolas" panose="020B0609020204030204" pitchFamily="49" charset="0"/>
                        </a:rPr>
                        <a:t>G</a:t>
                      </a:r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Consolas" panose="020B0609020204030204" pitchFamily="49" charset="0"/>
                        </a:rPr>
                        <a:t>H</a:t>
                      </a:r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Consolas" panose="020B0609020204030204" pitchFamily="49" charset="0"/>
                        </a:rPr>
                        <a:t>\n</a:t>
                      </a:r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785485"/>
              </p:ext>
            </p:extLst>
          </p:nvPr>
        </p:nvGraphicFramePr>
        <p:xfrm>
          <a:off x="2568214" y="3638747"/>
          <a:ext cx="1377823" cy="335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77823"/>
              </a:tblGrid>
              <a:tr h="33528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j</a:t>
                      </a:r>
                      <a:endParaRPr lang="zh-CN" altLang="en-US" sz="1400" b="1" kern="12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631712"/>
              </p:ext>
            </p:extLst>
          </p:nvPr>
        </p:nvGraphicFramePr>
        <p:xfrm>
          <a:off x="4498652" y="3341871"/>
          <a:ext cx="1021614" cy="44457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10807"/>
                <a:gridCol w="510807"/>
              </a:tblGrid>
              <a:tr h="4445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baseline="0" dirty="0" smtClean="0">
                          <a:latin typeface="Consolas" panose="020B0609020204030204" pitchFamily="49" charset="0"/>
                        </a:rPr>
                        <a:t> 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860554"/>
              </p:ext>
            </p:extLst>
          </p:nvPr>
        </p:nvGraphicFramePr>
        <p:xfrm>
          <a:off x="5379942" y="3347149"/>
          <a:ext cx="1428093" cy="44457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28093"/>
              </a:tblGrid>
              <a:tr h="4445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c</a:t>
                      </a:r>
                      <a:r>
                        <a:rPr lang="en-US" altLang="zh-CN" sz="1600" b="1" baseline="0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+i-1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916616"/>
              </p:ext>
            </p:extLst>
          </p:nvPr>
        </p:nvGraphicFramePr>
        <p:xfrm>
          <a:off x="7414330" y="3352924"/>
          <a:ext cx="1084551" cy="44457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84551"/>
              </a:tblGrid>
              <a:tr h="4445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c+n-2+i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487761"/>
              </p:ext>
            </p:extLst>
          </p:nvPr>
        </p:nvGraphicFramePr>
        <p:xfrm>
          <a:off x="4498654" y="1570582"/>
          <a:ext cx="998588" cy="177828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99294"/>
                <a:gridCol w="499294"/>
              </a:tblGrid>
              <a:tr h="44457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Consolas" panose="020B0609020204030204" pitchFamily="49" charset="0"/>
                        </a:rPr>
                        <a:t>E</a:t>
                      </a:r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4457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Consolas" panose="020B0609020204030204" pitchFamily="49" charset="0"/>
                        </a:rPr>
                        <a:t>D</a:t>
                      </a:r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4457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Consolas" panose="020B0609020204030204" pitchFamily="49" charset="0"/>
                        </a:rPr>
                        <a:t>C</a:t>
                      </a:r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4457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4</a:t>
                      </a:r>
                      <a:endParaRPr lang="zh-CN" altLang="en-US" sz="1400" kern="12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Consolas" panose="020B0609020204030204" pitchFamily="49" charset="0"/>
                        </a:rPr>
                        <a:t>B</a:t>
                      </a:r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541421"/>
              </p:ext>
            </p:extLst>
          </p:nvPr>
        </p:nvGraphicFramePr>
        <p:xfrm>
          <a:off x="5381371" y="1575860"/>
          <a:ext cx="1428093" cy="177828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28093"/>
              </a:tblGrid>
              <a:tr h="4445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latin typeface="Consolas" panose="020B0609020204030204" pitchFamily="49" charset="0"/>
                        </a:rPr>
                        <a:t>c</a:t>
                      </a:r>
                      <a:r>
                        <a:rPr lang="en-US" altLang="zh-CN" sz="1600" b="0" baseline="0" dirty="0" smtClean="0">
                          <a:latin typeface="Consolas" panose="020B0609020204030204" pitchFamily="49" charset="0"/>
                        </a:rPr>
                        <a:t> + 3</a:t>
                      </a:r>
                      <a:endParaRPr lang="zh-CN" altLang="en-US" sz="1600" b="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445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latin typeface="Consolas" panose="020B0609020204030204" pitchFamily="49" charset="0"/>
                        </a:rPr>
                        <a:t>c </a:t>
                      </a:r>
                      <a:r>
                        <a:rPr lang="en-US" altLang="zh-CN" sz="1600" b="0" baseline="0" dirty="0" smtClean="0">
                          <a:latin typeface="Consolas" panose="020B0609020204030204" pitchFamily="49" charset="0"/>
                        </a:rPr>
                        <a:t>+ 2</a:t>
                      </a:r>
                      <a:endParaRPr lang="zh-CN" altLang="en-US" sz="1600" b="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445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latin typeface="Consolas" panose="020B0609020204030204" pitchFamily="49" charset="0"/>
                        </a:rPr>
                        <a:t>c</a:t>
                      </a:r>
                      <a:r>
                        <a:rPr lang="en-US" altLang="zh-CN" sz="1600" b="0" baseline="0" dirty="0" smtClean="0">
                          <a:latin typeface="Consolas" panose="020B0609020204030204" pitchFamily="49" charset="0"/>
                        </a:rPr>
                        <a:t> + 1</a:t>
                      </a:r>
                      <a:endParaRPr lang="zh-CN" altLang="en-US" sz="1600" b="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445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latin typeface="Consolas" panose="020B0609020204030204" pitchFamily="49" charset="0"/>
                        </a:rPr>
                        <a:t>c + 0</a:t>
                      </a:r>
                      <a:endParaRPr lang="zh-CN" altLang="en-US" sz="1600" b="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044632"/>
              </p:ext>
            </p:extLst>
          </p:nvPr>
        </p:nvGraphicFramePr>
        <p:xfrm>
          <a:off x="7383239" y="1575860"/>
          <a:ext cx="1084551" cy="177828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84551"/>
              </a:tblGrid>
              <a:tr h="4445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latin typeface="Consolas" panose="020B0609020204030204" pitchFamily="49" charset="0"/>
                        </a:rPr>
                        <a:t>c+2+1</a:t>
                      </a:r>
                      <a:endParaRPr lang="zh-CN" altLang="en-US" sz="1600" b="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445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latin typeface="Consolas" panose="020B0609020204030204" pitchFamily="49" charset="0"/>
                        </a:rPr>
                        <a:t>c+2+2</a:t>
                      </a:r>
                      <a:endParaRPr lang="zh-CN" altLang="en-US" sz="1600" b="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445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latin typeface="Consolas" panose="020B0609020204030204" pitchFamily="49" charset="0"/>
                        </a:rPr>
                        <a:t>c+2+3</a:t>
                      </a:r>
                      <a:endParaRPr lang="zh-CN" altLang="en-US" sz="1600" b="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445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latin typeface="Consolas" panose="020B0609020204030204" pitchFamily="49" charset="0"/>
                        </a:rPr>
                        <a:t>c+2+4</a:t>
                      </a:r>
                      <a:endParaRPr lang="zh-CN" altLang="en-US" sz="1600" b="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408939"/>
              </p:ext>
            </p:extLst>
          </p:nvPr>
        </p:nvGraphicFramePr>
        <p:xfrm>
          <a:off x="2568214" y="3974027"/>
          <a:ext cx="1377823" cy="90687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77823"/>
              </a:tblGrid>
              <a:tr h="321637"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715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c+j-1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81953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打印图形 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Level 2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513059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r="6648"/>
          <a:stretch/>
        </p:blipFill>
        <p:spPr>
          <a:xfrm>
            <a:off x="287998" y="1041580"/>
            <a:ext cx="4050475" cy="378348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6865" y="486642"/>
            <a:ext cx="5517251" cy="239417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3977392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打印图形 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Level 3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477055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30" y="1446625"/>
            <a:ext cx="4418005" cy="303706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1910" y="951570"/>
            <a:ext cx="5091261" cy="25971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317886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打印图形 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Level 4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499558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35" y="1536635"/>
            <a:ext cx="4766465" cy="32442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830" y="1164403"/>
            <a:ext cx="5714934" cy="24338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438086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打印图形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499558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53747" y="1633032"/>
            <a:ext cx="2236510" cy="18774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dirty="0" smtClean="0">
                <a:cs typeface="+mn-ea"/>
                <a:sym typeface="+mn-lt"/>
              </a:rPr>
              <a:t>数列通项</a:t>
            </a:r>
            <a:endParaRPr lang="en-US" altLang="zh-CN" sz="4000" dirty="0" smtClean="0">
              <a:cs typeface="+mn-ea"/>
              <a:sym typeface="+mn-lt"/>
            </a:endParaRPr>
          </a:p>
          <a:p>
            <a:pPr algn="ctr"/>
            <a:endParaRPr lang="en-US" altLang="zh-CN" sz="3600" dirty="0" smtClean="0">
              <a:cs typeface="+mn-ea"/>
              <a:sym typeface="+mn-lt"/>
            </a:endParaRPr>
          </a:p>
          <a:p>
            <a:pPr algn="ctr"/>
            <a:r>
              <a:rPr lang="zh-CN" altLang="en-US" sz="4000" dirty="0">
                <a:cs typeface="+mn-ea"/>
                <a:sym typeface="+mn-lt"/>
              </a:rPr>
              <a:t>找规律</a:t>
            </a:r>
          </a:p>
        </p:txBody>
      </p:sp>
    </p:spTree>
    <p:extLst>
      <p:ext uri="{BB962C8B-B14F-4D97-AF65-F5344CB8AC3E}">
        <p14:creationId xmlns:p14="http://schemas.microsoft.com/office/powerpoint/2010/main" val="2353015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A9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" y="2166704"/>
            <a:ext cx="9144000" cy="45005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495" y="-1433695"/>
            <a:ext cx="4095993" cy="8094524"/>
          </a:xfrm>
          <a:prstGeom prst="rect">
            <a:avLst/>
          </a:prstGeom>
          <a:noFill/>
          <a:effectLst>
            <a:outerShdw blurRad="165100" dist="76200" dir="1200000" algn="tl" rotWithShape="0">
              <a:prstClr val="black">
                <a:alpha val="1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52000" dirty="0">
                <a:solidFill>
                  <a:schemeClr val="bg1"/>
                </a:solidFill>
                <a:cs typeface="+mn-ea"/>
                <a:sym typeface="+mn-lt"/>
              </a:rPr>
              <a:t>2</a:t>
            </a:r>
            <a:endParaRPr lang="zh-CN" altLang="en-US" sz="52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79089" y="2155090"/>
            <a:ext cx="51783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递归</a:t>
            </a:r>
          </a:p>
        </p:txBody>
      </p:sp>
      <p:sp>
        <p:nvSpPr>
          <p:cNvPr id="3" name="矩形 2"/>
          <p:cNvSpPr/>
          <p:nvPr/>
        </p:nvSpPr>
        <p:spPr>
          <a:xfrm>
            <a:off x="5664952" y="1397264"/>
            <a:ext cx="309251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altLang="zh-CN" sz="4400" dirty="0">
                <a:solidFill>
                  <a:schemeClr val="bg1"/>
                </a:solidFill>
                <a:cs typeface="+mn-ea"/>
                <a:sym typeface="+mn-lt"/>
              </a:rPr>
              <a:t>PART TWO</a:t>
            </a:r>
            <a:endParaRPr lang="zh-CN" altLang="en-US" sz="4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407698" y="2796775"/>
            <a:ext cx="1350151" cy="854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数学规律</a:t>
            </a:r>
            <a:endParaRPr lang="en-US" altLang="zh-CN" sz="1100" dirty="0">
              <a:solidFill>
                <a:schemeClr val="bg1"/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给函数实际意义</a:t>
            </a:r>
            <a:endParaRPr lang="en-US" altLang="zh-CN" sz="1100" dirty="0">
              <a:solidFill>
                <a:schemeClr val="bg1"/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数列</a:t>
            </a:r>
          </a:p>
        </p:txBody>
      </p:sp>
    </p:spTree>
    <p:extLst>
      <p:ext uri="{BB962C8B-B14F-4D97-AF65-F5344CB8AC3E}">
        <p14:creationId xmlns:p14="http://schemas.microsoft.com/office/powerpoint/2010/main" val="42239669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递归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97265" y="1602254"/>
            <a:ext cx="274947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4000"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数列递推</a:t>
            </a:r>
            <a:r>
              <a:rPr lang="zh-CN" altLang="en-US" dirty="0" smtClean="0">
                <a:sym typeface="+mn-lt"/>
              </a:rPr>
              <a:t>式</a:t>
            </a:r>
            <a:endParaRPr lang="en-US" altLang="zh-CN" dirty="0" smtClean="0">
              <a:sym typeface="+mn-lt"/>
            </a:endParaRPr>
          </a:p>
          <a:p>
            <a:endParaRPr lang="en-US" altLang="zh-CN" dirty="0">
              <a:sym typeface="+mn-lt"/>
            </a:endParaRPr>
          </a:p>
          <a:p>
            <a:r>
              <a:rPr lang="zh-CN" altLang="en-US" dirty="0">
                <a:sym typeface="+mn-lt"/>
              </a:rPr>
              <a:t>分段函数</a:t>
            </a:r>
          </a:p>
        </p:txBody>
      </p:sp>
    </p:spTree>
    <p:extLst>
      <p:ext uri="{BB962C8B-B14F-4D97-AF65-F5344CB8AC3E}">
        <p14:creationId xmlns:p14="http://schemas.microsoft.com/office/powerpoint/2010/main" val="10054519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递归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4359" y="1145129"/>
            <a:ext cx="209544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4000">
                <a:cs typeface="+mn-ea"/>
              </a:defRPr>
            </a:lvl1pPr>
          </a:lstStyle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ym typeface="+mn-lt"/>
              </a:rPr>
              <a:t>数列通项</a:t>
            </a:r>
            <a:endParaRPr lang="en-US" altLang="zh-CN" sz="1800" dirty="0">
              <a:sym typeface="+mn-lt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ym typeface="+mn-lt"/>
              </a:rPr>
              <a:t>数列求和</a:t>
            </a:r>
            <a:endParaRPr lang="en-US" altLang="zh-CN" sz="1800" dirty="0">
              <a:sym typeface="+mn-lt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ym typeface="+mn-lt"/>
              </a:rPr>
              <a:t>阶乘</a:t>
            </a:r>
            <a:endParaRPr lang="en-US" altLang="zh-CN" sz="1800" dirty="0">
              <a:sym typeface="+mn-lt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ym typeface="+mn-lt"/>
              </a:rPr>
              <a:t>Fibonacci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ym typeface="+mn-lt"/>
              </a:rPr>
              <a:t>最大公约数</a:t>
            </a:r>
            <a:r>
              <a:rPr lang="en-US" altLang="zh-CN" sz="1800" dirty="0" smtClean="0">
                <a:sym typeface="+mn-lt"/>
              </a:rPr>
              <a:t>gcd</a:t>
            </a:r>
            <a:endParaRPr lang="en-US" altLang="zh-CN" sz="1800" dirty="0">
              <a:sym typeface="+mn-lt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ym typeface="+mn-lt"/>
              </a:rPr>
              <a:t>函数</a:t>
            </a:r>
            <a:r>
              <a:rPr lang="zh-CN" altLang="en-US" sz="1800" dirty="0" smtClean="0">
                <a:sym typeface="+mn-lt"/>
              </a:rPr>
              <a:t>表达式</a:t>
            </a:r>
            <a:r>
              <a:rPr lang="en-US" altLang="zh-CN" sz="1800" dirty="0" smtClean="0">
                <a:sym typeface="+mn-lt"/>
              </a:rPr>
              <a:t>…</a:t>
            </a:r>
            <a:endParaRPr lang="en-US" altLang="zh-CN" sz="1800" dirty="0"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6474260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递归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87367" y="996575"/>
            <a:ext cx="291778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cs typeface="+mn-ea"/>
                <a:sym typeface="+mn-lt"/>
              </a:rPr>
              <a:t>已知数列</a:t>
            </a:r>
            <a:r>
              <a:rPr lang="en-US" altLang="zh-CN" dirty="0" smtClean="0">
                <a:cs typeface="+mn-ea"/>
                <a:sym typeface="+mn-lt"/>
              </a:rPr>
              <a:t>a(n)</a:t>
            </a:r>
            <a:r>
              <a:rPr lang="zh-CN" altLang="en-US" dirty="0" smtClean="0">
                <a:cs typeface="+mn-ea"/>
                <a:sym typeface="+mn-lt"/>
              </a:rPr>
              <a:t>的递推公式为</a:t>
            </a:r>
            <a:endParaRPr lang="en-US" altLang="zh-CN" dirty="0">
              <a:cs typeface="+mn-ea"/>
              <a:sym typeface="+mn-lt"/>
            </a:endParaRPr>
          </a:p>
          <a:p>
            <a:r>
              <a:rPr lang="en-US" altLang="zh-CN" dirty="0" smtClean="0">
                <a:cs typeface="+mn-ea"/>
                <a:sym typeface="+mn-lt"/>
              </a:rPr>
              <a:t>a(n)=2*a(n-1)+3, a(1)=1</a:t>
            </a:r>
          </a:p>
          <a:p>
            <a:endParaRPr lang="en-US" altLang="zh-CN" dirty="0" smtClean="0">
              <a:cs typeface="+mn-ea"/>
              <a:sym typeface="+mn-lt"/>
            </a:endParaRPr>
          </a:p>
          <a:p>
            <a:r>
              <a:rPr lang="zh-CN" altLang="en-US" dirty="0" smtClean="0">
                <a:cs typeface="+mn-ea"/>
                <a:sym typeface="+mn-lt"/>
              </a:rPr>
              <a:t>输入一个整数</a:t>
            </a:r>
            <a:r>
              <a:rPr lang="en-US" altLang="zh-CN" dirty="0" smtClean="0">
                <a:cs typeface="+mn-ea"/>
                <a:sym typeface="+mn-lt"/>
              </a:rPr>
              <a:t>n</a:t>
            </a:r>
          </a:p>
          <a:p>
            <a:r>
              <a:rPr lang="zh-CN" altLang="en-US" dirty="0" smtClean="0">
                <a:cs typeface="+mn-ea"/>
                <a:sym typeface="+mn-lt"/>
              </a:rPr>
              <a:t>输出数列的第</a:t>
            </a:r>
            <a:r>
              <a:rPr lang="en-US" altLang="zh-CN" dirty="0" smtClean="0">
                <a:cs typeface="+mn-ea"/>
                <a:sym typeface="+mn-lt"/>
              </a:rPr>
              <a:t>n</a:t>
            </a:r>
            <a:r>
              <a:rPr lang="zh-CN" altLang="en-US" dirty="0" smtClean="0">
                <a:cs typeface="+mn-ea"/>
                <a:sym typeface="+mn-lt"/>
              </a:rPr>
              <a:t>项</a:t>
            </a:r>
            <a:r>
              <a:rPr lang="en-US" altLang="zh-CN" dirty="0" smtClean="0">
                <a:cs typeface="+mn-ea"/>
                <a:sym typeface="+mn-lt"/>
              </a:rPr>
              <a:t>a(n)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87367" y="3201820"/>
            <a:ext cx="28360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cs typeface="+mn-ea"/>
                <a:sym typeface="+mn-lt"/>
              </a:rPr>
              <a:t>a(n) = 2*a(n-1)+3   n&gt;1</a:t>
            </a:r>
          </a:p>
          <a:p>
            <a:r>
              <a:rPr lang="en-US" altLang="zh-CN" dirty="0" smtClean="0">
                <a:cs typeface="+mn-ea"/>
                <a:sym typeface="+mn-lt"/>
              </a:rPr>
              <a:t>          1                   n=1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156148"/>
            <a:ext cx="3331806" cy="26355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1255562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递归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63699" y="1105599"/>
            <a:ext cx="329609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cs typeface="+mn-ea"/>
                <a:sym typeface="+mn-lt"/>
              </a:rPr>
              <a:t>已知奇数列</a:t>
            </a:r>
            <a:r>
              <a:rPr lang="en-US" altLang="zh-CN" dirty="0" smtClean="0">
                <a:cs typeface="+mn-ea"/>
                <a:sym typeface="+mn-lt"/>
              </a:rPr>
              <a:t>a(n)=2n-1</a:t>
            </a:r>
          </a:p>
          <a:p>
            <a:r>
              <a:rPr lang="zh-CN" altLang="en-US" dirty="0" smtClean="0">
                <a:cs typeface="+mn-ea"/>
                <a:sym typeface="+mn-lt"/>
              </a:rPr>
              <a:t>要求用递归方法求前</a:t>
            </a:r>
            <a:r>
              <a:rPr lang="en-US" altLang="zh-CN" dirty="0" smtClean="0">
                <a:cs typeface="+mn-ea"/>
                <a:sym typeface="+mn-lt"/>
              </a:rPr>
              <a:t>n</a:t>
            </a:r>
            <a:r>
              <a:rPr lang="zh-CN" altLang="en-US" dirty="0" smtClean="0">
                <a:cs typeface="+mn-ea"/>
                <a:sym typeface="+mn-lt"/>
              </a:rPr>
              <a:t>项和</a:t>
            </a:r>
            <a:r>
              <a:rPr lang="en-US" altLang="zh-CN" dirty="0" smtClean="0">
                <a:cs typeface="+mn-ea"/>
                <a:sym typeface="+mn-lt"/>
              </a:rPr>
              <a:t>S(n)</a:t>
            </a:r>
          </a:p>
          <a:p>
            <a:endParaRPr lang="en-US" altLang="zh-CN" dirty="0" smtClean="0">
              <a:cs typeface="+mn-ea"/>
              <a:sym typeface="+mn-lt"/>
            </a:endParaRPr>
          </a:p>
          <a:p>
            <a:r>
              <a:rPr lang="zh-CN" altLang="en-US" dirty="0" smtClean="0">
                <a:cs typeface="+mn-ea"/>
                <a:sym typeface="+mn-lt"/>
              </a:rPr>
              <a:t>输入一个整数</a:t>
            </a:r>
            <a:r>
              <a:rPr lang="en-US" altLang="zh-CN" dirty="0" smtClean="0">
                <a:cs typeface="+mn-ea"/>
                <a:sym typeface="+mn-lt"/>
              </a:rPr>
              <a:t>n</a:t>
            </a:r>
          </a:p>
          <a:p>
            <a:r>
              <a:rPr lang="zh-CN" altLang="en-US" dirty="0" smtClean="0">
                <a:cs typeface="+mn-ea"/>
                <a:sym typeface="+mn-lt"/>
              </a:rPr>
              <a:t>输出前</a:t>
            </a:r>
            <a:r>
              <a:rPr lang="en-US" altLang="zh-CN" dirty="0" smtClean="0">
                <a:cs typeface="+mn-ea"/>
                <a:sym typeface="+mn-lt"/>
              </a:rPr>
              <a:t>n</a:t>
            </a:r>
            <a:r>
              <a:rPr lang="zh-CN" altLang="en-US" dirty="0" smtClean="0">
                <a:cs typeface="+mn-ea"/>
                <a:sym typeface="+mn-lt"/>
              </a:rPr>
              <a:t>项和</a:t>
            </a:r>
            <a:r>
              <a:rPr lang="en-US" altLang="zh-CN" dirty="0" smtClean="0">
                <a:cs typeface="+mn-ea"/>
                <a:sym typeface="+mn-lt"/>
              </a:rPr>
              <a:t>S(n)</a:t>
            </a:r>
          </a:p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8527" y="3135030"/>
            <a:ext cx="3698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cs typeface="+mn-ea"/>
                <a:sym typeface="+mn-lt"/>
              </a:rPr>
              <a:t>sum(n) = sum(n-1)+2*n-1   n&gt;1</a:t>
            </a:r>
          </a:p>
          <a:p>
            <a:r>
              <a:rPr lang="en-US" altLang="zh-CN" dirty="0" smtClean="0">
                <a:cs typeface="+mn-ea"/>
                <a:sym typeface="+mn-lt"/>
              </a:rPr>
              <a:t>               1                            n=1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020" y="1105599"/>
            <a:ext cx="3785918" cy="255976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983690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递归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91580" y="1266605"/>
            <a:ext cx="9300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cs typeface="+mn-ea"/>
                <a:sym typeface="+mn-lt"/>
              </a:rPr>
              <a:t>输入 </a:t>
            </a:r>
            <a:r>
              <a:rPr lang="en-US" altLang="zh-CN" dirty="0" smtClean="0">
                <a:cs typeface="+mn-ea"/>
                <a:sym typeface="+mn-lt"/>
              </a:rPr>
              <a:t>n</a:t>
            </a:r>
          </a:p>
          <a:p>
            <a:r>
              <a:rPr lang="zh-CN" altLang="en-US" dirty="0" smtClean="0">
                <a:cs typeface="+mn-ea"/>
                <a:sym typeface="+mn-lt"/>
              </a:rPr>
              <a:t>输出 </a:t>
            </a:r>
            <a:r>
              <a:rPr lang="en-US" altLang="zh-CN" dirty="0" smtClean="0">
                <a:cs typeface="+mn-ea"/>
                <a:sym typeface="+mn-lt"/>
              </a:rPr>
              <a:t>n!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91580" y="2796775"/>
            <a:ext cx="24224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cs typeface="+mn-ea"/>
                <a:sym typeface="+mn-lt"/>
              </a:rPr>
              <a:t>f</a:t>
            </a:r>
            <a:r>
              <a:rPr lang="en-US" altLang="zh-CN" dirty="0" smtClean="0">
                <a:cs typeface="+mn-ea"/>
                <a:sym typeface="+mn-lt"/>
              </a:rPr>
              <a:t>(n) = n*f(n-1)   n&gt;0</a:t>
            </a:r>
          </a:p>
          <a:p>
            <a:r>
              <a:rPr lang="en-US" altLang="zh-CN" dirty="0" smtClean="0">
                <a:cs typeface="+mn-ea"/>
                <a:sym typeface="+mn-lt"/>
              </a:rPr>
              <a:t>          1             n=0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2030" y="1176595"/>
            <a:ext cx="3015335" cy="27368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720594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递归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6520" y="1144827"/>
            <a:ext cx="37804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cs typeface="+mn-ea"/>
                <a:sym typeface="+mn-lt"/>
              </a:rPr>
              <a:t>Fibonacci</a:t>
            </a:r>
            <a:r>
              <a:rPr lang="zh-CN" altLang="en-US" dirty="0" smtClean="0">
                <a:cs typeface="+mn-ea"/>
                <a:sym typeface="+mn-lt"/>
              </a:rPr>
              <a:t>数列</a:t>
            </a:r>
            <a:r>
              <a:rPr lang="en-US" altLang="zh-CN" dirty="0" smtClean="0">
                <a:cs typeface="+mn-ea"/>
                <a:sym typeface="+mn-lt"/>
              </a:rPr>
              <a:t>,</a:t>
            </a:r>
            <a:r>
              <a:rPr lang="zh-CN" altLang="en-US" dirty="0" smtClean="0">
                <a:cs typeface="+mn-ea"/>
                <a:sym typeface="+mn-lt"/>
              </a:rPr>
              <a:t>第一项为</a:t>
            </a:r>
            <a:r>
              <a:rPr lang="en-US" altLang="zh-CN" dirty="0" smtClean="0">
                <a:cs typeface="+mn-ea"/>
                <a:sym typeface="+mn-lt"/>
              </a:rPr>
              <a:t>0</a:t>
            </a:r>
            <a:r>
              <a:rPr lang="zh-CN" altLang="en-US" dirty="0" smtClean="0">
                <a:cs typeface="+mn-ea"/>
                <a:sym typeface="+mn-lt"/>
              </a:rPr>
              <a:t>，第二项为</a:t>
            </a:r>
            <a:r>
              <a:rPr lang="en-US" altLang="zh-CN" dirty="0" smtClean="0">
                <a:cs typeface="+mn-ea"/>
                <a:sym typeface="+mn-lt"/>
              </a:rPr>
              <a:t>1</a:t>
            </a:r>
            <a:r>
              <a:rPr lang="zh-CN" altLang="en-US" dirty="0" smtClean="0">
                <a:cs typeface="+mn-ea"/>
                <a:sym typeface="+mn-lt"/>
              </a:rPr>
              <a:t>，以后每项都为其前两项之和</a:t>
            </a:r>
            <a:endParaRPr lang="en-US" altLang="zh-CN" dirty="0" smtClean="0">
              <a:cs typeface="+mn-ea"/>
              <a:sym typeface="+mn-lt"/>
            </a:endParaRPr>
          </a:p>
          <a:p>
            <a:r>
              <a:rPr lang="zh-CN" altLang="en-US" dirty="0" smtClean="0">
                <a:cs typeface="+mn-ea"/>
                <a:sym typeface="+mn-lt"/>
              </a:rPr>
              <a:t>输入 </a:t>
            </a:r>
            <a:r>
              <a:rPr lang="en-US" altLang="zh-CN" dirty="0" smtClean="0">
                <a:cs typeface="+mn-ea"/>
                <a:sym typeface="+mn-lt"/>
              </a:rPr>
              <a:t>n</a:t>
            </a:r>
          </a:p>
          <a:p>
            <a:r>
              <a:rPr lang="zh-CN" altLang="en-US" dirty="0" smtClean="0">
                <a:cs typeface="+mn-ea"/>
                <a:sym typeface="+mn-lt"/>
              </a:rPr>
              <a:t>输出 </a:t>
            </a:r>
            <a:r>
              <a:rPr lang="en-US" altLang="zh-CN" dirty="0" smtClean="0">
                <a:cs typeface="+mn-ea"/>
                <a:sym typeface="+mn-lt"/>
              </a:rPr>
              <a:t>Fibonacci</a:t>
            </a:r>
            <a:r>
              <a:rPr lang="zh-CN" altLang="en-US" dirty="0" smtClean="0">
                <a:cs typeface="+mn-ea"/>
                <a:sym typeface="+mn-lt"/>
              </a:rPr>
              <a:t>数列的第</a:t>
            </a:r>
            <a:r>
              <a:rPr lang="en-US" altLang="zh-CN" dirty="0" smtClean="0">
                <a:cs typeface="+mn-ea"/>
                <a:sym typeface="+mn-lt"/>
              </a:rPr>
              <a:t>n</a:t>
            </a:r>
            <a:r>
              <a:rPr lang="zh-CN" altLang="en-US" dirty="0" smtClean="0">
                <a:cs typeface="+mn-ea"/>
                <a:sym typeface="+mn-lt"/>
              </a:rPr>
              <a:t>项</a:t>
            </a:r>
            <a:endParaRPr lang="en-US" altLang="zh-CN" dirty="0" smtClean="0"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11560" y="2706765"/>
            <a:ext cx="30572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cs typeface="+mn-ea"/>
                <a:sym typeface="+mn-lt"/>
              </a:rPr>
              <a:t>f</a:t>
            </a:r>
            <a:r>
              <a:rPr lang="en-US" altLang="zh-CN" dirty="0" smtClean="0">
                <a:cs typeface="+mn-ea"/>
                <a:sym typeface="+mn-lt"/>
              </a:rPr>
              <a:t>(n) = f(n-1) + f(n-2)   n&gt;2</a:t>
            </a:r>
          </a:p>
          <a:p>
            <a:r>
              <a:rPr lang="en-US" altLang="zh-CN" dirty="0" smtClean="0">
                <a:cs typeface="+mn-ea"/>
                <a:sym typeface="+mn-lt"/>
              </a:rPr>
              <a:t>          1                       n=2</a:t>
            </a:r>
          </a:p>
          <a:p>
            <a:r>
              <a:rPr lang="en-US" altLang="zh-CN" dirty="0" smtClean="0">
                <a:cs typeface="+mn-ea"/>
                <a:sym typeface="+mn-lt"/>
              </a:rPr>
              <a:t>          0                       n=1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020" y="996575"/>
            <a:ext cx="3297303" cy="30335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759094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递归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6519" y="1144827"/>
            <a:ext cx="41854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cs typeface="+mn-ea"/>
                <a:sym typeface="+mn-lt"/>
              </a:rPr>
              <a:t>最大公约数</a:t>
            </a:r>
            <a:r>
              <a:rPr lang="en-US" altLang="zh-CN" dirty="0" smtClean="0">
                <a:cs typeface="+mn-ea"/>
                <a:sym typeface="+mn-lt"/>
              </a:rPr>
              <a:t>gcd</a:t>
            </a:r>
          </a:p>
          <a:p>
            <a:r>
              <a:rPr lang="en-US" altLang="zh-CN" dirty="0" smtClean="0">
                <a:cs typeface="+mn-ea"/>
                <a:sym typeface="+mn-lt"/>
              </a:rPr>
              <a:t>(</a:t>
            </a:r>
            <a:r>
              <a:rPr lang="en-US" altLang="zh-CN" dirty="0" smtClean="0"/>
              <a:t>greatest </a:t>
            </a:r>
            <a:r>
              <a:rPr lang="en-US" altLang="zh-CN" dirty="0"/>
              <a:t>common </a:t>
            </a:r>
            <a:r>
              <a:rPr lang="en-US" altLang="zh-CN" dirty="0" smtClean="0"/>
              <a:t>divisor)</a:t>
            </a:r>
          </a:p>
          <a:p>
            <a:endParaRPr lang="en-US" altLang="zh-CN" dirty="0">
              <a:cs typeface="+mn-ea"/>
              <a:sym typeface="+mn-lt"/>
            </a:endParaRPr>
          </a:p>
          <a:p>
            <a:r>
              <a:rPr lang="zh-CN" altLang="en-US" dirty="0" smtClean="0">
                <a:cs typeface="+mn-ea"/>
                <a:sym typeface="+mn-lt"/>
              </a:rPr>
              <a:t>输入两个正整数 </a:t>
            </a:r>
            <a:r>
              <a:rPr lang="en-US" altLang="zh-CN" dirty="0" smtClean="0">
                <a:cs typeface="+mn-ea"/>
                <a:sym typeface="+mn-lt"/>
              </a:rPr>
              <a:t>x</a:t>
            </a:r>
            <a:r>
              <a:rPr lang="zh-CN" altLang="en-US" dirty="0" smtClean="0">
                <a:cs typeface="+mn-ea"/>
                <a:sym typeface="+mn-lt"/>
              </a:rPr>
              <a:t>，</a:t>
            </a:r>
            <a:r>
              <a:rPr lang="en-US" altLang="zh-CN" dirty="0" smtClean="0">
                <a:cs typeface="+mn-ea"/>
                <a:sym typeface="+mn-lt"/>
              </a:rPr>
              <a:t>y</a:t>
            </a:r>
          </a:p>
          <a:p>
            <a:r>
              <a:rPr lang="zh-CN" altLang="en-US" dirty="0" smtClean="0">
                <a:cs typeface="+mn-ea"/>
                <a:sym typeface="+mn-lt"/>
              </a:rPr>
              <a:t>输出</a:t>
            </a:r>
            <a:r>
              <a:rPr lang="en-US" altLang="zh-CN" dirty="0" smtClean="0">
                <a:cs typeface="+mn-ea"/>
                <a:sym typeface="+mn-lt"/>
              </a:rPr>
              <a:t>x</a:t>
            </a:r>
            <a:r>
              <a:rPr lang="zh-CN" altLang="en-US" dirty="0" smtClean="0">
                <a:cs typeface="+mn-ea"/>
                <a:sym typeface="+mn-lt"/>
              </a:rPr>
              <a:t>和</a:t>
            </a:r>
            <a:r>
              <a:rPr lang="en-US" altLang="zh-CN" dirty="0" smtClean="0">
                <a:cs typeface="+mn-ea"/>
                <a:sym typeface="+mn-lt"/>
              </a:rPr>
              <a:t>y</a:t>
            </a:r>
            <a:r>
              <a:rPr lang="zh-CN" altLang="en-US" dirty="0" smtClean="0">
                <a:cs typeface="+mn-ea"/>
                <a:sym typeface="+mn-lt"/>
              </a:rPr>
              <a:t>的最大公约数</a:t>
            </a:r>
            <a:endParaRPr lang="en-US" altLang="zh-CN" dirty="0" smtClean="0"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6519" y="3290406"/>
            <a:ext cx="38651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cs typeface="+mn-ea"/>
                <a:sym typeface="+mn-lt"/>
              </a:rPr>
              <a:t>gcd(x, y) = gcd(y, x % y)     y != 0</a:t>
            </a:r>
          </a:p>
          <a:p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en-US" altLang="zh-CN" dirty="0" smtClean="0">
                <a:cs typeface="+mn-ea"/>
                <a:sym typeface="+mn-lt"/>
              </a:rPr>
              <a:t>                 x                       y == 0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153" y="862380"/>
            <a:ext cx="2822614" cy="25186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135" y="2346725"/>
            <a:ext cx="2969609" cy="216717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4232198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递归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9107" y="1311610"/>
            <a:ext cx="41728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cs typeface="+mn-ea"/>
                <a:sym typeface="+mn-lt"/>
              </a:rPr>
              <a:t>上楼梯，一次可以上一级或两级，求上</a:t>
            </a:r>
            <a:r>
              <a:rPr lang="en-US" altLang="zh-CN" dirty="0">
                <a:cs typeface="+mn-ea"/>
                <a:sym typeface="+mn-lt"/>
              </a:rPr>
              <a:t>n</a:t>
            </a:r>
            <a:r>
              <a:rPr lang="zh-CN" altLang="en-US" dirty="0">
                <a:cs typeface="+mn-ea"/>
                <a:sym typeface="+mn-lt"/>
              </a:rPr>
              <a:t>级台阶的方法</a:t>
            </a:r>
            <a:r>
              <a:rPr lang="zh-CN" altLang="en-US" dirty="0" smtClean="0">
                <a:cs typeface="+mn-ea"/>
                <a:sym typeface="+mn-lt"/>
              </a:rPr>
              <a:t>数</a:t>
            </a:r>
            <a:endParaRPr lang="en-US" altLang="zh-CN" dirty="0" smtClean="0">
              <a:cs typeface="+mn-ea"/>
              <a:sym typeface="+mn-lt"/>
            </a:endParaRPr>
          </a:p>
          <a:p>
            <a:endParaRPr lang="en-US" altLang="zh-CN" dirty="0" smtClean="0">
              <a:cs typeface="+mn-ea"/>
              <a:sym typeface="+mn-lt"/>
            </a:endParaRPr>
          </a:p>
          <a:p>
            <a:endParaRPr lang="en-US" altLang="zh-CN" dirty="0">
              <a:cs typeface="+mn-ea"/>
              <a:sym typeface="+mn-lt"/>
            </a:endParaRPr>
          </a:p>
          <a:p>
            <a:r>
              <a:rPr lang="zh-CN" altLang="en-US" dirty="0" smtClean="0">
                <a:cs typeface="+mn-ea"/>
                <a:sym typeface="+mn-lt"/>
              </a:rPr>
              <a:t>输入</a:t>
            </a:r>
            <a:r>
              <a:rPr lang="en-US" altLang="zh-CN" dirty="0" smtClean="0">
                <a:cs typeface="+mn-ea"/>
                <a:sym typeface="+mn-lt"/>
              </a:rPr>
              <a:t>: </a:t>
            </a:r>
            <a:r>
              <a:rPr lang="zh-CN" altLang="en-US" dirty="0" smtClean="0">
                <a:cs typeface="+mn-ea"/>
                <a:sym typeface="+mn-lt"/>
              </a:rPr>
              <a:t>一个正整数</a:t>
            </a:r>
            <a:r>
              <a:rPr lang="en-US" altLang="zh-CN" dirty="0" smtClean="0">
                <a:cs typeface="+mn-ea"/>
                <a:sym typeface="+mn-lt"/>
              </a:rPr>
              <a:t>n</a:t>
            </a:r>
          </a:p>
          <a:p>
            <a:r>
              <a:rPr lang="zh-CN" altLang="en-US" dirty="0" smtClean="0">
                <a:cs typeface="+mn-ea"/>
                <a:sym typeface="+mn-lt"/>
              </a:rPr>
              <a:t>输出</a:t>
            </a:r>
            <a:r>
              <a:rPr lang="en-US" altLang="zh-CN" dirty="0" smtClean="0">
                <a:cs typeface="+mn-ea"/>
                <a:sym typeface="+mn-lt"/>
              </a:rPr>
              <a:t>: </a:t>
            </a:r>
            <a:r>
              <a:rPr lang="zh-CN" altLang="en-US" dirty="0" smtClean="0">
                <a:cs typeface="+mn-ea"/>
                <a:sym typeface="+mn-lt"/>
              </a:rPr>
              <a:t>走</a:t>
            </a:r>
            <a:r>
              <a:rPr lang="en-US" altLang="zh-CN" dirty="0" smtClean="0">
                <a:cs typeface="+mn-ea"/>
                <a:sym typeface="+mn-lt"/>
              </a:rPr>
              <a:t>n</a:t>
            </a:r>
            <a:r>
              <a:rPr lang="zh-CN" altLang="en-US" dirty="0" smtClean="0">
                <a:cs typeface="+mn-ea"/>
                <a:sym typeface="+mn-lt"/>
              </a:rPr>
              <a:t>阶阶台阶的方法数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77045" y="1401620"/>
            <a:ext cx="38704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cs typeface="+mn-ea"/>
                <a:sym typeface="+mn-lt"/>
              </a:rPr>
              <a:t>第</a:t>
            </a:r>
            <a:r>
              <a:rPr lang="en-US" altLang="zh-CN" dirty="0" smtClean="0">
                <a:cs typeface="+mn-ea"/>
                <a:sym typeface="+mn-lt"/>
              </a:rPr>
              <a:t>n</a:t>
            </a:r>
            <a:r>
              <a:rPr lang="zh-CN" altLang="en-US" dirty="0" smtClean="0">
                <a:cs typeface="+mn-ea"/>
                <a:sym typeface="+mn-lt"/>
              </a:rPr>
              <a:t>阶</a:t>
            </a:r>
            <a:r>
              <a:rPr lang="en-US" altLang="zh-CN" dirty="0" smtClean="0">
                <a:cs typeface="+mn-ea"/>
                <a:sym typeface="+mn-lt"/>
              </a:rPr>
              <a:t> </a:t>
            </a:r>
            <a:r>
              <a:rPr lang="zh-CN" altLang="en-US" dirty="0" smtClean="0">
                <a:cs typeface="+mn-ea"/>
                <a:sym typeface="+mn-lt"/>
              </a:rPr>
              <a:t>← 第</a:t>
            </a:r>
            <a:r>
              <a:rPr lang="en-US" altLang="zh-CN" dirty="0" smtClean="0">
                <a:cs typeface="+mn-ea"/>
                <a:sym typeface="+mn-lt"/>
              </a:rPr>
              <a:t>n-1</a:t>
            </a:r>
            <a:r>
              <a:rPr lang="zh-CN" altLang="en-US" dirty="0" smtClean="0">
                <a:cs typeface="+mn-ea"/>
                <a:sym typeface="+mn-lt"/>
              </a:rPr>
              <a:t>阶 </a:t>
            </a:r>
            <a:r>
              <a:rPr lang="en-US" altLang="zh-CN" dirty="0" smtClean="0">
                <a:cs typeface="+mn-ea"/>
                <a:sym typeface="+mn-lt"/>
              </a:rPr>
              <a:t>or </a:t>
            </a:r>
            <a:r>
              <a:rPr lang="zh-CN" altLang="en-US" dirty="0" smtClean="0">
                <a:cs typeface="+mn-ea"/>
                <a:sym typeface="+mn-lt"/>
              </a:rPr>
              <a:t>第</a:t>
            </a:r>
            <a:r>
              <a:rPr lang="en-US" altLang="zh-CN" dirty="0" smtClean="0">
                <a:cs typeface="+mn-ea"/>
                <a:sym typeface="+mn-lt"/>
              </a:rPr>
              <a:t>n-2</a:t>
            </a:r>
            <a:r>
              <a:rPr lang="zh-CN" altLang="en-US" dirty="0" smtClean="0">
                <a:cs typeface="+mn-ea"/>
                <a:sym typeface="+mn-lt"/>
              </a:rPr>
              <a:t>阶</a:t>
            </a:r>
            <a:r>
              <a:rPr lang="en-US" altLang="zh-CN" dirty="0" smtClean="0">
                <a:cs typeface="+mn-ea"/>
                <a:sym typeface="+mn-lt"/>
              </a:rPr>
              <a:t> </a:t>
            </a:r>
          </a:p>
          <a:p>
            <a:endParaRPr lang="en-US" altLang="zh-CN" dirty="0">
              <a:cs typeface="+mn-ea"/>
              <a:sym typeface="+mn-lt"/>
            </a:endParaRPr>
          </a:p>
          <a:p>
            <a:r>
              <a:rPr lang="en-US" altLang="zh-CN" dirty="0" smtClean="0">
                <a:cs typeface="+mn-ea"/>
                <a:sym typeface="+mn-lt"/>
              </a:rPr>
              <a:t>f(n) = 1                         n=1</a:t>
            </a:r>
          </a:p>
          <a:p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en-US" altLang="zh-CN" dirty="0" smtClean="0">
                <a:cs typeface="+mn-ea"/>
                <a:sym typeface="+mn-lt"/>
              </a:rPr>
              <a:t>         2                         n=2</a:t>
            </a:r>
          </a:p>
          <a:p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en-US" altLang="zh-CN" dirty="0" smtClean="0">
                <a:cs typeface="+mn-ea"/>
                <a:sym typeface="+mn-lt"/>
              </a:rPr>
              <a:t>         f(n-1) + f(n-2)     n&gt;2</a:t>
            </a:r>
          </a:p>
          <a:p>
            <a:endParaRPr lang="en-US" altLang="zh-CN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980190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递归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397" y="1052836"/>
            <a:ext cx="5328744" cy="27790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103" y="366505"/>
            <a:ext cx="4260814" cy="30471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4647" y="1716655"/>
            <a:ext cx="4590510" cy="31166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736252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递归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97265" y="1602254"/>
            <a:ext cx="274947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4000"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数列递推</a:t>
            </a:r>
            <a:r>
              <a:rPr lang="zh-CN" altLang="en-US" dirty="0" smtClean="0">
                <a:sym typeface="+mn-lt"/>
              </a:rPr>
              <a:t>式</a:t>
            </a:r>
            <a:endParaRPr lang="en-US" altLang="zh-CN" dirty="0" smtClean="0">
              <a:sym typeface="+mn-lt"/>
            </a:endParaRPr>
          </a:p>
          <a:p>
            <a:endParaRPr lang="en-US" altLang="zh-CN" dirty="0">
              <a:sym typeface="+mn-lt"/>
            </a:endParaRPr>
          </a:p>
          <a:p>
            <a:r>
              <a:rPr lang="zh-CN" altLang="en-US" dirty="0">
                <a:sym typeface="+mn-lt"/>
              </a:rPr>
              <a:t>分段函数</a:t>
            </a:r>
          </a:p>
        </p:txBody>
      </p:sp>
    </p:spTree>
    <p:extLst>
      <p:ext uri="{BB962C8B-B14F-4D97-AF65-F5344CB8AC3E}">
        <p14:creationId xmlns:p14="http://schemas.microsoft.com/office/powerpoint/2010/main" val="26996727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3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" y="2166704"/>
            <a:ext cx="9144000" cy="45005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495" y="-1433695"/>
            <a:ext cx="3894015" cy="8094524"/>
          </a:xfrm>
          <a:prstGeom prst="rect">
            <a:avLst/>
          </a:prstGeom>
          <a:noFill/>
          <a:effectLst>
            <a:outerShdw blurRad="165100" dist="76200" dir="1200000" algn="tl" rotWithShape="0">
              <a:prstClr val="black">
                <a:alpha val="10000"/>
              </a:prst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3</a:t>
            </a:r>
            <a:endParaRPr kumimoji="0" lang="zh-CN" altLang="en-US" sz="5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79089" y="2155090"/>
            <a:ext cx="51783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kern="0" noProof="0" dirty="0">
                <a:solidFill>
                  <a:schemeClr val="bg1"/>
                </a:solidFill>
                <a:cs typeface="+mn-ea"/>
                <a:sym typeface="+mn-lt"/>
              </a:rPr>
              <a:t>穷举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998103" y="1397264"/>
            <a:ext cx="375936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PART THREE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461075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素数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Prime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463554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698" y="839949"/>
            <a:ext cx="7722605" cy="389204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608828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素数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Prime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463554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98" y="1896675"/>
            <a:ext cx="4117897" cy="295785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033" y="553494"/>
            <a:ext cx="3645405" cy="15972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0931" y="2661760"/>
            <a:ext cx="3797610" cy="210978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文本框 8"/>
          <p:cNvSpPr txBox="1"/>
          <p:nvPr/>
        </p:nvSpPr>
        <p:spPr>
          <a:xfrm>
            <a:off x="252144" y="1119830"/>
            <a:ext cx="4319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cs typeface="+mn-ea"/>
                <a:sym typeface="+mn-lt"/>
              </a:rPr>
              <a:t>素数</a:t>
            </a:r>
            <a:r>
              <a:rPr lang="en-US" altLang="zh-CN" dirty="0" smtClean="0">
                <a:cs typeface="+mn-ea"/>
                <a:sym typeface="+mn-lt"/>
              </a:rPr>
              <a:t>Prime: </a:t>
            </a:r>
            <a:r>
              <a:rPr lang="zh-CN" altLang="en-US" dirty="0" smtClean="0">
                <a:cs typeface="+mn-ea"/>
                <a:sym typeface="+mn-lt"/>
              </a:rPr>
              <a:t>除</a:t>
            </a:r>
            <a:r>
              <a:rPr lang="en-US" altLang="zh-CN" dirty="0" smtClean="0">
                <a:cs typeface="+mn-ea"/>
                <a:sym typeface="+mn-lt"/>
              </a:rPr>
              <a:t>1</a:t>
            </a:r>
            <a:r>
              <a:rPr lang="zh-CN" altLang="en-US" dirty="0" smtClean="0">
                <a:cs typeface="+mn-ea"/>
                <a:sym typeface="+mn-lt"/>
              </a:rPr>
              <a:t>和它本身外没有其他约数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290142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分离数字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441051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118" y="951570"/>
            <a:ext cx="6885765" cy="381986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471553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分离数字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441051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570" y="1131590"/>
            <a:ext cx="3557130" cy="35299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025" y="1363516"/>
            <a:ext cx="3330370" cy="306605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8044285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671650"/>
            <a:ext cx="5490610" cy="30459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分离数字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441051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3316" y="1086585"/>
            <a:ext cx="5157707" cy="29647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0286576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零钱换整钱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432050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28" y="1266605"/>
            <a:ext cx="8505945" cy="32077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2055108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排序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01500" y="1140589"/>
            <a:ext cx="35410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2400" dirty="0" smtClean="0">
                <a:cs typeface="+mn-ea"/>
                <a:sym typeface="+mn-lt"/>
              </a:rPr>
              <a:t>选择排序</a:t>
            </a:r>
            <a:r>
              <a:rPr lang="en-US" altLang="zh-CN" sz="2400" dirty="0" smtClean="0">
                <a:cs typeface="+mn-ea"/>
                <a:sym typeface="+mn-lt"/>
              </a:rPr>
              <a:t>(Selection sort) </a:t>
            </a:r>
          </a:p>
          <a:p>
            <a:pPr>
              <a:lnSpc>
                <a:spcPct val="250000"/>
              </a:lnSpc>
            </a:pPr>
            <a:r>
              <a:rPr lang="zh-CN" altLang="en-US" sz="2400" dirty="0" smtClean="0">
                <a:cs typeface="+mn-ea"/>
                <a:sym typeface="+mn-lt"/>
              </a:rPr>
              <a:t>冒泡排序</a:t>
            </a:r>
            <a:r>
              <a:rPr lang="en-US" altLang="zh-CN" sz="2400" dirty="0">
                <a:cs typeface="+mn-ea"/>
                <a:sym typeface="+mn-lt"/>
              </a:rPr>
              <a:t>(Bubble </a:t>
            </a:r>
            <a:r>
              <a:rPr lang="en-US" altLang="zh-CN" sz="2400" dirty="0" smtClean="0">
                <a:cs typeface="+mn-ea"/>
                <a:sym typeface="+mn-lt"/>
              </a:rPr>
              <a:t>sort)</a:t>
            </a:r>
          </a:p>
          <a:p>
            <a:pPr>
              <a:lnSpc>
                <a:spcPct val="250000"/>
              </a:lnSpc>
            </a:pPr>
            <a:r>
              <a:rPr lang="zh-CN" altLang="en-US" sz="2400" dirty="0" smtClean="0">
                <a:cs typeface="+mn-ea"/>
                <a:sym typeface="+mn-lt"/>
              </a:rPr>
              <a:t>插入排序</a:t>
            </a:r>
            <a:r>
              <a:rPr lang="en-US" altLang="zh-CN" sz="2400" dirty="0">
                <a:cs typeface="+mn-ea"/>
                <a:sym typeface="+mn-lt"/>
              </a:rPr>
              <a:t>(Insertion </a:t>
            </a:r>
            <a:r>
              <a:rPr lang="en-US" altLang="zh-CN" sz="2400" dirty="0" smtClean="0">
                <a:cs typeface="+mn-ea"/>
                <a:sym typeface="+mn-lt"/>
              </a:rPr>
              <a:t>sort)</a:t>
            </a:r>
            <a:endParaRPr lang="zh-CN" altLang="en-US" sz="24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975649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选择排序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725" y="1164403"/>
            <a:ext cx="4950550" cy="214314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9368" y="3880777"/>
            <a:ext cx="2385265" cy="28561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7" name="文本框 16"/>
          <p:cNvSpPr txBox="1"/>
          <p:nvPr/>
        </p:nvSpPr>
        <p:spPr>
          <a:xfrm>
            <a:off x="5652120" y="591178"/>
            <a:ext cx="1687687" cy="646331"/>
          </a:xfrm>
          <a:prstGeom prst="wedgeRectCallout">
            <a:avLst>
              <a:gd name="adj1" fmla="val -72338"/>
              <a:gd name="adj2" fmla="val 139351"/>
            </a:avLst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i</a:t>
            </a:r>
            <a:r>
              <a:rPr lang="zh-CN" altLang="en-US" dirty="0"/>
              <a:t>的含义</a:t>
            </a:r>
            <a:r>
              <a:rPr lang="en-US" altLang="zh-CN" dirty="0"/>
              <a:t>: </a:t>
            </a:r>
          </a:p>
          <a:p>
            <a:r>
              <a:rPr lang="zh-CN" altLang="en-US" dirty="0" smtClean="0"/>
              <a:t>要排序的位置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0721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选择排序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620" y="1299891"/>
            <a:ext cx="4941473" cy="28649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2270" y="1299891"/>
            <a:ext cx="810090" cy="3005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9026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215" y="366349"/>
            <a:ext cx="3457567" cy="20745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冒泡排序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284" y="2017400"/>
            <a:ext cx="6045431" cy="224791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文本框 7"/>
          <p:cNvSpPr txBox="1"/>
          <p:nvPr/>
        </p:nvSpPr>
        <p:spPr>
          <a:xfrm>
            <a:off x="5022050" y="1694234"/>
            <a:ext cx="1687687" cy="646331"/>
          </a:xfrm>
          <a:prstGeom prst="wedgeRectCallout">
            <a:avLst>
              <a:gd name="adj1" fmla="val -57957"/>
              <a:gd name="adj2" fmla="val 106165"/>
            </a:avLst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i</a:t>
            </a:r>
            <a:r>
              <a:rPr lang="zh-CN" altLang="en-US" dirty="0"/>
              <a:t>的含义</a:t>
            </a:r>
            <a:r>
              <a:rPr lang="en-US" altLang="zh-CN" dirty="0"/>
              <a:t>: </a:t>
            </a:r>
          </a:p>
          <a:p>
            <a:r>
              <a:rPr lang="zh-CN" altLang="en-US" dirty="0" smtClean="0"/>
              <a:t>要排序的位置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0769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插入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排序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258" y="830494"/>
            <a:ext cx="4365485" cy="375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7135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58" y="1579833"/>
            <a:ext cx="3907617" cy="23445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插入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排序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030" y="1131590"/>
            <a:ext cx="3421472" cy="32410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文本框 7"/>
          <p:cNvSpPr txBox="1"/>
          <p:nvPr/>
        </p:nvSpPr>
        <p:spPr>
          <a:xfrm>
            <a:off x="2749297" y="826314"/>
            <a:ext cx="1845205" cy="646331"/>
          </a:xfrm>
          <a:prstGeom prst="wedgeRectCallout">
            <a:avLst>
              <a:gd name="adj1" fmla="val 72351"/>
              <a:gd name="adj2" fmla="val 107912"/>
            </a:avLst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i</a:t>
            </a:r>
            <a:r>
              <a:rPr lang="zh-CN" altLang="en-US" dirty="0"/>
              <a:t>的含义</a:t>
            </a:r>
            <a:r>
              <a:rPr lang="en-US" altLang="zh-CN" dirty="0"/>
              <a:t>: </a:t>
            </a:r>
          </a:p>
          <a:p>
            <a:r>
              <a:rPr lang="zh-CN" altLang="en-US" dirty="0" smtClean="0"/>
              <a:t>要排序的元素</a:t>
            </a:r>
            <a:r>
              <a:rPr lang="en-US" altLang="zh-CN" dirty="0" smtClean="0"/>
              <a:t>a[i]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411984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Summary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TextBox 19"/>
          <p:cNvSpPr txBox="1"/>
          <p:nvPr/>
        </p:nvSpPr>
        <p:spPr>
          <a:xfrm>
            <a:off x="1081470" y="1500873"/>
            <a:ext cx="4165605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95BC49"/>
                </a:solidFill>
                <a:cs typeface="+mn-ea"/>
                <a:sym typeface="+mn-lt"/>
              </a:rPr>
              <a:t>打印</a:t>
            </a:r>
            <a:r>
              <a:rPr lang="zh-CN" altLang="en-US" sz="2400" dirty="0" smtClean="0">
                <a:solidFill>
                  <a:srgbClr val="95BC49"/>
                </a:solidFill>
                <a:cs typeface="+mn-ea"/>
                <a:sym typeface="+mn-lt"/>
              </a:rPr>
              <a:t>图形</a:t>
            </a:r>
            <a:r>
              <a:rPr lang="en-US" altLang="zh-CN" sz="2400" dirty="0" smtClean="0">
                <a:solidFill>
                  <a:srgbClr val="95BC49"/>
                </a:solidFill>
                <a:cs typeface="+mn-ea"/>
                <a:sym typeface="+mn-lt"/>
              </a:rPr>
              <a:t>——</a:t>
            </a:r>
            <a:r>
              <a:rPr lang="zh-CN" altLang="en-US" sz="2400" dirty="0" smtClean="0">
                <a:solidFill>
                  <a:srgbClr val="95BC49"/>
                </a:solidFill>
                <a:cs typeface="+mn-ea"/>
                <a:sym typeface="+mn-lt"/>
              </a:rPr>
              <a:t>数列找规律</a:t>
            </a:r>
            <a:endParaRPr lang="zh-CN" altLang="en-US" sz="2400" dirty="0">
              <a:solidFill>
                <a:srgbClr val="95BC49"/>
              </a:solidFill>
              <a:cs typeface="+mn-ea"/>
              <a:sym typeface="+mn-lt"/>
            </a:endParaRPr>
          </a:p>
        </p:txBody>
      </p:sp>
      <p:sp>
        <p:nvSpPr>
          <p:cNvPr id="13" name="矩形 8"/>
          <p:cNvSpPr/>
          <p:nvPr/>
        </p:nvSpPr>
        <p:spPr>
          <a:xfrm>
            <a:off x="431708" y="1506677"/>
            <a:ext cx="649762" cy="527649"/>
          </a:xfrm>
          <a:custGeom>
            <a:avLst/>
            <a:gdLst/>
            <a:ahLst/>
            <a:cxnLst/>
            <a:rect l="l" t="t" r="r" b="b"/>
            <a:pathLst>
              <a:path w="855095" h="855095">
                <a:moveTo>
                  <a:pt x="805897" y="427546"/>
                </a:moveTo>
                <a:lnTo>
                  <a:pt x="855095" y="427546"/>
                </a:lnTo>
                <a:lnTo>
                  <a:pt x="855095" y="855095"/>
                </a:lnTo>
                <a:lnTo>
                  <a:pt x="427546" y="855095"/>
                </a:lnTo>
                <a:lnTo>
                  <a:pt x="427546" y="805897"/>
                </a:lnTo>
                <a:lnTo>
                  <a:pt x="805897" y="805897"/>
                </a:lnTo>
                <a:close/>
                <a:moveTo>
                  <a:pt x="0" y="0"/>
                </a:moveTo>
                <a:lnTo>
                  <a:pt x="427546" y="0"/>
                </a:lnTo>
                <a:lnTo>
                  <a:pt x="427546" y="49196"/>
                </a:lnTo>
                <a:lnTo>
                  <a:pt x="49196" y="49196"/>
                </a:lnTo>
                <a:lnTo>
                  <a:pt x="49196" y="427546"/>
                </a:lnTo>
                <a:lnTo>
                  <a:pt x="0" y="427546"/>
                </a:lnTo>
                <a:close/>
              </a:path>
            </a:pathLst>
          </a:custGeom>
          <a:solidFill>
            <a:srgbClr val="95BC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rgbClr val="95BC49"/>
                </a:solidFill>
                <a:cs typeface="+mn-ea"/>
                <a:sym typeface="+mn-lt"/>
              </a:rPr>
              <a:t>01</a:t>
            </a:r>
            <a:endParaRPr lang="zh-CN" altLang="en-US" sz="2400" dirty="0">
              <a:solidFill>
                <a:srgbClr val="95BC49"/>
              </a:solidFill>
              <a:cs typeface="+mn-ea"/>
              <a:sym typeface="+mn-lt"/>
            </a:endParaRPr>
          </a:p>
        </p:txBody>
      </p:sp>
      <p:sp>
        <p:nvSpPr>
          <p:cNvPr id="14" name="TextBox 22"/>
          <p:cNvSpPr txBox="1"/>
          <p:nvPr/>
        </p:nvSpPr>
        <p:spPr>
          <a:xfrm>
            <a:off x="1081470" y="2620850"/>
            <a:ext cx="3638327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FDA907"/>
                </a:solidFill>
                <a:cs typeface="+mn-ea"/>
                <a:sym typeface="+mn-lt"/>
              </a:rPr>
              <a:t>递归</a:t>
            </a:r>
            <a:r>
              <a:rPr lang="en-US" altLang="zh-CN" sz="2400" dirty="0" smtClean="0">
                <a:solidFill>
                  <a:srgbClr val="FDA907"/>
                </a:solidFill>
                <a:cs typeface="+mn-ea"/>
                <a:sym typeface="+mn-lt"/>
              </a:rPr>
              <a:t>——</a:t>
            </a:r>
            <a:r>
              <a:rPr lang="zh-CN" altLang="en-US" sz="2400" dirty="0" smtClean="0">
                <a:solidFill>
                  <a:srgbClr val="FDA907"/>
                </a:solidFill>
                <a:cs typeface="+mn-ea"/>
                <a:sym typeface="+mn-lt"/>
              </a:rPr>
              <a:t>分段函数</a:t>
            </a:r>
            <a:endParaRPr lang="zh-CN" altLang="en-US" sz="2400" dirty="0">
              <a:solidFill>
                <a:srgbClr val="FDA907"/>
              </a:solidFill>
              <a:cs typeface="+mn-ea"/>
              <a:sym typeface="+mn-lt"/>
            </a:endParaRPr>
          </a:p>
        </p:txBody>
      </p:sp>
      <p:sp>
        <p:nvSpPr>
          <p:cNvPr id="15" name="矩形 8"/>
          <p:cNvSpPr/>
          <p:nvPr/>
        </p:nvSpPr>
        <p:spPr>
          <a:xfrm>
            <a:off x="402942" y="2621960"/>
            <a:ext cx="656839" cy="533396"/>
          </a:xfrm>
          <a:custGeom>
            <a:avLst/>
            <a:gdLst/>
            <a:ahLst/>
            <a:cxnLst/>
            <a:rect l="l" t="t" r="r" b="b"/>
            <a:pathLst>
              <a:path w="855095" h="855095">
                <a:moveTo>
                  <a:pt x="805897" y="427546"/>
                </a:moveTo>
                <a:lnTo>
                  <a:pt x="855095" y="427546"/>
                </a:lnTo>
                <a:lnTo>
                  <a:pt x="855095" y="855095"/>
                </a:lnTo>
                <a:lnTo>
                  <a:pt x="427546" y="855095"/>
                </a:lnTo>
                <a:lnTo>
                  <a:pt x="427546" y="805897"/>
                </a:lnTo>
                <a:lnTo>
                  <a:pt x="805897" y="805897"/>
                </a:lnTo>
                <a:close/>
                <a:moveTo>
                  <a:pt x="0" y="0"/>
                </a:moveTo>
                <a:lnTo>
                  <a:pt x="427546" y="0"/>
                </a:lnTo>
                <a:lnTo>
                  <a:pt x="427546" y="49196"/>
                </a:lnTo>
                <a:lnTo>
                  <a:pt x="49196" y="49196"/>
                </a:lnTo>
                <a:lnTo>
                  <a:pt x="49196" y="427546"/>
                </a:lnTo>
                <a:lnTo>
                  <a:pt x="0" y="427546"/>
                </a:lnTo>
                <a:close/>
              </a:path>
            </a:pathLst>
          </a:cu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rgbClr val="FDA907"/>
                </a:solidFill>
                <a:cs typeface="+mn-ea"/>
                <a:sym typeface="+mn-lt"/>
              </a:rPr>
              <a:t>02</a:t>
            </a:r>
            <a:endParaRPr lang="zh-CN" altLang="en-US" sz="2400" dirty="0">
              <a:solidFill>
                <a:srgbClr val="FDA907"/>
              </a:solidFill>
              <a:cs typeface="+mn-ea"/>
              <a:sym typeface="+mn-lt"/>
            </a:endParaRPr>
          </a:p>
        </p:txBody>
      </p:sp>
      <p:sp>
        <p:nvSpPr>
          <p:cNvPr id="16" name="TextBox 25"/>
          <p:cNvSpPr txBox="1"/>
          <p:nvPr/>
        </p:nvSpPr>
        <p:spPr>
          <a:xfrm>
            <a:off x="1103900" y="3741880"/>
            <a:ext cx="391815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BF3420"/>
                </a:solidFill>
                <a:cs typeface="+mn-ea"/>
                <a:sym typeface="+mn-lt"/>
              </a:rPr>
              <a:t>穷举</a:t>
            </a:r>
            <a:r>
              <a:rPr lang="en-US" altLang="zh-CN" sz="2400" dirty="0" smtClean="0">
                <a:solidFill>
                  <a:srgbClr val="BF3420"/>
                </a:solidFill>
                <a:cs typeface="+mn-ea"/>
                <a:sym typeface="+mn-lt"/>
              </a:rPr>
              <a:t>——</a:t>
            </a:r>
            <a:r>
              <a:rPr lang="zh-CN" altLang="en-US" sz="2400" dirty="0" smtClean="0">
                <a:solidFill>
                  <a:srgbClr val="BF3420"/>
                </a:solidFill>
                <a:cs typeface="+mn-ea"/>
                <a:sym typeface="+mn-lt"/>
              </a:rPr>
              <a:t>判素数、分离数字</a:t>
            </a:r>
            <a:endParaRPr lang="zh-CN" altLang="en-US" sz="2400" dirty="0">
              <a:solidFill>
                <a:srgbClr val="BF3420"/>
              </a:solidFill>
              <a:cs typeface="+mn-ea"/>
              <a:sym typeface="+mn-lt"/>
            </a:endParaRPr>
          </a:p>
        </p:txBody>
      </p:sp>
      <p:sp>
        <p:nvSpPr>
          <p:cNvPr id="17" name="矩形 8"/>
          <p:cNvSpPr/>
          <p:nvPr/>
        </p:nvSpPr>
        <p:spPr>
          <a:xfrm>
            <a:off x="425372" y="3741880"/>
            <a:ext cx="663917" cy="539143"/>
          </a:xfrm>
          <a:custGeom>
            <a:avLst/>
            <a:gdLst/>
            <a:ahLst/>
            <a:cxnLst/>
            <a:rect l="l" t="t" r="r" b="b"/>
            <a:pathLst>
              <a:path w="855095" h="855095">
                <a:moveTo>
                  <a:pt x="805897" y="427546"/>
                </a:moveTo>
                <a:lnTo>
                  <a:pt x="855095" y="427546"/>
                </a:lnTo>
                <a:lnTo>
                  <a:pt x="855095" y="855095"/>
                </a:lnTo>
                <a:lnTo>
                  <a:pt x="427546" y="855095"/>
                </a:lnTo>
                <a:lnTo>
                  <a:pt x="427546" y="805897"/>
                </a:lnTo>
                <a:lnTo>
                  <a:pt x="805897" y="805897"/>
                </a:lnTo>
                <a:close/>
                <a:moveTo>
                  <a:pt x="0" y="0"/>
                </a:moveTo>
                <a:lnTo>
                  <a:pt x="427546" y="0"/>
                </a:lnTo>
                <a:lnTo>
                  <a:pt x="427546" y="49196"/>
                </a:lnTo>
                <a:lnTo>
                  <a:pt x="49196" y="49196"/>
                </a:lnTo>
                <a:lnTo>
                  <a:pt x="49196" y="427546"/>
                </a:lnTo>
                <a:lnTo>
                  <a:pt x="0" y="427546"/>
                </a:lnTo>
                <a:close/>
              </a:path>
            </a:pathLst>
          </a:custGeom>
          <a:solidFill>
            <a:srgbClr val="BF34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solidFill>
                  <a:srgbClr val="BF3420"/>
                </a:solidFill>
                <a:cs typeface="+mn-ea"/>
                <a:sym typeface="+mn-lt"/>
              </a:rPr>
              <a:t>03</a:t>
            </a:r>
            <a:endParaRPr lang="zh-CN" altLang="en-US" sz="2800" dirty="0">
              <a:solidFill>
                <a:srgbClr val="BF3420"/>
              </a:solidFill>
              <a:cs typeface="+mn-ea"/>
              <a:sym typeface="+mn-lt"/>
            </a:endParaRPr>
          </a:p>
        </p:txBody>
      </p:sp>
      <p:sp>
        <p:nvSpPr>
          <p:cNvPr id="20" name="TextBox 22"/>
          <p:cNvSpPr txBox="1"/>
          <p:nvPr/>
        </p:nvSpPr>
        <p:spPr>
          <a:xfrm>
            <a:off x="4662010" y="1689826"/>
            <a:ext cx="3915435" cy="186204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15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Q</a:t>
            </a:r>
            <a:r>
              <a:rPr lang="en-US" altLang="zh-CN" sz="11500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&amp;</a:t>
            </a:r>
            <a:r>
              <a:rPr lang="en-US" altLang="zh-CN" sz="11500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A</a:t>
            </a:r>
            <a:endParaRPr lang="zh-CN" altLang="en-US" sz="1150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897699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2443344" y="2301720"/>
            <a:ext cx="4256964" cy="69124"/>
            <a:chOff x="566555" y="877035"/>
            <a:chExt cx="2340260" cy="164545"/>
          </a:xfrm>
        </p:grpSpPr>
        <p:sp>
          <p:nvSpPr>
            <p:cNvPr id="20" name="矩形 19"/>
            <p:cNvSpPr/>
            <p:nvPr/>
          </p:nvSpPr>
          <p:spPr>
            <a:xfrm>
              <a:off x="566555" y="877035"/>
              <a:ext cx="585065" cy="164545"/>
            </a:xfrm>
            <a:prstGeom prst="rect">
              <a:avLst/>
            </a:prstGeom>
            <a:solidFill>
              <a:srgbClr val="1A7B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cs typeface="+mn-ea"/>
                <a:sym typeface="+mn-lt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1151620" y="877035"/>
              <a:ext cx="585065" cy="164545"/>
            </a:xfrm>
            <a:prstGeom prst="rect">
              <a:avLst/>
            </a:prstGeom>
            <a:solidFill>
              <a:srgbClr val="95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cs typeface="+mn-ea"/>
                <a:sym typeface="+mn-lt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736685" y="877035"/>
              <a:ext cx="585065" cy="164545"/>
            </a:xfrm>
            <a:prstGeom prst="rect">
              <a:avLst/>
            </a:prstGeom>
            <a:solidFill>
              <a:srgbClr val="FDA9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cs typeface="+mn-ea"/>
                <a:sym typeface="+mn-lt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2321750" y="877035"/>
              <a:ext cx="585065" cy="164545"/>
            </a:xfrm>
            <a:prstGeom prst="rect">
              <a:avLst/>
            </a:prstGeom>
            <a:solidFill>
              <a:srgbClr val="BF34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623999" y="1755256"/>
            <a:ext cx="5895655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CN" sz="2800" kern="0">
                <a:solidFill>
                  <a:srgbClr val="1A7BAE"/>
                </a:solidFill>
                <a:cs typeface="+mn-ea"/>
                <a:sym typeface="+mn-lt"/>
              </a:rPr>
              <a:t>THANKS</a:t>
            </a:r>
            <a:r>
              <a:rPr lang="en-US" altLang="zh-CN" sz="2800" kern="0">
                <a:solidFill>
                  <a:srgbClr val="BF3420"/>
                </a:solidFill>
                <a:cs typeface="+mn-ea"/>
                <a:sym typeface="+mn-lt"/>
              </a:rPr>
              <a:t> </a:t>
            </a:r>
            <a:r>
              <a:rPr lang="en-US" altLang="zh-CN" sz="2800" kern="0">
                <a:solidFill>
                  <a:srgbClr val="95BC49"/>
                </a:solidFill>
                <a:cs typeface="+mn-ea"/>
                <a:sym typeface="+mn-lt"/>
              </a:rPr>
              <a:t>FOR</a:t>
            </a:r>
            <a:r>
              <a:rPr lang="zh-CN" altLang="en-US" sz="2800" kern="0">
                <a:solidFill>
                  <a:srgbClr val="1A7BAE"/>
                </a:solidFill>
                <a:cs typeface="+mn-ea"/>
                <a:sym typeface="+mn-lt"/>
              </a:rPr>
              <a:t> </a:t>
            </a:r>
            <a:r>
              <a:rPr lang="en-US" altLang="zh-CN" sz="2800" kern="0">
                <a:solidFill>
                  <a:srgbClr val="FDA907"/>
                </a:solidFill>
                <a:cs typeface="+mn-ea"/>
                <a:sym typeface="+mn-lt"/>
              </a:rPr>
              <a:t>YOUR</a:t>
            </a:r>
            <a:r>
              <a:rPr lang="en-US" altLang="zh-CN" sz="2800" kern="0">
                <a:solidFill>
                  <a:srgbClr val="1A7BAE"/>
                </a:solidFill>
                <a:cs typeface="+mn-ea"/>
                <a:sym typeface="+mn-lt"/>
              </a:rPr>
              <a:t> </a:t>
            </a:r>
            <a:r>
              <a:rPr lang="en-US" altLang="zh-CN" sz="2800" kern="0">
                <a:solidFill>
                  <a:srgbClr val="BF3420"/>
                </a:solidFill>
                <a:cs typeface="+mn-ea"/>
                <a:sym typeface="+mn-lt"/>
              </a:rPr>
              <a:t>WATCHING</a:t>
            </a:r>
          </a:p>
        </p:txBody>
      </p:sp>
      <p:sp>
        <p:nvSpPr>
          <p:cNvPr id="9" name="矩形 8"/>
          <p:cNvSpPr/>
          <p:nvPr/>
        </p:nvSpPr>
        <p:spPr>
          <a:xfrm>
            <a:off x="2029043" y="2481740"/>
            <a:ext cx="5085566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  <a:sym typeface="+mn-lt"/>
              </a:rPr>
              <a:t>Copyright CFhM_R 2010-2016</a:t>
            </a:r>
            <a:r>
              <a:rPr lang="zh-CN" altLang="en-US" sz="10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  <a:sym typeface="+mn-lt"/>
              </a:rPr>
              <a:t>，</a:t>
            </a:r>
            <a:endParaRPr lang="en-US" altLang="zh-CN" sz="1000" dirty="0">
              <a:solidFill>
                <a:prstClr val="black">
                  <a:lumMod val="50000"/>
                  <a:lumOff val="50000"/>
                </a:prstClr>
              </a:solidFill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0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  <a:sym typeface="+mn-lt"/>
              </a:rPr>
              <a:t>Powered by BITNP2016, </a:t>
            </a:r>
          </a:p>
          <a:p>
            <a:pPr algn="ctr">
              <a:lnSpc>
                <a:spcPct val="150000"/>
              </a:lnSpc>
            </a:pPr>
            <a:r>
              <a:rPr lang="en-US" altLang="zh-CN" sz="10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  <a:sym typeface="+mn-lt"/>
              </a:rPr>
              <a:t>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64306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770" y="546525"/>
            <a:ext cx="3240360" cy="336894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131840" y="359668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1A7BAE"/>
                </a:solidFill>
                <a:cs typeface="+mn-ea"/>
                <a:sym typeface="+mn-lt"/>
              </a:rPr>
              <a:t>祝大家取得好成绩！</a:t>
            </a:r>
          </a:p>
        </p:txBody>
      </p:sp>
    </p:spTree>
    <p:extLst>
      <p:ext uri="{BB962C8B-B14F-4D97-AF65-F5344CB8AC3E}">
        <p14:creationId xmlns:p14="http://schemas.microsoft.com/office/powerpoint/2010/main" val="2431343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521550" y="2417220"/>
            <a:ext cx="2011635" cy="1540490"/>
            <a:chOff x="537552" y="3960193"/>
            <a:chExt cx="2011635" cy="1540490"/>
          </a:xfrm>
        </p:grpSpPr>
        <p:grpSp>
          <p:nvGrpSpPr>
            <p:cNvPr id="12" name="组合 11"/>
            <p:cNvGrpSpPr/>
            <p:nvPr/>
          </p:nvGrpSpPr>
          <p:grpSpPr>
            <a:xfrm>
              <a:off x="537552" y="3960193"/>
              <a:ext cx="2011635" cy="1523386"/>
              <a:chOff x="426605" y="3143318"/>
              <a:chExt cx="1596447" cy="1209155"/>
            </a:xfrm>
          </p:grpSpPr>
          <p:grpSp>
            <p:nvGrpSpPr>
              <p:cNvPr id="14" name="Group 72"/>
              <p:cNvGrpSpPr/>
              <p:nvPr/>
            </p:nvGrpSpPr>
            <p:grpSpPr>
              <a:xfrm>
                <a:off x="426605" y="3143318"/>
                <a:ext cx="1596447" cy="780256"/>
                <a:chOff x="579005" y="3143318"/>
                <a:chExt cx="1596447" cy="780256"/>
              </a:xfrm>
            </p:grpSpPr>
            <p:sp>
              <p:nvSpPr>
                <p:cNvPr id="30" name="Rectangle 6"/>
                <p:cNvSpPr/>
                <p:nvPr/>
              </p:nvSpPr>
              <p:spPr>
                <a:xfrm>
                  <a:off x="685800" y="3143318"/>
                  <a:ext cx="1447800" cy="228600"/>
                </a:xfrm>
                <a:prstGeom prst="rect">
                  <a:avLst/>
                </a:prstGeom>
                <a:no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r>
                    <a:rPr lang="zh-CN" altLang="en-US" kern="0" dirty="0" smtClean="0">
                      <a:solidFill>
                        <a:srgbClr val="1A7BAE"/>
                      </a:solidFill>
                      <a:cs typeface="+mn-ea"/>
                      <a:sym typeface="+mn-lt"/>
                    </a:rPr>
                    <a:t>王元玮</a:t>
                  </a:r>
                  <a:endParaRPr lang="en-US" kern="0" dirty="0">
                    <a:solidFill>
                      <a:srgbClr val="1A7BAE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1" name="Rectangle 10"/>
                <p:cNvSpPr/>
                <p:nvPr/>
              </p:nvSpPr>
              <p:spPr>
                <a:xfrm>
                  <a:off x="579005" y="3422777"/>
                  <a:ext cx="1596447" cy="5007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Bef>
                      <a:spcPts val="271"/>
                    </a:spcBef>
                    <a:defRPr/>
                  </a:pPr>
                  <a:r>
                    <a:rPr lang="en-US" altLang="zh-CN" sz="1000" kern="0" dirty="0" err="1" smtClean="0">
                      <a:solidFill>
                        <a:srgbClr val="1A7BAE"/>
                      </a:solidFill>
                      <a:cs typeface="+mn-ea"/>
                      <a:sym typeface="+mn-lt"/>
                    </a:rPr>
                    <a:t>wing.yuanwei</a:t>
                  </a:r>
                  <a:r>
                    <a:rPr lang="en-US" altLang="zh-CN" sz="1000" kern="0" dirty="0" smtClean="0">
                      <a:solidFill>
                        <a:srgbClr val="1A7BAE"/>
                      </a:solidFill>
                      <a:cs typeface="+mn-ea"/>
                      <a:sym typeface="+mn-lt"/>
                    </a:rPr>
                    <a:t>@gmail.com</a:t>
                  </a:r>
                  <a:endParaRPr lang="en-US" altLang="zh-CN" sz="1000" kern="0" dirty="0">
                    <a:solidFill>
                      <a:srgbClr val="1A7BAE"/>
                    </a:solidFill>
                    <a:cs typeface="+mn-ea"/>
                    <a:sym typeface="+mn-lt"/>
                  </a:endParaRPr>
                </a:p>
                <a:p>
                  <a:pPr algn="ctr">
                    <a:spcBef>
                      <a:spcPts val="271"/>
                    </a:spcBef>
                    <a:defRPr/>
                  </a:pPr>
                  <a:r>
                    <a:rPr lang="en-US" altLang="zh-CN" sz="1000" kern="0" dirty="0" smtClean="0">
                      <a:solidFill>
                        <a:srgbClr val="1A7BAE"/>
                      </a:solidFill>
                      <a:cs typeface="+mn-ea"/>
                      <a:sym typeface="+mn-lt"/>
                    </a:rPr>
                    <a:t>740879411</a:t>
                  </a:r>
                  <a:endParaRPr lang="en-US" altLang="zh-CN" sz="1000" kern="0" dirty="0">
                    <a:solidFill>
                      <a:srgbClr val="1A7BAE"/>
                    </a:solidFill>
                    <a:cs typeface="+mn-ea"/>
                    <a:sym typeface="+mn-lt"/>
                  </a:endParaRPr>
                </a:p>
                <a:p>
                  <a:pPr algn="ctr">
                    <a:spcBef>
                      <a:spcPts val="271"/>
                    </a:spcBef>
                    <a:defRPr/>
                  </a:pPr>
                  <a:r>
                    <a:rPr lang="en-US" altLang="zh-CN" sz="1000" kern="0" dirty="0" err="1" smtClean="0">
                      <a:solidFill>
                        <a:srgbClr val="1A7BAE"/>
                      </a:solidFill>
                      <a:cs typeface="+mn-ea"/>
                      <a:sym typeface="+mn-lt"/>
                    </a:rPr>
                    <a:t>Rogggger</a:t>
                  </a:r>
                  <a:endParaRPr lang="zh-CN" altLang="en-US" sz="1000" kern="0" dirty="0">
                    <a:solidFill>
                      <a:srgbClr val="1A7BAE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15" name="组合 14"/>
              <p:cNvGrpSpPr/>
              <p:nvPr/>
            </p:nvGrpSpPr>
            <p:grpSpPr>
              <a:xfrm>
                <a:off x="533400" y="4046084"/>
                <a:ext cx="1447800" cy="306389"/>
                <a:chOff x="685800" y="3943349"/>
                <a:chExt cx="1447800" cy="306389"/>
              </a:xfrm>
            </p:grpSpPr>
            <p:grpSp>
              <p:nvGrpSpPr>
                <p:cNvPr id="16" name="Group 56"/>
                <p:cNvGrpSpPr/>
                <p:nvPr/>
              </p:nvGrpSpPr>
              <p:grpSpPr>
                <a:xfrm>
                  <a:off x="685800" y="3943349"/>
                  <a:ext cx="1447800" cy="306389"/>
                  <a:chOff x="685800" y="4248149"/>
                  <a:chExt cx="1447800" cy="306389"/>
                </a:xfrm>
              </p:grpSpPr>
              <p:cxnSp>
                <p:nvCxnSpPr>
                  <p:cNvPr id="28" name="Straight Connector 60"/>
                  <p:cNvCxnSpPr/>
                  <p:nvPr/>
                </p:nvCxnSpPr>
                <p:spPr>
                  <a:xfrm>
                    <a:off x="685800" y="4248149"/>
                    <a:ext cx="1447800" cy="1588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>
                        <a:lumMod val="50000"/>
                        <a:lumOff val="50000"/>
                      </a:srgb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29" name="Straight Connector 61"/>
                  <p:cNvCxnSpPr/>
                  <p:nvPr/>
                </p:nvCxnSpPr>
                <p:spPr>
                  <a:xfrm>
                    <a:off x="685800" y="4552950"/>
                    <a:ext cx="1447800" cy="1588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>
                        <a:lumMod val="50000"/>
                        <a:lumOff val="50000"/>
                      </a:srgbClr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7" name="Freeform 5"/>
                <p:cNvSpPr>
                  <a:spLocks/>
                </p:cNvSpPr>
                <p:nvPr/>
              </p:nvSpPr>
              <p:spPr bwMode="auto">
                <a:xfrm>
                  <a:off x="1298058" y="3982244"/>
                  <a:ext cx="223284" cy="228600"/>
                </a:xfrm>
                <a:custGeom>
                  <a:avLst/>
                  <a:gdLst>
                    <a:gd name="T0" fmla="*/ 70 w 504"/>
                    <a:gd name="T1" fmla="*/ 215 h 516"/>
                    <a:gd name="T2" fmla="*/ 81 w 504"/>
                    <a:gd name="T3" fmla="*/ 187 h 516"/>
                    <a:gd name="T4" fmla="*/ 87 w 504"/>
                    <a:gd name="T5" fmla="*/ 165 h 516"/>
                    <a:gd name="T6" fmla="*/ 92 w 504"/>
                    <a:gd name="T7" fmla="*/ 131 h 516"/>
                    <a:gd name="T8" fmla="*/ 107 w 504"/>
                    <a:gd name="T9" fmla="*/ 94 h 516"/>
                    <a:gd name="T10" fmla="*/ 129 w 504"/>
                    <a:gd name="T11" fmla="*/ 60 h 516"/>
                    <a:gd name="T12" fmla="*/ 167 w 504"/>
                    <a:gd name="T13" fmla="*/ 26 h 516"/>
                    <a:gd name="T14" fmla="*/ 210 w 504"/>
                    <a:gd name="T15" fmla="*/ 7 h 516"/>
                    <a:gd name="T16" fmla="*/ 262 w 504"/>
                    <a:gd name="T17" fmla="*/ 0 h 516"/>
                    <a:gd name="T18" fmla="*/ 317 w 504"/>
                    <a:gd name="T19" fmla="*/ 6 h 516"/>
                    <a:gd name="T20" fmla="*/ 368 w 504"/>
                    <a:gd name="T21" fmla="*/ 26 h 516"/>
                    <a:gd name="T22" fmla="*/ 399 w 504"/>
                    <a:gd name="T23" fmla="*/ 51 h 516"/>
                    <a:gd name="T24" fmla="*/ 423 w 504"/>
                    <a:gd name="T25" fmla="*/ 87 h 516"/>
                    <a:gd name="T26" fmla="*/ 436 w 504"/>
                    <a:gd name="T27" fmla="*/ 126 h 516"/>
                    <a:gd name="T28" fmla="*/ 444 w 504"/>
                    <a:gd name="T29" fmla="*/ 168 h 516"/>
                    <a:gd name="T30" fmla="*/ 458 w 504"/>
                    <a:gd name="T31" fmla="*/ 197 h 516"/>
                    <a:gd name="T32" fmla="*/ 459 w 504"/>
                    <a:gd name="T33" fmla="*/ 219 h 516"/>
                    <a:gd name="T34" fmla="*/ 463 w 504"/>
                    <a:gd name="T35" fmla="*/ 246 h 516"/>
                    <a:gd name="T36" fmla="*/ 489 w 504"/>
                    <a:gd name="T37" fmla="*/ 293 h 516"/>
                    <a:gd name="T38" fmla="*/ 501 w 504"/>
                    <a:gd name="T39" fmla="*/ 331 h 516"/>
                    <a:gd name="T40" fmla="*/ 501 w 504"/>
                    <a:gd name="T41" fmla="*/ 372 h 516"/>
                    <a:gd name="T42" fmla="*/ 493 w 504"/>
                    <a:gd name="T43" fmla="*/ 396 h 516"/>
                    <a:gd name="T44" fmla="*/ 482 w 504"/>
                    <a:gd name="T45" fmla="*/ 403 h 516"/>
                    <a:gd name="T46" fmla="*/ 471 w 504"/>
                    <a:gd name="T47" fmla="*/ 397 h 516"/>
                    <a:gd name="T48" fmla="*/ 455 w 504"/>
                    <a:gd name="T49" fmla="*/ 368 h 516"/>
                    <a:gd name="T50" fmla="*/ 444 w 504"/>
                    <a:gd name="T51" fmla="*/ 388 h 516"/>
                    <a:gd name="T52" fmla="*/ 421 w 504"/>
                    <a:gd name="T53" fmla="*/ 427 h 516"/>
                    <a:gd name="T54" fmla="*/ 442 w 504"/>
                    <a:gd name="T55" fmla="*/ 448 h 516"/>
                    <a:gd name="T56" fmla="*/ 460 w 504"/>
                    <a:gd name="T57" fmla="*/ 467 h 516"/>
                    <a:gd name="T58" fmla="*/ 460 w 504"/>
                    <a:gd name="T59" fmla="*/ 481 h 516"/>
                    <a:gd name="T60" fmla="*/ 448 w 504"/>
                    <a:gd name="T61" fmla="*/ 496 h 516"/>
                    <a:gd name="T62" fmla="*/ 419 w 504"/>
                    <a:gd name="T63" fmla="*/ 508 h 516"/>
                    <a:gd name="T64" fmla="*/ 372 w 504"/>
                    <a:gd name="T65" fmla="*/ 513 h 516"/>
                    <a:gd name="T66" fmla="*/ 317 w 504"/>
                    <a:gd name="T67" fmla="*/ 506 h 516"/>
                    <a:gd name="T68" fmla="*/ 276 w 504"/>
                    <a:gd name="T69" fmla="*/ 494 h 516"/>
                    <a:gd name="T70" fmla="*/ 248 w 504"/>
                    <a:gd name="T71" fmla="*/ 495 h 516"/>
                    <a:gd name="T72" fmla="*/ 209 w 504"/>
                    <a:gd name="T73" fmla="*/ 512 h 516"/>
                    <a:gd name="T74" fmla="*/ 172 w 504"/>
                    <a:gd name="T75" fmla="*/ 516 h 516"/>
                    <a:gd name="T76" fmla="*/ 110 w 504"/>
                    <a:gd name="T77" fmla="*/ 512 h 516"/>
                    <a:gd name="T78" fmla="*/ 74 w 504"/>
                    <a:gd name="T79" fmla="*/ 499 h 516"/>
                    <a:gd name="T80" fmla="*/ 63 w 504"/>
                    <a:gd name="T81" fmla="*/ 487 h 516"/>
                    <a:gd name="T82" fmla="*/ 61 w 504"/>
                    <a:gd name="T83" fmla="*/ 471 h 516"/>
                    <a:gd name="T84" fmla="*/ 66 w 504"/>
                    <a:gd name="T85" fmla="*/ 454 h 516"/>
                    <a:gd name="T86" fmla="*/ 80 w 504"/>
                    <a:gd name="T87" fmla="*/ 444 h 516"/>
                    <a:gd name="T88" fmla="*/ 103 w 504"/>
                    <a:gd name="T89" fmla="*/ 439 h 516"/>
                    <a:gd name="T90" fmla="*/ 96 w 504"/>
                    <a:gd name="T91" fmla="*/ 430 h 516"/>
                    <a:gd name="T92" fmla="*/ 69 w 504"/>
                    <a:gd name="T93" fmla="*/ 400 h 516"/>
                    <a:gd name="T94" fmla="*/ 55 w 504"/>
                    <a:gd name="T95" fmla="*/ 368 h 516"/>
                    <a:gd name="T96" fmla="*/ 50 w 504"/>
                    <a:gd name="T97" fmla="*/ 361 h 516"/>
                    <a:gd name="T98" fmla="*/ 42 w 504"/>
                    <a:gd name="T99" fmla="*/ 376 h 516"/>
                    <a:gd name="T100" fmla="*/ 22 w 504"/>
                    <a:gd name="T101" fmla="*/ 395 h 516"/>
                    <a:gd name="T102" fmla="*/ 8 w 504"/>
                    <a:gd name="T103" fmla="*/ 396 h 516"/>
                    <a:gd name="T104" fmla="*/ 1 w 504"/>
                    <a:gd name="T105" fmla="*/ 374 h 516"/>
                    <a:gd name="T106" fmla="*/ 3 w 504"/>
                    <a:gd name="T107" fmla="*/ 332 h 516"/>
                    <a:gd name="T108" fmla="*/ 18 w 504"/>
                    <a:gd name="T109" fmla="*/ 293 h 516"/>
                    <a:gd name="T110" fmla="*/ 46 w 504"/>
                    <a:gd name="T111" fmla="*/ 254 h 516"/>
                    <a:gd name="T112" fmla="*/ 72 w 504"/>
                    <a:gd name="T113" fmla="*/ 232 h 5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504" h="516">
                      <a:moveTo>
                        <a:pt x="72" y="232"/>
                      </a:moveTo>
                      <a:lnTo>
                        <a:pt x="71" y="229"/>
                      </a:lnTo>
                      <a:lnTo>
                        <a:pt x="70" y="225"/>
                      </a:lnTo>
                      <a:lnTo>
                        <a:pt x="70" y="223"/>
                      </a:lnTo>
                      <a:lnTo>
                        <a:pt x="70" y="221"/>
                      </a:lnTo>
                      <a:lnTo>
                        <a:pt x="70" y="217"/>
                      </a:lnTo>
                      <a:lnTo>
                        <a:pt x="70" y="215"/>
                      </a:lnTo>
                      <a:lnTo>
                        <a:pt x="71" y="211"/>
                      </a:lnTo>
                      <a:lnTo>
                        <a:pt x="72" y="207"/>
                      </a:lnTo>
                      <a:lnTo>
                        <a:pt x="73" y="203"/>
                      </a:lnTo>
                      <a:lnTo>
                        <a:pt x="74" y="199"/>
                      </a:lnTo>
                      <a:lnTo>
                        <a:pt x="78" y="195"/>
                      </a:lnTo>
                      <a:lnTo>
                        <a:pt x="81" y="190"/>
                      </a:lnTo>
                      <a:lnTo>
                        <a:pt x="81" y="187"/>
                      </a:lnTo>
                      <a:lnTo>
                        <a:pt x="81" y="184"/>
                      </a:lnTo>
                      <a:lnTo>
                        <a:pt x="81" y="180"/>
                      </a:lnTo>
                      <a:lnTo>
                        <a:pt x="83" y="176"/>
                      </a:lnTo>
                      <a:lnTo>
                        <a:pt x="84" y="171"/>
                      </a:lnTo>
                      <a:lnTo>
                        <a:pt x="85" y="169"/>
                      </a:lnTo>
                      <a:lnTo>
                        <a:pt x="86" y="167"/>
                      </a:lnTo>
                      <a:lnTo>
                        <a:pt x="87" y="165"/>
                      </a:lnTo>
                      <a:lnTo>
                        <a:pt x="89" y="163"/>
                      </a:lnTo>
                      <a:lnTo>
                        <a:pt x="89" y="159"/>
                      </a:lnTo>
                      <a:lnTo>
                        <a:pt x="89" y="156"/>
                      </a:lnTo>
                      <a:lnTo>
                        <a:pt x="89" y="151"/>
                      </a:lnTo>
                      <a:lnTo>
                        <a:pt x="90" y="146"/>
                      </a:lnTo>
                      <a:lnTo>
                        <a:pt x="91" y="140"/>
                      </a:lnTo>
                      <a:lnTo>
                        <a:pt x="92" y="131"/>
                      </a:lnTo>
                      <a:lnTo>
                        <a:pt x="94" y="123"/>
                      </a:lnTo>
                      <a:lnTo>
                        <a:pt x="96" y="119"/>
                      </a:lnTo>
                      <a:lnTo>
                        <a:pt x="98" y="114"/>
                      </a:lnTo>
                      <a:lnTo>
                        <a:pt x="99" y="109"/>
                      </a:lnTo>
                      <a:lnTo>
                        <a:pt x="102" y="104"/>
                      </a:lnTo>
                      <a:lnTo>
                        <a:pt x="105" y="99"/>
                      </a:lnTo>
                      <a:lnTo>
                        <a:pt x="107" y="94"/>
                      </a:lnTo>
                      <a:lnTo>
                        <a:pt x="110" y="89"/>
                      </a:lnTo>
                      <a:lnTo>
                        <a:pt x="114" y="83"/>
                      </a:lnTo>
                      <a:lnTo>
                        <a:pt x="115" y="80"/>
                      </a:lnTo>
                      <a:lnTo>
                        <a:pt x="117" y="77"/>
                      </a:lnTo>
                      <a:lnTo>
                        <a:pt x="121" y="72"/>
                      </a:lnTo>
                      <a:lnTo>
                        <a:pt x="125" y="66"/>
                      </a:lnTo>
                      <a:lnTo>
                        <a:pt x="129" y="60"/>
                      </a:lnTo>
                      <a:lnTo>
                        <a:pt x="135" y="54"/>
                      </a:lnTo>
                      <a:lnTo>
                        <a:pt x="140" y="49"/>
                      </a:lnTo>
                      <a:lnTo>
                        <a:pt x="145" y="44"/>
                      </a:lnTo>
                      <a:lnTo>
                        <a:pt x="152" y="38"/>
                      </a:lnTo>
                      <a:lnTo>
                        <a:pt x="156" y="33"/>
                      </a:lnTo>
                      <a:lnTo>
                        <a:pt x="162" y="29"/>
                      </a:lnTo>
                      <a:lnTo>
                        <a:pt x="167" y="26"/>
                      </a:lnTo>
                      <a:lnTo>
                        <a:pt x="172" y="22"/>
                      </a:lnTo>
                      <a:lnTo>
                        <a:pt x="178" y="19"/>
                      </a:lnTo>
                      <a:lnTo>
                        <a:pt x="184" y="17"/>
                      </a:lnTo>
                      <a:lnTo>
                        <a:pt x="191" y="14"/>
                      </a:lnTo>
                      <a:lnTo>
                        <a:pt x="197" y="12"/>
                      </a:lnTo>
                      <a:lnTo>
                        <a:pt x="204" y="9"/>
                      </a:lnTo>
                      <a:lnTo>
                        <a:pt x="210" y="7"/>
                      </a:lnTo>
                      <a:lnTo>
                        <a:pt x="217" y="5"/>
                      </a:lnTo>
                      <a:lnTo>
                        <a:pt x="225" y="4"/>
                      </a:lnTo>
                      <a:lnTo>
                        <a:pt x="232" y="2"/>
                      </a:lnTo>
                      <a:lnTo>
                        <a:pt x="240" y="2"/>
                      </a:lnTo>
                      <a:lnTo>
                        <a:pt x="248" y="1"/>
                      </a:lnTo>
                      <a:lnTo>
                        <a:pt x="255" y="0"/>
                      </a:lnTo>
                      <a:lnTo>
                        <a:pt x="262" y="0"/>
                      </a:lnTo>
                      <a:lnTo>
                        <a:pt x="270" y="0"/>
                      </a:lnTo>
                      <a:lnTo>
                        <a:pt x="279" y="0"/>
                      </a:lnTo>
                      <a:lnTo>
                        <a:pt x="286" y="1"/>
                      </a:lnTo>
                      <a:lnTo>
                        <a:pt x="294" y="2"/>
                      </a:lnTo>
                      <a:lnTo>
                        <a:pt x="301" y="3"/>
                      </a:lnTo>
                      <a:lnTo>
                        <a:pt x="309" y="4"/>
                      </a:lnTo>
                      <a:lnTo>
                        <a:pt x="317" y="6"/>
                      </a:lnTo>
                      <a:lnTo>
                        <a:pt x="324" y="8"/>
                      </a:lnTo>
                      <a:lnTo>
                        <a:pt x="333" y="10"/>
                      </a:lnTo>
                      <a:lnTo>
                        <a:pt x="340" y="13"/>
                      </a:lnTo>
                      <a:lnTo>
                        <a:pt x="347" y="16"/>
                      </a:lnTo>
                      <a:lnTo>
                        <a:pt x="354" y="19"/>
                      </a:lnTo>
                      <a:lnTo>
                        <a:pt x="361" y="23"/>
                      </a:lnTo>
                      <a:lnTo>
                        <a:pt x="368" y="26"/>
                      </a:lnTo>
                      <a:lnTo>
                        <a:pt x="374" y="30"/>
                      </a:lnTo>
                      <a:lnTo>
                        <a:pt x="380" y="34"/>
                      </a:lnTo>
                      <a:lnTo>
                        <a:pt x="382" y="37"/>
                      </a:lnTo>
                      <a:lnTo>
                        <a:pt x="385" y="39"/>
                      </a:lnTo>
                      <a:lnTo>
                        <a:pt x="391" y="43"/>
                      </a:lnTo>
                      <a:lnTo>
                        <a:pt x="395" y="47"/>
                      </a:lnTo>
                      <a:lnTo>
                        <a:pt x="399" y="51"/>
                      </a:lnTo>
                      <a:lnTo>
                        <a:pt x="403" y="56"/>
                      </a:lnTo>
                      <a:lnTo>
                        <a:pt x="407" y="62"/>
                      </a:lnTo>
                      <a:lnTo>
                        <a:pt x="411" y="66"/>
                      </a:lnTo>
                      <a:lnTo>
                        <a:pt x="414" y="72"/>
                      </a:lnTo>
                      <a:lnTo>
                        <a:pt x="416" y="76"/>
                      </a:lnTo>
                      <a:lnTo>
                        <a:pt x="420" y="81"/>
                      </a:lnTo>
                      <a:lnTo>
                        <a:pt x="423" y="87"/>
                      </a:lnTo>
                      <a:lnTo>
                        <a:pt x="427" y="96"/>
                      </a:lnTo>
                      <a:lnTo>
                        <a:pt x="429" y="101"/>
                      </a:lnTo>
                      <a:lnTo>
                        <a:pt x="431" y="106"/>
                      </a:lnTo>
                      <a:lnTo>
                        <a:pt x="432" y="112"/>
                      </a:lnTo>
                      <a:lnTo>
                        <a:pt x="434" y="117"/>
                      </a:lnTo>
                      <a:lnTo>
                        <a:pt x="435" y="121"/>
                      </a:lnTo>
                      <a:lnTo>
                        <a:pt x="436" y="126"/>
                      </a:lnTo>
                      <a:lnTo>
                        <a:pt x="439" y="134"/>
                      </a:lnTo>
                      <a:lnTo>
                        <a:pt x="440" y="143"/>
                      </a:lnTo>
                      <a:lnTo>
                        <a:pt x="441" y="150"/>
                      </a:lnTo>
                      <a:lnTo>
                        <a:pt x="442" y="156"/>
                      </a:lnTo>
                      <a:lnTo>
                        <a:pt x="443" y="165"/>
                      </a:lnTo>
                      <a:lnTo>
                        <a:pt x="443" y="167"/>
                      </a:lnTo>
                      <a:lnTo>
                        <a:pt x="444" y="168"/>
                      </a:lnTo>
                      <a:lnTo>
                        <a:pt x="448" y="173"/>
                      </a:lnTo>
                      <a:lnTo>
                        <a:pt x="450" y="176"/>
                      </a:lnTo>
                      <a:lnTo>
                        <a:pt x="452" y="179"/>
                      </a:lnTo>
                      <a:lnTo>
                        <a:pt x="454" y="183"/>
                      </a:lnTo>
                      <a:lnTo>
                        <a:pt x="455" y="188"/>
                      </a:lnTo>
                      <a:lnTo>
                        <a:pt x="457" y="192"/>
                      </a:lnTo>
                      <a:lnTo>
                        <a:pt x="458" y="197"/>
                      </a:lnTo>
                      <a:lnTo>
                        <a:pt x="459" y="202"/>
                      </a:lnTo>
                      <a:lnTo>
                        <a:pt x="459" y="204"/>
                      </a:lnTo>
                      <a:lnTo>
                        <a:pt x="460" y="207"/>
                      </a:lnTo>
                      <a:lnTo>
                        <a:pt x="460" y="210"/>
                      </a:lnTo>
                      <a:lnTo>
                        <a:pt x="459" y="213"/>
                      </a:lnTo>
                      <a:lnTo>
                        <a:pt x="459" y="216"/>
                      </a:lnTo>
                      <a:lnTo>
                        <a:pt x="459" y="219"/>
                      </a:lnTo>
                      <a:lnTo>
                        <a:pt x="457" y="225"/>
                      </a:lnTo>
                      <a:lnTo>
                        <a:pt x="456" y="228"/>
                      </a:lnTo>
                      <a:lnTo>
                        <a:pt x="455" y="231"/>
                      </a:lnTo>
                      <a:lnTo>
                        <a:pt x="455" y="232"/>
                      </a:lnTo>
                      <a:lnTo>
                        <a:pt x="455" y="233"/>
                      </a:lnTo>
                      <a:lnTo>
                        <a:pt x="457" y="236"/>
                      </a:lnTo>
                      <a:lnTo>
                        <a:pt x="463" y="246"/>
                      </a:lnTo>
                      <a:lnTo>
                        <a:pt x="468" y="253"/>
                      </a:lnTo>
                      <a:lnTo>
                        <a:pt x="471" y="258"/>
                      </a:lnTo>
                      <a:lnTo>
                        <a:pt x="475" y="265"/>
                      </a:lnTo>
                      <a:lnTo>
                        <a:pt x="478" y="271"/>
                      </a:lnTo>
                      <a:lnTo>
                        <a:pt x="482" y="277"/>
                      </a:lnTo>
                      <a:lnTo>
                        <a:pt x="485" y="285"/>
                      </a:lnTo>
                      <a:lnTo>
                        <a:pt x="489" y="293"/>
                      </a:lnTo>
                      <a:lnTo>
                        <a:pt x="491" y="298"/>
                      </a:lnTo>
                      <a:lnTo>
                        <a:pt x="493" y="303"/>
                      </a:lnTo>
                      <a:lnTo>
                        <a:pt x="495" y="309"/>
                      </a:lnTo>
                      <a:lnTo>
                        <a:pt x="496" y="313"/>
                      </a:lnTo>
                      <a:lnTo>
                        <a:pt x="498" y="318"/>
                      </a:lnTo>
                      <a:lnTo>
                        <a:pt x="499" y="323"/>
                      </a:lnTo>
                      <a:lnTo>
                        <a:pt x="501" y="331"/>
                      </a:lnTo>
                      <a:lnTo>
                        <a:pt x="503" y="341"/>
                      </a:lnTo>
                      <a:lnTo>
                        <a:pt x="504" y="349"/>
                      </a:lnTo>
                      <a:lnTo>
                        <a:pt x="504" y="354"/>
                      </a:lnTo>
                      <a:lnTo>
                        <a:pt x="504" y="357"/>
                      </a:lnTo>
                      <a:lnTo>
                        <a:pt x="504" y="361"/>
                      </a:lnTo>
                      <a:lnTo>
                        <a:pt x="503" y="365"/>
                      </a:lnTo>
                      <a:lnTo>
                        <a:pt x="501" y="372"/>
                      </a:lnTo>
                      <a:lnTo>
                        <a:pt x="500" y="378"/>
                      </a:lnTo>
                      <a:lnTo>
                        <a:pt x="498" y="385"/>
                      </a:lnTo>
                      <a:lnTo>
                        <a:pt x="498" y="387"/>
                      </a:lnTo>
                      <a:lnTo>
                        <a:pt x="496" y="390"/>
                      </a:lnTo>
                      <a:lnTo>
                        <a:pt x="495" y="392"/>
                      </a:lnTo>
                      <a:lnTo>
                        <a:pt x="494" y="394"/>
                      </a:lnTo>
                      <a:lnTo>
                        <a:pt x="493" y="396"/>
                      </a:lnTo>
                      <a:lnTo>
                        <a:pt x="491" y="398"/>
                      </a:lnTo>
                      <a:lnTo>
                        <a:pt x="490" y="399"/>
                      </a:lnTo>
                      <a:lnTo>
                        <a:pt x="488" y="401"/>
                      </a:lnTo>
                      <a:lnTo>
                        <a:pt x="486" y="401"/>
                      </a:lnTo>
                      <a:lnTo>
                        <a:pt x="485" y="402"/>
                      </a:lnTo>
                      <a:lnTo>
                        <a:pt x="483" y="403"/>
                      </a:lnTo>
                      <a:lnTo>
                        <a:pt x="482" y="403"/>
                      </a:lnTo>
                      <a:lnTo>
                        <a:pt x="481" y="403"/>
                      </a:lnTo>
                      <a:lnTo>
                        <a:pt x="480" y="402"/>
                      </a:lnTo>
                      <a:lnTo>
                        <a:pt x="477" y="401"/>
                      </a:lnTo>
                      <a:lnTo>
                        <a:pt x="476" y="400"/>
                      </a:lnTo>
                      <a:lnTo>
                        <a:pt x="475" y="399"/>
                      </a:lnTo>
                      <a:lnTo>
                        <a:pt x="473" y="398"/>
                      </a:lnTo>
                      <a:lnTo>
                        <a:pt x="471" y="397"/>
                      </a:lnTo>
                      <a:lnTo>
                        <a:pt x="469" y="394"/>
                      </a:lnTo>
                      <a:lnTo>
                        <a:pt x="467" y="391"/>
                      </a:lnTo>
                      <a:lnTo>
                        <a:pt x="465" y="387"/>
                      </a:lnTo>
                      <a:lnTo>
                        <a:pt x="462" y="384"/>
                      </a:lnTo>
                      <a:lnTo>
                        <a:pt x="461" y="380"/>
                      </a:lnTo>
                      <a:lnTo>
                        <a:pt x="458" y="374"/>
                      </a:lnTo>
                      <a:lnTo>
                        <a:pt x="455" y="368"/>
                      </a:lnTo>
                      <a:lnTo>
                        <a:pt x="454" y="368"/>
                      </a:lnTo>
                      <a:lnTo>
                        <a:pt x="454" y="368"/>
                      </a:lnTo>
                      <a:lnTo>
                        <a:pt x="452" y="369"/>
                      </a:lnTo>
                      <a:lnTo>
                        <a:pt x="452" y="370"/>
                      </a:lnTo>
                      <a:lnTo>
                        <a:pt x="450" y="372"/>
                      </a:lnTo>
                      <a:lnTo>
                        <a:pt x="448" y="378"/>
                      </a:lnTo>
                      <a:lnTo>
                        <a:pt x="444" y="388"/>
                      </a:lnTo>
                      <a:lnTo>
                        <a:pt x="440" y="398"/>
                      </a:lnTo>
                      <a:lnTo>
                        <a:pt x="437" y="403"/>
                      </a:lnTo>
                      <a:lnTo>
                        <a:pt x="433" y="409"/>
                      </a:lnTo>
                      <a:lnTo>
                        <a:pt x="429" y="415"/>
                      </a:lnTo>
                      <a:lnTo>
                        <a:pt x="425" y="421"/>
                      </a:lnTo>
                      <a:lnTo>
                        <a:pt x="423" y="424"/>
                      </a:lnTo>
                      <a:lnTo>
                        <a:pt x="421" y="427"/>
                      </a:lnTo>
                      <a:lnTo>
                        <a:pt x="414" y="434"/>
                      </a:lnTo>
                      <a:lnTo>
                        <a:pt x="414" y="434"/>
                      </a:lnTo>
                      <a:lnTo>
                        <a:pt x="415" y="435"/>
                      </a:lnTo>
                      <a:lnTo>
                        <a:pt x="419" y="437"/>
                      </a:lnTo>
                      <a:lnTo>
                        <a:pt x="431" y="442"/>
                      </a:lnTo>
                      <a:lnTo>
                        <a:pt x="437" y="446"/>
                      </a:lnTo>
                      <a:lnTo>
                        <a:pt x="442" y="448"/>
                      </a:lnTo>
                      <a:lnTo>
                        <a:pt x="448" y="452"/>
                      </a:lnTo>
                      <a:lnTo>
                        <a:pt x="452" y="456"/>
                      </a:lnTo>
                      <a:lnTo>
                        <a:pt x="455" y="459"/>
                      </a:lnTo>
                      <a:lnTo>
                        <a:pt x="456" y="461"/>
                      </a:lnTo>
                      <a:lnTo>
                        <a:pt x="458" y="463"/>
                      </a:lnTo>
                      <a:lnTo>
                        <a:pt x="459" y="465"/>
                      </a:lnTo>
                      <a:lnTo>
                        <a:pt x="460" y="467"/>
                      </a:lnTo>
                      <a:lnTo>
                        <a:pt x="461" y="470"/>
                      </a:lnTo>
                      <a:lnTo>
                        <a:pt x="461" y="472"/>
                      </a:lnTo>
                      <a:lnTo>
                        <a:pt x="462" y="475"/>
                      </a:lnTo>
                      <a:lnTo>
                        <a:pt x="461" y="476"/>
                      </a:lnTo>
                      <a:lnTo>
                        <a:pt x="461" y="478"/>
                      </a:lnTo>
                      <a:lnTo>
                        <a:pt x="461" y="480"/>
                      </a:lnTo>
                      <a:lnTo>
                        <a:pt x="460" y="481"/>
                      </a:lnTo>
                      <a:lnTo>
                        <a:pt x="460" y="484"/>
                      </a:lnTo>
                      <a:lnTo>
                        <a:pt x="459" y="485"/>
                      </a:lnTo>
                      <a:lnTo>
                        <a:pt x="457" y="488"/>
                      </a:lnTo>
                      <a:lnTo>
                        <a:pt x="455" y="491"/>
                      </a:lnTo>
                      <a:lnTo>
                        <a:pt x="453" y="492"/>
                      </a:lnTo>
                      <a:lnTo>
                        <a:pt x="452" y="494"/>
                      </a:lnTo>
                      <a:lnTo>
                        <a:pt x="448" y="496"/>
                      </a:lnTo>
                      <a:lnTo>
                        <a:pt x="443" y="498"/>
                      </a:lnTo>
                      <a:lnTo>
                        <a:pt x="439" y="500"/>
                      </a:lnTo>
                      <a:lnTo>
                        <a:pt x="435" y="502"/>
                      </a:lnTo>
                      <a:lnTo>
                        <a:pt x="430" y="504"/>
                      </a:lnTo>
                      <a:lnTo>
                        <a:pt x="427" y="505"/>
                      </a:lnTo>
                      <a:lnTo>
                        <a:pt x="425" y="506"/>
                      </a:lnTo>
                      <a:lnTo>
                        <a:pt x="419" y="508"/>
                      </a:lnTo>
                      <a:lnTo>
                        <a:pt x="413" y="509"/>
                      </a:lnTo>
                      <a:lnTo>
                        <a:pt x="407" y="511"/>
                      </a:lnTo>
                      <a:lnTo>
                        <a:pt x="400" y="512"/>
                      </a:lnTo>
                      <a:lnTo>
                        <a:pt x="394" y="512"/>
                      </a:lnTo>
                      <a:lnTo>
                        <a:pt x="386" y="513"/>
                      </a:lnTo>
                      <a:lnTo>
                        <a:pt x="379" y="513"/>
                      </a:lnTo>
                      <a:lnTo>
                        <a:pt x="372" y="513"/>
                      </a:lnTo>
                      <a:lnTo>
                        <a:pt x="365" y="513"/>
                      </a:lnTo>
                      <a:lnTo>
                        <a:pt x="356" y="512"/>
                      </a:lnTo>
                      <a:lnTo>
                        <a:pt x="349" y="512"/>
                      </a:lnTo>
                      <a:lnTo>
                        <a:pt x="342" y="511"/>
                      </a:lnTo>
                      <a:lnTo>
                        <a:pt x="334" y="510"/>
                      </a:lnTo>
                      <a:lnTo>
                        <a:pt x="325" y="509"/>
                      </a:lnTo>
                      <a:lnTo>
                        <a:pt x="317" y="506"/>
                      </a:lnTo>
                      <a:lnTo>
                        <a:pt x="310" y="504"/>
                      </a:lnTo>
                      <a:lnTo>
                        <a:pt x="301" y="502"/>
                      </a:lnTo>
                      <a:lnTo>
                        <a:pt x="294" y="500"/>
                      </a:lnTo>
                      <a:lnTo>
                        <a:pt x="286" y="497"/>
                      </a:lnTo>
                      <a:lnTo>
                        <a:pt x="282" y="496"/>
                      </a:lnTo>
                      <a:lnTo>
                        <a:pt x="279" y="495"/>
                      </a:lnTo>
                      <a:lnTo>
                        <a:pt x="276" y="494"/>
                      </a:lnTo>
                      <a:lnTo>
                        <a:pt x="273" y="493"/>
                      </a:lnTo>
                      <a:lnTo>
                        <a:pt x="270" y="493"/>
                      </a:lnTo>
                      <a:lnTo>
                        <a:pt x="267" y="493"/>
                      </a:lnTo>
                      <a:lnTo>
                        <a:pt x="260" y="493"/>
                      </a:lnTo>
                      <a:lnTo>
                        <a:pt x="256" y="492"/>
                      </a:lnTo>
                      <a:lnTo>
                        <a:pt x="251" y="492"/>
                      </a:lnTo>
                      <a:lnTo>
                        <a:pt x="248" y="495"/>
                      </a:lnTo>
                      <a:lnTo>
                        <a:pt x="243" y="497"/>
                      </a:lnTo>
                      <a:lnTo>
                        <a:pt x="238" y="500"/>
                      </a:lnTo>
                      <a:lnTo>
                        <a:pt x="232" y="503"/>
                      </a:lnTo>
                      <a:lnTo>
                        <a:pt x="228" y="505"/>
                      </a:lnTo>
                      <a:lnTo>
                        <a:pt x="224" y="508"/>
                      </a:lnTo>
                      <a:lnTo>
                        <a:pt x="214" y="511"/>
                      </a:lnTo>
                      <a:lnTo>
                        <a:pt x="209" y="512"/>
                      </a:lnTo>
                      <a:lnTo>
                        <a:pt x="205" y="514"/>
                      </a:lnTo>
                      <a:lnTo>
                        <a:pt x="198" y="515"/>
                      </a:lnTo>
                      <a:lnTo>
                        <a:pt x="193" y="515"/>
                      </a:lnTo>
                      <a:lnTo>
                        <a:pt x="188" y="516"/>
                      </a:lnTo>
                      <a:lnTo>
                        <a:pt x="183" y="516"/>
                      </a:lnTo>
                      <a:lnTo>
                        <a:pt x="178" y="516"/>
                      </a:lnTo>
                      <a:lnTo>
                        <a:pt x="172" y="516"/>
                      </a:lnTo>
                      <a:lnTo>
                        <a:pt x="167" y="516"/>
                      </a:lnTo>
                      <a:lnTo>
                        <a:pt x="154" y="516"/>
                      </a:lnTo>
                      <a:lnTo>
                        <a:pt x="141" y="516"/>
                      </a:lnTo>
                      <a:lnTo>
                        <a:pt x="128" y="515"/>
                      </a:lnTo>
                      <a:lnTo>
                        <a:pt x="122" y="514"/>
                      </a:lnTo>
                      <a:lnTo>
                        <a:pt x="116" y="513"/>
                      </a:lnTo>
                      <a:lnTo>
                        <a:pt x="110" y="512"/>
                      </a:lnTo>
                      <a:lnTo>
                        <a:pt x="103" y="511"/>
                      </a:lnTo>
                      <a:lnTo>
                        <a:pt x="98" y="509"/>
                      </a:lnTo>
                      <a:lnTo>
                        <a:pt x="92" y="508"/>
                      </a:lnTo>
                      <a:lnTo>
                        <a:pt x="87" y="505"/>
                      </a:lnTo>
                      <a:lnTo>
                        <a:pt x="83" y="503"/>
                      </a:lnTo>
                      <a:lnTo>
                        <a:pt x="78" y="501"/>
                      </a:lnTo>
                      <a:lnTo>
                        <a:pt x="74" y="499"/>
                      </a:lnTo>
                      <a:lnTo>
                        <a:pt x="70" y="496"/>
                      </a:lnTo>
                      <a:lnTo>
                        <a:pt x="69" y="495"/>
                      </a:lnTo>
                      <a:lnTo>
                        <a:pt x="67" y="493"/>
                      </a:lnTo>
                      <a:lnTo>
                        <a:pt x="66" y="492"/>
                      </a:lnTo>
                      <a:lnTo>
                        <a:pt x="64" y="490"/>
                      </a:lnTo>
                      <a:lnTo>
                        <a:pt x="63" y="489"/>
                      </a:lnTo>
                      <a:lnTo>
                        <a:pt x="63" y="487"/>
                      </a:lnTo>
                      <a:lnTo>
                        <a:pt x="61" y="484"/>
                      </a:lnTo>
                      <a:lnTo>
                        <a:pt x="61" y="481"/>
                      </a:lnTo>
                      <a:lnTo>
                        <a:pt x="60" y="479"/>
                      </a:lnTo>
                      <a:lnTo>
                        <a:pt x="60" y="477"/>
                      </a:lnTo>
                      <a:lnTo>
                        <a:pt x="61" y="475"/>
                      </a:lnTo>
                      <a:lnTo>
                        <a:pt x="61" y="473"/>
                      </a:lnTo>
                      <a:lnTo>
                        <a:pt x="61" y="471"/>
                      </a:lnTo>
                      <a:lnTo>
                        <a:pt x="61" y="470"/>
                      </a:lnTo>
                      <a:lnTo>
                        <a:pt x="61" y="467"/>
                      </a:lnTo>
                      <a:lnTo>
                        <a:pt x="62" y="465"/>
                      </a:lnTo>
                      <a:lnTo>
                        <a:pt x="63" y="462"/>
                      </a:lnTo>
                      <a:lnTo>
                        <a:pt x="63" y="460"/>
                      </a:lnTo>
                      <a:lnTo>
                        <a:pt x="65" y="456"/>
                      </a:lnTo>
                      <a:lnTo>
                        <a:pt x="66" y="454"/>
                      </a:lnTo>
                      <a:lnTo>
                        <a:pt x="67" y="453"/>
                      </a:lnTo>
                      <a:lnTo>
                        <a:pt x="69" y="450"/>
                      </a:lnTo>
                      <a:lnTo>
                        <a:pt x="71" y="449"/>
                      </a:lnTo>
                      <a:lnTo>
                        <a:pt x="73" y="448"/>
                      </a:lnTo>
                      <a:lnTo>
                        <a:pt x="74" y="446"/>
                      </a:lnTo>
                      <a:lnTo>
                        <a:pt x="78" y="446"/>
                      </a:lnTo>
                      <a:lnTo>
                        <a:pt x="80" y="444"/>
                      </a:lnTo>
                      <a:lnTo>
                        <a:pt x="83" y="443"/>
                      </a:lnTo>
                      <a:lnTo>
                        <a:pt x="86" y="442"/>
                      </a:lnTo>
                      <a:lnTo>
                        <a:pt x="89" y="441"/>
                      </a:lnTo>
                      <a:lnTo>
                        <a:pt x="92" y="440"/>
                      </a:lnTo>
                      <a:lnTo>
                        <a:pt x="95" y="440"/>
                      </a:lnTo>
                      <a:lnTo>
                        <a:pt x="99" y="439"/>
                      </a:lnTo>
                      <a:lnTo>
                        <a:pt x="103" y="439"/>
                      </a:lnTo>
                      <a:lnTo>
                        <a:pt x="105" y="439"/>
                      </a:lnTo>
                      <a:lnTo>
                        <a:pt x="105" y="439"/>
                      </a:lnTo>
                      <a:lnTo>
                        <a:pt x="106" y="438"/>
                      </a:lnTo>
                      <a:lnTo>
                        <a:pt x="106" y="438"/>
                      </a:lnTo>
                      <a:lnTo>
                        <a:pt x="105" y="437"/>
                      </a:lnTo>
                      <a:lnTo>
                        <a:pt x="102" y="436"/>
                      </a:lnTo>
                      <a:lnTo>
                        <a:pt x="96" y="430"/>
                      </a:lnTo>
                      <a:lnTo>
                        <a:pt x="93" y="427"/>
                      </a:lnTo>
                      <a:lnTo>
                        <a:pt x="89" y="423"/>
                      </a:lnTo>
                      <a:lnTo>
                        <a:pt x="84" y="419"/>
                      </a:lnTo>
                      <a:lnTo>
                        <a:pt x="80" y="414"/>
                      </a:lnTo>
                      <a:lnTo>
                        <a:pt x="74" y="407"/>
                      </a:lnTo>
                      <a:lnTo>
                        <a:pt x="72" y="403"/>
                      </a:lnTo>
                      <a:lnTo>
                        <a:pt x="69" y="400"/>
                      </a:lnTo>
                      <a:lnTo>
                        <a:pt x="67" y="396"/>
                      </a:lnTo>
                      <a:lnTo>
                        <a:pt x="65" y="392"/>
                      </a:lnTo>
                      <a:lnTo>
                        <a:pt x="62" y="388"/>
                      </a:lnTo>
                      <a:lnTo>
                        <a:pt x="60" y="382"/>
                      </a:lnTo>
                      <a:lnTo>
                        <a:pt x="58" y="378"/>
                      </a:lnTo>
                      <a:lnTo>
                        <a:pt x="56" y="372"/>
                      </a:lnTo>
                      <a:lnTo>
                        <a:pt x="55" y="368"/>
                      </a:lnTo>
                      <a:lnTo>
                        <a:pt x="53" y="361"/>
                      </a:lnTo>
                      <a:lnTo>
                        <a:pt x="53" y="361"/>
                      </a:lnTo>
                      <a:lnTo>
                        <a:pt x="53" y="361"/>
                      </a:lnTo>
                      <a:lnTo>
                        <a:pt x="52" y="361"/>
                      </a:lnTo>
                      <a:lnTo>
                        <a:pt x="52" y="361"/>
                      </a:lnTo>
                      <a:lnTo>
                        <a:pt x="51" y="361"/>
                      </a:lnTo>
                      <a:lnTo>
                        <a:pt x="50" y="361"/>
                      </a:lnTo>
                      <a:lnTo>
                        <a:pt x="50" y="362"/>
                      </a:lnTo>
                      <a:lnTo>
                        <a:pt x="50" y="364"/>
                      </a:lnTo>
                      <a:lnTo>
                        <a:pt x="49" y="365"/>
                      </a:lnTo>
                      <a:lnTo>
                        <a:pt x="48" y="367"/>
                      </a:lnTo>
                      <a:lnTo>
                        <a:pt x="45" y="371"/>
                      </a:lnTo>
                      <a:lnTo>
                        <a:pt x="44" y="374"/>
                      </a:lnTo>
                      <a:lnTo>
                        <a:pt x="42" y="376"/>
                      </a:lnTo>
                      <a:lnTo>
                        <a:pt x="39" y="379"/>
                      </a:lnTo>
                      <a:lnTo>
                        <a:pt x="37" y="382"/>
                      </a:lnTo>
                      <a:lnTo>
                        <a:pt x="34" y="386"/>
                      </a:lnTo>
                      <a:lnTo>
                        <a:pt x="31" y="389"/>
                      </a:lnTo>
                      <a:lnTo>
                        <a:pt x="28" y="391"/>
                      </a:lnTo>
                      <a:lnTo>
                        <a:pt x="25" y="393"/>
                      </a:lnTo>
                      <a:lnTo>
                        <a:pt x="22" y="395"/>
                      </a:lnTo>
                      <a:lnTo>
                        <a:pt x="18" y="397"/>
                      </a:lnTo>
                      <a:lnTo>
                        <a:pt x="14" y="398"/>
                      </a:lnTo>
                      <a:lnTo>
                        <a:pt x="10" y="398"/>
                      </a:lnTo>
                      <a:lnTo>
                        <a:pt x="10" y="398"/>
                      </a:lnTo>
                      <a:lnTo>
                        <a:pt x="9" y="398"/>
                      </a:lnTo>
                      <a:lnTo>
                        <a:pt x="8" y="398"/>
                      </a:lnTo>
                      <a:lnTo>
                        <a:pt x="8" y="396"/>
                      </a:lnTo>
                      <a:lnTo>
                        <a:pt x="7" y="395"/>
                      </a:lnTo>
                      <a:lnTo>
                        <a:pt x="5" y="392"/>
                      </a:lnTo>
                      <a:lnTo>
                        <a:pt x="4" y="390"/>
                      </a:lnTo>
                      <a:lnTo>
                        <a:pt x="3" y="387"/>
                      </a:lnTo>
                      <a:lnTo>
                        <a:pt x="3" y="384"/>
                      </a:lnTo>
                      <a:lnTo>
                        <a:pt x="2" y="381"/>
                      </a:lnTo>
                      <a:lnTo>
                        <a:pt x="1" y="374"/>
                      </a:lnTo>
                      <a:lnTo>
                        <a:pt x="0" y="370"/>
                      </a:lnTo>
                      <a:lnTo>
                        <a:pt x="0" y="367"/>
                      </a:lnTo>
                      <a:lnTo>
                        <a:pt x="0" y="357"/>
                      </a:lnTo>
                      <a:lnTo>
                        <a:pt x="1" y="348"/>
                      </a:lnTo>
                      <a:lnTo>
                        <a:pt x="2" y="343"/>
                      </a:lnTo>
                      <a:lnTo>
                        <a:pt x="3" y="338"/>
                      </a:lnTo>
                      <a:lnTo>
                        <a:pt x="3" y="332"/>
                      </a:lnTo>
                      <a:lnTo>
                        <a:pt x="5" y="327"/>
                      </a:lnTo>
                      <a:lnTo>
                        <a:pt x="6" y="322"/>
                      </a:lnTo>
                      <a:lnTo>
                        <a:pt x="8" y="316"/>
                      </a:lnTo>
                      <a:lnTo>
                        <a:pt x="10" y="311"/>
                      </a:lnTo>
                      <a:lnTo>
                        <a:pt x="12" y="304"/>
                      </a:lnTo>
                      <a:lnTo>
                        <a:pt x="15" y="299"/>
                      </a:lnTo>
                      <a:lnTo>
                        <a:pt x="18" y="293"/>
                      </a:lnTo>
                      <a:lnTo>
                        <a:pt x="22" y="287"/>
                      </a:lnTo>
                      <a:lnTo>
                        <a:pt x="26" y="281"/>
                      </a:lnTo>
                      <a:lnTo>
                        <a:pt x="30" y="275"/>
                      </a:lnTo>
                      <a:lnTo>
                        <a:pt x="34" y="269"/>
                      </a:lnTo>
                      <a:lnTo>
                        <a:pt x="37" y="265"/>
                      </a:lnTo>
                      <a:lnTo>
                        <a:pt x="42" y="260"/>
                      </a:lnTo>
                      <a:lnTo>
                        <a:pt x="46" y="254"/>
                      </a:lnTo>
                      <a:lnTo>
                        <a:pt x="49" y="252"/>
                      </a:lnTo>
                      <a:lnTo>
                        <a:pt x="52" y="250"/>
                      </a:lnTo>
                      <a:lnTo>
                        <a:pt x="56" y="246"/>
                      </a:lnTo>
                      <a:lnTo>
                        <a:pt x="59" y="243"/>
                      </a:lnTo>
                      <a:lnTo>
                        <a:pt x="66" y="238"/>
                      </a:lnTo>
                      <a:lnTo>
                        <a:pt x="70" y="233"/>
                      </a:lnTo>
                      <a:lnTo>
                        <a:pt x="72" y="232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65000"/>
                  </a:sysClr>
                </a:solidFill>
                <a:ln>
                  <a:noFill/>
                </a:ln>
                <a:ex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zh-CN" altLang="en-US" dirty="0">
                    <a:solidFill>
                      <a:srgbClr val="EEECE1"/>
                    </a:solidFill>
                    <a:cs typeface="+mn-ea"/>
                    <a:sym typeface="+mn-lt"/>
                  </a:endParaRPr>
                </a:p>
              </p:txBody>
            </p:sp>
            <p:grpSp>
              <p:nvGrpSpPr>
                <p:cNvPr id="25" name="组合 24"/>
                <p:cNvGrpSpPr/>
                <p:nvPr/>
              </p:nvGrpSpPr>
              <p:grpSpPr>
                <a:xfrm>
                  <a:off x="1733201" y="4003433"/>
                  <a:ext cx="279105" cy="228600"/>
                  <a:chOff x="8770487" y="148403"/>
                  <a:chExt cx="906362" cy="742354"/>
                </a:xfrm>
                <a:solidFill>
                  <a:sysClr val="window" lastClr="FFFFFF">
                    <a:lumMod val="65000"/>
                  </a:sysClr>
                </a:solidFill>
              </p:grpSpPr>
              <p:sp>
                <p:nvSpPr>
                  <p:cNvPr id="26" name="Freeform 10"/>
                  <p:cNvSpPr>
                    <a:spLocks noEditPoints="1"/>
                  </p:cNvSpPr>
                  <p:nvPr/>
                </p:nvSpPr>
                <p:spPr bwMode="auto">
                  <a:xfrm>
                    <a:off x="8770487" y="148403"/>
                    <a:ext cx="644524" cy="589855"/>
                  </a:xfrm>
                  <a:custGeom>
                    <a:avLst/>
                    <a:gdLst>
                      <a:gd name="T0" fmla="*/ 412 w 432"/>
                      <a:gd name="T1" fmla="*/ 150 h 393"/>
                      <a:gd name="T2" fmla="*/ 432 w 432"/>
                      <a:gd name="T3" fmla="*/ 151 h 393"/>
                      <a:gd name="T4" fmla="*/ 215 w 432"/>
                      <a:gd name="T5" fmla="*/ 0 h 393"/>
                      <a:gd name="T6" fmla="*/ 0 w 432"/>
                      <a:gd name="T7" fmla="*/ 183 h 393"/>
                      <a:gd name="T8" fmla="*/ 86 w 432"/>
                      <a:gd name="T9" fmla="*/ 328 h 393"/>
                      <a:gd name="T10" fmla="*/ 65 w 432"/>
                      <a:gd name="T11" fmla="*/ 393 h 393"/>
                      <a:gd name="T12" fmla="*/ 140 w 432"/>
                      <a:gd name="T13" fmla="*/ 355 h 393"/>
                      <a:gd name="T14" fmla="*/ 215 w 432"/>
                      <a:gd name="T15" fmla="*/ 366 h 393"/>
                      <a:gd name="T16" fmla="*/ 235 w 432"/>
                      <a:gd name="T17" fmla="*/ 365 h 393"/>
                      <a:gd name="T18" fmla="*/ 229 w 432"/>
                      <a:gd name="T19" fmla="*/ 320 h 393"/>
                      <a:gd name="T20" fmla="*/ 412 w 432"/>
                      <a:gd name="T21" fmla="*/ 150 h 393"/>
                      <a:gd name="T22" fmla="*/ 296 w 432"/>
                      <a:gd name="T23" fmla="*/ 91 h 393"/>
                      <a:gd name="T24" fmla="*/ 323 w 432"/>
                      <a:gd name="T25" fmla="*/ 118 h 393"/>
                      <a:gd name="T26" fmla="*/ 296 w 432"/>
                      <a:gd name="T27" fmla="*/ 145 h 393"/>
                      <a:gd name="T28" fmla="*/ 264 w 432"/>
                      <a:gd name="T29" fmla="*/ 118 h 393"/>
                      <a:gd name="T30" fmla="*/ 296 w 432"/>
                      <a:gd name="T31" fmla="*/ 91 h 393"/>
                      <a:gd name="T32" fmla="*/ 145 w 432"/>
                      <a:gd name="T33" fmla="*/ 145 h 393"/>
                      <a:gd name="T34" fmla="*/ 113 w 432"/>
                      <a:gd name="T35" fmla="*/ 118 h 393"/>
                      <a:gd name="T36" fmla="*/ 145 w 432"/>
                      <a:gd name="T37" fmla="*/ 91 h 393"/>
                      <a:gd name="T38" fmla="*/ 172 w 432"/>
                      <a:gd name="T39" fmla="*/ 118 h 393"/>
                      <a:gd name="T40" fmla="*/ 145 w 432"/>
                      <a:gd name="T41" fmla="*/ 145 h 39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</a:cxnLst>
                    <a:rect l="0" t="0" r="r" b="b"/>
                    <a:pathLst>
                      <a:path w="432" h="393">
                        <a:moveTo>
                          <a:pt x="412" y="150"/>
                        </a:moveTo>
                        <a:cubicBezTo>
                          <a:pt x="419" y="150"/>
                          <a:pt x="426" y="150"/>
                          <a:pt x="432" y="151"/>
                        </a:cubicBezTo>
                        <a:cubicBezTo>
                          <a:pt x="414" y="64"/>
                          <a:pt x="321" y="0"/>
                          <a:pt x="215" y="0"/>
                        </a:cubicBezTo>
                        <a:cubicBezTo>
                          <a:pt x="97" y="0"/>
                          <a:pt x="0" y="80"/>
                          <a:pt x="0" y="183"/>
                        </a:cubicBezTo>
                        <a:cubicBezTo>
                          <a:pt x="0" y="242"/>
                          <a:pt x="32" y="290"/>
                          <a:pt x="86" y="328"/>
                        </a:cubicBezTo>
                        <a:cubicBezTo>
                          <a:pt x="65" y="393"/>
                          <a:pt x="65" y="393"/>
                          <a:pt x="65" y="393"/>
                        </a:cubicBezTo>
                        <a:cubicBezTo>
                          <a:pt x="140" y="355"/>
                          <a:pt x="140" y="355"/>
                          <a:pt x="140" y="355"/>
                        </a:cubicBezTo>
                        <a:cubicBezTo>
                          <a:pt x="167" y="360"/>
                          <a:pt x="188" y="366"/>
                          <a:pt x="215" y="366"/>
                        </a:cubicBezTo>
                        <a:cubicBezTo>
                          <a:pt x="222" y="366"/>
                          <a:pt x="229" y="365"/>
                          <a:pt x="235" y="365"/>
                        </a:cubicBezTo>
                        <a:cubicBezTo>
                          <a:pt x="231" y="351"/>
                          <a:pt x="229" y="335"/>
                          <a:pt x="229" y="320"/>
                        </a:cubicBezTo>
                        <a:cubicBezTo>
                          <a:pt x="229" y="226"/>
                          <a:pt x="309" y="150"/>
                          <a:pt x="412" y="150"/>
                        </a:cubicBezTo>
                        <a:close/>
                        <a:moveTo>
                          <a:pt x="296" y="91"/>
                        </a:moveTo>
                        <a:cubicBezTo>
                          <a:pt x="312" y="91"/>
                          <a:pt x="323" y="102"/>
                          <a:pt x="323" y="118"/>
                        </a:cubicBezTo>
                        <a:cubicBezTo>
                          <a:pt x="323" y="134"/>
                          <a:pt x="312" y="145"/>
                          <a:pt x="296" y="145"/>
                        </a:cubicBezTo>
                        <a:cubicBezTo>
                          <a:pt x="280" y="145"/>
                          <a:pt x="264" y="134"/>
                          <a:pt x="264" y="118"/>
                        </a:cubicBezTo>
                        <a:cubicBezTo>
                          <a:pt x="264" y="102"/>
                          <a:pt x="280" y="91"/>
                          <a:pt x="296" y="91"/>
                        </a:cubicBezTo>
                        <a:close/>
                        <a:moveTo>
                          <a:pt x="145" y="145"/>
                        </a:moveTo>
                        <a:cubicBezTo>
                          <a:pt x="129" y="145"/>
                          <a:pt x="113" y="134"/>
                          <a:pt x="113" y="118"/>
                        </a:cubicBezTo>
                        <a:cubicBezTo>
                          <a:pt x="113" y="102"/>
                          <a:pt x="129" y="91"/>
                          <a:pt x="145" y="91"/>
                        </a:cubicBezTo>
                        <a:cubicBezTo>
                          <a:pt x="161" y="91"/>
                          <a:pt x="172" y="102"/>
                          <a:pt x="172" y="118"/>
                        </a:cubicBezTo>
                        <a:cubicBezTo>
                          <a:pt x="172" y="134"/>
                          <a:pt x="161" y="145"/>
                          <a:pt x="145" y="14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defRPr/>
                    </a:pPr>
                    <a:endParaRPr lang="zh-CN" altLang="en-US" dirty="0">
                      <a:solidFill>
                        <a:srgbClr val="EEECE1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" name="Freeform 11"/>
                  <p:cNvSpPr>
                    <a:spLocks noEditPoints="1"/>
                  </p:cNvSpPr>
                  <p:nvPr/>
                </p:nvSpPr>
                <p:spPr bwMode="auto">
                  <a:xfrm>
                    <a:off x="9131593" y="390100"/>
                    <a:ext cx="545256" cy="500657"/>
                  </a:xfrm>
                  <a:custGeom>
                    <a:avLst/>
                    <a:gdLst>
                      <a:gd name="T0" fmla="*/ 366 w 366"/>
                      <a:gd name="T1" fmla="*/ 156 h 334"/>
                      <a:gd name="T2" fmla="*/ 183 w 366"/>
                      <a:gd name="T3" fmla="*/ 0 h 334"/>
                      <a:gd name="T4" fmla="*/ 0 w 366"/>
                      <a:gd name="T5" fmla="*/ 156 h 334"/>
                      <a:gd name="T6" fmla="*/ 183 w 366"/>
                      <a:gd name="T7" fmla="*/ 312 h 334"/>
                      <a:gd name="T8" fmla="*/ 248 w 366"/>
                      <a:gd name="T9" fmla="*/ 302 h 334"/>
                      <a:gd name="T10" fmla="*/ 307 w 366"/>
                      <a:gd name="T11" fmla="*/ 334 h 334"/>
                      <a:gd name="T12" fmla="*/ 291 w 366"/>
                      <a:gd name="T13" fmla="*/ 280 h 334"/>
                      <a:gd name="T14" fmla="*/ 366 w 366"/>
                      <a:gd name="T15" fmla="*/ 156 h 334"/>
                      <a:gd name="T16" fmla="*/ 124 w 366"/>
                      <a:gd name="T17" fmla="*/ 129 h 334"/>
                      <a:gd name="T18" fmla="*/ 102 w 366"/>
                      <a:gd name="T19" fmla="*/ 108 h 334"/>
                      <a:gd name="T20" fmla="*/ 124 w 366"/>
                      <a:gd name="T21" fmla="*/ 86 h 334"/>
                      <a:gd name="T22" fmla="*/ 151 w 366"/>
                      <a:gd name="T23" fmla="*/ 108 h 334"/>
                      <a:gd name="T24" fmla="*/ 124 w 366"/>
                      <a:gd name="T25" fmla="*/ 129 h 334"/>
                      <a:gd name="T26" fmla="*/ 242 w 366"/>
                      <a:gd name="T27" fmla="*/ 129 h 334"/>
                      <a:gd name="T28" fmla="*/ 221 w 366"/>
                      <a:gd name="T29" fmla="*/ 108 h 334"/>
                      <a:gd name="T30" fmla="*/ 242 w 366"/>
                      <a:gd name="T31" fmla="*/ 86 h 334"/>
                      <a:gd name="T32" fmla="*/ 269 w 366"/>
                      <a:gd name="T33" fmla="*/ 108 h 334"/>
                      <a:gd name="T34" fmla="*/ 242 w 366"/>
                      <a:gd name="T35" fmla="*/ 129 h 3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366" h="334">
                        <a:moveTo>
                          <a:pt x="366" y="156"/>
                        </a:moveTo>
                        <a:cubicBezTo>
                          <a:pt x="366" y="70"/>
                          <a:pt x="280" y="0"/>
                          <a:pt x="183" y="0"/>
                        </a:cubicBezTo>
                        <a:cubicBezTo>
                          <a:pt x="81" y="0"/>
                          <a:pt x="0" y="70"/>
                          <a:pt x="0" y="156"/>
                        </a:cubicBezTo>
                        <a:cubicBezTo>
                          <a:pt x="0" y="242"/>
                          <a:pt x="81" y="312"/>
                          <a:pt x="183" y="312"/>
                        </a:cubicBezTo>
                        <a:cubicBezTo>
                          <a:pt x="205" y="312"/>
                          <a:pt x="226" y="307"/>
                          <a:pt x="248" y="302"/>
                        </a:cubicBezTo>
                        <a:cubicBezTo>
                          <a:pt x="307" y="334"/>
                          <a:pt x="307" y="334"/>
                          <a:pt x="307" y="334"/>
                        </a:cubicBezTo>
                        <a:cubicBezTo>
                          <a:pt x="291" y="280"/>
                          <a:pt x="291" y="280"/>
                          <a:pt x="291" y="280"/>
                        </a:cubicBezTo>
                        <a:cubicBezTo>
                          <a:pt x="334" y="248"/>
                          <a:pt x="366" y="205"/>
                          <a:pt x="366" y="156"/>
                        </a:cubicBezTo>
                        <a:close/>
                        <a:moveTo>
                          <a:pt x="124" y="129"/>
                        </a:moveTo>
                        <a:cubicBezTo>
                          <a:pt x="113" y="129"/>
                          <a:pt x="102" y="119"/>
                          <a:pt x="102" y="108"/>
                        </a:cubicBezTo>
                        <a:cubicBezTo>
                          <a:pt x="102" y="97"/>
                          <a:pt x="113" y="86"/>
                          <a:pt x="124" y="86"/>
                        </a:cubicBezTo>
                        <a:cubicBezTo>
                          <a:pt x="140" y="86"/>
                          <a:pt x="151" y="97"/>
                          <a:pt x="151" y="108"/>
                        </a:cubicBezTo>
                        <a:cubicBezTo>
                          <a:pt x="151" y="119"/>
                          <a:pt x="140" y="129"/>
                          <a:pt x="124" y="129"/>
                        </a:cubicBezTo>
                        <a:close/>
                        <a:moveTo>
                          <a:pt x="242" y="129"/>
                        </a:moveTo>
                        <a:cubicBezTo>
                          <a:pt x="232" y="129"/>
                          <a:pt x="221" y="119"/>
                          <a:pt x="221" y="108"/>
                        </a:cubicBezTo>
                        <a:cubicBezTo>
                          <a:pt x="221" y="97"/>
                          <a:pt x="232" y="86"/>
                          <a:pt x="242" y="86"/>
                        </a:cubicBezTo>
                        <a:cubicBezTo>
                          <a:pt x="258" y="86"/>
                          <a:pt x="269" y="97"/>
                          <a:pt x="269" y="108"/>
                        </a:cubicBezTo>
                        <a:cubicBezTo>
                          <a:pt x="269" y="119"/>
                          <a:pt x="258" y="129"/>
                          <a:pt x="242" y="12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defRPr/>
                    </a:pPr>
                    <a:endParaRPr lang="zh-CN" altLang="en-US" dirty="0">
                      <a:solidFill>
                        <a:srgbClr val="EEECE1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</p:grp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139" y="5087859"/>
              <a:ext cx="412824" cy="412824"/>
            </a:xfrm>
            <a:prstGeom prst="rect">
              <a:avLst/>
            </a:prstGeom>
          </p:spPr>
        </p:pic>
      </p:grpSp>
      <p:sp>
        <p:nvSpPr>
          <p:cNvPr id="4" name="矩形 3"/>
          <p:cNvSpPr/>
          <p:nvPr/>
        </p:nvSpPr>
        <p:spPr>
          <a:xfrm>
            <a:off x="262890" y="4071903"/>
            <a:ext cx="31839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200" kern="0" dirty="0" smtClean="0">
                <a:solidFill>
                  <a:sysClr val="windowText" lastClr="000000"/>
                </a:solidFill>
                <a:cs typeface="+mn-ea"/>
                <a:sym typeface="+mn-lt"/>
              </a:rPr>
              <a:t>欢迎关注第一天主讲人唐回峰的</a:t>
            </a:r>
            <a:r>
              <a:rPr lang="en-US" altLang="zh-CN" sz="1200" kern="0" dirty="0" smtClean="0">
                <a:solidFill>
                  <a:sysClr val="windowText" lastClr="000000"/>
                </a:solidFill>
                <a:cs typeface="+mn-ea"/>
                <a:sym typeface="+mn-lt"/>
              </a:rPr>
              <a:t>CSDN</a:t>
            </a:r>
            <a:r>
              <a:rPr lang="zh-CN" altLang="en-US" sz="1200" kern="0" dirty="0">
                <a:solidFill>
                  <a:sysClr val="windowText" lastClr="000000"/>
                </a:solidFill>
                <a:cs typeface="+mn-ea"/>
                <a:sym typeface="+mn-lt"/>
              </a:rPr>
              <a:t>博客：</a:t>
            </a:r>
            <a:r>
              <a:rPr lang="zh-CN" altLang="en-US" sz="1200" kern="0" dirty="0">
                <a:solidFill>
                  <a:sysClr val="windowText" lastClr="000000"/>
                </a:solidFill>
                <a:cs typeface="+mn-ea"/>
                <a:sym typeface="+mn-lt"/>
                <a:hlinkClick r:id="rId3"/>
              </a:rPr>
              <a:t>http://blog.csdn.net/cfhm_r</a:t>
            </a:r>
            <a:endParaRPr lang="en-US" altLang="zh-CN" sz="1200" kern="0" dirty="0">
              <a:solidFill>
                <a:sysClr val="windowText" lastClr="000000"/>
              </a:solidFill>
              <a:cs typeface="+mn-ea"/>
              <a:sym typeface="+mn-lt"/>
            </a:endParaRPr>
          </a:p>
          <a:p>
            <a:pPr>
              <a:defRPr/>
            </a:pPr>
            <a:r>
              <a:rPr lang="zh-CN" altLang="en-US" sz="1200" kern="0" dirty="0">
                <a:solidFill>
                  <a:sysClr val="windowText" lastClr="000000"/>
                </a:solidFill>
                <a:cs typeface="+mn-ea"/>
                <a:sym typeface="+mn-lt"/>
              </a:rPr>
              <a:t>同步发布</a:t>
            </a:r>
            <a:r>
              <a:rPr lang="en-US" altLang="zh-CN" sz="1200" kern="0" dirty="0">
                <a:solidFill>
                  <a:sysClr val="windowText" lastClr="000000"/>
                </a:solidFill>
                <a:cs typeface="+mn-ea"/>
                <a:sym typeface="+mn-lt"/>
              </a:rPr>
              <a:t>《C</a:t>
            </a:r>
            <a:r>
              <a:rPr lang="zh-CN" altLang="en-US" sz="1200" kern="0" dirty="0">
                <a:solidFill>
                  <a:sysClr val="windowText" lastClr="000000"/>
                </a:solidFill>
                <a:cs typeface="+mn-ea"/>
                <a:sym typeface="+mn-lt"/>
              </a:rPr>
              <a:t>语言从入门到懵逼</a:t>
            </a:r>
            <a:r>
              <a:rPr lang="en-US" altLang="zh-CN" sz="1200" kern="0" dirty="0">
                <a:solidFill>
                  <a:sysClr val="windowText" lastClr="000000"/>
                </a:solidFill>
                <a:cs typeface="+mn-ea"/>
                <a:sym typeface="+mn-lt"/>
              </a:rPr>
              <a:t>》</a:t>
            </a:r>
            <a:r>
              <a:rPr lang="zh-CN" altLang="en-US" sz="1200" kern="0" dirty="0">
                <a:solidFill>
                  <a:sysClr val="windowText" lastClr="000000"/>
                </a:solidFill>
                <a:cs typeface="+mn-ea"/>
                <a:sym typeface="+mn-lt"/>
              </a:rPr>
              <a:t>系列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997415" y="3632310"/>
            <a:ext cx="31726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zh-CN" altLang="en-US" kern="0" dirty="0">
                <a:solidFill>
                  <a:sysClr val="windowText" lastClr="000000"/>
                </a:solidFill>
                <a:cs typeface="+mn-ea"/>
                <a:sym typeface="+mn-lt"/>
              </a:rPr>
              <a:t>扫码关注网络开拓者公众号</a:t>
            </a:r>
            <a:endParaRPr lang="en-US" altLang="zh-CN" kern="0" dirty="0">
              <a:solidFill>
                <a:sysClr val="windowText" lastClr="000000"/>
              </a:solidFill>
              <a:cs typeface="+mn-ea"/>
              <a:sym typeface="+mn-lt"/>
            </a:endParaRPr>
          </a:p>
          <a:p>
            <a:pPr algn="ctr">
              <a:defRPr/>
            </a:pPr>
            <a:r>
              <a:rPr lang="zh-CN" altLang="en-US" kern="0" dirty="0">
                <a:solidFill>
                  <a:sysClr val="windowText" lastClr="000000"/>
                </a:solidFill>
                <a:cs typeface="+mn-ea"/>
                <a:sym typeface="+mn-lt"/>
              </a:rPr>
              <a:t>获取本次串讲</a:t>
            </a:r>
            <a:r>
              <a:rPr lang="en-US" altLang="zh-CN" kern="0" dirty="0">
                <a:solidFill>
                  <a:sysClr val="windowText" lastClr="000000"/>
                </a:solidFill>
                <a:cs typeface="+mn-ea"/>
                <a:sym typeface="+mn-lt"/>
              </a:rPr>
              <a:t>PPT</a:t>
            </a:r>
            <a:r>
              <a:rPr lang="zh-CN" altLang="en-US" kern="0" dirty="0">
                <a:solidFill>
                  <a:sysClr val="windowText" lastClr="000000"/>
                </a:solidFill>
                <a:cs typeface="+mn-ea"/>
                <a:sym typeface="+mn-lt"/>
              </a:rPr>
              <a:t>及其他资源</a:t>
            </a:r>
            <a:endParaRPr lang="en-US" altLang="zh-CN" kern="0" dirty="0">
              <a:solidFill>
                <a:sysClr val="windowText" lastClr="000000"/>
              </a:solidFill>
              <a:cs typeface="+mn-ea"/>
              <a:sym typeface="+mn-lt"/>
            </a:endParaRPr>
          </a:p>
          <a:p>
            <a:pPr algn="ctr">
              <a:defRPr/>
            </a:pPr>
            <a:r>
              <a:rPr lang="zh-CN" altLang="en-US" kern="0" dirty="0">
                <a:solidFill>
                  <a:sysClr val="windowText" lastClr="000000"/>
                </a:solidFill>
                <a:cs typeface="+mn-ea"/>
                <a:sym typeface="+mn-lt"/>
              </a:rPr>
              <a:t>还有更多精彩等着你！ 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7045" y="612252"/>
            <a:ext cx="3111810" cy="3111810"/>
          </a:xfrm>
          <a:prstGeom prst="rect">
            <a:avLst/>
          </a:prstGeom>
        </p:spPr>
      </p:pic>
      <p:grpSp>
        <p:nvGrpSpPr>
          <p:cNvPr id="20" name="组合 19"/>
          <p:cNvGrpSpPr/>
          <p:nvPr/>
        </p:nvGrpSpPr>
        <p:grpSpPr>
          <a:xfrm>
            <a:off x="2751490" y="2418727"/>
            <a:ext cx="2011635" cy="1540490"/>
            <a:chOff x="537552" y="3960193"/>
            <a:chExt cx="2011635" cy="1540490"/>
          </a:xfrm>
        </p:grpSpPr>
        <p:grpSp>
          <p:nvGrpSpPr>
            <p:cNvPr id="22" name="组合 21"/>
            <p:cNvGrpSpPr/>
            <p:nvPr/>
          </p:nvGrpSpPr>
          <p:grpSpPr>
            <a:xfrm>
              <a:off x="537552" y="3960193"/>
              <a:ext cx="2011635" cy="1523386"/>
              <a:chOff x="426605" y="3143318"/>
              <a:chExt cx="1596447" cy="1209155"/>
            </a:xfrm>
          </p:grpSpPr>
          <p:grpSp>
            <p:nvGrpSpPr>
              <p:cNvPr id="24" name="Group 72"/>
              <p:cNvGrpSpPr/>
              <p:nvPr/>
            </p:nvGrpSpPr>
            <p:grpSpPr>
              <a:xfrm>
                <a:off x="426605" y="3143318"/>
                <a:ext cx="1596447" cy="780256"/>
                <a:chOff x="579005" y="3143318"/>
                <a:chExt cx="1596447" cy="780256"/>
              </a:xfrm>
            </p:grpSpPr>
            <p:sp>
              <p:nvSpPr>
                <p:cNvPr id="40" name="Rectangle 6"/>
                <p:cNvSpPr/>
                <p:nvPr/>
              </p:nvSpPr>
              <p:spPr>
                <a:xfrm>
                  <a:off x="685800" y="3143318"/>
                  <a:ext cx="1447800" cy="228600"/>
                </a:xfrm>
                <a:prstGeom prst="rect">
                  <a:avLst/>
                </a:prstGeom>
                <a:no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r>
                    <a:rPr lang="zh-CN" altLang="en-US" kern="0" dirty="0">
                      <a:solidFill>
                        <a:srgbClr val="1A7BAE"/>
                      </a:solidFill>
                      <a:cs typeface="+mn-ea"/>
                      <a:sym typeface="+mn-lt"/>
                    </a:rPr>
                    <a:t>徐恒达</a:t>
                  </a:r>
                  <a:endParaRPr lang="en-US" kern="0" dirty="0">
                    <a:solidFill>
                      <a:srgbClr val="1A7BAE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Rectangle 10"/>
                <p:cNvSpPr/>
                <p:nvPr/>
              </p:nvSpPr>
              <p:spPr>
                <a:xfrm>
                  <a:off x="579005" y="3422777"/>
                  <a:ext cx="1596447" cy="5007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Bef>
                      <a:spcPts val="271"/>
                    </a:spcBef>
                    <a:defRPr/>
                  </a:pPr>
                  <a:r>
                    <a:rPr lang="en-US" altLang="zh-CN" sz="1000" kern="0" dirty="0" err="1" smtClean="0">
                      <a:solidFill>
                        <a:srgbClr val="1A7BAE"/>
                      </a:solidFill>
                      <a:cs typeface="+mn-ea"/>
                      <a:sym typeface="+mn-lt"/>
                    </a:rPr>
                    <a:t>dadamrxx</a:t>
                  </a:r>
                  <a:r>
                    <a:rPr lang="en-US" altLang="zh-CN" sz="1000" kern="0" dirty="0" smtClean="0">
                      <a:solidFill>
                        <a:srgbClr val="1A7BAE"/>
                      </a:solidFill>
                      <a:cs typeface="+mn-ea"/>
                      <a:sym typeface="+mn-lt"/>
                    </a:rPr>
                    <a:t>@gmail.com</a:t>
                  </a:r>
                  <a:endParaRPr lang="en-US" altLang="zh-CN" sz="1000" kern="0" dirty="0">
                    <a:solidFill>
                      <a:srgbClr val="1A7BAE"/>
                    </a:solidFill>
                    <a:cs typeface="+mn-ea"/>
                    <a:sym typeface="+mn-lt"/>
                  </a:endParaRPr>
                </a:p>
                <a:p>
                  <a:pPr algn="ctr">
                    <a:spcBef>
                      <a:spcPts val="271"/>
                    </a:spcBef>
                    <a:defRPr/>
                  </a:pPr>
                  <a:r>
                    <a:rPr lang="en-US" altLang="zh-CN" sz="1000" kern="0" dirty="0" smtClean="0">
                      <a:solidFill>
                        <a:srgbClr val="1A7BAE"/>
                      </a:solidFill>
                      <a:cs typeface="+mn-ea"/>
                      <a:sym typeface="+mn-lt"/>
                    </a:rPr>
                    <a:t>799881985</a:t>
                  </a:r>
                  <a:endParaRPr lang="en-US" altLang="zh-CN" sz="1000" kern="0" dirty="0">
                    <a:solidFill>
                      <a:srgbClr val="1A7BAE"/>
                    </a:solidFill>
                    <a:cs typeface="+mn-ea"/>
                    <a:sym typeface="+mn-lt"/>
                  </a:endParaRPr>
                </a:p>
                <a:p>
                  <a:pPr algn="ctr">
                    <a:spcBef>
                      <a:spcPts val="271"/>
                    </a:spcBef>
                    <a:defRPr/>
                  </a:pPr>
                  <a:r>
                    <a:rPr lang="en-US" altLang="zh-CN" sz="1000" kern="0" dirty="0" smtClean="0">
                      <a:solidFill>
                        <a:srgbClr val="1A7BAE"/>
                      </a:solidFill>
                      <a:cs typeface="+mn-ea"/>
                      <a:sym typeface="+mn-lt"/>
                    </a:rPr>
                    <a:t>DaDaMr_X</a:t>
                  </a:r>
                  <a:endParaRPr lang="zh-CN" altLang="en-US" sz="1000" kern="0" dirty="0">
                    <a:solidFill>
                      <a:srgbClr val="1A7BAE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2" name="组合 31"/>
              <p:cNvGrpSpPr/>
              <p:nvPr/>
            </p:nvGrpSpPr>
            <p:grpSpPr>
              <a:xfrm>
                <a:off x="533400" y="4046084"/>
                <a:ext cx="1447800" cy="306389"/>
                <a:chOff x="685800" y="3943349"/>
                <a:chExt cx="1447800" cy="306389"/>
              </a:xfrm>
            </p:grpSpPr>
            <p:grpSp>
              <p:nvGrpSpPr>
                <p:cNvPr id="33" name="Group 56"/>
                <p:cNvGrpSpPr/>
                <p:nvPr/>
              </p:nvGrpSpPr>
              <p:grpSpPr>
                <a:xfrm>
                  <a:off x="685800" y="3943349"/>
                  <a:ext cx="1447800" cy="306389"/>
                  <a:chOff x="685800" y="4248149"/>
                  <a:chExt cx="1447800" cy="306389"/>
                </a:xfrm>
              </p:grpSpPr>
              <p:cxnSp>
                <p:nvCxnSpPr>
                  <p:cNvPr id="38" name="Straight Connector 60"/>
                  <p:cNvCxnSpPr/>
                  <p:nvPr/>
                </p:nvCxnSpPr>
                <p:spPr>
                  <a:xfrm>
                    <a:off x="685800" y="4248149"/>
                    <a:ext cx="1447800" cy="1588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>
                        <a:lumMod val="50000"/>
                        <a:lumOff val="50000"/>
                      </a:srgb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39" name="Straight Connector 61"/>
                  <p:cNvCxnSpPr/>
                  <p:nvPr/>
                </p:nvCxnSpPr>
                <p:spPr>
                  <a:xfrm>
                    <a:off x="685800" y="4552950"/>
                    <a:ext cx="1447800" cy="1588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>
                        <a:lumMod val="50000"/>
                        <a:lumOff val="50000"/>
                      </a:srgbClr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34" name="Freeform 5"/>
                <p:cNvSpPr>
                  <a:spLocks/>
                </p:cNvSpPr>
                <p:nvPr/>
              </p:nvSpPr>
              <p:spPr bwMode="auto">
                <a:xfrm>
                  <a:off x="1298058" y="3982244"/>
                  <a:ext cx="223284" cy="228600"/>
                </a:xfrm>
                <a:custGeom>
                  <a:avLst/>
                  <a:gdLst>
                    <a:gd name="T0" fmla="*/ 70 w 504"/>
                    <a:gd name="T1" fmla="*/ 215 h 516"/>
                    <a:gd name="T2" fmla="*/ 81 w 504"/>
                    <a:gd name="T3" fmla="*/ 187 h 516"/>
                    <a:gd name="T4" fmla="*/ 87 w 504"/>
                    <a:gd name="T5" fmla="*/ 165 h 516"/>
                    <a:gd name="T6" fmla="*/ 92 w 504"/>
                    <a:gd name="T7" fmla="*/ 131 h 516"/>
                    <a:gd name="T8" fmla="*/ 107 w 504"/>
                    <a:gd name="T9" fmla="*/ 94 h 516"/>
                    <a:gd name="T10" fmla="*/ 129 w 504"/>
                    <a:gd name="T11" fmla="*/ 60 h 516"/>
                    <a:gd name="T12" fmla="*/ 167 w 504"/>
                    <a:gd name="T13" fmla="*/ 26 h 516"/>
                    <a:gd name="T14" fmla="*/ 210 w 504"/>
                    <a:gd name="T15" fmla="*/ 7 h 516"/>
                    <a:gd name="T16" fmla="*/ 262 w 504"/>
                    <a:gd name="T17" fmla="*/ 0 h 516"/>
                    <a:gd name="T18" fmla="*/ 317 w 504"/>
                    <a:gd name="T19" fmla="*/ 6 h 516"/>
                    <a:gd name="T20" fmla="*/ 368 w 504"/>
                    <a:gd name="T21" fmla="*/ 26 h 516"/>
                    <a:gd name="T22" fmla="*/ 399 w 504"/>
                    <a:gd name="T23" fmla="*/ 51 h 516"/>
                    <a:gd name="T24" fmla="*/ 423 w 504"/>
                    <a:gd name="T25" fmla="*/ 87 h 516"/>
                    <a:gd name="T26" fmla="*/ 436 w 504"/>
                    <a:gd name="T27" fmla="*/ 126 h 516"/>
                    <a:gd name="T28" fmla="*/ 444 w 504"/>
                    <a:gd name="T29" fmla="*/ 168 h 516"/>
                    <a:gd name="T30" fmla="*/ 458 w 504"/>
                    <a:gd name="T31" fmla="*/ 197 h 516"/>
                    <a:gd name="T32" fmla="*/ 459 w 504"/>
                    <a:gd name="T33" fmla="*/ 219 h 516"/>
                    <a:gd name="T34" fmla="*/ 463 w 504"/>
                    <a:gd name="T35" fmla="*/ 246 h 516"/>
                    <a:gd name="T36" fmla="*/ 489 w 504"/>
                    <a:gd name="T37" fmla="*/ 293 h 516"/>
                    <a:gd name="T38" fmla="*/ 501 w 504"/>
                    <a:gd name="T39" fmla="*/ 331 h 516"/>
                    <a:gd name="T40" fmla="*/ 501 w 504"/>
                    <a:gd name="T41" fmla="*/ 372 h 516"/>
                    <a:gd name="T42" fmla="*/ 493 w 504"/>
                    <a:gd name="T43" fmla="*/ 396 h 516"/>
                    <a:gd name="T44" fmla="*/ 482 w 504"/>
                    <a:gd name="T45" fmla="*/ 403 h 516"/>
                    <a:gd name="T46" fmla="*/ 471 w 504"/>
                    <a:gd name="T47" fmla="*/ 397 h 516"/>
                    <a:gd name="T48" fmla="*/ 455 w 504"/>
                    <a:gd name="T49" fmla="*/ 368 h 516"/>
                    <a:gd name="T50" fmla="*/ 444 w 504"/>
                    <a:gd name="T51" fmla="*/ 388 h 516"/>
                    <a:gd name="T52" fmla="*/ 421 w 504"/>
                    <a:gd name="T53" fmla="*/ 427 h 516"/>
                    <a:gd name="T54" fmla="*/ 442 w 504"/>
                    <a:gd name="T55" fmla="*/ 448 h 516"/>
                    <a:gd name="T56" fmla="*/ 460 w 504"/>
                    <a:gd name="T57" fmla="*/ 467 h 516"/>
                    <a:gd name="T58" fmla="*/ 460 w 504"/>
                    <a:gd name="T59" fmla="*/ 481 h 516"/>
                    <a:gd name="T60" fmla="*/ 448 w 504"/>
                    <a:gd name="T61" fmla="*/ 496 h 516"/>
                    <a:gd name="T62" fmla="*/ 419 w 504"/>
                    <a:gd name="T63" fmla="*/ 508 h 516"/>
                    <a:gd name="T64" fmla="*/ 372 w 504"/>
                    <a:gd name="T65" fmla="*/ 513 h 516"/>
                    <a:gd name="T66" fmla="*/ 317 w 504"/>
                    <a:gd name="T67" fmla="*/ 506 h 516"/>
                    <a:gd name="T68" fmla="*/ 276 w 504"/>
                    <a:gd name="T69" fmla="*/ 494 h 516"/>
                    <a:gd name="T70" fmla="*/ 248 w 504"/>
                    <a:gd name="T71" fmla="*/ 495 h 516"/>
                    <a:gd name="T72" fmla="*/ 209 w 504"/>
                    <a:gd name="T73" fmla="*/ 512 h 516"/>
                    <a:gd name="T74" fmla="*/ 172 w 504"/>
                    <a:gd name="T75" fmla="*/ 516 h 516"/>
                    <a:gd name="T76" fmla="*/ 110 w 504"/>
                    <a:gd name="T77" fmla="*/ 512 h 516"/>
                    <a:gd name="T78" fmla="*/ 74 w 504"/>
                    <a:gd name="T79" fmla="*/ 499 h 516"/>
                    <a:gd name="T80" fmla="*/ 63 w 504"/>
                    <a:gd name="T81" fmla="*/ 487 h 516"/>
                    <a:gd name="T82" fmla="*/ 61 w 504"/>
                    <a:gd name="T83" fmla="*/ 471 h 516"/>
                    <a:gd name="T84" fmla="*/ 66 w 504"/>
                    <a:gd name="T85" fmla="*/ 454 h 516"/>
                    <a:gd name="T86" fmla="*/ 80 w 504"/>
                    <a:gd name="T87" fmla="*/ 444 h 516"/>
                    <a:gd name="T88" fmla="*/ 103 w 504"/>
                    <a:gd name="T89" fmla="*/ 439 h 516"/>
                    <a:gd name="T90" fmla="*/ 96 w 504"/>
                    <a:gd name="T91" fmla="*/ 430 h 516"/>
                    <a:gd name="T92" fmla="*/ 69 w 504"/>
                    <a:gd name="T93" fmla="*/ 400 h 516"/>
                    <a:gd name="T94" fmla="*/ 55 w 504"/>
                    <a:gd name="T95" fmla="*/ 368 h 516"/>
                    <a:gd name="T96" fmla="*/ 50 w 504"/>
                    <a:gd name="T97" fmla="*/ 361 h 516"/>
                    <a:gd name="T98" fmla="*/ 42 w 504"/>
                    <a:gd name="T99" fmla="*/ 376 h 516"/>
                    <a:gd name="T100" fmla="*/ 22 w 504"/>
                    <a:gd name="T101" fmla="*/ 395 h 516"/>
                    <a:gd name="T102" fmla="*/ 8 w 504"/>
                    <a:gd name="T103" fmla="*/ 396 h 516"/>
                    <a:gd name="T104" fmla="*/ 1 w 504"/>
                    <a:gd name="T105" fmla="*/ 374 h 516"/>
                    <a:gd name="T106" fmla="*/ 3 w 504"/>
                    <a:gd name="T107" fmla="*/ 332 h 516"/>
                    <a:gd name="T108" fmla="*/ 18 w 504"/>
                    <a:gd name="T109" fmla="*/ 293 h 516"/>
                    <a:gd name="T110" fmla="*/ 46 w 504"/>
                    <a:gd name="T111" fmla="*/ 254 h 516"/>
                    <a:gd name="T112" fmla="*/ 72 w 504"/>
                    <a:gd name="T113" fmla="*/ 232 h 5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504" h="516">
                      <a:moveTo>
                        <a:pt x="72" y="232"/>
                      </a:moveTo>
                      <a:lnTo>
                        <a:pt x="71" y="229"/>
                      </a:lnTo>
                      <a:lnTo>
                        <a:pt x="70" y="225"/>
                      </a:lnTo>
                      <a:lnTo>
                        <a:pt x="70" y="223"/>
                      </a:lnTo>
                      <a:lnTo>
                        <a:pt x="70" y="221"/>
                      </a:lnTo>
                      <a:lnTo>
                        <a:pt x="70" y="217"/>
                      </a:lnTo>
                      <a:lnTo>
                        <a:pt x="70" y="215"/>
                      </a:lnTo>
                      <a:lnTo>
                        <a:pt x="71" y="211"/>
                      </a:lnTo>
                      <a:lnTo>
                        <a:pt x="72" y="207"/>
                      </a:lnTo>
                      <a:lnTo>
                        <a:pt x="73" y="203"/>
                      </a:lnTo>
                      <a:lnTo>
                        <a:pt x="74" y="199"/>
                      </a:lnTo>
                      <a:lnTo>
                        <a:pt x="78" y="195"/>
                      </a:lnTo>
                      <a:lnTo>
                        <a:pt x="81" y="190"/>
                      </a:lnTo>
                      <a:lnTo>
                        <a:pt x="81" y="187"/>
                      </a:lnTo>
                      <a:lnTo>
                        <a:pt x="81" y="184"/>
                      </a:lnTo>
                      <a:lnTo>
                        <a:pt x="81" y="180"/>
                      </a:lnTo>
                      <a:lnTo>
                        <a:pt x="83" y="176"/>
                      </a:lnTo>
                      <a:lnTo>
                        <a:pt x="84" y="171"/>
                      </a:lnTo>
                      <a:lnTo>
                        <a:pt x="85" y="169"/>
                      </a:lnTo>
                      <a:lnTo>
                        <a:pt x="86" y="167"/>
                      </a:lnTo>
                      <a:lnTo>
                        <a:pt x="87" y="165"/>
                      </a:lnTo>
                      <a:lnTo>
                        <a:pt x="89" y="163"/>
                      </a:lnTo>
                      <a:lnTo>
                        <a:pt x="89" y="159"/>
                      </a:lnTo>
                      <a:lnTo>
                        <a:pt x="89" y="156"/>
                      </a:lnTo>
                      <a:lnTo>
                        <a:pt x="89" y="151"/>
                      </a:lnTo>
                      <a:lnTo>
                        <a:pt x="90" y="146"/>
                      </a:lnTo>
                      <a:lnTo>
                        <a:pt x="91" y="140"/>
                      </a:lnTo>
                      <a:lnTo>
                        <a:pt x="92" y="131"/>
                      </a:lnTo>
                      <a:lnTo>
                        <a:pt x="94" y="123"/>
                      </a:lnTo>
                      <a:lnTo>
                        <a:pt x="96" y="119"/>
                      </a:lnTo>
                      <a:lnTo>
                        <a:pt x="98" y="114"/>
                      </a:lnTo>
                      <a:lnTo>
                        <a:pt x="99" y="109"/>
                      </a:lnTo>
                      <a:lnTo>
                        <a:pt x="102" y="104"/>
                      </a:lnTo>
                      <a:lnTo>
                        <a:pt x="105" y="99"/>
                      </a:lnTo>
                      <a:lnTo>
                        <a:pt x="107" y="94"/>
                      </a:lnTo>
                      <a:lnTo>
                        <a:pt x="110" y="89"/>
                      </a:lnTo>
                      <a:lnTo>
                        <a:pt x="114" y="83"/>
                      </a:lnTo>
                      <a:lnTo>
                        <a:pt x="115" y="80"/>
                      </a:lnTo>
                      <a:lnTo>
                        <a:pt x="117" y="77"/>
                      </a:lnTo>
                      <a:lnTo>
                        <a:pt x="121" y="72"/>
                      </a:lnTo>
                      <a:lnTo>
                        <a:pt x="125" y="66"/>
                      </a:lnTo>
                      <a:lnTo>
                        <a:pt x="129" y="60"/>
                      </a:lnTo>
                      <a:lnTo>
                        <a:pt x="135" y="54"/>
                      </a:lnTo>
                      <a:lnTo>
                        <a:pt x="140" y="49"/>
                      </a:lnTo>
                      <a:lnTo>
                        <a:pt x="145" y="44"/>
                      </a:lnTo>
                      <a:lnTo>
                        <a:pt x="152" y="38"/>
                      </a:lnTo>
                      <a:lnTo>
                        <a:pt x="156" y="33"/>
                      </a:lnTo>
                      <a:lnTo>
                        <a:pt x="162" y="29"/>
                      </a:lnTo>
                      <a:lnTo>
                        <a:pt x="167" y="26"/>
                      </a:lnTo>
                      <a:lnTo>
                        <a:pt x="172" y="22"/>
                      </a:lnTo>
                      <a:lnTo>
                        <a:pt x="178" y="19"/>
                      </a:lnTo>
                      <a:lnTo>
                        <a:pt x="184" y="17"/>
                      </a:lnTo>
                      <a:lnTo>
                        <a:pt x="191" y="14"/>
                      </a:lnTo>
                      <a:lnTo>
                        <a:pt x="197" y="12"/>
                      </a:lnTo>
                      <a:lnTo>
                        <a:pt x="204" y="9"/>
                      </a:lnTo>
                      <a:lnTo>
                        <a:pt x="210" y="7"/>
                      </a:lnTo>
                      <a:lnTo>
                        <a:pt x="217" y="5"/>
                      </a:lnTo>
                      <a:lnTo>
                        <a:pt x="225" y="4"/>
                      </a:lnTo>
                      <a:lnTo>
                        <a:pt x="232" y="2"/>
                      </a:lnTo>
                      <a:lnTo>
                        <a:pt x="240" y="2"/>
                      </a:lnTo>
                      <a:lnTo>
                        <a:pt x="248" y="1"/>
                      </a:lnTo>
                      <a:lnTo>
                        <a:pt x="255" y="0"/>
                      </a:lnTo>
                      <a:lnTo>
                        <a:pt x="262" y="0"/>
                      </a:lnTo>
                      <a:lnTo>
                        <a:pt x="270" y="0"/>
                      </a:lnTo>
                      <a:lnTo>
                        <a:pt x="279" y="0"/>
                      </a:lnTo>
                      <a:lnTo>
                        <a:pt x="286" y="1"/>
                      </a:lnTo>
                      <a:lnTo>
                        <a:pt x="294" y="2"/>
                      </a:lnTo>
                      <a:lnTo>
                        <a:pt x="301" y="3"/>
                      </a:lnTo>
                      <a:lnTo>
                        <a:pt x="309" y="4"/>
                      </a:lnTo>
                      <a:lnTo>
                        <a:pt x="317" y="6"/>
                      </a:lnTo>
                      <a:lnTo>
                        <a:pt x="324" y="8"/>
                      </a:lnTo>
                      <a:lnTo>
                        <a:pt x="333" y="10"/>
                      </a:lnTo>
                      <a:lnTo>
                        <a:pt x="340" y="13"/>
                      </a:lnTo>
                      <a:lnTo>
                        <a:pt x="347" y="16"/>
                      </a:lnTo>
                      <a:lnTo>
                        <a:pt x="354" y="19"/>
                      </a:lnTo>
                      <a:lnTo>
                        <a:pt x="361" y="23"/>
                      </a:lnTo>
                      <a:lnTo>
                        <a:pt x="368" y="26"/>
                      </a:lnTo>
                      <a:lnTo>
                        <a:pt x="374" y="30"/>
                      </a:lnTo>
                      <a:lnTo>
                        <a:pt x="380" y="34"/>
                      </a:lnTo>
                      <a:lnTo>
                        <a:pt x="382" y="37"/>
                      </a:lnTo>
                      <a:lnTo>
                        <a:pt x="385" y="39"/>
                      </a:lnTo>
                      <a:lnTo>
                        <a:pt x="391" y="43"/>
                      </a:lnTo>
                      <a:lnTo>
                        <a:pt x="395" y="47"/>
                      </a:lnTo>
                      <a:lnTo>
                        <a:pt x="399" y="51"/>
                      </a:lnTo>
                      <a:lnTo>
                        <a:pt x="403" y="56"/>
                      </a:lnTo>
                      <a:lnTo>
                        <a:pt x="407" y="62"/>
                      </a:lnTo>
                      <a:lnTo>
                        <a:pt x="411" y="66"/>
                      </a:lnTo>
                      <a:lnTo>
                        <a:pt x="414" y="72"/>
                      </a:lnTo>
                      <a:lnTo>
                        <a:pt x="416" y="76"/>
                      </a:lnTo>
                      <a:lnTo>
                        <a:pt x="420" y="81"/>
                      </a:lnTo>
                      <a:lnTo>
                        <a:pt x="423" y="87"/>
                      </a:lnTo>
                      <a:lnTo>
                        <a:pt x="427" y="96"/>
                      </a:lnTo>
                      <a:lnTo>
                        <a:pt x="429" y="101"/>
                      </a:lnTo>
                      <a:lnTo>
                        <a:pt x="431" y="106"/>
                      </a:lnTo>
                      <a:lnTo>
                        <a:pt x="432" y="112"/>
                      </a:lnTo>
                      <a:lnTo>
                        <a:pt x="434" y="117"/>
                      </a:lnTo>
                      <a:lnTo>
                        <a:pt x="435" y="121"/>
                      </a:lnTo>
                      <a:lnTo>
                        <a:pt x="436" y="126"/>
                      </a:lnTo>
                      <a:lnTo>
                        <a:pt x="439" y="134"/>
                      </a:lnTo>
                      <a:lnTo>
                        <a:pt x="440" y="143"/>
                      </a:lnTo>
                      <a:lnTo>
                        <a:pt x="441" y="150"/>
                      </a:lnTo>
                      <a:lnTo>
                        <a:pt x="442" y="156"/>
                      </a:lnTo>
                      <a:lnTo>
                        <a:pt x="443" y="165"/>
                      </a:lnTo>
                      <a:lnTo>
                        <a:pt x="443" y="167"/>
                      </a:lnTo>
                      <a:lnTo>
                        <a:pt x="444" y="168"/>
                      </a:lnTo>
                      <a:lnTo>
                        <a:pt x="448" y="173"/>
                      </a:lnTo>
                      <a:lnTo>
                        <a:pt x="450" y="176"/>
                      </a:lnTo>
                      <a:lnTo>
                        <a:pt x="452" y="179"/>
                      </a:lnTo>
                      <a:lnTo>
                        <a:pt x="454" y="183"/>
                      </a:lnTo>
                      <a:lnTo>
                        <a:pt x="455" y="188"/>
                      </a:lnTo>
                      <a:lnTo>
                        <a:pt x="457" y="192"/>
                      </a:lnTo>
                      <a:lnTo>
                        <a:pt x="458" y="197"/>
                      </a:lnTo>
                      <a:lnTo>
                        <a:pt x="459" y="202"/>
                      </a:lnTo>
                      <a:lnTo>
                        <a:pt x="459" y="204"/>
                      </a:lnTo>
                      <a:lnTo>
                        <a:pt x="460" y="207"/>
                      </a:lnTo>
                      <a:lnTo>
                        <a:pt x="460" y="210"/>
                      </a:lnTo>
                      <a:lnTo>
                        <a:pt x="459" y="213"/>
                      </a:lnTo>
                      <a:lnTo>
                        <a:pt x="459" y="216"/>
                      </a:lnTo>
                      <a:lnTo>
                        <a:pt x="459" y="219"/>
                      </a:lnTo>
                      <a:lnTo>
                        <a:pt x="457" y="225"/>
                      </a:lnTo>
                      <a:lnTo>
                        <a:pt x="456" y="228"/>
                      </a:lnTo>
                      <a:lnTo>
                        <a:pt x="455" y="231"/>
                      </a:lnTo>
                      <a:lnTo>
                        <a:pt x="455" y="232"/>
                      </a:lnTo>
                      <a:lnTo>
                        <a:pt x="455" y="233"/>
                      </a:lnTo>
                      <a:lnTo>
                        <a:pt x="457" y="236"/>
                      </a:lnTo>
                      <a:lnTo>
                        <a:pt x="463" y="246"/>
                      </a:lnTo>
                      <a:lnTo>
                        <a:pt x="468" y="253"/>
                      </a:lnTo>
                      <a:lnTo>
                        <a:pt x="471" y="258"/>
                      </a:lnTo>
                      <a:lnTo>
                        <a:pt x="475" y="265"/>
                      </a:lnTo>
                      <a:lnTo>
                        <a:pt x="478" y="271"/>
                      </a:lnTo>
                      <a:lnTo>
                        <a:pt x="482" y="277"/>
                      </a:lnTo>
                      <a:lnTo>
                        <a:pt x="485" y="285"/>
                      </a:lnTo>
                      <a:lnTo>
                        <a:pt x="489" y="293"/>
                      </a:lnTo>
                      <a:lnTo>
                        <a:pt x="491" y="298"/>
                      </a:lnTo>
                      <a:lnTo>
                        <a:pt x="493" y="303"/>
                      </a:lnTo>
                      <a:lnTo>
                        <a:pt x="495" y="309"/>
                      </a:lnTo>
                      <a:lnTo>
                        <a:pt x="496" y="313"/>
                      </a:lnTo>
                      <a:lnTo>
                        <a:pt x="498" y="318"/>
                      </a:lnTo>
                      <a:lnTo>
                        <a:pt x="499" y="323"/>
                      </a:lnTo>
                      <a:lnTo>
                        <a:pt x="501" y="331"/>
                      </a:lnTo>
                      <a:lnTo>
                        <a:pt x="503" y="341"/>
                      </a:lnTo>
                      <a:lnTo>
                        <a:pt x="504" y="349"/>
                      </a:lnTo>
                      <a:lnTo>
                        <a:pt x="504" y="354"/>
                      </a:lnTo>
                      <a:lnTo>
                        <a:pt x="504" y="357"/>
                      </a:lnTo>
                      <a:lnTo>
                        <a:pt x="504" y="361"/>
                      </a:lnTo>
                      <a:lnTo>
                        <a:pt x="503" y="365"/>
                      </a:lnTo>
                      <a:lnTo>
                        <a:pt x="501" y="372"/>
                      </a:lnTo>
                      <a:lnTo>
                        <a:pt x="500" y="378"/>
                      </a:lnTo>
                      <a:lnTo>
                        <a:pt x="498" y="385"/>
                      </a:lnTo>
                      <a:lnTo>
                        <a:pt x="498" y="387"/>
                      </a:lnTo>
                      <a:lnTo>
                        <a:pt x="496" y="390"/>
                      </a:lnTo>
                      <a:lnTo>
                        <a:pt x="495" y="392"/>
                      </a:lnTo>
                      <a:lnTo>
                        <a:pt x="494" y="394"/>
                      </a:lnTo>
                      <a:lnTo>
                        <a:pt x="493" y="396"/>
                      </a:lnTo>
                      <a:lnTo>
                        <a:pt x="491" y="398"/>
                      </a:lnTo>
                      <a:lnTo>
                        <a:pt x="490" y="399"/>
                      </a:lnTo>
                      <a:lnTo>
                        <a:pt x="488" y="401"/>
                      </a:lnTo>
                      <a:lnTo>
                        <a:pt x="486" y="401"/>
                      </a:lnTo>
                      <a:lnTo>
                        <a:pt x="485" y="402"/>
                      </a:lnTo>
                      <a:lnTo>
                        <a:pt x="483" y="403"/>
                      </a:lnTo>
                      <a:lnTo>
                        <a:pt x="482" y="403"/>
                      </a:lnTo>
                      <a:lnTo>
                        <a:pt x="481" y="403"/>
                      </a:lnTo>
                      <a:lnTo>
                        <a:pt x="480" y="402"/>
                      </a:lnTo>
                      <a:lnTo>
                        <a:pt x="477" y="401"/>
                      </a:lnTo>
                      <a:lnTo>
                        <a:pt x="476" y="400"/>
                      </a:lnTo>
                      <a:lnTo>
                        <a:pt x="475" y="399"/>
                      </a:lnTo>
                      <a:lnTo>
                        <a:pt x="473" y="398"/>
                      </a:lnTo>
                      <a:lnTo>
                        <a:pt x="471" y="397"/>
                      </a:lnTo>
                      <a:lnTo>
                        <a:pt x="469" y="394"/>
                      </a:lnTo>
                      <a:lnTo>
                        <a:pt x="467" y="391"/>
                      </a:lnTo>
                      <a:lnTo>
                        <a:pt x="465" y="387"/>
                      </a:lnTo>
                      <a:lnTo>
                        <a:pt x="462" y="384"/>
                      </a:lnTo>
                      <a:lnTo>
                        <a:pt x="461" y="380"/>
                      </a:lnTo>
                      <a:lnTo>
                        <a:pt x="458" y="374"/>
                      </a:lnTo>
                      <a:lnTo>
                        <a:pt x="455" y="368"/>
                      </a:lnTo>
                      <a:lnTo>
                        <a:pt x="454" y="368"/>
                      </a:lnTo>
                      <a:lnTo>
                        <a:pt x="454" y="368"/>
                      </a:lnTo>
                      <a:lnTo>
                        <a:pt x="452" y="369"/>
                      </a:lnTo>
                      <a:lnTo>
                        <a:pt x="452" y="370"/>
                      </a:lnTo>
                      <a:lnTo>
                        <a:pt x="450" y="372"/>
                      </a:lnTo>
                      <a:lnTo>
                        <a:pt x="448" y="378"/>
                      </a:lnTo>
                      <a:lnTo>
                        <a:pt x="444" y="388"/>
                      </a:lnTo>
                      <a:lnTo>
                        <a:pt x="440" y="398"/>
                      </a:lnTo>
                      <a:lnTo>
                        <a:pt x="437" y="403"/>
                      </a:lnTo>
                      <a:lnTo>
                        <a:pt x="433" y="409"/>
                      </a:lnTo>
                      <a:lnTo>
                        <a:pt x="429" y="415"/>
                      </a:lnTo>
                      <a:lnTo>
                        <a:pt x="425" y="421"/>
                      </a:lnTo>
                      <a:lnTo>
                        <a:pt x="423" y="424"/>
                      </a:lnTo>
                      <a:lnTo>
                        <a:pt x="421" y="427"/>
                      </a:lnTo>
                      <a:lnTo>
                        <a:pt x="414" y="434"/>
                      </a:lnTo>
                      <a:lnTo>
                        <a:pt x="414" y="434"/>
                      </a:lnTo>
                      <a:lnTo>
                        <a:pt x="415" y="435"/>
                      </a:lnTo>
                      <a:lnTo>
                        <a:pt x="419" y="437"/>
                      </a:lnTo>
                      <a:lnTo>
                        <a:pt x="431" y="442"/>
                      </a:lnTo>
                      <a:lnTo>
                        <a:pt x="437" y="446"/>
                      </a:lnTo>
                      <a:lnTo>
                        <a:pt x="442" y="448"/>
                      </a:lnTo>
                      <a:lnTo>
                        <a:pt x="448" y="452"/>
                      </a:lnTo>
                      <a:lnTo>
                        <a:pt x="452" y="456"/>
                      </a:lnTo>
                      <a:lnTo>
                        <a:pt x="455" y="459"/>
                      </a:lnTo>
                      <a:lnTo>
                        <a:pt x="456" y="461"/>
                      </a:lnTo>
                      <a:lnTo>
                        <a:pt x="458" y="463"/>
                      </a:lnTo>
                      <a:lnTo>
                        <a:pt x="459" y="465"/>
                      </a:lnTo>
                      <a:lnTo>
                        <a:pt x="460" y="467"/>
                      </a:lnTo>
                      <a:lnTo>
                        <a:pt x="461" y="470"/>
                      </a:lnTo>
                      <a:lnTo>
                        <a:pt x="461" y="472"/>
                      </a:lnTo>
                      <a:lnTo>
                        <a:pt x="462" y="475"/>
                      </a:lnTo>
                      <a:lnTo>
                        <a:pt x="461" y="476"/>
                      </a:lnTo>
                      <a:lnTo>
                        <a:pt x="461" y="478"/>
                      </a:lnTo>
                      <a:lnTo>
                        <a:pt x="461" y="480"/>
                      </a:lnTo>
                      <a:lnTo>
                        <a:pt x="460" y="481"/>
                      </a:lnTo>
                      <a:lnTo>
                        <a:pt x="460" y="484"/>
                      </a:lnTo>
                      <a:lnTo>
                        <a:pt x="459" y="485"/>
                      </a:lnTo>
                      <a:lnTo>
                        <a:pt x="457" y="488"/>
                      </a:lnTo>
                      <a:lnTo>
                        <a:pt x="455" y="491"/>
                      </a:lnTo>
                      <a:lnTo>
                        <a:pt x="453" y="492"/>
                      </a:lnTo>
                      <a:lnTo>
                        <a:pt x="452" y="494"/>
                      </a:lnTo>
                      <a:lnTo>
                        <a:pt x="448" y="496"/>
                      </a:lnTo>
                      <a:lnTo>
                        <a:pt x="443" y="498"/>
                      </a:lnTo>
                      <a:lnTo>
                        <a:pt x="439" y="500"/>
                      </a:lnTo>
                      <a:lnTo>
                        <a:pt x="435" y="502"/>
                      </a:lnTo>
                      <a:lnTo>
                        <a:pt x="430" y="504"/>
                      </a:lnTo>
                      <a:lnTo>
                        <a:pt x="427" y="505"/>
                      </a:lnTo>
                      <a:lnTo>
                        <a:pt x="425" y="506"/>
                      </a:lnTo>
                      <a:lnTo>
                        <a:pt x="419" y="508"/>
                      </a:lnTo>
                      <a:lnTo>
                        <a:pt x="413" y="509"/>
                      </a:lnTo>
                      <a:lnTo>
                        <a:pt x="407" y="511"/>
                      </a:lnTo>
                      <a:lnTo>
                        <a:pt x="400" y="512"/>
                      </a:lnTo>
                      <a:lnTo>
                        <a:pt x="394" y="512"/>
                      </a:lnTo>
                      <a:lnTo>
                        <a:pt x="386" y="513"/>
                      </a:lnTo>
                      <a:lnTo>
                        <a:pt x="379" y="513"/>
                      </a:lnTo>
                      <a:lnTo>
                        <a:pt x="372" y="513"/>
                      </a:lnTo>
                      <a:lnTo>
                        <a:pt x="365" y="513"/>
                      </a:lnTo>
                      <a:lnTo>
                        <a:pt x="356" y="512"/>
                      </a:lnTo>
                      <a:lnTo>
                        <a:pt x="349" y="512"/>
                      </a:lnTo>
                      <a:lnTo>
                        <a:pt x="342" y="511"/>
                      </a:lnTo>
                      <a:lnTo>
                        <a:pt x="334" y="510"/>
                      </a:lnTo>
                      <a:lnTo>
                        <a:pt x="325" y="509"/>
                      </a:lnTo>
                      <a:lnTo>
                        <a:pt x="317" y="506"/>
                      </a:lnTo>
                      <a:lnTo>
                        <a:pt x="310" y="504"/>
                      </a:lnTo>
                      <a:lnTo>
                        <a:pt x="301" y="502"/>
                      </a:lnTo>
                      <a:lnTo>
                        <a:pt x="294" y="500"/>
                      </a:lnTo>
                      <a:lnTo>
                        <a:pt x="286" y="497"/>
                      </a:lnTo>
                      <a:lnTo>
                        <a:pt x="282" y="496"/>
                      </a:lnTo>
                      <a:lnTo>
                        <a:pt x="279" y="495"/>
                      </a:lnTo>
                      <a:lnTo>
                        <a:pt x="276" y="494"/>
                      </a:lnTo>
                      <a:lnTo>
                        <a:pt x="273" y="493"/>
                      </a:lnTo>
                      <a:lnTo>
                        <a:pt x="270" y="493"/>
                      </a:lnTo>
                      <a:lnTo>
                        <a:pt x="267" y="493"/>
                      </a:lnTo>
                      <a:lnTo>
                        <a:pt x="260" y="493"/>
                      </a:lnTo>
                      <a:lnTo>
                        <a:pt x="256" y="492"/>
                      </a:lnTo>
                      <a:lnTo>
                        <a:pt x="251" y="492"/>
                      </a:lnTo>
                      <a:lnTo>
                        <a:pt x="248" y="495"/>
                      </a:lnTo>
                      <a:lnTo>
                        <a:pt x="243" y="497"/>
                      </a:lnTo>
                      <a:lnTo>
                        <a:pt x="238" y="500"/>
                      </a:lnTo>
                      <a:lnTo>
                        <a:pt x="232" y="503"/>
                      </a:lnTo>
                      <a:lnTo>
                        <a:pt x="228" y="505"/>
                      </a:lnTo>
                      <a:lnTo>
                        <a:pt x="224" y="508"/>
                      </a:lnTo>
                      <a:lnTo>
                        <a:pt x="214" y="511"/>
                      </a:lnTo>
                      <a:lnTo>
                        <a:pt x="209" y="512"/>
                      </a:lnTo>
                      <a:lnTo>
                        <a:pt x="205" y="514"/>
                      </a:lnTo>
                      <a:lnTo>
                        <a:pt x="198" y="515"/>
                      </a:lnTo>
                      <a:lnTo>
                        <a:pt x="193" y="515"/>
                      </a:lnTo>
                      <a:lnTo>
                        <a:pt x="188" y="516"/>
                      </a:lnTo>
                      <a:lnTo>
                        <a:pt x="183" y="516"/>
                      </a:lnTo>
                      <a:lnTo>
                        <a:pt x="178" y="516"/>
                      </a:lnTo>
                      <a:lnTo>
                        <a:pt x="172" y="516"/>
                      </a:lnTo>
                      <a:lnTo>
                        <a:pt x="167" y="516"/>
                      </a:lnTo>
                      <a:lnTo>
                        <a:pt x="154" y="516"/>
                      </a:lnTo>
                      <a:lnTo>
                        <a:pt x="141" y="516"/>
                      </a:lnTo>
                      <a:lnTo>
                        <a:pt x="128" y="515"/>
                      </a:lnTo>
                      <a:lnTo>
                        <a:pt x="122" y="514"/>
                      </a:lnTo>
                      <a:lnTo>
                        <a:pt x="116" y="513"/>
                      </a:lnTo>
                      <a:lnTo>
                        <a:pt x="110" y="512"/>
                      </a:lnTo>
                      <a:lnTo>
                        <a:pt x="103" y="511"/>
                      </a:lnTo>
                      <a:lnTo>
                        <a:pt x="98" y="509"/>
                      </a:lnTo>
                      <a:lnTo>
                        <a:pt x="92" y="508"/>
                      </a:lnTo>
                      <a:lnTo>
                        <a:pt x="87" y="505"/>
                      </a:lnTo>
                      <a:lnTo>
                        <a:pt x="83" y="503"/>
                      </a:lnTo>
                      <a:lnTo>
                        <a:pt x="78" y="501"/>
                      </a:lnTo>
                      <a:lnTo>
                        <a:pt x="74" y="499"/>
                      </a:lnTo>
                      <a:lnTo>
                        <a:pt x="70" y="496"/>
                      </a:lnTo>
                      <a:lnTo>
                        <a:pt x="69" y="495"/>
                      </a:lnTo>
                      <a:lnTo>
                        <a:pt x="67" y="493"/>
                      </a:lnTo>
                      <a:lnTo>
                        <a:pt x="66" y="492"/>
                      </a:lnTo>
                      <a:lnTo>
                        <a:pt x="64" y="490"/>
                      </a:lnTo>
                      <a:lnTo>
                        <a:pt x="63" y="489"/>
                      </a:lnTo>
                      <a:lnTo>
                        <a:pt x="63" y="487"/>
                      </a:lnTo>
                      <a:lnTo>
                        <a:pt x="61" y="484"/>
                      </a:lnTo>
                      <a:lnTo>
                        <a:pt x="61" y="481"/>
                      </a:lnTo>
                      <a:lnTo>
                        <a:pt x="60" y="479"/>
                      </a:lnTo>
                      <a:lnTo>
                        <a:pt x="60" y="477"/>
                      </a:lnTo>
                      <a:lnTo>
                        <a:pt x="61" y="475"/>
                      </a:lnTo>
                      <a:lnTo>
                        <a:pt x="61" y="473"/>
                      </a:lnTo>
                      <a:lnTo>
                        <a:pt x="61" y="471"/>
                      </a:lnTo>
                      <a:lnTo>
                        <a:pt x="61" y="470"/>
                      </a:lnTo>
                      <a:lnTo>
                        <a:pt x="61" y="467"/>
                      </a:lnTo>
                      <a:lnTo>
                        <a:pt x="62" y="465"/>
                      </a:lnTo>
                      <a:lnTo>
                        <a:pt x="63" y="462"/>
                      </a:lnTo>
                      <a:lnTo>
                        <a:pt x="63" y="460"/>
                      </a:lnTo>
                      <a:lnTo>
                        <a:pt x="65" y="456"/>
                      </a:lnTo>
                      <a:lnTo>
                        <a:pt x="66" y="454"/>
                      </a:lnTo>
                      <a:lnTo>
                        <a:pt x="67" y="453"/>
                      </a:lnTo>
                      <a:lnTo>
                        <a:pt x="69" y="450"/>
                      </a:lnTo>
                      <a:lnTo>
                        <a:pt x="71" y="449"/>
                      </a:lnTo>
                      <a:lnTo>
                        <a:pt x="73" y="448"/>
                      </a:lnTo>
                      <a:lnTo>
                        <a:pt x="74" y="446"/>
                      </a:lnTo>
                      <a:lnTo>
                        <a:pt x="78" y="446"/>
                      </a:lnTo>
                      <a:lnTo>
                        <a:pt x="80" y="444"/>
                      </a:lnTo>
                      <a:lnTo>
                        <a:pt x="83" y="443"/>
                      </a:lnTo>
                      <a:lnTo>
                        <a:pt x="86" y="442"/>
                      </a:lnTo>
                      <a:lnTo>
                        <a:pt x="89" y="441"/>
                      </a:lnTo>
                      <a:lnTo>
                        <a:pt x="92" y="440"/>
                      </a:lnTo>
                      <a:lnTo>
                        <a:pt x="95" y="440"/>
                      </a:lnTo>
                      <a:lnTo>
                        <a:pt x="99" y="439"/>
                      </a:lnTo>
                      <a:lnTo>
                        <a:pt x="103" y="439"/>
                      </a:lnTo>
                      <a:lnTo>
                        <a:pt x="105" y="439"/>
                      </a:lnTo>
                      <a:lnTo>
                        <a:pt x="105" y="439"/>
                      </a:lnTo>
                      <a:lnTo>
                        <a:pt x="106" y="438"/>
                      </a:lnTo>
                      <a:lnTo>
                        <a:pt x="106" y="438"/>
                      </a:lnTo>
                      <a:lnTo>
                        <a:pt x="105" y="437"/>
                      </a:lnTo>
                      <a:lnTo>
                        <a:pt x="102" y="436"/>
                      </a:lnTo>
                      <a:lnTo>
                        <a:pt x="96" y="430"/>
                      </a:lnTo>
                      <a:lnTo>
                        <a:pt x="93" y="427"/>
                      </a:lnTo>
                      <a:lnTo>
                        <a:pt x="89" y="423"/>
                      </a:lnTo>
                      <a:lnTo>
                        <a:pt x="84" y="419"/>
                      </a:lnTo>
                      <a:lnTo>
                        <a:pt x="80" y="414"/>
                      </a:lnTo>
                      <a:lnTo>
                        <a:pt x="74" y="407"/>
                      </a:lnTo>
                      <a:lnTo>
                        <a:pt x="72" y="403"/>
                      </a:lnTo>
                      <a:lnTo>
                        <a:pt x="69" y="400"/>
                      </a:lnTo>
                      <a:lnTo>
                        <a:pt x="67" y="396"/>
                      </a:lnTo>
                      <a:lnTo>
                        <a:pt x="65" y="392"/>
                      </a:lnTo>
                      <a:lnTo>
                        <a:pt x="62" y="388"/>
                      </a:lnTo>
                      <a:lnTo>
                        <a:pt x="60" y="382"/>
                      </a:lnTo>
                      <a:lnTo>
                        <a:pt x="58" y="378"/>
                      </a:lnTo>
                      <a:lnTo>
                        <a:pt x="56" y="372"/>
                      </a:lnTo>
                      <a:lnTo>
                        <a:pt x="55" y="368"/>
                      </a:lnTo>
                      <a:lnTo>
                        <a:pt x="53" y="361"/>
                      </a:lnTo>
                      <a:lnTo>
                        <a:pt x="53" y="361"/>
                      </a:lnTo>
                      <a:lnTo>
                        <a:pt x="53" y="361"/>
                      </a:lnTo>
                      <a:lnTo>
                        <a:pt x="52" y="361"/>
                      </a:lnTo>
                      <a:lnTo>
                        <a:pt x="52" y="361"/>
                      </a:lnTo>
                      <a:lnTo>
                        <a:pt x="51" y="361"/>
                      </a:lnTo>
                      <a:lnTo>
                        <a:pt x="50" y="361"/>
                      </a:lnTo>
                      <a:lnTo>
                        <a:pt x="50" y="362"/>
                      </a:lnTo>
                      <a:lnTo>
                        <a:pt x="50" y="364"/>
                      </a:lnTo>
                      <a:lnTo>
                        <a:pt x="49" y="365"/>
                      </a:lnTo>
                      <a:lnTo>
                        <a:pt x="48" y="367"/>
                      </a:lnTo>
                      <a:lnTo>
                        <a:pt x="45" y="371"/>
                      </a:lnTo>
                      <a:lnTo>
                        <a:pt x="44" y="374"/>
                      </a:lnTo>
                      <a:lnTo>
                        <a:pt x="42" y="376"/>
                      </a:lnTo>
                      <a:lnTo>
                        <a:pt x="39" y="379"/>
                      </a:lnTo>
                      <a:lnTo>
                        <a:pt x="37" y="382"/>
                      </a:lnTo>
                      <a:lnTo>
                        <a:pt x="34" y="386"/>
                      </a:lnTo>
                      <a:lnTo>
                        <a:pt x="31" y="389"/>
                      </a:lnTo>
                      <a:lnTo>
                        <a:pt x="28" y="391"/>
                      </a:lnTo>
                      <a:lnTo>
                        <a:pt x="25" y="393"/>
                      </a:lnTo>
                      <a:lnTo>
                        <a:pt x="22" y="395"/>
                      </a:lnTo>
                      <a:lnTo>
                        <a:pt x="18" y="397"/>
                      </a:lnTo>
                      <a:lnTo>
                        <a:pt x="14" y="398"/>
                      </a:lnTo>
                      <a:lnTo>
                        <a:pt x="10" y="398"/>
                      </a:lnTo>
                      <a:lnTo>
                        <a:pt x="10" y="398"/>
                      </a:lnTo>
                      <a:lnTo>
                        <a:pt x="9" y="398"/>
                      </a:lnTo>
                      <a:lnTo>
                        <a:pt x="8" y="398"/>
                      </a:lnTo>
                      <a:lnTo>
                        <a:pt x="8" y="396"/>
                      </a:lnTo>
                      <a:lnTo>
                        <a:pt x="7" y="395"/>
                      </a:lnTo>
                      <a:lnTo>
                        <a:pt x="5" y="392"/>
                      </a:lnTo>
                      <a:lnTo>
                        <a:pt x="4" y="390"/>
                      </a:lnTo>
                      <a:lnTo>
                        <a:pt x="3" y="387"/>
                      </a:lnTo>
                      <a:lnTo>
                        <a:pt x="3" y="384"/>
                      </a:lnTo>
                      <a:lnTo>
                        <a:pt x="2" y="381"/>
                      </a:lnTo>
                      <a:lnTo>
                        <a:pt x="1" y="374"/>
                      </a:lnTo>
                      <a:lnTo>
                        <a:pt x="0" y="370"/>
                      </a:lnTo>
                      <a:lnTo>
                        <a:pt x="0" y="367"/>
                      </a:lnTo>
                      <a:lnTo>
                        <a:pt x="0" y="357"/>
                      </a:lnTo>
                      <a:lnTo>
                        <a:pt x="1" y="348"/>
                      </a:lnTo>
                      <a:lnTo>
                        <a:pt x="2" y="343"/>
                      </a:lnTo>
                      <a:lnTo>
                        <a:pt x="3" y="338"/>
                      </a:lnTo>
                      <a:lnTo>
                        <a:pt x="3" y="332"/>
                      </a:lnTo>
                      <a:lnTo>
                        <a:pt x="5" y="327"/>
                      </a:lnTo>
                      <a:lnTo>
                        <a:pt x="6" y="322"/>
                      </a:lnTo>
                      <a:lnTo>
                        <a:pt x="8" y="316"/>
                      </a:lnTo>
                      <a:lnTo>
                        <a:pt x="10" y="311"/>
                      </a:lnTo>
                      <a:lnTo>
                        <a:pt x="12" y="304"/>
                      </a:lnTo>
                      <a:lnTo>
                        <a:pt x="15" y="299"/>
                      </a:lnTo>
                      <a:lnTo>
                        <a:pt x="18" y="293"/>
                      </a:lnTo>
                      <a:lnTo>
                        <a:pt x="22" y="287"/>
                      </a:lnTo>
                      <a:lnTo>
                        <a:pt x="26" y="281"/>
                      </a:lnTo>
                      <a:lnTo>
                        <a:pt x="30" y="275"/>
                      </a:lnTo>
                      <a:lnTo>
                        <a:pt x="34" y="269"/>
                      </a:lnTo>
                      <a:lnTo>
                        <a:pt x="37" y="265"/>
                      </a:lnTo>
                      <a:lnTo>
                        <a:pt x="42" y="260"/>
                      </a:lnTo>
                      <a:lnTo>
                        <a:pt x="46" y="254"/>
                      </a:lnTo>
                      <a:lnTo>
                        <a:pt x="49" y="252"/>
                      </a:lnTo>
                      <a:lnTo>
                        <a:pt x="52" y="250"/>
                      </a:lnTo>
                      <a:lnTo>
                        <a:pt x="56" y="246"/>
                      </a:lnTo>
                      <a:lnTo>
                        <a:pt x="59" y="243"/>
                      </a:lnTo>
                      <a:lnTo>
                        <a:pt x="66" y="238"/>
                      </a:lnTo>
                      <a:lnTo>
                        <a:pt x="70" y="233"/>
                      </a:lnTo>
                      <a:lnTo>
                        <a:pt x="72" y="232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65000"/>
                  </a:sysClr>
                </a:solidFill>
                <a:ln>
                  <a:noFill/>
                </a:ln>
                <a:ex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zh-CN" altLang="en-US" dirty="0">
                    <a:solidFill>
                      <a:srgbClr val="EEECE1"/>
                    </a:solidFill>
                    <a:cs typeface="+mn-ea"/>
                    <a:sym typeface="+mn-lt"/>
                  </a:endParaRPr>
                </a:p>
              </p:txBody>
            </p:sp>
            <p:grpSp>
              <p:nvGrpSpPr>
                <p:cNvPr id="35" name="组合 34"/>
                <p:cNvGrpSpPr/>
                <p:nvPr/>
              </p:nvGrpSpPr>
              <p:grpSpPr>
                <a:xfrm>
                  <a:off x="1733201" y="4003433"/>
                  <a:ext cx="279105" cy="228600"/>
                  <a:chOff x="8770487" y="148403"/>
                  <a:chExt cx="906362" cy="742354"/>
                </a:xfrm>
                <a:solidFill>
                  <a:sysClr val="window" lastClr="FFFFFF">
                    <a:lumMod val="65000"/>
                  </a:sysClr>
                </a:solidFill>
              </p:grpSpPr>
              <p:sp>
                <p:nvSpPr>
                  <p:cNvPr id="36" name="Freeform 10"/>
                  <p:cNvSpPr>
                    <a:spLocks noEditPoints="1"/>
                  </p:cNvSpPr>
                  <p:nvPr/>
                </p:nvSpPr>
                <p:spPr bwMode="auto">
                  <a:xfrm>
                    <a:off x="8770487" y="148403"/>
                    <a:ext cx="644524" cy="589855"/>
                  </a:xfrm>
                  <a:custGeom>
                    <a:avLst/>
                    <a:gdLst>
                      <a:gd name="T0" fmla="*/ 412 w 432"/>
                      <a:gd name="T1" fmla="*/ 150 h 393"/>
                      <a:gd name="T2" fmla="*/ 432 w 432"/>
                      <a:gd name="T3" fmla="*/ 151 h 393"/>
                      <a:gd name="T4" fmla="*/ 215 w 432"/>
                      <a:gd name="T5" fmla="*/ 0 h 393"/>
                      <a:gd name="T6" fmla="*/ 0 w 432"/>
                      <a:gd name="T7" fmla="*/ 183 h 393"/>
                      <a:gd name="T8" fmla="*/ 86 w 432"/>
                      <a:gd name="T9" fmla="*/ 328 h 393"/>
                      <a:gd name="T10" fmla="*/ 65 w 432"/>
                      <a:gd name="T11" fmla="*/ 393 h 393"/>
                      <a:gd name="T12" fmla="*/ 140 w 432"/>
                      <a:gd name="T13" fmla="*/ 355 h 393"/>
                      <a:gd name="T14" fmla="*/ 215 w 432"/>
                      <a:gd name="T15" fmla="*/ 366 h 393"/>
                      <a:gd name="T16" fmla="*/ 235 w 432"/>
                      <a:gd name="T17" fmla="*/ 365 h 393"/>
                      <a:gd name="T18" fmla="*/ 229 w 432"/>
                      <a:gd name="T19" fmla="*/ 320 h 393"/>
                      <a:gd name="T20" fmla="*/ 412 w 432"/>
                      <a:gd name="T21" fmla="*/ 150 h 393"/>
                      <a:gd name="T22" fmla="*/ 296 w 432"/>
                      <a:gd name="T23" fmla="*/ 91 h 393"/>
                      <a:gd name="T24" fmla="*/ 323 w 432"/>
                      <a:gd name="T25" fmla="*/ 118 h 393"/>
                      <a:gd name="T26" fmla="*/ 296 w 432"/>
                      <a:gd name="T27" fmla="*/ 145 h 393"/>
                      <a:gd name="T28" fmla="*/ 264 w 432"/>
                      <a:gd name="T29" fmla="*/ 118 h 393"/>
                      <a:gd name="T30" fmla="*/ 296 w 432"/>
                      <a:gd name="T31" fmla="*/ 91 h 393"/>
                      <a:gd name="T32" fmla="*/ 145 w 432"/>
                      <a:gd name="T33" fmla="*/ 145 h 393"/>
                      <a:gd name="T34" fmla="*/ 113 w 432"/>
                      <a:gd name="T35" fmla="*/ 118 h 393"/>
                      <a:gd name="T36" fmla="*/ 145 w 432"/>
                      <a:gd name="T37" fmla="*/ 91 h 393"/>
                      <a:gd name="T38" fmla="*/ 172 w 432"/>
                      <a:gd name="T39" fmla="*/ 118 h 393"/>
                      <a:gd name="T40" fmla="*/ 145 w 432"/>
                      <a:gd name="T41" fmla="*/ 145 h 39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</a:cxnLst>
                    <a:rect l="0" t="0" r="r" b="b"/>
                    <a:pathLst>
                      <a:path w="432" h="393">
                        <a:moveTo>
                          <a:pt x="412" y="150"/>
                        </a:moveTo>
                        <a:cubicBezTo>
                          <a:pt x="419" y="150"/>
                          <a:pt x="426" y="150"/>
                          <a:pt x="432" y="151"/>
                        </a:cubicBezTo>
                        <a:cubicBezTo>
                          <a:pt x="414" y="64"/>
                          <a:pt x="321" y="0"/>
                          <a:pt x="215" y="0"/>
                        </a:cubicBezTo>
                        <a:cubicBezTo>
                          <a:pt x="97" y="0"/>
                          <a:pt x="0" y="80"/>
                          <a:pt x="0" y="183"/>
                        </a:cubicBezTo>
                        <a:cubicBezTo>
                          <a:pt x="0" y="242"/>
                          <a:pt x="32" y="290"/>
                          <a:pt x="86" y="328"/>
                        </a:cubicBezTo>
                        <a:cubicBezTo>
                          <a:pt x="65" y="393"/>
                          <a:pt x="65" y="393"/>
                          <a:pt x="65" y="393"/>
                        </a:cubicBezTo>
                        <a:cubicBezTo>
                          <a:pt x="140" y="355"/>
                          <a:pt x="140" y="355"/>
                          <a:pt x="140" y="355"/>
                        </a:cubicBezTo>
                        <a:cubicBezTo>
                          <a:pt x="167" y="360"/>
                          <a:pt x="188" y="366"/>
                          <a:pt x="215" y="366"/>
                        </a:cubicBezTo>
                        <a:cubicBezTo>
                          <a:pt x="222" y="366"/>
                          <a:pt x="229" y="365"/>
                          <a:pt x="235" y="365"/>
                        </a:cubicBezTo>
                        <a:cubicBezTo>
                          <a:pt x="231" y="351"/>
                          <a:pt x="229" y="335"/>
                          <a:pt x="229" y="320"/>
                        </a:cubicBezTo>
                        <a:cubicBezTo>
                          <a:pt x="229" y="226"/>
                          <a:pt x="309" y="150"/>
                          <a:pt x="412" y="150"/>
                        </a:cubicBezTo>
                        <a:close/>
                        <a:moveTo>
                          <a:pt x="296" y="91"/>
                        </a:moveTo>
                        <a:cubicBezTo>
                          <a:pt x="312" y="91"/>
                          <a:pt x="323" y="102"/>
                          <a:pt x="323" y="118"/>
                        </a:cubicBezTo>
                        <a:cubicBezTo>
                          <a:pt x="323" y="134"/>
                          <a:pt x="312" y="145"/>
                          <a:pt x="296" y="145"/>
                        </a:cubicBezTo>
                        <a:cubicBezTo>
                          <a:pt x="280" y="145"/>
                          <a:pt x="264" y="134"/>
                          <a:pt x="264" y="118"/>
                        </a:cubicBezTo>
                        <a:cubicBezTo>
                          <a:pt x="264" y="102"/>
                          <a:pt x="280" y="91"/>
                          <a:pt x="296" y="91"/>
                        </a:cubicBezTo>
                        <a:close/>
                        <a:moveTo>
                          <a:pt x="145" y="145"/>
                        </a:moveTo>
                        <a:cubicBezTo>
                          <a:pt x="129" y="145"/>
                          <a:pt x="113" y="134"/>
                          <a:pt x="113" y="118"/>
                        </a:cubicBezTo>
                        <a:cubicBezTo>
                          <a:pt x="113" y="102"/>
                          <a:pt x="129" y="91"/>
                          <a:pt x="145" y="91"/>
                        </a:cubicBezTo>
                        <a:cubicBezTo>
                          <a:pt x="161" y="91"/>
                          <a:pt x="172" y="102"/>
                          <a:pt x="172" y="118"/>
                        </a:cubicBezTo>
                        <a:cubicBezTo>
                          <a:pt x="172" y="134"/>
                          <a:pt x="161" y="145"/>
                          <a:pt x="145" y="14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defRPr/>
                    </a:pPr>
                    <a:endParaRPr lang="zh-CN" altLang="en-US" dirty="0">
                      <a:solidFill>
                        <a:srgbClr val="EEECE1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" name="Freeform 11"/>
                  <p:cNvSpPr>
                    <a:spLocks noEditPoints="1"/>
                  </p:cNvSpPr>
                  <p:nvPr/>
                </p:nvSpPr>
                <p:spPr bwMode="auto">
                  <a:xfrm>
                    <a:off x="9131593" y="390100"/>
                    <a:ext cx="545256" cy="500657"/>
                  </a:xfrm>
                  <a:custGeom>
                    <a:avLst/>
                    <a:gdLst>
                      <a:gd name="T0" fmla="*/ 366 w 366"/>
                      <a:gd name="T1" fmla="*/ 156 h 334"/>
                      <a:gd name="T2" fmla="*/ 183 w 366"/>
                      <a:gd name="T3" fmla="*/ 0 h 334"/>
                      <a:gd name="T4" fmla="*/ 0 w 366"/>
                      <a:gd name="T5" fmla="*/ 156 h 334"/>
                      <a:gd name="T6" fmla="*/ 183 w 366"/>
                      <a:gd name="T7" fmla="*/ 312 h 334"/>
                      <a:gd name="T8" fmla="*/ 248 w 366"/>
                      <a:gd name="T9" fmla="*/ 302 h 334"/>
                      <a:gd name="T10" fmla="*/ 307 w 366"/>
                      <a:gd name="T11" fmla="*/ 334 h 334"/>
                      <a:gd name="T12" fmla="*/ 291 w 366"/>
                      <a:gd name="T13" fmla="*/ 280 h 334"/>
                      <a:gd name="T14" fmla="*/ 366 w 366"/>
                      <a:gd name="T15" fmla="*/ 156 h 334"/>
                      <a:gd name="T16" fmla="*/ 124 w 366"/>
                      <a:gd name="T17" fmla="*/ 129 h 334"/>
                      <a:gd name="T18" fmla="*/ 102 w 366"/>
                      <a:gd name="T19" fmla="*/ 108 h 334"/>
                      <a:gd name="T20" fmla="*/ 124 w 366"/>
                      <a:gd name="T21" fmla="*/ 86 h 334"/>
                      <a:gd name="T22" fmla="*/ 151 w 366"/>
                      <a:gd name="T23" fmla="*/ 108 h 334"/>
                      <a:gd name="T24" fmla="*/ 124 w 366"/>
                      <a:gd name="T25" fmla="*/ 129 h 334"/>
                      <a:gd name="T26" fmla="*/ 242 w 366"/>
                      <a:gd name="T27" fmla="*/ 129 h 334"/>
                      <a:gd name="T28" fmla="*/ 221 w 366"/>
                      <a:gd name="T29" fmla="*/ 108 h 334"/>
                      <a:gd name="T30" fmla="*/ 242 w 366"/>
                      <a:gd name="T31" fmla="*/ 86 h 334"/>
                      <a:gd name="T32" fmla="*/ 269 w 366"/>
                      <a:gd name="T33" fmla="*/ 108 h 334"/>
                      <a:gd name="T34" fmla="*/ 242 w 366"/>
                      <a:gd name="T35" fmla="*/ 129 h 3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366" h="334">
                        <a:moveTo>
                          <a:pt x="366" y="156"/>
                        </a:moveTo>
                        <a:cubicBezTo>
                          <a:pt x="366" y="70"/>
                          <a:pt x="280" y="0"/>
                          <a:pt x="183" y="0"/>
                        </a:cubicBezTo>
                        <a:cubicBezTo>
                          <a:pt x="81" y="0"/>
                          <a:pt x="0" y="70"/>
                          <a:pt x="0" y="156"/>
                        </a:cubicBezTo>
                        <a:cubicBezTo>
                          <a:pt x="0" y="242"/>
                          <a:pt x="81" y="312"/>
                          <a:pt x="183" y="312"/>
                        </a:cubicBezTo>
                        <a:cubicBezTo>
                          <a:pt x="205" y="312"/>
                          <a:pt x="226" y="307"/>
                          <a:pt x="248" y="302"/>
                        </a:cubicBezTo>
                        <a:cubicBezTo>
                          <a:pt x="307" y="334"/>
                          <a:pt x="307" y="334"/>
                          <a:pt x="307" y="334"/>
                        </a:cubicBezTo>
                        <a:cubicBezTo>
                          <a:pt x="291" y="280"/>
                          <a:pt x="291" y="280"/>
                          <a:pt x="291" y="280"/>
                        </a:cubicBezTo>
                        <a:cubicBezTo>
                          <a:pt x="334" y="248"/>
                          <a:pt x="366" y="205"/>
                          <a:pt x="366" y="156"/>
                        </a:cubicBezTo>
                        <a:close/>
                        <a:moveTo>
                          <a:pt x="124" y="129"/>
                        </a:moveTo>
                        <a:cubicBezTo>
                          <a:pt x="113" y="129"/>
                          <a:pt x="102" y="119"/>
                          <a:pt x="102" y="108"/>
                        </a:cubicBezTo>
                        <a:cubicBezTo>
                          <a:pt x="102" y="97"/>
                          <a:pt x="113" y="86"/>
                          <a:pt x="124" y="86"/>
                        </a:cubicBezTo>
                        <a:cubicBezTo>
                          <a:pt x="140" y="86"/>
                          <a:pt x="151" y="97"/>
                          <a:pt x="151" y="108"/>
                        </a:cubicBezTo>
                        <a:cubicBezTo>
                          <a:pt x="151" y="119"/>
                          <a:pt x="140" y="129"/>
                          <a:pt x="124" y="129"/>
                        </a:cubicBezTo>
                        <a:close/>
                        <a:moveTo>
                          <a:pt x="242" y="129"/>
                        </a:moveTo>
                        <a:cubicBezTo>
                          <a:pt x="232" y="129"/>
                          <a:pt x="221" y="119"/>
                          <a:pt x="221" y="108"/>
                        </a:cubicBezTo>
                        <a:cubicBezTo>
                          <a:pt x="221" y="97"/>
                          <a:pt x="232" y="86"/>
                          <a:pt x="242" y="86"/>
                        </a:cubicBezTo>
                        <a:cubicBezTo>
                          <a:pt x="258" y="86"/>
                          <a:pt x="269" y="97"/>
                          <a:pt x="269" y="108"/>
                        </a:cubicBezTo>
                        <a:cubicBezTo>
                          <a:pt x="269" y="119"/>
                          <a:pt x="258" y="129"/>
                          <a:pt x="242" y="12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defRPr/>
                    </a:pPr>
                    <a:endParaRPr lang="zh-CN" altLang="en-US" dirty="0">
                      <a:solidFill>
                        <a:srgbClr val="EEECE1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</p:grpSp>
        </p:grpSp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139" y="5087859"/>
              <a:ext cx="412824" cy="412824"/>
            </a:xfrm>
            <a:prstGeom prst="rect">
              <a:avLst/>
            </a:prstGeom>
          </p:spPr>
        </p:pic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803" y="534628"/>
            <a:ext cx="1382549" cy="138254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93" y="515656"/>
            <a:ext cx="1792379" cy="142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2994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Microsoft YaHei UI"/>
        <a:ea typeface="微软雅黑"/>
        <a:cs typeface=""/>
      </a:majorFont>
      <a:minorFont>
        <a:latin typeface="Microsoft YaHei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A7BAE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常用字体2">
      <a:majorFont>
        <a:latin typeface="Impact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A7BAE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3706</TotalTime>
  <Words>1033</Words>
  <Application>Microsoft Office PowerPoint</Application>
  <PresentationFormat>全屏显示(16:9)</PresentationFormat>
  <Paragraphs>444</Paragraphs>
  <Slides>44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44</vt:i4>
      </vt:variant>
    </vt:vector>
  </HeadingPairs>
  <TitlesOfParts>
    <vt:vector size="53" baseType="lpstr">
      <vt:lpstr>Consolas</vt:lpstr>
      <vt:lpstr>微软雅黑</vt:lpstr>
      <vt:lpstr>Arial</vt:lpstr>
      <vt:lpstr>宋体</vt:lpstr>
      <vt:lpstr>Microsoft YaHei UI</vt:lpstr>
      <vt:lpstr>Impact</vt:lpstr>
      <vt:lpstr>Calibri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Roy CFhM_R</dc:creator>
  <cp:lastModifiedBy>达达Mr_X</cp:lastModifiedBy>
  <cp:revision>702</cp:revision>
  <dcterms:modified xsi:type="dcterms:W3CDTF">2016-06-22T01:10:18Z</dcterms:modified>
  <cp:contentStatus>最终状态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