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57"/>
  </p:notesMasterIdLst>
  <p:sldIdLst>
    <p:sldId id="256" r:id="rId2"/>
    <p:sldId id="257" r:id="rId3"/>
    <p:sldId id="258" r:id="rId4"/>
    <p:sldId id="263" r:id="rId5"/>
    <p:sldId id="264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2" r:id="rId17"/>
    <p:sldId id="337" r:id="rId18"/>
    <p:sldId id="338" r:id="rId19"/>
    <p:sldId id="323" r:id="rId20"/>
    <p:sldId id="327" r:id="rId21"/>
    <p:sldId id="331" r:id="rId22"/>
    <p:sldId id="332" r:id="rId23"/>
    <p:sldId id="333" r:id="rId24"/>
    <p:sldId id="345" r:id="rId25"/>
    <p:sldId id="328" r:id="rId26"/>
    <p:sldId id="324" r:id="rId27"/>
    <p:sldId id="334" r:id="rId28"/>
    <p:sldId id="335" r:id="rId29"/>
    <p:sldId id="336" r:id="rId30"/>
    <p:sldId id="325" r:id="rId31"/>
    <p:sldId id="326" r:id="rId32"/>
    <p:sldId id="329" r:id="rId33"/>
    <p:sldId id="330" r:id="rId34"/>
    <p:sldId id="340" r:id="rId35"/>
    <p:sldId id="341" r:id="rId36"/>
    <p:sldId id="343" r:id="rId37"/>
    <p:sldId id="346" r:id="rId38"/>
    <p:sldId id="339" r:id="rId39"/>
    <p:sldId id="309" r:id="rId40"/>
    <p:sldId id="266" r:id="rId41"/>
    <p:sldId id="267" r:id="rId42"/>
    <p:sldId id="268" r:id="rId43"/>
    <p:sldId id="269" r:id="rId44"/>
    <p:sldId id="270" r:id="rId45"/>
    <p:sldId id="271" r:id="rId46"/>
    <p:sldId id="272" r:id="rId47"/>
    <p:sldId id="273" r:id="rId48"/>
    <p:sldId id="274" r:id="rId49"/>
    <p:sldId id="275" r:id="rId50"/>
    <p:sldId id="276" r:id="rId51"/>
    <p:sldId id="277" r:id="rId52"/>
    <p:sldId id="284" r:id="rId53"/>
    <p:sldId id="302" r:id="rId54"/>
    <p:sldId id="344" r:id="rId55"/>
    <p:sldId id="347" r:id="rId5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63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892943-6CEB-4429-B664-3C1D1FA34376}" type="doc">
      <dgm:prSet loTypeId="urn:microsoft.com/office/officeart/2005/8/layout/chevron2" loCatId="list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FD6764D4-A20F-406C-A94A-9AE00D7F86AE}">
      <dgm:prSet phldrT="[文本]"/>
      <dgm:spPr/>
      <dgm:t>
        <a:bodyPr/>
        <a:lstStyle/>
        <a:p>
          <a:endParaRPr lang="zh-CN" altLang="en-US" dirty="0"/>
        </a:p>
      </dgm:t>
    </dgm:pt>
    <dgm:pt modelId="{9C6D0689-AB98-4BB5-B240-A194A5ED6714}" type="parTrans" cxnId="{1AF1F053-48C6-4608-A9FB-24DEEF969126}">
      <dgm:prSet/>
      <dgm:spPr/>
      <dgm:t>
        <a:bodyPr/>
        <a:lstStyle/>
        <a:p>
          <a:endParaRPr lang="zh-CN" altLang="en-US"/>
        </a:p>
      </dgm:t>
    </dgm:pt>
    <dgm:pt modelId="{8127A44C-1A01-42B2-B5D8-B2AAB069BB7F}" type="sibTrans" cxnId="{1AF1F053-48C6-4608-A9FB-24DEEF969126}">
      <dgm:prSet/>
      <dgm:spPr/>
      <dgm:t>
        <a:bodyPr/>
        <a:lstStyle/>
        <a:p>
          <a:endParaRPr lang="zh-CN" altLang="en-US"/>
        </a:p>
      </dgm:t>
    </dgm:pt>
    <dgm:pt modelId="{BCBD772C-2660-4A87-85F6-5F1BC878140D}">
      <dgm:prSet phldrT="[文本]" custT="1"/>
      <dgm:spPr/>
      <dgm:t>
        <a:bodyPr/>
        <a:lstStyle/>
        <a:p>
          <a:r>
            <a:rPr lang="en-US" altLang="zh-CN" sz="2400" b="1" dirty="0" smtClean="0">
              <a:solidFill>
                <a:srgbClr val="FF0000"/>
              </a:solidFill>
            </a:rPr>
            <a:t>s = </a:t>
          </a:r>
          <a:r>
            <a:rPr lang="en-US" altLang="zh-CN" sz="2400" b="1" dirty="0" err="1" smtClean="0">
              <a:solidFill>
                <a:srgbClr val="FF0000"/>
              </a:solidFill>
            </a:rPr>
            <a:t>findf</a:t>
          </a:r>
          <a:r>
            <a:rPr lang="en-US" altLang="zh-CN" sz="2400" b="1" dirty="0" smtClean="0">
              <a:solidFill>
                <a:srgbClr val="FF0000"/>
              </a:solidFill>
            </a:rPr>
            <a:t>(n, f);</a:t>
          </a:r>
          <a:endParaRPr lang="zh-CN" altLang="en-US" sz="2400" b="1" dirty="0">
            <a:solidFill>
              <a:srgbClr val="FF0000"/>
            </a:solidFill>
          </a:endParaRPr>
        </a:p>
      </dgm:t>
    </dgm:pt>
    <dgm:pt modelId="{680C3918-EA3D-4DFC-9516-0D03C13D87F9}" type="parTrans" cxnId="{0CA4D6E8-79CD-4568-AB35-4865E399CEBC}">
      <dgm:prSet/>
      <dgm:spPr/>
      <dgm:t>
        <a:bodyPr/>
        <a:lstStyle/>
        <a:p>
          <a:endParaRPr lang="zh-CN" altLang="en-US"/>
        </a:p>
      </dgm:t>
    </dgm:pt>
    <dgm:pt modelId="{400B6983-340C-4B8E-AB36-DFAF44DEF75C}" type="sibTrans" cxnId="{0CA4D6E8-79CD-4568-AB35-4865E399CEBC}">
      <dgm:prSet/>
      <dgm:spPr/>
      <dgm:t>
        <a:bodyPr/>
        <a:lstStyle/>
        <a:p>
          <a:endParaRPr lang="zh-CN" altLang="en-US"/>
        </a:p>
      </dgm:t>
    </dgm:pt>
    <dgm:pt modelId="{3E2540C1-E07C-4587-B100-06213BBE2021}" type="pres">
      <dgm:prSet presAssocID="{06892943-6CEB-4429-B664-3C1D1FA34376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1C558DB9-ABA3-47B1-ABC3-90B0B6051E3D}" type="pres">
      <dgm:prSet presAssocID="{FD6764D4-A20F-406C-A94A-9AE00D7F86AE}" presName="composite" presStyleCnt="0"/>
      <dgm:spPr/>
    </dgm:pt>
    <dgm:pt modelId="{1D1BACD0-D1EA-45A2-9937-4038EDC41EDB}" type="pres">
      <dgm:prSet presAssocID="{FD6764D4-A20F-406C-A94A-9AE00D7F86AE}" presName="parentText" presStyleLbl="alignNode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D914121-F3CD-4488-88E3-4EBDAC3BBFFB}" type="pres">
      <dgm:prSet presAssocID="{FD6764D4-A20F-406C-A94A-9AE00D7F86AE}" presName="descendantText" presStyleLbl="alignAcc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0CA4D6E8-79CD-4568-AB35-4865E399CEBC}" srcId="{FD6764D4-A20F-406C-A94A-9AE00D7F86AE}" destId="{BCBD772C-2660-4A87-85F6-5F1BC878140D}" srcOrd="0" destOrd="0" parTransId="{680C3918-EA3D-4DFC-9516-0D03C13D87F9}" sibTransId="{400B6983-340C-4B8E-AB36-DFAF44DEF75C}"/>
    <dgm:cxn modelId="{D47A971C-0174-43C1-8F49-4DB8177FD0C1}" type="presOf" srcId="{06892943-6CEB-4429-B664-3C1D1FA34376}" destId="{3E2540C1-E07C-4587-B100-06213BBE2021}" srcOrd="0" destOrd="0" presId="urn:microsoft.com/office/officeart/2005/8/layout/chevron2"/>
    <dgm:cxn modelId="{1AF1F053-48C6-4608-A9FB-24DEEF969126}" srcId="{06892943-6CEB-4429-B664-3C1D1FA34376}" destId="{FD6764D4-A20F-406C-A94A-9AE00D7F86AE}" srcOrd="0" destOrd="0" parTransId="{9C6D0689-AB98-4BB5-B240-A194A5ED6714}" sibTransId="{8127A44C-1A01-42B2-B5D8-B2AAB069BB7F}"/>
    <dgm:cxn modelId="{7FD8F138-0788-447D-8124-120A56166A56}" type="presOf" srcId="{BCBD772C-2660-4A87-85F6-5F1BC878140D}" destId="{BD914121-F3CD-4488-88E3-4EBDAC3BBFFB}" srcOrd="0" destOrd="0" presId="urn:microsoft.com/office/officeart/2005/8/layout/chevron2"/>
    <dgm:cxn modelId="{6CD8777B-0BB8-4FAB-9EFA-D81C170028C7}" type="presOf" srcId="{FD6764D4-A20F-406C-A94A-9AE00D7F86AE}" destId="{1D1BACD0-D1EA-45A2-9937-4038EDC41EDB}" srcOrd="0" destOrd="0" presId="urn:microsoft.com/office/officeart/2005/8/layout/chevron2"/>
    <dgm:cxn modelId="{3C4867FA-363C-4F9B-A51C-79348A95110A}" type="presParOf" srcId="{3E2540C1-E07C-4587-B100-06213BBE2021}" destId="{1C558DB9-ABA3-47B1-ABC3-90B0B6051E3D}" srcOrd="0" destOrd="0" presId="urn:microsoft.com/office/officeart/2005/8/layout/chevron2"/>
    <dgm:cxn modelId="{A9F210B5-F60E-44C0-B3FA-C05AF0A48816}" type="presParOf" srcId="{1C558DB9-ABA3-47B1-ABC3-90B0B6051E3D}" destId="{1D1BACD0-D1EA-45A2-9937-4038EDC41EDB}" srcOrd="0" destOrd="0" presId="urn:microsoft.com/office/officeart/2005/8/layout/chevron2"/>
    <dgm:cxn modelId="{D292B92E-AE0F-4BA0-BD25-941FF9E0A85B}" type="presParOf" srcId="{1C558DB9-ABA3-47B1-ABC3-90B0B6051E3D}" destId="{BD914121-F3CD-4488-88E3-4EBDAC3BBFF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1BACD0-D1EA-45A2-9937-4038EDC41EDB}">
      <dsp:nvSpPr>
        <dsp:cNvPr id="0" name=""/>
        <dsp:cNvSpPr/>
      </dsp:nvSpPr>
      <dsp:spPr>
        <a:xfrm rot="5400000">
          <a:off x="-142781" y="142781"/>
          <a:ext cx="951880" cy="666316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5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accent5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kern="1200" dirty="0"/>
        </a:p>
      </dsp:txBody>
      <dsp:txXfrm rot="-5400000">
        <a:off x="1" y="333157"/>
        <a:ext cx="666316" cy="285564"/>
      </dsp:txXfrm>
    </dsp:sp>
    <dsp:sp modelId="{BD914121-F3CD-4488-88E3-4EBDAC3BBFFB}">
      <dsp:nvSpPr>
        <dsp:cNvPr id="0" name=""/>
        <dsp:cNvSpPr/>
      </dsp:nvSpPr>
      <dsp:spPr>
        <a:xfrm rot="5400000">
          <a:off x="1679981" y="-1013665"/>
          <a:ext cx="618722" cy="264605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lt1">
              <a:alpha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2400" b="1" kern="1200" dirty="0" smtClean="0">
              <a:solidFill>
                <a:srgbClr val="FF0000"/>
              </a:solidFill>
            </a:rPr>
            <a:t>s = </a:t>
          </a:r>
          <a:r>
            <a:rPr lang="en-US" altLang="zh-CN" sz="2400" b="1" kern="1200" dirty="0" err="1" smtClean="0">
              <a:solidFill>
                <a:srgbClr val="FF0000"/>
              </a:solidFill>
            </a:rPr>
            <a:t>findf</a:t>
          </a:r>
          <a:r>
            <a:rPr lang="en-US" altLang="zh-CN" sz="2400" b="1" kern="1200" dirty="0" smtClean="0">
              <a:solidFill>
                <a:srgbClr val="FF0000"/>
              </a:solidFill>
            </a:rPr>
            <a:t>(n, f);</a:t>
          </a:r>
          <a:endParaRPr lang="zh-CN" altLang="en-US" sz="2400" b="1" kern="1200" dirty="0">
            <a:solidFill>
              <a:srgbClr val="FF0000"/>
            </a:solidFill>
          </a:endParaRPr>
        </a:p>
      </dsp:txBody>
      <dsp:txXfrm rot="-5400000">
        <a:off x="666316" y="30204"/>
        <a:ext cx="2615848" cy="5583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9C6CB6-99E7-4262-AFC7-A56F1C3EE6C6}" type="datetimeFigureOut">
              <a:rPr lang="zh-CN" altLang="en-US" smtClean="0"/>
              <a:pPr/>
              <a:t>2012/11/11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26B2F-8B03-4F2B-A3CF-5644F68F02B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385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26B2F-8B03-4F2B-A3CF-5644F68F02B2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997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2012/11/11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2012/11/11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2012/11/11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2012/11/11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2012/11/11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2012/11/11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单圆角矩形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角三角形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2012/11/11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10" name="任意多边形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任意多边形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任意多边形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2012/11/11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任意多边形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任意多边形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&#22635;&#31354;&#39064;.txt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&#35762;&#24231;&#20043;&#25171;&#22270;&#24418;.txt" TargetMode="Externa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344995" y="2132856"/>
            <a:ext cx="6454011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66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</a:t>
            </a:r>
            <a:r>
              <a:rPr lang="zh-CN" altLang="en-US" sz="66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语言</a:t>
            </a:r>
            <a:r>
              <a:rPr lang="zh-CN" altLang="en-US" sz="6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考前辅导</a:t>
            </a:r>
            <a:r>
              <a:rPr lang="en-US" altLang="zh-CN" sz="6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&amp;</a:t>
            </a:r>
            <a:endParaRPr lang="zh-CN" altLang="en-US" sz="6600" b="1" dirty="0" smtClean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  <a:p>
            <a:pPr algn="ctr"/>
            <a:r>
              <a:rPr lang="zh-CN" altLang="en-US" sz="6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答疑交流</a:t>
            </a:r>
            <a:r>
              <a:rPr lang="zh-CN" altLang="en-US" sz="66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讲座</a:t>
            </a:r>
            <a:endParaRPr lang="en-US" altLang="zh-CN" sz="6600" b="1" dirty="0" smtClean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97033" y="5143512"/>
            <a:ext cx="410400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zh-CN" altLang="en-US" sz="2400" b="1" cap="none" spc="0" dirty="0" smtClean="0">
                <a:ln w="50800"/>
                <a:solidFill>
                  <a:schemeClr val="bg1">
                    <a:shade val="50000"/>
                  </a:schemeClr>
                </a:solidFill>
                <a:effectLst/>
              </a:rPr>
              <a:t>主讲人：计算机协会  纪凯夫</a:t>
            </a:r>
            <a:endParaRPr lang="en-US" altLang="zh-CN" sz="2400" b="1" cap="none" spc="0" dirty="0" smtClean="0">
              <a:ln w="50800"/>
              <a:solidFill>
                <a:schemeClr val="bg1">
                  <a:shade val="50000"/>
                </a:schemeClr>
              </a:solidFill>
              <a:effectLst/>
            </a:endParaRPr>
          </a:p>
          <a:p>
            <a:pPr algn="ctr"/>
            <a:r>
              <a:rPr lang="zh-CN" altLang="en-US" sz="2400" b="1" dirty="0">
                <a:ln w="50800"/>
                <a:solidFill>
                  <a:schemeClr val="bg1">
                    <a:shade val="50000"/>
                  </a:schemeClr>
                </a:solidFill>
              </a:rPr>
              <a:t>制作</a:t>
            </a:r>
            <a:r>
              <a:rPr lang="zh-CN" altLang="en-US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人：计算机协会      白牧</a:t>
            </a:r>
            <a:endParaRPr lang="zh-CN" altLang="en-US" sz="2400" b="1" cap="none" spc="0" dirty="0">
              <a:ln w="50800"/>
              <a:solidFill>
                <a:schemeClr val="bg1">
                  <a:shade val="50000"/>
                </a:schemeClr>
              </a:solidFill>
              <a:effectLst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51720" y="642918"/>
            <a:ext cx="721523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方正美黑_GBK" pitchFamily="65" charset="-122"/>
                <a:ea typeface="方正美黑_GBK" pitchFamily="65" charset="-122"/>
              </a:rPr>
              <a:t>一</a:t>
            </a:r>
            <a:r>
              <a:rPr lang="en-US" altLang="zh-CN" sz="2400" b="1" dirty="0" smtClean="0">
                <a:latin typeface="方正美黑_GBK" pitchFamily="65" charset="-122"/>
                <a:ea typeface="方正美黑_GBK" pitchFamily="65" charset="-122"/>
              </a:rPr>
              <a:t>.C</a:t>
            </a:r>
            <a:r>
              <a:rPr lang="zh-CN" altLang="en-US" sz="2400" b="1" dirty="0" smtClean="0">
                <a:latin typeface="方正美黑_GBK" pitchFamily="65" charset="-122"/>
                <a:ea typeface="方正美黑_GBK" pitchFamily="65" charset="-122"/>
              </a:rPr>
              <a:t>语言考试都考神马</a:t>
            </a:r>
            <a:endParaRPr lang="en-US" altLang="zh-CN" sz="2400" b="1" dirty="0" smtClean="0">
              <a:latin typeface="方正美黑_GBK" pitchFamily="65" charset="-122"/>
              <a:ea typeface="方正美黑_GBK" pitchFamily="65" charset="-122"/>
            </a:endParaRPr>
          </a:p>
          <a:p>
            <a:r>
              <a:rPr lang="en-US" altLang="zh-CN" sz="2400" b="1" dirty="0" smtClean="0">
                <a:latin typeface="方正美黑_GBK" pitchFamily="65" charset="-122"/>
                <a:ea typeface="方正美黑_GBK" pitchFamily="65" charset="-122"/>
              </a:rPr>
              <a:t>           --C</a:t>
            </a:r>
            <a:r>
              <a:rPr lang="zh-CN" altLang="en-US" sz="2400" b="1" dirty="0" smtClean="0">
                <a:latin typeface="方正美黑_GBK" pitchFamily="65" charset="-122"/>
                <a:ea typeface="方正美黑_GBK" pitchFamily="65" charset="-122"/>
              </a:rPr>
              <a:t>语言考试题型解析</a:t>
            </a:r>
            <a:endParaRPr lang="en-US" altLang="zh-CN" sz="2400" b="1" dirty="0" smtClean="0">
              <a:latin typeface="方正美黑_GBK" pitchFamily="65" charset="-122"/>
              <a:ea typeface="方正美黑_GBK" pitchFamily="65" charset="-122"/>
            </a:endParaRPr>
          </a:p>
          <a:p>
            <a:r>
              <a:rPr lang="zh-CN" altLang="en-US" sz="2400" b="1" dirty="0" smtClean="0">
                <a:latin typeface="方正美黑_GBK" pitchFamily="65" charset="-122"/>
                <a:ea typeface="方正美黑_GBK" pitchFamily="65" charset="-122"/>
              </a:rPr>
              <a:t>二</a:t>
            </a:r>
            <a:r>
              <a:rPr lang="en-US" altLang="zh-CN" sz="2400" b="1" dirty="0" smtClean="0">
                <a:latin typeface="方正美黑_GBK" pitchFamily="65" charset="-122"/>
                <a:ea typeface="方正美黑_GBK" pitchFamily="65" charset="-122"/>
              </a:rPr>
              <a:t>.</a:t>
            </a:r>
            <a:r>
              <a:rPr lang="zh-CN" altLang="en-US" sz="2400" b="1" dirty="0" smtClean="0">
                <a:latin typeface="方正美黑_GBK" pitchFamily="65" charset="-122"/>
                <a:ea typeface="方正美黑_GBK" pitchFamily="65" charset="-122"/>
              </a:rPr>
              <a:t>工欲善其事必先利其器</a:t>
            </a:r>
            <a:endParaRPr lang="en-US" altLang="zh-CN" sz="2400" b="1" dirty="0" smtClean="0">
              <a:latin typeface="方正美黑_GBK" pitchFamily="65" charset="-122"/>
              <a:ea typeface="方正美黑_GBK" pitchFamily="65" charset="-122"/>
            </a:endParaRPr>
          </a:p>
          <a:p>
            <a:r>
              <a:rPr lang="en-US" altLang="zh-CN" sz="2400" b="1" dirty="0" smtClean="0">
                <a:latin typeface="方正美黑_GBK" pitchFamily="65" charset="-122"/>
                <a:ea typeface="方正美黑_GBK" pitchFamily="65" charset="-122"/>
              </a:rPr>
              <a:t>           --</a:t>
            </a:r>
            <a:r>
              <a:rPr lang="zh-CN" altLang="en-US" sz="2400" b="1" dirty="0" smtClean="0">
                <a:latin typeface="方正美黑_GBK" pitchFamily="65" charset="-122"/>
                <a:ea typeface="方正美黑_GBK" pitchFamily="65" charset="-122"/>
              </a:rPr>
              <a:t>关于编译器</a:t>
            </a:r>
            <a:endParaRPr lang="en-US" altLang="zh-CN" sz="2400" b="1" dirty="0" smtClean="0">
              <a:latin typeface="方正美黑_GBK" pitchFamily="65" charset="-122"/>
              <a:ea typeface="方正美黑_GBK" pitchFamily="65" charset="-122"/>
            </a:endParaRPr>
          </a:p>
          <a:p>
            <a:r>
              <a:rPr lang="zh-CN" altLang="en-US" sz="2400" b="1" dirty="0" smtClean="0">
                <a:latin typeface="方正美黑_GBK" pitchFamily="65" charset="-122"/>
                <a:ea typeface="方正美黑_GBK" pitchFamily="65" charset="-122"/>
              </a:rPr>
              <a:t>三</a:t>
            </a:r>
            <a:r>
              <a:rPr lang="en-US" altLang="zh-CN" sz="2400" b="1" dirty="0" smtClean="0">
                <a:latin typeface="方正美黑_GBK" pitchFamily="65" charset="-122"/>
                <a:ea typeface="方正美黑_GBK" pitchFamily="65" charset="-122"/>
              </a:rPr>
              <a:t>.</a:t>
            </a:r>
            <a:r>
              <a:rPr lang="zh-CN" altLang="en-US" sz="2400" b="1" dirty="0" smtClean="0">
                <a:latin typeface="方正美黑_GBK" pitchFamily="65" charset="-122"/>
                <a:ea typeface="方正美黑_GBK" pitchFamily="65" charset="-122"/>
              </a:rPr>
              <a:t>信春哥</a:t>
            </a:r>
            <a:r>
              <a:rPr lang="en-US" altLang="zh-CN" sz="2400" b="1" dirty="0" smtClean="0">
                <a:latin typeface="方正美黑_GBK" pitchFamily="65" charset="-122"/>
                <a:ea typeface="方正美黑_GBK" pitchFamily="65" charset="-122"/>
              </a:rPr>
              <a:t> or </a:t>
            </a:r>
            <a:r>
              <a:rPr lang="zh-CN" altLang="en-US" sz="2400" b="1" dirty="0" smtClean="0">
                <a:latin typeface="方正美黑_GBK" pitchFamily="65" charset="-122"/>
                <a:ea typeface="方正美黑_GBK" pitchFamily="65" charset="-122"/>
              </a:rPr>
              <a:t>信曾哥</a:t>
            </a:r>
            <a:r>
              <a:rPr lang="en-US" altLang="zh-CN" sz="2400" b="1" dirty="0" smtClean="0">
                <a:latin typeface="方正美黑_GBK" pitchFamily="65" charset="-122"/>
                <a:ea typeface="方正美黑_GBK" pitchFamily="65" charset="-122"/>
              </a:rPr>
              <a:t>?</a:t>
            </a:r>
          </a:p>
          <a:p>
            <a:r>
              <a:rPr lang="en-US" altLang="zh-CN" sz="2400" b="1" dirty="0" smtClean="0">
                <a:latin typeface="方正美黑_GBK" pitchFamily="65" charset="-122"/>
                <a:ea typeface="方正美黑_GBK" pitchFamily="65" charset="-122"/>
              </a:rPr>
              <a:t>           --</a:t>
            </a:r>
            <a:r>
              <a:rPr lang="zh-CN" altLang="en-US" sz="2400" b="1" dirty="0" smtClean="0">
                <a:latin typeface="方正美黑_GBK" pitchFamily="65" charset="-122"/>
                <a:ea typeface="方正美黑_GBK" pitchFamily="65" charset="-122"/>
              </a:rPr>
              <a:t>选择题</a:t>
            </a:r>
            <a:endParaRPr lang="en-US" altLang="zh-CN" sz="2400" b="1" dirty="0" smtClean="0">
              <a:latin typeface="方正美黑_GBK" pitchFamily="65" charset="-122"/>
              <a:ea typeface="方正美黑_GBK" pitchFamily="65" charset="-122"/>
            </a:endParaRPr>
          </a:p>
          <a:p>
            <a:r>
              <a:rPr lang="zh-CN" altLang="en-US" sz="2400" b="1" dirty="0" smtClean="0">
                <a:latin typeface="方正美黑_GBK" pitchFamily="65" charset="-122"/>
                <a:ea typeface="方正美黑_GBK" pitchFamily="65" charset="-122"/>
              </a:rPr>
              <a:t>四</a:t>
            </a:r>
            <a:r>
              <a:rPr lang="en-US" altLang="zh-CN" sz="2400" b="1" dirty="0" smtClean="0">
                <a:latin typeface="方正美黑_GBK" pitchFamily="65" charset="-122"/>
                <a:ea typeface="方正美黑_GBK" pitchFamily="65" charset="-122"/>
              </a:rPr>
              <a:t>.</a:t>
            </a:r>
            <a:r>
              <a:rPr lang="zh-CN" altLang="en-US" sz="2400" b="1" dirty="0" smtClean="0">
                <a:latin typeface="方正美黑_GBK" pitchFamily="65" charset="-122"/>
                <a:ea typeface="方正美黑_GBK" pitchFamily="65" charset="-122"/>
              </a:rPr>
              <a:t>这货不是编程！</a:t>
            </a:r>
            <a:endParaRPr lang="en-US" altLang="zh-CN" sz="2400" b="1" dirty="0" smtClean="0">
              <a:latin typeface="方正美黑_GBK" pitchFamily="65" charset="-122"/>
              <a:ea typeface="方正美黑_GBK" pitchFamily="65" charset="-122"/>
            </a:endParaRPr>
          </a:p>
          <a:p>
            <a:r>
              <a:rPr lang="en-US" altLang="zh-CN" sz="2400" b="1" dirty="0" smtClean="0">
                <a:latin typeface="方正美黑_GBK" pitchFamily="65" charset="-122"/>
                <a:ea typeface="方正美黑_GBK" pitchFamily="65" charset="-122"/>
              </a:rPr>
              <a:t>           --</a:t>
            </a:r>
            <a:r>
              <a:rPr lang="zh-CN" altLang="en-US" sz="2400" b="1" dirty="0" smtClean="0">
                <a:latin typeface="方正美黑_GBK" pitchFamily="65" charset="-122"/>
                <a:ea typeface="方正美黑_GBK" pitchFamily="65" charset="-122"/>
              </a:rPr>
              <a:t>填空题</a:t>
            </a:r>
            <a:endParaRPr lang="en-US" altLang="zh-CN" sz="2400" b="1" dirty="0" smtClean="0">
              <a:latin typeface="方正美黑_GBK" pitchFamily="65" charset="-122"/>
              <a:ea typeface="方正美黑_GBK" pitchFamily="65" charset="-122"/>
            </a:endParaRPr>
          </a:p>
          <a:p>
            <a:r>
              <a:rPr lang="zh-CN" altLang="en-US" sz="2400" b="1" dirty="0" smtClean="0">
                <a:latin typeface="方正美黑_GBK" pitchFamily="65" charset="-122"/>
                <a:ea typeface="方正美黑_GBK" pitchFamily="65" charset="-122"/>
              </a:rPr>
              <a:t>五</a:t>
            </a:r>
            <a:r>
              <a:rPr lang="en-US" altLang="zh-CN" sz="2400" b="1" dirty="0" smtClean="0">
                <a:latin typeface="方正美黑_GBK" pitchFamily="65" charset="-122"/>
                <a:ea typeface="方正美黑_GBK" pitchFamily="65" charset="-122"/>
              </a:rPr>
              <a:t>.</a:t>
            </a:r>
            <a:r>
              <a:rPr lang="zh-CN" altLang="en-US" sz="2400" b="1" dirty="0" smtClean="0">
                <a:latin typeface="方正美黑_GBK" pitchFamily="65" charset="-122"/>
                <a:ea typeface="方正美黑_GBK" pitchFamily="65" charset="-122"/>
              </a:rPr>
              <a:t>痛并快乐着</a:t>
            </a:r>
            <a:endParaRPr lang="en-US" altLang="zh-CN" sz="2400" b="1" dirty="0" smtClean="0">
              <a:latin typeface="方正美黑_GBK" pitchFamily="65" charset="-122"/>
              <a:ea typeface="方正美黑_GBK" pitchFamily="65" charset="-122"/>
            </a:endParaRPr>
          </a:p>
          <a:p>
            <a:r>
              <a:rPr lang="en-US" altLang="zh-CN" sz="2400" b="1" dirty="0" smtClean="0">
                <a:latin typeface="方正美黑_GBK" pitchFamily="65" charset="-122"/>
                <a:ea typeface="方正美黑_GBK" pitchFamily="65" charset="-122"/>
              </a:rPr>
              <a:t>	--</a:t>
            </a:r>
            <a:r>
              <a:rPr lang="zh-CN" altLang="en-US" sz="2400" b="1" dirty="0" smtClean="0">
                <a:latin typeface="方正美黑_GBK" pitchFamily="65" charset="-122"/>
                <a:ea typeface="方正美黑_GBK" pitchFamily="65" charset="-122"/>
              </a:rPr>
              <a:t>编程题</a:t>
            </a:r>
            <a:endParaRPr lang="en-US" altLang="zh-CN" sz="2400" b="1" dirty="0" smtClean="0">
              <a:latin typeface="方正美黑_GBK" pitchFamily="65" charset="-122"/>
              <a:ea typeface="方正美黑_GBK" pitchFamily="65" charset="-122"/>
            </a:endParaRPr>
          </a:p>
          <a:p>
            <a:r>
              <a:rPr lang="zh-CN" altLang="en-US" sz="2400" b="1" dirty="0" smtClean="0">
                <a:latin typeface="方正美黑_GBK" pitchFamily="65" charset="-122"/>
                <a:ea typeface="方正美黑_GBK" pitchFamily="65" charset="-122"/>
              </a:rPr>
              <a:t>六</a:t>
            </a:r>
            <a:r>
              <a:rPr lang="en-US" altLang="zh-CN" sz="2400" b="1" dirty="0" smtClean="0">
                <a:latin typeface="方正美黑_GBK" pitchFamily="65" charset="-122"/>
                <a:ea typeface="方正美黑_GBK" pitchFamily="65" charset="-122"/>
              </a:rPr>
              <a:t>.</a:t>
            </a:r>
            <a:r>
              <a:rPr lang="zh-CN" altLang="en-US" sz="2400" b="1" dirty="0" smtClean="0">
                <a:latin typeface="方正美黑_GBK" pitchFamily="65" charset="-122"/>
                <a:ea typeface="方正美黑_GBK" pitchFamily="65" charset="-122"/>
              </a:rPr>
              <a:t>失败是成功的老妈</a:t>
            </a:r>
            <a:r>
              <a:rPr lang="en-US" altLang="zh-CN" sz="2400" b="1" dirty="0" smtClean="0">
                <a:latin typeface="方正美黑_GBK" pitchFamily="65" charset="-122"/>
                <a:ea typeface="方正美黑_GBK" pitchFamily="65" charset="-122"/>
              </a:rPr>
              <a:t>……</a:t>
            </a:r>
          </a:p>
          <a:p>
            <a:r>
              <a:rPr lang="en-US" altLang="zh-CN" sz="2400" b="1" dirty="0" smtClean="0">
                <a:latin typeface="方正美黑_GBK" pitchFamily="65" charset="-122"/>
                <a:ea typeface="方正美黑_GBK" pitchFamily="65" charset="-122"/>
              </a:rPr>
              <a:t>           --</a:t>
            </a:r>
            <a:r>
              <a:rPr lang="zh-CN" altLang="en-US" sz="2400" b="1" dirty="0" smtClean="0">
                <a:latin typeface="方正美黑_GBK" pitchFamily="65" charset="-122"/>
                <a:ea typeface="方正美黑_GBK" pitchFamily="65" charset="-122"/>
              </a:rPr>
              <a:t>编译中常出现的错误</a:t>
            </a:r>
            <a:endParaRPr lang="en-US" altLang="zh-CN" sz="2400" b="1" dirty="0" smtClean="0">
              <a:latin typeface="方正美黑_GBK" pitchFamily="65" charset="-122"/>
              <a:ea typeface="方正美黑_GBK" pitchFamily="65" charset="-122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14194" y="1268760"/>
            <a:ext cx="679545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  <a:latin typeface="迷你简漫步" pitchFamily="2" charset="-122"/>
                <a:ea typeface="迷你简漫步" pitchFamily="2" charset="-122"/>
              </a:rPr>
              <a:t>第一部分</a:t>
            </a:r>
            <a:endParaRPr lang="en-US" altLang="zh-CN" sz="5400" b="1" cap="none" spc="0" dirty="0" smtClean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  <a:latin typeface="迷你简漫步" pitchFamily="2" charset="-122"/>
              <a:ea typeface="迷你简漫步" pitchFamily="2" charset="-122"/>
            </a:endParaRPr>
          </a:p>
          <a:p>
            <a:pPr algn="ctr"/>
            <a:r>
              <a:rPr lang="en-US" altLang="zh-CN" sz="5400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  <a:latin typeface="迷你简漫步" pitchFamily="2" charset="-122"/>
                <a:ea typeface="迷你简漫步" pitchFamily="2" charset="-122"/>
              </a:rPr>
              <a:t>C</a:t>
            </a:r>
            <a:r>
              <a:rPr lang="zh-CN" altLang="en-US" sz="5400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  <a:latin typeface="迷你简漫步" pitchFamily="2" charset="-122"/>
                <a:ea typeface="迷你简漫步" pitchFamily="2" charset="-122"/>
              </a:rPr>
              <a:t>语言考试都考神马？</a:t>
            </a:r>
            <a:endParaRPr lang="en-US" altLang="zh-CN" sz="5400" b="1" dirty="0" smtClean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  <a:latin typeface="迷你简漫步" pitchFamily="2" charset="-122"/>
              <a:ea typeface="迷你简漫步" pitchFamily="2" charset="-122"/>
            </a:endParaRPr>
          </a:p>
          <a:p>
            <a:pPr algn="ctr"/>
            <a:r>
              <a:rPr lang="en-US" altLang="zh-CN" sz="5400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  <a:latin typeface="迷你简漫步" pitchFamily="2" charset="-122"/>
                <a:ea typeface="迷你简漫步" pitchFamily="2" charset="-122"/>
              </a:rPr>
              <a:t>C</a:t>
            </a:r>
            <a:r>
              <a:rPr lang="zh-CN" altLang="en-US" sz="5400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  <a:latin typeface="迷你简漫步" pitchFamily="2" charset="-122"/>
                <a:ea typeface="迷你简漫步" pitchFamily="2" charset="-122"/>
              </a:rPr>
              <a:t>语言考试题型解析</a:t>
            </a:r>
            <a:endParaRPr lang="zh-CN" altLang="en-US" sz="5400" b="1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  <a:latin typeface="迷你简漫步" pitchFamily="2" charset="-122"/>
              <a:ea typeface="迷你简漫步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7544" y="4293096"/>
            <a:ext cx="8190063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buFont typeface="Wingdings" pitchFamily="2" charset="2"/>
              <a:buChar char="Ø"/>
            </a:pPr>
            <a:r>
              <a:rPr lang="zh-CN" altLang="en-US" sz="40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方正姚体" pitchFamily="2" charset="-122"/>
                <a:ea typeface="方正姚体" pitchFamily="2" charset="-122"/>
              </a:rPr>
              <a:t>状元鼎力推荐：</a:t>
            </a:r>
            <a:endParaRPr lang="en-US" altLang="zh-CN" sz="4000" b="1" cap="none" spc="0" dirty="0" smtClean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方正姚体" pitchFamily="2" charset="-122"/>
              <a:ea typeface="方正姚体" pitchFamily="2" charset="-122"/>
            </a:endParaRPr>
          </a:p>
          <a:p>
            <a:pPr algn="ctr"/>
            <a:r>
              <a:rPr lang="en-US" altLang="zh-CN" sz="40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方正姚体" pitchFamily="2" charset="-122"/>
                <a:ea typeface="方正姚体" pitchFamily="2" charset="-122"/>
              </a:rPr>
              <a:t>C</a:t>
            </a:r>
            <a:r>
              <a:rPr lang="zh-CN" altLang="en-US" sz="40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方正姚体" pitchFamily="2" charset="-122"/>
                <a:ea typeface="方正姚体" pitchFamily="2" charset="-122"/>
              </a:rPr>
              <a:t>语言程序设计教程</a:t>
            </a:r>
            <a:r>
              <a:rPr lang="zh-CN" altLang="en-US" sz="4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方正姚体" pitchFamily="2" charset="-122"/>
                <a:ea typeface="方正姚体" pitchFamily="2" charset="-122"/>
              </a:rPr>
              <a:t>习题与上机指导</a:t>
            </a:r>
            <a:endParaRPr lang="zh-CN" altLang="en-US" sz="40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方正姚体" pitchFamily="2" charset="-122"/>
              <a:ea typeface="方正姚体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691680" y="620688"/>
            <a:ext cx="2291012" cy="267765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2400" b="1" dirty="0" smtClean="0"/>
              <a:t>选择题</a:t>
            </a:r>
            <a:endParaRPr lang="en-US" altLang="zh-CN" sz="2400" b="1" dirty="0" smtClean="0"/>
          </a:p>
          <a:p>
            <a:pPr lvl="1">
              <a:buFont typeface="Wingdings" pitchFamily="2" charset="2"/>
              <a:buChar char="u"/>
            </a:pPr>
            <a:r>
              <a:rPr lang="zh-CN" altLang="en-US" sz="2400" b="1" dirty="0" smtClean="0"/>
              <a:t>语句输出</a:t>
            </a:r>
            <a:endParaRPr lang="en-US" altLang="zh-CN" sz="2400" b="1" dirty="0" smtClean="0"/>
          </a:p>
          <a:p>
            <a:pPr lvl="1">
              <a:buFont typeface="Wingdings" pitchFamily="2" charset="2"/>
              <a:buChar char="u"/>
            </a:pPr>
            <a:r>
              <a:rPr lang="zh-CN" altLang="en-US" sz="2400" b="1" dirty="0" smtClean="0"/>
              <a:t>语句正误</a:t>
            </a:r>
            <a:endParaRPr lang="en-US" altLang="zh-CN" sz="2400" b="1" dirty="0" smtClean="0"/>
          </a:p>
          <a:p>
            <a:pPr lvl="1">
              <a:buFont typeface="Wingdings" pitchFamily="2" charset="2"/>
              <a:buChar char="u"/>
            </a:pPr>
            <a:r>
              <a:rPr lang="zh-CN" altLang="en-US" sz="2400" b="1" dirty="0" smtClean="0"/>
              <a:t>循环</a:t>
            </a:r>
            <a:endParaRPr lang="en-US" altLang="zh-CN" sz="2400" b="1" dirty="0" smtClean="0"/>
          </a:p>
          <a:p>
            <a:pPr lvl="1">
              <a:buFont typeface="Wingdings" pitchFamily="2" charset="2"/>
              <a:buChar char="u"/>
            </a:pPr>
            <a:r>
              <a:rPr lang="en-US" altLang="zh-CN" sz="2400" b="1" dirty="0" smtClean="0"/>
              <a:t>TMD</a:t>
            </a:r>
            <a:r>
              <a:rPr lang="zh-CN" altLang="en-US" sz="2400" b="1" dirty="0" smtClean="0"/>
              <a:t>指针</a:t>
            </a:r>
            <a:endParaRPr lang="en-US" altLang="zh-CN" sz="2400" b="1" dirty="0" smtClean="0"/>
          </a:p>
          <a:p>
            <a:pPr lvl="1">
              <a:buFont typeface="Wingdings" pitchFamily="2" charset="2"/>
              <a:buChar char="u"/>
            </a:pPr>
            <a:r>
              <a:rPr lang="zh-CN" altLang="en-US" sz="2400" b="1" dirty="0" smtClean="0"/>
              <a:t>各种概念</a:t>
            </a:r>
            <a:endParaRPr lang="en-US" altLang="zh-CN" sz="2400" b="1" dirty="0" smtClean="0"/>
          </a:p>
          <a:p>
            <a:pPr lvl="1">
              <a:buFont typeface="Wingdings" pitchFamily="2" charset="2"/>
              <a:buChar char="u"/>
            </a:pPr>
            <a:r>
              <a:rPr lang="en-US" altLang="zh-CN" sz="2400" b="1" dirty="0" smtClean="0"/>
              <a:t>……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20072" y="764704"/>
            <a:ext cx="25202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题型</a:t>
            </a:r>
            <a:endParaRPr lang="zh-CN" altLang="en-US" sz="8000" b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60032" y="2924944"/>
            <a:ext cx="2653290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2400" b="1" dirty="0" smtClean="0"/>
              <a:t>编程题</a:t>
            </a:r>
            <a:endParaRPr lang="en-US" altLang="zh-CN" sz="2400" b="1" dirty="0" smtClean="0"/>
          </a:p>
          <a:p>
            <a:pPr lvl="1">
              <a:buFont typeface="Wingdings" pitchFamily="2" charset="2"/>
              <a:buChar char="ü"/>
            </a:pPr>
            <a:r>
              <a:rPr lang="zh-CN" altLang="en-US" sz="2400" b="1" dirty="0" smtClean="0"/>
              <a:t>打图形</a:t>
            </a:r>
            <a:endParaRPr lang="en-US" altLang="zh-CN" sz="2400" b="1" dirty="0" smtClean="0"/>
          </a:p>
          <a:p>
            <a:pPr lvl="1">
              <a:buFont typeface="Wingdings" pitchFamily="2" charset="2"/>
              <a:buChar char="ü"/>
            </a:pPr>
            <a:r>
              <a:rPr lang="zh-CN" altLang="en-US" sz="2400" b="1" dirty="0" smtClean="0"/>
              <a:t>穷举</a:t>
            </a:r>
            <a:r>
              <a:rPr lang="en-US" altLang="zh-CN" sz="2400" b="1" dirty="0" smtClean="0"/>
              <a:t>||</a:t>
            </a:r>
            <a:r>
              <a:rPr lang="zh-CN" altLang="en-US" sz="2400" b="1" dirty="0" smtClean="0"/>
              <a:t>字符串</a:t>
            </a:r>
            <a:endParaRPr lang="en-US" altLang="zh-CN" sz="2400" b="1" dirty="0" smtClean="0"/>
          </a:p>
          <a:p>
            <a:pPr lvl="1">
              <a:buFont typeface="Wingdings" pitchFamily="2" charset="2"/>
              <a:buChar char="ü"/>
            </a:pPr>
            <a:r>
              <a:rPr lang="zh-CN" altLang="en-US" sz="2400" b="1" dirty="0" smtClean="0"/>
              <a:t>递归</a:t>
            </a:r>
            <a:endParaRPr lang="en-US" altLang="zh-CN" sz="2400" b="1" dirty="0" smtClean="0"/>
          </a:p>
          <a:p>
            <a:pPr lvl="1">
              <a:buFont typeface="Wingdings" pitchFamily="2" charset="2"/>
              <a:buChar char="ü"/>
            </a:pPr>
            <a:r>
              <a:rPr lang="zh-CN" altLang="en-US" sz="2400" b="1" dirty="0" smtClean="0">
                <a:solidFill>
                  <a:schemeClr val="bg1">
                    <a:lumMod val="50000"/>
                  </a:schemeClr>
                </a:solidFill>
              </a:rPr>
              <a:t>链表</a:t>
            </a:r>
            <a:endParaRPr lang="zh-CN" altLang="zh-CN" sz="24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691680" y="3501008"/>
            <a:ext cx="29523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Font typeface="Wingdings" pitchFamily="2" charset="2"/>
              <a:buChar char="Ø"/>
            </a:pPr>
            <a:r>
              <a:rPr lang="zh-CN" altLang="en-US" sz="2400" b="1" dirty="0" smtClean="0">
                <a:solidFill>
                  <a:prstClr val="black"/>
                </a:solidFill>
              </a:rPr>
              <a:t>程序填空题</a:t>
            </a:r>
            <a:endParaRPr lang="en-US" altLang="zh-CN" sz="2400" b="1" dirty="0" smtClean="0">
              <a:solidFill>
                <a:prstClr val="black"/>
              </a:solidFill>
            </a:endParaRPr>
          </a:p>
          <a:p>
            <a:pPr lvl="1">
              <a:buFont typeface="Wingdings" pitchFamily="2" charset="2"/>
              <a:buChar char="l"/>
            </a:pPr>
            <a:r>
              <a:rPr lang="zh-CN" altLang="en-US" sz="2400" b="1" dirty="0" smtClean="0">
                <a:solidFill>
                  <a:prstClr val="black"/>
                </a:solidFill>
              </a:rPr>
              <a:t>一般程序理解</a:t>
            </a:r>
            <a:endParaRPr lang="en-US" altLang="zh-CN" sz="2400" b="1" dirty="0" smtClean="0">
              <a:solidFill>
                <a:prstClr val="black"/>
              </a:solidFill>
            </a:endParaRPr>
          </a:p>
          <a:p>
            <a:pPr lvl="1">
              <a:buFont typeface="Wingdings" pitchFamily="2" charset="2"/>
              <a:buChar char="l"/>
            </a:pPr>
            <a:r>
              <a:rPr lang="zh-CN" altLang="en-US" sz="2400" b="1" dirty="0" smtClean="0">
                <a:solidFill>
                  <a:prstClr val="black"/>
                </a:solidFill>
              </a:rPr>
              <a:t>文件</a:t>
            </a:r>
            <a:endParaRPr lang="en-US" altLang="zh-CN" sz="2400" b="1" dirty="0" smtClean="0">
              <a:solidFill>
                <a:prstClr val="black"/>
              </a:solidFill>
            </a:endParaRPr>
          </a:p>
          <a:p>
            <a:pPr lvl="1">
              <a:buFont typeface="Wingdings" pitchFamily="2" charset="2"/>
              <a:buChar char="l"/>
            </a:pPr>
            <a:r>
              <a:rPr lang="zh-CN" altLang="en-US" sz="2400" b="1" dirty="0" smtClean="0">
                <a:solidFill>
                  <a:prstClr val="black"/>
                </a:solidFill>
              </a:rPr>
              <a:t>文件</a:t>
            </a:r>
            <a:endParaRPr lang="en-US" altLang="zh-CN" sz="2400" b="1" dirty="0" smtClean="0">
              <a:solidFill>
                <a:prstClr val="black"/>
              </a:solidFill>
            </a:endParaRPr>
          </a:p>
          <a:p>
            <a:pPr lvl="1">
              <a:buFont typeface="Wingdings" pitchFamily="2" charset="2"/>
              <a:buChar char="l"/>
            </a:pPr>
            <a:r>
              <a:rPr lang="zh-CN" altLang="en-US" sz="2400" b="1" dirty="0" smtClean="0">
                <a:solidFill>
                  <a:prstClr val="black"/>
                </a:solidFill>
              </a:rPr>
              <a:t>还是文件</a:t>
            </a:r>
            <a:endParaRPr lang="en-US" altLang="zh-CN" sz="2400" b="1" dirty="0" smtClean="0">
              <a:solidFill>
                <a:prstClr val="black"/>
              </a:solidFill>
            </a:endParaRPr>
          </a:p>
          <a:p>
            <a:pPr lvl="1">
              <a:buFont typeface="Wingdings" pitchFamily="2" charset="2"/>
              <a:buChar char="l"/>
            </a:pPr>
            <a:endParaRPr lang="en-US" altLang="zh-CN" sz="2400" b="1" dirty="0" smtClean="0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9" presetClass="entr" presetSubtype="0" ac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9" presetClass="entr" presetSubtype="0" ac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9" presetClass="entr" presetSubtype="0" ac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9" presetClass="entr" presetSubtype="0" ac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9" presetClass="entr" presetSubtype="0" ac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5" grpId="1" build="p" bldLvl="2"/>
      <p:bldP spid="6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57224" y="1196752"/>
            <a:ext cx="7141699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方正粗宋_GBK" pitchFamily="65" charset="-122"/>
                <a:ea typeface="方正粗宋_GBK" pitchFamily="65" charset="-122"/>
              </a:rPr>
              <a:t>第二部分</a:t>
            </a:r>
            <a:endParaRPr lang="en-US" altLang="zh-CN" sz="5400" b="1" cap="none" spc="0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方正粗宋_GBK" pitchFamily="65" charset="-122"/>
              <a:ea typeface="方正粗宋_GBK" pitchFamily="65" charset="-122"/>
            </a:endParaRPr>
          </a:p>
          <a:p>
            <a:pPr algn="ctr"/>
            <a:r>
              <a:rPr lang="zh-CN" altLang="en-U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方正粗宋_GBK" pitchFamily="65" charset="-122"/>
                <a:ea typeface="方正粗宋_GBK" pitchFamily="65" charset="-122"/>
              </a:rPr>
              <a:t>工欲善其事必先利其器</a:t>
            </a:r>
            <a:endParaRPr lang="en-US" altLang="zh-CN" sz="5400" b="1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方正粗宋_GBK" pitchFamily="65" charset="-122"/>
              <a:ea typeface="方正粗宋_GBK" pitchFamily="65" charset="-122"/>
            </a:endParaRPr>
          </a:p>
          <a:p>
            <a:pPr algn="ctr"/>
            <a:r>
              <a:rPr lang="zh-CN" altLang="en-U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方正粗宋_GBK" pitchFamily="65" charset="-122"/>
                <a:ea typeface="方正粗宋_GBK" pitchFamily="65" charset="-122"/>
              </a:rPr>
              <a:t>编译器的使用</a:t>
            </a:r>
            <a:endParaRPr lang="zh-CN" altLang="en-U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方正粗宋_GBK" pitchFamily="65" charset="-122"/>
              <a:ea typeface="方正粗宋_GBK" pitchFamily="65" charset="-122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704088"/>
            <a:ext cx="7643192" cy="1143000"/>
          </a:xfrm>
        </p:spPr>
        <p:txBody>
          <a:bodyPr/>
          <a:lstStyle/>
          <a:p>
            <a:r>
              <a:rPr lang="zh-CN" altLang="en-US" dirty="0" smtClean="0"/>
              <a:t>考前须知</a:t>
            </a:r>
            <a:r>
              <a:rPr lang="en-US" altLang="zh-CN" dirty="0" smtClean="0"/>
              <a:t>(1)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3608" y="1935480"/>
            <a:ext cx="7643192" cy="4389120"/>
          </a:xfrm>
        </p:spPr>
        <p:txBody>
          <a:bodyPr/>
          <a:lstStyle/>
          <a:p>
            <a:pPr>
              <a:buNone/>
            </a:pPr>
            <a:r>
              <a:rPr lang="zh-CN" altLang="en-US" b="1" dirty="0" smtClean="0"/>
              <a:t>考试在图书馆四楼计算机中心进行</a:t>
            </a: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因此没有</a:t>
            </a:r>
            <a:r>
              <a:rPr lang="en-US" altLang="zh-CN" b="1" dirty="0" smtClean="0"/>
              <a:t>VS</a:t>
            </a:r>
            <a:r>
              <a:rPr lang="zh-CN" altLang="en-US" b="1" dirty="0" smtClean="0"/>
              <a:t>，有的只是</a:t>
            </a:r>
            <a:r>
              <a:rPr lang="en-US" altLang="zh-CN" b="1" dirty="0" smtClean="0"/>
              <a:t>Visual C++</a:t>
            </a:r>
            <a:r>
              <a:rPr lang="zh-CN" altLang="en-US" b="1" dirty="0" smtClean="0"/>
              <a:t>、</a:t>
            </a:r>
            <a:r>
              <a:rPr lang="en-US" altLang="zh-CN" b="1" dirty="0" smtClean="0"/>
              <a:t>Dev C++</a:t>
            </a:r>
            <a:r>
              <a:rPr lang="zh-CN" altLang="en-US" b="1" dirty="0" smtClean="0"/>
              <a:t>、</a:t>
            </a:r>
            <a:r>
              <a:rPr lang="en-US" altLang="zh-CN" b="1" dirty="0" smtClean="0"/>
              <a:t>Turbo C</a:t>
            </a:r>
            <a:r>
              <a:rPr lang="zh-CN" altLang="en-US" b="1" dirty="0" smtClean="0"/>
              <a:t>！</a:t>
            </a: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（据说在考试页面上有</a:t>
            </a:r>
            <a:r>
              <a:rPr lang="en-US" altLang="zh-CN" b="1" dirty="0" smtClean="0"/>
              <a:t>C free</a:t>
            </a:r>
            <a:r>
              <a:rPr lang="zh-CN" altLang="en-US" b="1" dirty="0" smtClean="0"/>
              <a:t>可以下载安装）</a:t>
            </a: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用惯</a:t>
            </a:r>
            <a:r>
              <a:rPr lang="en-US" altLang="zh-CN" b="1" dirty="0" smtClean="0"/>
              <a:t>VS</a:t>
            </a:r>
            <a:r>
              <a:rPr lang="zh-CN" altLang="en-US" b="1" dirty="0" smtClean="0"/>
              <a:t>的同学一定要在考前熟悉上面三种中的一种。</a:t>
            </a:r>
            <a:endParaRPr lang="en-US" altLang="zh-CN" b="1" dirty="0" smtClean="0"/>
          </a:p>
          <a:p>
            <a:pPr>
              <a:buNone/>
            </a:pP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关于调试：</a:t>
            </a: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一定要看</a:t>
            </a:r>
            <a:r>
              <a:rPr lang="en-US" altLang="zh-CN" b="1" dirty="0" smtClean="0"/>
              <a:t>error</a:t>
            </a:r>
            <a:r>
              <a:rPr lang="zh-CN" altLang="en-US" b="1" dirty="0" smtClean="0"/>
              <a:t>！建议把</a:t>
            </a:r>
            <a:r>
              <a:rPr lang="en-US" altLang="zh-CN" b="1" dirty="0" smtClean="0"/>
              <a:t>warning</a:t>
            </a:r>
            <a:r>
              <a:rPr lang="zh-CN" altLang="en-US" b="1" dirty="0" smtClean="0"/>
              <a:t>也看一下（初值）。</a:t>
            </a: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不要单步调试（</a:t>
            </a:r>
            <a:r>
              <a:rPr lang="en-US" altLang="zh-CN" b="1" dirty="0" smtClean="0"/>
              <a:t>F 11</a:t>
            </a:r>
            <a:r>
              <a:rPr lang="zh-CN" altLang="en-US" b="1" dirty="0" smtClean="0"/>
              <a:t>），巧用</a:t>
            </a:r>
            <a:r>
              <a:rPr lang="en-US" altLang="zh-CN" b="1" dirty="0" err="1" smtClean="0"/>
              <a:t>printf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65751" y="1340768"/>
            <a:ext cx="5724645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方正美黑_GBK" pitchFamily="65" charset="-122"/>
                <a:ea typeface="方正美黑_GBK" pitchFamily="65" charset="-122"/>
              </a:rPr>
              <a:t>第三部分</a:t>
            </a:r>
            <a:r>
              <a:rPr lang="en-US" altLang="zh-CN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方正美黑_GBK" pitchFamily="65" charset="-122"/>
                <a:ea typeface="方正美黑_GBK" pitchFamily="65" charset="-122"/>
              </a:rPr>
              <a:t/>
            </a:r>
            <a:br>
              <a:rPr lang="en-US" altLang="zh-CN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方正美黑_GBK" pitchFamily="65" charset="-122"/>
                <a:ea typeface="方正美黑_GBK" pitchFamily="65" charset="-122"/>
              </a:rPr>
            </a:br>
            <a:r>
              <a:rPr lang="zh-CN" alt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方正美黑_GBK" pitchFamily="65" charset="-122"/>
                <a:ea typeface="方正美黑_GBK" pitchFamily="65" charset="-122"/>
              </a:rPr>
              <a:t>信春哥</a:t>
            </a:r>
            <a:r>
              <a:rPr lang="en-US" altLang="zh-CN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方正美黑_GBK" pitchFamily="65" charset="-122"/>
                <a:ea typeface="方正美黑_GBK" pitchFamily="65" charset="-122"/>
              </a:rPr>
              <a:t> or </a:t>
            </a:r>
            <a:r>
              <a:rPr lang="zh-CN" alt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方正美黑_GBK" pitchFamily="65" charset="-122"/>
                <a:ea typeface="方正美黑_GBK" pitchFamily="65" charset="-122"/>
              </a:rPr>
              <a:t>信曾哥</a:t>
            </a:r>
            <a:r>
              <a:rPr lang="en-US" altLang="zh-CN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方正美黑_GBK" pitchFamily="65" charset="-122"/>
                <a:ea typeface="方正美黑_GBK" pitchFamily="65" charset="-122"/>
              </a:rPr>
              <a:t>?</a:t>
            </a:r>
            <a:br>
              <a:rPr lang="en-US" altLang="zh-CN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方正美黑_GBK" pitchFamily="65" charset="-122"/>
                <a:ea typeface="方正美黑_GBK" pitchFamily="65" charset="-122"/>
              </a:rPr>
            </a:br>
            <a:r>
              <a:rPr lang="zh-CN" alt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方正美黑_GBK" pitchFamily="65" charset="-122"/>
                <a:ea typeface="方正美黑_GBK" pitchFamily="65" charset="-122"/>
              </a:rPr>
              <a:t>考试题型之选择题</a:t>
            </a:r>
            <a:endParaRPr lang="zh-CN" altLang="en-US" sz="5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方正粗宋_GBK" pitchFamily="65" charset="-122"/>
              <a:ea typeface="方正粗宋_GBK" pitchFamily="65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44008" y="3576498"/>
            <a:ext cx="3960440" cy="17727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>
              <a:spcBef>
                <a:spcPct val="20000"/>
              </a:spcBef>
              <a:buClr>
                <a:srgbClr val="0BD0D9"/>
              </a:buClr>
              <a:buSzPct val="95000"/>
              <a:buFont typeface="Wingdings 2"/>
              <a:buChar char=""/>
            </a:pPr>
            <a:r>
              <a:rPr lang="en-US" altLang="zh-CN" sz="2600" b="1" dirty="0" smtClean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1.1</a:t>
            </a:r>
            <a:r>
              <a:rPr lang="zh-CN" altLang="en-US" sz="2600" b="1" dirty="0" smtClean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、已知</a:t>
            </a:r>
            <a:r>
              <a:rPr lang="en-US" altLang="zh-CN" sz="2600" b="1" dirty="0" err="1" smtClean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int</a:t>
            </a:r>
            <a:r>
              <a:rPr lang="en-US" altLang="zh-CN" sz="2600" b="1" dirty="0" smtClean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 </a:t>
            </a:r>
            <a:r>
              <a:rPr lang="en-US" altLang="zh-CN" sz="2600" b="1" dirty="0" err="1" smtClean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i</a:t>
            </a:r>
            <a:r>
              <a:rPr lang="zh-CN" altLang="en-US" sz="2600" b="1" dirty="0" smtClean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；表达式“</a:t>
            </a:r>
            <a:r>
              <a:rPr lang="en-US" altLang="zh-CN" sz="2600" b="1" dirty="0" smtClean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20-0&lt;=</a:t>
            </a:r>
            <a:r>
              <a:rPr lang="en-US" altLang="zh-CN" sz="2600" b="1" dirty="0" err="1" smtClean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i</a:t>
            </a:r>
            <a:r>
              <a:rPr lang="en-US" altLang="zh-CN" sz="2600" b="1" dirty="0" smtClean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&lt;=9</a:t>
            </a:r>
            <a:r>
              <a:rPr lang="zh-CN" altLang="en-US" sz="2600" b="1" dirty="0" smtClean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”的值是</a:t>
            </a:r>
            <a:r>
              <a:rPr lang="en-US" altLang="zh-CN" sz="2600" b="1" dirty="0" smtClean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____</a:t>
            </a:r>
            <a:r>
              <a:rPr lang="zh-CN" altLang="en-US" sz="2600" b="1" dirty="0" smtClean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？</a:t>
            </a:r>
            <a:r>
              <a:rPr lang="en-US" altLang="zh-CN" sz="2600" b="1" dirty="0" smtClean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      </a:t>
            </a:r>
          </a:p>
          <a:p>
            <a:pPr marL="274320" lvl="0" indent="-274320">
              <a:spcBef>
                <a:spcPct val="20000"/>
              </a:spcBef>
              <a:buClr>
                <a:srgbClr val="0BD0D9"/>
              </a:buClr>
              <a:buSzPct val="95000"/>
            </a:pPr>
            <a:r>
              <a:rPr lang="en-US" altLang="zh-CN" sz="2600" b="1" dirty="0" smtClean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      A.1    B.0    C.</a:t>
            </a:r>
            <a:r>
              <a:rPr lang="zh-CN" altLang="en-US" sz="2600" b="1" dirty="0" smtClean="0">
                <a:solidFill>
                  <a:prstClr val="black"/>
                </a:solidFill>
                <a:latin typeface="华文仿宋" pitchFamily="2" charset="-122"/>
                <a:ea typeface="华文仿宋" pitchFamily="2" charset="-122"/>
              </a:rPr>
              <a:t>不能确定</a:t>
            </a:r>
            <a:endParaRPr lang="en-US" altLang="zh-CN" sz="2600" b="1" dirty="0" smtClean="0">
              <a:solidFill>
                <a:prstClr val="black"/>
              </a:solidFill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3568" y="1340768"/>
            <a:ext cx="3812232" cy="4434840"/>
          </a:xfrm>
        </p:spPr>
        <p:txBody>
          <a:bodyPr/>
          <a:lstStyle/>
          <a:p>
            <a:pPr lvl="1">
              <a:buFont typeface="Wingdings" pitchFamily="2" charset="2"/>
              <a:buChar char="u"/>
            </a:pPr>
            <a:r>
              <a:rPr lang="zh-CN" altLang="en-US" b="1" dirty="0" smtClean="0"/>
              <a:t>语句输出</a:t>
            </a:r>
            <a:endParaRPr lang="en-US" altLang="zh-CN" b="1" dirty="0" smtClean="0"/>
          </a:p>
          <a:p>
            <a:pPr lvl="1"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语句正误</a:t>
            </a:r>
            <a:endParaRPr lang="en-US" altLang="zh-CN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循环</a:t>
            </a:r>
            <a:endParaRPr lang="en-US" altLang="zh-CN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Wingdings" pitchFamily="2" charset="2"/>
              <a:buChar char="u"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</a:rPr>
              <a:t>TMD</a:t>
            </a: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指针</a:t>
            </a:r>
            <a:endParaRPr lang="en-US" altLang="zh-CN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各种概念</a:t>
            </a:r>
            <a:endParaRPr lang="en-US" altLang="zh-CN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Wingdings" pitchFamily="2" charset="2"/>
              <a:buChar char="u"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</a:rPr>
              <a:t>……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40768"/>
            <a:ext cx="4038600" cy="1944216"/>
          </a:xfrm>
        </p:spPr>
        <p:txBody>
          <a:bodyPr/>
          <a:lstStyle/>
          <a:p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1.0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、已知</a:t>
            </a:r>
            <a:r>
              <a:rPr lang="en-US" altLang="zh-CN" b="1" dirty="0" err="1" smtClean="0">
                <a:latin typeface="华文仿宋" pitchFamily="2" charset="-122"/>
                <a:ea typeface="华文仿宋" pitchFamily="2" charset="-122"/>
              </a:rPr>
              <a:t>int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</a:t>
            </a:r>
            <a:r>
              <a:rPr lang="en-US" altLang="zh-CN" b="1" dirty="0" err="1" smtClean="0">
                <a:latin typeface="华文仿宋" pitchFamily="2" charset="-122"/>
                <a:ea typeface="华文仿宋" pitchFamily="2" charset="-122"/>
              </a:rPr>
              <a:t>i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=10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；表达式“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20-0&lt;=</a:t>
            </a:r>
            <a:r>
              <a:rPr lang="en-US" altLang="zh-CN" b="1" dirty="0" err="1" smtClean="0">
                <a:latin typeface="华文仿宋" pitchFamily="2" charset="-122"/>
                <a:ea typeface="华文仿宋" pitchFamily="2" charset="-122"/>
              </a:rPr>
              <a:t>i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&lt;=9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”的值是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____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？</a:t>
            </a:r>
            <a:endParaRPr lang="en-US" altLang="zh-CN" b="1" dirty="0" smtClean="0">
              <a:latin typeface="华文仿宋" pitchFamily="2" charset="-122"/>
              <a:ea typeface="华文仿宋" pitchFamily="2" charset="-122"/>
            </a:endParaRPr>
          </a:p>
          <a:p>
            <a:pPr>
              <a:buNone/>
            </a:pP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     A.0    B.1    C.19    D.20</a:t>
            </a:r>
          </a:p>
          <a:p>
            <a:endParaRPr lang="en-US" altLang="zh-CN" b="1" dirty="0" smtClean="0">
              <a:latin typeface="华文仿宋" pitchFamily="2" charset="-122"/>
              <a:ea typeface="华文仿宋" pitchFamily="2" charset="-122"/>
            </a:endParaRPr>
          </a:p>
          <a:p>
            <a:endParaRPr lang="en-US" altLang="zh-CN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5508104" y="2060848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C00000"/>
                </a:solidFill>
              </a:rPr>
              <a:t>B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92080" y="4293096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C00000"/>
                </a:solidFill>
              </a:rPr>
              <a:t>A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59632" y="5013176"/>
            <a:ext cx="313823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latin typeface="+mj-lt"/>
              </a:rPr>
              <a:t>#include &lt;</a:t>
            </a:r>
            <a:r>
              <a:rPr lang="en-US" altLang="zh-CN" sz="2000" b="1" dirty="0" err="1" smtClean="0">
                <a:latin typeface="+mj-lt"/>
              </a:rPr>
              <a:t>stdio.h</a:t>
            </a:r>
            <a:r>
              <a:rPr lang="en-US" altLang="zh-CN" sz="2000" b="1" dirty="0" smtClean="0">
                <a:latin typeface="+mj-lt"/>
              </a:rPr>
              <a:t>&gt; </a:t>
            </a:r>
          </a:p>
          <a:p>
            <a:r>
              <a:rPr lang="en-US" altLang="zh-CN" sz="2000" b="1" dirty="0" smtClean="0">
                <a:latin typeface="+mj-lt"/>
              </a:rPr>
              <a:t>main(){</a:t>
            </a:r>
          </a:p>
          <a:p>
            <a:r>
              <a:rPr lang="en-US" altLang="zh-CN" sz="2000" b="1" dirty="0" err="1" smtClean="0">
                <a:latin typeface="+mj-lt"/>
              </a:rPr>
              <a:t>int</a:t>
            </a:r>
            <a:r>
              <a:rPr lang="en-US" altLang="zh-CN" sz="2000" b="1" dirty="0" smtClean="0">
                <a:latin typeface="+mj-lt"/>
              </a:rPr>
              <a:t> </a:t>
            </a:r>
            <a:r>
              <a:rPr lang="en-US" altLang="zh-CN" sz="2000" b="1" dirty="0" err="1" smtClean="0">
                <a:latin typeface="+mj-lt"/>
              </a:rPr>
              <a:t>i</a:t>
            </a:r>
            <a:r>
              <a:rPr lang="en-US" altLang="zh-CN" sz="2000" b="1" dirty="0" smtClean="0">
                <a:latin typeface="+mj-lt"/>
              </a:rPr>
              <a:t>=10;</a:t>
            </a:r>
          </a:p>
          <a:p>
            <a:r>
              <a:rPr lang="en-US" altLang="zh-CN" sz="2000" b="1" dirty="0" err="1" smtClean="0">
                <a:latin typeface="+mj-lt"/>
              </a:rPr>
              <a:t>printf</a:t>
            </a:r>
            <a:r>
              <a:rPr lang="en-US" altLang="zh-CN" sz="2000" b="1" dirty="0" smtClean="0">
                <a:latin typeface="+mj-lt"/>
              </a:rPr>
              <a:t>("%d\n",20-0&lt;=</a:t>
            </a:r>
            <a:r>
              <a:rPr lang="en-US" altLang="zh-CN" sz="2000" b="1" dirty="0" err="1" smtClean="0">
                <a:latin typeface="+mj-lt"/>
              </a:rPr>
              <a:t>i</a:t>
            </a:r>
            <a:r>
              <a:rPr lang="en-US" altLang="zh-CN" sz="2000" b="1" dirty="0" smtClean="0">
                <a:latin typeface="+mj-lt"/>
              </a:rPr>
              <a:t>&lt;=9);}</a:t>
            </a:r>
            <a:endParaRPr lang="zh-CN" altLang="en-US" sz="2000" b="1" dirty="0"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/>
      <p:bldP spid="5" grpId="0"/>
      <p:bldP spid="6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3568" y="1340768"/>
            <a:ext cx="3812232" cy="4434840"/>
          </a:xfrm>
        </p:spPr>
        <p:txBody>
          <a:bodyPr/>
          <a:lstStyle/>
          <a:p>
            <a:pPr lvl="1">
              <a:buFont typeface="Wingdings" pitchFamily="2" charset="2"/>
              <a:buChar char="u"/>
            </a:pPr>
            <a:r>
              <a:rPr lang="zh-CN" altLang="en-US" b="1" dirty="0" smtClean="0"/>
              <a:t>语句输出</a:t>
            </a:r>
            <a:endParaRPr lang="en-US" altLang="zh-CN" b="1" dirty="0" smtClean="0"/>
          </a:p>
          <a:p>
            <a:pPr lvl="1"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语句正误</a:t>
            </a:r>
            <a:endParaRPr lang="en-US" altLang="zh-CN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循环</a:t>
            </a:r>
            <a:endParaRPr lang="en-US" altLang="zh-CN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Wingdings" pitchFamily="2" charset="2"/>
              <a:buChar char="u"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</a:rPr>
              <a:t>TMD</a:t>
            </a: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指针</a:t>
            </a:r>
            <a:endParaRPr lang="en-US" altLang="zh-CN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各种概念</a:t>
            </a:r>
            <a:endParaRPr lang="en-US" altLang="zh-CN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Wingdings" pitchFamily="2" charset="2"/>
              <a:buChar char="u"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</a:rPr>
              <a:t>……</a:t>
            </a:r>
          </a:p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6016" y="1340768"/>
            <a:ext cx="4104456" cy="4434840"/>
          </a:xfrm>
        </p:spPr>
        <p:txBody>
          <a:bodyPr/>
          <a:lstStyle/>
          <a:p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2.0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、如果</a:t>
            </a:r>
            <a:r>
              <a:rPr lang="en-US" altLang="zh-CN" b="1" dirty="0" err="1" smtClean="0">
                <a:latin typeface="华文仿宋" pitchFamily="2" charset="-122"/>
                <a:ea typeface="华文仿宋" pitchFamily="2" charset="-122"/>
              </a:rPr>
              <a:t>int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a=1, b=2, c=3, d=4;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则条件表达式“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a&lt;b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？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a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：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c&lt;d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？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c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：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d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”的值是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____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？</a:t>
            </a:r>
            <a:endParaRPr lang="en-US" altLang="zh-CN" b="1" dirty="0" smtClean="0">
              <a:latin typeface="华文仿宋" pitchFamily="2" charset="-122"/>
              <a:ea typeface="华文仿宋" pitchFamily="2" charset="-122"/>
            </a:endParaRPr>
          </a:p>
          <a:p>
            <a:pPr>
              <a:buNone/>
            </a:pP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     A.1    B.2    C.3    D.4</a:t>
            </a:r>
          </a:p>
          <a:p>
            <a:endParaRPr lang="en-US" altLang="zh-CN" b="1" dirty="0" smtClean="0">
              <a:latin typeface="华文仿宋" pitchFamily="2" charset="-122"/>
              <a:ea typeface="华文仿宋" pitchFamily="2" charset="-122"/>
            </a:endParaRPr>
          </a:p>
          <a:p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3.0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、已知</a:t>
            </a:r>
            <a:r>
              <a:rPr lang="en-US" altLang="zh-CN" b="1" dirty="0" err="1" smtClean="0">
                <a:latin typeface="华文仿宋" pitchFamily="2" charset="-122"/>
                <a:ea typeface="华文仿宋" pitchFamily="2" charset="-122"/>
              </a:rPr>
              <a:t>int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x=1,y;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执行“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y=++x&gt;5&amp;&amp;++x&lt;10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”后变量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x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的值是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____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？</a:t>
            </a:r>
            <a:endParaRPr lang="en-US" altLang="zh-CN" b="1" dirty="0" smtClean="0">
              <a:latin typeface="华文仿宋" pitchFamily="2" charset="-122"/>
              <a:ea typeface="华文仿宋" pitchFamily="2" charset="-122"/>
            </a:endParaRPr>
          </a:p>
          <a:p>
            <a:pPr>
              <a:buNone/>
            </a:pP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     A.1    B.2    C.3     D. 4</a:t>
            </a:r>
          </a:p>
          <a:p>
            <a:endParaRPr lang="en-US" altLang="zh-CN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6228184" y="2492896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C00000"/>
                </a:solidFill>
              </a:rPr>
              <a:t>A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08304" y="4725144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C00000"/>
                </a:solidFill>
              </a:rPr>
              <a:t>B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6016" y="1340768"/>
            <a:ext cx="4104456" cy="4824536"/>
          </a:xfrm>
        </p:spPr>
        <p:txBody>
          <a:bodyPr>
            <a:normAutofit lnSpcReduction="10000"/>
          </a:bodyPr>
          <a:lstStyle/>
          <a:p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4.0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、下列循环语句中有语法错误的是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____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？</a:t>
            </a:r>
            <a:endParaRPr lang="en-US" altLang="zh-CN" b="1" dirty="0" smtClean="0">
              <a:latin typeface="华文仿宋" pitchFamily="2" charset="-122"/>
              <a:ea typeface="华文仿宋" pitchFamily="2" charset="-122"/>
            </a:endParaRPr>
          </a:p>
          <a:p>
            <a:pPr>
              <a:buNone/>
            </a:pP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     A. while(x=y) 5   </a:t>
            </a:r>
          </a:p>
          <a:p>
            <a:pPr>
              <a:buNone/>
            </a:pP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     B. while(0)</a:t>
            </a:r>
          </a:p>
          <a:p>
            <a:pPr>
              <a:buNone/>
            </a:pP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     C. do 2; while(x==b)</a:t>
            </a:r>
          </a:p>
          <a:p>
            <a:pPr>
              <a:buNone/>
            </a:pP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     D. do x++  while(x==10)</a:t>
            </a:r>
            <a:endParaRPr lang="en-US" altLang="zh-CN" dirty="0" smtClean="0"/>
          </a:p>
          <a:p>
            <a:endParaRPr lang="en-US" altLang="zh-CN" b="1" dirty="0" smtClean="0">
              <a:latin typeface="华文仿宋" pitchFamily="2" charset="-122"/>
              <a:ea typeface="华文仿宋" pitchFamily="2" charset="-122"/>
            </a:endParaRPr>
          </a:p>
          <a:p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5.0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、下列转义字符中错误的一个是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____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？</a:t>
            </a:r>
            <a:endParaRPr lang="en-US" altLang="zh-CN" b="1" dirty="0" smtClean="0">
              <a:latin typeface="华文仿宋" pitchFamily="2" charset="-122"/>
              <a:ea typeface="华文仿宋" pitchFamily="2" charset="-122"/>
            </a:endParaRPr>
          </a:p>
          <a:p>
            <a:pPr>
              <a:buNone/>
            </a:pP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     A. '\000'    B. '\0014' </a:t>
            </a:r>
          </a:p>
          <a:p>
            <a:pPr>
              <a:buNone/>
            </a:pP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     C. '\x111'    D. '\2'</a:t>
            </a:r>
          </a:p>
          <a:p>
            <a:endParaRPr lang="en-US" altLang="zh-CN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6876256" y="4581128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C00000"/>
                </a:solidFill>
              </a:rPr>
              <a:t>C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08304" y="1628800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C00000"/>
                </a:solidFill>
              </a:rPr>
              <a:t>D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10" name="内容占位符 2"/>
          <p:cNvSpPr>
            <a:spLocks noGrp="1"/>
          </p:cNvSpPr>
          <p:nvPr>
            <p:ph sz="half" idx="1"/>
          </p:nvPr>
        </p:nvSpPr>
        <p:spPr>
          <a:xfrm>
            <a:off x="683568" y="1340768"/>
            <a:ext cx="3812232" cy="4434840"/>
          </a:xfrm>
        </p:spPr>
        <p:txBody>
          <a:bodyPr/>
          <a:lstStyle/>
          <a:p>
            <a:pPr lvl="1"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语句输出</a:t>
            </a:r>
            <a:endParaRPr lang="en-US" altLang="zh-CN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Wingdings" pitchFamily="2" charset="2"/>
              <a:buChar char="u"/>
            </a:pPr>
            <a:r>
              <a:rPr lang="zh-CN" altLang="en-US" b="1" dirty="0" smtClean="0"/>
              <a:t>语句正误</a:t>
            </a:r>
            <a:endParaRPr lang="en-US" altLang="zh-CN" b="1" dirty="0" smtClean="0"/>
          </a:p>
          <a:p>
            <a:pPr lvl="1"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循环</a:t>
            </a:r>
            <a:endParaRPr lang="en-US" altLang="zh-CN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Wingdings" pitchFamily="2" charset="2"/>
              <a:buChar char="u"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</a:rPr>
              <a:t>TMD</a:t>
            </a: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指针</a:t>
            </a:r>
            <a:endParaRPr lang="en-US" altLang="zh-CN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各种概念</a:t>
            </a:r>
            <a:endParaRPr lang="en-US" altLang="zh-CN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Wingdings" pitchFamily="2" charset="2"/>
              <a:buChar char="u"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</a:rPr>
              <a:t>……</a:t>
            </a:r>
          </a:p>
          <a:p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660232" y="3356992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C00000"/>
                </a:solidFill>
              </a:rPr>
              <a:t>;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pic>
        <p:nvPicPr>
          <p:cNvPr id="1027" name="Picture 3" descr="C:\Users\DELL\Desktop\无标题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6165304"/>
            <a:ext cx="8543136" cy="324050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6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5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5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5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5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5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6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6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6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  <p:bldP spid="5" grpId="0"/>
      <p:bldP spid="6" grpId="0"/>
      <p:bldP spid="7" grpId="3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3568" y="1340768"/>
            <a:ext cx="3812232" cy="4434840"/>
          </a:xfrm>
        </p:spPr>
        <p:txBody>
          <a:bodyPr>
            <a:normAutofit/>
          </a:bodyPr>
          <a:lstStyle/>
          <a:p>
            <a:pPr lvl="1"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语句输出</a:t>
            </a:r>
            <a:endParaRPr lang="en-US" altLang="zh-CN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语句正误</a:t>
            </a:r>
            <a:endParaRPr lang="en-US" altLang="zh-CN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Wingdings" pitchFamily="2" charset="2"/>
              <a:buChar char="u"/>
            </a:pPr>
            <a:r>
              <a:rPr lang="zh-CN" altLang="en-US" b="1" dirty="0" smtClean="0"/>
              <a:t>循环</a:t>
            </a:r>
            <a:endParaRPr lang="en-US" altLang="zh-CN" b="1" dirty="0" smtClean="0"/>
          </a:p>
          <a:p>
            <a:pPr lvl="1">
              <a:buFont typeface="Wingdings" pitchFamily="2" charset="2"/>
              <a:buChar char="u"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</a:rPr>
              <a:t>TMD</a:t>
            </a: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指针</a:t>
            </a:r>
            <a:endParaRPr lang="en-US" altLang="zh-CN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各种概念</a:t>
            </a:r>
            <a:endParaRPr lang="en-US" altLang="zh-CN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Wingdings" pitchFamily="2" charset="2"/>
              <a:buChar char="u"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</a:rPr>
              <a:t>……</a:t>
            </a:r>
          </a:p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6016" y="1340768"/>
            <a:ext cx="4104456" cy="4434840"/>
          </a:xfrm>
        </p:spPr>
        <p:txBody>
          <a:bodyPr>
            <a:normAutofit/>
          </a:bodyPr>
          <a:lstStyle/>
          <a:p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6.0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、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for(x=0, y=10; (y&gt;0)&amp;&amp;(x&lt;4);x++,y--)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这条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for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语句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____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？</a:t>
            </a:r>
            <a:endParaRPr lang="en-US" altLang="zh-CN" b="1" dirty="0" smtClean="0">
              <a:latin typeface="华文仿宋" pitchFamily="2" charset="-122"/>
              <a:ea typeface="华文仿宋" pitchFamily="2" charset="-122"/>
            </a:endParaRPr>
          </a:p>
          <a:p>
            <a:pPr>
              <a:buNone/>
            </a:pP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     A.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是死循环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   </a:t>
            </a:r>
          </a:p>
          <a:p>
            <a:pPr>
              <a:buNone/>
            </a:pP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     B.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循环次数不定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   </a:t>
            </a:r>
          </a:p>
          <a:p>
            <a:pPr>
              <a:buNone/>
            </a:pP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     C.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循环执行四次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   </a:t>
            </a:r>
          </a:p>
          <a:p>
            <a:pPr>
              <a:buNone/>
            </a:pP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     D.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循环执行三次</a:t>
            </a:r>
            <a:endParaRPr lang="en-US" altLang="zh-CN" b="1" dirty="0" smtClean="0">
              <a:latin typeface="华文仿宋" pitchFamily="2" charset="-122"/>
              <a:ea typeface="华文仿宋" pitchFamily="2" charset="-122"/>
            </a:endParaRPr>
          </a:p>
          <a:p>
            <a:endParaRPr lang="en-US" altLang="zh-CN" b="1" dirty="0" smtClean="0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60232" y="2060848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C00000"/>
                </a:solidFill>
              </a:rPr>
              <a:t>C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7624" y="4293096"/>
            <a:ext cx="402308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latin typeface="+mj-lt"/>
              </a:rPr>
              <a:t>#include &lt;</a:t>
            </a:r>
            <a:r>
              <a:rPr lang="en-US" altLang="zh-CN" sz="2000" b="1" dirty="0" err="1" smtClean="0">
                <a:latin typeface="+mj-lt"/>
              </a:rPr>
              <a:t>stdio.h</a:t>
            </a:r>
            <a:r>
              <a:rPr lang="en-US" altLang="zh-CN" sz="2000" b="1" dirty="0" smtClean="0">
                <a:latin typeface="+mj-lt"/>
              </a:rPr>
              <a:t>&gt; </a:t>
            </a:r>
          </a:p>
          <a:p>
            <a:r>
              <a:rPr lang="en-US" altLang="zh-CN" sz="2000" b="1" dirty="0" smtClean="0">
                <a:latin typeface="+mj-lt"/>
              </a:rPr>
              <a:t>main(){</a:t>
            </a:r>
          </a:p>
          <a:p>
            <a:r>
              <a:rPr lang="en-US" altLang="zh-CN" sz="2000" b="1" dirty="0" err="1" smtClean="0">
                <a:latin typeface="+mj-lt"/>
              </a:rPr>
              <a:t>int</a:t>
            </a:r>
            <a:r>
              <a:rPr lang="en-US" altLang="zh-CN" sz="2000" b="1" dirty="0" smtClean="0">
                <a:latin typeface="+mj-lt"/>
              </a:rPr>
              <a:t> </a:t>
            </a:r>
            <a:r>
              <a:rPr lang="en-US" altLang="zh-CN" sz="2000" b="1" dirty="0" err="1" smtClean="0">
                <a:latin typeface="+mj-lt"/>
              </a:rPr>
              <a:t>i</a:t>
            </a:r>
            <a:r>
              <a:rPr lang="en-US" altLang="zh-CN" sz="2000" b="1" dirty="0" smtClean="0">
                <a:latin typeface="+mj-lt"/>
              </a:rPr>
              <a:t>=0,x,y;</a:t>
            </a:r>
          </a:p>
          <a:p>
            <a:r>
              <a:rPr lang="en-US" altLang="zh-CN" sz="2000" b="1" dirty="0" smtClean="0">
                <a:latin typeface="+mj-lt"/>
              </a:rPr>
              <a:t>for(x=0, y=10; (y&gt;0)&amp;&amp;(x&lt;4);x++,y--)</a:t>
            </a:r>
          </a:p>
          <a:p>
            <a:r>
              <a:rPr lang="en-US" altLang="zh-CN" sz="2000" b="1" dirty="0" err="1" smtClean="0">
                <a:latin typeface="+mj-lt"/>
              </a:rPr>
              <a:t>i</a:t>
            </a:r>
            <a:r>
              <a:rPr lang="en-US" altLang="zh-CN" sz="2000" b="1" dirty="0" smtClean="0">
                <a:latin typeface="+mj-lt"/>
              </a:rPr>
              <a:t>++;</a:t>
            </a:r>
          </a:p>
          <a:p>
            <a:r>
              <a:rPr lang="en-US" altLang="zh-CN" sz="2000" b="1" dirty="0" err="1" smtClean="0">
                <a:latin typeface="+mj-lt"/>
              </a:rPr>
              <a:t>printf</a:t>
            </a:r>
            <a:r>
              <a:rPr lang="en-US" altLang="zh-CN" sz="2000" b="1" dirty="0" smtClean="0">
                <a:latin typeface="+mj-lt"/>
              </a:rPr>
              <a:t>("%d\</a:t>
            </a:r>
            <a:r>
              <a:rPr lang="en-US" altLang="zh-CN" sz="2000" b="1" dirty="0" err="1" smtClean="0">
                <a:latin typeface="+mj-lt"/>
              </a:rPr>
              <a:t>n",i</a:t>
            </a:r>
            <a:r>
              <a:rPr lang="en-US" altLang="zh-CN" sz="2000" b="1" dirty="0" smtClean="0">
                <a:latin typeface="+mj-lt"/>
              </a:rPr>
              <a:t>);}</a:t>
            </a:r>
            <a:endParaRPr lang="zh-CN" altLang="en-US" sz="2000" b="1" dirty="0"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3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3568" y="1340768"/>
            <a:ext cx="3812232" cy="4434840"/>
          </a:xfrm>
        </p:spPr>
        <p:txBody>
          <a:bodyPr/>
          <a:lstStyle/>
          <a:p>
            <a:pPr lvl="1"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语句输出</a:t>
            </a:r>
            <a:endParaRPr lang="en-US" altLang="zh-CN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语句正误</a:t>
            </a:r>
            <a:endParaRPr lang="en-US" altLang="zh-CN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循环</a:t>
            </a:r>
            <a:endParaRPr lang="en-US" altLang="zh-CN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Wingdings" pitchFamily="2" charset="2"/>
              <a:buChar char="u"/>
            </a:pPr>
            <a:r>
              <a:rPr lang="en-US" altLang="zh-CN" b="1" dirty="0" smtClean="0"/>
              <a:t>TMD</a:t>
            </a:r>
            <a:r>
              <a:rPr lang="zh-CN" altLang="en-US" b="1" dirty="0" smtClean="0"/>
              <a:t>指针</a:t>
            </a:r>
            <a:endParaRPr lang="en-US" altLang="zh-CN" b="1" dirty="0" smtClean="0"/>
          </a:p>
          <a:p>
            <a:pPr lvl="1"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各种概念</a:t>
            </a:r>
            <a:endParaRPr lang="en-US" altLang="zh-CN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Wingdings" pitchFamily="2" charset="2"/>
              <a:buChar char="u"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</a:rPr>
              <a:t>……</a:t>
            </a:r>
          </a:p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6016" y="1340768"/>
            <a:ext cx="4104456" cy="4434840"/>
          </a:xfrm>
        </p:spPr>
        <p:txBody>
          <a:bodyPr/>
          <a:lstStyle/>
          <a:p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7.0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、已知：</a:t>
            </a:r>
            <a:r>
              <a:rPr lang="en-US" altLang="zh-CN" b="1" dirty="0" err="1" smtClean="0">
                <a:latin typeface="华文仿宋" pitchFamily="2" charset="-122"/>
                <a:ea typeface="华文仿宋" pitchFamily="2" charset="-122"/>
              </a:rPr>
              <a:t>int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a[ ] = {1,3,5,7}, y, *p=a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；为使变量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y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的值为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3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，下列语句正确的是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____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？</a:t>
            </a:r>
            <a:endParaRPr lang="en-US" altLang="zh-CN" b="1" dirty="0" smtClean="0">
              <a:latin typeface="华文仿宋" pitchFamily="2" charset="-122"/>
              <a:ea typeface="华文仿宋" pitchFamily="2" charset="-122"/>
            </a:endParaRPr>
          </a:p>
          <a:p>
            <a:pPr>
              <a:buNone/>
            </a:pP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     A. y=++*p++</a:t>
            </a:r>
          </a:p>
          <a:p>
            <a:pPr>
              <a:buNone/>
            </a:pP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     B. y=++*(p++)</a:t>
            </a:r>
          </a:p>
          <a:p>
            <a:pPr>
              <a:buNone/>
            </a:pP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     C. y=(++*p)++</a:t>
            </a:r>
          </a:p>
          <a:p>
            <a:pPr>
              <a:buNone/>
            </a:pP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     D. y=(*++p)++</a:t>
            </a:r>
          </a:p>
          <a:p>
            <a:pPr>
              <a:buNone/>
            </a:pPr>
            <a:endParaRPr lang="en-US" altLang="zh-CN" b="1" dirty="0" smtClean="0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00192" y="2492896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C00000"/>
                </a:solidFill>
              </a:rPr>
              <a:t>D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3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6016" y="1340768"/>
            <a:ext cx="4104456" cy="4434840"/>
          </a:xfrm>
        </p:spPr>
        <p:txBody>
          <a:bodyPr>
            <a:normAutofit lnSpcReduction="10000"/>
          </a:bodyPr>
          <a:lstStyle/>
          <a:p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8.0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、下列结论中错误的一个是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____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？</a:t>
            </a:r>
            <a:endParaRPr lang="en-US" altLang="zh-CN" b="1" dirty="0" smtClean="0">
              <a:latin typeface="华文仿宋" pitchFamily="2" charset="-122"/>
              <a:ea typeface="华文仿宋" pitchFamily="2" charset="-122"/>
            </a:endParaRPr>
          </a:p>
          <a:p>
            <a:pPr>
              <a:buNone/>
            </a:pP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     A. C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语言中允许函数的递归调用</a:t>
            </a:r>
            <a:endParaRPr lang="en-US" altLang="zh-CN" b="1" dirty="0" smtClean="0">
              <a:latin typeface="华文仿宋" pitchFamily="2" charset="-122"/>
              <a:ea typeface="华文仿宋" pitchFamily="2" charset="-122"/>
            </a:endParaRPr>
          </a:p>
          <a:p>
            <a:pPr>
              <a:buNone/>
            </a:pP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     B. C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语言中的</a:t>
            </a: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continue 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语句，可以通过改编程序的结构而省略</a:t>
            </a:r>
            <a:endParaRPr lang="en-US" altLang="zh-CN" b="1" dirty="0" smtClean="0">
              <a:latin typeface="华文仿宋" pitchFamily="2" charset="-122"/>
              <a:ea typeface="华文仿宋" pitchFamily="2" charset="-122"/>
            </a:endParaRPr>
          </a:p>
          <a:p>
            <a:pPr>
              <a:buNone/>
            </a:pP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     C. 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有些递归程序是不能用非递归算法实现的</a:t>
            </a:r>
            <a:endParaRPr lang="en-US" altLang="zh-CN" b="1" dirty="0" smtClean="0">
              <a:latin typeface="华文仿宋" pitchFamily="2" charset="-122"/>
              <a:ea typeface="华文仿宋" pitchFamily="2" charset="-122"/>
            </a:endParaRPr>
          </a:p>
          <a:p>
            <a:pPr>
              <a:buNone/>
            </a:pPr>
            <a:r>
              <a:rPr lang="en-US" altLang="zh-CN" b="1" dirty="0" smtClean="0">
                <a:latin typeface="华文仿宋" pitchFamily="2" charset="-122"/>
                <a:ea typeface="华文仿宋" pitchFamily="2" charset="-122"/>
              </a:rPr>
              <a:t>      D. C</a:t>
            </a:r>
            <a:r>
              <a:rPr lang="zh-CN" altLang="en-US" b="1" dirty="0" smtClean="0">
                <a:latin typeface="华文仿宋" pitchFamily="2" charset="-122"/>
                <a:ea typeface="华文仿宋" pitchFamily="2" charset="-122"/>
              </a:rPr>
              <a:t>语言中不允许在函数中在定义函数</a:t>
            </a:r>
            <a:endParaRPr lang="en-US" altLang="zh-CN" b="1" dirty="0" smtClean="0">
              <a:latin typeface="华文仿宋" pitchFamily="2" charset="-122"/>
              <a:ea typeface="华文仿宋" pitchFamily="2" charset="-122"/>
            </a:endParaRPr>
          </a:p>
          <a:p>
            <a:pPr>
              <a:buNone/>
            </a:pPr>
            <a:endParaRPr lang="en-US" altLang="zh-CN" b="1" dirty="0" smtClean="0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28184" y="1628800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C00000"/>
                </a:solidFill>
              </a:rPr>
              <a:t>C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sz="half" idx="1"/>
          </p:nvPr>
        </p:nvSpPr>
        <p:spPr>
          <a:xfrm>
            <a:off x="683568" y="1340768"/>
            <a:ext cx="3812232" cy="4434840"/>
          </a:xfrm>
        </p:spPr>
        <p:txBody>
          <a:bodyPr/>
          <a:lstStyle/>
          <a:p>
            <a:pPr lvl="1"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语句输出</a:t>
            </a:r>
            <a:endParaRPr lang="en-US" altLang="zh-CN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语句正误</a:t>
            </a:r>
            <a:endParaRPr lang="en-US" altLang="zh-CN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循环</a:t>
            </a:r>
            <a:endParaRPr lang="en-US" altLang="zh-CN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Wingdings" pitchFamily="2" charset="2"/>
              <a:buChar char="u"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</a:rPr>
              <a:t>TMD</a:t>
            </a: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指针</a:t>
            </a:r>
            <a:endParaRPr lang="en-US" altLang="zh-CN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Wingdings" pitchFamily="2" charset="2"/>
              <a:buChar char="u"/>
            </a:pPr>
            <a:r>
              <a:rPr lang="zh-CN" altLang="en-US" b="1" dirty="0" smtClean="0"/>
              <a:t>各种概念</a:t>
            </a:r>
            <a:endParaRPr lang="en-US" altLang="zh-CN" b="1" dirty="0" smtClean="0"/>
          </a:p>
          <a:p>
            <a:pPr lvl="1">
              <a:buFont typeface="Wingdings" pitchFamily="2" charset="2"/>
              <a:buChar char="u"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</a:rPr>
              <a:t>……</a:t>
            </a:r>
          </a:p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331640" y="5085184"/>
            <a:ext cx="26340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概念这货不能编译</a:t>
            </a:r>
            <a:r>
              <a:rPr lang="en-US" altLang="zh-CN" sz="2000" b="1" dirty="0" smtClean="0"/>
              <a:t>……</a:t>
            </a:r>
          </a:p>
          <a:p>
            <a:r>
              <a:rPr lang="zh-CN" altLang="en-US" sz="2000" b="1" dirty="0" smtClean="0"/>
              <a:t>所以要背</a:t>
            </a:r>
            <a:r>
              <a:rPr lang="en-US" altLang="zh-CN" sz="2000" b="1" dirty="0" smtClean="0"/>
              <a:t>……</a:t>
            </a:r>
            <a:endParaRPr lang="zh-CN" altLang="en-US" sz="2000" b="1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3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36773" y="1268760"/>
            <a:ext cx="5750292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迷你简漫步" pitchFamily="2" charset="-122"/>
                <a:ea typeface="迷你简漫步" pitchFamily="2" charset="-122"/>
              </a:rPr>
              <a:t>第四部分</a:t>
            </a:r>
            <a:endParaRPr lang="en-US" altLang="zh-CN" sz="5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迷你简漫步" pitchFamily="2" charset="-122"/>
              <a:ea typeface="迷你简漫步" pitchFamily="2" charset="-122"/>
            </a:endParaRPr>
          </a:p>
          <a:p>
            <a:pPr algn="ctr"/>
            <a:r>
              <a:rPr lang="zh-CN" altLang="en-U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迷你简漫步" pitchFamily="2" charset="-122"/>
                <a:ea typeface="迷你简漫步" pitchFamily="2" charset="-122"/>
              </a:rPr>
              <a:t>这货不是编程！</a:t>
            </a:r>
            <a:endParaRPr lang="en-US" altLang="zh-CN" sz="5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迷你简漫步" pitchFamily="2" charset="-122"/>
              <a:ea typeface="迷你简漫步" pitchFamily="2" charset="-122"/>
            </a:endParaRPr>
          </a:p>
          <a:p>
            <a:pPr algn="ctr"/>
            <a:r>
              <a:rPr lang="zh-CN" altLang="en-U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迷你简漫步" pitchFamily="2" charset="-122"/>
                <a:ea typeface="迷你简漫步" pitchFamily="2" charset="-122"/>
              </a:rPr>
              <a:t>考试题型之填空题</a:t>
            </a:r>
            <a:endParaRPr lang="en-US" altLang="zh-CN" sz="5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迷你简漫步" pitchFamily="2" charset="-122"/>
              <a:ea typeface="迷你简漫步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704088"/>
            <a:ext cx="7643192" cy="1143000"/>
          </a:xfrm>
        </p:spPr>
        <p:txBody>
          <a:bodyPr/>
          <a:lstStyle/>
          <a:p>
            <a:r>
              <a:rPr lang="zh-CN" altLang="en-US" dirty="0" smtClean="0"/>
              <a:t>考前须知</a:t>
            </a:r>
            <a:r>
              <a:rPr lang="en-US" altLang="zh-CN" dirty="0" smtClean="0"/>
              <a:t>(2)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3608" y="1935480"/>
            <a:ext cx="7643192" cy="4389120"/>
          </a:xfrm>
        </p:spPr>
        <p:txBody>
          <a:bodyPr/>
          <a:lstStyle/>
          <a:p>
            <a:r>
              <a:rPr lang="zh-CN" altLang="en-US" b="1" dirty="0" smtClean="0"/>
              <a:t>程序功能填空题实际上题型是选择题</a:t>
            </a:r>
            <a:r>
              <a:rPr lang="en-US" altLang="zh-CN" b="1" dirty="0" smtClean="0"/>
              <a:t>……</a:t>
            </a:r>
          </a:p>
          <a:p>
            <a:r>
              <a:rPr lang="zh-CN" altLang="en-US" b="1" dirty="0" smtClean="0"/>
              <a:t>既然是选择题，</a:t>
            </a:r>
            <a:r>
              <a:rPr lang="en-US" altLang="zh-CN" b="1" dirty="0" smtClean="0"/>
              <a:t>4</a:t>
            </a:r>
            <a:r>
              <a:rPr lang="zh-CN" altLang="en-US" b="1" dirty="0" smtClean="0"/>
              <a:t>个选项必然有一个是答案</a:t>
            </a:r>
            <a:endParaRPr lang="en-US" altLang="zh-CN" b="1" dirty="0" smtClean="0"/>
          </a:p>
          <a:p>
            <a:r>
              <a:rPr lang="zh-CN" altLang="en-US" b="1" dirty="0" smtClean="0"/>
              <a:t>那么为什么不用编译器呢？</a:t>
            </a:r>
            <a:endParaRPr lang="en-US" altLang="zh-CN" b="1" dirty="0" smtClean="0"/>
          </a:p>
          <a:p>
            <a:endParaRPr lang="en-US" altLang="zh-CN" b="1" dirty="0" smtClean="0"/>
          </a:p>
          <a:p>
            <a:r>
              <a:rPr lang="zh-CN" altLang="en-US" b="1" dirty="0" smtClean="0"/>
              <a:t>但在用好编译器之前，要把自己确定是错误的选项先排除掉！</a:t>
            </a:r>
            <a:endParaRPr lang="en-US" altLang="zh-CN" b="1" dirty="0" smtClean="0"/>
          </a:p>
          <a:p>
            <a:endParaRPr lang="en-US" altLang="zh-CN" b="1" dirty="0" smtClean="0"/>
          </a:p>
          <a:p>
            <a:r>
              <a:rPr lang="zh-CN" altLang="en-US" b="1" dirty="0" smtClean="0"/>
              <a:t>重点中的重点：文件！（只在这里考）</a:t>
            </a:r>
            <a:endParaRPr lang="zh-CN" altLang="en-US" b="1" dirty="0"/>
          </a:p>
        </p:txBody>
      </p:sp>
      <p:sp>
        <p:nvSpPr>
          <p:cNvPr id="5" name="燕尾形箭头 4">
            <a:hlinkClick r:id="rId2" action="ppaction://hlinkfile"/>
          </p:cNvPr>
          <p:cNvSpPr/>
          <p:nvPr/>
        </p:nvSpPr>
        <p:spPr>
          <a:xfrm>
            <a:off x="7020272" y="4941168"/>
            <a:ext cx="1907704" cy="1008112"/>
          </a:xfrm>
          <a:prstGeom prst="notched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填空题样题</a:t>
            </a:r>
          </a:p>
        </p:txBody>
      </p:sp>
      <p:pic>
        <p:nvPicPr>
          <p:cNvPr id="2050" name="Picture 2" descr="C:\Users\DELL\Desktop\QQ截图20110619151108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52" y="6021288"/>
            <a:ext cx="9090348" cy="523875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4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5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49596" y="1268760"/>
            <a:ext cx="5724644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zh-CN" altLang="en-US" sz="54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迷你简漫步" pitchFamily="2" charset="-122"/>
                <a:ea typeface="迷你简漫步" pitchFamily="2" charset="-122"/>
              </a:rPr>
              <a:t>第五部分</a:t>
            </a:r>
            <a:endParaRPr lang="en-US" altLang="zh-CN" sz="5400" b="1" cap="all" dirty="0" smtClean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迷你简漫步" pitchFamily="2" charset="-122"/>
              <a:ea typeface="迷你简漫步" pitchFamily="2" charset="-122"/>
            </a:endParaRPr>
          </a:p>
          <a:p>
            <a:pPr algn="ctr"/>
            <a:r>
              <a:rPr lang="zh-CN" altLang="en-US" sz="54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方正美黑_GBK" pitchFamily="65" charset="-122"/>
                <a:ea typeface="方正美黑_GBK" pitchFamily="65" charset="-122"/>
              </a:rPr>
              <a:t>痛并快乐着</a:t>
            </a:r>
            <a:endParaRPr lang="en-US" altLang="zh-CN" sz="5400" b="1" cap="all" dirty="0" smtClean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方正美黑_GBK" pitchFamily="65" charset="-122"/>
              <a:ea typeface="方正美黑_GBK" pitchFamily="65" charset="-122"/>
            </a:endParaRPr>
          </a:p>
          <a:p>
            <a:pPr algn="ctr"/>
            <a:r>
              <a:rPr lang="zh-CN" altLang="en-US" sz="54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方正美黑_GBK" pitchFamily="65" charset="-122"/>
                <a:ea typeface="方正美黑_GBK" pitchFamily="65" charset="-122"/>
              </a:rPr>
              <a:t>考试题型之编程题</a:t>
            </a:r>
            <a:endParaRPr lang="en-US" altLang="zh-CN" sz="5400" b="1" cap="all" dirty="0" smtClean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方正美黑_GBK" pitchFamily="65" charset="-122"/>
              <a:ea typeface="方正美黑_GBK" pitchFamily="65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38718" y="1772816"/>
            <a:ext cx="7837402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方正平和_GBK" pitchFamily="65" charset="-122"/>
                <a:ea typeface="方正平和_GBK" pitchFamily="65" charset="-122"/>
              </a:rPr>
              <a:t>解决</a:t>
            </a:r>
            <a:r>
              <a:rPr lang="zh-CN" altLang="en-US" sz="5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方正平和_GBK" pitchFamily="65" charset="-122"/>
                <a:ea typeface="方正平和_GBK" pitchFamily="65" charset="-122"/>
              </a:rPr>
              <a:t>一道程序设计题目的</a:t>
            </a:r>
            <a:endParaRPr lang="en-US" altLang="zh-CN" sz="5400" b="1" dirty="0" smtClean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方正平和_GBK" pitchFamily="65" charset="-122"/>
              <a:ea typeface="方正平和_GBK" pitchFamily="65" charset="-122"/>
            </a:endParaRPr>
          </a:p>
          <a:p>
            <a:pPr algn="ctr"/>
            <a:r>
              <a:rPr lang="zh-CN" altLang="en-US" sz="5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方正平和_GBK" pitchFamily="65" charset="-122"/>
                <a:ea typeface="方正平和_GBK" pitchFamily="65" charset="-122"/>
              </a:rPr>
              <a:t>一般步骤</a:t>
            </a:r>
            <a:endParaRPr lang="zh-CN" alt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方正平和_GBK" pitchFamily="65" charset="-122"/>
              <a:ea typeface="方正平和_GBK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468204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11760" y="908720"/>
            <a:ext cx="576064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zh-CN" altLang="en-US" sz="2800" dirty="0" smtClean="0">
                <a:latin typeface="方正少儿简体" pitchFamily="65" charset="-122"/>
                <a:ea typeface="方正少儿简体" pitchFamily="65" charset="-122"/>
              </a:rPr>
              <a:t>拿出纸和笔（</a:t>
            </a:r>
            <a:r>
              <a:rPr lang="zh-CN" altLang="en-US" sz="2800" dirty="0">
                <a:latin typeface="方正少儿简体" pitchFamily="65" charset="-122"/>
                <a:ea typeface="方正少儿简体" pitchFamily="65" charset="-122"/>
              </a:rPr>
              <a:t>而</a:t>
            </a:r>
            <a:r>
              <a:rPr lang="zh-CN" altLang="en-US" sz="2800" dirty="0" smtClean="0">
                <a:latin typeface="方正少儿简体" pitchFamily="65" charset="-122"/>
                <a:ea typeface="方正少儿简体" pitchFamily="65" charset="-122"/>
              </a:rPr>
              <a:t>不是打</a:t>
            </a:r>
            <a:r>
              <a:rPr lang="en-US" altLang="zh-CN" sz="2800" dirty="0" smtClean="0">
                <a:latin typeface="方正少儿简体" pitchFamily="65" charset="-122"/>
                <a:ea typeface="方正少儿简体" pitchFamily="65" charset="-122"/>
              </a:rPr>
              <a:t>#include </a:t>
            </a:r>
            <a:r>
              <a:rPr lang="en-US" altLang="zh-CN" sz="2800" dirty="0" err="1" smtClean="0">
                <a:latin typeface="方正少儿简体" pitchFamily="65" charset="-122"/>
                <a:ea typeface="方正少儿简体" pitchFamily="65" charset="-122"/>
              </a:rPr>
              <a:t>blabla</a:t>
            </a:r>
            <a:r>
              <a:rPr lang="en-US" altLang="zh-CN" sz="2800" dirty="0" smtClean="0">
                <a:latin typeface="方正少儿简体" pitchFamily="65" charset="-122"/>
                <a:ea typeface="方正少儿简体" pitchFamily="65" charset="-122"/>
              </a:rPr>
              <a:t>)</a:t>
            </a:r>
            <a:r>
              <a:rPr lang="zh-CN" altLang="en-US" sz="2800" dirty="0" smtClean="0">
                <a:latin typeface="方正少儿简体" pitchFamily="65" charset="-122"/>
                <a:ea typeface="方正少儿简体" pitchFamily="65" charset="-122"/>
              </a:rPr>
              <a:t>*</a:t>
            </a:r>
            <a:r>
              <a:rPr lang="zh-CN" altLang="en-US" sz="2400" b="1" dirty="0" smtClean="0">
                <a:latin typeface="方正少儿简体" pitchFamily="65" charset="-122"/>
                <a:ea typeface="方正少儿简体" pitchFamily="65" charset="-122"/>
              </a:rPr>
              <a:t>考试时会发草稿纸，但要自己带笔</a:t>
            </a:r>
            <a:endParaRPr lang="en-US" altLang="zh-CN" sz="2800" b="1" dirty="0" smtClean="0">
              <a:latin typeface="方正少儿简体" pitchFamily="65" charset="-122"/>
              <a:ea typeface="方正少儿简体" pitchFamily="65" charset="-122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sz="2800" dirty="0" smtClean="0">
                <a:latin typeface="方正少儿简体" pitchFamily="65" charset="-122"/>
                <a:ea typeface="方正少儿简体" pitchFamily="65" charset="-122"/>
              </a:rPr>
              <a:t>分析题目所用大致算法（递归？穷举？搜索？循环？）</a:t>
            </a:r>
            <a:endParaRPr lang="en-US" altLang="zh-CN" sz="2800" dirty="0" smtClean="0">
              <a:latin typeface="方正少儿简体" pitchFamily="65" charset="-122"/>
              <a:ea typeface="方正少儿简体" pitchFamily="65" charset="-122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sz="2800" dirty="0" smtClean="0">
                <a:latin typeface="方正少儿简体" pitchFamily="65" charset="-122"/>
                <a:ea typeface="方正少儿简体" pitchFamily="65" charset="-122"/>
              </a:rPr>
              <a:t>用自然语言思考题目的解决思路</a:t>
            </a:r>
            <a:endParaRPr lang="en-US" altLang="zh-CN" sz="2800" dirty="0" smtClean="0">
              <a:latin typeface="方正少儿简体" pitchFamily="65" charset="-122"/>
              <a:ea typeface="方正少儿简体" pitchFamily="65" charset="-122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sz="2800" dirty="0">
                <a:latin typeface="方正少儿简体" pitchFamily="65" charset="-122"/>
                <a:ea typeface="方正少儿简体" pitchFamily="65" charset="-122"/>
              </a:rPr>
              <a:t>转化</a:t>
            </a:r>
            <a:r>
              <a:rPr lang="zh-CN" altLang="en-US" sz="2800" dirty="0" smtClean="0">
                <a:latin typeface="方正少儿简体" pitchFamily="65" charset="-122"/>
                <a:ea typeface="方正少儿简体" pitchFamily="65" charset="-122"/>
              </a:rPr>
              <a:t>成伪代码或者简单的流程图</a:t>
            </a:r>
            <a:endParaRPr lang="en-US" altLang="zh-CN" sz="2800" dirty="0" smtClean="0">
              <a:latin typeface="方正少儿简体" pitchFamily="65" charset="-122"/>
              <a:ea typeface="方正少儿简体" pitchFamily="65" charset="-122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sz="2800" dirty="0">
                <a:latin typeface="方正少儿简体" pitchFamily="65" charset="-122"/>
                <a:ea typeface="方正少儿简体" pitchFamily="65" charset="-122"/>
              </a:rPr>
              <a:t>编程</a:t>
            </a:r>
            <a:r>
              <a:rPr lang="zh-CN" altLang="en-US" sz="2800" dirty="0" smtClean="0">
                <a:latin typeface="方正少儿简体" pitchFamily="65" charset="-122"/>
                <a:ea typeface="方正少儿简体" pitchFamily="65" charset="-122"/>
              </a:rPr>
              <a:t>实现</a:t>
            </a:r>
            <a:endParaRPr lang="en-US" altLang="zh-CN" sz="2800" dirty="0" smtClean="0">
              <a:latin typeface="方正少儿简体" pitchFamily="65" charset="-122"/>
              <a:ea typeface="方正少儿简体" pitchFamily="65" charset="-122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sz="2800" dirty="0" smtClean="0">
                <a:latin typeface="方正少儿简体" pitchFamily="65" charset="-122"/>
                <a:ea typeface="方正少儿简体" pitchFamily="65" charset="-122"/>
              </a:rPr>
              <a:t>反复调试</a:t>
            </a:r>
            <a:endParaRPr lang="en-US" altLang="zh-CN" sz="2800" dirty="0" smtClean="0">
              <a:latin typeface="方正少儿简体" pitchFamily="65" charset="-122"/>
              <a:ea typeface="方正少儿简体" pitchFamily="65" charset="-122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sz="2800" dirty="0" smtClean="0">
                <a:latin typeface="方正少儿简体" pitchFamily="65" charset="-122"/>
                <a:ea typeface="方正少儿简体" pitchFamily="65" charset="-122"/>
              </a:rPr>
              <a:t>直至</a:t>
            </a:r>
            <a:r>
              <a:rPr lang="en-US" altLang="zh-CN" sz="2800" dirty="0" smtClean="0">
                <a:latin typeface="方正少儿简体" pitchFamily="65" charset="-122"/>
                <a:ea typeface="方正少儿简体" pitchFamily="65" charset="-122"/>
              </a:rPr>
              <a:t>AC</a:t>
            </a:r>
            <a:r>
              <a:rPr lang="zh-CN" altLang="en-US" sz="2800" dirty="0" smtClean="0">
                <a:latin typeface="方正少儿简体" pitchFamily="65" charset="-122"/>
                <a:ea typeface="方正少儿简体" pitchFamily="65" charset="-122"/>
              </a:rPr>
              <a:t>（绿一色）</a:t>
            </a:r>
            <a:endParaRPr lang="en-US" altLang="zh-CN" sz="2800" dirty="0" smtClean="0">
              <a:latin typeface="方正少儿简体" pitchFamily="65" charset="-122"/>
              <a:ea typeface="方正少儿简体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26208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785794"/>
            <a:ext cx="7742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</a:rPr>
              <a:t>第一大题！打印图形！</a:t>
            </a:r>
            <a:endParaRPr lang="zh-CN" altLang="en-US" sz="36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043608" y="1935480"/>
            <a:ext cx="7643192" cy="4389120"/>
          </a:xfrm>
          <a:prstGeom prst="rect">
            <a:avLst/>
          </a:prstGeom>
        </p:spPr>
        <p:txBody>
          <a:bodyPr/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打印图形是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语言考试必考的题目，作为第一大题，做出与否直接影响做题心情。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19672" y="3356992"/>
            <a:ext cx="5949064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编程，输入</a:t>
            </a:r>
            <a:r>
              <a:rPr lang="en-US" altLang="zh-CN" sz="2000" b="1" dirty="0" smtClean="0"/>
              <a:t>n</a:t>
            </a:r>
            <a:r>
              <a:rPr lang="zh-CN" altLang="en-US" sz="2000" b="1" dirty="0" smtClean="0"/>
              <a:t>值，输出如下例（</a:t>
            </a:r>
            <a:r>
              <a:rPr lang="en-US" altLang="zh-CN" sz="2000" b="1" dirty="0" smtClean="0"/>
              <a:t>n=4</a:t>
            </a:r>
            <a:r>
              <a:rPr lang="zh-CN" altLang="en-US" sz="2000" b="1" dirty="0" smtClean="0"/>
              <a:t>）所示的图形：</a:t>
            </a:r>
          </a:p>
          <a:p>
            <a:r>
              <a:rPr lang="zh-CN" altLang="en-US" sz="2800" b="1" dirty="0" smtClean="0"/>
              <a:t>                         *</a:t>
            </a:r>
          </a:p>
          <a:p>
            <a:r>
              <a:rPr lang="zh-CN" altLang="en-US" sz="2800" b="1" dirty="0" smtClean="0"/>
              <a:t>                       ***</a:t>
            </a:r>
          </a:p>
          <a:p>
            <a:r>
              <a:rPr lang="zh-CN" altLang="en-US" sz="2800" b="1" dirty="0" smtClean="0"/>
              <a:t>                     *****</a:t>
            </a:r>
          </a:p>
          <a:p>
            <a:r>
              <a:rPr lang="zh-CN" altLang="en-US" sz="2800" b="1" dirty="0" smtClean="0"/>
              <a:t>                   *******</a:t>
            </a:r>
            <a:endParaRPr lang="zh-CN" altLang="en-US" sz="2800" b="1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7624" y="1772816"/>
            <a:ext cx="748883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输入顶行字符和图形的高</a:t>
            </a:r>
            <a:r>
              <a:rPr lang="en-US" altLang="zh-CN" sz="2400" b="1" dirty="0" smtClean="0"/>
              <a:t>,</a:t>
            </a:r>
            <a:r>
              <a:rPr lang="zh-CN" altLang="en-US" sz="2400" b="1" dirty="0" smtClean="0"/>
              <a:t>输出由大写英文字母围起的空心三角形。</a:t>
            </a:r>
          </a:p>
          <a:p>
            <a:r>
              <a:rPr lang="zh-CN" altLang="en-US" sz="2400" b="1" dirty="0" smtClean="0"/>
              <a:t>字母输出是循环的，即输出字母 </a:t>
            </a:r>
            <a:r>
              <a:rPr lang="en-US" altLang="zh-CN" sz="2400" b="1" dirty="0" smtClean="0"/>
              <a:t>Z </a:t>
            </a:r>
            <a:r>
              <a:rPr lang="zh-CN" altLang="en-US" sz="2400" b="1" dirty="0" smtClean="0"/>
              <a:t>后再输出的是字母 </a:t>
            </a:r>
            <a:r>
              <a:rPr lang="en-US" altLang="zh-CN" sz="2400" b="1" dirty="0" smtClean="0"/>
              <a:t>A</a:t>
            </a:r>
            <a:r>
              <a:rPr lang="zh-CN" altLang="en-US" sz="2400" b="1" dirty="0" smtClean="0"/>
              <a:t>。</a:t>
            </a:r>
          </a:p>
          <a:p>
            <a:r>
              <a:rPr lang="zh-CN" altLang="en-US" sz="2400" b="1" dirty="0" smtClean="0"/>
              <a:t>如下例（顶行字符为</a:t>
            </a:r>
            <a:r>
              <a:rPr lang="en-US" altLang="zh-CN" sz="2400" b="1" dirty="0" smtClean="0"/>
              <a:t>'A'</a:t>
            </a:r>
            <a:r>
              <a:rPr lang="zh-CN" altLang="en-US" sz="2400" b="1" dirty="0" smtClean="0"/>
              <a:t>，图形的高为</a:t>
            </a:r>
            <a:r>
              <a:rPr lang="en-US" altLang="zh-CN" sz="2400" b="1" dirty="0" smtClean="0"/>
              <a:t>4</a:t>
            </a:r>
            <a:r>
              <a:rPr lang="zh-CN" altLang="en-US" sz="2400" b="1" dirty="0" smtClean="0"/>
              <a:t>）所示的图形：</a:t>
            </a:r>
            <a:endParaRPr lang="en-US" altLang="zh-CN" sz="2400" b="1" dirty="0" smtClean="0"/>
          </a:p>
          <a:p>
            <a:r>
              <a:rPr lang="zh-CN" altLang="en-US" sz="2400" b="1" dirty="0" smtClean="0"/>
              <a:t>输入：</a:t>
            </a:r>
            <a:r>
              <a:rPr lang="en-US" altLang="zh-CN" sz="2400" b="1" dirty="0" smtClean="0"/>
              <a:t>A  4 ↙ </a:t>
            </a:r>
          </a:p>
          <a:p>
            <a:r>
              <a:rPr lang="zh-CN" altLang="en-US" sz="2400" b="1" dirty="0" smtClean="0"/>
              <a:t>输出：          </a:t>
            </a:r>
            <a:r>
              <a:rPr lang="en-US" altLang="zh-CN" sz="2400" b="1" dirty="0" smtClean="0"/>
              <a:t>A ↙   </a:t>
            </a:r>
          </a:p>
          <a:p>
            <a:r>
              <a:rPr lang="en-US" altLang="zh-CN" sz="2400" b="1" dirty="0" smtClean="0"/>
              <a:t>       </a:t>
            </a:r>
            <a:r>
              <a:rPr lang="zh-CN" altLang="en-US" sz="2400" b="1" dirty="0" smtClean="0"/>
              <a:t>            </a:t>
            </a:r>
            <a:r>
              <a:rPr lang="en-US" altLang="zh-CN" sz="2400" b="1" dirty="0" smtClean="0"/>
              <a:t>   B </a:t>
            </a:r>
            <a:r>
              <a:rPr lang="en-US" altLang="zh-CN" sz="2400" b="1" dirty="0" err="1" smtClean="0"/>
              <a:t>B</a:t>
            </a:r>
            <a:r>
              <a:rPr lang="en-US" altLang="zh-CN" sz="2400" b="1" dirty="0" smtClean="0"/>
              <a:t> ↙  </a:t>
            </a:r>
          </a:p>
          <a:p>
            <a:r>
              <a:rPr lang="en-US" altLang="zh-CN" sz="2400" b="1" dirty="0" smtClean="0"/>
              <a:t>                      C   </a:t>
            </a:r>
            <a:r>
              <a:rPr lang="en-US" altLang="zh-CN" sz="2400" b="1" dirty="0" err="1" smtClean="0"/>
              <a:t>C</a:t>
            </a:r>
            <a:r>
              <a:rPr lang="en-US" altLang="zh-CN" sz="2400" b="1" dirty="0" smtClean="0"/>
              <a:t> ↙</a:t>
            </a:r>
          </a:p>
          <a:p>
            <a:r>
              <a:rPr lang="zh-CN" altLang="en-US" sz="2400" b="1" dirty="0" smtClean="0"/>
              <a:t>（</a:t>
            </a:r>
            <a:r>
              <a:rPr lang="en-US" altLang="zh-CN" sz="2400" b="1" dirty="0" smtClean="0"/>
              <a:t>A</a:t>
            </a:r>
            <a:r>
              <a:rPr lang="zh-CN" altLang="en-US" sz="2400" b="1" dirty="0" smtClean="0"/>
              <a:t>卷） </a:t>
            </a:r>
            <a:r>
              <a:rPr lang="en-US" altLang="zh-CN" sz="2400" b="1" dirty="0" smtClean="0"/>
              <a:t>      D     </a:t>
            </a:r>
            <a:r>
              <a:rPr lang="en-US" altLang="zh-CN" sz="2400" b="1" dirty="0" err="1" smtClean="0"/>
              <a:t>D</a:t>
            </a:r>
            <a:r>
              <a:rPr lang="en-US" altLang="zh-CN" sz="2400" b="1" dirty="0" smtClean="0"/>
              <a:t> ↙</a:t>
            </a:r>
          </a:p>
          <a:p>
            <a:r>
              <a:rPr lang="en-US" altLang="zh-CN" sz="2400" b="1" dirty="0" smtClean="0"/>
              <a:t>                      C   </a:t>
            </a:r>
            <a:r>
              <a:rPr lang="en-US" altLang="zh-CN" sz="2400" b="1" dirty="0" err="1" smtClean="0"/>
              <a:t>C</a:t>
            </a:r>
            <a:r>
              <a:rPr lang="en-US" altLang="zh-CN" sz="2400" b="1" dirty="0" smtClean="0"/>
              <a:t> ↙ </a:t>
            </a:r>
          </a:p>
          <a:p>
            <a:r>
              <a:rPr lang="en-US" altLang="zh-CN" sz="2400" b="1" dirty="0" smtClean="0"/>
              <a:t>                      B </a:t>
            </a:r>
            <a:r>
              <a:rPr lang="en-US" altLang="zh-CN" sz="2400" b="1" dirty="0" err="1" smtClean="0"/>
              <a:t>B</a:t>
            </a:r>
            <a:r>
              <a:rPr lang="en-US" altLang="zh-CN" sz="2400" b="1" dirty="0" smtClean="0"/>
              <a:t> ↙  </a:t>
            </a:r>
          </a:p>
          <a:p>
            <a:r>
              <a:rPr lang="en-US" altLang="zh-CN" sz="2400" b="1" dirty="0" smtClean="0"/>
              <a:t>                      A ↙ </a:t>
            </a:r>
            <a:endParaRPr lang="zh-CN" alt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004048" y="3933056"/>
            <a:ext cx="290175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/>
              <a:t>A         </a:t>
            </a:r>
            <a:r>
              <a:rPr lang="en-US" altLang="zh-CN" sz="2400" b="1" dirty="0" err="1" smtClean="0"/>
              <a:t>A</a:t>
            </a:r>
            <a:r>
              <a:rPr lang="en-US" altLang="zh-CN" sz="2400" b="1" dirty="0" smtClean="0"/>
              <a:t>↙   </a:t>
            </a:r>
          </a:p>
          <a:p>
            <a:r>
              <a:rPr lang="en-US" altLang="zh-CN" sz="2400" b="1" dirty="0" smtClean="0"/>
              <a:t>B     </a:t>
            </a:r>
            <a:r>
              <a:rPr lang="en-US" altLang="zh-CN" sz="2400" b="1" dirty="0" err="1" smtClean="0"/>
              <a:t>B</a:t>
            </a:r>
            <a:r>
              <a:rPr lang="en-US" altLang="zh-CN" sz="2400" b="1" dirty="0" smtClean="0"/>
              <a:t> ↙  </a:t>
            </a:r>
          </a:p>
          <a:p>
            <a:r>
              <a:rPr lang="en-US" altLang="zh-CN" sz="2400" b="1" dirty="0" smtClean="0"/>
              <a:t>C </a:t>
            </a:r>
            <a:r>
              <a:rPr lang="en-US" altLang="zh-CN" sz="2400" b="1" dirty="0" err="1" smtClean="0"/>
              <a:t>C</a:t>
            </a:r>
            <a:r>
              <a:rPr lang="en-US" altLang="zh-CN" sz="2400" b="1" dirty="0" smtClean="0"/>
              <a:t> ↙</a:t>
            </a:r>
          </a:p>
          <a:p>
            <a:r>
              <a:rPr lang="en-US" altLang="zh-CN" sz="2400" b="1" dirty="0" smtClean="0"/>
              <a:t>D↙              </a:t>
            </a:r>
            <a:r>
              <a:rPr lang="zh-CN" altLang="en-US" sz="2400" b="1" dirty="0" smtClean="0"/>
              <a:t>（</a:t>
            </a:r>
            <a:r>
              <a:rPr lang="en-US" altLang="zh-CN" sz="2400" b="1" dirty="0" smtClean="0"/>
              <a:t>B</a:t>
            </a:r>
            <a:r>
              <a:rPr lang="zh-CN" altLang="en-US" sz="2400" b="1" dirty="0" smtClean="0"/>
              <a:t>卷）</a:t>
            </a:r>
            <a:endParaRPr lang="en-US" altLang="zh-CN" sz="2400" b="1" dirty="0" smtClean="0"/>
          </a:p>
          <a:p>
            <a:r>
              <a:rPr lang="en-US" altLang="zh-CN" sz="2400" b="1" dirty="0" smtClean="0"/>
              <a:t>C </a:t>
            </a:r>
            <a:r>
              <a:rPr lang="en-US" altLang="zh-CN" sz="2400" b="1" dirty="0" err="1" smtClean="0"/>
              <a:t>C</a:t>
            </a:r>
            <a:r>
              <a:rPr lang="en-US" altLang="zh-CN" sz="2400" b="1" dirty="0" smtClean="0"/>
              <a:t> ↙ </a:t>
            </a:r>
          </a:p>
          <a:p>
            <a:r>
              <a:rPr lang="en-US" altLang="zh-CN" sz="2400" b="1" dirty="0" smtClean="0"/>
              <a:t>B     </a:t>
            </a:r>
            <a:r>
              <a:rPr lang="en-US" altLang="zh-CN" sz="2400" b="1" dirty="0" err="1" smtClean="0"/>
              <a:t>B</a:t>
            </a:r>
            <a:r>
              <a:rPr lang="en-US" altLang="zh-CN" sz="2400" b="1" dirty="0" smtClean="0"/>
              <a:t> ↙  </a:t>
            </a:r>
          </a:p>
          <a:p>
            <a:r>
              <a:rPr lang="en-US" altLang="zh-CN" sz="2400" b="1" dirty="0" smtClean="0"/>
              <a:t>A          </a:t>
            </a:r>
            <a:r>
              <a:rPr lang="en-US" altLang="zh-CN" sz="2400" b="1" dirty="0" err="1" smtClean="0"/>
              <a:t>A</a:t>
            </a:r>
            <a:r>
              <a:rPr lang="en-US" altLang="zh-CN" sz="2400" b="1" dirty="0" smtClean="0"/>
              <a:t>↙ </a:t>
            </a:r>
            <a:endParaRPr lang="zh-CN" altLang="en-US" sz="2400" b="1" dirty="0" smtClean="0"/>
          </a:p>
          <a:p>
            <a:endParaRPr lang="zh-CN" altLang="en-US" dirty="0"/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1115616" y="704088"/>
            <a:ext cx="7571184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</a:t>
            </a:r>
            <a:r>
              <a:rPr kumimoji="0" lang="zh-CN" alt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语言考试真题</a:t>
            </a:r>
            <a:r>
              <a:rPr kumimoji="0" lang="en-US" altLang="zh-CN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(1)</a:t>
            </a:r>
            <a:endParaRPr kumimoji="0" lang="zh-CN" altLang="en-US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82274" y="620688"/>
            <a:ext cx="6506909" cy="415498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zh-CN" sz="2400" b="1" dirty="0"/>
              <a:t>编程</a:t>
            </a:r>
            <a:r>
              <a:rPr lang="en-US" altLang="zh-CN" sz="2400" b="1" dirty="0"/>
              <a:t>, </a:t>
            </a:r>
            <a:r>
              <a:rPr lang="zh-CN" altLang="zh-CN" sz="2400" b="1" dirty="0"/>
              <a:t>输入顶行字符和图形的高。输出如</a:t>
            </a:r>
            <a:r>
              <a:rPr lang="zh-CN" altLang="zh-CN" sz="2400" b="1" dirty="0" smtClean="0"/>
              <a:t>下例</a:t>
            </a:r>
            <a:endParaRPr lang="en-US" altLang="zh-CN" sz="2400" b="1" dirty="0" smtClean="0"/>
          </a:p>
          <a:p>
            <a:r>
              <a:rPr lang="zh-CN" altLang="zh-CN" sz="2400" b="1" dirty="0" smtClean="0"/>
              <a:t>（</a:t>
            </a:r>
            <a:r>
              <a:rPr lang="zh-CN" altLang="zh-CN" sz="2400" b="1" dirty="0"/>
              <a:t>顶行字符为</a:t>
            </a:r>
            <a:r>
              <a:rPr lang="en-US" altLang="zh-CN" sz="2400" b="1" dirty="0"/>
              <a:t>'A'</a:t>
            </a:r>
            <a:r>
              <a:rPr lang="zh-CN" altLang="zh-CN" sz="2400" b="1" dirty="0"/>
              <a:t>，图形的高为</a:t>
            </a:r>
            <a:r>
              <a:rPr lang="en-US" altLang="zh-CN" sz="2400" b="1" dirty="0"/>
              <a:t>5</a:t>
            </a:r>
            <a:r>
              <a:rPr lang="zh-CN" altLang="zh-CN" sz="2400" b="1" dirty="0"/>
              <a:t>）所示的图形。</a:t>
            </a:r>
          </a:p>
          <a:p>
            <a:r>
              <a:rPr lang="en-US" altLang="zh-CN" sz="2400" b="1" dirty="0" smtClean="0"/>
              <a:t>                    A</a:t>
            </a:r>
            <a:endParaRPr lang="zh-CN" altLang="zh-CN" sz="2400" b="1" dirty="0"/>
          </a:p>
          <a:p>
            <a:r>
              <a:rPr lang="en-US" altLang="zh-CN" sz="2400" b="1" dirty="0" smtClean="0"/>
              <a:t>                  </a:t>
            </a:r>
            <a:r>
              <a:rPr lang="en-US" altLang="zh-CN" sz="2400" b="1" dirty="0"/>
              <a:t>B   </a:t>
            </a:r>
            <a:r>
              <a:rPr lang="en-US" altLang="zh-CN" sz="2400" b="1" dirty="0" err="1"/>
              <a:t>B</a:t>
            </a:r>
            <a:endParaRPr lang="zh-CN" altLang="zh-CN" sz="2400" b="1" dirty="0"/>
          </a:p>
          <a:p>
            <a:r>
              <a:rPr lang="en-US" altLang="zh-CN" sz="2400" b="1" dirty="0" smtClean="0"/>
              <a:t>                </a:t>
            </a:r>
            <a:r>
              <a:rPr lang="en-US" altLang="zh-CN" sz="2400" b="1" dirty="0"/>
              <a:t>C       </a:t>
            </a:r>
            <a:r>
              <a:rPr lang="en-US" altLang="zh-CN" sz="2400" b="1" dirty="0" err="1"/>
              <a:t>C</a:t>
            </a:r>
            <a:endParaRPr lang="zh-CN" altLang="zh-CN" sz="2400" b="1" dirty="0"/>
          </a:p>
          <a:p>
            <a:r>
              <a:rPr lang="en-US" altLang="zh-CN" sz="2400" b="1" dirty="0" smtClean="0"/>
              <a:t>              D           </a:t>
            </a:r>
            <a:r>
              <a:rPr lang="en-US" altLang="zh-CN" sz="2400" b="1" dirty="0" err="1"/>
              <a:t>D</a:t>
            </a:r>
            <a:endParaRPr lang="zh-CN" altLang="zh-CN" sz="2400" b="1" dirty="0"/>
          </a:p>
          <a:p>
            <a:r>
              <a:rPr lang="en-US" altLang="zh-CN" sz="2400" b="1" dirty="0" smtClean="0"/>
              <a:t>            E               </a:t>
            </a:r>
            <a:r>
              <a:rPr lang="en-US" altLang="zh-CN" sz="2400" b="1" dirty="0" err="1"/>
              <a:t>E</a:t>
            </a:r>
            <a:endParaRPr lang="zh-CN" altLang="zh-CN" sz="2400" b="1" dirty="0"/>
          </a:p>
          <a:p>
            <a:r>
              <a:rPr lang="en-US" altLang="zh-CN" sz="2400" b="1" dirty="0" smtClean="0"/>
              <a:t>              D           </a:t>
            </a:r>
            <a:r>
              <a:rPr lang="en-US" altLang="zh-CN" sz="2400" b="1" dirty="0" err="1"/>
              <a:t>D</a:t>
            </a:r>
            <a:endParaRPr lang="zh-CN" altLang="zh-CN" sz="2400" b="1" dirty="0"/>
          </a:p>
          <a:p>
            <a:r>
              <a:rPr lang="en-US" altLang="zh-CN" sz="2400" b="1" dirty="0" smtClean="0"/>
              <a:t>                </a:t>
            </a:r>
            <a:r>
              <a:rPr lang="en-US" altLang="zh-CN" sz="2400" b="1" dirty="0"/>
              <a:t>C       </a:t>
            </a:r>
            <a:r>
              <a:rPr lang="en-US" altLang="zh-CN" sz="2400" b="1" dirty="0" err="1"/>
              <a:t>C</a:t>
            </a:r>
            <a:endParaRPr lang="zh-CN" altLang="zh-CN" sz="2400" b="1" dirty="0"/>
          </a:p>
          <a:p>
            <a:r>
              <a:rPr lang="en-US" altLang="zh-CN" sz="2400" b="1" dirty="0" smtClean="0"/>
              <a:t>                  </a:t>
            </a:r>
            <a:r>
              <a:rPr lang="en-US" altLang="zh-CN" sz="2400" b="1" dirty="0"/>
              <a:t>B   </a:t>
            </a:r>
            <a:r>
              <a:rPr lang="en-US" altLang="zh-CN" sz="2400" b="1" dirty="0" err="1"/>
              <a:t>B</a:t>
            </a:r>
            <a:endParaRPr lang="zh-CN" altLang="zh-CN" sz="2400" b="1" dirty="0"/>
          </a:p>
          <a:p>
            <a:r>
              <a:rPr lang="en-US" altLang="zh-CN" sz="2400" b="1" dirty="0" smtClean="0"/>
              <a:t>                    A</a:t>
            </a:r>
            <a:r>
              <a:rPr lang="zh-CN" altLang="zh-CN" sz="2400" b="1" dirty="0"/>
              <a:t>　　　　　　　　</a:t>
            </a:r>
          </a:p>
        </p:txBody>
      </p:sp>
    </p:spTree>
    <p:extLst>
      <p:ext uri="{BB962C8B-B14F-4D97-AF65-F5344CB8AC3E}">
        <p14:creationId xmlns:p14="http://schemas.microsoft.com/office/powerpoint/2010/main" val="33526208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82274" y="620688"/>
            <a:ext cx="93576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CN" sz="2400" b="1" dirty="0" smtClean="0"/>
              <a:t>Excel</a:t>
            </a:r>
          </a:p>
          <a:p>
            <a:endParaRPr lang="zh-CN" altLang="zh-CN" sz="24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521" y="116632"/>
            <a:ext cx="6829425" cy="351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356992"/>
            <a:ext cx="3762375" cy="332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293096"/>
            <a:ext cx="2771775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61839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91680" y="44624"/>
            <a:ext cx="5434886" cy="686341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#include &lt;</a:t>
            </a:r>
            <a:r>
              <a:rPr lang="en-US" altLang="zh-CN" sz="2000" b="1" dirty="0" err="1" smtClean="0">
                <a:latin typeface="Calibri" pitchFamily="34" charset="0"/>
                <a:cs typeface="Calibri" pitchFamily="34" charset="0"/>
              </a:rPr>
              <a:t>stdio.h</a:t>
            </a:r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&gt;</a:t>
            </a:r>
          </a:p>
          <a:p>
            <a:r>
              <a:rPr lang="en-US" altLang="zh-CN" sz="2000" b="1" dirty="0" err="1" smtClean="0">
                <a:latin typeface="Calibri" pitchFamily="34" charset="0"/>
                <a:cs typeface="Calibri" pitchFamily="34" charset="0"/>
              </a:rPr>
              <a:t>int</a:t>
            </a:r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 main()</a:t>
            </a:r>
          </a:p>
          <a:p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{</a:t>
            </a:r>
          </a:p>
          <a:p>
            <a:r>
              <a:rPr lang="en-US" altLang="zh-CN" sz="2000" b="1" dirty="0" err="1" smtClean="0">
                <a:latin typeface="Calibri" pitchFamily="34" charset="0"/>
                <a:cs typeface="Calibri" pitchFamily="34" charset="0"/>
              </a:rPr>
              <a:t>int</a:t>
            </a:r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altLang="zh-CN" sz="2000" b="1" dirty="0" err="1" smtClean="0">
                <a:latin typeface="Calibri" pitchFamily="34" charset="0"/>
                <a:cs typeface="Calibri" pitchFamily="34" charset="0"/>
              </a:rPr>
              <a:t>i,j,k,n</a:t>
            </a:r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;</a:t>
            </a:r>
          </a:p>
          <a:p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char </a:t>
            </a:r>
            <a:r>
              <a:rPr lang="en-US" altLang="zh-CN" sz="2000" b="1" dirty="0" err="1" smtClean="0">
                <a:latin typeface="Calibri" pitchFamily="34" charset="0"/>
                <a:cs typeface="Calibri" pitchFamily="34" charset="0"/>
              </a:rPr>
              <a:t>abc</a:t>
            </a:r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;</a:t>
            </a:r>
          </a:p>
          <a:p>
            <a:r>
              <a:rPr lang="en-US" altLang="zh-CN" sz="2000" b="1" dirty="0" err="1" smtClean="0">
                <a:latin typeface="Calibri" pitchFamily="34" charset="0"/>
                <a:cs typeface="Calibri" pitchFamily="34" charset="0"/>
              </a:rPr>
              <a:t>printf</a:t>
            </a:r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("\</a:t>
            </a:r>
            <a:r>
              <a:rPr lang="en-US" altLang="zh-CN" sz="2000" b="1" dirty="0" err="1" smtClean="0">
                <a:latin typeface="Calibri" pitchFamily="34" charset="0"/>
                <a:cs typeface="Calibri" pitchFamily="34" charset="0"/>
              </a:rPr>
              <a:t>nInput</a:t>
            </a:r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 char c=");</a:t>
            </a:r>
          </a:p>
          <a:p>
            <a:r>
              <a:rPr lang="en-US" altLang="zh-CN" sz="2000" b="1" dirty="0" err="1" smtClean="0">
                <a:latin typeface="Calibri" pitchFamily="34" charset="0"/>
                <a:cs typeface="Calibri" pitchFamily="34" charset="0"/>
              </a:rPr>
              <a:t>scanf</a:t>
            </a:r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("%</a:t>
            </a:r>
            <a:r>
              <a:rPr lang="en-US" altLang="zh-CN" sz="2000" b="1" dirty="0" err="1" smtClean="0">
                <a:latin typeface="Calibri" pitchFamily="34" charset="0"/>
                <a:cs typeface="Calibri" pitchFamily="34" charset="0"/>
              </a:rPr>
              <a:t>c",&amp;abc</a:t>
            </a:r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);</a:t>
            </a:r>
          </a:p>
          <a:p>
            <a:r>
              <a:rPr lang="en-US" altLang="zh-CN" sz="2000" b="1" dirty="0" err="1" smtClean="0">
                <a:latin typeface="Calibri" pitchFamily="34" charset="0"/>
                <a:cs typeface="Calibri" pitchFamily="34" charset="0"/>
              </a:rPr>
              <a:t>printf</a:t>
            </a:r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("\</a:t>
            </a:r>
            <a:r>
              <a:rPr lang="en-US" altLang="zh-CN" sz="2000" b="1" dirty="0" err="1" smtClean="0">
                <a:latin typeface="Calibri" pitchFamily="34" charset="0"/>
                <a:cs typeface="Calibri" pitchFamily="34" charset="0"/>
              </a:rPr>
              <a:t>nInput</a:t>
            </a:r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 n=");</a:t>
            </a:r>
          </a:p>
          <a:p>
            <a:r>
              <a:rPr lang="en-US" altLang="zh-CN" sz="2000" b="1" dirty="0" err="1" smtClean="0">
                <a:latin typeface="Calibri" pitchFamily="34" charset="0"/>
                <a:cs typeface="Calibri" pitchFamily="34" charset="0"/>
              </a:rPr>
              <a:t>scanf</a:t>
            </a:r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("%</a:t>
            </a:r>
            <a:r>
              <a:rPr lang="en-US" altLang="zh-CN" sz="2000" b="1" dirty="0" err="1" smtClean="0">
                <a:latin typeface="Calibri" pitchFamily="34" charset="0"/>
                <a:cs typeface="Calibri" pitchFamily="34" charset="0"/>
              </a:rPr>
              <a:t>d",&amp;n</a:t>
            </a:r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);</a:t>
            </a:r>
          </a:p>
          <a:p>
            <a:endParaRPr lang="zh-CN" altLang="en-US" sz="2000" b="1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for(</a:t>
            </a:r>
            <a:r>
              <a:rPr lang="en-US" altLang="zh-CN" sz="2000" b="1" dirty="0" err="1" smtClean="0">
                <a:latin typeface="Calibri" pitchFamily="34" charset="0"/>
                <a:cs typeface="Calibri" pitchFamily="34" charset="0"/>
              </a:rPr>
              <a:t>i</a:t>
            </a:r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=1;i&lt;=2*n-1;i++)</a:t>
            </a:r>
          </a:p>
          <a:p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{</a:t>
            </a:r>
          </a:p>
          <a:p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if(</a:t>
            </a:r>
            <a:r>
              <a:rPr lang="en-US" altLang="zh-CN" sz="2000" b="1" dirty="0" err="1" smtClean="0">
                <a:latin typeface="Calibri" pitchFamily="34" charset="0"/>
                <a:cs typeface="Calibri" pitchFamily="34" charset="0"/>
              </a:rPr>
              <a:t>i</a:t>
            </a:r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&lt;=n)k=</a:t>
            </a:r>
            <a:r>
              <a:rPr lang="en-US" altLang="zh-CN" sz="2000" b="1" dirty="0" err="1" smtClean="0">
                <a:latin typeface="Calibri" pitchFamily="34" charset="0"/>
                <a:cs typeface="Calibri" pitchFamily="34" charset="0"/>
              </a:rPr>
              <a:t>i</a:t>
            </a:r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;</a:t>
            </a:r>
          </a:p>
          <a:p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else k=2*n-</a:t>
            </a:r>
            <a:r>
              <a:rPr lang="en-US" altLang="zh-CN" sz="2000" b="1" dirty="0" err="1" smtClean="0">
                <a:latin typeface="Calibri" pitchFamily="34" charset="0"/>
                <a:cs typeface="Calibri" pitchFamily="34" charset="0"/>
              </a:rPr>
              <a:t>i</a:t>
            </a:r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;</a:t>
            </a:r>
          </a:p>
          <a:p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for(j=1;j&lt;=n-</a:t>
            </a:r>
            <a:r>
              <a:rPr lang="en-US" altLang="zh-CN" sz="2000" b="1" dirty="0" err="1" smtClean="0">
                <a:latin typeface="Calibri" pitchFamily="34" charset="0"/>
                <a:cs typeface="Calibri" pitchFamily="34" charset="0"/>
              </a:rPr>
              <a:t>k;j</a:t>
            </a:r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++)</a:t>
            </a:r>
          </a:p>
          <a:p>
            <a:r>
              <a:rPr lang="en-US" altLang="zh-CN" sz="2000" b="1" dirty="0" err="1" smtClean="0">
                <a:latin typeface="Calibri" pitchFamily="34" charset="0"/>
                <a:cs typeface="Calibri" pitchFamily="34" charset="0"/>
              </a:rPr>
              <a:t>printf</a:t>
            </a:r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(" ");</a:t>
            </a:r>
          </a:p>
          <a:p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for(j=1;j&lt;=2*k-1;j++)</a:t>
            </a:r>
          </a:p>
          <a:p>
            <a:r>
              <a:rPr lang="en-US" altLang="zh-CN" sz="2000" b="1" dirty="0" err="1" smtClean="0">
                <a:latin typeface="Calibri" pitchFamily="34" charset="0"/>
                <a:cs typeface="Calibri" pitchFamily="34" charset="0"/>
              </a:rPr>
              <a:t>printf</a:t>
            </a:r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("%</a:t>
            </a:r>
            <a:r>
              <a:rPr lang="en-US" altLang="zh-CN" sz="2000" b="1" dirty="0" err="1" smtClean="0">
                <a:latin typeface="Calibri" pitchFamily="34" charset="0"/>
                <a:cs typeface="Calibri" pitchFamily="34" charset="0"/>
              </a:rPr>
              <a:t>c",j</a:t>
            </a:r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==1||j==2*k-1?abc+k-1:' ');</a:t>
            </a:r>
          </a:p>
          <a:p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//if(j==1||j==2*k-1) </a:t>
            </a:r>
            <a:r>
              <a:rPr lang="zh-CN" altLang="en-US" sz="2000" b="1" dirty="0" smtClean="0">
                <a:latin typeface="Calibri" pitchFamily="34" charset="0"/>
                <a:cs typeface="Calibri" pitchFamily="34" charset="0"/>
              </a:rPr>
              <a:t>输出</a:t>
            </a:r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abc+k-1 </a:t>
            </a:r>
            <a:r>
              <a:rPr lang="zh-CN" altLang="en-US" sz="2000" b="1" dirty="0" smtClean="0">
                <a:latin typeface="Calibri" pitchFamily="34" charset="0"/>
                <a:cs typeface="Calibri" pitchFamily="34" charset="0"/>
              </a:rPr>
              <a:t>否则输出空格</a:t>
            </a:r>
          </a:p>
          <a:p>
            <a:r>
              <a:rPr lang="en-US" altLang="zh-CN" sz="2000" b="1" dirty="0" err="1" smtClean="0">
                <a:latin typeface="Calibri" pitchFamily="34" charset="0"/>
                <a:cs typeface="Calibri" pitchFamily="34" charset="0"/>
              </a:rPr>
              <a:t>printf</a:t>
            </a:r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("\n");</a:t>
            </a:r>
          </a:p>
          <a:p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}return 0</a:t>
            </a:r>
            <a:r>
              <a:rPr lang="zh-CN" altLang="en-US" sz="2000" b="1" dirty="0" smtClean="0">
                <a:latin typeface="Calibri" pitchFamily="34" charset="0"/>
                <a:cs typeface="Calibri" pitchFamily="34" charset="0"/>
              </a:rPr>
              <a:t>；</a:t>
            </a:r>
            <a:endParaRPr lang="en-US" altLang="zh-CN" sz="2000" b="1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altLang="zh-CN" sz="2000" b="1" dirty="0" smtClean="0">
                <a:latin typeface="Calibri" pitchFamily="34" charset="0"/>
                <a:cs typeface="Calibri" pitchFamily="34" charset="0"/>
              </a:rPr>
              <a:t>}</a:t>
            </a:r>
            <a:endParaRPr lang="zh-CN" altLang="zh-CN" sz="1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508104" y="1628800"/>
            <a:ext cx="32403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说明：经高吴林涧同学同意在此引用此代码及其上一页的思路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161839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5616" y="704088"/>
            <a:ext cx="7571184" cy="1143000"/>
          </a:xfrm>
        </p:spPr>
        <p:txBody>
          <a:bodyPr/>
          <a:lstStyle/>
          <a:p>
            <a:r>
              <a:rPr lang="en-US" altLang="zh-CN" dirty="0" smtClean="0"/>
              <a:t>for(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=1;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&lt;=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</a:rPr>
              <a:t>n</a:t>
            </a:r>
            <a:r>
              <a:rPr lang="en-US" altLang="zh-CN" dirty="0" smtClean="0"/>
              <a:t>;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++)</a:t>
            </a:r>
            <a:r>
              <a:rPr lang="zh-CN" altLang="en-US" dirty="0" smtClean="0"/>
              <a:t>之后</a:t>
            </a:r>
            <a:r>
              <a:rPr lang="en-US" altLang="zh-CN" dirty="0" smtClean="0"/>
              <a:t>……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1043608" y="1916832"/>
            <a:ext cx="3453780" cy="4443488"/>
          </a:xfrm>
        </p:spPr>
        <p:txBody>
          <a:bodyPr/>
          <a:lstStyle/>
          <a:p>
            <a:r>
              <a:rPr lang="zh-CN" altLang="en-US" b="1" dirty="0" smtClean="0"/>
              <a:t>正方形：</a:t>
            </a:r>
            <a:endParaRPr lang="en-US" altLang="zh-CN" b="1" dirty="0" smtClean="0"/>
          </a:p>
          <a:p>
            <a:r>
              <a:rPr lang="zh-CN" altLang="en-US" b="1" dirty="0" smtClean="0"/>
              <a:t>正向直角三角形：</a:t>
            </a:r>
            <a:endParaRPr lang="en-US" altLang="zh-CN" b="1" dirty="0" smtClean="0"/>
          </a:p>
          <a:p>
            <a:r>
              <a:rPr lang="zh-CN" altLang="en-US" b="1" dirty="0" smtClean="0"/>
              <a:t>反向直角三角形：</a:t>
            </a:r>
            <a:endParaRPr lang="en-US" altLang="zh-CN" b="1" dirty="0" smtClean="0"/>
          </a:p>
          <a:p>
            <a:r>
              <a:rPr lang="zh-CN" altLang="en-US" b="1" dirty="0" smtClean="0"/>
              <a:t>正向等腰三角形：</a:t>
            </a:r>
            <a:endParaRPr lang="en-US" altLang="zh-CN" b="1" dirty="0" smtClean="0"/>
          </a:p>
          <a:p>
            <a:r>
              <a:rPr lang="zh-CN" altLang="en-US" b="1" dirty="0" smtClean="0"/>
              <a:t>反向等腰三角形：</a:t>
            </a:r>
            <a:endParaRPr lang="en-US" altLang="zh-CN" b="1" dirty="0" smtClean="0"/>
          </a:p>
          <a:p>
            <a:endParaRPr lang="en-US" altLang="zh-CN" b="1" dirty="0" smtClean="0"/>
          </a:p>
          <a:p>
            <a:r>
              <a:rPr lang="zh-CN" altLang="en-US" b="1" dirty="0" smtClean="0"/>
              <a:t>菱形：</a:t>
            </a:r>
            <a:endParaRPr lang="en-US" altLang="zh-CN" b="1" dirty="0" smtClean="0"/>
          </a:p>
          <a:p>
            <a:r>
              <a:rPr lang="en-US" altLang="zh-CN" b="1" dirty="0" smtClean="0"/>
              <a:t>for(</a:t>
            </a:r>
            <a:r>
              <a:rPr lang="en-US" altLang="zh-CN" b="1" dirty="0" err="1" smtClean="0"/>
              <a:t>i</a:t>
            </a:r>
            <a:r>
              <a:rPr lang="en-US" altLang="zh-CN" b="1" dirty="0" smtClean="0"/>
              <a:t>=1; </a:t>
            </a:r>
            <a:r>
              <a:rPr lang="en-US" altLang="zh-CN" b="1" dirty="0" err="1" smtClean="0"/>
              <a:t>i</a:t>
            </a:r>
            <a:r>
              <a:rPr lang="en-US" altLang="zh-CN" b="1" dirty="0" smtClean="0"/>
              <a:t>&lt;=n; </a:t>
            </a:r>
            <a:r>
              <a:rPr lang="en-US" altLang="zh-CN" b="1" dirty="0" err="1" smtClean="0"/>
              <a:t>i</a:t>
            </a:r>
            <a:r>
              <a:rPr lang="en-US" altLang="zh-CN" b="1" dirty="0" smtClean="0"/>
              <a:t>++) </a:t>
            </a:r>
            <a:r>
              <a:rPr lang="zh-CN" altLang="en-US" b="1" dirty="0" smtClean="0"/>
              <a:t>变成：</a:t>
            </a:r>
            <a:r>
              <a:rPr lang="en-US" altLang="zh-CN" b="1" dirty="0" smtClean="0"/>
              <a:t>for(</a:t>
            </a:r>
            <a:r>
              <a:rPr lang="en-US" altLang="zh-CN" b="1" dirty="0" err="1" smtClean="0"/>
              <a:t>i</a:t>
            </a:r>
            <a:r>
              <a:rPr lang="en-US" altLang="zh-CN" b="1" dirty="0" smtClean="0"/>
              <a:t>=1; </a:t>
            </a:r>
            <a:r>
              <a:rPr lang="en-US" altLang="zh-CN" b="1" dirty="0" err="1" smtClean="0"/>
              <a:t>i</a:t>
            </a:r>
            <a:r>
              <a:rPr lang="en-US" altLang="zh-CN" b="1" dirty="0" smtClean="0"/>
              <a:t>&lt;=2</a:t>
            </a:r>
            <a:r>
              <a:rPr lang="zh-CN" altLang="en-US" b="1" dirty="0" smtClean="0"/>
              <a:t>*</a:t>
            </a:r>
            <a:r>
              <a:rPr lang="en-US" altLang="zh-CN" b="1" dirty="0" smtClean="0"/>
              <a:t>n-1; </a:t>
            </a:r>
            <a:r>
              <a:rPr lang="en-US" altLang="zh-CN" b="1" dirty="0" err="1" smtClean="0"/>
              <a:t>i</a:t>
            </a:r>
            <a:r>
              <a:rPr lang="en-US" altLang="zh-CN" b="1" dirty="0" smtClean="0"/>
              <a:t>++)</a:t>
            </a:r>
          </a:p>
          <a:p>
            <a:endParaRPr lang="zh-CN" altLang="en-US" b="1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916832"/>
            <a:ext cx="4041775" cy="4443488"/>
          </a:xfrm>
        </p:spPr>
        <p:txBody>
          <a:bodyPr>
            <a:normAutofit/>
          </a:bodyPr>
          <a:lstStyle/>
          <a:p>
            <a:r>
              <a:rPr lang="en-US" altLang="zh-CN" b="1" dirty="0" smtClean="0">
                <a:latin typeface="+mj-lt"/>
              </a:rPr>
              <a:t>for(j=1; j&lt;=n; j++)</a:t>
            </a:r>
          </a:p>
          <a:p>
            <a:r>
              <a:rPr lang="en-US" altLang="zh-CN" b="1" dirty="0" smtClean="0">
                <a:latin typeface="+mj-lt"/>
              </a:rPr>
              <a:t>for(j=1; j&lt;=</a:t>
            </a:r>
            <a:r>
              <a:rPr lang="en-US" altLang="zh-CN" b="1" dirty="0" err="1" smtClean="0">
                <a:latin typeface="+mj-lt"/>
              </a:rPr>
              <a:t>i</a:t>
            </a:r>
            <a:r>
              <a:rPr lang="en-US" altLang="zh-CN" b="1" dirty="0" smtClean="0">
                <a:latin typeface="+mj-lt"/>
              </a:rPr>
              <a:t>; j++)</a:t>
            </a:r>
          </a:p>
          <a:p>
            <a:r>
              <a:rPr lang="en-US" altLang="zh-CN" b="1" dirty="0" smtClean="0">
                <a:latin typeface="+mj-lt"/>
              </a:rPr>
              <a:t>for(j=1; j&lt;=n-i+1 ;j++)</a:t>
            </a:r>
          </a:p>
          <a:p>
            <a:r>
              <a:rPr lang="en-US" altLang="zh-CN" b="1" dirty="0" smtClean="0">
                <a:latin typeface="+mj-lt"/>
              </a:rPr>
              <a:t>for(j=n-i+1; j&lt;=n+i-1; j++)</a:t>
            </a:r>
          </a:p>
          <a:p>
            <a:r>
              <a:rPr lang="en-US" altLang="zh-CN" b="1" dirty="0" smtClean="0">
                <a:latin typeface="+mj-lt"/>
              </a:rPr>
              <a:t>for(j=</a:t>
            </a:r>
            <a:r>
              <a:rPr lang="en-US" altLang="zh-CN" b="1" dirty="0" err="1" smtClean="0">
                <a:latin typeface="+mj-lt"/>
              </a:rPr>
              <a:t>i</a:t>
            </a:r>
            <a:r>
              <a:rPr lang="en-US" altLang="zh-CN" b="1" dirty="0" smtClean="0">
                <a:latin typeface="+mj-lt"/>
              </a:rPr>
              <a:t>; j&lt;=2</a:t>
            </a:r>
            <a:r>
              <a:rPr lang="zh-CN" altLang="en-US" b="1" dirty="0" smtClean="0">
                <a:latin typeface="+mj-lt"/>
              </a:rPr>
              <a:t>*</a:t>
            </a:r>
            <a:r>
              <a:rPr lang="en-US" altLang="zh-CN" b="1" dirty="0" smtClean="0">
                <a:latin typeface="+mj-lt"/>
              </a:rPr>
              <a:t>n-</a:t>
            </a:r>
            <a:r>
              <a:rPr lang="en-US" altLang="zh-CN" b="1" dirty="0" err="1" smtClean="0">
                <a:latin typeface="+mj-lt"/>
              </a:rPr>
              <a:t>i</a:t>
            </a:r>
            <a:r>
              <a:rPr lang="en-US" altLang="zh-CN" b="1" dirty="0" smtClean="0">
                <a:latin typeface="+mj-lt"/>
              </a:rPr>
              <a:t>; j++)</a:t>
            </a:r>
          </a:p>
          <a:p>
            <a:endParaRPr lang="en-US" altLang="zh-CN" b="1" dirty="0" smtClean="0">
              <a:latin typeface="+mj-lt"/>
            </a:endParaRPr>
          </a:p>
          <a:p>
            <a:r>
              <a:rPr lang="en-US" altLang="zh-CN" b="1" dirty="0" smtClean="0">
                <a:latin typeface="+mj-lt"/>
              </a:rPr>
              <a:t>if(</a:t>
            </a:r>
            <a:r>
              <a:rPr lang="en-US" altLang="zh-CN" b="1" dirty="0" err="1" smtClean="0">
                <a:latin typeface="+mj-lt"/>
              </a:rPr>
              <a:t>i</a:t>
            </a:r>
            <a:r>
              <a:rPr lang="en-US" altLang="zh-CN" b="1" dirty="0" smtClean="0">
                <a:latin typeface="+mj-lt"/>
              </a:rPr>
              <a:t>&lt;=n)  k=</a:t>
            </a:r>
            <a:r>
              <a:rPr lang="en-US" altLang="zh-CN" b="1" dirty="0" err="1" smtClean="0">
                <a:latin typeface="+mj-lt"/>
              </a:rPr>
              <a:t>i</a:t>
            </a:r>
            <a:r>
              <a:rPr lang="en-US" altLang="zh-CN" b="1" dirty="0" smtClean="0">
                <a:latin typeface="+mj-lt"/>
              </a:rPr>
              <a:t>;     else  k=</a:t>
            </a:r>
            <a:r>
              <a:rPr lang="en-US" altLang="zh-CN" b="1" dirty="0" err="1" smtClean="0">
                <a:latin typeface="+mj-lt"/>
              </a:rPr>
              <a:t>i</a:t>
            </a:r>
            <a:r>
              <a:rPr lang="en-US" altLang="zh-CN" b="1" dirty="0" smtClean="0">
                <a:latin typeface="+mj-lt"/>
              </a:rPr>
              <a:t>-n;</a:t>
            </a:r>
          </a:p>
          <a:p>
            <a:r>
              <a:rPr lang="zh-CN" altLang="en-US" b="1" dirty="0" smtClean="0">
                <a:latin typeface="+mj-lt"/>
              </a:rPr>
              <a:t>然后将上面的</a:t>
            </a:r>
            <a:r>
              <a:rPr lang="en-US" altLang="zh-CN" b="1" dirty="0" err="1" smtClean="0">
                <a:latin typeface="+mj-lt"/>
              </a:rPr>
              <a:t>i</a:t>
            </a:r>
            <a:r>
              <a:rPr lang="zh-CN" altLang="en-US" b="1" dirty="0" smtClean="0">
                <a:latin typeface="+mj-lt"/>
              </a:rPr>
              <a:t>全部换成</a:t>
            </a:r>
            <a:r>
              <a:rPr lang="en-US" altLang="zh-CN" b="1" dirty="0" smtClean="0">
                <a:latin typeface="+mj-lt"/>
              </a:rPr>
              <a:t>k</a:t>
            </a:r>
          </a:p>
          <a:p>
            <a:r>
              <a:rPr lang="zh-CN" altLang="en-US" b="1" dirty="0" smtClean="0">
                <a:latin typeface="+mj-lt"/>
              </a:rPr>
              <a:t>正反向不变</a:t>
            </a:r>
            <a:endParaRPr lang="en-US" altLang="zh-CN" b="1" dirty="0" smtClean="0">
              <a:latin typeface="+mj-lt"/>
            </a:endParaRPr>
          </a:p>
          <a:p>
            <a:endParaRPr lang="en-US" altLang="zh-CN" b="1" dirty="0" smtClean="0">
              <a:latin typeface="+mj-lt"/>
            </a:endParaRPr>
          </a:p>
          <a:p>
            <a:endParaRPr lang="en-US" altLang="zh-CN" b="1" dirty="0" smtClean="0"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1"/>
      <p:bldP spid="6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75656" y="836712"/>
            <a:ext cx="65527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输入行数 </a:t>
            </a:r>
            <a:r>
              <a:rPr lang="en-US" altLang="zh-CN" sz="2400" b="1" dirty="0" smtClean="0"/>
              <a:t>n </a:t>
            </a:r>
            <a:r>
              <a:rPr lang="zh-CN" altLang="en-US" sz="2400" b="1" dirty="0" smtClean="0"/>
              <a:t>值和首字母，输出由大写英文字母围起的空心三角形。</a:t>
            </a:r>
          </a:p>
          <a:p>
            <a:r>
              <a:rPr lang="zh-CN" altLang="en-US" sz="2400" b="1" dirty="0" smtClean="0"/>
              <a:t>无论输入的首字母是大写或小写，输出的字母均是大写，且字母输出是循环的，即输出字母 </a:t>
            </a:r>
            <a:r>
              <a:rPr lang="en-US" altLang="zh-CN" sz="2400" b="1" dirty="0" smtClean="0"/>
              <a:t>Z </a:t>
            </a:r>
            <a:r>
              <a:rPr lang="zh-CN" altLang="en-US" sz="2400" b="1" dirty="0" smtClean="0"/>
              <a:t>后再输出的是字母 </a:t>
            </a:r>
            <a:r>
              <a:rPr lang="en-US" altLang="zh-CN" sz="2400" b="1" dirty="0" smtClean="0"/>
              <a:t>A</a:t>
            </a:r>
            <a:r>
              <a:rPr lang="zh-CN" altLang="en-US" sz="2400" b="1" dirty="0" smtClean="0"/>
              <a:t>。</a:t>
            </a:r>
          </a:p>
          <a:p>
            <a:r>
              <a:rPr lang="zh-CN" altLang="en-US" sz="2400" b="1" dirty="0" smtClean="0"/>
              <a:t>例：</a:t>
            </a:r>
            <a:endParaRPr lang="en-US" altLang="zh-CN" sz="2400" b="1" dirty="0" smtClean="0"/>
          </a:p>
          <a:p>
            <a:r>
              <a:rPr lang="zh-CN" altLang="en-US" sz="2400" b="1" dirty="0" smtClean="0"/>
              <a:t>输入：</a:t>
            </a:r>
            <a:r>
              <a:rPr lang="en-US" altLang="zh-CN" sz="2400" b="1" dirty="0" smtClean="0"/>
              <a:t>5  m↙</a:t>
            </a:r>
          </a:p>
          <a:p>
            <a:r>
              <a:rPr lang="zh-CN" altLang="en-US" sz="2400" b="1" dirty="0" smtClean="0"/>
              <a:t>屏幕输出</a:t>
            </a:r>
            <a:r>
              <a:rPr lang="en-US" altLang="zh-CN" sz="2400" b="1" dirty="0" smtClean="0"/>
              <a:t>:     M↙</a:t>
            </a:r>
          </a:p>
          <a:p>
            <a:r>
              <a:rPr lang="en-US" altLang="zh-CN" sz="2400" b="1" dirty="0" smtClean="0"/>
              <a:t>                    N      </a:t>
            </a:r>
            <a:r>
              <a:rPr lang="en-US" altLang="zh-CN" sz="2400" b="1" dirty="0" err="1" smtClean="0"/>
              <a:t>N</a:t>
            </a:r>
            <a:r>
              <a:rPr lang="en-US" altLang="zh-CN" sz="2400" b="1" dirty="0" smtClean="0"/>
              <a:t>↙</a:t>
            </a:r>
          </a:p>
          <a:p>
            <a:r>
              <a:rPr lang="en-US" altLang="zh-CN" sz="2400" b="1" dirty="0" smtClean="0"/>
              <a:t>                 O            </a:t>
            </a:r>
            <a:r>
              <a:rPr lang="en-US" altLang="zh-CN" sz="2400" b="1" dirty="0" err="1" smtClean="0"/>
              <a:t>O</a:t>
            </a:r>
            <a:r>
              <a:rPr lang="en-US" altLang="zh-CN" sz="2400" b="1" dirty="0" smtClean="0"/>
              <a:t>↙</a:t>
            </a:r>
          </a:p>
          <a:p>
            <a:r>
              <a:rPr lang="en-US" altLang="zh-CN" sz="2400" b="1" dirty="0" smtClean="0"/>
              <a:t>              P                     </a:t>
            </a:r>
            <a:r>
              <a:rPr lang="en-US" altLang="zh-CN" sz="2400" b="1" dirty="0" err="1" smtClean="0"/>
              <a:t>P</a:t>
            </a:r>
            <a:r>
              <a:rPr lang="en-US" altLang="zh-CN" sz="2400" b="1" dirty="0" smtClean="0"/>
              <a:t>↙</a:t>
            </a:r>
          </a:p>
          <a:p>
            <a:r>
              <a:rPr lang="en-US" altLang="zh-CN" sz="2400" b="1" dirty="0" smtClean="0"/>
              <a:t>          Q R S T U T S R Q↙ </a:t>
            </a:r>
            <a:endParaRPr lang="zh-CN" altLang="en-US" sz="2400" b="1" dirty="0"/>
          </a:p>
        </p:txBody>
      </p:sp>
      <p:sp>
        <p:nvSpPr>
          <p:cNvPr id="3" name="五边形 2">
            <a:hlinkClick r:id="rId2" action="ppaction://hlinkfile"/>
          </p:cNvPr>
          <p:cNvSpPr/>
          <p:nvPr/>
        </p:nvSpPr>
        <p:spPr>
          <a:xfrm>
            <a:off x="5868144" y="3933056"/>
            <a:ext cx="1656184" cy="720080"/>
          </a:xfrm>
          <a:prstGeom prst="homePlat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5400000"/>
              </a:camera>
              <a:lightRig rig="threePt" dir="t"/>
            </a:scene3d>
          </a:bodyPr>
          <a:lstStyle/>
          <a:p>
            <a:pPr algn="ctr"/>
            <a:r>
              <a:rPr lang="zh-CN" altLang="en-US" b="1" dirty="0" smtClean="0"/>
              <a:t>打图形代码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3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19672" y="2060848"/>
            <a:ext cx="68407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+mn-ea"/>
              </a:rPr>
              <a:t>如果一个正整数等于其各个数字的立方和，则称该书为阿姆斯特朗数（亦称</a:t>
            </a:r>
            <a:r>
              <a:rPr lang="zh-CN" altLang="en-US" sz="2800" b="1" dirty="0" smtClean="0">
                <a:solidFill>
                  <a:srgbClr val="FF0000"/>
                </a:solidFill>
                <a:latin typeface="+mn-ea"/>
              </a:rPr>
              <a:t>自恋数</a:t>
            </a:r>
            <a:r>
              <a:rPr lang="zh-CN" altLang="en-US" sz="2800" b="1" dirty="0" smtClean="0">
                <a:latin typeface="+mn-ea"/>
              </a:rPr>
              <a:t>）。如</a:t>
            </a:r>
            <a:r>
              <a:rPr lang="en-US" altLang="zh-CN" sz="2800" b="1" dirty="0" smtClean="0">
                <a:latin typeface="+mn-ea"/>
              </a:rPr>
              <a:t>407</a:t>
            </a:r>
            <a:r>
              <a:rPr lang="en-US" altLang="zh-CN" sz="2800" b="1" baseline="30000" dirty="0" smtClean="0">
                <a:latin typeface="+mn-ea"/>
              </a:rPr>
              <a:t>2</a:t>
            </a:r>
            <a:r>
              <a:rPr lang="en-US" altLang="zh-CN" sz="2800" b="1" dirty="0" smtClean="0">
                <a:latin typeface="+mn-ea"/>
              </a:rPr>
              <a:t>=4</a:t>
            </a:r>
            <a:r>
              <a:rPr lang="en-US" altLang="zh-CN" sz="2800" b="1" baseline="30000" dirty="0" smtClean="0">
                <a:latin typeface="+mn-ea"/>
              </a:rPr>
              <a:t>3</a:t>
            </a:r>
            <a:r>
              <a:rPr lang="en-US" altLang="zh-CN" sz="2800" b="1" dirty="0" smtClean="0">
                <a:latin typeface="+mn-ea"/>
              </a:rPr>
              <a:t>+0</a:t>
            </a:r>
            <a:r>
              <a:rPr lang="en-US" altLang="zh-CN" sz="2800" b="1" baseline="30000" dirty="0" smtClean="0">
                <a:latin typeface="+mn-ea"/>
              </a:rPr>
              <a:t>3</a:t>
            </a:r>
            <a:r>
              <a:rPr lang="en-US" altLang="zh-CN" sz="2800" b="1" dirty="0" smtClean="0">
                <a:latin typeface="+mn-ea"/>
              </a:rPr>
              <a:t>+7</a:t>
            </a:r>
            <a:r>
              <a:rPr lang="en-US" altLang="zh-CN" sz="2800" b="1" baseline="30000" dirty="0" smtClean="0">
                <a:latin typeface="+mn-ea"/>
              </a:rPr>
              <a:t>3</a:t>
            </a:r>
            <a:r>
              <a:rPr lang="zh-CN" altLang="en-US" sz="2800" b="1" dirty="0" smtClean="0">
                <a:latin typeface="+mn-ea"/>
              </a:rPr>
              <a:t>就是一个阿姆斯特朗数。编写程序输出</a:t>
            </a:r>
            <a:r>
              <a:rPr lang="en-US" altLang="zh-CN" sz="2800" b="1" dirty="0" smtClean="0">
                <a:latin typeface="+mn-ea"/>
              </a:rPr>
              <a:t>1000</a:t>
            </a:r>
            <a:r>
              <a:rPr lang="zh-CN" altLang="en-US" sz="2800" b="1" dirty="0" smtClean="0">
                <a:latin typeface="+mn-ea"/>
              </a:rPr>
              <a:t>以内的所有阿姆斯特朗数。</a:t>
            </a:r>
            <a:endParaRPr lang="zh-CN" altLang="en-US" sz="2800" b="1" baseline="30000" dirty="0"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59632" y="764704"/>
            <a:ext cx="7416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latin typeface="华文行楷" pitchFamily="2" charset="-122"/>
                <a:ea typeface="华文行楷" pitchFamily="2" charset="-122"/>
              </a:rPr>
              <a:t>第二大题   穷举或字符串</a:t>
            </a:r>
            <a:endParaRPr lang="zh-CN" altLang="en-US" sz="3600" dirty="0"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15616" y="0"/>
            <a:ext cx="7425431" cy="68634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latin typeface="+mj-lt"/>
              </a:rPr>
              <a:t>#include &lt;</a:t>
            </a:r>
            <a:r>
              <a:rPr lang="en-US" altLang="zh-CN" sz="2000" b="1" dirty="0" err="1" smtClean="0">
                <a:latin typeface="+mj-lt"/>
              </a:rPr>
              <a:t>stdio.h</a:t>
            </a:r>
            <a:r>
              <a:rPr lang="en-US" altLang="zh-CN" sz="2000" b="1" dirty="0" smtClean="0">
                <a:latin typeface="+mj-lt"/>
              </a:rPr>
              <a:t>&gt;</a:t>
            </a:r>
          </a:p>
          <a:p>
            <a:endParaRPr lang="en-US" altLang="zh-CN" sz="2000" b="1" dirty="0" smtClean="0">
              <a:latin typeface="+mj-lt"/>
            </a:endParaRPr>
          </a:p>
          <a:p>
            <a:r>
              <a:rPr lang="en-US" altLang="zh-CN" sz="2000" b="1" dirty="0" err="1" smtClean="0">
                <a:solidFill>
                  <a:srgbClr val="FF0000"/>
                </a:solidFill>
                <a:latin typeface="+mj-lt"/>
              </a:rPr>
              <a:t>int</a:t>
            </a:r>
            <a:r>
              <a:rPr lang="en-US" altLang="zh-CN" sz="2000" b="1" dirty="0" smtClean="0">
                <a:solidFill>
                  <a:srgbClr val="FF0000"/>
                </a:solidFill>
                <a:latin typeface="+mj-lt"/>
              </a:rPr>
              <a:t> cube(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+mj-lt"/>
              </a:rPr>
              <a:t>int</a:t>
            </a:r>
            <a:r>
              <a:rPr lang="en-US" altLang="zh-CN" sz="2000" b="1" dirty="0" smtClean="0">
                <a:solidFill>
                  <a:srgbClr val="FF0000"/>
                </a:solidFill>
                <a:latin typeface="+mj-lt"/>
              </a:rPr>
              <a:t> a)</a:t>
            </a:r>
          </a:p>
          <a:p>
            <a:r>
              <a:rPr lang="en-US" altLang="zh-CN" sz="2000" b="1" dirty="0" smtClean="0">
                <a:solidFill>
                  <a:srgbClr val="FF0000"/>
                </a:solidFill>
                <a:latin typeface="+mj-lt"/>
              </a:rPr>
              <a:t>{  return a*a*a;} </a:t>
            </a:r>
          </a:p>
          <a:p>
            <a:endParaRPr lang="en-US" altLang="zh-CN" sz="2000" b="1" dirty="0" smtClean="0">
              <a:latin typeface="+mj-lt"/>
            </a:endParaRPr>
          </a:p>
          <a:p>
            <a:r>
              <a:rPr lang="en-US" altLang="zh-CN" sz="2000" b="1" dirty="0" err="1" smtClean="0">
                <a:latin typeface="+mj-lt"/>
              </a:rPr>
              <a:t>int</a:t>
            </a:r>
            <a:r>
              <a:rPr lang="en-US" altLang="zh-CN" sz="2000" b="1" dirty="0" smtClean="0">
                <a:latin typeface="+mj-lt"/>
              </a:rPr>
              <a:t> main()</a:t>
            </a:r>
          </a:p>
          <a:p>
            <a:r>
              <a:rPr lang="en-US" altLang="zh-CN" sz="2000" b="1" dirty="0" smtClean="0">
                <a:latin typeface="+mj-lt"/>
              </a:rPr>
              <a:t>{ </a:t>
            </a:r>
          </a:p>
          <a:p>
            <a:r>
              <a:rPr lang="en-US" altLang="zh-CN" sz="2000" b="1" dirty="0" smtClean="0">
                <a:latin typeface="+mj-lt"/>
              </a:rPr>
              <a:t>	</a:t>
            </a:r>
            <a:r>
              <a:rPr lang="en-US" altLang="zh-CN" sz="2000" b="1" dirty="0" err="1" smtClean="0">
                <a:latin typeface="+mj-lt"/>
              </a:rPr>
              <a:t>int</a:t>
            </a:r>
            <a:r>
              <a:rPr lang="en-US" altLang="zh-CN" sz="2000" b="1" dirty="0" smtClean="0">
                <a:latin typeface="+mj-lt"/>
              </a:rPr>
              <a:t> </a:t>
            </a:r>
            <a:r>
              <a:rPr lang="en-US" altLang="zh-CN" sz="2000" b="1" dirty="0" err="1" smtClean="0">
                <a:latin typeface="+mj-lt"/>
              </a:rPr>
              <a:t>i,t,k,a</a:t>
            </a:r>
            <a:r>
              <a:rPr lang="en-US" altLang="zh-CN" sz="2000" b="1" dirty="0" smtClean="0">
                <a:latin typeface="+mj-lt"/>
              </a:rPr>
              <a:t>[4]={0};</a:t>
            </a:r>
          </a:p>
          <a:p>
            <a:r>
              <a:rPr lang="en-US" altLang="zh-CN" sz="2000" b="1" dirty="0" smtClean="0">
                <a:latin typeface="+mj-lt"/>
              </a:rPr>
              <a:t>	</a:t>
            </a:r>
            <a:r>
              <a:rPr lang="en-US" altLang="zh-CN" sz="2000" b="1" dirty="0" err="1" smtClean="0">
                <a:latin typeface="+mj-lt"/>
              </a:rPr>
              <a:t>printf</a:t>
            </a:r>
            <a:r>
              <a:rPr lang="en-US" altLang="zh-CN" sz="2000" b="1" dirty="0" smtClean="0">
                <a:latin typeface="+mj-lt"/>
              </a:rPr>
              <a:t>("Armstrong number smaller than 1000 are:\n");</a:t>
            </a:r>
          </a:p>
          <a:p>
            <a:r>
              <a:rPr lang="en-US" altLang="zh-CN" sz="2000" b="1" dirty="0" smtClean="0">
                <a:latin typeface="+mj-lt"/>
              </a:rPr>
              <a:t>	for(</a:t>
            </a:r>
            <a:r>
              <a:rPr lang="en-US" altLang="zh-CN" sz="2000" b="1" dirty="0" err="1" smtClean="0">
                <a:latin typeface="+mj-lt"/>
              </a:rPr>
              <a:t>i</a:t>
            </a:r>
            <a:r>
              <a:rPr lang="en-US" altLang="zh-CN" sz="2000" b="1" dirty="0" smtClean="0">
                <a:latin typeface="+mj-lt"/>
              </a:rPr>
              <a:t>=2;i&lt;=1000;i++)</a:t>
            </a:r>
          </a:p>
          <a:p>
            <a:r>
              <a:rPr lang="en-US" altLang="zh-CN" sz="2000" b="1" dirty="0" smtClean="0">
                <a:latin typeface="+mj-lt"/>
              </a:rPr>
              <a:t>	{</a:t>
            </a:r>
          </a:p>
          <a:p>
            <a:r>
              <a:rPr lang="en-US" altLang="zh-CN" sz="2000" b="1" dirty="0" smtClean="0">
                <a:latin typeface="+mj-lt"/>
              </a:rPr>
              <a:t>		for(t=0,k=1000;k&gt;=10;t++)       //</a:t>
            </a:r>
            <a:r>
              <a:rPr lang="zh-CN" altLang="en-US" sz="2000" b="1" dirty="0" smtClean="0">
                <a:latin typeface="+mj-lt"/>
              </a:rPr>
              <a:t>将整数拆分</a:t>
            </a:r>
            <a:endParaRPr lang="en-US" altLang="zh-CN" sz="2000" b="1" dirty="0" smtClean="0">
              <a:latin typeface="+mj-lt"/>
            </a:endParaRPr>
          </a:p>
          <a:p>
            <a:r>
              <a:rPr lang="en-US" altLang="zh-CN" sz="2000" b="1" dirty="0" smtClean="0">
                <a:latin typeface="+mj-lt"/>
              </a:rPr>
              <a:t>		{</a:t>
            </a:r>
          </a:p>
          <a:p>
            <a:r>
              <a:rPr lang="en-US" altLang="zh-CN" sz="2000" b="1" dirty="0" smtClean="0">
                <a:latin typeface="+mj-lt"/>
              </a:rPr>
              <a:t>			a[t]=(</a:t>
            </a:r>
            <a:r>
              <a:rPr lang="en-US" altLang="zh-CN" sz="2000" b="1" dirty="0" err="1" smtClean="0">
                <a:latin typeface="+mj-lt"/>
              </a:rPr>
              <a:t>i%k</a:t>
            </a:r>
            <a:r>
              <a:rPr lang="en-US" altLang="zh-CN" sz="2000" b="1" dirty="0" smtClean="0">
                <a:latin typeface="+mj-lt"/>
              </a:rPr>
              <a:t>)/(k/10);</a:t>
            </a:r>
          </a:p>
          <a:p>
            <a:r>
              <a:rPr lang="en-US" altLang="zh-CN" sz="2000" b="1" dirty="0" smtClean="0">
                <a:latin typeface="+mj-lt"/>
              </a:rPr>
              <a:t>			k/=10;</a:t>
            </a:r>
          </a:p>
          <a:p>
            <a:r>
              <a:rPr lang="en-US" altLang="zh-CN" sz="2000" b="1" dirty="0" smtClean="0">
                <a:latin typeface="+mj-lt"/>
              </a:rPr>
              <a:t>		}</a:t>
            </a:r>
          </a:p>
          <a:p>
            <a:r>
              <a:rPr lang="en-US" altLang="zh-CN" sz="2000" b="1" dirty="0" smtClean="0">
                <a:latin typeface="+mj-lt"/>
              </a:rPr>
              <a:t>		if(cube(a[0])+cube(a[1])+cube(a[2])+cube(a[3])==</a:t>
            </a:r>
            <a:r>
              <a:rPr lang="en-US" altLang="zh-CN" sz="2000" b="1" dirty="0" err="1" smtClean="0">
                <a:latin typeface="+mj-lt"/>
              </a:rPr>
              <a:t>i</a:t>
            </a:r>
            <a:r>
              <a:rPr lang="en-US" altLang="zh-CN" sz="2000" b="1" dirty="0" smtClean="0">
                <a:latin typeface="+mj-lt"/>
              </a:rPr>
              <a:t>)</a:t>
            </a:r>
          </a:p>
          <a:p>
            <a:r>
              <a:rPr lang="en-US" altLang="zh-CN" sz="2000" b="1" dirty="0" smtClean="0">
                <a:latin typeface="+mj-lt"/>
              </a:rPr>
              <a:t>			</a:t>
            </a:r>
            <a:r>
              <a:rPr lang="en-US" altLang="zh-CN" sz="2000" b="1" dirty="0" err="1" smtClean="0">
                <a:latin typeface="+mj-lt"/>
              </a:rPr>
              <a:t>printf</a:t>
            </a:r>
            <a:r>
              <a:rPr lang="en-US" altLang="zh-CN" sz="2000" b="1" dirty="0" smtClean="0">
                <a:latin typeface="+mj-lt"/>
              </a:rPr>
              <a:t>(“%d ”,</a:t>
            </a:r>
            <a:r>
              <a:rPr lang="en-US" altLang="zh-CN" sz="2000" b="1" dirty="0" err="1" smtClean="0">
                <a:latin typeface="+mj-lt"/>
              </a:rPr>
              <a:t>i</a:t>
            </a:r>
            <a:r>
              <a:rPr lang="en-US" altLang="zh-CN" sz="2000" b="1" dirty="0" smtClean="0">
                <a:latin typeface="+mj-lt"/>
              </a:rPr>
              <a:t>);        //</a:t>
            </a:r>
            <a:r>
              <a:rPr lang="zh-CN" altLang="en-US" sz="2000" b="1" dirty="0" smtClean="0">
                <a:latin typeface="+mj-lt"/>
              </a:rPr>
              <a:t>判断是否自恋</a:t>
            </a:r>
            <a:endParaRPr lang="en-US" altLang="zh-CN" sz="2000" b="1" dirty="0" smtClean="0">
              <a:latin typeface="+mj-lt"/>
            </a:endParaRPr>
          </a:p>
          <a:p>
            <a:r>
              <a:rPr lang="en-US" altLang="zh-CN" sz="2000" b="1" dirty="0" smtClean="0">
                <a:latin typeface="+mj-lt"/>
              </a:rPr>
              <a:t>	}</a:t>
            </a:r>
          </a:p>
          <a:p>
            <a:r>
              <a:rPr lang="en-US" altLang="zh-CN" sz="2000" b="1" dirty="0" smtClean="0">
                <a:latin typeface="+mj-lt"/>
              </a:rPr>
              <a:t>	</a:t>
            </a:r>
            <a:r>
              <a:rPr lang="en-US" altLang="zh-CN" sz="2000" b="1" dirty="0" err="1" smtClean="0">
                <a:latin typeface="+mj-lt"/>
              </a:rPr>
              <a:t>printf</a:t>
            </a:r>
            <a:r>
              <a:rPr lang="en-US" altLang="zh-CN" sz="2000" b="1" dirty="0" smtClean="0">
                <a:latin typeface="+mj-lt"/>
              </a:rPr>
              <a:t>("\n");</a:t>
            </a:r>
          </a:p>
          <a:p>
            <a:r>
              <a:rPr lang="en-US" altLang="zh-CN" sz="2000" b="1" dirty="0" smtClean="0">
                <a:latin typeface="+mj-lt"/>
              </a:rPr>
              <a:t>	return 0;</a:t>
            </a:r>
          </a:p>
          <a:p>
            <a:r>
              <a:rPr lang="en-US" altLang="zh-CN" sz="2000" b="1" dirty="0" smtClean="0">
                <a:latin typeface="+mj-lt"/>
              </a:rPr>
              <a:t>}</a:t>
            </a:r>
            <a:endParaRPr lang="zh-CN" altLang="en-US" sz="2000" b="1" dirty="0"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19672" y="2924944"/>
            <a:ext cx="6541855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zh-CN" sz="2000" b="1" dirty="0"/>
              <a:t>编程，输入一行文字，判断该行文字是否是回文。</a:t>
            </a:r>
          </a:p>
          <a:p>
            <a:r>
              <a:rPr lang="en-US" altLang="zh-CN" sz="2000" b="1" dirty="0"/>
              <a:t>     </a:t>
            </a:r>
            <a:r>
              <a:rPr lang="zh-CN" altLang="zh-CN" sz="2000" b="1" dirty="0"/>
              <a:t>　　例如，读入：</a:t>
            </a:r>
            <a:r>
              <a:rPr lang="en-US" altLang="zh-CN" sz="2000" b="1" dirty="0"/>
              <a:t>MA DAM I MAD AM       </a:t>
            </a:r>
            <a:r>
              <a:rPr lang="zh-CN" altLang="zh-CN" sz="2000" b="1" dirty="0"/>
              <a:t>输出：</a:t>
            </a:r>
            <a:r>
              <a:rPr lang="en-US" altLang="zh-CN" sz="2000" b="1" dirty="0"/>
              <a:t>YES</a:t>
            </a:r>
            <a:endParaRPr lang="zh-CN" altLang="zh-CN" sz="2000" b="1" dirty="0"/>
          </a:p>
          <a:p>
            <a:r>
              <a:rPr lang="zh-CN" altLang="zh-CN" sz="2000" b="1" dirty="0"/>
              <a:t>　　</a:t>
            </a:r>
            <a:r>
              <a:rPr lang="en-US" altLang="zh-CN" sz="2000" b="1" dirty="0"/>
              <a:t>     </a:t>
            </a:r>
            <a:r>
              <a:rPr lang="zh-CN" altLang="zh-CN" sz="2000" b="1" dirty="0"/>
              <a:t>　　　读入：</a:t>
            </a:r>
            <a:r>
              <a:rPr lang="en-US" altLang="zh-CN" sz="2000" b="1" dirty="0"/>
              <a:t>ABCDBA</a:t>
            </a:r>
            <a:r>
              <a:rPr lang="en-US" altLang="zh-CN" sz="2000" b="1" dirty="0" smtClean="0"/>
              <a:t>.           </a:t>
            </a:r>
            <a:r>
              <a:rPr lang="zh-CN" altLang="zh-CN" sz="2000" b="1" dirty="0"/>
              <a:t>输出：</a:t>
            </a:r>
            <a:r>
              <a:rPr lang="en-US" altLang="zh-CN" sz="2000" b="1" dirty="0"/>
              <a:t>NO</a:t>
            </a:r>
            <a:endParaRPr lang="zh-CN" altLang="zh-CN" sz="2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115616" y="785794"/>
            <a:ext cx="7742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latin typeface="华文琥珀" pitchFamily="2" charset="-122"/>
                <a:ea typeface="华文琥珀" pitchFamily="2" charset="-122"/>
              </a:rPr>
              <a:t>字符串处理</a:t>
            </a:r>
            <a:r>
              <a:rPr lang="en-US" altLang="zh-CN" sz="3600" b="1" dirty="0" smtClean="0">
                <a:latin typeface="华文琥珀" pitchFamily="2" charset="-122"/>
                <a:ea typeface="华文琥珀" pitchFamily="2" charset="-122"/>
              </a:rPr>
              <a:t>~~~</a:t>
            </a:r>
            <a:endParaRPr lang="zh-CN" altLang="en-US" sz="3600" b="1" dirty="0">
              <a:latin typeface="华文琥珀" pitchFamily="2" charset="-122"/>
              <a:ea typeface="华文琥珀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640489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91680" y="548680"/>
            <a:ext cx="6056723" cy="61247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</a:p>
          <a:p>
            <a:r>
              <a:rPr lang="en-US" altLang="zh-CN" sz="2800" dirty="0"/>
              <a:t>#include &lt;</a:t>
            </a:r>
            <a:r>
              <a:rPr lang="en-US" altLang="zh-CN" sz="2800" dirty="0" err="1"/>
              <a:t>string.h</a:t>
            </a:r>
            <a:r>
              <a:rPr lang="en-US" altLang="zh-CN" sz="2800" dirty="0"/>
              <a:t>&gt;</a:t>
            </a:r>
          </a:p>
          <a:p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</a:p>
          <a:p>
            <a:r>
              <a:rPr lang="en-US" altLang="zh-CN" sz="2800" dirty="0"/>
              <a:t>{</a:t>
            </a:r>
          </a:p>
          <a:p>
            <a:r>
              <a:rPr lang="en-US" altLang="zh-CN" sz="2800" dirty="0"/>
              <a:t>char </a:t>
            </a:r>
            <a:r>
              <a:rPr lang="en-US" altLang="zh-CN" sz="2800" dirty="0" err="1"/>
              <a:t>strA</a:t>
            </a:r>
            <a:r>
              <a:rPr lang="en-US" altLang="zh-CN" sz="2800" dirty="0"/>
              <a:t>[80],</a:t>
            </a:r>
            <a:r>
              <a:rPr lang="en-US" altLang="zh-CN" sz="2800" dirty="0" err="1"/>
              <a:t>strB</a:t>
            </a:r>
            <a:r>
              <a:rPr lang="en-US" altLang="zh-CN" sz="2800" dirty="0"/>
              <a:t>[80],temp;</a:t>
            </a:r>
          </a:p>
          <a:p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i,j</a:t>
            </a:r>
            <a:r>
              <a:rPr lang="en-US" altLang="zh-CN" sz="2800" dirty="0"/>
              <a:t>;</a:t>
            </a:r>
          </a:p>
          <a:p>
            <a:r>
              <a:rPr lang="en-US" altLang="zh-CN" sz="2800" dirty="0"/>
              <a:t>gets(</a:t>
            </a:r>
            <a:r>
              <a:rPr lang="en-US" altLang="zh-CN" sz="2800" dirty="0" err="1"/>
              <a:t>strA</a:t>
            </a:r>
            <a:r>
              <a:rPr lang="en-US" altLang="zh-CN" sz="2800" dirty="0"/>
              <a:t>);</a:t>
            </a:r>
          </a:p>
          <a:p>
            <a:r>
              <a:rPr lang="en-US" altLang="zh-CN" sz="2800" dirty="0"/>
              <a:t>for(i=0;i&lt;</a:t>
            </a:r>
            <a:r>
              <a:rPr lang="en-US" altLang="zh-CN" sz="2800" dirty="0" err="1"/>
              <a:t>strlen</a:t>
            </a:r>
            <a:r>
              <a:rPr lang="en-US" altLang="zh-CN" sz="2800" dirty="0"/>
              <a:t>(</a:t>
            </a:r>
            <a:r>
              <a:rPr lang="en-US" altLang="zh-CN" sz="2800" dirty="0" err="1"/>
              <a:t>strA</a:t>
            </a:r>
            <a:r>
              <a:rPr lang="en-US" altLang="zh-CN" sz="2800" dirty="0"/>
              <a:t>);i++)//</a:t>
            </a:r>
            <a:r>
              <a:rPr lang="zh-CN" altLang="en-US" sz="2800" dirty="0" smtClean="0"/>
              <a:t>可改进</a:t>
            </a:r>
            <a:r>
              <a:rPr lang="en-US" altLang="zh-CN" sz="2800" dirty="0"/>
              <a:t>……</a:t>
            </a:r>
            <a:endParaRPr lang="zh-CN" altLang="en-US" sz="2800" dirty="0"/>
          </a:p>
          <a:p>
            <a:r>
              <a:rPr lang="en-US" altLang="zh-CN" sz="2800" dirty="0" err="1"/>
              <a:t>strB</a:t>
            </a:r>
            <a:r>
              <a:rPr lang="en-US" altLang="zh-CN" sz="2800" dirty="0"/>
              <a:t>[</a:t>
            </a:r>
            <a:r>
              <a:rPr lang="en-US" altLang="zh-CN" sz="2800" dirty="0" err="1"/>
              <a:t>strlen</a:t>
            </a:r>
            <a:r>
              <a:rPr lang="en-US" altLang="zh-CN" sz="2800" dirty="0"/>
              <a:t>(</a:t>
            </a:r>
            <a:r>
              <a:rPr lang="en-US" altLang="zh-CN" sz="2800" dirty="0" err="1"/>
              <a:t>strA</a:t>
            </a:r>
            <a:r>
              <a:rPr lang="en-US" altLang="zh-CN" sz="2800" dirty="0"/>
              <a:t>)-1-i]=</a:t>
            </a:r>
            <a:r>
              <a:rPr lang="en-US" altLang="zh-CN" sz="2800" dirty="0" err="1"/>
              <a:t>strA</a:t>
            </a:r>
            <a:r>
              <a:rPr lang="en-US" altLang="zh-CN" sz="2800" dirty="0"/>
              <a:t>[i];</a:t>
            </a:r>
          </a:p>
          <a:p>
            <a:r>
              <a:rPr lang="en-US" altLang="zh-CN" sz="2800" dirty="0" err="1"/>
              <a:t>strB</a:t>
            </a:r>
            <a:r>
              <a:rPr lang="en-US" altLang="zh-CN" sz="2800" dirty="0"/>
              <a:t>[</a:t>
            </a:r>
            <a:r>
              <a:rPr lang="en-US" altLang="zh-CN" sz="2800" dirty="0" err="1"/>
              <a:t>strlen</a:t>
            </a:r>
            <a:r>
              <a:rPr lang="en-US" altLang="zh-CN" sz="2800" dirty="0"/>
              <a:t>(</a:t>
            </a:r>
            <a:r>
              <a:rPr lang="en-US" altLang="zh-CN" sz="2800" dirty="0" err="1"/>
              <a:t>strA</a:t>
            </a:r>
            <a:r>
              <a:rPr lang="en-US" altLang="zh-CN" sz="2800" dirty="0"/>
              <a:t>)]='\0';</a:t>
            </a:r>
          </a:p>
          <a:p>
            <a:r>
              <a:rPr lang="en-US" altLang="zh-CN" sz="2800" dirty="0"/>
              <a:t>if(!</a:t>
            </a:r>
            <a:r>
              <a:rPr lang="en-US" altLang="zh-CN" sz="2800" dirty="0" err="1"/>
              <a:t>strcmp</a:t>
            </a:r>
            <a:r>
              <a:rPr lang="en-US" altLang="zh-CN" sz="2800" dirty="0"/>
              <a:t>(</a:t>
            </a:r>
            <a:r>
              <a:rPr lang="en-US" altLang="zh-CN" sz="2800" dirty="0" err="1"/>
              <a:t>strA,strB</a:t>
            </a:r>
            <a:r>
              <a:rPr lang="en-US" altLang="zh-CN" sz="2800" dirty="0"/>
              <a:t>))</a:t>
            </a:r>
          </a:p>
          <a:p>
            <a:r>
              <a:rPr lang="en-US" altLang="zh-CN" sz="2800" dirty="0" err="1"/>
              <a:t>printf</a:t>
            </a:r>
            <a:r>
              <a:rPr lang="en-US" altLang="zh-CN" sz="2800" dirty="0"/>
              <a:t>("Yes");</a:t>
            </a:r>
          </a:p>
          <a:p>
            <a:r>
              <a:rPr lang="en-US" altLang="zh-CN" sz="2800" dirty="0"/>
              <a:t>else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("No");</a:t>
            </a:r>
          </a:p>
          <a:p>
            <a:r>
              <a:rPr lang="en-US" altLang="zh-CN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7371022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29615" y="548680"/>
            <a:ext cx="319670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600" b="1" cap="none" spc="0" dirty="0" smtClean="0">
                <a:ln w="17780" cmpd="sng">
                  <a:noFill/>
                  <a:prstDash val="solid"/>
                  <a:miter lim="800000"/>
                </a:ln>
                <a:latin typeface="+mj-ea"/>
                <a:ea typeface="+mj-ea"/>
              </a:rPr>
              <a:t>第三大题 递归</a:t>
            </a:r>
            <a:endParaRPr lang="zh-CN" altLang="en-US" sz="3600" b="1" cap="none" spc="0" dirty="0">
              <a:ln w="17780" cmpd="sng">
                <a:noFill/>
                <a:prstDash val="solid"/>
                <a:miter lim="800000"/>
              </a:ln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43608" y="1340768"/>
            <a:ext cx="7854458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编写一个函数，使用递归算法求下述函数的值。</a:t>
            </a:r>
          </a:p>
          <a:p>
            <a:r>
              <a:rPr lang="en-US" altLang="zh-CN" sz="2400" b="1" dirty="0" smtClean="0"/>
              <a:t>f(</a:t>
            </a:r>
            <a:r>
              <a:rPr lang="en-US" altLang="zh-CN" sz="2400" b="1" dirty="0" err="1" smtClean="0"/>
              <a:t>n,x</a:t>
            </a:r>
            <a:r>
              <a:rPr lang="en-US" altLang="zh-CN" sz="2400" b="1" dirty="0" smtClean="0"/>
              <a:t>) =</a:t>
            </a:r>
          </a:p>
          <a:p>
            <a:r>
              <a:rPr lang="en-US" altLang="zh-CN" sz="2400" b="1" dirty="0" smtClean="0"/>
              <a:t>1                                        </a:t>
            </a:r>
            <a:r>
              <a:rPr lang="zh-CN" altLang="en-US" sz="2400" b="1" dirty="0" smtClean="0"/>
              <a:t>当 </a:t>
            </a:r>
            <a:r>
              <a:rPr lang="en-US" altLang="zh-CN" sz="2400" b="1" dirty="0" smtClean="0"/>
              <a:t>n == 0 </a:t>
            </a:r>
            <a:r>
              <a:rPr lang="zh-CN" altLang="en-US" sz="2400" b="1" dirty="0" smtClean="0"/>
              <a:t>时  </a:t>
            </a:r>
          </a:p>
          <a:p>
            <a:r>
              <a:rPr lang="en-US" altLang="zh-CN" sz="2400" b="1" dirty="0" smtClean="0"/>
              <a:t>x                                        </a:t>
            </a:r>
            <a:r>
              <a:rPr lang="zh-CN" altLang="en-US" sz="2400" b="1" dirty="0" smtClean="0"/>
              <a:t>当 </a:t>
            </a:r>
            <a:r>
              <a:rPr lang="en-US" altLang="zh-CN" sz="2400" b="1" dirty="0" smtClean="0"/>
              <a:t>n == 1 </a:t>
            </a:r>
            <a:r>
              <a:rPr lang="zh-CN" altLang="en-US" sz="2400" b="1" dirty="0" smtClean="0"/>
              <a:t>时  </a:t>
            </a:r>
          </a:p>
          <a:p>
            <a:r>
              <a:rPr lang="en-US" altLang="zh-CN" sz="2400" b="1" dirty="0" smtClean="0"/>
              <a:t>2*f(n-1,x)+3*f(n-2,x)    </a:t>
            </a:r>
            <a:r>
              <a:rPr lang="zh-CN" altLang="en-US" sz="2400" b="1" dirty="0" smtClean="0"/>
              <a:t>当 </a:t>
            </a:r>
            <a:r>
              <a:rPr lang="en-US" altLang="zh-CN" sz="2400" b="1" dirty="0" smtClean="0"/>
              <a:t>n &gt; 1 </a:t>
            </a:r>
            <a:r>
              <a:rPr lang="zh-CN" altLang="en-US" sz="2400" b="1" dirty="0" smtClean="0"/>
              <a:t>时  </a:t>
            </a:r>
          </a:p>
          <a:p>
            <a:r>
              <a:rPr lang="en-US" altLang="zh-CN" sz="2400" b="1" dirty="0" smtClean="0"/>
              <a:t>-1                                       </a:t>
            </a:r>
            <a:r>
              <a:rPr lang="zh-CN" altLang="en-US" sz="2400" b="1" dirty="0" smtClean="0"/>
              <a:t>其它</a:t>
            </a:r>
          </a:p>
          <a:p>
            <a:endParaRPr lang="zh-CN" altLang="en-US" sz="2400" b="1" dirty="0" smtClean="0"/>
          </a:p>
          <a:p>
            <a:r>
              <a:rPr lang="zh-CN" altLang="en-US" sz="2400" b="1" dirty="0" smtClean="0"/>
              <a:t>函数原型如下：</a:t>
            </a:r>
          </a:p>
          <a:p>
            <a:r>
              <a:rPr lang="en-US" altLang="zh-CN" sz="2400" b="1" dirty="0" smtClean="0"/>
              <a:t>double </a:t>
            </a:r>
            <a:r>
              <a:rPr lang="en-US" altLang="zh-CN" sz="2400" b="1" dirty="0" err="1" smtClean="0"/>
              <a:t>findf</a:t>
            </a:r>
            <a:r>
              <a:rPr lang="en-US" altLang="zh-CN" sz="2400" b="1" dirty="0" smtClean="0"/>
              <a:t>(</a:t>
            </a:r>
            <a:r>
              <a:rPr lang="en-US" altLang="zh-CN" sz="2400" b="1" dirty="0" err="1" smtClean="0"/>
              <a:t>int</a:t>
            </a:r>
            <a:r>
              <a:rPr lang="en-US" altLang="zh-CN" sz="2400" b="1" dirty="0" smtClean="0"/>
              <a:t> n, double x)</a:t>
            </a:r>
          </a:p>
          <a:p>
            <a:endParaRPr lang="en-US" altLang="zh-CN" sz="2400" b="1" dirty="0" smtClean="0"/>
          </a:p>
          <a:p>
            <a:r>
              <a:rPr lang="zh-CN" altLang="en-US" sz="2400" b="1" dirty="0" smtClean="0"/>
              <a:t>参数说明：</a:t>
            </a:r>
            <a:r>
              <a:rPr lang="en-US" altLang="zh-CN" sz="2400" b="1" dirty="0" smtClean="0"/>
              <a:t>n </a:t>
            </a:r>
            <a:r>
              <a:rPr lang="zh-CN" altLang="en-US" sz="2400" b="1" dirty="0" smtClean="0"/>
              <a:t>项数</a:t>
            </a:r>
            <a:r>
              <a:rPr lang="en-US" altLang="zh-CN" sz="2400" b="1" dirty="0" smtClean="0"/>
              <a:t>( n &gt; 4 )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x </a:t>
            </a:r>
            <a:r>
              <a:rPr lang="zh-CN" altLang="en-US" sz="2400" b="1" dirty="0" smtClean="0"/>
              <a:t>自变量；返回值是函数值。</a:t>
            </a:r>
          </a:p>
          <a:p>
            <a:r>
              <a:rPr lang="zh-CN" altLang="en-US" sz="2400" b="1" dirty="0" smtClean="0"/>
              <a:t>例如输入：</a:t>
            </a:r>
            <a:r>
              <a:rPr lang="en-US" altLang="zh-CN" sz="2400" b="1" dirty="0" smtClean="0"/>
              <a:t>5 4.0</a:t>
            </a:r>
            <a:r>
              <a:rPr lang="zh-CN" altLang="en-US" sz="2400" b="1" dirty="0" smtClean="0"/>
              <a:t>， 输出：</a:t>
            </a:r>
            <a:r>
              <a:rPr lang="en-US" altLang="zh-CN" sz="2400" b="1" dirty="0" smtClean="0"/>
              <a:t>304.00</a:t>
            </a:r>
          </a:p>
          <a:p>
            <a:endParaRPr lang="en-US" altLang="zh-CN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331640" y="6021288"/>
            <a:ext cx="19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题目未完待续</a:t>
            </a:r>
            <a:r>
              <a:rPr lang="en-US" altLang="zh-CN" b="1" dirty="0" smtClean="0"/>
              <a:t>……</a:t>
            </a:r>
            <a:endParaRPr lang="zh-CN" altLang="en-US" b="1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7624" y="1412776"/>
            <a:ext cx="6037230" cy="40010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latin typeface="+mj-lt"/>
              </a:rPr>
              <a:t>/* PRESET CODE BEGIN - NEVER TOUCH CODE BELOW */</a:t>
            </a:r>
          </a:p>
          <a:p>
            <a:r>
              <a:rPr lang="en-US" altLang="zh-CN" sz="2400" dirty="0" smtClean="0">
                <a:latin typeface="+mj-lt"/>
              </a:rPr>
              <a:t>#include &lt;</a:t>
            </a:r>
            <a:r>
              <a:rPr lang="en-US" altLang="zh-CN" sz="2400" dirty="0" err="1" smtClean="0">
                <a:latin typeface="+mj-lt"/>
              </a:rPr>
              <a:t>stdio.h</a:t>
            </a:r>
            <a:r>
              <a:rPr lang="en-US" altLang="zh-CN" sz="2400" dirty="0" smtClean="0">
                <a:latin typeface="+mj-lt"/>
              </a:rPr>
              <a:t>&gt;</a:t>
            </a:r>
          </a:p>
          <a:p>
            <a:r>
              <a:rPr lang="en-US" altLang="zh-CN" sz="2400" dirty="0" err="1" smtClean="0">
                <a:latin typeface="+mj-lt"/>
              </a:rPr>
              <a:t>int</a:t>
            </a:r>
            <a:r>
              <a:rPr lang="en-US" altLang="zh-CN" sz="2400" dirty="0" smtClean="0">
                <a:latin typeface="+mj-lt"/>
              </a:rPr>
              <a:t> main()</a:t>
            </a:r>
          </a:p>
          <a:p>
            <a:r>
              <a:rPr lang="en-US" altLang="zh-CN" sz="2400" dirty="0" smtClean="0">
                <a:latin typeface="+mj-lt"/>
              </a:rPr>
              <a:t>{  </a:t>
            </a:r>
            <a:r>
              <a:rPr lang="en-US" altLang="zh-CN" sz="2400" dirty="0" err="1" smtClean="0">
                <a:latin typeface="+mj-lt"/>
              </a:rPr>
              <a:t>int</a:t>
            </a:r>
            <a:r>
              <a:rPr lang="en-US" altLang="zh-CN" sz="2400" dirty="0" smtClean="0">
                <a:latin typeface="+mj-lt"/>
              </a:rPr>
              <a:t> n;</a:t>
            </a:r>
          </a:p>
          <a:p>
            <a:r>
              <a:rPr lang="en-US" altLang="zh-CN" sz="2400" dirty="0" smtClean="0">
                <a:latin typeface="+mj-lt"/>
              </a:rPr>
              <a:t>   double f, s, </a:t>
            </a:r>
            <a:r>
              <a:rPr lang="en-US" altLang="zh-CN" sz="2400" dirty="0" err="1" smtClean="0">
                <a:latin typeface="+mj-lt"/>
              </a:rPr>
              <a:t>findf</a:t>
            </a:r>
            <a:r>
              <a:rPr lang="en-US" altLang="zh-CN" sz="2400" dirty="0" smtClean="0">
                <a:latin typeface="+mj-lt"/>
              </a:rPr>
              <a:t>( );</a:t>
            </a:r>
          </a:p>
          <a:p>
            <a:r>
              <a:rPr lang="en-US" altLang="zh-CN" sz="2400" dirty="0" smtClean="0">
                <a:latin typeface="+mj-lt"/>
              </a:rPr>
              <a:t>   </a:t>
            </a:r>
            <a:r>
              <a:rPr lang="en-US" altLang="zh-CN" sz="2400" dirty="0" err="1" smtClean="0">
                <a:latin typeface="+mj-lt"/>
              </a:rPr>
              <a:t>scanf</a:t>
            </a:r>
            <a:r>
              <a:rPr lang="en-US" altLang="zh-CN" sz="2400" dirty="0" smtClean="0">
                <a:latin typeface="+mj-lt"/>
              </a:rPr>
              <a:t>("%</a:t>
            </a:r>
            <a:r>
              <a:rPr lang="en-US" altLang="zh-CN" sz="2400" dirty="0" err="1" smtClean="0">
                <a:latin typeface="+mj-lt"/>
              </a:rPr>
              <a:t>d%lf",&amp;n,&amp;f</a:t>
            </a:r>
            <a:r>
              <a:rPr lang="en-US" altLang="zh-CN" sz="2400" dirty="0" smtClean="0">
                <a:latin typeface="+mj-lt"/>
              </a:rPr>
              <a:t>);</a:t>
            </a:r>
          </a:p>
          <a:p>
            <a:r>
              <a:rPr lang="en-US" altLang="zh-CN" sz="2400" b="1" dirty="0" smtClean="0">
                <a:solidFill>
                  <a:srgbClr val="FF0000"/>
                </a:solidFill>
                <a:latin typeface="+mj-lt"/>
              </a:rPr>
              <a:t>   s = </a:t>
            </a:r>
            <a:r>
              <a:rPr lang="en-US" altLang="zh-CN" sz="2400" b="1" dirty="0" err="1" smtClean="0">
                <a:solidFill>
                  <a:srgbClr val="FF0000"/>
                </a:solidFill>
                <a:latin typeface="+mj-lt"/>
              </a:rPr>
              <a:t>findf</a:t>
            </a:r>
            <a:r>
              <a:rPr lang="en-US" altLang="zh-CN" sz="2400" b="1" dirty="0" smtClean="0">
                <a:solidFill>
                  <a:srgbClr val="FF0000"/>
                </a:solidFill>
                <a:latin typeface="+mj-lt"/>
              </a:rPr>
              <a:t>(n, f);</a:t>
            </a:r>
          </a:p>
          <a:p>
            <a:r>
              <a:rPr lang="en-US" altLang="zh-CN" sz="2400" dirty="0" smtClean="0">
                <a:latin typeface="+mj-lt"/>
              </a:rPr>
              <a:t>   </a:t>
            </a:r>
            <a:r>
              <a:rPr lang="en-US" altLang="zh-CN" sz="2400" dirty="0" err="1" smtClean="0">
                <a:latin typeface="+mj-lt"/>
              </a:rPr>
              <a:t>printf</a:t>
            </a:r>
            <a:r>
              <a:rPr lang="en-US" altLang="zh-CN" sz="2400" dirty="0" smtClean="0">
                <a:latin typeface="+mj-lt"/>
              </a:rPr>
              <a:t>("%.2lf\n", s);</a:t>
            </a:r>
          </a:p>
          <a:p>
            <a:r>
              <a:rPr lang="en-US" altLang="zh-CN" sz="2400" dirty="0" smtClean="0">
                <a:latin typeface="+mj-lt"/>
              </a:rPr>
              <a:t>   return 0;</a:t>
            </a:r>
          </a:p>
          <a:p>
            <a:r>
              <a:rPr lang="en-US" altLang="zh-CN" sz="2400" dirty="0" smtClean="0">
                <a:latin typeface="+mj-lt"/>
              </a:rPr>
              <a:t>}</a:t>
            </a:r>
            <a:endParaRPr lang="zh-CN" altLang="en-US" sz="2400" dirty="0" smtClean="0">
              <a:latin typeface="+mj-lt"/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476672"/>
            <a:ext cx="501784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f(</a:t>
            </a:r>
            <a:r>
              <a:rPr lang="en-US" altLang="zh-CN" sz="2400" b="1" dirty="0" err="1" smtClean="0"/>
              <a:t>n,x</a:t>
            </a:r>
            <a:r>
              <a:rPr lang="en-US" altLang="zh-CN" sz="2400" b="1" dirty="0" smtClean="0"/>
              <a:t>) =</a:t>
            </a:r>
          </a:p>
          <a:p>
            <a:r>
              <a:rPr lang="en-US" altLang="zh-CN" sz="2400" b="1" dirty="0" smtClean="0"/>
              <a:t>1                                        </a:t>
            </a:r>
            <a:r>
              <a:rPr lang="zh-CN" altLang="en-US" sz="2400" b="1" dirty="0" smtClean="0"/>
              <a:t>当 </a:t>
            </a:r>
            <a:r>
              <a:rPr lang="en-US" altLang="zh-CN" sz="2400" b="1" dirty="0" smtClean="0"/>
              <a:t>n == 0 </a:t>
            </a:r>
            <a:r>
              <a:rPr lang="zh-CN" altLang="en-US" sz="2400" b="1" dirty="0" smtClean="0"/>
              <a:t>时  </a:t>
            </a:r>
          </a:p>
          <a:p>
            <a:r>
              <a:rPr lang="en-US" altLang="zh-CN" sz="2400" b="1" dirty="0" smtClean="0"/>
              <a:t>x                                        </a:t>
            </a:r>
            <a:r>
              <a:rPr lang="zh-CN" altLang="en-US" sz="2400" b="1" dirty="0" smtClean="0"/>
              <a:t>当 </a:t>
            </a:r>
            <a:r>
              <a:rPr lang="en-US" altLang="zh-CN" sz="2400" b="1" dirty="0" smtClean="0"/>
              <a:t>n == 1 </a:t>
            </a:r>
            <a:r>
              <a:rPr lang="zh-CN" altLang="en-US" sz="2400" b="1" dirty="0" smtClean="0"/>
              <a:t>时  </a:t>
            </a:r>
          </a:p>
          <a:p>
            <a:r>
              <a:rPr lang="en-US" altLang="zh-CN" sz="2400" b="1" dirty="0" smtClean="0"/>
              <a:t>2*f(n-1,x)+3*f(n-2,x)    </a:t>
            </a:r>
            <a:r>
              <a:rPr lang="zh-CN" altLang="en-US" sz="2400" b="1" dirty="0" smtClean="0"/>
              <a:t>当 </a:t>
            </a:r>
            <a:r>
              <a:rPr lang="en-US" altLang="zh-CN" sz="2400" b="1" dirty="0" smtClean="0"/>
              <a:t>n &gt; 1 </a:t>
            </a:r>
            <a:r>
              <a:rPr lang="zh-CN" altLang="en-US" sz="2400" b="1" dirty="0" smtClean="0"/>
              <a:t>时  </a:t>
            </a:r>
          </a:p>
          <a:p>
            <a:r>
              <a:rPr lang="en-US" altLang="zh-CN" sz="2400" b="1" dirty="0" smtClean="0"/>
              <a:t>-1                                       </a:t>
            </a:r>
            <a:r>
              <a:rPr lang="zh-CN" altLang="en-US" sz="2400" b="1" dirty="0" smtClean="0"/>
              <a:t>其它</a:t>
            </a:r>
          </a:p>
          <a:p>
            <a:endParaRPr lang="zh-CN" altLang="en-US" dirty="0"/>
          </a:p>
        </p:txBody>
      </p:sp>
      <p:graphicFrame>
        <p:nvGraphicFramePr>
          <p:cNvPr id="6" name="图示 5"/>
          <p:cNvGraphicFramePr/>
          <p:nvPr/>
        </p:nvGraphicFramePr>
        <p:xfrm>
          <a:off x="1547664" y="2420888"/>
          <a:ext cx="3312368" cy="951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31640" y="3429000"/>
            <a:ext cx="694472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latin typeface="+mj-lt"/>
              </a:rPr>
              <a:t>double </a:t>
            </a:r>
            <a:r>
              <a:rPr lang="en-US" altLang="zh-CN" sz="2400" b="1" dirty="0" err="1" smtClean="0">
                <a:latin typeface="+mj-lt"/>
              </a:rPr>
              <a:t>findf</a:t>
            </a:r>
            <a:r>
              <a:rPr lang="en-US" altLang="zh-CN" sz="2400" b="1" dirty="0" smtClean="0">
                <a:latin typeface="+mj-lt"/>
              </a:rPr>
              <a:t>(</a:t>
            </a:r>
            <a:r>
              <a:rPr lang="en-US" altLang="zh-CN" sz="2400" b="1" dirty="0" err="1" smtClean="0">
                <a:latin typeface="+mj-lt"/>
              </a:rPr>
              <a:t>int</a:t>
            </a:r>
            <a:r>
              <a:rPr lang="en-US" altLang="zh-CN" sz="2400" b="1" dirty="0" smtClean="0">
                <a:latin typeface="+mj-lt"/>
              </a:rPr>
              <a:t> n, double f)</a:t>
            </a:r>
          </a:p>
          <a:p>
            <a:r>
              <a:rPr lang="en-US" altLang="zh-CN" sz="2400" b="1" dirty="0" smtClean="0">
                <a:latin typeface="+mj-lt"/>
              </a:rPr>
              <a:t>{</a:t>
            </a:r>
          </a:p>
          <a:p>
            <a:r>
              <a:rPr lang="en-US" altLang="zh-CN" sz="2400" b="1" dirty="0" smtClean="0">
                <a:latin typeface="+mj-lt"/>
              </a:rPr>
              <a:t>    if(n==0)             return 1;</a:t>
            </a:r>
          </a:p>
          <a:p>
            <a:r>
              <a:rPr lang="en-US" altLang="zh-CN" sz="2400" b="1" dirty="0" smtClean="0">
                <a:latin typeface="+mj-lt"/>
              </a:rPr>
              <a:t>    else if(n==1)      return f;</a:t>
            </a:r>
          </a:p>
          <a:p>
            <a:r>
              <a:rPr lang="en-US" altLang="zh-CN" sz="2400" b="1" dirty="0" smtClean="0">
                <a:latin typeface="+mj-lt"/>
              </a:rPr>
              <a:t>    else if(n&gt;1)        return 2*</a:t>
            </a:r>
            <a:r>
              <a:rPr lang="en-US" altLang="zh-CN" sz="2400" b="1" dirty="0" err="1" smtClean="0">
                <a:latin typeface="+mj-lt"/>
              </a:rPr>
              <a:t>findf</a:t>
            </a:r>
            <a:r>
              <a:rPr lang="en-US" altLang="zh-CN" sz="2400" b="1" dirty="0" smtClean="0">
                <a:latin typeface="+mj-lt"/>
              </a:rPr>
              <a:t>(n-1,f)+3*</a:t>
            </a:r>
            <a:r>
              <a:rPr lang="en-US" altLang="zh-CN" sz="2400" b="1" dirty="0" err="1" smtClean="0">
                <a:latin typeface="+mj-lt"/>
              </a:rPr>
              <a:t>findf</a:t>
            </a:r>
            <a:r>
              <a:rPr lang="en-US" altLang="zh-CN" sz="2400" b="1" dirty="0" smtClean="0">
                <a:latin typeface="+mj-lt"/>
              </a:rPr>
              <a:t>(n-2,f);</a:t>
            </a:r>
          </a:p>
          <a:p>
            <a:r>
              <a:rPr lang="en-US" altLang="zh-CN" sz="2400" b="1" dirty="0" smtClean="0">
                <a:latin typeface="+mj-lt"/>
              </a:rPr>
              <a:t>    else                     return -1;</a:t>
            </a:r>
          </a:p>
          <a:p>
            <a:r>
              <a:rPr lang="en-US" altLang="zh-CN" sz="2400" b="1" dirty="0" smtClean="0">
                <a:latin typeface="+mj-lt"/>
              </a:rPr>
              <a:t>}</a:t>
            </a:r>
            <a:endParaRPr lang="zh-CN" altLang="en-US" sz="2400" b="1" dirty="0"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9632" y="764704"/>
            <a:ext cx="69847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编写程序计算下列序列的值，要求输入</a:t>
            </a:r>
            <a:r>
              <a:rPr lang="en-US" altLang="zh-CN" sz="2000" b="1" dirty="0" smtClean="0"/>
              <a:t>N</a:t>
            </a:r>
            <a:r>
              <a:rPr lang="zh-CN" altLang="en-US" sz="2000" b="1" dirty="0" smtClean="0"/>
              <a:t>时输出相应的表达式的值，递归实现，结果精确到小数点后</a:t>
            </a:r>
            <a:r>
              <a:rPr lang="en-US" altLang="zh-CN" sz="2000" b="1" dirty="0" smtClean="0"/>
              <a:t>6</a:t>
            </a:r>
            <a:r>
              <a:rPr lang="zh-CN" altLang="en-US" sz="2000" b="1" dirty="0" smtClean="0"/>
              <a:t>位。</a:t>
            </a:r>
            <a:endParaRPr lang="zh-CN" altLang="en-US" sz="2000" b="1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87624" y="1484784"/>
            <a:ext cx="7751147" cy="792088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115616" y="2149019"/>
            <a:ext cx="3713068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latin typeface="+mj-lt"/>
              </a:rPr>
              <a:t>#include &lt;</a:t>
            </a:r>
            <a:r>
              <a:rPr lang="en-US" altLang="zh-CN" sz="2000" b="1" dirty="0" err="1" smtClean="0">
                <a:latin typeface="+mj-lt"/>
              </a:rPr>
              <a:t>stdio.h</a:t>
            </a:r>
            <a:r>
              <a:rPr lang="en-US" altLang="zh-CN" sz="2000" b="1" dirty="0" smtClean="0">
                <a:latin typeface="+mj-lt"/>
              </a:rPr>
              <a:t>&gt;</a:t>
            </a:r>
          </a:p>
          <a:p>
            <a:r>
              <a:rPr lang="en-US" altLang="zh-CN" sz="2000" b="1" dirty="0" smtClean="0">
                <a:latin typeface="+mj-lt"/>
              </a:rPr>
              <a:t>double f(double a )</a:t>
            </a:r>
          </a:p>
          <a:p>
            <a:r>
              <a:rPr lang="en-US" altLang="zh-CN" sz="2000" b="1" dirty="0" smtClean="0">
                <a:latin typeface="+mj-lt"/>
              </a:rPr>
              <a:t>{</a:t>
            </a:r>
          </a:p>
          <a:p>
            <a:r>
              <a:rPr lang="en-US" altLang="zh-CN" sz="2000" b="1" dirty="0" smtClean="0">
                <a:latin typeface="+mj-lt"/>
              </a:rPr>
              <a:t>if(a&gt;=2)  </a:t>
            </a:r>
          </a:p>
          <a:p>
            <a:r>
              <a:rPr lang="en-US" altLang="zh-CN" sz="2000" b="1" dirty="0" smtClean="0">
                <a:latin typeface="+mj-lt"/>
              </a:rPr>
              <a:t>return 1.0/((a-1)*a*(a+1))+f(a-1);</a:t>
            </a:r>
          </a:p>
          <a:p>
            <a:r>
              <a:rPr lang="en-US" altLang="zh-CN" sz="2000" b="1" dirty="0" smtClean="0">
                <a:latin typeface="+mj-lt"/>
              </a:rPr>
              <a:t>else return 1.0;</a:t>
            </a:r>
          </a:p>
          <a:p>
            <a:r>
              <a:rPr lang="en-US" altLang="zh-CN" sz="2000" b="1" dirty="0" smtClean="0">
                <a:latin typeface="+mj-lt"/>
              </a:rPr>
              <a:t>}</a:t>
            </a:r>
          </a:p>
          <a:p>
            <a:endParaRPr lang="en-US" altLang="zh-CN" sz="2000" b="1" dirty="0" smtClean="0">
              <a:latin typeface="+mj-lt"/>
            </a:endParaRPr>
          </a:p>
          <a:p>
            <a:r>
              <a:rPr lang="en-US" altLang="zh-CN" sz="2000" b="1" dirty="0" err="1" smtClean="0">
                <a:latin typeface="+mj-lt"/>
              </a:rPr>
              <a:t>int</a:t>
            </a:r>
            <a:r>
              <a:rPr lang="en-US" altLang="zh-CN" sz="2000" b="1" dirty="0" smtClean="0">
                <a:latin typeface="+mj-lt"/>
              </a:rPr>
              <a:t> main()</a:t>
            </a:r>
          </a:p>
          <a:p>
            <a:r>
              <a:rPr lang="en-US" altLang="zh-CN" sz="2000" b="1" dirty="0" smtClean="0">
                <a:latin typeface="+mj-lt"/>
              </a:rPr>
              <a:t>{</a:t>
            </a:r>
          </a:p>
          <a:p>
            <a:r>
              <a:rPr lang="en-US" altLang="zh-CN" sz="2000" b="1" dirty="0" smtClean="0">
                <a:latin typeface="+mj-lt"/>
              </a:rPr>
              <a:t>double N;</a:t>
            </a:r>
          </a:p>
          <a:p>
            <a:r>
              <a:rPr lang="en-US" altLang="zh-CN" sz="2000" b="1" dirty="0" err="1" smtClean="0">
                <a:latin typeface="+mj-lt"/>
              </a:rPr>
              <a:t>scanf</a:t>
            </a:r>
            <a:r>
              <a:rPr lang="en-US" altLang="zh-CN" sz="2000" b="1" dirty="0" smtClean="0">
                <a:latin typeface="+mj-lt"/>
              </a:rPr>
              <a:t>("%</a:t>
            </a:r>
            <a:r>
              <a:rPr lang="en-US" altLang="zh-CN" sz="2000" b="1" dirty="0" err="1" smtClean="0">
                <a:latin typeface="+mj-lt"/>
              </a:rPr>
              <a:t>lf",&amp;N</a:t>
            </a:r>
            <a:r>
              <a:rPr lang="en-US" altLang="zh-CN" sz="2000" b="1" dirty="0" smtClean="0">
                <a:latin typeface="+mj-lt"/>
              </a:rPr>
              <a:t>);</a:t>
            </a:r>
          </a:p>
          <a:p>
            <a:r>
              <a:rPr lang="en-US" altLang="zh-CN" sz="2000" b="1" dirty="0" err="1" smtClean="0">
                <a:latin typeface="+mj-lt"/>
              </a:rPr>
              <a:t>printf</a:t>
            </a:r>
            <a:r>
              <a:rPr lang="en-US" altLang="zh-CN" sz="2000" b="1" dirty="0" smtClean="0">
                <a:latin typeface="+mj-lt"/>
              </a:rPr>
              <a:t>("%lf\n", f(N));</a:t>
            </a:r>
          </a:p>
          <a:p>
            <a:r>
              <a:rPr lang="en-US" altLang="zh-CN" sz="2000" b="1" dirty="0" smtClean="0">
                <a:latin typeface="+mj-lt"/>
              </a:rPr>
              <a:t>return 0;</a:t>
            </a:r>
          </a:p>
          <a:p>
            <a:r>
              <a:rPr lang="en-US" altLang="zh-CN" sz="2000" b="1" dirty="0" smtClean="0">
                <a:latin typeface="+mj-lt"/>
              </a:rPr>
              <a:t>}</a:t>
            </a:r>
          </a:p>
        </p:txBody>
      </p:sp>
      <p:sp>
        <p:nvSpPr>
          <p:cNvPr id="9" name="内容占位符 3"/>
          <p:cNvSpPr txBox="1">
            <a:spLocks/>
          </p:cNvSpPr>
          <p:nvPr/>
        </p:nvSpPr>
        <p:spPr>
          <a:xfrm>
            <a:off x="4644008" y="2852936"/>
            <a:ext cx="424847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更多题目参见：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《C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语言程序设计教程习题与上机指导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》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注意：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书后习题很重要（可以提高读程序的能力，可以作为模拟题）</a:t>
            </a: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2.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不要死扣书后习题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（可能有错误）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7624" y="692696"/>
            <a:ext cx="7499176" cy="650336"/>
          </a:xfrm>
        </p:spPr>
        <p:txBody>
          <a:bodyPr>
            <a:normAutofit/>
          </a:bodyPr>
          <a:lstStyle/>
          <a:p>
            <a:r>
              <a:rPr lang="zh-CN" altLang="en-US" sz="3600" b="1" dirty="0" smtClean="0">
                <a:solidFill>
                  <a:schemeClr val="bg1">
                    <a:lumMod val="50000"/>
                  </a:schemeClr>
                </a:solidFill>
                <a:latin typeface="黑体" pitchFamily="49" charset="-122"/>
                <a:ea typeface="黑体" pitchFamily="49" charset="-122"/>
              </a:rPr>
              <a:t>链    表</a:t>
            </a:r>
            <a:endParaRPr lang="zh-CN" altLang="en-US" sz="3600" b="1" dirty="0">
              <a:solidFill>
                <a:schemeClr val="bg1">
                  <a:lumMod val="50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3608" y="1628800"/>
            <a:ext cx="7643192" cy="4389120"/>
          </a:xfrm>
        </p:spPr>
        <p:txBody>
          <a:bodyPr/>
          <a:lstStyle/>
          <a:p>
            <a:r>
              <a:rPr lang="zh-CN" altLang="en-US" b="1" dirty="0" smtClean="0"/>
              <a:t>一般不会编整个程序，而是编写链表处理的部分。</a:t>
            </a:r>
            <a:endParaRPr lang="en-US" altLang="zh-CN" b="1" dirty="0" smtClean="0"/>
          </a:p>
          <a:p>
            <a:r>
              <a:rPr lang="zh-CN" altLang="en-US" b="1" dirty="0" smtClean="0"/>
              <a:t>考查四种能力</a:t>
            </a:r>
            <a:r>
              <a:rPr lang="zh-CN" altLang="en-US" b="1" dirty="0" smtClean="0">
                <a:sym typeface="Wingdings" pitchFamily="2" charset="2"/>
              </a:rPr>
              <a:t>：</a:t>
            </a:r>
            <a:endParaRPr lang="en-US" altLang="zh-CN" b="1" dirty="0" smtClean="0"/>
          </a:p>
          <a:p>
            <a:r>
              <a:rPr lang="zh-CN" altLang="en-US" b="1" dirty="0" smtClean="0"/>
              <a:t>建立链表（</a:t>
            </a:r>
            <a:r>
              <a:rPr lang="en-US" altLang="zh-CN" b="1" dirty="0" err="1" smtClean="0"/>
              <a:t>malloc</a:t>
            </a:r>
            <a:r>
              <a:rPr lang="zh-CN" altLang="en-US" b="1" dirty="0" smtClean="0"/>
              <a:t>函数和头指针）</a:t>
            </a:r>
            <a:endParaRPr lang="en-US" altLang="zh-CN" b="1" dirty="0" smtClean="0"/>
          </a:p>
          <a:p>
            <a:r>
              <a:rPr lang="zh-CN" altLang="en-US" b="1" dirty="0" smtClean="0"/>
              <a:t>搜索链表结点</a:t>
            </a:r>
            <a:endParaRPr lang="en-US" altLang="zh-CN" b="1" dirty="0" smtClean="0"/>
          </a:p>
          <a:p>
            <a:r>
              <a:rPr lang="zh-CN" altLang="en-US" b="1" dirty="0" smtClean="0"/>
              <a:t>插入链表结点</a:t>
            </a:r>
            <a:endParaRPr lang="en-US" altLang="zh-CN" b="1" dirty="0" smtClean="0"/>
          </a:p>
          <a:p>
            <a:r>
              <a:rPr lang="zh-CN" altLang="en-US" b="1" dirty="0" smtClean="0"/>
              <a:t>删除链表结点</a:t>
            </a:r>
            <a:endParaRPr lang="en-US" altLang="zh-CN" b="1" dirty="0" smtClean="0"/>
          </a:p>
          <a:p>
            <a:endParaRPr lang="en-US" altLang="zh-CN" b="1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可如果实在没能力就放弃吧，毕竟也不会因为只有这题没编出来而挂科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</a:rPr>
              <a:t>……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3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15616" y="764704"/>
            <a:ext cx="4038600" cy="5586968"/>
          </a:xfrm>
        </p:spPr>
        <p:txBody>
          <a:bodyPr/>
          <a:lstStyle/>
          <a:p>
            <a:pPr>
              <a:buNone/>
            </a:pPr>
            <a:r>
              <a:rPr lang="zh-CN" altLang="en-US" dirty="0" smtClean="0">
                <a:latin typeface="+mj-lt"/>
              </a:rPr>
              <a:t>定义结构（链表结点）</a:t>
            </a:r>
            <a:endParaRPr lang="en-US" altLang="zh-CN" dirty="0" smtClean="0">
              <a:latin typeface="+mj-lt"/>
            </a:endParaRPr>
          </a:p>
          <a:p>
            <a:pPr>
              <a:buNone/>
            </a:pPr>
            <a:r>
              <a:rPr lang="en-US" altLang="zh-CN" dirty="0" smtClean="0">
                <a:latin typeface="+mj-lt"/>
              </a:rPr>
              <a:t>type </a:t>
            </a:r>
            <a:r>
              <a:rPr lang="en-US" altLang="zh-CN" dirty="0" err="1" smtClean="0">
                <a:latin typeface="+mj-lt"/>
              </a:rPr>
              <a:t>struct</a:t>
            </a:r>
            <a:r>
              <a:rPr lang="en-US" altLang="zh-CN" dirty="0" smtClean="0">
                <a:latin typeface="+mj-lt"/>
              </a:rPr>
              <a:t> node</a:t>
            </a:r>
          </a:p>
          <a:p>
            <a:pPr>
              <a:buNone/>
            </a:pPr>
            <a:r>
              <a:rPr lang="en-US" altLang="zh-CN" dirty="0" smtClean="0">
                <a:latin typeface="+mj-lt"/>
              </a:rPr>
              <a:t>{</a:t>
            </a:r>
          </a:p>
          <a:p>
            <a:pPr>
              <a:buNone/>
            </a:pPr>
            <a:r>
              <a:rPr lang="en-US" altLang="zh-CN" dirty="0" smtClean="0">
                <a:latin typeface="+mj-lt"/>
              </a:rPr>
              <a:t>     char add[30];</a:t>
            </a:r>
          </a:p>
          <a:p>
            <a:pPr>
              <a:buNone/>
            </a:pPr>
            <a:r>
              <a:rPr lang="en-US" altLang="zh-CN" dirty="0" smtClean="0">
                <a:latin typeface="+mj-lt"/>
              </a:rPr>
              <a:t>     </a:t>
            </a:r>
            <a:r>
              <a:rPr lang="en-US" altLang="zh-CN" dirty="0" err="1" smtClean="0">
                <a:latin typeface="+mj-lt"/>
              </a:rPr>
              <a:t>int</a:t>
            </a:r>
            <a:r>
              <a:rPr lang="en-US" altLang="zh-CN" dirty="0" smtClean="0">
                <a:latin typeface="+mj-lt"/>
              </a:rPr>
              <a:t> num;</a:t>
            </a:r>
          </a:p>
          <a:p>
            <a:pPr>
              <a:buNone/>
            </a:pPr>
            <a:r>
              <a:rPr lang="en-US" altLang="zh-CN" dirty="0" smtClean="0">
                <a:latin typeface="+mj-lt"/>
              </a:rPr>
              <a:t>     </a:t>
            </a:r>
            <a:r>
              <a:rPr lang="en-US" altLang="zh-CN" dirty="0" err="1" smtClean="0">
                <a:solidFill>
                  <a:srgbClr val="FF0000"/>
                </a:solidFill>
                <a:latin typeface="+mj-lt"/>
              </a:rPr>
              <a:t>struct</a:t>
            </a:r>
            <a:r>
              <a:rPr lang="en-US" altLang="zh-CN" dirty="0" smtClean="0">
                <a:solidFill>
                  <a:srgbClr val="FF0000"/>
                </a:solidFill>
                <a:latin typeface="+mj-lt"/>
              </a:rPr>
              <a:t> node *link;</a:t>
            </a:r>
          </a:p>
          <a:p>
            <a:pPr>
              <a:buNone/>
            </a:pPr>
            <a:r>
              <a:rPr lang="en-US" altLang="zh-CN" dirty="0" smtClean="0">
                <a:latin typeface="+mj-lt"/>
              </a:rPr>
              <a:t>} NODE;</a:t>
            </a:r>
          </a:p>
          <a:p>
            <a:pPr>
              <a:buNone/>
            </a:pPr>
            <a:r>
              <a:rPr lang="en-US" altLang="zh-CN" dirty="0" smtClean="0">
                <a:latin typeface="+mj-lt"/>
              </a:rPr>
              <a:t>NODE  *  p;</a:t>
            </a:r>
            <a:endParaRPr lang="zh-CN" altLang="en-US" dirty="0" smtClean="0">
              <a:latin typeface="+mj-lt"/>
            </a:endParaRPr>
          </a:p>
          <a:p>
            <a:endParaRPr lang="zh-CN" altLang="en-US" dirty="0">
              <a:latin typeface="+mj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220072" y="764704"/>
            <a:ext cx="3312368" cy="5658976"/>
          </a:xfrm>
        </p:spPr>
        <p:txBody>
          <a:bodyPr/>
          <a:lstStyle/>
          <a:p>
            <a:pPr>
              <a:buNone/>
            </a:pPr>
            <a:r>
              <a:rPr lang="zh-CN" altLang="en-US" dirty="0" smtClean="0">
                <a:latin typeface="+mj-lt"/>
              </a:rPr>
              <a:t>建立头结点：</a:t>
            </a:r>
            <a:endParaRPr lang="en-US" altLang="zh-CN" dirty="0" smtClean="0">
              <a:latin typeface="+mj-lt"/>
            </a:endParaRPr>
          </a:p>
          <a:p>
            <a:pPr>
              <a:buNone/>
            </a:pPr>
            <a:r>
              <a:rPr lang="en-US" altLang="zh-CN" dirty="0" smtClean="0">
                <a:latin typeface="+mj-lt"/>
              </a:rPr>
              <a:t>p = (NODE*) </a:t>
            </a:r>
            <a:r>
              <a:rPr lang="en-US" altLang="zh-CN" dirty="0" err="1" smtClean="0">
                <a:latin typeface="+mj-lt"/>
              </a:rPr>
              <a:t>malloc</a:t>
            </a:r>
            <a:r>
              <a:rPr lang="en-US" altLang="zh-CN" dirty="0" smtClean="0">
                <a:latin typeface="+mj-lt"/>
              </a:rPr>
              <a:t> (</a:t>
            </a:r>
            <a:r>
              <a:rPr lang="en-US" altLang="zh-CN" dirty="0" err="1" smtClean="0">
                <a:latin typeface="+mj-lt"/>
              </a:rPr>
              <a:t>sizeof</a:t>
            </a:r>
            <a:r>
              <a:rPr lang="en-US" altLang="zh-CN" dirty="0" smtClean="0">
                <a:latin typeface="+mj-lt"/>
              </a:rPr>
              <a:t> (NODE));</a:t>
            </a:r>
          </a:p>
          <a:p>
            <a:pPr>
              <a:buNone/>
            </a:pPr>
            <a:r>
              <a:rPr lang="en-US" altLang="zh-CN" dirty="0" smtClean="0">
                <a:latin typeface="+mj-lt"/>
              </a:rPr>
              <a:t>p -&gt;link = NULL</a:t>
            </a:r>
            <a:r>
              <a:rPr lang="zh-CN" altLang="en-US" dirty="0" smtClean="0">
                <a:latin typeface="+mj-lt"/>
              </a:rPr>
              <a:t>；</a:t>
            </a:r>
            <a:endParaRPr lang="en-US" altLang="zh-CN" dirty="0" smtClean="0">
              <a:latin typeface="+mj-lt"/>
            </a:endParaRPr>
          </a:p>
          <a:p>
            <a:pPr>
              <a:buNone/>
            </a:pPr>
            <a:r>
              <a:rPr lang="en-US" altLang="zh-CN" dirty="0" smtClean="0">
                <a:latin typeface="+mj-lt"/>
              </a:rPr>
              <a:t>head = p;</a:t>
            </a:r>
          </a:p>
          <a:p>
            <a:pPr>
              <a:buNone/>
            </a:pPr>
            <a:endParaRPr lang="zh-CN" altLang="en-US" dirty="0"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15616" y="692696"/>
            <a:ext cx="3960440" cy="566222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dirty="0" smtClean="0">
                <a:latin typeface="+mj-lt"/>
              </a:rPr>
              <a:t>搜索结点：</a:t>
            </a:r>
            <a:endParaRPr lang="en-US" altLang="zh-CN" dirty="0" smtClean="0">
              <a:latin typeface="+mj-lt"/>
            </a:endParaRPr>
          </a:p>
          <a:p>
            <a:pPr>
              <a:buNone/>
            </a:pPr>
            <a:r>
              <a:rPr lang="en-US" altLang="zh-CN" dirty="0" smtClean="0">
                <a:latin typeface="+mj-lt"/>
              </a:rPr>
              <a:t>while(q-&gt;link!=NULL)</a:t>
            </a:r>
          </a:p>
          <a:p>
            <a:pPr>
              <a:buNone/>
            </a:pPr>
            <a:r>
              <a:rPr lang="en-US" altLang="zh-CN" dirty="0" smtClean="0">
                <a:latin typeface="+mj-lt"/>
              </a:rPr>
              <a:t>{</a:t>
            </a:r>
          </a:p>
          <a:p>
            <a:pPr>
              <a:buNone/>
            </a:pPr>
            <a:r>
              <a:rPr lang="en-US" altLang="zh-CN" dirty="0" smtClean="0">
                <a:latin typeface="+mj-lt"/>
              </a:rPr>
              <a:t>    if(</a:t>
            </a:r>
            <a:r>
              <a:rPr lang="zh-CN" altLang="en-US" dirty="0" smtClean="0">
                <a:latin typeface="+mj-lt"/>
              </a:rPr>
              <a:t>条件</a:t>
            </a:r>
            <a:r>
              <a:rPr lang="en-US" altLang="zh-CN" dirty="0" smtClean="0">
                <a:latin typeface="+mj-lt"/>
              </a:rPr>
              <a:t>)  break;</a:t>
            </a:r>
          </a:p>
          <a:p>
            <a:pPr>
              <a:buNone/>
            </a:pPr>
            <a:r>
              <a:rPr lang="en-US" altLang="zh-CN" dirty="0" smtClean="0">
                <a:latin typeface="+mj-lt"/>
              </a:rPr>
              <a:t>    else  q=q-&gt;link;</a:t>
            </a:r>
          </a:p>
          <a:p>
            <a:pPr>
              <a:buNone/>
            </a:pPr>
            <a:r>
              <a:rPr lang="en-US" altLang="zh-CN" dirty="0" smtClean="0">
                <a:latin typeface="+mj-lt"/>
              </a:rPr>
              <a:t>}</a:t>
            </a:r>
          </a:p>
          <a:p>
            <a:pPr>
              <a:buNone/>
            </a:pPr>
            <a:r>
              <a:rPr lang="en-US" altLang="zh-CN" dirty="0" smtClean="0">
                <a:latin typeface="+mj-lt"/>
              </a:rPr>
              <a:t>               </a:t>
            </a: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76056" y="692696"/>
            <a:ext cx="3610744" cy="566222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dirty="0" smtClean="0"/>
              <a:t>插入结点：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p-&gt;link=q-&gt;link;</a:t>
            </a:r>
          </a:p>
          <a:p>
            <a:pPr>
              <a:buNone/>
            </a:pPr>
            <a:r>
              <a:rPr lang="en-US" altLang="zh-CN" dirty="0" smtClean="0"/>
              <a:t>q-&gt;link=p;</a:t>
            </a:r>
            <a:endParaRPr lang="zh-CN" altLang="en-US" dirty="0" smtClean="0"/>
          </a:p>
          <a:p>
            <a:pPr>
              <a:buNone/>
            </a:pPr>
            <a:endParaRPr lang="en-US" altLang="zh-CN" dirty="0" smtClean="0">
              <a:latin typeface="+mj-lt"/>
            </a:endParaRPr>
          </a:p>
          <a:p>
            <a:pPr>
              <a:buNone/>
            </a:pPr>
            <a:endParaRPr lang="en-US" altLang="zh-CN" dirty="0" smtClean="0">
              <a:latin typeface="+mj-lt"/>
            </a:endParaRPr>
          </a:p>
          <a:p>
            <a:pPr>
              <a:buNone/>
            </a:pPr>
            <a:r>
              <a:rPr lang="zh-CN" altLang="en-US" dirty="0" smtClean="0">
                <a:latin typeface="+mj-lt"/>
              </a:rPr>
              <a:t>删除结点：</a:t>
            </a:r>
            <a:endParaRPr lang="en-US" altLang="zh-CN" dirty="0" smtClean="0">
              <a:latin typeface="+mj-lt"/>
            </a:endParaRPr>
          </a:p>
          <a:p>
            <a:pPr>
              <a:buNone/>
            </a:pPr>
            <a:r>
              <a:rPr lang="en-US" altLang="zh-CN" dirty="0" smtClean="0">
                <a:latin typeface="+mj-lt"/>
              </a:rPr>
              <a:t>p=q-&gt;link;</a:t>
            </a:r>
          </a:p>
          <a:p>
            <a:pPr>
              <a:buNone/>
            </a:pPr>
            <a:r>
              <a:rPr lang="en-US" altLang="zh-CN" dirty="0" smtClean="0">
                <a:latin typeface="+mj-lt"/>
              </a:rPr>
              <a:t>q-&gt;link=p-&gt;link;</a:t>
            </a:r>
          </a:p>
          <a:p>
            <a:pPr>
              <a:buNone/>
            </a:pPr>
            <a:r>
              <a:rPr lang="en-US" altLang="zh-CN" dirty="0" smtClean="0">
                <a:latin typeface="+mj-lt"/>
              </a:rPr>
              <a:t>free(p);</a:t>
            </a:r>
            <a:endParaRPr lang="zh-CN" altLang="en-US" dirty="0"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5616" y="704088"/>
            <a:ext cx="7571184" cy="1143000"/>
          </a:xfrm>
        </p:spPr>
        <p:txBody>
          <a:bodyPr/>
          <a:lstStyle/>
          <a:p>
            <a:r>
              <a:rPr lang="en-US" altLang="zh-CN" dirty="0" smtClean="0"/>
              <a:t>C</a:t>
            </a:r>
            <a:r>
              <a:rPr lang="zh-CN" altLang="en-US" dirty="0" smtClean="0"/>
              <a:t>语言考试真题</a:t>
            </a:r>
            <a:r>
              <a:rPr lang="en-US" altLang="zh-CN" dirty="0" smtClean="0"/>
              <a:t>(2)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3608" y="1935480"/>
            <a:ext cx="4320480" cy="4389120"/>
          </a:xfrm>
        </p:spPr>
        <p:txBody>
          <a:bodyPr/>
          <a:lstStyle/>
          <a:p>
            <a:r>
              <a:rPr lang="zh-CN" altLang="en-US" b="1" dirty="0" smtClean="0"/>
              <a:t>已经建立好了一个链表，结点的结构如右：</a:t>
            </a:r>
            <a:endParaRPr lang="en-US" altLang="zh-CN" b="1" dirty="0" smtClean="0"/>
          </a:p>
          <a:p>
            <a:r>
              <a:rPr lang="zh-CN" altLang="en-US" b="1" dirty="0" smtClean="0"/>
              <a:t>每个结点中均有一个数字和一个指向下一结点的指针。</a:t>
            </a:r>
            <a:endParaRPr lang="en-US" altLang="zh-CN" b="1" dirty="0" smtClean="0"/>
          </a:p>
          <a:p>
            <a:r>
              <a:rPr lang="zh-CN" altLang="en-US" b="1" dirty="0" smtClean="0"/>
              <a:t>任务：</a:t>
            </a:r>
            <a:endParaRPr lang="en-US" altLang="zh-CN" b="1" dirty="0" smtClean="0"/>
          </a:p>
          <a:p>
            <a:r>
              <a:rPr lang="zh-CN" altLang="en-US" b="1" dirty="0" smtClean="0"/>
              <a:t>搜索找到最大数字所在的结点</a:t>
            </a:r>
            <a:r>
              <a:rPr lang="en-US" altLang="zh-CN" b="1" dirty="0" smtClean="0"/>
              <a:t>(B</a:t>
            </a:r>
            <a:r>
              <a:rPr lang="zh-CN" altLang="en-US" b="1" dirty="0" smtClean="0"/>
              <a:t>卷的是最小数字</a:t>
            </a:r>
            <a:r>
              <a:rPr lang="en-US" altLang="zh-CN" b="1" dirty="0" smtClean="0"/>
              <a:t>)</a:t>
            </a:r>
            <a:r>
              <a:rPr lang="zh-CN" altLang="en-US" b="1" dirty="0" smtClean="0"/>
              <a:t>，并将头结点到这个结点之间的所有结点删除。</a:t>
            </a:r>
            <a:endParaRPr lang="zh-CN" alt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436096" y="1988840"/>
            <a:ext cx="3096938" cy="27699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600" dirty="0" smtClean="0"/>
              <a:t>type </a:t>
            </a:r>
            <a:r>
              <a:rPr lang="en-US" altLang="zh-CN" sz="2600" dirty="0" err="1" smtClean="0"/>
              <a:t>struct</a:t>
            </a:r>
            <a:r>
              <a:rPr lang="en-US" altLang="zh-CN" sz="2600" dirty="0" smtClean="0"/>
              <a:t> node</a:t>
            </a:r>
          </a:p>
          <a:p>
            <a:pPr>
              <a:buNone/>
            </a:pPr>
            <a:r>
              <a:rPr lang="en-US" altLang="zh-CN" sz="2600" dirty="0" smtClean="0"/>
              <a:t>{</a:t>
            </a:r>
          </a:p>
          <a:p>
            <a:pPr>
              <a:buNone/>
            </a:pPr>
            <a:r>
              <a:rPr lang="en-US" altLang="zh-CN" sz="2600" dirty="0" smtClean="0"/>
              <a:t>     </a:t>
            </a:r>
            <a:r>
              <a:rPr lang="en-US" altLang="zh-CN" sz="2600" dirty="0" err="1" smtClean="0"/>
              <a:t>int</a:t>
            </a:r>
            <a:r>
              <a:rPr lang="en-US" altLang="zh-CN" sz="2600" dirty="0" smtClean="0"/>
              <a:t> num;</a:t>
            </a:r>
          </a:p>
          <a:p>
            <a:pPr>
              <a:buNone/>
            </a:pPr>
            <a:r>
              <a:rPr lang="en-US" altLang="zh-CN" sz="2600" dirty="0" smtClean="0"/>
              <a:t>     </a:t>
            </a:r>
            <a:r>
              <a:rPr lang="en-US" altLang="zh-CN" sz="2600" dirty="0" err="1" smtClean="0"/>
              <a:t>struct</a:t>
            </a:r>
            <a:r>
              <a:rPr lang="en-US" altLang="zh-CN" sz="2600" dirty="0" smtClean="0"/>
              <a:t> node *link;</a:t>
            </a:r>
          </a:p>
          <a:p>
            <a:pPr>
              <a:buNone/>
            </a:pPr>
            <a:r>
              <a:rPr lang="en-US" altLang="zh-CN" sz="2600" dirty="0" smtClean="0"/>
              <a:t>} NODE;</a:t>
            </a:r>
          </a:p>
          <a:p>
            <a:pPr>
              <a:buNone/>
            </a:pPr>
            <a:r>
              <a:rPr lang="en-US" altLang="zh-CN" sz="2600" dirty="0" smtClean="0"/>
              <a:t>NODE  *  p;</a:t>
            </a:r>
            <a:endParaRPr lang="zh-CN" altLang="en-US" sz="2600" dirty="0" smtClean="0"/>
          </a:p>
          <a:p>
            <a:endParaRPr lang="zh-CN" alt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6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/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推荐题目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3608" y="1935480"/>
            <a:ext cx="7643192" cy="4389120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b="1" dirty="0" smtClean="0">
                <a:latin typeface="+mn-ea"/>
              </a:rPr>
              <a:t>一、</a:t>
            </a:r>
            <a:r>
              <a:rPr lang="en-US" altLang="zh-CN" b="1" dirty="0" smtClean="0">
                <a:latin typeface="+mn-ea"/>
              </a:rPr>
              <a:t>P80 </a:t>
            </a:r>
            <a:r>
              <a:rPr lang="zh-CN" altLang="en-US" b="1" dirty="0" smtClean="0">
                <a:latin typeface="+mn-ea"/>
              </a:rPr>
              <a:t>阅读程序题：根据复习情况选做（基础）</a:t>
            </a:r>
            <a:endParaRPr lang="en-US" altLang="zh-CN" b="1" dirty="0" smtClean="0">
              <a:latin typeface="+mn-ea"/>
            </a:endParaRPr>
          </a:p>
          <a:p>
            <a:endParaRPr lang="en-US" altLang="zh-CN" b="1" dirty="0" smtClean="0">
              <a:latin typeface="+mn-ea"/>
            </a:endParaRPr>
          </a:p>
          <a:p>
            <a:r>
              <a:rPr lang="zh-CN" altLang="en-US" b="1" dirty="0" smtClean="0">
                <a:latin typeface="+mn-ea"/>
              </a:rPr>
              <a:t>二、</a:t>
            </a:r>
            <a:r>
              <a:rPr lang="en-US" altLang="zh-CN" b="1" dirty="0" smtClean="0">
                <a:latin typeface="+mn-ea"/>
              </a:rPr>
              <a:t>P59 </a:t>
            </a:r>
            <a:r>
              <a:rPr lang="zh-CN" altLang="en-US" b="1" dirty="0" smtClean="0">
                <a:latin typeface="+mn-ea"/>
              </a:rPr>
              <a:t>单项选择题：除</a:t>
            </a:r>
            <a:r>
              <a:rPr lang="en-US" altLang="zh-CN" b="1" dirty="0" smtClean="0">
                <a:latin typeface="+mn-ea"/>
              </a:rPr>
              <a:t>1.83</a:t>
            </a:r>
            <a:r>
              <a:rPr lang="zh-CN" altLang="en-US" b="1" dirty="0" smtClean="0">
                <a:latin typeface="+mn-ea"/>
              </a:rPr>
              <a:t>、</a:t>
            </a:r>
            <a:r>
              <a:rPr lang="en-US" altLang="zh-CN" b="1" dirty="0" smtClean="0">
                <a:latin typeface="+mn-ea"/>
              </a:rPr>
              <a:t>1.85</a:t>
            </a:r>
            <a:r>
              <a:rPr lang="zh-CN" altLang="en-US" b="1" dirty="0" smtClean="0">
                <a:latin typeface="+mn-ea"/>
              </a:rPr>
              <a:t>、</a:t>
            </a:r>
            <a:r>
              <a:rPr lang="en-US" altLang="zh-CN" b="1" dirty="0" smtClean="0">
                <a:latin typeface="+mn-ea"/>
              </a:rPr>
              <a:t>1.86</a:t>
            </a:r>
            <a:r>
              <a:rPr lang="zh-CN" altLang="en-US" b="1" dirty="0" smtClean="0">
                <a:latin typeface="+mn-ea"/>
              </a:rPr>
              <a:t>、</a:t>
            </a:r>
            <a:r>
              <a:rPr lang="en-US" altLang="zh-CN" b="1" dirty="0" smtClean="0">
                <a:latin typeface="+mn-ea"/>
              </a:rPr>
              <a:t>1.89</a:t>
            </a:r>
            <a:r>
              <a:rPr lang="zh-CN" altLang="en-US" b="1" dirty="0" smtClean="0">
                <a:latin typeface="+mn-ea"/>
              </a:rPr>
              <a:t>、</a:t>
            </a:r>
            <a:r>
              <a:rPr lang="en-US" altLang="zh-CN" b="1" dirty="0" smtClean="0">
                <a:latin typeface="+mn-ea"/>
              </a:rPr>
              <a:t>1.90</a:t>
            </a:r>
            <a:r>
              <a:rPr lang="zh-CN" altLang="en-US" b="1" dirty="0" smtClean="0">
                <a:latin typeface="+mn-ea"/>
              </a:rPr>
              <a:t>、</a:t>
            </a:r>
            <a:r>
              <a:rPr lang="en-US" altLang="zh-CN" b="1" dirty="0" smtClean="0">
                <a:latin typeface="+mn-ea"/>
              </a:rPr>
              <a:t>1.100</a:t>
            </a:r>
            <a:r>
              <a:rPr lang="zh-CN" altLang="en-US" b="1" dirty="0" smtClean="0">
                <a:latin typeface="+mn-ea"/>
              </a:rPr>
              <a:t>、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1.88</a:t>
            </a:r>
            <a:r>
              <a:rPr lang="zh-CN" altLang="en-US" b="1" dirty="0" smtClean="0">
                <a:latin typeface="+mn-ea"/>
              </a:rPr>
              <a:t>外</a:t>
            </a:r>
            <a:r>
              <a:rPr lang="zh-CN" altLang="en-US" b="1" dirty="0" smtClean="0">
                <a:solidFill>
                  <a:srgbClr val="FF0000"/>
                </a:solidFill>
                <a:latin typeface="+mn-ea"/>
              </a:rPr>
              <a:t>所有题目</a:t>
            </a:r>
            <a:endParaRPr lang="en-US" altLang="zh-CN" b="1" dirty="0" smtClean="0">
              <a:solidFill>
                <a:srgbClr val="FF0000"/>
              </a:solidFill>
              <a:latin typeface="+mn-ea"/>
            </a:endParaRPr>
          </a:p>
          <a:p>
            <a:endParaRPr lang="en-US" altLang="zh-CN" b="1" dirty="0" smtClean="0">
              <a:latin typeface="+mn-ea"/>
            </a:endParaRPr>
          </a:p>
          <a:p>
            <a:r>
              <a:rPr lang="zh-CN" altLang="en-US" b="1" dirty="0" smtClean="0">
                <a:latin typeface="+mn-ea"/>
              </a:rPr>
              <a:t>三、</a:t>
            </a:r>
            <a:r>
              <a:rPr lang="en-US" altLang="zh-CN" b="1" dirty="0" smtClean="0">
                <a:latin typeface="+mn-ea"/>
              </a:rPr>
              <a:t>P108 </a:t>
            </a:r>
            <a:r>
              <a:rPr lang="zh-CN" altLang="en-US" b="1" dirty="0" smtClean="0">
                <a:latin typeface="+mn-ea"/>
              </a:rPr>
              <a:t>程序填空题：重点看文件的题目，其他选看</a:t>
            </a:r>
            <a:endParaRPr lang="en-US" altLang="zh-CN" b="1" dirty="0" smtClean="0">
              <a:latin typeface="+mn-ea"/>
            </a:endParaRPr>
          </a:p>
          <a:p>
            <a:endParaRPr lang="en-US" altLang="zh-CN" b="1" dirty="0" smtClean="0">
              <a:latin typeface="+mn-ea"/>
            </a:endParaRPr>
          </a:p>
          <a:p>
            <a:r>
              <a:rPr lang="zh-CN" altLang="en-US" b="1" dirty="0" smtClean="0">
                <a:latin typeface="+mn-ea"/>
              </a:rPr>
              <a:t>四、</a:t>
            </a:r>
            <a:r>
              <a:rPr lang="en-US" altLang="zh-CN" b="1" dirty="0" smtClean="0">
                <a:latin typeface="+mn-ea"/>
              </a:rPr>
              <a:t>P148 </a:t>
            </a:r>
            <a:r>
              <a:rPr lang="zh-CN" altLang="en-US" b="1" dirty="0" smtClean="0">
                <a:latin typeface="+mn-ea"/>
              </a:rPr>
              <a:t>编写程序题：</a:t>
            </a:r>
            <a:r>
              <a:rPr lang="en-US" altLang="zh-CN" b="1" dirty="0" smtClean="0">
                <a:latin typeface="+mn-ea"/>
              </a:rPr>
              <a:t>4.17</a:t>
            </a:r>
            <a:r>
              <a:rPr lang="zh-CN" altLang="en-US" b="1" dirty="0" smtClean="0">
                <a:latin typeface="+mn-ea"/>
              </a:rPr>
              <a:t>、</a:t>
            </a:r>
            <a:r>
              <a:rPr lang="en-US" altLang="zh-CN" b="1" dirty="0" smtClean="0">
                <a:latin typeface="+mn-ea"/>
              </a:rPr>
              <a:t>4.19</a:t>
            </a:r>
            <a:r>
              <a:rPr lang="zh-CN" altLang="en-US" b="1" dirty="0" smtClean="0">
                <a:latin typeface="+mn-ea"/>
              </a:rPr>
              <a:t>、</a:t>
            </a:r>
            <a:r>
              <a:rPr lang="en-US" altLang="zh-CN" b="1" dirty="0" smtClean="0">
                <a:latin typeface="+mn-ea"/>
              </a:rPr>
              <a:t>4.20</a:t>
            </a:r>
            <a:r>
              <a:rPr lang="zh-CN" altLang="en-US" b="1" dirty="0" smtClean="0">
                <a:latin typeface="+mn-ea"/>
              </a:rPr>
              <a:t>、</a:t>
            </a:r>
            <a:r>
              <a:rPr lang="en-US" altLang="zh-CN" b="1" dirty="0" smtClean="0">
                <a:latin typeface="+mn-ea"/>
              </a:rPr>
              <a:t>4.26</a:t>
            </a:r>
            <a:r>
              <a:rPr lang="zh-CN" altLang="en-US" b="1" dirty="0" smtClean="0">
                <a:latin typeface="+mn-ea"/>
              </a:rPr>
              <a:t>、</a:t>
            </a:r>
            <a:r>
              <a:rPr lang="en-US" altLang="zh-CN" b="1" dirty="0" smtClean="0">
                <a:latin typeface="+mn-ea"/>
              </a:rPr>
              <a:t>4.29</a:t>
            </a:r>
            <a:r>
              <a:rPr lang="zh-CN" altLang="en-US" b="1" dirty="0" smtClean="0">
                <a:latin typeface="+mn-ea"/>
              </a:rPr>
              <a:t>、</a:t>
            </a:r>
            <a:r>
              <a:rPr lang="en-US" altLang="zh-CN" b="1" dirty="0" smtClean="0">
                <a:latin typeface="+mn-ea"/>
              </a:rPr>
              <a:t>4.34</a:t>
            </a:r>
            <a:r>
              <a:rPr lang="zh-CN" altLang="en-US" b="1" dirty="0" smtClean="0">
                <a:latin typeface="+mn-ea"/>
              </a:rPr>
              <a:t>、</a:t>
            </a:r>
            <a:r>
              <a:rPr lang="en-US" altLang="zh-CN" b="1" dirty="0" smtClean="0">
                <a:latin typeface="+mn-ea"/>
              </a:rPr>
              <a:t>4.38</a:t>
            </a:r>
            <a:r>
              <a:rPr lang="zh-CN" altLang="en-US" b="1" dirty="0" smtClean="0">
                <a:latin typeface="+mn-ea"/>
              </a:rPr>
              <a:t>、</a:t>
            </a:r>
            <a:r>
              <a:rPr lang="en-US" altLang="zh-CN" b="1" dirty="0" smtClean="0">
                <a:latin typeface="+mn-ea"/>
              </a:rPr>
              <a:t>4.40</a:t>
            </a:r>
            <a:r>
              <a:rPr lang="zh-CN" altLang="en-US" b="1" dirty="0" smtClean="0">
                <a:latin typeface="+mn-ea"/>
              </a:rPr>
              <a:t>、</a:t>
            </a:r>
            <a:r>
              <a:rPr lang="en-US" altLang="zh-CN" b="1" dirty="0" smtClean="0">
                <a:latin typeface="+mn-ea"/>
              </a:rPr>
              <a:t>4.42</a:t>
            </a:r>
            <a:r>
              <a:rPr lang="zh-CN" altLang="en-US" b="1" dirty="0" smtClean="0">
                <a:latin typeface="+mn-ea"/>
              </a:rPr>
              <a:t>、</a:t>
            </a:r>
            <a:r>
              <a:rPr lang="en-US" altLang="zh-CN" b="1" dirty="0" smtClean="0">
                <a:latin typeface="+mn-ea"/>
              </a:rPr>
              <a:t>4.46</a:t>
            </a:r>
            <a:r>
              <a:rPr lang="zh-CN" altLang="en-US" b="1" dirty="0" smtClean="0">
                <a:latin typeface="+mn-ea"/>
              </a:rPr>
              <a:t>、</a:t>
            </a:r>
            <a:r>
              <a:rPr lang="en-US" altLang="zh-CN" b="1" dirty="0" smtClean="0">
                <a:latin typeface="+mn-ea"/>
              </a:rPr>
              <a:t>4.56</a:t>
            </a:r>
            <a:r>
              <a:rPr lang="zh-CN" altLang="en-US" b="1" dirty="0" smtClean="0">
                <a:latin typeface="+mn-ea"/>
              </a:rPr>
              <a:t>、</a:t>
            </a:r>
            <a:r>
              <a:rPr lang="en-US" altLang="zh-CN" b="1" dirty="0" smtClean="0">
                <a:latin typeface="+mn-ea"/>
              </a:rPr>
              <a:t>4.77</a:t>
            </a:r>
          </a:p>
          <a:p>
            <a:pPr>
              <a:buNone/>
            </a:pPr>
            <a:r>
              <a:rPr lang="en-US" altLang="zh-CN" b="1" dirty="0" smtClean="0">
                <a:latin typeface="+mn-ea"/>
              </a:rPr>
              <a:t>      </a:t>
            </a:r>
            <a:r>
              <a:rPr lang="zh-CN" altLang="en-US" b="1" dirty="0" smtClean="0">
                <a:latin typeface="+mn-ea"/>
              </a:rPr>
              <a:t>还有</a:t>
            </a:r>
            <a:r>
              <a:rPr lang="en-US" altLang="zh-CN" b="1" dirty="0" smtClean="0">
                <a:latin typeface="+mn-ea"/>
              </a:rPr>
              <a:t>4.89</a:t>
            </a:r>
            <a:r>
              <a:rPr lang="zh-CN" altLang="en-US" b="1" dirty="0" smtClean="0">
                <a:latin typeface="+mn-ea"/>
              </a:rPr>
              <a:t>（这题看懂就行）</a:t>
            </a:r>
            <a:endParaRPr lang="en-US" altLang="zh-CN" b="1" dirty="0" smtClean="0">
              <a:latin typeface="+mn-ea"/>
            </a:endParaRPr>
          </a:p>
          <a:p>
            <a:endParaRPr lang="en-US" altLang="zh-CN" dirty="0" smtClean="0">
              <a:latin typeface="+mn-ea"/>
            </a:endParaRPr>
          </a:p>
          <a:p>
            <a:endParaRPr lang="en-US" altLang="zh-CN" dirty="0" smtClean="0">
              <a:latin typeface="+mn-ea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94551" y="2786058"/>
            <a:ext cx="572464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方正平和_GBK" pitchFamily="65" charset="-122"/>
                <a:ea typeface="方正平和_GBK" pitchFamily="65" charset="-122"/>
              </a:rPr>
              <a:t>编译中常见的错误</a:t>
            </a:r>
            <a:endParaRPr lang="en-US" altLang="zh-CN" sz="5400" b="1" dirty="0" smtClean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方正平和_GBK" pitchFamily="65" charset="-122"/>
              <a:ea typeface="方正平和_GBK" pitchFamily="65" charset="-122"/>
            </a:endParaRPr>
          </a:p>
          <a:p>
            <a:pPr algn="ctr"/>
            <a:endParaRPr lang="zh-CN" alt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方正平和_GBK" pitchFamily="65" charset="-122"/>
              <a:ea typeface="方正平和_GBK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092399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1538" y="1285860"/>
            <a:ext cx="764386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/>
              <a:t>1.</a:t>
            </a:r>
            <a:r>
              <a:rPr lang="zh-CN" altLang="en-US" sz="3200" b="1" dirty="0" smtClean="0"/>
              <a:t>忘记定义变量</a:t>
            </a:r>
            <a:endParaRPr lang="en-US" altLang="zh-CN" sz="3200" b="1" dirty="0" smtClean="0"/>
          </a:p>
          <a:p>
            <a:r>
              <a:rPr lang="en-US" altLang="zh-CN" sz="3200" b="1" dirty="0" smtClean="0"/>
              <a:t>main()</a:t>
            </a:r>
          </a:p>
          <a:p>
            <a:r>
              <a:rPr lang="en-US" altLang="zh-CN" sz="3200" b="1" dirty="0" smtClean="0"/>
              <a:t>{</a:t>
            </a:r>
          </a:p>
          <a:p>
            <a:r>
              <a:rPr lang="en-US" altLang="zh-CN" sz="3200" b="1" dirty="0" smtClean="0"/>
              <a:t>	x=3;</a:t>
            </a:r>
          </a:p>
          <a:p>
            <a:r>
              <a:rPr lang="en-US" altLang="zh-CN" sz="3200" b="1" dirty="0" smtClean="0"/>
              <a:t>	y=6;</a:t>
            </a:r>
          </a:p>
          <a:p>
            <a:r>
              <a:rPr lang="en-US" altLang="zh-CN" sz="3200" b="1" dirty="0" smtClean="0"/>
              <a:t>	</a:t>
            </a:r>
            <a:r>
              <a:rPr lang="en-US" altLang="zh-CN" sz="3200" b="1" dirty="0" err="1" smtClean="0"/>
              <a:t>printf</a:t>
            </a:r>
            <a:r>
              <a:rPr lang="en-US" altLang="zh-CN" sz="3200" b="1" dirty="0" smtClean="0"/>
              <a:t>(“%</a:t>
            </a:r>
            <a:r>
              <a:rPr lang="en-US" altLang="zh-CN" sz="3200" b="1" dirty="0" err="1" smtClean="0"/>
              <a:t>d”,x+y</a:t>
            </a:r>
            <a:r>
              <a:rPr lang="en-US" altLang="zh-CN" sz="3200" b="1" dirty="0" smtClean="0"/>
              <a:t>);</a:t>
            </a:r>
          </a:p>
          <a:p>
            <a:r>
              <a:rPr lang="en-US" altLang="zh-CN" sz="3200" b="1" dirty="0" smtClean="0"/>
              <a:t/>
            </a:r>
            <a:br>
              <a:rPr lang="en-US" altLang="zh-CN" sz="3200" b="1" dirty="0" smtClean="0"/>
            </a:br>
            <a:r>
              <a:rPr lang="en-US" altLang="zh-CN" sz="3200" b="1" dirty="0" smtClean="0"/>
              <a:t>}</a:t>
            </a:r>
            <a:endParaRPr lang="zh-CN" altLang="en-US" sz="32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6512" y="5296449"/>
            <a:ext cx="10009112" cy="1200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5786" y="1071546"/>
            <a:ext cx="810669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2.</a:t>
            </a:r>
            <a:r>
              <a:rPr lang="zh-CN" altLang="en-US" sz="2800" b="1" dirty="0" smtClean="0"/>
              <a:t>输入输出的数据的类型与所用格式说明符不一致</a:t>
            </a:r>
            <a:endParaRPr lang="en-US" altLang="zh-CN" sz="2800" b="1" dirty="0" smtClean="0"/>
          </a:p>
          <a:p>
            <a:r>
              <a:rPr lang="en-US" altLang="zh-CN" sz="2800" b="1" dirty="0" smtClean="0"/>
              <a:t>main()</a:t>
            </a:r>
          </a:p>
          <a:p>
            <a:r>
              <a:rPr lang="en-US" altLang="zh-CN" sz="2800" b="1" dirty="0" smtClean="0"/>
              <a:t>{</a:t>
            </a:r>
          </a:p>
          <a:p>
            <a:r>
              <a:rPr lang="en-US" altLang="zh-CN" sz="2800" b="1" dirty="0" smtClean="0"/>
              <a:t>	</a:t>
            </a:r>
            <a:r>
              <a:rPr lang="en-US" altLang="zh-CN" sz="2800" b="1" dirty="0" err="1" smtClean="0"/>
              <a:t>int</a:t>
            </a:r>
            <a:r>
              <a:rPr lang="en-US" altLang="zh-CN" sz="2800" b="1" dirty="0" smtClean="0"/>
              <a:t> a;</a:t>
            </a:r>
          </a:p>
          <a:p>
            <a:r>
              <a:rPr lang="en-US" altLang="zh-CN" sz="2800" b="1" dirty="0" smtClean="0"/>
              <a:t>	float b;</a:t>
            </a:r>
          </a:p>
          <a:p>
            <a:r>
              <a:rPr lang="en-US" altLang="zh-CN" sz="2800" b="1" dirty="0" smtClean="0"/>
              <a:t>	a=3;b=4.5;</a:t>
            </a:r>
          </a:p>
          <a:p>
            <a:r>
              <a:rPr lang="en-US" altLang="zh-CN" sz="2800" b="1" dirty="0" smtClean="0"/>
              <a:t>	</a:t>
            </a:r>
            <a:r>
              <a:rPr lang="en-US" altLang="zh-CN" sz="2800" b="1" dirty="0" err="1" smtClean="0"/>
              <a:t>printf</a:t>
            </a:r>
            <a:r>
              <a:rPr lang="en-US" altLang="zh-CN" sz="2800" b="1" dirty="0" smtClean="0"/>
              <a:t>(“%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f</a:t>
            </a:r>
            <a:r>
              <a:rPr lang="en-US" altLang="zh-CN" sz="2800" b="1" dirty="0" smtClean="0"/>
              <a:t>   %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d</a:t>
            </a:r>
            <a:r>
              <a:rPr lang="en-US" altLang="zh-CN" sz="2800" b="1" dirty="0" smtClean="0"/>
              <a:t>\</a:t>
            </a:r>
            <a:r>
              <a:rPr lang="en-US" altLang="zh-CN" sz="2800" b="1" dirty="0" err="1" smtClean="0"/>
              <a:t>n”,a,b</a:t>
            </a:r>
            <a:r>
              <a:rPr lang="en-US" altLang="zh-CN" sz="2800" b="1" dirty="0" smtClean="0"/>
              <a:t>);</a:t>
            </a:r>
            <a:br>
              <a:rPr lang="en-US" altLang="zh-CN" sz="2800" b="1" dirty="0" smtClean="0"/>
            </a:br>
            <a:r>
              <a:rPr lang="en-US" altLang="zh-CN" sz="2800" b="1" dirty="0" smtClean="0"/>
              <a:t>}</a:t>
            </a:r>
          </a:p>
          <a:p>
            <a:endParaRPr lang="en-US" altLang="zh-CN" sz="2800" b="1" dirty="0" smtClean="0"/>
          </a:p>
          <a:p>
            <a:endParaRPr lang="en-US" altLang="zh-CN" sz="2800" b="1" dirty="0" smtClean="0"/>
          </a:p>
          <a:p>
            <a:r>
              <a:rPr lang="zh-CN" altLang="en-US" sz="2800" b="1" dirty="0" smtClean="0"/>
              <a:t>输出结果不是</a:t>
            </a:r>
            <a:r>
              <a:rPr lang="en-US" altLang="zh-CN" sz="2800" b="1" dirty="0" smtClean="0"/>
              <a:t>3</a:t>
            </a:r>
            <a:r>
              <a:rPr lang="zh-CN" altLang="en-US" sz="2800" b="1" dirty="0" smtClean="0"/>
              <a:t>和</a:t>
            </a:r>
            <a:r>
              <a:rPr lang="en-US" altLang="zh-CN" sz="2800" b="1" dirty="0" smtClean="0"/>
              <a:t>4.5</a:t>
            </a:r>
            <a:r>
              <a:rPr lang="zh-CN" altLang="en-US" sz="2800" b="1" dirty="0" smtClean="0"/>
              <a:t>，</a:t>
            </a:r>
            <a:endParaRPr lang="en-US" altLang="zh-CN" sz="2800" b="1" dirty="0" smtClean="0"/>
          </a:p>
          <a:p>
            <a:r>
              <a:rPr lang="zh-CN" altLang="en-US" sz="2800" b="1" dirty="0" smtClean="0"/>
              <a:t>输出结果因编译器不同而不同。</a:t>
            </a:r>
            <a:endParaRPr lang="zh-CN" altLang="en-US" sz="2800" b="1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8662" y="1357298"/>
            <a:ext cx="750099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/>
              <a:t>3</a:t>
            </a:r>
            <a:r>
              <a:rPr lang="zh-CN" altLang="en-US" sz="2400" b="1" dirty="0" smtClean="0"/>
              <a:t>、未注意数据的数值范围</a:t>
            </a:r>
            <a:endParaRPr lang="en-US" altLang="zh-CN" sz="2400" b="1" dirty="0" smtClean="0"/>
          </a:p>
          <a:p>
            <a:endParaRPr lang="en-US" altLang="zh-CN" sz="2400" b="1" dirty="0" smtClean="0"/>
          </a:p>
          <a:p>
            <a:r>
              <a:rPr lang="zh-CN" altLang="en-US" sz="2400" b="1" dirty="0" smtClean="0"/>
              <a:t>例如 </a:t>
            </a:r>
            <a:r>
              <a:rPr lang="en-US" altLang="zh-CN" sz="2400" b="1" dirty="0" err="1" smtClean="0"/>
              <a:t>int</a:t>
            </a:r>
            <a:r>
              <a:rPr lang="en-US" altLang="zh-CN" sz="2400" b="1" dirty="0" smtClean="0"/>
              <a:t> </a:t>
            </a:r>
            <a:r>
              <a:rPr lang="zh-CN" altLang="en-US" sz="2400" b="1" dirty="0" smtClean="0"/>
              <a:t>是从</a:t>
            </a:r>
            <a:r>
              <a:rPr lang="en-US" altLang="zh-CN" sz="2400" b="1" dirty="0" smtClean="0"/>
              <a:t>-32768</a:t>
            </a:r>
            <a:r>
              <a:rPr lang="zh-CN" altLang="en-US" sz="2400" b="1" dirty="0" smtClean="0"/>
              <a:t>到</a:t>
            </a:r>
            <a:r>
              <a:rPr lang="en-US" altLang="zh-CN" sz="2400" b="1" dirty="0" smtClean="0"/>
              <a:t>32767</a:t>
            </a:r>
          </a:p>
          <a:p>
            <a:endParaRPr lang="en-US" altLang="zh-CN" sz="2400" b="1" dirty="0" smtClean="0"/>
          </a:p>
          <a:p>
            <a:r>
              <a:rPr lang="en-US" altLang="zh-CN" sz="2400" b="1" dirty="0" smtClean="0"/>
              <a:t>main()</a:t>
            </a:r>
          </a:p>
          <a:p>
            <a:r>
              <a:rPr lang="en-US" altLang="zh-CN" sz="2400" b="1" dirty="0" smtClean="0"/>
              <a:t>{</a:t>
            </a:r>
          </a:p>
          <a:p>
            <a:r>
              <a:rPr lang="en-US" altLang="zh-CN" sz="2400" b="1" dirty="0" smtClean="0"/>
              <a:t>	</a:t>
            </a:r>
            <a:r>
              <a:rPr lang="en-US" altLang="zh-CN" sz="2400" b="1" dirty="0" err="1" smtClean="0"/>
              <a:t>int</a:t>
            </a:r>
            <a:r>
              <a:rPr lang="en-US" altLang="zh-CN" sz="2400" b="1" dirty="0" smtClean="0"/>
              <a:t> num;</a:t>
            </a:r>
          </a:p>
          <a:p>
            <a:r>
              <a:rPr lang="en-US" altLang="zh-CN" sz="2400" b="1" dirty="0" smtClean="0"/>
              <a:t>	num=89101;</a:t>
            </a:r>
          </a:p>
          <a:p>
            <a:r>
              <a:rPr lang="en-US" altLang="zh-CN" sz="2400" b="1" dirty="0" smtClean="0"/>
              <a:t>	</a:t>
            </a:r>
            <a:r>
              <a:rPr lang="en-US" altLang="zh-CN" sz="2400" b="1" dirty="0" err="1" smtClean="0"/>
              <a:t>printf</a:t>
            </a:r>
            <a:r>
              <a:rPr lang="en-US" altLang="zh-CN" sz="2400" b="1" dirty="0" smtClean="0"/>
              <a:t>(“%</a:t>
            </a:r>
            <a:r>
              <a:rPr lang="en-US" altLang="zh-CN" sz="2400" b="1" dirty="0" err="1" smtClean="0"/>
              <a:t>d”,num</a:t>
            </a:r>
            <a:r>
              <a:rPr lang="en-US" altLang="zh-CN" sz="2400" b="1" dirty="0" smtClean="0"/>
              <a:t>);</a:t>
            </a:r>
            <a:br>
              <a:rPr lang="en-US" altLang="zh-CN" sz="2400" b="1" dirty="0" smtClean="0"/>
            </a:br>
            <a:r>
              <a:rPr lang="en-US" altLang="zh-CN" sz="2400" b="1" dirty="0" smtClean="0"/>
              <a:t>}</a:t>
            </a:r>
          </a:p>
          <a:p>
            <a:endParaRPr lang="en-US" altLang="zh-CN" sz="2400" b="1" dirty="0" smtClean="0"/>
          </a:p>
          <a:p>
            <a:r>
              <a:rPr lang="zh-CN" altLang="en-US" sz="2400" b="1" dirty="0" smtClean="0"/>
              <a:t>输出结果也不是</a:t>
            </a:r>
            <a:r>
              <a:rPr lang="en-US" altLang="zh-CN" sz="2400" b="1" dirty="0" smtClean="0"/>
              <a:t>89101.</a:t>
            </a:r>
            <a:r>
              <a:rPr lang="zh-CN" altLang="en-US" sz="2400" b="1" dirty="0" smtClean="0"/>
              <a:t>。。</a:t>
            </a:r>
            <a:endParaRPr lang="en-US" altLang="zh-CN" sz="2400" b="1" dirty="0" smtClean="0"/>
          </a:p>
          <a:p>
            <a:r>
              <a:rPr lang="zh-CN" altLang="en-US" sz="2400" b="1" dirty="0" smtClean="0"/>
              <a:t>同样会因编译器不同而不同。</a:t>
            </a:r>
            <a:endParaRPr lang="zh-CN" altLang="en-US" sz="2400" b="1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8662" y="1071546"/>
            <a:ext cx="73581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4.Scanf</a:t>
            </a:r>
            <a:r>
              <a:rPr lang="zh-CN" altLang="en-US" sz="2800" b="1" dirty="0" smtClean="0"/>
              <a:t>中未使用取地址运算符“</a:t>
            </a:r>
            <a:r>
              <a:rPr lang="en-US" altLang="zh-CN" sz="2800" b="1" dirty="0" smtClean="0"/>
              <a:t>&amp;</a:t>
            </a:r>
            <a:r>
              <a:rPr lang="zh-CN" altLang="en-US" sz="2800" b="1" dirty="0" smtClean="0"/>
              <a:t>”，或者在</a:t>
            </a:r>
            <a:r>
              <a:rPr lang="en-US" altLang="zh-CN" sz="2800" b="1" dirty="0" err="1" smtClean="0"/>
              <a:t>printf</a:t>
            </a:r>
            <a:r>
              <a:rPr lang="zh-CN" altLang="en-US" sz="2800" b="1" dirty="0" smtClean="0"/>
              <a:t>中使用</a:t>
            </a:r>
            <a:endParaRPr lang="en-US" altLang="zh-CN" sz="2800" b="1" dirty="0" smtClean="0"/>
          </a:p>
          <a:p>
            <a:endParaRPr lang="en-US" altLang="zh-CN" sz="2800" b="1" dirty="0" smtClean="0"/>
          </a:p>
          <a:p>
            <a:r>
              <a:rPr lang="en-US" altLang="zh-CN" sz="2800" b="1" dirty="0" err="1" smtClean="0"/>
              <a:t>Scanf</a:t>
            </a:r>
            <a:r>
              <a:rPr lang="en-US" altLang="zh-CN" sz="2800" b="1" dirty="0" smtClean="0"/>
              <a:t>(“%d %</a:t>
            </a:r>
            <a:r>
              <a:rPr lang="en-US" altLang="zh-CN" sz="2800" b="1" dirty="0" err="1" smtClean="0"/>
              <a:t>d”,a,b</a:t>
            </a:r>
            <a:r>
              <a:rPr lang="en-US" altLang="zh-CN" sz="2800" b="1" dirty="0" smtClean="0"/>
              <a:t>);        -&gt;</a:t>
            </a:r>
            <a:r>
              <a:rPr lang="zh-CN" altLang="en-US" sz="2800" b="1" dirty="0" smtClean="0"/>
              <a:t>直接</a:t>
            </a:r>
            <a:r>
              <a:rPr lang="en-US" altLang="zh-CN" sz="2800" b="1" dirty="0" smtClean="0"/>
              <a:t>RE</a:t>
            </a:r>
          </a:p>
          <a:p>
            <a:r>
              <a:rPr lang="en-US" altLang="zh-CN" sz="2800" b="1" dirty="0" err="1" smtClean="0"/>
              <a:t>Printf</a:t>
            </a:r>
            <a:r>
              <a:rPr lang="en-US" altLang="zh-CN" sz="2800" b="1" dirty="0" smtClean="0"/>
              <a:t>(“%d</a:t>
            </a:r>
            <a:r>
              <a:rPr lang="zh-CN" altLang="en-US" sz="2800" b="1" dirty="0" smtClean="0"/>
              <a:t> </a:t>
            </a:r>
            <a:r>
              <a:rPr lang="en-US" altLang="zh-CN" sz="2800" b="1" dirty="0" smtClean="0"/>
              <a:t>%</a:t>
            </a:r>
            <a:r>
              <a:rPr lang="en-US" altLang="zh-CN" sz="2800" b="1" dirty="0" err="1" smtClean="0"/>
              <a:t>d”,&amp;a,&amp;b</a:t>
            </a:r>
            <a:r>
              <a:rPr lang="en-US" altLang="zh-CN" sz="2800" b="1" dirty="0" smtClean="0"/>
              <a:t> );        -&gt;</a:t>
            </a:r>
            <a:r>
              <a:rPr lang="zh-CN" altLang="en-US" sz="2800" b="1" dirty="0" smtClean="0"/>
              <a:t>会输出</a:t>
            </a:r>
            <a:r>
              <a:rPr lang="en-US" altLang="zh-CN" sz="2800" b="1" dirty="0" err="1" smtClean="0"/>
              <a:t>ab</a:t>
            </a:r>
            <a:r>
              <a:rPr lang="zh-CN" altLang="en-US" sz="2800" b="1" dirty="0" smtClean="0"/>
              <a:t>相应的地址号（截位后）</a:t>
            </a:r>
            <a:r>
              <a:rPr lang="en-US" altLang="zh-CN" sz="2800" b="1" dirty="0" smtClean="0"/>
              <a:t>,</a:t>
            </a:r>
            <a:r>
              <a:rPr lang="zh-CN" altLang="en-US" sz="2800" b="1" dirty="0" smtClean="0"/>
              <a:t>或者</a:t>
            </a:r>
            <a:r>
              <a:rPr lang="en-US" altLang="zh-CN" sz="2800" b="1" dirty="0" smtClean="0"/>
              <a:t>RE</a:t>
            </a:r>
            <a:endParaRPr lang="zh-CN" altLang="en-US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28662" y="3857628"/>
            <a:ext cx="73581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5.</a:t>
            </a:r>
            <a:r>
              <a:rPr lang="zh-CN" altLang="en-US" sz="2800" b="1" dirty="0" smtClean="0"/>
              <a:t>语句后面漏分号</a:t>
            </a:r>
            <a:endParaRPr lang="en-US" altLang="zh-CN" sz="2800" b="1" dirty="0" smtClean="0"/>
          </a:p>
          <a:p>
            <a:endParaRPr lang="en-US" altLang="zh-CN" sz="2800" b="1" dirty="0" smtClean="0"/>
          </a:p>
          <a:p>
            <a:endParaRPr lang="zh-CN" altLang="en-US" sz="28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7" y="4572008"/>
            <a:ext cx="8695025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0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1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28662" y="1071546"/>
            <a:ext cx="7143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6.</a:t>
            </a:r>
            <a:r>
              <a:rPr lang="zh-CN" altLang="en-US" sz="2800" b="1" dirty="0" smtClean="0"/>
              <a:t>错把 </a:t>
            </a:r>
            <a:r>
              <a:rPr lang="en-US" altLang="zh-CN" sz="2800" b="1" dirty="0" smtClean="0"/>
              <a:t>= </a:t>
            </a:r>
            <a:r>
              <a:rPr lang="zh-CN" altLang="en-US" sz="2800" b="1" dirty="0" smtClean="0"/>
              <a:t>当做 </a:t>
            </a:r>
            <a:r>
              <a:rPr lang="en-US" altLang="zh-CN" sz="2800" b="1" dirty="0" smtClean="0"/>
              <a:t>==</a:t>
            </a:r>
          </a:p>
          <a:p>
            <a:endParaRPr lang="en-US" altLang="zh-CN" sz="2800" b="1" dirty="0" smtClean="0"/>
          </a:p>
          <a:p>
            <a:r>
              <a:rPr lang="en-US" altLang="zh-CN" sz="2800" b="1" dirty="0" smtClean="0"/>
              <a:t>main()</a:t>
            </a:r>
          </a:p>
          <a:p>
            <a:r>
              <a:rPr lang="en-US" altLang="zh-CN" sz="2800" b="1" dirty="0" smtClean="0"/>
              <a:t>{</a:t>
            </a:r>
          </a:p>
          <a:p>
            <a:r>
              <a:rPr lang="en-US" altLang="zh-CN" sz="2800" b="1" dirty="0" smtClean="0"/>
              <a:t>	</a:t>
            </a:r>
            <a:r>
              <a:rPr lang="en-US" altLang="zh-CN" sz="2800" b="1" dirty="0" err="1" smtClean="0"/>
              <a:t>int</a:t>
            </a:r>
            <a:r>
              <a:rPr lang="en-US" altLang="zh-CN" sz="2800" b="1" dirty="0" smtClean="0"/>
              <a:t> a=3,b=4;</a:t>
            </a:r>
          </a:p>
          <a:p>
            <a:r>
              <a:rPr lang="en-US" altLang="zh-CN" sz="2800" b="1" dirty="0" smtClean="0"/>
              <a:t>	if(a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=</a:t>
            </a:r>
            <a:r>
              <a:rPr lang="en-US" altLang="zh-CN" sz="2800" b="1" dirty="0" smtClean="0"/>
              <a:t>b)</a:t>
            </a:r>
          </a:p>
          <a:p>
            <a:r>
              <a:rPr lang="en-US" altLang="zh-CN" sz="2800" b="1" dirty="0" smtClean="0"/>
              <a:t>		</a:t>
            </a:r>
            <a:r>
              <a:rPr lang="en-US" altLang="zh-CN" sz="2800" b="1" dirty="0" err="1" smtClean="0"/>
              <a:t>printf</a:t>
            </a:r>
            <a:r>
              <a:rPr lang="en-US" altLang="zh-CN" sz="2800" b="1" dirty="0" smtClean="0"/>
              <a:t>(“a equal to b”);</a:t>
            </a:r>
          </a:p>
          <a:p>
            <a:r>
              <a:rPr lang="en-US" altLang="zh-CN" sz="2800" b="1" dirty="0" smtClean="0"/>
              <a:t>	else </a:t>
            </a:r>
          </a:p>
          <a:p>
            <a:r>
              <a:rPr lang="en-US" altLang="zh-CN" sz="2800" b="1" dirty="0" smtClean="0"/>
              <a:t>		</a:t>
            </a:r>
            <a:r>
              <a:rPr lang="en-US" altLang="zh-CN" sz="2800" b="1" dirty="0" err="1" smtClean="0"/>
              <a:t>printf</a:t>
            </a:r>
            <a:r>
              <a:rPr lang="en-US" altLang="zh-CN" sz="2800" b="1" dirty="0" smtClean="0"/>
              <a:t>(“not”);</a:t>
            </a:r>
          </a:p>
          <a:p>
            <a:r>
              <a:rPr lang="en-US" altLang="zh-CN" sz="2800" b="1" dirty="0" smtClean="0"/>
              <a:t>}</a:t>
            </a:r>
            <a:endParaRPr lang="zh-CN" altLang="en-US" sz="2800" b="1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0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14356"/>
            <a:ext cx="9563100" cy="599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extBox 1"/>
          <p:cNvSpPr txBox="1"/>
          <p:nvPr/>
        </p:nvSpPr>
        <p:spPr>
          <a:xfrm>
            <a:off x="1142976" y="785794"/>
            <a:ext cx="6429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b="1" dirty="0" smtClean="0"/>
          </a:p>
          <a:p>
            <a:r>
              <a:rPr lang="zh-CN" altLang="en-US" sz="2400" b="1" dirty="0" smtClean="0"/>
              <a:t>曾经有人在极速论坛上发了这样一个帖子</a:t>
            </a:r>
            <a:endParaRPr lang="zh-CN" altLang="en-US" sz="2400" b="1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928934"/>
            <a:ext cx="10462843" cy="2457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285984" y="3357562"/>
            <a:ext cx="7786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/>
              <a:t>7.</a:t>
            </a:r>
            <a:r>
              <a:rPr lang="zh-CN" altLang="en-US" sz="2400" b="1" dirty="0" smtClean="0"/>
              <a:t>在不该加分号的地方加了分号</a:t>
            </a:r>
            <a:endParaRPr lang="zh-CN" altLang="en-US" sz="2400" b="1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307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3648" y="1214422"/>
            <a:ext cx="757242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8.</a:t>
            </a:r>
            <a:r>
              <a:rPr lang="zh-CN" altLang="en-US" sz="2800" b="1" dirty="0" smtClean="0"/>
              <a:t>对应该有花括号的复合语句，没有加花括号</a:t>
            </a:r>
            <a:endParaRPr lang="en-US" altLang="zh-CN" sz="2800" b="1" dirty="0" smtClean="0"/>
          </a:p>
          <a:p>
            <a:endParaRPr lang="en-US" altLang="zh-CN" sz="2800" b="1" dirty="0" smtClean="0"/>
          </a:p>
          <a:p>
            <a:r>
              <a:rPr lang="en-US" altLang="zh-CN" sz="2800" b="1" dirty="0" smtClean="0"/>
              <a:t>sum=0;</a:t>
            </a:r>
          </a:p>
          <a:p>
            <a:r>
              <a:rPr lang="en-US" altLang="zh-CN" sz="2800" b="1" dirty="0" err="1" smtClean="0"/>
              <a:t>i</a:t>
            </a:r>
            <a:r>
              <a:rPr lang="en-US" altLang="zh-CN" sz="2800" b="1" dirty="0" smtClean="0"/>
              <a:t>=1;</a:t>
            </a:r>
          </a:p>
          <a:p>
            <a:r>
              <a:rPr lang="en-US" altLang="zh-CN" sz="2800" b="1" dirty="0" smtClean="0"/>
              <a:t>while(1&lt;=100)</a:t>
            </a:r>
          </a:p>
          <a:p>
            <a:r>
              <a:rPr lang="en-US" altLang="zh-CN" sz="2800" b="1" dirty="0" smtClean="0"/>
              <a:t>sum=</a:t>
            </a:r>
            <a:r>
              <a:rPr lang="en-US" altLang="zh-CN" sz="2800" b="1" dirty="0" err="1" smtClean="0"/>
              <a:t>sum+i</a:t>
            </a:r>
            <a:r>
              <a:rPr lang="en-US" altLang="zh-CN" sz="2800" b="1" dirty="0" smtClean="0"/>
              <a:t>;</a:t>
            </a:r>
          </a:p>
          <a:p>
            <a:r>
              <a:rPr lang="en-US" altLang="zh-CN" sz="2800" b="1" dirty="0" err="1" smtClean="0"/>
              <a:t>i</a:t>
            </a:r>
            <a:r>
              <a:rPr lang="en-US" altLang="zh-CN" sz="2800" b="1" dirty="0" smtClean="0"/>
              <a:t>++;</a:t>
            </a:r>
          </a:p>
          <a:p>
            <a:endParaRPr lang="en-US" altLang="zh-CN" sz="2800" b="1" dirty="0" smtClean="0"/>
          </a:p>
          <a:p>
            <a:r>
              <a:rPr lang="zh-CN" altLang="en-US" sz="2800" b="1" dirty="0" smtClean="0"/>
              <a:t>提倡在</a:t>
            </a:r>
            <a:r>
              <a:rPr lang="en-US" altLang="zh-CN" sz="2800" b="1" dirty="0" err="1" smtClean="0"/>
              <a:t>if,else,for,while</a:t>
            </a:r>
            <a:r>
              <a:rPr lang="zh-CN" altLang="en-US" sz="2800" b="1" dirty="0" smtClean="0"/>
              <a:t>等语句后都写上花括号</a:t>
            </a:r>
            <a:endParaRPr lang="zh-CN" altLang="en-US" sz="2800" b="1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75656" y="836712"/>
            <a:ext cx="657229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9.</a:t>
            </a:r>
            <a:r>
              <a:rPr lang="zh-CN" altLang="en-US" sz="2800" b="1" dirty="0" smtClean="0"/>
              <a:t>在定义数组时候，将定义的“元素个数”误认为是“可使用的最大下标值”</a:t>
            </a:r>
            <a:endParaRPr lang="en-US" altLang="zh-CN" sz="2800" b="1" dirty="0" smtClean="0"/>
          </a:p>
          <a:p>
            <a:endParaRPr lang="en-US" altLang="zh-CN" sz="2800" b="1" dirty="0" smtClean="0"/>
          </a:p>
          <a:p>
            <a:r>
              <a:rPr lang="en-US" altLang="zh-CN" sz="2800" b="1" dirty="0" smtClean="0"/>
              <a:t>main()</a:t>
            </a:r>
          </a:p>
          <a:p>
            <a:r>
              <a:rPr lang="en-US" altLang="zh-CN" sz="2800" b="1" dirty="0" smtClean="0"/>
              <a:t>{</a:t>
            </a:r>
          </a:p>
          <a:p>
            <a:r>
              <a:rPr lang="en-US" altLang="zh-CN" sz="2800" b="1" dirty="0" smtClean="0"/>
              <a:t>	</a:t>
            </a:r>
            <a:r>
              <a:rPr lang="en-US" altLang="zh-CN" sz="2800" b="1" dirty="0" err="1" smtClean="0"/>
              <a:t>int</a:t>
            </a:r>
            <a:r>
              <a:rPr lang="en-US" altLang="zh-CN" sz="2800" b="1" dirty="0" smtClean="0"/>
              <a:t> a[10]={1,2,3,4,5,6,7,8,9,10};</a:t>
            </a:r>
          </a:p>
          <a:p>
            <a:r>
              <a:rPr lang="en-US" altLang="zh-CN" sz="2800" b="1" dirty="0" smtClean="0"/>
              <a:t>	</a:t>
            </a:r>
            <a:r>
              <a:rPr lang="en-US" altLang="zh-CN" sz="2800" b="1" dirty="0" err="1" smtClean="0"/>
              <a:t>int</a:t>
            </a:r>
            <a:r>
              <a:rPr lang="en-US" altLang="zh-CN" sz="2800" b="1" dirty="0" smtClean="0"/>
              <a:t> </a:t>
            </a:r>
            <a:r>
              <a:rPr lang="en-US" altLang="zh-CN" sz="2800" b="1" dirty="0" err="1" smtClean="0"/>
              <a:t>i</a:t>
            </a:r>
            <a:r>
              <a:rPr lang="en-US" altLang="zh-CN" sz="2800" b="1" dirty="0" smtClean="0"/>
              <a:t>;</a:t>
            </a:r>
          </a:p>
          <a:p>
            <a:r>
              <a:rPr lang="en-US" altLang="zh-CN" sz="2800" b="1" dirty="0" smtClean="0"/>
              <a:t>	for(</a:t>
            </a:r>
            <a:r>
              <a:rPr lang="en-US" altLang="zh-CN" sz="2800" b="1" dirty="0" err="1" smtClean="0"/>
              <a:t>i</a:t>
            </a:r>
            <a:r>
              <a:rPr lang="en-US" altLang="zh-CN" sz="2800" b="1" dirty="0" smtClean="0"/>
              <a:t>=1;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i&lt;=10</a:t>
            </a:r>
            <a:r>
              <a:rPr lang="en-US" altLang="zh-CN" sz="2800" b="1" dirty="0" smtClean="0"/>
              <a:t>;i++)</a:t>
            </a:r>
          </a:p>
          <a:p>
            <a:r>
              <a:rPr lang="en-US" altLang="zh-CN" sz="2800" b="1" dirty="0" smtClean="0"/>
              <a:t>	</a:t>
            </a:r>
            <a:r>
              <a:rPr lang="en-US" altLang="zh-CN" sz="2800" b="1" dirty="0" err="1" smtClean="0"/>
              <a:t>printf</a:t>
            </a:r>
            <a:r>
              <a:rPr lang="en-US" altLang="zh-CN" sz="2800" b="1" dirty="0" smtClean="0"/>
              <a:t>(“%</a:t>
            </a:r>
            <a:r>
              <a:rPr lang="en-US" altLang="zh-CN" sz="2800" b="1" dirty="0" err="1" smtClean="0"/>
              <a:t>d”,a</a:t>
            </a:r>
            <a:r>
              <a:rPr lang="en-US" altLang="zh-CN" sz="2800" b="1" dirty="0" smtClean="0"/>
              <a:t>[</a:t>
            </a:r>
            <a:r>
              <a:rPr lang="en-US" altLang="zh-CN" sz="2800" b="1" dirty="0" err="1" smtClean="0"/>
              <a:t>i</a:t>
            </a:r>
            <a:r>
              <a:rPr lang="en-US" altLang="zh-CN" sz="2800" b="1" dirty="0" smtClean="0"/>
              <a:t>]);</a:t>
            </a:r>
          </a:p>
          <a:p>
            <a:r>
              <a:rPr lang="en-US" altLang="zh-CN" sz="2800" b="1" dirty="0" smtClean="0"/>
              <a:t>}</a:t>
            </a:r>
          </a:p>
          <a:p>
            <a:endParaRPr lang="en-US" altLang="zh-CN" sz="2800" b="1" dirty="0" smtClean="0"/>
          </a:p>
          <a:p>
            <a:r>
              <a:rPr lang="zh-CN" altLang="en-US" sz="2800" b="1" dirty="0" smtClean="0"/>
              <a:t>实际上不存在</a:t>
            </a:r>
            <a:r>
              <a:rPr lang="en-US" altLang="zh-CN" sz="2800" b="1" dirty="0" smtClean="0"/>
              <a:t>a[10]</a:t>
            </a:r>
            <a:r>
              <a:rPr lang="zh-CN" altLang="en-US" sz="2800" b="1" dirty="0" smtClean="0"/>
              <a:t>这个元素，会出现</a:t>
            </a:r>
            <a:r>
              <a:rPr lang="en-US" altLang="zh-CN" sz="2800" b="1" dirty="0" smtClean="0"/>
              <a:t>RE</a:t>
            </a:r>
            <a:r>
              <a:rPr lang="zh-CN" altLang="en-US" sz="2800" b="1" dirty="0" smtClean="0"/>
              <a:t>（内存应用无效）</a:t>
            </a:r>
            <a:endParaRPr lang="zh-CN" altLang="en-US" sz="2800" b="1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3648" y="620688"/>
            <a:ext cx="750099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10.switch</a:t>
            </a:r>
            <a:r>
              <a:rPr lang="zh-CN" altLang="en-US" sz="2800" b="1" dirty="0" smtClean="0"/>
              <a:t>语句的各分支中漏写了</a:t>
            </a:r>
            <a:r>
              <a:rPr lang="en-US" altLang="zh-CN" sz="2800" b="1" dirty="0" smtClean="0"/>
              <a:t>break </a:t>
            </a:r>
            <a:r>
              <a:rPr lang="zh-CN" altLang="en-US" sz="2800" b="1" dirty="0" smtClean="0"/>
              <a:t>语句</a:t>
            </a:r>
            <a:endParaRPr lang="en-US" altLang="zh-CN" sz="2800" b="1" dirty="0" smtClean="0"/>
          </a:p>
          <a:p>
            <a:endParaRPr lang="en-US" altLang="zh-CN" sz="2800" b="1" dirty="0" smtClean="0"/>
          </a:p>
          <a:p>
            <a:r>
              <a:rPr lang="en-US" altLang="zh-CN" sz="2800" b="1" dirty="0" smtClean="0"/>
              <a:t>switch(score)</a:t>
            </a:r>
          </a:p>
          <a:p>
            <a:r>
              <a:rPr lang="en-US" altLang="zh-CN" sz="2800" b="1" dirty="0" smtClean="0"/>
              <a:t>{</a:t>
            </a:r>
          </a:p>
          <a:p>
            <a:r>
              <a:rPr lang="en-US" altLang="zh-CN" sz="2800" b="1" dirty="0" smtClean="0"/>
              <a:t>case 5:printf(“very good”);</a:t>
            </a:r>
          </a:p>
          <a:p>
            <a:r>
              <a:rPr lang="en-US" altLang="zh-CN" sz="2800" b="1" dirty="0" smtClean="0"/>
              <a:t>case 4:printf(“good!”);</a:t>
            </a:r>
          </a:p>
          <a:p>
            <a:r>
              <a:rPr lang="en-US" altLang="zh-CN" sz="2800" b="1" dirty="0" smtClean="0"/>
              <a:t>case 3:printf(“pass”);</a:t>
            </a:r>
          </a:p>
          <a:p>
            <a:r>
              <a:rPr lang="en-US" altLang="zh-CN" sz="2800" b="1" dirty="0" smtClean="0"/>
              <a:t>case 2:printf(“Fail”);</a:t>
            </a:r>
          </a:p>
          <a:p>
            <a:r>
              <a:rPr lang="en-US" altLang="zh-CN" sz="2800" b="1" dirty="0" err="1" smtClean="0"/>
              <a:t>default:printf</a:t>
            </a:r>
            <a:r>
              <a:rPr lang="en-US" altLang="zh-CN" sz="2800" b="1" dirty="0" smtClean="0"/>
              <a:t>(“error”);</a:t>
            </a:r>
          </a:p>
          <a:p>
            <a:r>
              <a:rPr lang="en-US" altLang="zh-CN" sz="2800" b="1" dirty="0" smtClean="0"/>
              <a:t>}</a:t>
            </a:r>
          </a:p>
          <a:p>
            <a:endParaRPr lang="en-US" altLang="zh-CN" sz="2800" b="1" dirty="0" smtClean="0"/>
          </a:p>
          <a:p>
            <a:r>
              <a:rPr lang="zh-CN" altLang="en-US" sz="2800" b="1" dirty="0" smtClean="0"/>
              <a:t>当</a:t>
            </a:r>
            <a:r>
              <a:rPr lang="en-US" altLang="zh-CN" sz="2800" b="1" dirty="0" smtClean="0"/>
              <a:t>score=5</a:t>
            </a:r>
            <a:r>
              <a:rPr lang="zh-CN" altLang="en-US" sz="2800" b="1" dirty="0" smtClean="0"/>
              <a:t>时候，</a:t>
            </a:r>
            <a:endParaRPr lang="en-US" altLang="zh-CN" sz="2800" b="1" dirty="0" smtClean="0"/>
          </a:p>
          <a:p>
            <a:r>
              <a:rPr lang="zh-CN" altLang="en-US" sz="2800" b="1" dirty="0" smtClean="0"/>
              <a:t>输出 </a:t>
            </a:r>
            <a:r>
              <a:rPr lang="en-US" altLang="zh-CN" sz="2800" b="1" dirty="0" smtClean="0"/>
              <a:t>very </a:t>
            </a:r>
            <a:r>
              <a:rPr lang="en-US" altLang="zh-CN" sz="2800" b="1" dirty="0" err="1" smtClean="0"/>
              <a:t>goodgood!passFailerror</a:t>
            </a:r>
            <a:endParaRPr lang="zh-CN" altLang="en-US" sz="2800" b="1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3" dur="8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4" dur="8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8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0" dur="8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1" dur="8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8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3608" y="928670"/>
            <a:ext cx="745748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11.</a:t>
            </a:r>
            <a:r>
              <a:rPr lang="zh-CN" altLang="en-US" sz="2800" b="1" dirty="0" smtClean="0"/>
              <a:t>使用自加（</a:t>
            </a:r>
            <a:r>
              <a:rPr lang="en-US" altLang="zh-CN" sz="2800" b="1" dirty="0" smtClean="0"/>
              <a:t>++</a:t>
            </a:r>
            <a:r>
              <a:rPr lang="zh-CN" altLang="en-US" sz="2800" b="1" dirty="0" smtClean="0"/>
              <a:t>）和自减（</a:t>
            </a:r>
            <a:r>
              <a:rPr lang="en-US" altLang="zh-CN" sz="2800" b="1" dirty="0" smtClean="0"/>
              <a:t>--</a:t>
            </a:r>
            <a:r>
              <a:rPr lang="zh-CN" altLang="en-US" sz="2800" b="1" dirty="0" smtClean="0"/>
              <a:t>）时候的错误</a:t>
            </a:r>
            <a:endParaRPr lang="en-US" altLang="zh-CN" sz="2800" b="1" dirty="0" smtClean="0"/>
          </a:p>
          <a:p>
            <a:endParaRPr lang="en-US" altLang="zh-CN" sz="2800" b="1" dirty="0" smtClean="0"/>
          </a:p>
          <a:p>
            <a:r>
              <a:rPr lang="en-US" altLang="zh-CN" sz="2800" b="1" dirty="0" smtClean="0"/>
              <a:t>void main()</a:t>
            </a:r>
          </a:p>
          <a:p>
            <a:r>
              <a:rPr lang="en-US" altLang="zh-CN" sz="2800" b="1" dirty="0" smtClean="0"/>
              <a:t>{</a:t>
            </a:r>
          </a:p>
          <a:p>
            <a:r>
              <a:rPr lang="en-US" altLang="zh-CN" sz="2800" b="1" dirty="0" smtClean="0"/>
              <a:t>	</a:t>
            </a:r>
            <a:r>
              <a:rPr lang="en-US" altLang="zh-CN" sz="2800" b="1" dirty="0" err="1" smtClean="0"/>
              <a:t>int</a:t>
            </a:r>
            <a:r>
              <a:rPr lang="en-US" altLang="zh-CN" sz="2800" b="1" dirty="0" smtClean="0"/>
              <a:t> *</a:t>
            </a:r>
            <a:r>
              <a:rPr lang="en-US" altLang="zh-CN" sz="2800" b="1" dirty="0" err="1" smtClean="0"/>
              <a:t>p,a</a:t>
            </a:r>
            <a:r>
              <a:rPr lang="en-US" altLang="zh-CN" sz="2800" b="1" dirty="0" smtClean="0"/>
              <a:t>[5]={1,2,3,4,5};</a:t>
            </a:r>
          </a:p>
          <a:p>
            <a:r>
              <a:rPr lang="en-US" altLang="zh-CN" sz="2800" b="1" dirty="0" smtClean="0"/>
              <a:t>	p=a;</a:t>
            </a:r>
          </a:p>
          <a:p>
            <a:r>
              <a:rPr lang="en-US" altLang="zh-CN" sz="2800" b="1" dirty="0" smtClean="0"/>
              <a:t>	</a:t>
            </a:r>
            <a:r>
              <a:rPr lang="en-US" altLang="zh-CN" sz="2800" b="1" dirty="0" err="1" smtClean="0"/>
              <a:t>printf</a:t>
            </a:r>
            <a:r>
              <a:rPr lang="en-US" altLang="zh-CN" sz="2800" b="1" dirty="0" smtClean="0"/>
              <a:t>(“%d”,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*p++</a:t>
            </a:r>
            <a:r>
              <a:rPr lang="en-US" altLang="zh-CN" sz="2800" b="1" dirty="0" smtClean="0"/>
              <a:t>)</a:t>
            </a:r>
          </a:p>
          <a:p>
            <a:r>
              <a:rPr lang="en-US" altLang="zh-CN" sz="2800" b="1" dirty="0" smtClean="0"/>
              <a:t>}</a:t>
            </a:r>
          </a:p>
          <a:p>
            <a:endParaRPr lang="en-US" altLang="zh-CN" sz="2800" b="1" dirty="0" smtClean="0"/>
          </a:p>
          <a:p>
            <a:endParaRPr lang="zh-CN" altLang="en-US" sz="2800" b="1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764704"/>
            <a:ext cx="757413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 smtClean="0"/>
              <a:t>i</a:t>
            </a:r>
            <a:r>
              <a:rPr lang="en-US" sz="2800" b="1" dirty="0" smtClean="0"/>
              <a:t>++:</a:t>
            </a:r>
            <a:r>
              <a:rPr lang="zh-CN" altLang="en-US" sz="2800" b="1" dirty="0" smtClean="0"/>
              <a:t>先取出内存中的值返回，然后把寄存器的值</a:t>
            </a:r>
            <a:r>
              <a:rPr lang="en-US" altLang="zh-CN" sz="2800" b="1" dirty="0" smtClean="0"/>
              <a:t>+1</a:t>
            </a:r>
          </a:p>
          <a:p>
            <a:r>
              <a:rPr lang="en-US" altLang="zh-CN" sz="2800" b="1" dirty="0" smtClean="0"/>
              <a:t> </a:t>
            </a:r>
            <a:r>
              <a:rPr lang="en-US" sz="2800" b="1" dirty="0" err="1" smtClean="0"/>
              <a:t>i</a:t>
            </a:r>
            <a:r>
              <a:rPr lang="en-US" sz="2800" b="1" dirty="0" smtClean="0"/>
              <a:t>--：</a:t>
            </a:r>
            <a:r>
              <a:rPr lang="zh-CN" altLang="en-US" sz="2800" b="1" dirty="0" smtClean="0"/>
              <a:t>类似</a:t>
            </a:r>
            <a:endParaRPr lang="en-US" altLang="zh-CN" sz="2800" b="1" dirty="0" smtClean="0"/>
          </a:p>
          <a:p>
            <a:r>
              <a:rPr lang="zh-CN" altLang="en-US" sz="2800" b="1" dirty="0" smtClean="0"/>
              <a:t> </a:t>
            </a:r>
            <a:r>
              <a:rPr lang="en-US" altLang="zh-CN" sz="2800" b="1" dirty="0" smtClean="0"/>
              <a:t>++</a:t>
            </a:r>
            <a:r>
              <a:rPr lang="en-US" sz="2800" b="1" dirty="0" err="1" smtClean="0"/>
              <a:t>i</a:t>
            </a:r>
            <a:r>
              <a:rPr lang="en-US" sz="2800" b="1" dirty="0" smtClean="0"/>
              <a:t>:</a:t>
            </a:r>
            <a:r>
              <a:rPr lang="zh-CN" altLang="en-US" sz="2800" b="1" dirty="0" smtClean="0"/>
              <a:t>先把内存中的值</a:t>
            </a:r>
            <a:r>
              <a:rPr lang="en-US" altLang="zh-CN" sz="2800" b="1" dirty="0" smtClean="0"/>
              <a:t>+1</a:t>
            </a:r>
            <a:r>
              <a:rPr lang="zh-CN" altLang="en-US" sz="2800" b="1" dirty="0" smtClean="0"/>
              <a:t>，然后取出寄存器的值返回</a:t>
            </a:r>
            <a:endParaRPr lang="en-US" altLang="zh-CN" sz="2800" b="1" dirty="0" smtClean="0"/>
          </a:p>
          <a:p>
            <a:r>
              <a:rPr lang="zh-CN" altLang="en-US" sz="2800" b="1" dirty="0" smtClean="0"/>
              <a:t> </a:t>
            </a:r>
            <a:r>
              <a:rPr lang="en-US" altLang="zh-CN" sz="2800" b="1" dirty="0" smtClean="0"/>
              <a:t>--</a:t>
            </a:r>
            <a:r>
              <a:rPr lang="en-US" sz="2800" b="1" dirty="0" err="1" smtClean="0"/>
              <a:t>i</a:t>
            </a:r>
            <a:r>
              <a:rPr lang="en-US" sz="2800" b="1" dirty="0" smtClean="0"/>
              <a:t>:</a:t>
            </a:r>
            <a:r>
              <a:rPr lang="zh-CN" altLang="en-US" sz="2800" b="1" dirty="0" smtClean="0"/>
              <a:t>类似</a:t>
            </a:r>
            <a:endParaRPr lang="en-US" altLang="zh-CN" sz="2800" b="1" dirty="0" smtClean="0"/>
          </a:p>
          <a:p>
            <a:endParaRPr lang="en-US" altLang="zh-CN" sz="2800" b="1" dirty="0" smtClean="0"/>
          </a:p>
          <a:p>
            <a:r>
              <a:rPr lang="zh-CN" altLang="en-US" sz="2800" b="1" dirty="0" smtClean="0"/>
              <a:t>对于</a:t>
            </a:r>
            <a:r>
              <a:rPr lang="en-US" altLang="zh-CN" sz="2800" b="1" dirty="0" smtClean="0"/>
              <a:t>for(</a:t>
            </a:r>
            <a:r>
              <a:rPr lang="en-US" altLang="zh-CN" sz="2800" b="1" dirty="0" err="1" smtClean="0"/>
              <a:t>i</a:t>
            </a:r>
            <a:r>
              <a:rPr lang="en-US" altLang="zh-CN" sz="2800" b="1" dirty="0" smtClean="0"/>
              <a:t>=1;i&lt;=</a:t>
            </a:r>
            <a:r>
              <a:rPr lang="en-US" altLang="zh-CN" sz="2800" b="1" dirty="0" err="1" smtClean="0"/>
              <a:t>n;i</a:t>
            </a:r>
            <a:r>
              <a:rPr lang="en-US" altLang="zh-CN" sz="2800" b="1" dirty="0" smtClean="0"/>
              <a:t>++)</a:t>
            </a:r>
          </a:p>
          <a:p>
            <a:r>
              <a:rPr lang="zh-CN" altLang="en-US" sz="2800" b="1" dirty="0" smtClean="0"/>
              <a:t>实际上是三个语句。首先先判断</a:t>
            </a:r>
            <a:r>
              <a:rPr lang="en-US" altLang="zh-CN" sz="2800" b="1" dirty="0" err="1" smtClean="0"/>
              <a:t>i</a:t>
            </a:r>
            <a:r>
              <a:rPr lang="zh-CN" altLang="en-US" sz="2800" b="1" dirty="0" smtClean="0"/>
              <a:t>是否是小于</a:t>
            </a:r>
            <a:r>
              <a:rPr lang="en-US" altLang="zh-CN" sz="2800" b="1" dirty="0" smtClean="0"/>
              <a:t>N</a:t>
            </a:r>
            <a:r>
              <a:rPr lang="zh-CN" altLang="en-US" sz="2800" b="1" dirty="0" smtClean="0"/>
              <a:t>。之后执行</a:t>
            </a:r>
            <a:r>
              <a:rPr lang="en-US" altLang="zh-CN" sz="2800" b="1" dirty="0" err="1" smtClean="0"/>
              <a:t>i</a:t>
            </a:r>
            <a:r>
              <a:rPr lang="en-US" altLang="zh-CN" sz="2800" b="1" dirty="0" smtClean="0"/>
              <a:t>++</a:t>
            </a:r>
          </a:p>
          <a:p>
            <a:endParaRPr lang="en-US" altLang="zh-CN" sz="2800" b="1" dirty="0" smtClean="0"/>
          </a:p>
          <a:p>
            <a:r>
              <a:rPr lang="zh-CN" altLang="en-US" sz="2800" b="1" dirty="0" smtClean="0"/>
              <a:t>实际代码中，应该尽量避免嵌套的</a:t>
            </a:r>
            <a:r>
              <a:rPr lang="en-US" altLang="zh-CN" sz="2800" b="1" dirty="0" smtClean="0"/>
              <a:t>++ --</a:t>
            </a:r>
            <a:endParaRPr lang="zh-CN" altLang="en-US" sz="2800" b="1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667717"/>
            <a:ext cx="6956846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/>
              <a:t>12.</a:t>
            </a:r>
            <a:r>
              <a:rPr lang="zh-CN" altLang="en-US" sz="2400" b="1" dirty="0" smtClean="0"/>
              <a:t>误认为函数中，形参的值会改变实参的值</a:t>
            </a:r>
            <a:endParaRPr lang="en-US" altLang="zh-CN" sz="2400" b="1" dirty="0" smtClean="0"/>
          </a:p>
          <a:p>
            <a:r>
              <a:rPr lang="en-US" altLang="zh-CN" sz="2400" b="1" dirty="0" smtClean="0">
                <a:solidFill>
                  <a:srgbClr val="FF0000"/>
                </a:solidFill>
              </a:rPr>
              <a:t>void</a:t>
            </a:r>
            <a:r>
              <a:rPr lang="en-US" altLang="zh-CN" sz="2400" b="1" dirty="0" smtClean="0"/>
              <a:t> swap(</a:t>
            </a:r>
            <a:r>
              <a:rPr lang="en-US" altLang="zh-CN" sz="2400" b="1" dirty="0" err="1" smtClean="0"/>
              <a:t>int</a:t>
            </a:r>
            <a:r>
              <a:rPr lang="en-US" altLang="zh-CN" sz="2400" b="1" dirty="0" smtClean="0"/>
              <a:t>  x, </a:t>
            </a:r>
            <a:r>
              <a:rPr lang="en-US" altLang="zh-CN" sz="2400" b="1" dirty="0" err="1" smtClean="0"/>
              <a:t>int</a:t>
            </a:r>
            <a:r>
              <a:rPr lang="en-US" altLang="zh-CN" sz="2400" b="1" dirty="0" smtClean="0"/>
              <a:t> y)</a:t>
            </a:r>
          </a:p>
          <a:p>
            <a:r>
              <a:rPr lang="en-US" altLang="zh-CN" sz="2400" b="1" dirty="0" smtClean="0"/>
              <a:t>{</a:t>
            </a:r>
          </a:p>
          <a:p>
            <a:r>
              <a:rPr lang="en-US" altLang="zh-CN" sz="2400" b="1" dirty="0" smtClean="0"/>
              <a:t>    </a:t>
            </a:r>
            <a:r>
              <a:rPr lang="en-US" altLang="zh-CN" sz="2400" b="1" dirty="0" err="1" smtClean="0"/>
              <a:t>int</a:t>
            </a:r>
            <a:r>
              <a:rPr lang="en-US" altLang="zh-CN" sz="2400" b="1" dirty="0" smtClean="0"/>
              <a:t> t;</a:t>
            </a:r>
          </a:p>
          <a:p>
            <a:r>
              <a:rPr lang="en-US" altLang="zh-CN" sz="2400" b="1" dirty="0" smtClean="0"/>
              <a:t>    t=x; x=y; y=t;</a:t>
            </a:r>
          </a:p>
          <a:p>
            <a:r>
              <a:rPr lang="en-US" altLang="zh-CN" sz="2400" b="1" dirty="0" smtClean="0"/>
              <a:t>}</a:t>
            </a:r>
          </a:p>
          <a:p>
            <a:r>
              <a:rPr lang="en-US" altLang="zh-CN" sz="2400" b="1" dirty="0" smtClean="0"/>
              <a:t>main()</a:t>
            </a:r>
          </a:p>
          <a:p>
            <a:r>
              <a:rPr lang="en-US" altLang="zh-CN" sz="2400" b="1" dirty="0" smtClean="0"/>
              <a:t>{</a:t>
            </a:r>
          </a:p>
          <a:p>
            <a:r>
              <a:rPr lang="en-US" altLang="zh-CN" sz="2400" b="1" dirty="0" smtClean="0"/>
              <a:t>    </a:t>
            </a:r>
            <a:r>
              <a:rPr lang="en-US" altLang="zh-CN" sz="2400" b="1" dirty="0" err="1" smtClean="0"/>
              <a:t>int</a:t>
            </a:r>
            <a:r>
              <a:rPr lang="en-US" altLang="zh-CN" sz="2400" b="1" dirty="0" smtClean="0"/>
              <a:t> a=3, b=4;</a:t>
            </a:r>
          </a:p>
          <a:p>
            <a:r>
              <a:rPr lang="en-US" altLang="zh-CN" sz="2400" b="1" dirty="0" smtClean="0"/>
              <a:t>    swap(</a:t>
            </a:r>
            <a:r>
              <a:rPr lang="en-US" altLang="zh-CN" sz="2400" b="1" dirty="0" err="1" smtClean="0"/>
              <a:t>a,b</a:t>
            </a:r>
            <a:r>
              <a:rPr lang="en-US" altLang="zh-CN" sz="2400" b="1" dirty="0" smtClean="0"/>
              <a:t>);</a:t>
            </a:r>
          </a:p>
          <a:p>
            <a:r>
              <a:rPr lang="en-US" altLang="zh-CN" sz="2400" b="1" dirty="0" smtClean="0"/>
              <a:t>    </a:t>
            </a:r>
            <a:r>
              <a:rPr lang="en-US" altLang="zh-CN" sz="2400" b="1" dirty="0" err="1" smtClean="0"/>
              <a:t>printf</a:t>
            </a:r>
            <a:r>
              <a:rPr lang="en-US" altLang="zh-CN" sz="2400" b="1" dirty="0" smtClean="0"/>
              <a:t>("a=%d b=%</a:t>
            </a:r>
            <a:r>
              <a:rPr lang="en-US" altLang="zh-CN" sz="2400" b="1" dirty="0" err="1" smtClean="0"/>
              <a:t>d",a,b</a:t>
            </a:r>
            <a:r>
              <a:rPr lang="en-US" altLang="zh-CN" sz="2400" b="1" dirty="0" smtClean="0"/>
              <a:t>);</a:t>
            </a:r>
          </a:p>
          <a:p>
            <a:r>
              <a:rPr lang="en-US" altLang="zh-CN" sz="2400" b="1" dirty="0" smtClean="0"/>
              <a:t>}</a:t>
            </a:r>
          </a:p>
          <a:p>
            <a:endParaRPr lang="en-US" altLang="zh-CN" sz="2400" b="1" dirty="0" smtClean="0"/>
          </a:p>
          <a:p>
            <a:r>
              <a:rPr lang="zh-CN" altLang="en-US" sz="2400" b="1" dirty="0" smtClean="0"/>
              <a:t>值不会改变，</a:t>
            </a:r>
            <a:endParaRPr lang="en-US" altLang="zh-CN" sz="2400" b="1" dirty="0" smtClean="0"/>
          </a:p>
          <a:p>
            <a:r>
              <a:rPr lang="en-US" altLang="zh-CN" sz="2400" b="1" dirty="0" smtClean="0"/>
              <a:t>C</a:t>
            </a:r>
            <a:r>
              <a:rPr lang="zh-CN" altLang="en-US" sz="2400" b="1" dirty="0" smtClean="0"/>
              <a:t>语言函数的最大一个特性：</a:t>
            </a:r>
            <a:endParaRPr lang="en-US" altLang="zh-CN" sz="2400" b="1" dirty="0" smtClean="0"/>
          </a:p>
          <a:p>
            <a:r>
              <a:rPr lang="zh-CN" altLang="en-US" sz="2400" b="1" dirty="0" smtClean="0"/>
              <a:t>值传递！</a:t>
            </a:r>
            <a:endParaRPr lang="en-US" altLang="zh-CN" sz="2400" b="1" dirty="0" smtClean="0"/>
          </a:p>
          <a:p>
            <a:endParaRPr lang="zh-CN" alt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860032" y="1196752"/>
            <a:ext cx="428396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解决方法：</a:t>
            </a:r>
            <a:r>
              <a:rPr lang="en-US" altLang="zh-CN" sz="2000" b="1" dirty="0" smtClean="0"/>
              <a:t>1</a:t>
            </a:r>
            <a:r>
              <a:rPr lang="zh-CN" altLang="en-US" sz="2000" b="1" dirty="0" smtClean="0"/>
              <a:t>、改成有返回值的函数</a:t>
            </a:r>
            <a:endParaRPr lang="en-US" altLang="zh-CN" sz="2000" b="1" dirty="0" smtClean="0"/>
          </a:p>
          <a:p>
            <a:r>
              <a:rPr lang="en-US" altLang="zh-CN" sz="2000" b="1" dirty="0" smtClean="0"/>
              <a:t>                      2</a:t>
            </a:r>
            <a:r>
              <a:rPr lang="zh-CN" altLang="en-US" sz="2000" b="1" dirty="0" smtClean="0"/>
              <a:t>、用指针</a:t>
            </a:r>
            <a:endParaRPr lang="en-US" altLang="zh-CN" sz="2000" b="1" dirty="0" smtClean="0"/>
          </a:p>
          <a:p>
            <a:endParaRPr lang="en-US" altLang="zh-CN" sz="2000" b="1" dirty="0" smtClean="0"/>
          </a:p>
          <a:p>
            <a:r>
              <a:rPr lang="en-US" altLang="zh-CN" sz="2000" b="1" dirty="0" smtClean="0">
                <a:solidFill>
                  <a:srgbClr val="FF0000"/>
                </a:solidFill>
              </a:rPr>
              <a:t>void</a:t>
            </a:r>
            <a:r>
              <a:rPr lang="en-US" altLang="zh-CN" sz="2000" b="1" dirty="0" smtClean="0"/>
              <a:t> swap(</a:t>
            </a:r>
            <a:r>
              <a:rPr lang="en-US" altLang="zh-CN" sz="2000" b="1" dirty="0" err="1" smtClean="0"/>
              <a:t>int</a:t>
            </a:r>
            <a:r>
              <a:rPr lang="en-US" altLang="zh-CN" sz="2000" b="1" dirty="0" smtClean="0"/>
              <a:t>  </a:t>
            </a:r>
            <a:r>
              <a:rPr lang="zh-CN" altLang="en-US" sz="2000" b="1" dirty="0" smtClean="0"/>
              <a:t>*</a:t>
            </a:r>
            <a:r>
              <a:rPr lang="en-US" altLang="zh-CN" sz="2000" b="1" dirty="0" smtClean="0"/>
              <a:t>x, </a:t>
            </a:r>
            <a:r>
              <a:rPr lang="en-US" altLang="zh-CN" sz="2000" b="1" dirty="0" err="1" smtClean="0"/>
              <a:t>int</a:t>
            </a:r>
            <a:r>
              <a:rPr lang="en-US" altLang="zh-CN" sz="2000" b="1" dirty="0" smtClean="0"/>
              <a:t> </a:t>
            </a:r>
            <a:r>
              <a:rPr lang="zh-CN" altLang="en-US" sz="2000" b="1" dirty="0" smtClean="0"/>
              <a:t>*</a:t>
            </a:r>
            <a:r>
              <a:rPr lang="en-US" altLang="zh-CN" sz="2000" b="1" dirty="0" smtClean="0"/>
              <a:t>y)</a:t>
            </a:r>
          </a:p>
          <a:p>
            <a:r>
              <a:rPr lang="en-US" altLang="zh-CN" sz="2000" b="1" dirty="0" smtClean="0"/>
              <a:t>{</a:t>
            </a:r>
          </a:p>
          <a:p>
            <a:r>
              <a:rPr lang="en-US" altLang="zh-CN" sz="2000" b="1" dirty="0" smtClean="0"/>
              <a:t>    </a:t>
            </a:r>
            <a:r>
              <a:rPr lang="en-US" altLang="zh-CN" sz="2000" b="1" dirty="0" err="1" smtClean="0"/>
              <a:t>int</a:t>
            </a:r>
            <a:r>
              <a:rPr lang="en-US" altLang="zh-CN" sz="2000" b="1" dirty="0" smtClean="0"/>
              <a:t> t;</a:t>
            </a:r>
          </a:p>
          <a:p>
            <a:r>
              <a:rPr lang="en-US" altLang="zh-CN" sz="2000" b="1" dirty="0" smtClean="0"/>
              <a:t>    t=</a:t>
            </a:r>
            <a:r>
              <a:rPr lang="zh-CN" altLang="en-US" sz="2000" b="1" dirty="0" smtClean="0"/>
              <a:t>*</a:t>
            </a:r>
            <a:r>
              <a:rPr lang="en-US" altLang="zh-CN" sz="2000" b="1" dirty="0" smtClean="0"/>
              <a:t>x;</a:t>
            </a:r>
            <a:r>
              <a:rPr lang="zh-CN" altLang="en-US" sz="2000" b="1" dirty="0" smtClean="0"/>
              <a:t>*</a:t>
            </a:r>
            <a:r>
              <a:rPr lang="en-US" altLang="zh-CN" sz="2000" b="1" dirty="0" smtClean="0"/>
              <a:t> x=</a:t>
            </a:r>
            <a:r>
              <a:rPr lang="zh-CN" altLang="en-US" sz="2000" b="1" dirty="0" smtClean="0"/>
              <a:t>*</a:t>
            </a:r>
            <a:r>
              <a:rPr lang="en-US" altLang="zh-CN" sz="2000" b="1" dirty="0" smtClean="0"/>
              <a:t>y; </a:t>
            </a:r>
            <a:r>
              <a:rPr lang="zh-CN" altLang="en-US" sz="2000" b="1" dirty="0" smtClean="0"/>
              <a:t>*</a:t>
            </a:r>
            <a:r>
              <a:rPr lang="en-US" altLang="zh-CN" sz="2000" b="1" dirty="0" smtClean="0"/>
              <a:t>y=t;</a:t>
            </a:r>
          </a:p>
          <a:p>
            <a:r>
              <a:rPr lang="en-US" altLang="zh-CN" sz="2000" b="1" dirty="0" smtClean="0"/>
              <a:t>}</a:t>
            </a:r>
          </a:p>
          <a:p>
            <a:endParaRPr lang="en-US" altLang="zh-CN" sz="2000" b="1" dirty="0" smtClean="0"/>
          </a:p>
          <a:p>
            <a:r>
              <a:rPr lang="en-US" altLang="zh-CN" sz="2000" b="1" dirty="0" smtClean="0"/>
              <a:t>swap</a:t>
            </a:r>
            <a:r>
              <a:rPr lang="zh-CN" altLang="en-US" sz="2000" b="1" dirty="0" smtClean="0"/>
              <a:t>（</a:t>
            </a:r>
            <a:r>
              <a:rPr lang="en-US" altLang="zh-CN" sz="2000" b="1" dirty="0" smtClean="0"/>
              <a:t>&amp;a</a:t>
            </a:r>
            <a:r>
              <a:rPr lang="zh-CN" altLang="en-US" sz="2000" b="1" dirty="0" smtClean="0"/>
              <a:t>，</a:t>
            </a:r>
            <a:r>
              <a:rPr lang="en-US" altLang="zh-CN" sz="2000" b="1" dirty="0" smtClean="0"/>
              <a:t>&amp;b</a:t>
            </a:r>
            <a:r>
              <a:rPr lang="zh-CN" altLang="en-US" sz="2000" b="1" dirty="0" smtClean="0"/>
              <a:t>）；</a:t>
            </a:r>
            <a:endParaRPr lang="en-US" altLang="zh-CN" sz="2000" b="1" dirty="0" smtClean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" dur="8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7" dur="8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8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3608" y="476672"/>
            <a:ext cx="785818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13.</a:t>
            </a:r>
            <a:r>
              <a:rPr lang="zh-CN" altLang="en-US" sz="2800" b="1" dirty="0" smtClean="0"/>
              <a:t>混淆数据类型</a:t>
            </a:r>
            <a:endParaRPr lang="en-US" altLang="zh-CN" sz="2800" b="1" dirty="0" smtClean="0"/>
          </a:p>
          <a:p>
            <a:endParaRPr lang="en-US" altLang="zh-CN" sz="2800" b="1" dirty="0" smtClean="0"/>
          </a:p>
          <a:p>
            <a:r>
              <a:rPr lang="zh-CN" altLang="en-US" sz="2800" b="1" dirty="0" smtClean="0"/>
              <a:t>比如三角形的面积公式 二分之一的底乘以高</a:t>
            </a:r>
            <a:endParaRPr lang="en-US" altLang="zh-CN" sz="2800" b="1" dirty="0" smtClean="0"/>
          </a:p>
          <a:p>
            <a:endParaRPr lang="en-US" altLang="zh-CN" sz="2800" b="1" dirty="0" smtClean="0"/>
          </a:p>
          <a:p>
            <a:r>
              <a:rPr lang="en-US" altLang="zh-CN" sz="2800" b="1" dirty="0" err="1" smtClean="0"/>
              <a:t>int</a:t>
            </a:r>
            <a:r>
              <a:rPr lang="en-US" altLang="zh-CN" sz="2800" b="1" dirty="0" smtClean="0"/>
              <a:t> s;</a:t>
            </a:r>
          </a:p>
          <a:p>
            <a:r>
              <a:rPr lang="en-US" altLang="zh-CN" sz="2800" b="1" dirty="0" smtClean="0"/>
              <a:t>float </a:t>
            </a:r>
            <a:r>
              <a:rPr lang="en-US" altLang="zh-CN" sz="2800" b="1" dirty="0" err="1" smtClean="0"/>
              <a:t>x,h</a:t>
            </a:r>
            <a:r>
              <a:rPr lang="en-US" altLang="zh-CN" sz="2800" b="1" dirty="0" smtClean="0"/>
              <a:t>;</a:t>
            </a:r>
          </a:p>
          <a:p>
            <a:r>
              <a:rPr lang="en-US" altLang="zh-CN" sz="2800" b="1" dirty="0" smtClean="0"/>
              <a:t>s=1/2*x*h  //x</a:t>
            </a:r>
            <a:r>
              <a:rPr lang="zh-CN" altLang="en-US" sz="2800" b="1" dirty="0" smtClean="0"/>
              <a:t>是底，</a:t>
            </a:r>
            <a:r>
              <a:rPr lang="en-US" altLang="zh-CN" sz="2800" b="1" dirty="0" smtClean="0"/>
              <a:t>h</a:t>
            </a:r>
            <a:r>
              <a:rPr lang="zh-CN" altLang="en-US" sz="2800" b="1" dirty="0" smtClean="0"/>
              <a:t>是高</a:t>
            </a:r>
            <a:endParaRPr lang="en-US" altLang="zh-CN" sz="2800" b="1" dirty="0" smtClean="0"/>
          </a:p>
          <a:p>
            <a:r>
              <a:rPr lang="zh-CN" altLang="en-US" sz="2800" b="1" dirty="0" smtClean="0"/>
              <a:t>怎么改？</a:t>
            </a:r>
            <a:endParaRPr lang="en-US" altLang="zh-CN" sz="2800" b="1" dirty="0" smtClean="0"/>
          </a:p>
          <a:p>
            <a:endParaRPr lang="en-US" altLang="zh-CN" sz="2800" b="1" dirty="0" smtClean="0"/>
          </a:p>
          <a:p>
            <a:r>
              <a:rPr lang="en-US" altLang="zh-CN" sz="2800" b="1" dirty="0" smtClean="0"/>
              <a:t>1.</a:t>
            </a:r>
            <a:r>
              <a:rPr lang="zh-CN" altLang="en-US" sz="2800" b="1" dirty="0" smtClean="0"/>
              <a:t>把</a:t>
            </a:r>
            <a:r>
              <a:rPr lang="en-US" altLang="zh-CN" sz="2800" b="1" dirty="0" err="1" smtClean="0"/>
              <a:t>int</a:t>
            </a:r>
            <a:r>
              <a:rPr lang="en-US" altLang="zh-CN" sz="2800" b="1" dirty="0" smtClean="0"/>
              <a:t> s</a:t>
            </a:r>
            <a:r>
              <a:rPr lang="zh-CN" altLang="en-US" sz="2800" b="1" dirty="0" smtClean="0"/>
              <a:t>改成</a:t>
            </a:r>
            <a:r>
              <a:rPr lang="en-US" altLang="zh-CN" sz="2800" b="1" dirty="0" smtClean="0"/>
              <a:t>float s</a:t>
            </a:r>
          </a:p>
          <a:p>
            <a:r>
              <a:rPr lang="en-US" altLang="zh-CN" sz="2800" b="1" dirty="0" smtClean="0"/>
              <a:t>2.</a:t>
            </a:r>
            <a:r>
              <a:rPr lang="zh-CN" altLang="en-US" sz="2800" b="1" dirty="0" smtClean="0"/>
              <a:t>把</a:t>
            </a:r>
            <a:r>
              <a:rPr lang="en-US" altLang="zh-CN" sz="2800" b="1" dirty="0" smtClean="0"/>
              <a:t>1/2</a:t>
            </a:r>
            <a:r>
              <a:rPr lang="zh-CN" altLang="en-US" sz="2800" b="1" dirty="0" smtClean="0"/>
              <a:t>改成</a:t>
            </a:r>
            <a:r>
              <a:rPr lang="en-US" altLang="zh-CN" sz="2800" b="1" dirty="0" smtClean="0"/>
              <a:t>0.5</a:t>
            </a:r>
            <a:r>
              <a:rPr lang="zh-CN" altLang="en-US" sz="2800" b="1" dirty="0" smtClean="0"/>
              <a:t>或者</a:t>
            </a:r>
            <a:r>
              <a:rPr lang="en-US" altLang="zh-CN" sz="2800" b="1" dirty="0" smtClean="0"/>
              <a:t>1.0/2  </a:t>
            </a:r>
            <a:r>
              <a:rPr lang="zh-CN" altLang="en-US" sz="2800" b="1" dirty="0" smtClean="0"/>
              <a:t>注意整形和整形运算的结果永远是整形，并且</a:t>
            </a:r>
            <a:r>
              <a:rPr lang="zh-C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去位近似</a:t>
            </a:r>
            <a:endParaRPr lang="en-US" altLang="zh-CN" sz="2800" b="1" dirty="0" smtClean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00100" y="2143116"/>
            <a:ext cx="7892380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7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迷你简娃娃篆" pitchFamily="2" charset="-122"/>
                <a:ea typeface="迷你简娃娃篆" pitchFamily="2" charset="-122"/>
              </a:rPr>
              <a:t>讲座</a:t>
            </a:r>
            <a:r>
              <a:rPr lang="zh-CN" altLang="en-US" sz="7200" b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迷你简娃娃篆" pitchFamily="2" charset="-122"/>
                <a:ea typeface="迷你简娃娃篆" pitchFamily="2" charset="-122"/>
              </a:rPr>
              <a:t>内容到此为止</a:t>
            </a:r>
            <a:endParaRPr lang="en-US" altLang="zh-CN" sz="7200" b="1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迷你简娃娃篆" pitchFamily="2" charset="-122"/>
              <a:ea typeface="迷你简娃娃篆" pitchFamily="2" charset="-122"/>
            </a:endParaRPr>
          </a:p>
          <a:p>
            <a:pPr algn="ctr"/>
            <a:r>
              <a:rPr lang="zh-CN" altLang="en-US" sz="7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迷你简娃娃篆" pitchFamily="2" charset="-122"/>
                <a:ea typeface="迷你简娃娃篆" pitchFamily="2" charset="-122"/>
              </a:rPr>
              <a:t>祝各位考试顺利</a:t>
            </a:r>
            <a:r>
              <a:rPr lang="en-US" altLang="zh-CN" sz="7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迷你简娃娃篆" pitchFamily="2" charset="-122"/>
                <a:ea typeface="迷你简娃娃篆" pitchFamily="2" charset="-122"/>
              </a:rPr>
              <a:t>!!!</a:t>
            </a:r>
            <a:endParaRPr lang="zh-CN" altLang="en-US" sz="72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迷你简娃娃篆" pitchFamily="2" charset="-122"/>
              <a:ea typeface="迷你简娃娃篆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00100" y="2143116"/>
            <a:ext cx="7419164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7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迷你简娃娃篆" pitchFamily="2" charset="-122"/>
                <a:ea typeface="迷你简娃娃篆" pitchFamily="2" charset="-122"/>
              </a:rPr>
              <a:t>疑问时间！</a:t>
            </a:r>
            <a:endParaRPr lang="en-US" altLang="zh-CN" sz="7200" b="1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迷你简娃娃篆" pitchFamily="2" charset="-122"/>
              <a:ea typeface="迷你简娃娃篆" pitchFamily="2" charset="-122"/>
            </a:endParaRPr>
          </a:p>
          <a:p>
            <a:pPr algn="ctr"/>
            <a:r>
              <a:rPr lang="zh-CN" altLang="en-US" sz="7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迷你简娃娃篆" pitchFamily="2" charset="-122"/>
                <a:ea typeface="迷你简娃娃篆" pitchFamily="2" charset="-122"/>
              </a:rPr>
              <a:t>请不要太刁钻。。</a:t>
            </a:r>
            <a:endParaRPr lang="zh-CN" altLang="en-US" sz="72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迷你简娃娃篆" pitchFamily="2" charset="-122"/>
              <a:ea typeface="迷你简娃娃篆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5776" y="1556792"/>
            <a:ext cx="45365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 smtClean="0"/>
              <a:t>纪凯夫</a:t>
            </a:r>
            <a:endParaRPr lang="en-US" altLang="zh-CN" sz="6000" dirty="0" smtClean="0"/>
          </a:p>
          <a:p>
            <a:r>
              <a:rPr lang="en-US" altLang="zh-CN" sz="6000" dirty="0" smtClean="0"/>
              <a:t>18810406140</a:t>
            </a:r>
            <a:endParaRPr lang="zh-CN" altLang="en-US" sz="6000" dirty="0"/>
          </a:p>
        </p:txBody>
      </p:sp>
    </p:spTree>
    <p:extLst>
      <p:ext uri="{BB962C8B-B14F-4D97-AF65-F5344CB8AC3E}">
        <p14:creationId xmlns:p14="http://schemas.microsoft.com/office/powerpoint/2010/main" val="24290172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>
        <a:scene3d>
          <a:camera prst="orthographicFront">
            <a:rot lat="0" lon="0" rev="5400000"/>
          </a:camera>
          <a:lightRig rig="threePt" dir="t"/>
        </a:scene3d>
      </a:bodyPr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1490</TotalTime>
  <Words>3708</Words>
  <Application>Microsoft Office PowerPoint</Application>
  <PresentationFormat>全屏显示(4:3)</PresentationFormat>
  <Paragraphs>558</Paragraphs>
  <Slides>55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56" baseType="lpstr">
      <vt:lpstr>流畅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考前须知(1)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考前须知(2)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for(i=1; i&lt;=n; i++)之后……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链    表</vt:lpstr>
      <vt:lpstr>PowerPoint 演示文稿</vt:lpstr>
      <vt:lpstr>PowerPoint 演示文稿</vt:lpstr>
      <vt:lpstr>C语言考试真题(2)</vt:lpstr>
      <vt:lpstr>推荐题目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111</cp:lastModifiedBy>
  <cp:revision>103</cp:revision>
  <dcterms:created xsi:type="dcterms:W3CDTF">2010-05-24T08:37:16Z</dcterms:created>
  <dcterms:modified xsi:type="dcterms:W3CDTF">2012-11-11T12:13:02Z</dcterms:modified>
</cp:coreProperties>
</file>