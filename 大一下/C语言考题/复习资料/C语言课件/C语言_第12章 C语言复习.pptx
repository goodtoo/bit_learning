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2" r:id="rId1"/>
    <p:sldMasterId id="2147483924" r:id="rId2"/>
  </p:sldMasterIdLst>
  <p:notesMasterIdLst>
    <p:notesMasterId r:id="rId26"/>
  </p:notesMasterIdLst>
  <p:handoutMasterIdLst>
    <p:handoutMasterId r:id="rId27"/>
  </p:handoutMasterIdLst>
  <p:sldIdLst>
    <p:sldId id="753" r:id="rId3"/>
    <p:sldId id="790" r:id="rId4"/>
    <p:sldId id="770" r:id="rId5"/>
    <p:sldId id="771" r:id="rId6"/>
    <p:sldId id="772" r:id="rId7"/>
    <p:sldId id="773" r:id="rId8"/>
    <p:sldId id="784" r:id="rId9"/>
    <p:sldId id="785" r:id="rId10"/>
    <p:sldId id="786" r:id="rId11"/>
    <p:sldId id="787" r:id="rId12"/>
    <p:sldId id="788" r:id="rId13"/>
    <p:sldId id="789" r:id="rId14"/>
    <p:sldId id="783" r:id="rId15"/>
    <p:sldId id="774" r:id="rId16"/>
    <p:sldId id="775" r:id="rId17"/>
    <p:sldId id="776" r:id="rId18"/>
    <p:sldId id="777" r:id="rId19"/>
    <p:sldId id="778" r:id="rId20"/>
    <p:sldId id="779" r:id="rId21"/>
    <p:sldId id="780" r:id="rId22"/>
    <p:sldId id="781" r:id="rId23"/>
    <p:sldId id="782" r:id="rId24"/>
    <p:sldId id="769" r:id="rId25"/>
  </p:sldIdLst>
  <p:sldSz cx="9144000" cy="6858000" type="screen4x3"/>
  <p:notesSz cx="6858000" cy="9872663"/>
  <p:custDataLst>
    <p:tags r:id="rId2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5pPr>
    <a:lvl6pPr marL="2286000" algn="l" defTabSz="914400" rtl="0" eaLnBrk="1" latinLnBrk="0" hangingPunct="1"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6pPr>
    <a:lvl7pPr marL="2743200" algn="l" defTabSz="914400" rtl="0" eaLnBrk="1" latinLnBrk="0" hangingPunct="1"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7pPr>
    <a:lvl8pPr marL="3200400" algn="l" defTabSz="914400" rtl="0" eaLnBrk="1" latinLnBrk="0" hangingPunct="1"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8pPr>
    <a:lvl9pPr marL="3657600" algn="l" defTabSz="914400" rtl="0" eaLnBrk="1" latinLnBrk="0" hangingPunct="1">
      <a:defRPr kumimoji="1" sz="2400" b="1" kern="1200">
        <a:solidFill>
          <a:srgbClr val="FF3300"/>
        </a:solidFill>
        <a:latin typeface="Times New Roman" pitchFamily="18" charset="0"/>
        <a:ea typeface="宋体" pitchFamily="2" charset="-122"/>
        <a:cs typeface="+mn-cs"/>
        <a:sym typeface="Monotype Sort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CCFFCC"/>
    <a:srgbClr val="FFFF00"/>
    <a:srgbClr val="00FFFF"/>
    <a:srgbClr val="FFFFCC"/>
    <a:srgbClr val="FF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783" autoAdjust="0"/>
  </p:normalViewPr>
  <p:slideViewPr>
    <p:cSldViewPr snapToGrid="0">
      <p:cViewPr varScale="1">
        <p:scale>
          <a:sx n="61" d="100"/>
          <a:sy n="61" d="100"/>
        </p:scale>
        <p:origin x="72" y="3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-726" y="2244"/>
      </p:cViewPr>
      <p:guideLst>
        <p:guide orient="horz" pos="3109"/>
        <p:guide pos="2160"/>
      </p:guideLst>
    </p:cSldViewPr>
  </p:notesViewPr>
  <p:gridSpacing cx="180023" cy="180023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2.xml"/><Relationship Id="rId2" Type="http://schemas.openxmlformats.org/officeDocument/2006/relationships/slide" Target="slides/slide21.xml"/><Relationship Id="rId1" Type="http://schemas.openxmlformats.org/officeDocument/2006/relationships/slide" Target="slides/slide20.xml"/><Relationship Id="rId4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810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sym typeface="Monotype Sorts" pitchFamily="2" charset="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9538" y="0"/>
            <a:ext cx="2938462" cy="4810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sym typeface="Monotype Sorts" pitchFamily="2" charset="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66250"/>
            <a:ext cx="2938463" cy="4794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sym typeface="Monotype Sorts" pitchFamily="2" charset="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9538" y="9366250"/>
            <a:ext cx="2938462" cy="4794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sym typeface="Monotype Sorts" pitchFamily="2" charset="2"/>
              </a:defRPr>
            </a:lvl1pPr>
          </a:lstStyle>
          <a:p>
            <a:pPr>
              <a:defRPr/>
            </a:pPr>
            <a:fld id="{9251007F-B785-4C7E-9AD1-8EF1EB12D7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810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  <a:sym typeface="Monotype Sorts" pitchFamily="2" charset="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5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20750" y="720725"/>
            <a:ext cx="5016500" cy="3762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22813"/>
            <a:ext cx="5048250" cy="44021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19538" y="0"/>
            <a:ext cx="2938462" cy="4810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  <a:sym typeface="Monotype Sorts" pitchFamily="2" charset="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6250"/>
            <a:ext cx="2938463" cy="4794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  <a:sym typeface="Monotype Sorts" pitchFamily="2" charset="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9538" y="9366250"/>
            <a:ext cx="2938462" cy="4794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  <a:sym typeface="Monotype Sorts" pitchFamily="2" charset="2"/>
              </a:defRPr>
            </a:lvl1pPr>
          </a:lstStyle>
          <a:p>
            <a:pPr>
              <a:defRPr/>
            </a:pPr>
            <a:fld id="{0D6A17CC-D302-4D6B-A2FD-E489B1D5E0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611992-29AA-4959-8B96-32725F31B86A}" type="slidenum">
              <a:rPr lang="zh-CN" altLang="en-US" smtClean="0">
                <a:sym typeface="Monotype Sorts"/>
              </a:rPr>
              <a:pPr/>
              <a:t>20</a:t>
            </a:fld>
            <a:endParaRPr lang="en-US" altLang="zh-CN" smtClean="0">
              <a:sym typeface="Monotype Sorts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A3B3E7-F168-4FE1-A4F8-9BF576C82162}" type="slidenum">
              <a:rPr lang="zh-CN" altLang="en-US" smtClean="0">
                <a:sym typeface="Monotype Sorts"/>
              </a:rPr>
              <a:pPr/>
              <a:t>21</a:t>
            </a:fld>
            <a:endParaRPr lang="en-US" altLang="zh-CN" smtClean="0">
              <a:sym typeface="Monotype Sorts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08AC23-6D98-4B15-B9BA-6F9285759C55}" type="slidenum">
              <a:rPr lang="zh-CN" altLang="en-US" smtClean="0">
                <a:sym typeface="Monotype Sorts"/>
              </a:rPr>
              <a:pPr/>
              <a:t>22</a:t>
            </a:fld>
            <a:endParaRPr lang="en-US" altLang="zh-CN" smtClean="0">
              <a:sym typeface="Monotype Sorts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BD6A59-DF85-4F45-AC5B-7FC8DC6D0BB7}" type="slidenum">
              <a:rPr lang="zh-CN" altLang="en-US" smtClean="0">
                <a:sym typeface="Monotype Sorts"/>
              </a:rPr>
              <a:pPr/>
              <a:t>23</a:t>
            </a:fld>
            <a:endParaRPr lang="en-US" altLang="zh-CN" smtClean="0">
              <a:sym typeface="Monotype Sort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"/>
          <p:cNvSpPr>
            <a:spLocks noChangeShapeType="1"/>
          </p:cNvSpPr>
          <p:nvPr userDrawn="1"/>
        </p:nvSpPr>
        <p:spPr bwMode="auto">
          <a:xfrm flipV="1">
            <a:off x="-34925" y="620713"/>
            <a:ext cx="91440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>
            <a:outerShdw dist="107763" dir="18900000" algn="ctr" rotWithShape="0">
              <a:schemeClr val="hlink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spcBef>
                <a:spcPct val="5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endParaRPr lang="zh-CN" altLang="en-US">
              <a:sym typeface="Monotype Sorts" pitchFamily="2" charset="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576064"/>
          </a:xfr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836712"/>
            <a:ext cx="8676456" cy="5760640"/>
          </a:xfrm>
        </p:spPr>
        <p:txBody>
          <a:bodyPr/>
          <a:lstStyle>
            <a:lvl3pPr>
              <a:defRPr sz="2800"/>
            </a:lvl3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66700" y="952500"/>
            <a:ext cx="4248150" cy="5429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952500"/>
            <a:ext cx="4248150" cy="54292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285750" y="6496050"/>
            <a:ext cx="4705350" cy="3619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北京理工大学 http://www.bit9.dhs.org/</a:t>
            </a:r>
            <a:endParaRPr lang="en-US" altLang="zh-CN" sz="1800">
              <a:solidFill>
                <a:schemeClr val="tx2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508750" y="6526213"/>
            <a:ext cx="2406650" cy="3317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共 </a:t>
            </a:r>
            <a:r>
              <a:rPr lang="en-US" altLang="zh-CN"/>
              <a:t>57 </a:t>
            </a:r>
            <a:r>
              <a:rPr lang="zh-CN" altLang="en-US"/>
              <a:t>页   第 </a:t>
            </a:r>
            <a:fld id="{790B039A-47E0-4F61-B0BE-747060368C1C}" type="slidenum">
              <a:rPr lang="zh-CN" altLang="en-US">
                <a:solidFill>
                  <a:srgbClr val="66CCFF"/>
                </a:solidFill>
              </a:rPr>
              <a:pPr>
                <a:defRPr/>
              </a:pPr>
              <a:t>‹#›</a:t>
            </a:fld>
            <a:r>
              <a:rPr lang="en-US" altLang="zh-CN"/>
              <a:t> </a:t>
            </a:r>
            <a:r>
              <a:rPr lang="zh-CN" altLang="en-US"/>
              <a:t>页</a:t>
            </a:r>
            <a:endParaRPr lang="zh-CN" altLang="en-US" sz="1800">
              <a:latin typeface="+mn-lt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7584" y="1340768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375B6-3280-4A53-A396-B25011B42C6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763"/>
            <a:ext cx="9144000" cy="498912"/>
          </a:xfrm>
          <a:ln>
            <a:solidFill>
              <a:srgbClr val="0000FF"/>
            </a:solidFill>
          </a:ln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763612"/>
            <a:ext cx="8712968" cy="576173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6821488" y="6443663"/>
            <a:ext cx="226695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72057C-8A5C-4454-A453-CE2A9B8F0FD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1" r:id="rId1"/>
    <p:sldLayoutId id="214748409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5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7950" y="63817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spcBef>
                <a:spcPct val="50000"/>
              </a:spcBef>
              <a:buClr>
                <a:srgbClr val="CC99FF"/>
              </a:buClr>
              <a:buFont typeface="Monotype Sorts" pitchFamily="2" charset="2"/>
              <a:buNone/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  <a:sym typeface="Monotype Sorts" pitchFamily="2" charset="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697663" y="6376988"/>
            <a:ext cx="22669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spcBef>
                <a:spcPct val="50000"/>
              </a:spcBef>
              <a:buClr>
                <a:srgbClr val="CC99FF"/>
              </a:buClr>
              <a:buFont typeface="Monotype Sorts" pitchFamily="2" charset="2"/>
              <a:buNone/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  <a:sym typeface="Monotype Sorts" pitchFamily="2" charset="2"/>
              </a:defRPr>
            </a:lvl1pPr>
          </a:lstStyle>
          <a:p>
            <a:pPr>
              <a:defRPr/>
            </a:pPr>
            <a:fld id="{9C2B3292-06F7-4B45-8D0B-92CB9D4246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052" name="Picture 7" descr="校徽-树 拷贝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95513" y="1050925"/>
            <a:ext cx="4857750" cy="544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Rectangle 8"/>
          <p:cNvSpPr>
            <a:spLocks noChangeArrowheads="1"/>
          </p:cNvSpPr>
          <p:nvPr/>
        </p:nvSpPr>
        <p:spPr bwMode="auto">
          <a:xfrm>
            <a:off x="2051050" y="981075"/>
            <a:ext cx="5329238" cy="5688013"/>
          </a:xfrm>
          <a:prstGeom prst="rect">
            <a:avLst/>
          </a:prstGeom>
          <a:solidFill>
            <a:srgbClr val="FFFFFF">
              <a:alpha val="7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endParaRPr lang="zh-CN" altLang="en-US">
              <a:sym typeface="Monotype Sorts" pitchFamily="2" charset="2"/>
            </a:endParaRPr>
          </a:p>
        </p:txBody>
      </p:sp>
      <p:sp>
        <p:nvSpPr>
          <p:cNvPr id="2054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314325" y="765175"/>
            <a:ext cx="8578850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31" name="标题占位符 1"/>
          <p:cNvSpPr>
            <a:spLocks noGrp="1"/>
          </p:cNvSpPr>
          <p:nvPr>
            <p:ph type="title"/>
          </p:nvPr>
        </p:nvSpPr>
        <p:spPr bwMode="auto">
          <a:xfrm>
            <a:off x="0" y="4763"/>
            <a:ext cx="9144000" cy="490537"/>
          </a:xfrm>
          <a:prstGeom prst="rect">
            <a:avLst/>
          </a:prstGeom>
          <a:gradFill flip="none" rotWithShape="1">
            <a:gsLst>
              <a:gs pos="0">
                <a:srgbClr val="0000CC">
                  <a:shade val="30000"/>
                  <a:satMod val="115000"/>
                </a:srgbClr>
              </a:gs>
              <a:gs pos="50000">
                <a:srgbClr val="0000CC">
                  <a:shade val="67500"/>
                  <a:satMod val="115000"/>
                </a:srgbClr>
              </a:gs>
              <a:gs pos="100000">
                <a:srgbClr val="0000CC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6" name="Line 6"/>
          <p:cNvSpPr>
            <a:spLocks noChangeShapeType="1"/>
          </p:cNvSpPr>
          <p:nvPr/>
        </p:nvSpPr>
        <p:spPr bwMode="auto">
          <a:xfrm flipV="1">
            <a:off x="-34925" y="620713"/>
            <a:ext cx="91440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>
            <a:outerShdw dist="107763" dir="18900000" algn="ctr" rotWithShape="0">
              <a:schemeClr val="hlink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spcBef>
                <a:spcPct val="5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endParaRPr lang="zh-CN" altLang="en-US">
              <a:sym typeface="Monotype Sorts" pitchFamily="2" charset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3" r:id="rId2"/>
  </p:sldLayoutIdLst>
  <p:transition spd="slow">
    <p:strips dir="ru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ChangeArrowheads="1"/>
          </p:cNvSpPr>
          <p:nvPr/>
        </p:nvSpPr>
        <p:spPr bwMode="auto">
          <a:xfrm>
            <a:off x="-3175" y="0"/>
            <a:ext cx="9144000" cy="1412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>
                <a:srgbClr val="CC99FF"/>
              </a:buClr>
              <a:buFont typeface="Monotype Sorts"/>
              <a:buNone/>
            </a:pPr>
            <a:endParaRPr lang="zh-CN" alt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80988" y="1857375"/>
            <a:ext cx="8605837" cy="178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buClr>
                <a:srgbClr val="CC99FF"/>
              </a:buClr>
              <a:buFont typeface="Monotype Sorts"/>
              <a:buNone/>
            </a:pPr>
            <a:r>
              <a:rPr lang="en-US" altLang="zh-CN" sz="6600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C</a:t>
            </a:r>
            <a:r>
              <a:rPr lang="zh-CN" altLang="en-US" sz="6600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语言程序设计复习</a:t>
            </a:r>
            <a:r>
              <a:rPr lang="en-US" altLang="zh-CN" sz="6600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/>
            </a:r>
            <a:br>
              <a:rPr lang="en-US" altLang="zh-CN" sz="6600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</a:br>
            <a:r>
              <a:rPr lang="zh-CN" altLang="en-US" sz="6600" dirty="0" smtClean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享受交流带来的乐趣</a:t>
            </a:r>
            <a:endParaRPr lang="zh-CN" altLang="en-US" sz="6600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6149" name="Picture 4" descr="t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450" y="320675"/>
            <a:ext cx="4643438" cy="108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5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7188" y="476250"/>
            <a:ext cx="685800" cy="68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9" name="Line 6"/>
          <p:cNvSpPr>
            <a:spLocks noChangeShapeType="1"/>
          </p:cNvSpPr>
          <p:nvPr/>
        </p:nvSpPr>
        <p:spPr bwMode="auto">
          <a:xfrm flipV="1">
            <a:off x="-71438" y="1341438"/>
            <a:ext cx="9144001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/>
            <a:tailEnd/>
          </a:ln>
          <a:effectLst>
            <a:outerShdw dist="107763" dir="18900000" algn="ctr" rotWithShape="0">
              <a:schemeClr val="hlink">
                <a:alpha val="50000"/>
              </a:schemeClr>
            </a:outerShdw>
          </a:effectLst>
        </p:spPr>
        <p:txBody>
          <a:bodyPr/>
          <a:lstStyle/>
          <a:p>
            <a:pPr eaLnBrk="0" hangingPunct="0">
              <a:spcBef>
                <a:spcPct val="50000"/>
              </a:spcBef>
              <a:buClr>
                <a:srgbClr val="CC99FF"/>
              </a:buClr>
              <a:buFont typeface="Monotype Sorts" pitchFamily="2" charset="2"/>
              <a:buNone/>
              <a:defRPr/>
            </a:pPr>
            <a:endParaRPr lang="zh-CN" altLang="en-US">
              <a:sym typeface="Monotype Sorts" pitchFamily="2" charset="2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 bwMode="auto">
          <a:xfrm>
            <a:off x="1714500" y="4714875"/>
            <a:ext cx="5919788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0" hangingPunct="0">
              <a:lnSpc>
                <a:spcPct val="120000"/>
              </a:lnSpc>
              <a:spcBef>
                <a:spcPct val="50000"/>
              </a:spcBef>
              <a:buClr>
                <a:srgbClr val="CC99FF"/>
              </a:buClr>
              <a:buFont typeface="Monotype Sorts"/>
              <a:buNone/>
            </a:pPr>
            <a:r>
              <a:rPr lang="en-US" altLang="zh-CN" sz="3600" dirty="0" smtClean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2018</a:t>
            </a:r>
            <a:r>
              <a:rPr lang="zh-CN" altLang="en-US" sz="3600" dirty="0" smtClean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年</a:t>
            </a:r>
            <a:r>
              <a:rPr lang="en-US" altLang="zh-CN" sz="3600" dirty="0" smtClean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12</a:t>
            </a:r>
            <a:r>
              <a:rPr lang="zh-CN" altLang="en-US" sz="3600" dirty="0" smtClean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sz="3600" dirty="0" smtClean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19</a:t>
            </a:r>
            <a:r>
              <a:rPr lang="zh-CN" altLang="en-US" sz="3600" dirty="0" smtClean="0">
                <a:solidFill>
                  <a:srgbClr val="002060"/>
                </a:solidFill>
                <a:latin typeface="隶书" pitchFamily="49" charset="-122"/>
                <a:ea typeface="隶书" pitchFamily="49" charset="-122"/>
              </a:rPr>
              <a:t>日</a:t>
            </a:r>
            <a:endParaRPr lang="en-US" altLang="zh-CN" sz="3600" dirty="0">
              <a:solidFill>
                <a:srgbClr val="002060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utoUpdateAnimBg="0"/>
      <p:bldP spid="1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4800" dirty="0" smtClean="0"/>
              <a:t>交流的快乐！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en-US" altLang="zh-CN" sz="4800" dirty="0" smtClean="0">
                <a:solidFill>
                  <a:srgbClr val="FF0000"/>
                </a:solidFill>
              </a:rPr>
              <a:t>really</a:t>
            </a:r>
            <a:r>
              <a:rPr lang="zh-CN" altLang="en-US" sz="4800" dirty="0" smtClean="0">
                <a:solidFill>
                  <a:srgbClr val="FF0000"/>
                </a:solidFill>
              </a:rPr>
              <a:t>？</a:t>
            </a:r>
            <a:endParaRPr lang="en-US" altLang="zh-CN" sz="4800" dirty="0" smtClean="0">
              <a:solidFill>
                <a:srgbClr val="FF0000"/>
              </a:solidFill>
            </a:endParaRPr>
          </a:p>
          <a:p>
            <a:endParaRPr lang="en-US" altLang="zh-CN" sz="4800" dirty="0"/>
          </a:p>
          <a:p>
            <a:r>
              <a:rPr lang="zh-CN" altLang="en-US" sz="4800" dirty="0" smtClean="0"/>
              <a:t>有效、高效地交流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zh-CN" altLang="en-US" sz="4800" dirty="0" smtClean="0"/>
              <a:t>划重点：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zh-CN" altLang="en-US" sz="4800" dirty="0" smtClean="0"/>
              <a:t>超级编辑器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en-US" altLang="zh-CN" sz="4800" dirty="0" err="1" smtClean="0"/>
              <a:t>WatchMemory</a:t>
            </a:r>
            <a:endParaRPr lang="en-US" altLang="zh-CN" sz="4800" dirty="0" smtClean="0"/>
          </a:p>
        </p:txBody>
      </p:sp>
    </p:spTree>
    <p:extLst>
      <p:ext uri="{BB962C8B-B14F-4D97-AF65-F5344CB8AC3E}">
        <p14:creationId xmlns:p14="http://schemas.microsoft.com/office/powerpoint/2010/main" val="2415794344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考前答疑安排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173" name="内容占位符 4"/>
          <p:cNvSpPr>
            <a:spLocks noGrp="1"/>
          </p:cNvSpPr>
          <p:nvPr>
            <p:ph idx="1"/>
          </p:nvPr>
        </p:nvSpPr>
        <p:spPr>
          <a:xfrm>
            <a:off x="250825" y="836613"/>
            <a:ext cx="8677275" cy="56864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3600" dirty="0" smtClean="0"/>
              <a:t>平时成绩：</a:t>
            </a:r>
            <a:r>
              <a:rPr lang="en-US" altLang="zh-CN" sz="3600" dirty="0" smtClean="0"/>
              <a:t>20</a:t>
            </a:r>
            <a:r>
              <a:rPr lang="zh-CN" altLang="en-US" sz="3600" dirty="0" smtClean="0"/>
              <a:t>分</a:t>
            </a:r>
            <a:endParaRPr lang="en-US" altLang="zh-CN" sz="3600" dirty="0" smtClean="0"/>
          </a:p>
          <a:p>
            <a:pPr>
              <a:buFont typeface="Wingdings" pitchFamily="2" charset="2"/>
              <a:buNone/>
            </a:pPr>
            <a:r>
              <a:rPr lang="zh-CN" altLang="en-US" sz="3600" dirty="0" smtClean="0"/>
              <a:t>期末考试：</a:t>
            </a:r>
            <a:r>
              <a:rPr lang="en-US" altLang="zh-CN" sz="3600" dirty="0" smtClean="0"/>
              <a:t>80</a:t>
            </a:r>
            <a:r>
              <a:rPr lang="zh-CN" altLang="en-US" sz="3600" dirty="0" smtClean="0"/>
              <a:t>分</a:t>
            </a:r>
            <a:endParaRPr lang="en-US" altLang="zh-CN" sz="3600" dirty="0" smtClean="0"/>
          </a:p>
          <a:p>
            <a:pPr>
              <a:buFont typeface="Wingdings" pitchFamily="2" charset="2"/>
              <a:buNone/>
            </a:pPr>
            <a:r>
              <a:rPr lang="en-US" altLang="zh-CN" sz="3600" dirty="0" smtClean="0"/>
              <a:t>	</a:t>
            </a:r>
            <a:r>
              <a:rPr lang="zh-CN" altLang="en-US" sz="3600" dirty="0" smtClean="0"/>
              <a:t>一、单项选择题 </a:t>
            </a:r>
            <a:r>
              <a:rPr lang="en-US" altLang="zh-CN" sz="3600" dirty="0" smtClean="0"/>
              <a:t>10 </a:t>
            </a:r>
            <a:r>
              <a:rPr lang="zh-CN" altLang="en-US" sz="3600" dirty="0" smtClean="0"/>
              <a:t>分</a:t>
            </a:r>
            <a:endParaRPr lang="en-US" altLang="zh-CN" sz="3600" dirty="0" smtClean="0"/>
          </a:p>
          <a:p>
            <a:pPr>
              <a:buFont typeface="Wingdings" pitchFamily="2" charset="2"/>
              <a:buNone/>
            </a:pPr>
            <a:r>
              <a:rPr lang="en-US" altLang="zh-CN" sz="3600" dirty="0" smtClean="0"/>
              <a:t>		    </a:t>
            </a:r>
            <a:r>
              <a:rPr lang="zh-CN" altLang="en-US" sz="3600" dirty="0" smtClean="0"/>
              <a:t>四选一。</a:t>
            </a:r>
            <a:endParaRPr lang="en-US" altLang="zh-CN" sz="3600" dirty="0" smtClean="0"/>
          </a:p>
          <a:p>
            <a:pPr>
              <a:buFont typeface="Wingdings" pitchFamily="2" charset="2"/>
              <a:buNone/>
            </a:pPr>
            <a:r>
              <a:rPr lang="en-US" altLang="zh-CN" sz="3600" dirty="0" smtClean="0"/>
              <a:t>	</a:t>
            </a:r>
            <a:r>
              <a:rPr lang="zh-CN" altLang="en-US" sz="3600" dirty="0" smtClean="0"/>
              <a:t>二、编程题 </a:t>
            </a:r>
            <a:r>
              <a:rPr lang="en-US" altLang="zh-CN" sz="3600" dirty="0" smtClean="0"/>
              <a:t>70 </a:t>
            </a:r>
            <a:r>
              <a:rPr lang="zh-CN" altLang="en-US" sz="3600" dirty="0" smtClean="0"/>
              <a:t>分</a:t>
            </a:r>
            <a:endParaRPr lang="en-US" altLang="zh-CN" sz="3600" dirty="0" smtClean="0"/>
          </a:p>
          <a:p>
            <a:pPr>
              <a:buFont typeface="Wingdings" pitchFamily="2" charset="2"/>
              <a:buNone/>
            </a:pPr>
            <a:r>
              <a:rPr lang="en-US" altLang="zh-CN" sz="3600" dirty="0" smtClean="0"/>
              <a:t>		    </a:t>
            </a:r>
            <a:r>
              <a:rPr lang="zh-CN" altLang="en-US" sz="3600" dirty="0" smtClean="0"/>
              <a:t>图形，简单算法，递归</a:t>
            </a:r>
            <a:endParaRPr lang="en-US" altLang="zh-CN" sz="3600" dirty="0" smtClean="0"/>
          </a:p>
          <a:p>
            <a:pPr>
              <a:buFont typeface="Wingdings" pitchFamily="2" charset="2"/>
              <a:buNone/>
            </a:pPr>
            <a:r>
              <a:rPr lang="en-US" altLang="zh-CN" sz="3600" dirty="0" smtClean="0"/>
              <a:t>	</a:t>
            </a:r>
            <a:r>
              <a:rPr lang="en-US" altLang="zh-CN" sz="3600" dirty="0" smtClean="0">
                <a:solidFill>
                  <a:srgbClr val="1818A8"/>
                </a:solidFill>
              </a:rPr>
              <a:t>	</a:t>
            </a:r>
          </a:p>
          <a:p>
            <a:pPr>
              <a:buFont typeface="Wingdings" pitchFamily="2" charset="2"/>
              <a:buNone/>
            </a:pPr>
            <a:r>
              <a:rPr lang="zh-CN" altLang="en-US" sz="3600" dirty="0" smtClean="0">
                <a:solidFill>
                  <a:srgbClr val="FF0000"/>
                </a:solidFill>
              </a:rPr>
              <a:t>考试和答疑时间见</a:t>
            </a:r>
            <a:r>
              <a:rPr lang="en-US" altLang="zh-CN" sz="3600" dirty="0" smtClean="0">
                <a:solidFill>
                  <a:srgbClr val="FF0000"/>
                </a:solidFill>
              </a:rPr>
              <a:t>“</a:t>
            </a:r>
            <a:r>
              <a:rPr lang="zh-CN" altLang="en-US" sz="3600" dirty="0" smtClean="0">
                <a:solidFill>
                  <a:srgbClr val="FF0000"/>
                </a:solidFill>
              </a:rPr>
              <a:t>乐学</a:t>
            </a:r>
            <a:r>
              <a:rPr lang="en-US" altLang="zh-CN" sz="3600" dirty="0" smtClean="0">
                <a:solidFill>
                  <a:srgbClr val="FF0000"/>
                </a:solidFill>
              </a:rPr>
              <a:t>”</a:t>
            </a:r>
            <a:r>
              <a:rPr lang="zh-CN" altLang="en-US" sz="3600" dirty="0" smtClean="0">
                <a:solidFill>
                  <a:srgbClr val="FF0000"/>
                </a:solidFill>
              </a:rPr>
              <a:t>通知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考前提醒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269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686425"/>
          </a:xfrm>
        </p:spPr>
        <p:txBody>
          <a:bodyPr/>
          <a:lstStyle/>
          <a:p>
            <a:pPr marL="503238" indent="-503238" eaLnBrk="1" hangingPunct="1">
              <a:spcBef>
                <a:spcPts val="1200"/>
              </a:spcBef>
              <a:buFont typeface="Tahoma" pitchFamily="34" charset="0"/>
              <a:buAutoNum type="arabicPeriod"/>
            </a:pPr>
            <a:r>
              <a:rPr lang="zh-CN" altLang="en-US" sz="3600" dirty="0" smtClean="0"/>
              <a:t>编程时要先在本地调试通过后再提交。提交后由于后台系统要排队处理，所以可能不会立即得到运行结果。</a:t>
            </a:r>
            <a:endParaRPr lang="en-US" altLang="zh-CN" sz="3600" dirty="0" smtClean="0"/>
          </a:p>
          <a:p>
            <a:pPr marL="503238" indent="-503238" eaLnBrk="1" hangingPunct="1">
              <a:spcBef>
                <a:spcPts val="1200"/>
              </a:spcBef>
              <a:buFont typeface="Tahoma" pitchFamily="34" charset="0"/>
              <a:buAutoNum type="arabicPeriod"/>
            </a:pPr>
            <a:r>
              <a:rPr lang="zh-CN" altLang="en-US" sz="3600" dirty="0" smtClean="0">
                <a:solidFill>
                  <a:srgbClr val="0000FF"/>
                </a:solidFill>
              </a:rPr>
              <a:t>题目可能有预设代码。预设代码可以直接复制下来用于本地调试，提交程序时只需要提交自己编写的函数，预设部分不需要提交。</a:t>
            </a:r>
            <a:endParaRPr lang="en-US" altLang="zh-CN" sz="3600" dirty="0" smtClean="0">
              <a:solidFill>
                <a:srgbClr val="0000FF"/>
              </a:solidFill>
            </a:endParaRPr>
          </a:p>
          <a:p>
            <a:pPr marL="503238" indent="-503238" eaLnBrk="1" hangingPunct="1">
              <a:spcBef>
                <a:spcPts val="1200"/>
              </a:spcBef>
              <a:buFont typeface="Tahoma" pitchFamily="34" charset="0"/>
              <a:buAutoNum type="arabicPeriod"/>
            </a:pPr>
            <a:r>
              <a:rPr lang="zh-CN" altLang="en-US" sz="3600" dirty="0" smtClean="0"/>
              <a:t>每题有若干测试用例，只有</a:t>
            </a:r>
            <a:r>
              <a:rPr lang="en-US" altLang="zh-CN" sz="3600" dirty="0" smtClean="0"/>
              <a:t>1</a:t>
            </a:r>
            <a:r>
              <a:rPr lang="zh-CN" altLang="en-US" sz="3600" dirty="0" smtClean="0"/>
              <a:t>或</a:t>
            </a:r>
            <a:r>
              <a:rPr lang="en-US" altLang="zh-CN" sz="3600" dirty="0" smtClean="0"/>
              <a:t>2</a:t>
            </a:r>
            <a:r>
              <a:rPr lang="zh-CN" altLang="en-US" sz="3600" dirty="0" smtClean="0"/>
              <a:t>个公开的</a:t>
            </a:r>
            <a:r>
              <a:rPr lang="en-US" altLang="zh-CN" sz="3600" dirty="0" smtClean="0"/>
              <a:t>0</a:t>
            </a:r>
            <a:r>
              <a:rPr lang="zh-CN" altLang="en-US" sz="3600" dirty="0" smtClean="0"/>
              <a:t>分测试用例，其他均为隐藏测试用例，只给是否通过的提示。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考前提醒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269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946775"/>
          </a:xfrm>
        </p:spPr>
        <p:txBody>
          <a:bodyPr/>
          <a:lstStyle/>
          <a:p>
            <a:pPr marL="569913" indent="-603250" eaLnBrk="1" hangingPunct="1">
              <a:spcBef>
                <a:spcPts val="600"/>
              </a:spcBef>
              <a:buFont typeface="+mj-lt"/>
              <a:buAutoNum type="arabicPeriod" startAt="4"/>
              <a:defRPr/>
            </a:pPr>
            <a:r>
              <a:rPr lang="zh-CN" altLang="en-US" sz="3600" dirty="0" smtClean="0"/>
              <a:t>编程题目可以多次提交，提交次数对最后成绩没有影响。</a:t>
            </a:r>
            <a:endParaRPr lang="en-US" altLang="zh-CN" sz="3600" dirty="0" smtClean="0"/>
          </a:p>
          <a:p>
            <a:pPr marL="504000" indent="-536575" eaLnBrk="1" hangingPunct="1">
              <a:spcBef>
                <a:spcPts val="600"/>
              </a:spcBef>
              <a:buFont typeface="+mj-lt"/>
              <a:buAutoNum type="arabicPeriod" startAt="4"/>
              <a:defRPr/>
            </a:pPr>
            <a:r>
              <a:rPr lang="zh-CN" altLang="en-US" sz="3600" dirty="0" smtClean="0">
                <a:solidFill>
                  <a:srgbClr val="0000FF"/>
                </a:solidFill>
              </a:rPr>
              <a:t>选择题在做完之后一定要提交，仅保存答案而不提交答案，不会有分数的。选择题可以提交两次。</a:t>
            </a:r>
            <a:endParaRPr lang="en-US" altLang="zh-CN" sz="3600" dirty="0" smtClean="0">
              <a:solidFill>
                <a:srgbClr val="0000FF"/>
              </a:solidFill>
            </a:endParaRPr>
          </a:p>
          <a:p>
            <a:pPr marL="504000" indent="-536575" eaLnBrk="1" hangingPunct="1">
              <a:spcBef>
                <a:spcPts val="600"/>
              </a:spcBef>
              <a:buFont typeface="+mj-lt"/>
              <a:buAutoNum type="arabicPeriod" startAt="4"/>
              <a:defRPr/>
            </a:pPr>
            <a:r>
              <a:rPr lang="zh-CN" altLang="en-US" sz="3600" dirty="0" smtClean="0"/>
              <a:t>考试系统的</a:t>
            </a:r>
            <a:r>
              <a:rPr lang="en-US" altLang="zh-CN" sz="3600" dirty="0" smtClean="0"/>
              <a:t>C</a:t>
            </a:r>
            <a:r>
              <a:rPr lang="zh-CN" altLang="en-US" sz="3600" dirty="0" smtClean="0"/>
              <a:t>盘是写保护的，程序应存入</a:t>
            </a:r>
            <a:r>
              <a:rPr lang="en-US" altLang="zh-CN" sz="3600" dirty="0" smtClean="0"/>
              <a:t>D</a:t>
            </a:r>
            <a:r>
              <a:rPr lang="zh-CN" altLang="en-US" sz="3600" dirty="0" smtClean="0"/>
              <a:t>或</a:t>
            </a:r>
            <a:r>
              <a:rPr lang="en-US" altLang="zh-CN" sz="3600" dirty="0" smtClean="0"/>
              <a:t>E</a:t>
            </a:r>
            <a:r>
              <a:rPr lang="zh-CN" altLang="en-US" sz="3600" dirty="0" smtClean="0"/>
              <a:t>盘中。</a:t>
            </a:r>
            <a:endParaRPr lang="en-US" altLang="zh-CN" sz="3600" dirty="0" smtClean="0"/>
          </a:p>
          <a:p>
            <a:pPr marL="504000" indent="-536575" eaLnBrk="1" hangingPunct="1">
              <a:spcBef>
                <a:spcPts val="600"/>
              </a:spcBef>
              <a:buFont typeface="+mj-lt"/>
              <a:buAutoNum type="arabicPeriod" startAt="4"/>
              <a:defRPr/>
            </a:pPr>
            <a:r>
              <a:rPr lang="zh-CN" altLang="en-US" sz="3600" dirty="0" smtClean="0">
                <a:solidFill>
                  <a:srgbClr val="FF3300"/>
                </a:solidFill>
              </a:rPr>
              <a:t>一定要按时提交，系统会自动关闭。</a:t>
            </a:r>
            <a:endParaRPr lang="en-US" altLang="zh-CN" sz="3600" dirty="0" smtClean="0">
              <a:solidFill>
                <a:srgbClr val="FF3300"/>
              </a:solidFill>
            </a:endParaRPr>
          </a:p>
          <a:p>
            <a:pPr marL="504000" indent="-536575" eaLnBrk="1" hangingPunct="1">
              <a:spcBef>
                <a:spcPts val="600"/>
              </a:spcBef>
              <a:buFont typeface="+mj-lt"/>
              <a:buAutoNum type="arabicPeriod" startAt="4"/>
              <a:defRPr/>
            </a:pPr>
            <a:r>
              <a:rPr lang="zh-CN" altLang="en-US" sz="3600" dirty="0" smtClean="0"/>
              <a:t>不要试图作弊，除了考试系统那里都不能去，后台有监控，有程序比对。</a:t>
            </a:r>
            <a:endParaRPr lang="en-US" altLang="zh-CN" sz="3600" dirty="0" smtClean="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245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556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课程基本内容</a:t>
            </a:r>
            <a:endParaRPr lang="zh-CN" altLang="en-US" smtClean="0">
              <a:solidFill>
                <a:srgbClr val="00FFFF"/>
              </a:solidFill>
              <a:latin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3043238"/>
            <a:ext cx="1065213" cy="1241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800">
                <a:solidFill>
                  <a:srgbClr val="FF0000"/>
                </a:solidFill>
              </a:rPr>
              <a:t>程序设计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1528763" y="2374900"/>
            <a:ext cx="300037" cy="2538413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897063" y="2101850"/>
            <a:ext cx="10366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语言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920875" y="4432300"/>
            <a:ext cx="10779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基本算法</a:t>
            </a:r>
          </a:p>
        </p:txBody>
      </p:sp>
      <p:cxnSp>
        <p:nvCxnSpPr>
          <p:cNvPr id="11" name="直接箭头连接符 10"/>
          <p:cNvCxnSpPr>
            <a:stCxn id="8" idx="3"/>
          </p:cNvCxnSpPr>
          <p:nvPr/>
        </p:nvCxnSpPr>
        <p:spPr>
          <a:xfrm flipV="1">
            <a:off x="2933700" y="2390775"/>
            <a:ext cx="1323975" cy="317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820988" y="1263650"/>
            <a:ext cx="1436687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语法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zh-CN" altLang="en-US">
                <a:solidFill>
                  <a:srgbClr val="FF0000"/>
                </a:solidFill>
              </a:rPr>
              <a:t>语义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zh-CN" altLang="en-US">
                <a:solidFill>
                  <a:srgbClr val="FF0000"/>
                </a:solidFill>
              </a:rPr>
              <a:t>语用</a:t>
            </a:r>
          </a:p>
        </p:txBody>
      </p:sp>
      <p:sp>
        <p:nvSpPr>
          <p:cNvPr id="20" name="左大括号 19"/>
          <p:cNvSpPr/>
          <p:nvPr/>
        </p:nvSpPr>
        <p:spPr>
          <a:xfrm>
            <a:off x="4348163" y="1733550"/>
            <a:ext cx="242887" cy="1303338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579938" y="1395413"/>
            <a:ext cx="4276725" cy="193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数据</a:t>
            </a:r>
            <a:r>
              <a:rPr lang="zh-CN" altLang="en-US" dirty="0">
                <a:solidFill>
                  <a:schemeClr val="tx1"/>
                </a:solidFill>
              </a:rPr>
              <a:t>：描述程序所涉及的数据</a:t>
            </a:r>
          </a:p>
          <a:p>
            <a:pPr>
              <a:spcBef>
                <a:spcPts val="30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运算</a:t>
            </a:r>
            <a:r>
              <a:rPr lang="zh-CN" altLang="en-US" dirty="0">
                <a:solidFill>
                  <a:schemeClr val="tx1"/>
                </a:solidFill>
              </a:rPr>
              <a:t>：描述程序所包含的运算</a:t>
            </a:r>
          </a:p>
          <a:p>
            <a:pPr>
              <a:spcBef>
                <a:spcPts val="30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控制</a:t>
            </a:r>
            <a:r>
              <a:rPr lang="zh-CN" altLang="en-US" dirty="0">
                <a:solidFill>
                  <a:schemeClr val="tx1"/>
                </a:solidFill>
              </a:rPr>
              <a:t>：表达程序的控制构造</a:t>
            </a:r>
          </a:p>
          <a:p>
            <a:pPr>
              <a:spcBef>
                <a:spcPts val="300"/>
              </a:spcBef>
            </a:pPr>
            <a:r>
              <a:rPr lang="zh-CN" altLang="en-US" sz="2800" dirty="0">
                <a:solidFill>
                  <a:srgbClr val="0000FF"/>
                </a:solidFill>
              </a:rPr>
              <a:t>传输</a:t>
            </a:r>
            <a:r>
              <a:rPr lang="zh-CN" altLang="en-US" dirty="0">
                <a:solidFill>
                  <a:schemeClr val="tx1"/>
                </a:solidFill>
              </a:rPr>
              <a:t>：表达程序中数据的传输</a:t>
            </a:r>
          </a:p>
        </p:txBody>
      </p:sp>
      <p:sp>
        <p:nvSpPr>
          <p:cNvPr id="22" name="上箭头 21"/>
          <p:cNvSpPr/>
          <p:nvPr/>
        </p:nvSpPr>
        <p:spPr>
          <a:xfrm>
            <a:off x="3171825" y="2066925"/>
            <a:ext cx="781050" cy="247650"/>
          </a:xfrm>
          <a:prstGeom prst="upArrow">
            <a:avLst/>
          </a:prstGeom>
          <a:noFill/>
          <a:ln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3284538" y="3467100"/>
            <a:ext cx="5586412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076325" indent="-1076325">
              <a:spcBef>
                <a:spcPts val="6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语法</a:t>
            </a:r>
            <a:r>
              <a:rPr lang="zh-CN" altLang="en-US" dirty="0">
                <a:solidFill>
                  <a:schemeClr val="tx1"/>
                </a:solidFill>
              </a:rPr>
              <a:t>：程序的结构或形式，即构成语言的各个记号之间的组合规律。</a:t>
            </a:r>
          </a:p>
          <a:p>
            <a:pPr marL="1076325" indent="-1076325">
              <a:spcBef>
                <a:spcPts val="6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语义</a:t>
            </a:r>
            <a:r>
              <a:rPr lang="zh-CN" altLang="en-US" dirty="0">
                <a:solidFill>
                  <a:schemeClr val="tx1"/>
                </a:solidFill>
              </a:rPr>
              <a:t>：程序的含义，即按照语法所表示的各个记号的特定含义。</a:t>
            </a:r>
          </a:p>
          <a:p>
            <a:pPr marL="1076325" indent="-1076325">
              <a:spcBef>
                <a:spcPts val="6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语用</a:t>
            </a:r>
            <a:r>
              <a:rPr lang="zh-CN" altLang="en-US" dirty="0">
                <a:solidFill>
                  <a:schemeClr val="tx1"/>
                </a:solidFill>
              </a:rPr>
              <a:t>：研究语言的理解和使用，包括编程风格、规定、习惯等。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  <p:bldP spid="13" grpId="0"/>
      <p:bldP spid="20" grpId="0" animBg="1"/>
      <p:bldP spid="21" grpId="0" build="p"/>
      <p:bldP spid="22" grpId="0" animBg="1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269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556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课程基本内容</a:t>
            </a:r>
            <a:endParaRPr lang="zh-CN" altLang="en-US" smtClean="0">
              <a:solidFill>
                <a:srgbClr val="00FFFF"/>
              </a:solidFill>
              <a:latin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3043238"/>
            <a:ext cx="1065213" cy="1241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800">
                <a:solidFill>
                  <a:srgbClr val="FF0000"/>
                </a:solidFill>
              </a:rPr>
              <a:t>程序设计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1528763" y="2374900"/>
            <a:ext cx="300037" cy="2538413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272" name="TextBox 7"/>
          <p:cNvSpPr txBox="1">
            <a:spLocks noChangeArrowheads="1"/>
          </p:cNvSpPr>
          <p:nvPr/>
        </p:nvSpPr>
        <p:spPr bwMode="auto">
          <a:xfrm>
            <a:off x="1897063" y="2101850"/>
            <a:ext cx="10366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语言</a:t>
            </a:r>
          </a:p>
        </p:txBody>
      </p:sp>
      <p:sp>
        <p:nvSpPr>
          <p:cNvPr id="11273" name="TextBox 8"/>
          <p:cNvSpPr txBox="1">
            <a:spLocks noChangeArrowheads="1"/>
          </p:cNvSpPr>
          <p:nvPr/>
        </p:nvSpPr>
        <p:spPr bwMode="auto">
          <a:xfrm>
            <a:off x="1920875" y="4432300"/>
            <a:ext cx="10779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基本算法</a:t>
            </a:r>
          </a:p>
        </p:txBody>
      </p:sp>
      <p:cxnSp>
        <p:nvCxnSpPr>
          <p:cNvPr id="11" name="直接箭头连接符 10"/>
          <p:cNvCxnSpPr>
            <a:stCxn id="11272" idx="3"/>
          </p:cNvCxnSpPr>
          <p:nvPr/>
        </p:nvCxnSpPr>
        <p:spPr>
          <a:xfrm flipV="1">
            <a:off x="2933700" y="2390775"/>
            <a:ext cx="1323975" cy="317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5" name="TextBox 12"/>
          <p:cNvSpPr txBox="1">
            <a:spLocks noChangeArrowheads="1"/>
          </p:cNvSpPr>
          <p:nvPr/>
        </p:nvSpPr>
        <p:spPr bwMode="auto">
          <a:xfrm>
            <a:off x="2820988" y="1263650"/>
            <a:ext cx="1436687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语法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zh-CN" altLang="en-US">
                <a:solidFill>
                  <a:srgbClr val="FF0000"/>
                </a:solidFill>
              </a:rPr>
              <a:t>语义</a:t>
            </a:r>
            <a:r>
              <a:rPr lang="zh-CN" altLang="en-US">
                <a:solidFill>
                  <a:schemeClr val="tx1"/>
                </a:solidFill>
              </a:rPr>
              <a:t>和</a:t>
            </a:r>
            <a:r>
              <a:rPr lang="zh-CN" altLang="en-US">
                <a:solidFill>
                  <a:srgbClr val="FF0000"/>
                </a:solidFill>
              </a:rPr>
              <a:t>语用</a:t>
            </a:r>
          </a:p>
        </p:txBody>
      </p:sp>
      <p:sp>
        <p:nvSpPr>
          <p:cNvPr id="20" name="左大括号 19"/>
          <p:cNvSpPr/>
          <p:nvPr/>
        </p:nvSpPr>
        <p:spPr>
          <a:xfrm>
            <a:off x="4348163" y="1733550"/>
            <a:ext cx="242887" cy="1303338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277" name="TextBox 20"/>
          <p:cNvSpPr txBox="1">
            <a:spLocks noChangeArrowheads="1"/>
          </p:cNvSpPr>
          <p:nvPr/>
        </p:nvSpPr>
        <p:spPr bwMode="auto">
          <a:xfrm>
            <a:off x="4579938" y="1395413"/>
            <a:ext cx="4276725" cy="193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数据</a:t>
            </a:r>
            <a:r>
              <a:rPr lang="zh-CN" altLang="en-US">
                <a:solidFill>
                  <a:schemeClr val="tx1"/>
                </a:solidFill>
              </a:rPr>
              <a:t>：描述程序所涉及的数据</a:t>
            </a:r>
          </a:p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运算</a:t>
            </a:r>
            <a:r>
              <a:rPr lang="zh-CN" altLang="en-US">
                <a:solidFill>
                  <a:schemeClr val="tx1"/>
                </a:solidFill>
              </a:rPr>
              <a:t>：描述程序所包含的运算</a:t>
            </a:r>
          </a:p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控制</a:t>
            </a:r>
            <a:r>
              <a:rPr lang="zh-CN" altLang="en-US">
                <a:solidFill>
                  <a:schemeClr val="tx1"/>
                </a:solidFill>
              </a:rPr>
              <a:t>：表达程序的控制构造</a:t>
            </a:r>
          </a:p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传输</a:t>
            </a:r>
            <a:r>
              <a:rPr lang="zh-CN" altLang="en-US">
                <a:solidFill>
                  <a:schemeClr val="tx1"/>
                </a:solidFill>
              </a:rPr>
              <a:t>：表达程序中数据的传输</a:t>
            </a:r>
          </a:p>
        </p:txBody>
      </p:sp>
      <p:sp>
        <p:nvSpPr>
          <p:cNvPr id="22" name="上箭头 21"/>
          <p:cNvSpPr/>
          <p:nvPr/>
        </p:nvSpPr>
        <p:spPr>
          <a:xfrm>
            <a:off x="3171825" y="2066925"/>
            <a:ext cx="781050" cy="247650"/>
          </a:xfrm>
          <a:prstGeom prst="upArrow">
            <a:avLst/>
          </a:prstGeom>
          <a:noFill/>
          <a:ln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2943225" y="5119688"/>
            <a:ext cx="1323975" cy="317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032125" y="3600450"/>
            <a:ext cx="1160463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懂原理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会选用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能实现</a:t>
            </a:r>
          </a:p>
        </p:txBody>
      </p:sp>
      <p:sp>
        <p:nvSpPr>
          <p:cNvPr id="16" name="左大括号 15"/>
          <p:cNvSpPr/>
          <p:nvPr/>
        </p:nvSpPr>
        <p:spPr>
          <a:xfrm>
            <a:off x="4357688" y="3835400"/>
            <a:ext cx="261937" cy="2541588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589463" y="3519488"/>
            <a:ext cx="4411662" cy="3108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简单图型</a:t>
            </a:r>
            <a:r>
              <a:rPr lang="en-US" altLang="zh-CN">
                <a:solidFill>
                  <a:schemeClr val="tx1"/>
                </a:solidFill>
                <a:latin typeface="+mn-ea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+mn-ea"/>
              </a:rPr>
              <a:t>建模</a:t>
            </a:r>
            <a:r>
              <a:rPr lang="en-US" altLang="zh-CN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+mn-ea"/>
              </a:rPr>
              <a:t>设计</a:t>
            </a:r>
            <a:r>
              <a:rPr lang="en-US" altLang="zh-CN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+mn-ea"/>
              </a:rPr>
              <a:t>循环</a:t>
            </a:r>
            <a:endParaRPr lang="zh-CN" altLang="en-US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穷举法</a:t>
            </a:r>
            <a:r>
              <a:rPr lang="en-US" altLang="zh-CN" sz="2800">
                <a:solidFill>
                  <a:srgbClr val="0000FF"/>
                </a:solidFill>
              </a:rPr>
              <a:t>/</a:t>
            </a:r>
            <a:r>
              <a:rPr lang="zh-CN" altLang="en-US" sz="2800">
                <a:solidFill>
                  <a:srgbClr val="0000FF"/>
                </a:solidFill>
              </a:rPr>
              <a:t>递推法</a:t>
            </a:r>
            <a:r>
              <a:rPr lang="zh-CN" altLang="en-US">
                <a:solidFill>
                  <a:schemeClr val="tx1"/>
                </a:solidFill>
              </a:rPr>
              <a:t>：建模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设计</a:t>
            </a:r>
          </a:p>
          <a:p>
            <a:pPr>
              <a:spcBef>
                <a:spcPts val="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查找</a:t>
            </a:r>
            <a:r>
              <a:rPr lang="en-US" altLang="zh-CN" sz="2800">
                <a:solidFill>
                  <a:srgbClr val="0000FF"/>
                </a:solidFill>
              </a:rPr>
              <a:t>/</a:t>
            </a:r>
            <a:r>
              <a:rPr lang="zh-CN" altLang="en-US" sz="2800">
                <a:solidFill>
                  <a:srgbClr val="0000FF"/>
                </a:solidFill>
              </a:rPr>
              <a:t>统计</a:t>
            </a:r>
            <a:r>
              <a:rPr lang="en-US" altLang="zh-CN">
                <a:solidFill>
                  <a:schemeClr val="tx1"/>
                </a:solidFill>
                <a:latin typeface="+mn-ea"/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数组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串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链表</a:t>
            </a:r>
            <a:r>
              <a:rPr lang="en-US" altLang="zh-CN">
                <a:solidFill>
                  <a:schemeClr val="tx1"/>
                </a:solidFill>
              </a:rPr>
              <a:t>/...</a:t>
            </a:r>
            <a:endParaRPr lang="en-US" altLang="zh-CN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排序</a:t>
            </a:r>
            <a:r>
              <a:rPr lang="en-US" altLang="zh-CN">
                <a:solidFill>
                  <a:schemeClr val="tx1"/>
                </a:solidFill>
                <a:latin typeface="+mn-ea"/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起泡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选择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插入</a:t>
            </a:r>
            <a:r>
              <a:rPr lang="en-US" altLang="zh-CN">
                <a:solidFill>
                  <a:schemeClr val="tx1"/>
                </a:solidFill>
              </a:rPr>
              <a:t>/...</a:t>
            </a:r>
            <a:endParaRPr lang="zh-CN" altLang="en-US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递归</a:t>
            </a:r>
            <a:r>
              <a:rPr lang="en-US" altLang="zh-CN">
                <a:solidFill>
                  <a:schemeClr val="tx1"/>
                </a:solidFill>
                <a:latin typeface="+mn-ea"/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数值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非数值</a:t>
            </a:r>
            <a:endParaRPr lang="en-US" altLang="zh-CN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串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复制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连接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串长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子串</a:t>
            </a:r>
            <a:r>
              <a:rPr lang="en-US" altLang="zh-CN">
                <a:solidFill>
                  <a:schemeClr val="tx1"/>
                </a:solidFill>
              </a:rPr>
              <a:t>...</a:t>
            </a:r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链表</a:t>
            </a:r>
            <a:r>
              <a:rPr lang="en-US" altLang="zh-CN">
                <a:solidFill>
                  <a:schemeClr val="tx1"/>
                </a:solidFill>
                <a:latin typeface="+mn-ea"/>
              </a:rPr>
              <a:t>：</a:t>
            </a:r>
            <a:r>
              <a:rPr lang="zh-CN" altLang="en-US">
                <a:solidFill>
                  <a:schemeClr val="tx1"/>
                </a:solidFill>
              </a:rPr>
              <a:t>建立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插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查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删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改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排序</a:t>
            </a:r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8" name="上箭头 17"/>
          <p:cNvSpPr/>
          <p:nvPr/>
        </p:nvSpPr>
        <p:spPr>
          <a:xfrm>
            <a:off x="3181350" y="4795838"/>
            <a:ext cx="781050" cy="247650"/>
          </a:xfrm>
          <a:prstGeom prst="upArrow">
            <a:avLst/>
          </a:prstGeom>
          <a:noFill/>
          <a:ln>
            <a:solidFill>
              <a:srgbClr val="92D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build="p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293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556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课程基本内容</a:t>
            </a:r>
            <a:endParaRPr lang="zh-CN" altLang="en-US" smtClean="0">
              <a:solidFill>
                <a:srgbClr val="00FFFF"/>
              </a:solidFill>
              <a:latin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3043238"/>
            <a:ext cx="1065213" cy="1241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800">
                <a:solidFill>
                  <a:srgbClr val="FF0000"/>
                </a:solidFill>
              </a:rPr>
              <a:t>程序设计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1528763" y="2374900"/>
            <a:ext cx="300037" cy="2538413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296" name="TextBox 7"/>
          <p:cNvSpPr txBox="1">
            <a:spLocks noChangeArrowheads="1"/>
          </p:cNvSpPr>
          <p:nvPr/>
        </p:nvSpPr>
        <p:spPr bwMode="auto">
          <a:xfrm>
            <a:off x="1897063" y="2101850"/>
            <a:ext cx="10366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语言</a:t>
            </a:r>
          </a:p>
        </p:txBody>
      </p:sp>
      <p:sp>
        <p:nvSpPr>
          <p:cNvPr id="12297" name="TextBox 8"/>
          <p:cNvSpPr txBox="1">
            <a:spLocks noChangeArrowheads="1"/>
          </p:cNvSpPr>
          <p:nvPr/>
        </p:nvSpPr>
        <p:spPr bwMode="auto">
          <a:xfrm>
            <a:off x="1920875" y="4432300"/>
            <a:ext cx="10779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基本算法</a:t>
            </a:r>
          </a:p>
        </p:txBody>
      </p:sp>
      <p:sp>
        <p:nvSpPr>
          <p:cNvPr id="20" name="左大括号 19"/>
          <p:cNvSpPr/>
          <p:nvPr/>
        </p:nvSpPr>
        <p:spPr>
          <a:xfrm>
            <a:off x="2841625" y="1719263"/>
            <a:ext cx="242888" cy="1303337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299" name="TextBox 20"/>
          <p:cNvSpPr txBox="1">
            <a:spLocks noChangeArrowheads="1"/>
          </p:cNvSpPr>
          <p:nvPr/>
        </p:nvSpPr>
        <p:spPr bwMode="auto">
          <a:xfrm>
            <a:off x="3059113" y="1463675"/>
            <a:ext cx="942975" cy="174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数据</a:t>
            </a:r>
            <a:endParaRPr lang="zh-CN" altLang="en-US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运算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控制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传输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4017963" y="876300"/>
            <a:ext cx="254000" cy="1771650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316413" y="688975"/>
            <a:ext cx="4637087" cy="294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077913" indent="-1077913">
              <a:spcBef>
                <a:spcPts val="30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类型</a:t>
            </a:r>
            <a:r>
              <a:rPr lang="zh-CN" altLang="en-US">
                <a:solidFill>
                  <a:schemeClr val="tx1"/>
                </a:solidFill>
              </a:rPr>
              <a:t>：长度、编码、取值范围、存储方式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(4)</a:t>
            </a:r>
          </a:p>
          <a:p>
            <a:pPr marL="1077913" indent="-1077913">
              <a:spcBef>
                <a:spcPts val="30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基本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char，int，long，float，double，void</a:t>
            </a:r>
          </a:p>
          <a:p>
            <a:pPr marL="1077913" indent="-1077913">
              <a:spcBef>
                <a:spcPts val="30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构造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[ ]，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zh-CN">
                <a:solidFill>
                  <a:schemeClr val="tx1"/>
                </a:solidFill>
              </a:rPr>
              <a:t>，struct，union，enum，FILE，typedef，</a:t>
            </a:r>
            <a:r>
              <a:rPr lang="zh-CN" altLang="en-US">
                <a:solidFill>
                  <a:schemeClr val="tx1"/>
                </a:solidFill>
              </a:rPr>
              <a:t>数组下标，串，相互关系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317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556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课程基本内容</a:t>
            </a:r>
            <a:endParaRPr lang="zh-CN" altLang="en-US" smtClean="0">
              <a:solidFill>
                <a:srgbClr val="00FFFF"/>
              </a:solidFill>
              <a:latin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3043238"/>
            <a:ext cx="1065213" cy="1241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800">
                <a:solidFill>
                  <a:srgbClr val="FF0000"/>
                </a:solidFill>
              </a:rPr>
              <a:t>程序设计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1528763" y="2374900"/>
            <a:ext cx="300037" cy="2538413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320" name="TextBox 7"/>
          <p:cNvSpPr txBox="1">
            <a:spLocks noChangeArrowheads="1"/>
          </p:cNvSpPr>
          <p:nvPr/>
        </p:nvSpPr>
        <p:spPr bwMode="auto">
          <a:xfrm>
            <a:off x="1897063" y="2101850"/>
            <a:ext cx="10366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语言</a:t>
            </a:r>
          </a:p>
        </p:txBody>
      </p:sp>
      <p:sp>
        <p:nvSpPr>
          <p:cNvPr id="13321" name="TextBox 8"/>
          <p:cNvSpPr txBox="1">
            <a:spLocks noChangeArrowheads="1"/>
          </p:cNvSpPr>
          <p:nvPr/>
        </p:nvSpPr>
        <p:spPr bwMode="auto">
          <a:xfrm>
            <a:off x="1920875" y="4432300"/>
            <a:ext cx="10779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基本算法</a:t>
            </a:r>
          </a:p>
        </p:txBody>
      </p:sp>
      <p:sp>
        <p:nvSpPr>
          <p:cNvPr id="20" name="左大括号 19"/>
          <p:cNvSpPr/>
          <p:nvPr/>
        </p:nvSpPr>
        <p:spPr>
          <a:xfrm>
            <a:off x="2841625" y="1719263"/>
            <a:ext cx="242888" cy="1303337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323" name="TextBox 20"/>
          <p:cNvSpPr txBox="1">
            <a:spLocks noChangeArrowheads="1"/>
          </p:cNvSpPr>
          <p:nvPr/>
        </p:nvSpPr>
        <p:spPr bwMode="auto">
          <a:xfrm>
            <a:off x="3059113" y="1463675"/>
            <a:ext cx="942975" cy="180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数据</a:t>
            </a:r>
          </a:p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运算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控制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传输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4017963" y="1258888"/>
            <a:ext cx="254000" cy="1771650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316413" y="989013"/>
            <a:ext cx="4637087" cy="1362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077913" indent="-1077913">
              <a:spcBef>
                <a:spcPts val="30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规则</a:t>
            </a:r>
            <a:r>
              <a:rPr lang="zh-CN" altLang="en-US">
                <a:solidFill>
                  <a:schemeClr val="tx1"/>
                </a:solidFill>
              </a:rPr>
              <a:t>：含义、优先级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r>
              <a:rPr lang="zh-CN" altLang="en-US">
                <a:solidFill>
                  <a:schemeClr val="tx1"/>
                </a:solidFill>
              </a:rPr>
              <a:t>、结合性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(15)</a:t>
            </a:r>
            <a:r>
              <a:rPr lang="zh-CN" altLang="en-US">
                <a:solidFill>
                  <a:schemeClr val="tx1"/>
                </a:solidFill>
              </a:rPr>
              <a:t>、限制条件</a:t>
            </a:r>
            <a:endParaRPr lang="en-US" altLang="zh-CN">
              <a:solidFill>
                <a:schemeClr val="tx1"/>
              </a:solidFill>
            </a:endParaRPr>
          </a:p>
          <a:p>
            <a:pPr marL="1077913" indent="-1077913">
              <a:spcBef>
                <a:spcPts val="30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符号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....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65100" y="1608138"/>
          <a:ext cx="8856662" cy="5219088"/>
        </p:xfrm>
        <a:graphic>
          <a:graphicData uri="http://schemas.openxmlformats.org/drawingml/2006/table">
            <a:tbl>
              <a:tblPr/>
              <a:tblGrid>
                <a:gridCol w="1192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54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优先级</a:t>
                      </a:r>
                    </a:p>
                  </a:txBody>
                  <a:tcPr marL="0" marR="0" marT="18000" marB="18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运算符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结合性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优先级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运算符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结合性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05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15</a:t>
                      </a:r>
                    </a:p>
                  </a:txBody>
                  <a:tcPr marL="0" marR="0" marT="18000" marB="18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( )  [  ]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8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&amp;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0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.  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Monotype Sorts"/>
                        </a:rPr>
                        <a:t>-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&gt;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7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^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05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14</a:t>
                      </a:r>
                    </a:p>
                  </a:txBody>
                  <a:tcPr marL="0" marR="0" marT="18000" marB="18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++ -- ! ~ +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Monotype Sorts"/>
                        </a:rPr>
                        <a:t>-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Monotype Sorts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 &amp;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(type) sizeof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←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6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|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05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5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&amp;&amp;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13</a:t>
                      </a:r>
                    </a:p>
                  </a:txBody>
                  <a:tcPr marL="0" marR="0" marT="18000" marB="18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Monotype Sorts"/>
                        </a:rPr>
                        <a:t>*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 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/  %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4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||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12</a:t>
                      </a:r>
                    </a:p>
                  </a:txBody>
                  <a:tcPr marL="0" marR="0" marT="18000" marB="18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+ 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Monotype Sorts"/>
                        </a:rPr>
                        <a:t>-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3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? :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11</a:t>
                      </a:r>
                    </a:p>
                  </a:txBody>
                  <a:tcPr marL="0" marR="0" marT="18000" marB="18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&lt;&lt;   &gt;&gt; 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2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= +=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Monotype Sorts"/>
                        </a:rPr>
                        <a:t>-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= 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Monotype Sorts"/>
                        </a:rPr>
                        <a:t>*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=  /= &amp;= ^= |= &lt;&lt;=  &gt;&gt;=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←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2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10</a:t>
                      </a:r>
                    </a:p>
                  </a:txBody>
                  <a:tcPr marL="0" marR="0" marT="18000" marB="18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&lt;  &lt;=  &gt;=  &gt;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0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9</a:t>
                      </a:r>
                    </a:p>
                  </a:txBody>
                  <a:tcPr marL="0" marR="0" marT="18000" marB="180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==  !=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  <a:endParaRPr kumimoji="1" lang="zh-CN" alt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  <a:sym typeface="Monotype Sorts"/>
                      </a:endParaRP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1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  <a:sym typeface="Monotype Sorts"/>
                        </a:rPr>
                        <a:t>,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sym typeface="Monotype Sorts"/>
                        </a:rPr>
                        <a:t>→</a:t>
                      </a:r>
                    </a:p>
                  </a:txBody>
                  <a:tcPr marL="0" marR="0" marT="18000" marB="180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341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556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课程基本内容</a:t>
            </a:r>
            <a:endParaRPr lang="zh-CN" altLang="en-US" smtClean="0">
              <a:solidFill>
                <a:srgbClr val="00FFFF"/>
              </a:solidFill>
              <a:latin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3043238"/>
            <a:ext cx="1065213" cy="1241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800">
                <a:solidFill>
                  <a:srgbClr val="FF0000"/>
                </a:solidFill>
              </a:rPr>
              <a:t>程序设计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1528763" y="2374900"/>
            <a:ext cx="300037" cy="2538413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344" name="TextBox 7"/>
          <p:cNvSpPr txBox="1">
            <a:spLocks noChangeArrowheads="1"/>
          </p:cNvSpPr>
          <p:nvPr/>
        </p:nvSpPr>
        <p:spPr bwMode="auto">
          <a:xfrm>
            <a:off x="1897063" y="2101850"/>
            <a:ext cx="10366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语言</a:t>
            </a:r>
          </a:p>
        </p:txBody>
      </p:sp>
      <p:sp>
        <p:nvSpPr>
          <p:cNvPr id="14345" name="TextBox 8"/>
          <p:cNvSpPr txBox="1">
            <a:spLocks noChangeArrowheads="1"/>
          </p:cNvSpPr>
          <p:nvPr/>
        </p:nvSpPr>
        <p:spPr bwMode="auto">
          <a:xfrm>
            <a:off x="1920875" y="4432300"/>
            <a:ext cx="10779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基本算法</a:t>
            </a:r>
          </a:p>
        </p:txBody>
      </p:sp>
      <p:sp>
        <p:nvSpPr>
          <p:cNvPr id="20" name="左大括号 19"/>
          <p:cNvSpPr/>
          <p:nvPr/>
        </p:nvSpPr>
        <p:spPr>
          <a:xfrm>
            <a:off x="2841625" y="1719263"/>
            <a:ext cx="242888" cy="1303337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347" name="TextBox 20"/>
          <p:cNvSpPr txBox="1">
            <a:spLocks noChangeArrowheads="1"/>
          </p:cNvSpPr>
          <p:nvPr/>
        </p:nvSpPr>
        <p:spPr bwMode="auto">
          <a:xfrm>
            <a:off x="3059113" y="1463675"/>
            <a:ext cx="942975" cy="180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数据</a:t>
            </a:r>
          </a:p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运算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控制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传输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4017963" y="1258888"/>
            <a:ext cx="254000" cy="1771650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4316413" y="989013"/>
            <a:ext cx="4637087" cy="1362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077913" indent="-1077913">
              <a:spcBef>
                <a:spcPts val="30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规则</a:t>
            </a:r>
            <a:r>
              <a:rPr lang="zh-CN" altLang="en-US">
                <a:solidFill>
                  <a:schemeClr val="tx1"/>
                </a:solidFill>
              </a:rPr>
              <a:t>：含义、优先级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r>
              <a:rPr lang="zh-CN" altLang="en-US">
                <a:solidFill>
                  <a:schemeClr val="tx1"/>
                </a:solidFill>
              </a:rPr>
              <a:t>、结合性</a:t>
            </a:r>
            <a:r>
              <a:rPr lang="en-US" altLang="zh-CN">
                <a:solidFill>
                  <a:schemeClr val="tx1"/>
                </a:solidFill>
                <a:latin typeface="+mn-ea"/>
                <a:ea typeface="+mn-ea"/>
              </a:rPr>
              <a:t>(15)</a:t>
            </a:r>
            <a:r>
              <a:rPr lang="zh-CN" altLang="en-US">
                <a:solidFill>
                  <a:schemeClr val="tx1"/>
                </a:solidFill>
              </a:rPr>
              <a:t>、限制条件</a:t>
            </a:r>
            <a:endParaRPr lang="en-US" altLang="zh-CN">
              <a:solidFill>
                <a:schemeClr val="tx1"/>
              </a:solidFill>
            </a:endParaRPr>
          </a:p>
          <a:p>
            <a:pPr marL="1077913" indent="-1077913">
              <a:spcBef>
                <a:spcPts val="300"/>
              </a:spcBef>
              <a:defRPr/>
            </a:pPr>
            <a:r>
              <a:rPr lang="zh-CN" altLang="en-US" sz="2800">
                <a:solidFill>
                  <a:srgbClr val="0000FF"/>
                </a:solidFill>
              </a:rPr>
              <a:t>符号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....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329113" y="2424113"/>
            <a:ext cx="4637087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077913" indent="-1077913"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特殊</a:t>
            </a:r>
            <a:r>
              <a:rPr lang="zh-CN" altLang="en-US">
                <a:solidFill>
                  <a:schemeClr val="tx1"/>
                </a:solidFill>
              </a:rPr>
              <a:t>：类型混合运行、</a:t>
            </a:r>
            <a:r>
              <a:rPr lang="en-US" altLang="zh-CN">
                <a:solidFill>
                  <a:schemeClr val="tx1"/>
                </a:solidFill>
              </a:rPr>
              <a:t>( type )、sizeof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365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556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课程基本内容</a:t>
            </a:r>
            <a:endParaRPr lang="zh-CN" altLang="en-US" smtClean="0">
              <a:solidFill>
                <a:srgbClr val="00FFFF"/>
              </a:solidFill>
              <a:latin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3043238"/>
            <a:ext cx="1065213" cy="1241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800">
                <a:solidFill>
                  <a:srgbClr val="FF0000"/>
                </a:solidFill>
              </a:rPr>
              <a:t>程序设计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1528763" y="2374900"/>
            <a:ext cx="300037" cy="2538413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368" name="TextBox 7"/>
          <p:cNvSpPr txBox="1">
            <a:spLocks noChangeArrowheads="1"/>
          </p:cNvSpPr>
          <p:nvPr/>
        </p:nvSpPr>
        <p:spPr bwMode="auto">
          <a:xfrm>
            <a:off x="1897063" y="2101850"/>
            <a:ext cx="10366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语言</a:t>
            </a:r>
          </a:p>
        </p:txBody>
      </p:sp>
      <p:sp>
        <p:nvSpPr>
          <p:cNvPr id="15369" name="TextBox 8"/>
          <p:cNvSpPr txBox="1">
            <a:spLocks noChangeArrowheads="1"/>
          </p:cNvSpPr>
          <p:nvPr/>
        </p:nvSpPr>
        <p:spPr bwMode="auto">
          <a:xfrm>
            <a:off x="1920875" y="4432300"/>
            <a:ext cx="10779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基本算法</a:t>
            </a:r>
          </a:p>
        </p:txBody>
      </p:sp>
      <p:sp>
        <p:nvSpPr>
          <p:cNvPr id="20" name="左大括号 19"/>
          <p:cNvSpPr/>
          <p:nvPr/>
        </p:nvSpPr>
        <p:spPr>
          <a:xfrm>
            <a:off x="2841625" y="1719263"/>
            <a:ext cx="242888" cy="1303337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371" name="TextBox 20"/>
          <p:cNvSpPr txBox="1">
            <a:spLocks noChangeArrowheads="1"/>
          </p:cNvSpPr>
          <p:nvPr/>
        </p:nvSpPr>
        <p:spPr bwMode="auto">
          <a:xfrm>
            <a:off x="3059113" y="1463675"/>
            <a:ext cx="942975" cy="174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数据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运算</a:t>
            </a:r>
          </a:p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控制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传输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4017963" y="1682750"/>
            <a:ext cx="254000" cy="1771650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343400" y="1400175"/>
            <a:ext cx="4637088" cy="220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077913" indent="-1077913"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分支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if、if-else、switch( case、default、break)</a:t>
            </a:r>
          </a:p>
          <a:p>
            <a:pPr marL="1077913" indent="-1077913"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循环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while、for、do-while、break、coutinue</a:t>
            </a:r>
          </a:p>
          <a:p>
            <a:pPr marL="1077913" indent="-1077913"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转移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goto、return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389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556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课程基本内容</a:t>
            </a:r>
            <a:endParaRPr lang="zh-CN" altLang="en-US" smtClean="0">
              <a:solidFill>
                <a:srgbClr val="00FFFF"/>
              </a:solidFill>
              <a:latin typeface="宋体" pitchFamily="2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68300" y="3043238"/>
            <a:ext cx="1065213" cy="12414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2800">
                <a:solidFill>
                  <a:srgbClr val="FF0000"/>
                </a:solidFill>
              </a:rPr>
              <a:t>程序设计</a:t>
            </a:r>
          </a:p>
        </p:txBody>
      </p:sp>
      <p:sp>
        <p:nvSpPr>
          <p:cNvPr id="7" name="左大括号 6"/>
          <p:cNvSpPr/>
          <p:nvPr/>
        </p:nvSpPr>
        <p:spPr>
          <a:xfrm>
            <a:off x="1528763" y="2374900"/>
            <a:ext cx="300037" cy="2538413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392" name="TextBox 7"/>
          <p:cNvSpPr txBox="1">
            <a:spLocks noChangeArrowheads="1"/>
          </p:cNvSpPr>
          <p:nvPr/>
        </p:nvSpPr>
        <p:spPr bwMode="auto">
          <a:xfrm>
            <a:off x="1897063" y="2101850"/>
            <a:ext cx="10366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语言</a:t>
            </a:r>
          </a:p>
        </p:txBody>
      </p:sp>
      <p:sp>
        <p:nvSpPr>
          <p:cNvPr id="16393" name="TextBox 8"/>
          <p:cNvSpPr txBox="1">
            <a:spLocks noChangeArrowheads="1"/>
          </p:cNvSpPr>
          <p:nvPr/>
        </p:nvSpPr>
        <p:spPr bwMode="auto">
          <a:xfrm>
            <a:off x="1920875" y="4432300"/>
            <a:ext cx="10779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</a:rPr>
              <a:t>基本算法</a:t>
            </a:r>
          </a:p>
        </p:txBody>
      </p:sp>
      <p:sp>
        <p:nvSpPr>
          <p:cNvPr id="20" name="左大括号 19"/>
          <p:cNvSpPr/>
          <p:nvPr/>
        </p:nvSpPr>
        <p:spPr>
          <a:xfrm>
            <a:off x="2841625" y="1719263"/>
            <a:ext cx="242888" cy="1303337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395" name="TextBox 20"/>
          <p:cNvSpPr txBox="1">
            <a:spLocks noChangeArrowheads="1"/>
          </p:cNvSpPr>
          <p:nvPr/>
        </p:nvSpPr>
        <p:spPr bwMode="auto">
          <a:xfrm>
            <a:off x="3059113" y="1463675"/>
            <a:ext cx="942975" cy="174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数据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运算</a:t>
            </a:r>
          </a:p>
          <a:p>
            <a:pPr>
              <a:spcBef>
                <a:spcPts val="300"/>
              </a:spcBef>
            </a:pPr>
            <a:r>
              <a:rPr lang="zh-CN" altLang="en-US">
                <a:solidFill>
                  <a:schemeClr val="tx1"/>
                </a:solidFill>
              </a:rPr>
              <a:t>控制</a:t>
            </a:r>
          </a:p>
          <a:p>
            <a:pPr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传输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4017963" y="2063750"/>
            <a:ext cx="254000" cy="1771650"/>
          </a:xfrm>
          <a:prstGeom prst="leftBrac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302125" y="1809750"/>
            <a:ext cx="4637088" cy="263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077913" indent="-1077913"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函数</a:t>
            </a:r>
            <a:r>
              <a:rPr lang="zh-CN" altLang="en-US">
                <a:solidFill>
                  <a:schemeClr val="tx1"/>
                </a:solidFill>
              </a:rPr>
              <a:t>：函数定义、说明、调用、返回、参数传递规则</a:t>
            </a:r>
            <a:endParaRPr lang="en-US" altLang="zh-CN">
              <a:solidFill>
                <a:schemeClr val="tx1"/>
              </a:solidFill>
            </a:endParaRPr>
          </a:p>
          <a:p>
            <a:pPr marL="1077913" indent="-1077913"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存储</a:t>
            </a:r>
            <a:r>
              <a:rPr lang="zh-CN" altLang="en-US" sz="2800">
                <a:solidFill>
                  <a:schemeClr val="tx1"/>
                </a:solidFill>
              </a:rPr>
              <a:t>：</a:t>
            </a:r>
            <a:r>
              <a:rPr lang="en-US" altLang="zh-CN" sz="2800">
                <a:solidFill>
                  <a:schemeClr val="tx1"/>
                </a:solidFill>
              </a:rPr>
              <a:t>auto / regist / extern / static，</a:t>
            </a:r>
            <a:r>
              <a:rPr lang="zh-CN" altLang="en-US">
                <a:solidFill>
                  <a:schemeClr val="tx1"/>
                </a:solidFill>
              </a:rPr>
              <a:t>性质</a:t>
            </a:r>
            <a:endParaRPr lang="en-US" altLang="zh-CN">
              <a:solidFill>
                <a:schemeClr val="tx1"/>
              </a:solidFill>
            </a:endParaRPr>
          </a:p>
          <a:p>
            <a:pPr marL="1077913" indent="-1077913">
              <a:spcBef>
                <a:spcPts val="300"/>
              </a:spcBef>
            </a:pPr>
            <a:r>
              <a:rPr lang="zh-CN" altLang="en-US" sz="2800">
                <a:solidFill>
                  <a:srgbClr val="0000FF"/>
                </a:solidFill>
              </a:rPr>
              <a:t>库函数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chemeClr val="tx1"/>
                </a:solidFill>
              </a:rPr>
              <a:t>printf、sacnf、gets、puts、....、</a:t>
            </a:r>
            <a:r>
              <a:rPr lang="zh-CN" altLang="en-US">
                <a:solidFill>
                  <a:schemeClr val="tx1"/>
                </a:solidFill>
              </a:rPr>
              <a:t>文件操作</a:t>
            </a:r>
            <a:endParaRPr lang="en-US" altLang="zh-CN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413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686425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基本语句</a:t>
            </a:r>
            <a:r>
              <a:rPr lang="zh-CN" altLang="en-US" smtClean="0">
                <a:latin typeface="Times New Roman" pitchFamily="18" charset="0"/>
              </a:rPr>
              <a:t>——</a:t>
            </a:r>
            <a:r>
              <a:rPr lang="zh-CN" altLang="en-US" smtClean="0">
                <a:latin typeface="宋体" pitchFamily="2" charset="-122"/>
              </a:rPr>
              <a:t>必须会</a:t>
            </a:r>
            <a:endParaRPr lang="zh-CN" altLang="en-US" smtClean="0">
              <a:solidFill>
                <a:srgbClr val="00FFFF"/>
              </a:solidFill>
              <a:latin typeface="宋体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掌握正确的语法形式、控制流程、常见书写形式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if 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和 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switch 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语句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循环语句（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for、while、do-while）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break 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和 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continue 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语句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goto 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语句不要求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语句之间的嵌套关系和规定</a:t>
            </a:r>
          </a:p>
          <a:p>
            <a:pPr lvl="1" eaLnBrk="1" hangingPunct="1"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掌握</a:t>
            </a:r>
            <a:r>
              <a:rPr lang="zh-CN" altLang="en-US" sz="3200" smtClean="0">
                <a:solidFill>
                  <a:srgbClr val="FF0000"/>
                </a:solidFill>
                <a:latin typeface="宋体" pitchFamily="2" charset="-122"/>
              </a:rPr>
              <a:t>穷举法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解决问题的方法</a:t>
            </a:r>
            <a:endParaRPr lang="en-US" altLang="zh-CN" sz="3200" smtClean="0">
              <a:solidFill>
                <a:schemeClr val="folHlink"/>
              </a:solidFill>
              <a:latin typeface="宋体" pitchFamily="2" charset="-122"/>
            </a:endParaRPr>
          </a:p>
          <a:p>
            <a:pPr lvl="1" eaLnBrk="1" hangingPunct="1"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编写输出</a:t>
            </a:r>
            <a:r>
              <a:rPr lang="zh-CN" altLang="en-US" sz="3200" smtClean="0">
                <a:solidFill>
                  <a:srgbClr val="FF0000"/>
                </a:solidFill>
                <a:latin typeface="宋体" pitchFamily="2" charset="-122"/>
              </a:rPr>
              <a:t>简单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图形程序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437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87851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mtClean="0">
                <a:latin typeface="宋体" pitchFamily="2" charset="-122"/>
              </a:rPr>
              <a:t>数组</a:t>
            </a:r>
            <a:r>
              <a:rPr lang="zh-CN" altLang="en-US" smtClean="0">
                <a:latin typeface="Times New Roman" pitchFamily="18" charset="0"/>
              </a:rPr>
              <a:t>——</a:t>
            </a:r>
            <a:r>
              <a:rPr lang="zh-CN" altLang="en-US" smtClean="0">
                <a:latin typeface="宋体" pitchFamily="2" charset="-122"/>
              </a:rPr>
              <a:t>重点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数组的概念，数组说明，数组元素起始下标为</a:t>
            </a:r>
            <a:r>
              <a:rPr lang="en-US" altLang="zh-CN" sz="3200" smtClean="0">
                <a:solidFill>
                  <a:srgbClr val="FF0000"/>
                </a:solidFill>
                <a:latin typeface="宋体" pitchFamily="2" charset="-122"/>
              </a:rPr>
              <a:t>0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，如何引用数组元素，数组名的意义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多维数组元素的标识方法，存放方式。多维数组只要求到二维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数组与函数的关系：在函数之间传递数组中的一个元素，在函数之间传递整个数组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基本算法：</a:t>
            </a:r>
            <a:r>
              <a:rPr lang="zh-CN" altLang="en-US" sz="3200" smtClean="0">
                <a:solidFill>
                  <a:srgbClr val="FF0000"/>
                </a:solidFill>
                <a:latin typeface="宋体" pitchFamily="2" charset="-122"/>
              </a:rPr>
              <a:t>排序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（冒泡、选择、插入），矩阵乘法，矩阵转置</a:t>
            </a:r>
            <a:endParaRPr lang="en-US" altLang="zh-CN" sz="3200" smtClean="0">
              <a:solidFill>
                <a:schemeClr val="folHlink"/>
              </a:solidFill>
              <a:latin typeface="宋体" pitchFamily="2" charset="-122"/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基于数组的</a:t>
            </a:r>
            <a:r>
              <a:rPr lang="zh-CN" altLang="en-US" sz="3200" smtClean="0">
                <a:solidFill>
                  <a:srgbClr val="FF0000"/>
                </a:solidFill>
                <a:latin typeface="宋体" pitchFamily="2" charset="-122"/>
              </a:rPr>
              <a:t>简单算法设计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461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686425"/>
          </a:xfrm>
        </p:spPr>
        <p:txBody>
          <a:bodyPr/>
          <a:lstStyle/>
          <a:p>
            <a:pPr eaLnBrk="1" hangingPunct="1">
              <a:lnSpc>
                <a:spcPts val="4000"/>
              </a:lnSpc>
              <a:spcBef>
                <a:spcPts val="1200"/>
              </a:spcBef>
            </a:pPr>
            <a:r>
              <a:rPr lang="zh-CN" altLang="en-US" smtClean="0">
                <a:latin typeface="宋体" pitchFamily="2" charset="-122"/>
              </a:rPr>
              <a:t>字符串</a:t>
            </a:r>
            <a:r>
              <a:rPr lang="zh-CN" altLang="en-US" smtClean="0">
                <a:latin typeface="Times New Roman" pitchFamily="18" charset="0"/>
              </a:rPr>
              <a:t>——</a:t>
            </a:r>
            <a:r>
              <a:rPr lang="zh-CN" altLang="en-US" smtClean="0">
                <a:latin typeface="宋体" pitchFamily="2" charset="-122"/>
              </a:rPr>
              <a:t>重点</a:t>
            </a:r>
          </a:p>
          <a:p>
            <a:pPr lvl="1" eaLnBrk="1" hangingPunct="1">
              <a:lnSpc>
                <a:spcPts val="4000"/>
              </a:lnSpc>
              <a:spcBef>
                <a:spcPts val="12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字符串：基本概念，</a:t>
            </a:r>
            <a:r>
              <a:rPr lang="zh-CN" altLang="en-US" sz="3200" smtClean="0">
                <a:solidFill>
                  <a:srgbClr val="FF0000"/>
                </a:solidFill>
                <a:latin typeface="宋体" pitchFamily="2" charset="-122"/>
              </a:rPr>
              <a:t>串结束标记\0</a:t>
            </a:r>
          </a:p>
          <a:p>
            <a:pPr lvl="1" eaLnBrk="1" hangingPunct="1">
              <a:lnSpc>
                <a:spcPts val="4000"/>
              </a:lnSpc>
              <a:spcBef>
                <a:spcPts val="12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串输入/输出函数：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gets，puts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，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scanf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，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printf</a:t>
            </a:r>
          </a:p>
          <a:p>
            <a:pPr lvl="1" eaLnBrk="1" hangingPunct="1">
              <a:lnSpc>
                <a:spcPts val="4000"/>
              </a:lnSpc>
              <a:spcBef>
                <a:spcPts val="12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基于字符的串处理：串结束标记</a:t>
            </a:r>
            <a:r>
              <a:rPr lang="en-US" altLang="zh-CN" sz="3200" smtClean="0">
                <a:solidFill>
                  <a:srgbClr val="FF0000"/>
                </a:solidFill>
                <a:latin typeface="宋体" pitchFamily="2" charset="-122"/>
              </a:rPr>
              <a:t>\0</a:t>
            </a:r>
          </a:p>
          <a:p>
            <a:pPr lvl="1" eaLnBrk="1" hangingPunct="1">
              <a:lnSpc>
                <a:spcPts val="4000"/>
              </a:lnSpc>
              <a:spcBef>
                <a:spcPts val="1200"/>
              </a:spcBef>
            </a:pPr>
            <a:r>
              <a:rPr lang="zh-CN" altLang="en-US" sz="3200" smtClean="0">
                <a:solidFill>
                  <a:srgbClr val="FF0000"/>
                </a:solidFill>
                <a:latin typeface="宋体" pitchFamily="2" charset="-122"/>
              </a:rPr>
              <a:t>串的基本操作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（非递归/递归算法）：</a:t>
            </a:r>
          </a:p>
          <a:p>
            <a:pPr lvl="1" eaLnBrk="1" hangingPunct="1">
              <a:lnSpc>
                <a:spcPts val="4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	复制、连接、求长度、比较大小、反序、判回文、求子串、查找、合并、排序（串内字符排序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/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多串排序）、字符计数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269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686425"/>
          </a:xfrm>
        </p:spPr>
        <p:txBody>
          <a:bodyPr/>
          <a:lstStyle/>
          <a:p>
            <a:pPr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函数</a:t>
            </a:r>
            <a:r>
              <a:rPr lang="en-US" altLang="zh-CN" smtClean="0">
                <a:latin typeface="宋体" pitchFamily="2" charset="-122"/>
              </a:rPr>
              <a:t>——</a:t>
            </a:r>
            <a:r>
              <a:rPr lang="zh-CN" altLang="en-US" smtClean="0">
                <a:latin typeface="宋体" pitchFamily="2" charset="-122"/>
              </a:rPr>
              <a:t>必须会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函数的概念，函数的定义与说明，函数调用，函数的返回值与函数定义之间的关系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函数之间进行参数传递的特点（值传递）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掌握变量的存储类型和作用域，变量初始化</a:t>
            </a:r>
            <a:endParaRPr lang="en-US" altLang="zh-CN" sz="3200" smtClean="0">
              <a:solidFill>
                <a:schemeClr val="folHlink"/>
              </a:solidFill>
              <a:latin typeface="宋体" pitchFamily="2" charset="-122"/>
            </a:endParaRP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函数与数组，函数与指针，函数与结构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函数递归的概念，递归调用的一般过程。能够编写</a:t>
            </a:r>
            <a:r>
              <a:rPr lang="zh-CN" altLang="en-US" sz="3200" smtClean="0">
                <a:solidFill>
                  <a:srgbClr val="FF0000"/>
                </a:solidFill>
                <a:latin typeface="宋体" pitchFamily="2" charset="-122"/>
              </a:rPr>
              <a:t>直接递归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程序。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509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686425"/>
          </a:xfrm>
        </p:spPr>
        <p:txBody>
          <a:bodyPr/>
          <a:lstStyle/>
          <a:p>
            <a:pPr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dirty="0" smtClean="0">
                <a:latin typeface="宋体" pitchFamily="2" charset="-122"/>
              </a:rPr>
              <a:t>指针</a:t>
            </a:r>
            <a:r>
              <a:rPr lang="zh-CN" altLang="en-US" dirty="0" smtClean="0">
                <a:latin typeface="Times New Roman" pitchFamily="18" charset="0"/>
              </a:rPr>
              <a:t>——</a:t>
            </a:r>
            <a:r>
              <a:rPr lang="zh-CN" altLang="en-US" dirty="0" smtClean="0">
                <a:latin typeface="宋体" pitchFamily="2" charset="-122"/>
              </a:rPr>
              <a:t>重点</a:t>
            </a: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dirty="0" smtClean="0">
                <a:solidFill>
                  <a:schemeClr val="folHlink"/>
                </a:solidFill>
                <a:latin typeface="宋体" pitchFamily="2" charset="-122"/>
              </a:rPr>
              <a:t>指针的基本概念与基本运算：取地址</a:t>
            </a:r>
            <a:r>
              <a:rPr lang="zh-CN" altLang="en-US" sz="3200" dirty="0" smtClean="0">
                <a:solidFill>
                  <a:schemeClr val="folHlink"/>
                </a:solidFill>
                <a:latin typeface="Times New Roman" pitchFamily="18" charset="0"/>
              </a:rPr>
              <a:t>“</a:t>
            </a:r>
            <a:r>
              <a:rPr lang="zh-CN" altLang="en-US" sz="3200" dirty="0" smtClean="0">
                <a:solidFill>
                  <a:srgbClr val="FF0000"/>
                </a:solidFill>
                <a:latin typeface="宋体" pitchFamily="2" charset="-122"/>
              </a:rPr>
              <a:t>&amp;</a:t>
            </a:r>
            <a:r>
              <a:rPr lang="zh-CN" altLang="en-US" sz="3200" dirty="0" smtClean="0">
                <a:solidFill>
                  <a:schemeClr val="folHlink"/>
                </a:solidFill>
                <a:latin typeface="Times New Roman" pitchFamily="18" charset="0"/>
              </a:rPr>
              <a:t>”</a:t>
            </a:r>
            <a:r>
              <a:rPr lang="zh-CN" altLang="en-US" sz="3200" dirty="0" smtClean="0">
                <a:solidFill>
                  <a:schemeClr val="folHlink"/>
                </a:solidFill>
                <a:latin typeface="宋体" pitchFamily="2" charset="-122"/>
              </a:rPr>
              <a:t>运算，取内容</a:t>
            </a:r>
            <a:r>
              <a:rPr lang="zh-CN" altLang="en-US" sz="3200" dirty="0" smtClean="0">
                <a:solidFill>
                  <a:schemeClr val="folHlink"/>
                </a:solidFill>
                <a:latin typeface="Times New Roman" pitchFamily="18" charset="0"/>
              </a:rPr>
              <a:t>“</a:t>
            </a:r>
            <a:r>
              <a:rPr lang="zh-CN" altLang="en-US" sz="3200" dirty="0" smtClean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zh-CN" altLang="en-US" sz="3200" dirty="0" smtClean="0">
                <a:solidFill>
                  <a:schemeClr val="folHlink"/>
                </a:solidFill>
                <a:latin typeface="Times New Roman" pitchFamily="18" charset="0"/>
              </a:rPr>
              <a:t>”</a:t>
            </a:r>
            <a:r>
              <a:rPr lang="zh-CN" altLang="en-US" sz="3200" dirty="0" smtClean="0">
                <a:solidFill>
                  <a:schemeClr val="folHlink"/>
                </a:solidFill>
                <a:latin typeface="宋体" pitchFamily="2" charset="-122"/>
              </a:rPr>
              <a:t>运算，空指针 </a:t>
            </a:r>
            <a:r>
              <a:rPr lang="en-US" altLang="zh-CN" sz="3200" dirty="0" smtClean="0">
                <a:solidFill>
                  <a:srgbClr val="FF0000"/>
                </a:solidFill>
                <a:latin typeface="宋体" pitchFamily="2" charset="-122"/>
              </a:rPr>
              <a:t>NULL</a:t>
            </a:r>
            <a:endParaRPr lang="zh-CN" altLang="en-US" sz="3200" dirty="0" smtClean="0">
              <a:solidFill>
                <a:srgbClr val="FF0000"/>
              </a:solidFill>
              <a:latin typeface="宋体" pitchFamily="2" charset="-122"/>
            </a:endParaRP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dirty="0" smtClean="0">
                <a:solidFill>
                  <a:schemeClr val="folHlink"/>
                </a:solidFill>
                <a:latin typeface="宋体" pitchFamily="2" charset="-122"/>
              </a:rPr>
              <a:t>指针变量与一般变量的关系</a:t>
            </a: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dirty="0" smtClean="0">
                <a:solidFill>
                  <a:schemeClr val="folHlink"/>
                </a:solidFill>
                <a:latin typeface="宋体" pitchFamily="2" charset="-122"/>
              </a:rPr>
              <a:t>数组与指针的关系</a:t>
            </a:r>
            <a:endParaRPr lang="en-US" altLang="zh-CN" sz="3200" dirty="0" smtClean="0">
              <a:solidFill>
                <a:schemeClr val="folHlink"/>
              </a:solidFill>
              <a:latin typeface="宋体" pitchFamily="2" charset="-122"/>
            </a:endParaRP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dirty="0" smtClean="0">
                <a:solidFill>
                  <a:schemeClr val="folHlink"/>
                </a:solidFill>
                <a:latin typeface="宋体" pitchFamily="2" charset="-122"/>
              </a:rPr>
              <a:t>指针数组与数组指针，</a:t>
            </a:r>
            <a:r>
              <a:rPr lang="en-US" altLang="zh-CN" sz="3200" dirty="0" smtClean="0">
                <a:solidFill>
                  <a:schemeClr val="folHlink"/>
                </a:solidFill>
                <a:latin typeface="宋体" pitchFamily="2" charset="-122"/>
              </a:rPr>
              <a:t>main</a:t>
            </a:r>
            <a:r>
              <a:rPr lang="zh-CN" altLang="en-US" sz="3200" dirty="0" smtClean="0">
                <a:solidFill>
                  <a:schemeClr val="folHlink"/>
                </a:solidFill>
                <a:latin typeface="宋体" pitchFamily="2" charset="-122"/>
              </a:rPr>
              <a:t>函数的参数</a:t>
            </a: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dirty="0" smtClean="0">
                <a:solidFill>
                  <a:schemeClr val="folHlink"/>
                </a:solidFill>
                <a:latin typeface="宋体" pitchFamily="2" charset="-122"/>
              </a:rPr>
              <a:t>动态存储分配与回收</a:t>
            </a:r>
            <a:r>
              <a:rPr lang="en-US" altLang="zh-CN" sz="3200" dirty="0" smtClean="0">
                <a:solidFill>
                  <a:schemeClr val="folHlink"/>
                </a:solidFill>
                <a:latin typeface="宋体" pitchFamily="2" charset="-122"/>
              </a:rPr>
              <a:t>：</a:t>
            </a:r>
            <a:r>
              <a:rPr lang="en-US" altLang="zh-CN" sz="3200" dirty="0" err="1" smtClean="0">
                <a:solidFill>
                  <a:srgbClr val="FF0000"/>
                </a:solidFill>
                <a:latin typeface="宋体" pitchFamily="2" charset="-122"/>
              </a:rPr>
              <a:t>malloc</a:t>
            </a:r>
            <a:r>
              <a:rPr lang="en-US" altLang="zh-CN" sz="3200" dirty="0" err="1" smtClean="0">
                <a:solidFill>
                  <a:schemeClr val="folHlink"/>
                </a:solidFill>
                <a:latin typeface="宋体" pitchFamily="2" charset="-122"/>
              </a:rPr>
              <a:t>，free</a:t>
            </a:r>
            <a:endParaRPr lang="zh-CN" altLang="en-US" sz="3200" dirty="0" smtClean="0">
              <a:solidFill>
                <a:schemeClr val="folHlink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533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810250"/>
          </a:xfrm>
        </p:spPr>
        <p:txBody>
          <a:bodyPr/>
          <a:lstStyle/>
          <a:p>
            <a:pPr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结构与联合</a:t>
            </a:r>
            <a:r>
              <a:rPr lang="zh-CN" altLang="en-US" smtClean="0">
                <a:latin typeface="Times New Roman" pitchFamily="18" charset="0"/>
              </a:rPr>
              <a:t>——</a:t>
            </a:r>
            <a:r>
              <a:rPr lang="zh-CN" altLang="en-US" smtClean="0">
                <a:latin typeface="宋体" pitchFamily="2" charset="-122"/>
              </a:rPr>
              <a:t>重点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结构定义，结构变量，结构有关的运算符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结构与函数的关系</a:t>
            </a:r>
            <a:endParaRPr lang="en-US" altLang="zh-CN" sz="3200" smtClean="0">
              <a:solidFill>
                <a:schemeClr val="folHlink"/>
              </a:solidFill>
              <a:latin typeface="宋体" pitchFamily="2" charset="-122"/>
            </a:endParaRP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结构与数组的关系，结构数组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结构与指针的关系，结构指针数组，结构指针与++、</a:t>
            </a:r>
            <a:r>
              <a:rPr lang="zh-CN" altLang="en-US" sz="3200" smtClean="0">
                <a:solidFill>
                  <a:schemeClr val="folHlink"/>
                </a:solidFill>
                <a:latin typeface="Lucida Console" pitchFamily="49" charset="0"/>
              </a:rPr>
              <a:t>--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运算的关系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联合，枚举，</a:t>
            </a:r>
            <a:r>
              <a:rPr lang="en-US" altLang="zh-CN" sz="3200" smtClean="0">
                <a:solidFill>
                  <a:srgbClr val="0000FF"/>
                </a:solidFill>
                <a:latin typeface="宋体" pitchFamily="2" charset="-122"/>
              </a:rPr>
              <a:t>typedef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：只要求基本概念</a:t>
            </a:r>
          </a:p>
          <a:p>
            <a:pPr lvl="1" eaLnBrk="1" hangingPunct="1">
              <a:lnSpc>
                <a:spcPts val="44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rgbClr val="FF0000"/>
                </a:solidFill>
                <a:latin typeface="宋体" pitchFamily="2" charset="-122"/>
              </a:rPr>
              <a:t>链表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：概念、定义方法、链表建立、</a:t>
            </a:r>
            <a:r>
              <a:rPr lang="zh-CN" altLang="en-US" sz="3200" smtClean="0">
                <a:solidFill>
                  <a:srgbClr val="0000FF"/>
                </a:solidFill>
                <a:latin typeface="宋体" pitchFamily="2" charset="-122"/>
              </a:rPr>
              <a:t>插入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、</a:t>
            </a:r>
            <a:r>
              <a:rPr lang="zh-CN" altLang="en-US" sz="3200" smtClean="0">
                <a:solidFill>
                  <a:srgbClr val="0000FF"/>
                </a:solidFill>
                <a:latin typeface="宋体" pitchFamily="2" charset="-122"/>
              </a:rPr>
              <a:t>删除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、</a:t>
            </a:r>
            <a:r>
              <a:rPr lang="zh-CN" altLang="en-US" sz="3200" smtClean="0">
                <a:solidFill>
                  <a:srgbClr val="0000FF"/>
                </a:solidFill>
                <a:latin typeface="宋体" pitchFamily="2" charset="-122"/>
              </a:rPr>
              <a:t>查找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、</a:t>
            </a:r>
            <a:r>
              <a:rPr lang="zh-CN" altLang="en-US" sz="3200" smtClean="0">
                <a:solidFill>
                  <a:srgbClr val="0000FF"/>
                </a:solidFill>
                <a:latin typeface="宋体" pitchFamily="2" charset="-122"/>
              </a:rPr>
              <a:t>求长度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、</a:t>
            </a:r>
            <a:r>
              <a:rPr lang="zh-CN" altLang="en-US" sz="3200" smtClean="0">
                <a:solidFill>
                  <a:srgbClr val="0000FF"/>
                </a:solidFill>
                <a:latin typeface="宋体" pitchFamily="2" charset="-122"/>
              </a:rPr>
              <a:t>排序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bg1"/>
                </a:solidFill>
              </a:rPr>
              <a:t>重点要求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269" name="内容占位符 4"/>
          <p:cNvSpPr>
            <a:spLocks noGrp="1"/>
          </p:cNvSpPr>
          <p:nvPr>
            <p:ph idx="1"/>
          </p:nvPr>
        </p:nvSpPr>
        <p:spPr>
          <a:xfrm>
            <a:off x="250825" y="700088"/>
            <a:ext cx="8677275" cy="5810250"/>
          </a:xfrm>
        </p:spPr>
        <p:txBody>
          <a:bodyPr/>
          <a:lstStyle/>
          <a:p>
            <a:pPr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mtClean="0">
                <a:latin typeface="宋体" pitchFamily="2" charset="-122"/>
              </a:rPr>
              <a:t>文件</a:t>
            </a:r>
            <a:r>
              <a:rPr lang="zh-CN" altLang="en-US" smtClean="0">
                <a:latin typeface="Times New Roman" pitchFamily="18" charset="0"/>
              </a:rPr>
              <a:t>——</a:t>
            </a:r>
            <a:r>
              <a:rPr lang="zh-CN" altLang="en-US" smtClean="0">
                <a:latin typeface="宋体" pitchFamily="2" charset="-122"/>
              </a:rPr>
              <a:t>重点</a:t>
            </a: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基本概念：系统对文件的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I/O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过程，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FILE</a:t>
            </a: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类型，文件的位置指针，文件结束标记 </a:t>
            </a:r>
            <a:r>
              <a:rPr lang="en-US" altLang="zh-CN" sz="3200" smtClean="0">
                <a:solidFill>
                  <a:srgbClr val="FF0000"/>
                </a:solidFill>
                <a:latin typeface="宋体" pitchFamily="2" charset="-122"/>
              </a:rPr>
              <a:t>EOF</a:t>
            </a:r>
            <a:endParaRPr lang="zh-CN" altLang="en-US" sz="3200" smtClean="0">
              <a:solidFill>
                <a:srgbClr val="FF0000"/>
              </a:solidFill>
              <a:latin typeface="宋体" pitchFamily="2" charset="-122"/>
            </a:endParaRP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文件操作的一般步骤，三种文件打开的基本模式（只读/只写/追加），各自的特点</a:t>
            </a: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文件顺序读写与随机读写</a:t>
            </a: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常见的文件操作函数的功能与返回值：</a:t>
            </a:r>
            <a:r>
              <a:rPr lang="en-US" altLang="zh-CN" sz="3200" smtClean="0">
                <a:solidFill>
                  <a:schemeClr val="folHlink"/>
                </a:solidFill>
                <a:latin typeface="宋体" pitchFamily="2" charset="-122"/>
              </a:rPr>
              <a:t>fopen、fclose、fgetc、fputc、fgets、fputs、fscanf、fprintf、fread、fwrite</a:t>
            </a:r>
            <a:endParaRPr lang="zh-CN" altLang="en-US" sz="3200" smtClean="0">
              <a:solidFill>
                <a:schemeClr val="folHlink"/>
              </a:solidFill>
              <a:latin typeface="宋体" pitchFamily="2" charset="-122"/>
            </a:endParaRPr>
          </a:p>
          <a:p>
            <a:pPr lvl="1" eaLnBrk="1" hangingPunct="1">
              <a:lnSpc>
                <a:spcPts val="4200"/>
              </a:lnSpc>
              <a:spcBef>
                <a:spcPts val="600"/>
              </a:spcBef>
            </a:pPr>
            <a:r>
              <a:rPr lang="zh-CN" altLang="en-US" sz="3200" smtClean="0">
                <a:solidFill>
                  <a:schemeClr val="folHlink"/>
                </a:solidFill>
                <a:latin typeface="宋体" pitchFamily="2" charset="-122"/>
              </a:rPr>
              <a:t>基本文件操作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本地运行正确后发现提交错误</a:t>
            </a:r>
          </a:p>
        </p:txBody>
      </p:sp>
      <p:sp>
        <p:nvSpPr>
          <p:cNvPr id="101273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836613"/>
            <a:ext cx="8677275" cy="5761037"/>
          </a:xfrm>
        </p:spPr>
        <p:txBody>
          <a:bodyPr/>
          <a:lstStyle/>
          <a:p>
            <a:pPr marL="503238" indent="-503238">
              <a:lnSpc>
                <a:spcPts val="4200"/>
              </a:lnSpc>
              <a:spcBef>
                <a:spcPts val="1200"/>
              </a:spcBef>
              <a:buFont typeface="楷体_GB2312" pitchFamily="49" charset="-122"/>
              <a:buAutoNum type="arabicPeriod"/>
            </a:pPr>
            <a:r>
              <a:rPr lang="zh-CN" altLang="en-US" smtClean="0">
                <a:solidFill>
                  <a:srgbClr val="0000FF"/>
                </a:solidFill>
              </a:rPr>
              <a:t>使用了未初始化的变量</a:t>
            </a:r>
            <a:r>
              <a:rPr lang="zh-CN" altLang="en-US" smtClean="0"/>
              <a:t>：自动变量未对其初始化。则变量的值是随机的，碰巧了或许会是 </a:t>
            </a:r>
            <a:r>
              <a:rPr lang="en-US" altLang="zh-CN" smtClean="0"/>
              <a:t>0</a:t>
            </a:r>
            <a:r>
              <a:rPr lang="zh-CN" altLang="en-US" smtClean="0"/>
              <a:t>，但换一个环境就不一定了。 </a:t>
            </a:r>
            <a:endParaRPr lang="en-US" altLang="zh-CN" smtClean="0"/>
          </a:p>
          <a:p>
            <a:pPr marL="503238" indent="-503238">
              <a:lnSpc>
                <a:spcPts val="4200"/>
              </a:lnSpc>
              <a:spcBef>
                <a:spcPts val="1200"/>
              </a:spcBef>
              <a:buFont typeface="楷体_GB2312" pitchFamily="49" charset="-122"/>
              <a:buAutoNum type="arabicPeriod"/>
            </a:pPr>
            <a:r>
              <a:rPr lang="zh-CN" altLang="en-US" smtClean="0">
                <a:solidFill>
                  <a:srgbClr val="0000FF"/>
                </a:solidFill>
              </a:rPr>
              <a:t>使用了错误的指针</a:t>
            </a:r>
            <a:r>
              <a:rPr lang="zh-CN" altLang="en-US" smtClean="0"/>
              <a:t>：有些指针在使用时未初始化（没有指向具体的对象），它“存的”地址却可以被当前的程序访问，且访问后不会对程序的执行造成影响。但是当环境换了，指针的初始值变了，或者指针所指向的位置变了，就会对程序的执行造成影响，或因为访问了不能访问的地址而发生错误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273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本地运行正确后发现提交错误</a:t>
            </a:r>
          </a:p>
        </p:txBody>
      </p:sp>
      <p:sp>
        <p:nvSpPr>
          <p:cNvPr id="101273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836613"/>
            <a:ext cx="8677275" cy="5761037"/>
          </a:xfrm>
        </p:spPr>
        <p:txBody>
          <a:bodyPr/>
          <a:lstStyle/>
          <a:p>
            <a:pPr marL="466725" indent="-466725">
              <a:lnSpc>
                <a:spcPts val="4500"/>
              </a:lnSpc>
              <a:spcBef>
                <a:spcPts val="600"/>
              </a:spcBef>
              <a:buFont typeface="楷体_GB2312" pitchFamily="49" charset="-122"/>
              <a:buAutoNum type="arabicPeriod" startAt="3"/>
              <a:defRPr/>
            </a:pPr>
            <a:r>
              <a:rPr lang="zh-CN" altLang="en-US" smtClean="0">
                <a:solidFill>
                  <a:srgbClr val="0000FF"/>
                </a:solidFill>
              </a:rPr>
              <a:t>使用了错误的数组下标</a:t>
            </a:r>
            <a:r>
              <a:rPr lang="zh-CN" altLang="en-US" smtClean="0"/>
              <a:t>：当数组下标错误时会对程序造成影响。当数组下标是 </a:t>
            </a:r>
            <a:r>
              <a:rPr lang="en-US" altLang="zh-CN" smtClean="0">
                <a:latin typeface="+mn-ea"/>
              </a:rPr>
              <a:t>-1</a:t>
            </a:r>
            <a:r>
              <a:rPr lang="zh-CN" altLang="en-US" smtClean="0"/>
              <a:t>、</a:t>
            </a:r>
            <a:r>
              <a:rPr lang="en-US" altLang="zh-CN" smtClean="0">
                <a:latin typeface="+mn-ea"/>
              </a:rPr>
              <a:t>-2 </a:t>
            </a:r>
            <a:r>
              <a:rPr lang="zh-CN" altLang="en-US" smtClean="0"/>
              <a:t>或超出数组上界时，很可能影响到程序中的其它变量。在编程时必须仔细检查数组下标值的范围，保证其值不超出数组的范围。否则，就有可能发生各种奇怪的错误。 </a:t>
            </a:r>
            <a:endParaRPr lang="en-US" altLang="zh-CN" smtClean="0"/>
          </a:p>
          <a:p>
            <a:pPr marL="466725" indent="-466725">
              <a:lnSpc>
                <a:spcPts val="4500"/>
              </a:lnSpc>
              <a:spcBef>
                <a:spcPts val="600"/>
              </a:spcBef>
              <a:buFont typeface="楷体_GB2312" pitchFamily="49" charset="-122"/>
              <a:buAutoNum type="arabicPeriod" startAt="3"/>
              <a:defRPr/>
            </a:pPr>
            <a:r>
              <a:rPr lang="zh-CN" altLang="en-US" smtClean="0">
                <a:solidFill>
                  <a:srgbClr val="0000FF"/>
                </a:solidFill>
              </a:rPr>
              <a:t>输出为不可显示的乱码</a:t>
            </a:r>
            <a:r>
              <a:rPr lang="zh-CN" altLang="en-US" smtClean="0"/>
              <a:t>：有些程序在输出时会输出一些乱码，但这些乱码在屏幕上并不显示。而提交到服务器之后，会因为这些乱码导致程序的结果和需要的结果不一致。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273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本地运行正确后发现提交错误</a:t>
            </a:r>
          </a:p>
        </p:txBody>
      </p:sp>
      <p:sp>
        <p:nvSpPr>
          <p:cNvPr id="101273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836613"/>
            <a:ext cx="8677275" cy="5761037"/>
          </a:xfrm>
        </p:spPr>
        <p:txBody>
          <a:bodyPr/>
          <a:lstStyle/>
          <a:p>
            <a:pPr marL="514350" indent="-514350">
              <a:lnSpc>
                <a:spcPts val="4500"/>
              </a:lnSpc>
              <a:spcBef>
                <a:spcPts val="1200"/>
              </a:spcBef>
              <a:buFont typeface="楷体_GB2312" pitchFamily="49" charset="-122"/>
              <a:buAutoNum type="arabicPeriod" startAt="5"/>
            </a:pPr>
            <a:r>
              <a:rPr lang="zh-CN" altLang="en-US" smtClean="0">
                <a:solidFill>
                  <a:srgbClr val="0000FF"/>
                </a:solidFill>
              </a:rPr>
              <a:t>串结束标记 </a:t>
            </a:r>
            <a:r>
              <a:rPr lang="en-US" altLang="zh-CN" smtClean="0">
                <a:solidFill>
                  <a:srgbClr val="0000FF"/>
                </a:solidFill>
              </a:rPr>
              <a:t>'\0'</a:t>
            </a:r>
            <a:r>
              <a:rPr lang="zh-CN" altLang="en-US" smtClean="0">
                <a:solidFill>
                  <a:srgbClr val="0000FF"/>
                </a:solidFill>
              </a:rPr>
              <a:t> 位置错误</a:t>
            </a:r>
            <a:r>
              <a:rPr lang="zh-CN" altLang="en-US" smtClean="0"/>
              <a:t>：输出字符串中包含了乱码，一般是由于串结束标记 </a:t>
            </a:r>
            <a:r>
              <a:rPr lang="en-US" altLang="zh-CN" smtClean="0"/>
              <a:t>'\0'</a:t>
            </a:r>
            <a:r>
              <a:rPr lang="zh-CN" altLang="en-US" smtClean="0"/>
              <a:t>位置错误，或者干脆忘记了存放 </a:t>
            </a:r>
            <a:r>
              <a:rPr lang="en-US" altLang="zh-CN" smtClean="0"/>
              <a:t>'\0'</a:t>
            </a:r>
            <a:r>
              <a:rPr lang="zh-CN" altLang="en-US" smtClean="0"/>
              <a:t>。</a:t>
            </a:r>
            <a:endParaRPr lang="en-US" altLang="zh-CN" smtClean="0"/>
          </a:p>
          <a:p>
            <a:pPr marL="514350" indent="-514350">
              <a:lnSpc>
                <a:spcPts val="4500"/>
              </a:lnSpc>
              <a:spcBef>
                <a:spcPts val="1200"/>
              </a:spcBef>
              <a:buFont typeface="楷体_GB2312" pitchFamily="49" charset="-122"/>
              <a:buAutoNum type="arabicPeriod" startAt="5"/>
            </a:pPr>
            <a:r>
              <a:rPr lang="zh-CN" altLang="en-US" smtClean="0">
                <a:solidFill>
                  <a:srgbClr val="0000FF"/>
                </a:solidFill>
              </a:rPr>
              <a:t>输出了字符 </a:t>
            </a:r>
            <a:r>
              <a:rPr lang="en-US" altLang="zh-CN" smtClean="0">
                <a:solidFill>
                  <a:srgbClr val="0000FF"/>
                </a:solidFill>
              </a:rPr>
              <a:t>'\0'</a:t>
            </a:r>
            <a:r>
              <a:rPr lang="zh-CN" altLang="en-US" smtClean="0"/>
              <a:t>：这个字符经常用来表示输入的结束，如果输出这个字符，程序的后续输出将会被忽略。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273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总结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1214438"/>
            <a:ext cx="8542338" cy="5310187"/>
          </a:xfrm>
        </p:spPr>
        <p:txBody>
          <a:bodyPr/>
          <a:lstStyle/>
          <a:p>
            <a:pPr algn="ctr">
              <a:spcBef>
                <a:spcPts val="1800"/>
              </a:spcBef>
              <a:buFont typeface="Wingdings" pitchFamily="2" charset="2"/>
              <a:buNone/>
            </a:pPr>
            <a:endParaRPr lang="en-US" altLang="zh-CN" sz="6000" dirty="0" smtClean="0">
              <a:solidFill>
                <a:srgbClr val="FF3300"/>
              </a:solidFill>
            </a:endParaRPr>
          </a:p>
          <a:p>
            <a:pPr algn="ctr">
              <a:spcBef>
                <a:spcPts val="1800"/>
              </a:spcBef>
              <a:buFont typeface="Wingdings" pitchFamily="2" charset="2"/>
              <a:buNone/>
            </a:pPr>
            <a:r>
              <a:rPr lang="en-US" altLang="zh-CN" sz="6000" dirty="0" smtClean="0">
                <a:solidFill>
                  <a:srgbClr val="FF3300"/>
                </a:solidFill>
              </a:rPr>
              <a:t>Code</a:t>
            </a:r>
            <a:r>
              <a:rPr lang="zh-CN" altLang="en-US" sz="6000" dirty="0" smtClean="0">
                <a:solidFill>
                  <a:srgbClr val="FF3300"/>
                </a:solidFill>
              </a:rPr>
              <a:t>出你的精彩</a:t>
            </a:r>
            <a:endParaRPr lang="en-US" altLang="zh-CN" sz="6000" dirty="0" smtClean="0">
              <a:solidFill>
                <a:srgbClr val="FF3300"/>
              </a:solidFill>
            </a:endParaRPr>
          </a:p>
          <a:p>
            <a:pPr algn="ctr">
              <a:spcBef>
                <a:spcPts val="1800"/>
              </a:spcBef>
              <a:buFont typeface="Wingdings" pitchFamily="2" charset="2"/>
              <a:buNone/>
            </a:pPr>
            <a:r>
              <a:rPr lang="en-US" altLang="zh-CN" sz="6000" dirty="0" smtClean="0">
                <a:solidFill>
                  <a:srgbClr val="FF3300"/>
                </a:solidFill>
              </a:rPr>
              <a:t>AC</a:t>
            </a:r>
            <a:r>
              <a:rPr lang="zh-CN" altLang="en-US" sz="6000" dirty="0" smtClean="0">
                <a:solidFill>
                  <a:srgbClr val="FF3300"/>
                </a:solidFill>
              </a:rPr>
              <a:t>所有人的期待</a:t>
            </a:r>
            <a:endParaRPr lang="en-US" altLang="zh-CN" sz="6000" dirty="0" smtClean="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ANCHTO" val="257"/>
  <p:tag name="HOTSPOTTYPE" val="DefinedInNavigator"/>
  <p:tag name="DEFINEDINNAVIGATOR" val="True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  <a:txDef>
      <a:spPr bwMode="auto">
        <a:solidFill>
          <a:srgbClr val="0000FF"/>
        </a:solidFill>
        <a:ln w="9525">
          <a:noFill/>
          <a:miter lim="800000"/>
          <a:headEnd/>
          <a:tailEnd/>
        </a:ln>
      </a:spPr>
      <a:bodyPr/>
      <a:lstStyle>
        <a:defPPr algn="just" eaLnBrk="1" hangingPunct="1">
          <a:spcBef>
            <a:spcPct val="20000"/>
          </a:spcBef>
          <a:buClr>
            <a:srgbClr val="FFFF00"/>
          </a:buClr>
          <a:buSzPct val="70000"/>
          <a:buFont typeface="Wingdings" pitchFamily="2" charset="2"/>
          <a:buChar char="l"/>
          <a:defRPr sz="3200">
            <a:solidFill>
              <a:srgbClr val="FFFF00"/>
            </a:solidFill>
            <a:latin typeface="宋体" pitchFamily="2" charset="-122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13794</TotalTime>
  <Words>1534</Words>
  <Application>Microsoft Office PowerPoint</Application>
  <PresentationFormat>全屏显示(4:3)</PresentationFormat>
  <Paragraphs>239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Monotype Sorts</vt:lpstr>
      <vt:lpstr>楷体_GB2312</vt:lpstr>
      <vt:lpstr>隶书</vt:lpstr>
      <vt:lpstr>宋体</vt:lpstr>
      <vt:lpstr>Arial</vt:lpstr>
      <vt:lpstr>Calibri</vt:lpstr>
      <vt:lpstr>Lucida Console</vt:lpstr>
      <vt:lpstr>Tahoma</vt:lpstr>
      <vt:lpstr>Times New Roman</vt:lpstr>
      <vt:lpstr>Wingdings</vt:lpstr>
      <vt:lpstr>自定义设计方案</vt:lpstr>
      <vt:lpstr>Office 主题</vt:lpstr>
      <vt:lpstr>PowerPoint 演示文稿</vt:lpstr>
      <vt:lpstr>PowerPoint 演示文稿</vt:lpstr>
      <vt:lpstr>考前答疑安排</vt:lpstr>
      <vt:lpstr>考前提醒</vt:lpstr>
      <vt:lpstr>考前提醒</vt:lpstr>
      <vt:lpstr>重点要求</vt:lpstr>
      <vt:lpstr>重点要求</vt:lpstr>
      <vt:lpstr>重点要求</vt:lpstr>
      <vt:lpstr>重点要求</vt:lpstr>
      <vt:lpstr>重点要求</vt:lpstr>
      <vt:lpstr>重点要求</vt:lpstr>
      <vt:lpstr>重点要求</vt:lpstr>
      <vt:lpstr>重点要求</vt:lpstr>
      <vt:lpstr>重点要求</vt:lpstr>
      <vt:lpstr>重点要求</vt:lpstr>
      <vt:lpstr>重点要求</vt:lpstr>
      <vt:lpstr>重点要求</vt:lpstr>
      <vt:lpstr>重点要求</vt:lpstr>
      <vt:lpstr>重点要求</vt:lpstr>
      <vt:lpstr>本地运行正确后发现提交错误</vt:lpstr>
      <vt:lpstr>本地运行正确后发现提交错误</vt:lpstr>
      <vt:lpstr>本地运行正确后发现提交错误</vt:lpstr>
      <vt:lpstr>总结</vt:lpstr>
    </vt:vector>
  </TitlesOfParts>
  <Company>北京理工大学计算机科学工程系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第七章 结构与联合</dc:title>
  <dc:creator>陈朔鹰</dc:creator>
  <cp:lastModifiedBy>lx</cp:lastModifiedBy>
  <cp:revision>1273</cp:revision>
  <cp:lastPrinted>1995-12-08T18:33:06Z</cp:lastPrinted>
  <dcterms:created xsi:type="dcterms:W3CDTF">2000-02-03T08:31:38Z</dcterms:created>
  <dcterms:modified xsi:type="dcterms:W3CDTF">2018-12-19T12:16:50Z</dcterms:modified>
</cp:coreProperties>
</file>