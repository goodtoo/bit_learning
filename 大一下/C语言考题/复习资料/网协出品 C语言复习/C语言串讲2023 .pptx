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0.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heme/themeOverride1.xml" ContentType="application/vnd.openxmlformats-officedocument.themeOverride+xml"/>
  <Override PartName="/ppt/tags/tag11.xml" ContentType="application/vnd.openxmlformats-officedocument.presentationml.tags+xml"/>
  <Override PartName="/ppt/notesSlides/notesSlide38.xml" ContentType="application/vnd.openxmlformats-officedocument.presentationml.notesSlide+xml"/>
  <Override PartName="/ppt/tags/tag12.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3.xml" ContentType="application/vnd.openxmlformats-officedocument.presentationml.tags+xml"/>
  <Override PartName="/ppt/notesSlides/notesSlide46.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7" r:id="rId1"/>
    <p:sldMasterId id="2147483805" r:id="rId2"/>
  </p:sldMasterIdLst>
  <p:notesMasterIdLst>
    <p:notesMasterId r:id="rId140"/>
  </p:notesMasterIdLst>
  <p:handoutMasterIdLst>
    <p:handoutMasterId r:id="rId141"/>
  </p:handoutMasterIdLst>
  <p:sldIdLst>
    <p:sldId id="771" r:id="rId3"/>
    <p:sldId id="294" r:id="rId4"/>
    <p:sldId id="299" r:id="rId5"/>
    <p:sldId id="303" r:id="rId6"/>
    <p:sldId id="316" r:id="rId7"/>
    <p:sldId id="332" r:id="rId8"/>
    <p:sldId id="317" r:id="rId9"/>
    <p:sldId id="318" r:id="rId10"/>
    <p:sldId id="319" r:id="rId11"/>
    <p:sldId id="300" r:id="rId12"/>
    <p:sldId id="320" r:id="rId13"/>
    <p:sldId id="315" r:id="rId14"/>
    <p:sldId id="305" r:id="rId15"/>
    <p:sldId id="310" r:id="rId16"/>
    <p:sldId id="321" r:id="rId17"/>
    <p:sldId id="304" r:id="rId18"/>
    <p:sldId id="333" r:id="rId19"/>
    <p:sldId id="313" r:id="rId20"/>
    <p:sldId id="314" r:id="rId21"/>
    <p:sldId id="330" r:id="rId22"/>
    <p:sldId id="301" r:id="rId23"/>
    <p:sldId id="419" r:id="rId24"/>
    <p:sldId id="295" r:id="rId25"/>
    <p:sldId id="306" r:id="rId26"/>
    <p:sldId id="331" r:id="rId27"/>
    <p:sldId id="325" r:id="rId28"/>
    <p:sldId id="307" r:id="rId29"/>
    <p:sldId id="308" r:id="rId30"/>
    <p:sldId id="322" r:id="rId31"/>
    <p:sldId id="324" r:id="rId32"/>
    <p:sldId id="309" r:id="rId33"/>
    <p:sldId id="328" r:id="rId34"/>
    <p:sldId id="329" r:id="rId35"/>
    <p:sldId id="420" r:id="rId36"/>
    <p:sldId id="422" r:id="rId37"/>
    <p:sldId id="418" r:id="rId38"/>
    <p:sldId id="402" r:id="rId39"/>
    <p:sldId id="403" r:id="rId40"/>
    <p:sldId id="404" r:id="rId41"/>
    <p:sldId id="405" r:id="rId42"/>
    <p:sldId id="406" r:id="rId43"/>
    <p:sldId id="407" r:id="rId44"/>
    <p:sldId id="408" r:id="rId45"/>
    <p:sldId id="409" r:id="rId46"/>
    <p:sldId id="410" r:id="rId47"/>
    <p:sldId id="411" r:id="rId48"/>
    <p:sldId id="412" r:id="rId49"/>
    <p:sldId id="413" r:id="rId50"/>
    <p:sldId id="414" r:id="rId51"/>
    <p:sldId id="415" r:id="rId52"/>
    <p:sldId id="416" r:id="rId53"/>
    <p:sldId id="417" r:id="rId54"/>
    <p:sldId id="421" r:id="rId55"/>
    <p:sldId id="425" r:id="rId56"/>
    <p:sldId id="770" r:id="rId57"/>
    <p:sldId id="676" r:id="rId58"/>
    <p:sldId id="677" r:id="rId59"/>
    <p:sldId id="678" r:id="rId60"/>
    <p:sldId id="757" r:id="rId61"/>
    <p:sldId id="684" r:id="rId62"/>
    <p:sldId id="685" r:id="rId63"/>
    <p:sldId id="686" r:id="rId64"/>
    <p:sldId id="687" r:id="rId65"/>
    <p:sldId id="688" r:id="rId66"/>
    <p:sldId id="689" r:id="rId67"/>
    <p:sldId id="758" r:id="rId68"/>
    <p:sldId id="749" r:id="rId69"/>
    <p:sldId id="769" r:id="rId70"/>
    <p:sldId id="664" r:id="rId71"/>
    <p:sldId id="665" r:id="rId72"/>
    <p:sldId id="721" r:id="rId73"/>
    <p:sldId id="754" r:id="rId74"/>
    <p:sldId id="759" r:id="rId75"/>
    <p:sldId id="755" r:id="rId76"/>
    <p:sldId id="747" r:id="rId77"/>
    <p:sldId id="748" r:id="rId78"/>
    <p:sldId id="666" r:id="rId79"/>
    <p:sldId id="756" r:id="rId80"/>
    <p:sldId id="679" r:id="rId81"/>
    <p:sldId id="667" r:id="rId82"/>
    <p:sldId id="669" r:id="rId83"/>
    <p:sldId id="670" r:id="rId84"/>
    <p:sldId id="671" r:id="rId85"/>
    <p:sldId id="680" r:id="rId86"/>
    <p:sldId id="692" r:id="rId87"/>
    <p:sldId id="690" r:id="rId88"/>
    <p:sldId id="753" r:id="rId89"/>
    <p:sldId id="760" r:id="rId90"/>
    <p:sldId id="761" r:id="rId91"/>
    <p:sldId id="702" r:id="rId92"/>
    <p:sldId id="762" r:id="rId93"/>
    <p:sldId id="763" r:id="rId94"/>
    <p:sldId id="711" r:id="rId95"/>
    <p:sldId id="751" r:id="rId96"/>
    <p:sldId id="720" r:id="rId97"/>
    <p:sldId id="764" r:id="rId98"/>
    <p:sldId id="765" r:id="rId99"/>
    <p:sldId id="766" r:id="rId100"/>
    <p:sldId id="708" r:id="rId101"/>
    <p:sldId id="767" r:id="rId102"/>
    <p:sldId id="709" r:id="rId103"/>
    <p:sldId id="768" r:id="rId104"/>
    <p:sldId id="752" r:id="rId105"/>
    <p:sldId id="695" r:id="rId106"/>
    <p:sldId id="696" r:id="rId107"/>
    <p:sldId id="698" r:id="rId108"/>
    <p:sldId id="700" r:id="rId109"/>
    <p:sldId id="701" r:id="rId110"/>
    <p:sldId id="699" r:id="rId111"/>
    <p:sldId id="705" r:id="rId112"/>
    <p:sldId id="736" r:id="rId113"/>
    <p:sldId id="706" r:id="rId114"/>
    <p:sldId id="703" r:id="rId115"/>
    <p:sldId id="735" r:id="rId116"/>
    <p:sldId id="704" r:id="rId117"/>
    <p:sldId id="707" r:id="rId118"/>
    <p:sldId id="712" r:id="rId119"/>
    <p:sldId id="734" r:id="rId120"/>
    <p:sldId id="740" r:id="rId121"/>
    <p:sldId id="741" r:id="rId122"/>
    <p:sldId id="713" r:id="rId123"/>
    <p:sldId id="714" r:id="rId124"/>
    <p:sldId id="634" r:id="rId125"/>
    <p:sldId id="715" r:id="rId126"/>
    <p:sldId id="742" r:id="rId127"/>
    <p:sldId id="636" r:id="rId128"/>
    <p:sldId id="640" r:id="rId129"/>
    <p:sldId id="637" r:id="rId130"/>
    <p:sldId id="642" r:id="rId131"/>
    <p:sldId id="733" r:id="rId132"/>
    <p:sldId id="723" r:id="rId133"/>
    <p:sldId id="737" r:id="rId134"/>
    <p:sldId id="743" r:id="rId135"/>
    <p:sldId id="744" r:id="rId136"/>
    <p:sldId id="745" r:id="rId137"/>
    <p:sldId id="746" r:id="rId138"/>
    <p:sldId id="772" r:id="rId139"/>
  </p:sldIdLst>
  <p:sldSz cx="12192000" cy="6858000"/>
  <p:notesSz cx="6858000" cy="9144000"/>
  <p:custDataLst>
    <p:tags r:id="rId1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头" id="{FB362D95-C07E-4E8C-BCE5-488E7D922FB1}">
          <p14:sldIdLst>
            <p14:sldId id="771"/>
            <p14:sldId id="294"/>
            <p14:sldId id="299"/>
            <p14:sldId id="303"/>
            <p14:sldId id="316"/>
            <p14:sldId id="332"/>
            <p14:sldId id="317"/>
            <p14:sldId id="318"/>
            <p14:sldId id="319"/>
            <p14:sldId id="300"/>
            <p14:sldId id="320"/>
            <p14:sldId id="315"/>
            <p14:sldId id="305"/>
            <p14:sldId id="310"/>
            <p14:sldId id="321"/>
            <p14:sldId id="304"/>
            <p14:sldId id="333"/>
            <p14:sldId id="313"/>
            <p14:sldId id="314"/>
            <p14:sldId id="330"/>
            <p14:sldId id="301"/>
            <p14:sldId id="419"/>
            <p14:sldId id="295"/>
            <p14:sldId id="306"/>
            <p14:sldId id="331"/>
            <p14:sldId id="325"/>
            <p14:sldId id="307"/>
            <p14:sldId id="308"/>
            <p14:sldId id="322"/>
            <p14:sldId id="324"/>
            <p14:sldId id="309"/>
            <p14:sldId id="328"/>
            <p14:sldId id="329"/>
            <p14:sldId id="420"/>
            <p14:sldId id="422"/>
            <p14:sldId id="418"/>
            <p14:sldId id="402"/>
            <p14:sldId id="403"/>
            <p14:sldId id="404"/>
            <p14:sldId id="405"/>
            <p14:sldId id="406"/>
            <p14:sldId id="407"/>
            <p14:sldId id="408"/>
            <p14:sldId id="409"/>
            <p14:sldId id="410"/>
            <p14:sldId id="411"/>
            <p14:sldId id="412"/>
            <p14:sldId id="413"/>
            <p14:sldId id="414"/>
            <p14:sldId id="415"/>
            <p14:sldId id="416"/>
            <p14:sldId id="417"/>
            <p14:sldId id="421"/>
            <p14:sldId id="425"/>
          </p14:sldIdLst>
        </p14:section>
        <p14:section name="字符串" id="{726472E7-ABD9-49E2-855C-F888060A5315}">
          <p14:sldIdLst>
            <p14:sldId id="770"/>
            <p14:sldId id="676"/>
            <p14:sldId id="677"/>
            <p14:sldId id="678"/>
            <p14:sldId id="757"/>
            <p14:sldId id="684"/>
            <p14:sldId id="685"/>
            <p14:sldId id="686"/>
            <p14:sldId id="687"/>
            <p14:sldId id="688"/>
            <p14:sldId id="689"/>
            <p14:sldId id="758"/>
            <p14:sldId id="749"/>
          </p14:sldIdLst>
        </p14:section>
        <p14:section name="数组" id="{2A8C1011-D5AA-48D7-B10E-8834E53DEA0F}">
          <p14:sldIdLst>
            <p14:sldId id="769"/>
            <p14:sldId id="664"/>
            <p14:sldId id="665"/>
            <p14:sldId id="721"/>
            <p14:sldId id="754"/>
            <p14:sldId id="759"/>
            <p14:sldId id="755"/>
            <p14:sldId id="747"/>
            <p14:sldId id="748"/>
            <p14:sldId id="666"/>
            <p14:sldId id="756"/>
            <p14:sldId id="679"/>
            <p14:sldId id="667"/>
            <p14:sldId id="669"/>
            <p14:sldId id="670"/>
            <p14:sldId id="671"/>
            <p14:sldId id="680"/>
            <p14:sldId id="692"/>
            <p14:sldId id="690"/>
            <p14:sldId id="753"/>
            <p14:sldId id="760"/>
            <p14:sldId id="761"/>
            <p14:sldId id="702"/>
            <p14:sldId id="762"/>
            <p14:sldId id="763"/>
            <p14:sldId id="711"/>
            <p14:sldId id="751"/>
          </p14:sldIdLst>
        </p14:section>
        <p14:section name="结构体" id="{A80F6A13-945D-4E02-9414-49F10B49E905}">
          <p14:sldIdLst>
            <p14:sldId id="720"/>
            <p14:sldId id="764"/>
            <p14:sldId id="765"/>
            <p14:sldId id="766"/>
            <p14:sldId id="708"/>
            <p14:sldId id="767"/>
            <p14:sldId id="709"/>
            <p14:sldId id="768"/>
            <p14:sldId id="752"/>
          </p14:sldIdLst>
        </p14:section>
        <p14:section name="文件" id="{1C95758A-1ABD-4B19-9E9A-09D2AD4F8283}">
          <p14:sldIdLst>
            <p14:sldId id="695"/>
            <p14:sldId id="696"/>
            <p14:sldId id="698"/>
            <p14:sldId id="700"/>
            <p14:sldId id="701"/>
            <p14:sldId id="699"/>
            <p14:sldId id="705"/>
            <p14:sldId id="736"/>
            <p14:sldId id="706"/>
            <p14:sldId id="703"/>
            <p14:sldId id="735"/>
            <p14:sldId id="704"/>
            <p14:sldId id="707"/>
            <p14:sldId id="712"/>
            <p14:sldId id="734"/>
            <p14:sldId id="740"/>
            <p14:sldId id="741"/>
          </p14:sldIdLst>
        </p14:section>
        <p14:section name="链表" id="{04581C7D-A426-4B9F-B073-8395D85A9082}">
          <p14:sldIdLst>
            <p14:sldId id="713"/>
            <p14:sldId id="714"/>
            <p14:sldId id="634"/>
            <p14:sldId id="715"/>
            <p14:sldId id="742"/>
            <p14:sldId id="636"/>
            <p14:sldId id="640"/>
            <p14:sldId id="637"/>
            <p14:sldId id="642"/>
            <p14:sldId id="733"/>
            <p14:sldId id="723"/>
            <p14:sldId id="737"/>
            <p14:sldId id="743"/>
            <p14:sldId id="744"/>
            <p14:sldId id="745"/>
            <p14:sldId id="746"/>
          </p14:sldIdLst>
        </p14:section>
        <p14:section name="结尾" id="{D465EC46-3CBB-4FE9-8D6F-33AF2D479A70}">
          <p14:sldIdLst>
            <p14:sldId id="772"/>
          </p14:sldIdLst>
        </p14:section>
      </p14:sectionLst>
    </p:ext>
    <p:ext uri="{EFAFB233-063F-42B5-8137-9DF3F51BA10A}">
      <p15:sldGuideLst xmlns:p15="http://schemas.microsoft.com/office/powerpoint/2012/main">
        <p15:guide id="1" orient="horz" pos="2196" userDrawn="1">
          <p15:clr>
            <a:srgbClr val="A4A3A4"/>
          </p15:clr>
        </p15:guide>
        <p15:guide id="2" pos="383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ky123.Org" initials="" lastIdx="2" clrIdx="0"/>
  <p:cmAuthor id="2" name="未知用户1" initials="未知用户1"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E19F3"/>
    <a:srgbClr val="2268EB"/>
    <a:srgbClr val="F7A507"/>
    <a:srgbClr val="FE0000"/>
    <a:srgbClr val="FE0054"/>
    <a:srgbClr val="E41E1A"/>
    <a:srgbClr val="FFC000"/>
    <a:srgbClr val="3FD69E"/>
    <a:srgbClr val="24F0C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82" autoAdjust="0"/>
    <p:restoredTop sz="94694"/>
  </p:normalViewPr>
  <p:slideViewPr>
    <p:cSldViewPr snapToGrid="0" showGuides="1">
      <p:cViewPr varScale="1">
        <p:scale>
          <a:sx n="80" d="100"/>
          <a:sy n="80" d="100"/>
        </p:scale>
        <p:origin x="840" y="53"/>
      </p:cViewPr>
      <p:guideLst>
        <p:guide orient="horz" pos="2196"/>
        <p:guide pos="383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192" y="7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notesMaster" Target="notesMasters/notesMaster1.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handoutMaster" Target="handoutMasters/handoutMaster1.xml"/><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ags" Target="tags/tag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5E1E6B6-8FD8-4D28-87C4-C75AF3340139}" type="doc">
      <dgm:prSet loTypeId="urn:microsoft.com/office/officeart/2005/8/layout/hierarchy2#1" loCatId="hierarchy" qsTypeId="urn:microsoft.com/office/officeart/2005/8/quickstyle/simple1#1" qsCatId="simple" csTypeId="urn:microsoft.com/office/officeart/2005/8/colors/accent1_2#1" csCatId="accent1" phldr="1"/>
      <dgm:spPr/>
      <dgm:t>
        <a:bodyPr/>
        <a:lstStyle/>
        <a:p>
          <a:endParaRPr lang="zh-CN" altLang="en-US"/>
        </a:p>
      </dgm:t>
    </dgm:pt>
    <dgm:pt modelId="{30879784-1AF1-4F1B-A923-60E013DF5271}">
      <dgm:prSet phldrT="[文本]"/>
      <dgm:spPr/>
      <dgm:t>
        <a:bodyPr/>
        <a:lstStyle/>
        <a:p>
          <a:r>
            <a:rPr lang="zh-CN" altLang="en-US" dirty="0"/>
            <a:t>处理手段</a:t>
          </a:r>
        </a:p>
      </dgm:t>
    </dgm:pt>
    <dgm:pt modelId="{02969C3D-459E-4ED6-8F0F-C8618FB77A7F}" type="parTrans" cxnId="{41F3A75F-A444-49C5-87DC-F9B5EF3D8AF5}">
      <dgm:prSet/>
      <dgm:spPr/>
      <dgm:t>
        <a:bodyPr/>
        <a:lstStyle/>
        <a:p>
          <a:endParaRPr lang="zh-CN" altLang="en-US"/>
        </a:p>
      </dgm:t>
    </dgm:pt>
    <dgm:pt modelId="{994607C0-C3F2-4EA4-8AB9-97597DB951A3}" type="sibTrans" cxnId="{41F3A75F-A444-49C5-87DC-F9B5EF3D8AF5}">
      <dgm:prSet/>
      <dgm:spPr/>
      <dgm:t>
        <a:bodyPr/>
        <a:lstStyle/>
        <a:p>
          <a:endParaRPr lang="zh-CN" altLang="en-US"/>
        </a:p>
      </dgm:t>
    </dgm:pt>
    <dgm:pt modelId="{0D226660-972B-4DA4-BB71-7BFDD62245CC}">
      <dgm:prSet phldrT="[文本]"/>
      <dgm:spPr/>
      <dgm:t>
        <a:bodyPr/>
        <a:lstStyle/>
        <a:p>
          <a:r>
            <a:rPr lang="zh-CN" altLang="en-US" dirty="0"/>
            <a:t>对结果强制类型转化</a:t>
          </a:r>
        </a:p>
      </dgm:t>
    </dgm:pt>
    <dgm:pt modelId="{7D0C1FDA-21FF-48CE-83B0-1CBD06EF7A14}" type="parTrans" cxnId="{78C9B525-C160-480B-91FE-19141D01219B}">
      <dgm:prSet/>
      <dgm:spPr/>
      <dgm:t>
        <a:bodyPr/>
        <a:lstStyle/>
        <a:p>
          <a:endParaRPr lang="zh-CN" altLang="en-US"/>
        </a:p>
      </dgm:t>
    </dgm:pt>
    <dgm:pt modelId="{1C7317DE-E6B8-4B71-97AE-1F4455BA07CD}" type="sibTrans" cxnId="{78C9B525-C160-480B-91FE-19141D01219B}">
      <dgm:prSet/>
      <dgm:spPr/>
      <dgm:t>
        <a:bodyPr/>
        <a:lstStyle/>
        <a:p>
          <a:endParaRPr lang="zh-CN" altLang="en-US"/>
        </a:p>
      </dgm:t>
    </dgm:pt>
    <dgm:pt modelId="{475D92CE-8ED7-4969-B613-18A9457E8E43}">
      <dgm:prSet phldrT="[文本]"/>
      <dgm:spPr/>
      <dgm:t>
        <a:bodyPr/>
        <a:lstStyle/>
        <a:p>
          <a:r>
            <a:rPr lang="zh-CN" altLang="en-US" dirty="0"/>
            <a:t>改用类型</a:t>
          </a:r>
        </a:p>
      </dgm:t>
    </dgm:pt>
    <dgm:pt modelId="{328C6A33-49BF-4203-A77C-38F965E9C5E7}" type="parTrans" cxnId="{41A13787-CFB6-4A8B-BF09-B7F3E5F4F94B}">
      <dgm:prSet/>
      <dgm:spPr/>
      <dgm:t>
        <a:bodyPr/>
        <a:lstStyle/>
        <a:p>
          <a:endParaRPr lang="zh-CN" altLang="en-US"/>
        </a:p>
      </dgm:t>
    </dgm:pt>
    <dgm:pt modelId="{D572147C-331C-4B87-BC15-535A7E159BB0}" type="sibTrans" cxnId="{41A13787-CFB6-4A8B-BF09-B7F3E5F4F94B}">
      <dgm:prSet/>
      <dgm:spPr/>
      <dgm:t>
        <a:bodyPr/>
        <a:lstStyle/>
        <a:p>
          <a:endParaRPr lang="zh-CN" altLang="en-US"/>
        </a:p>
      </dgm:t>
    </dgm:pt>
    <dgm:pt modelId="{103B685A-DA5D-445E-902B-6736998CBA8C}" type="pres">
      <dgm:prSet presAssocID="{45E1E6B6-8FD8-4D28-87C4-C75AF3340139}" presName="diagram" presStyleCnt="0">
        <dgm:presLayoutVars>
          <dgm:chPref val="1"/>
          <dgm:dir/>
          <dgm:animOne val="branch"/>
          <dgm:animLvl val="lvl"/>
          <dgm:resizeHandles val="exact"/>
        </dgm:presLayoutVars>
      </dgm:prSet>
      <dgm:spPr/>
    </dgm:pt>
    <dgm:pt modelId="{5B0A3692-AF93-4B54-9636-7EF0629BD15E}" type="pres">
      <dgm:prSet presAssocID="{30879784-1AF1-4F1B-A923-60E013DF5271}" presName="root1" presStyleCnt="0"/>
      <dgm:spPr/>
    </dgm:pt>
    <dgm:pt modelId="{882C3AAB-96C0-47EC-8D4E-94948FCC0C5F}" type="pres">
      <dgm:prSet presAssocID="{30879784-1AF1-4F1B-A923-60E013DF5271}" presName="LevelOneTextNode" presStyleLbl="node0" presStyleIdx="0" presStyleCnt="1">
        <dgm:presLayoutVars>
          <dgm:chPref val="3"/>
        </dgm:presLayoutVars>
      </dgm:prSet>
      <dgm:spPr/>
    </dgm:pt>
    <dgm:pt modelId="{A4BC8B3F-E864-41C9-A0FB-B38117744636}" type="pres">
      <dgm:prSet presAssocID="{30879784-1AF1-4F1B-A923-60E013DF5271}" presName="level2hierChild" presStyleCnt="0"/>
      <dgm:spPr/>
    </dgm:pt>
    <dgm:pt modelId="{8C88E677-F9F5-4434-899F-EA8C3EA782A4}" type="pres">
      <dgm:prSet presAssocID="{7D0C1FDA-21FF-48CE-83B0-1CBD06EF7A14}" presName="conn2-1" presStyleLbl="parChTrans1D2" presStyleIdx="0" presStyleCnt="2"/>
      <dgm:spPr/>
    </dgm:pt>
    <dgm:pt modelId="{FE245B78-653A-4D99-9925-6DE79A079EBB}" type="pres">
      <dgm:prSet presAssocID="{7D0C1FDA-21FF-48CE-83B0-1CBD06EF7A14}" presName="connTx" presStyleLbl="parChTrans1D2" presStyleIdx="0" presStyleCnt="2"/>
      <dgm:spPr/>
    </dgm:pt>
    <dgm:pt modelId="{84362D18-7CD3-41AC-8E8C-9FA30E9EEA5B}" type="pres">
      <dgm:prSet presAssocID="{0D226660-972B-4DA4-BB71-7BFDD62245CC}" presName="root2" presStyleCnt="0"/>
      <dgm:spPr/>
    </dgm:pt>
    <dgm:pt modelId="{AB4D4B8B-2798-490E-86B2-054A810D7F5F}" type="pres">
      <dgm:prSet presAssocID="{0D226660-972B-4DA4-BB71-7BFDD62245CC}" presName="LevelTwoTextNode" presStyleLbl="node2" presStyleIdx="0" presStyleCnt="2" custLinFactY="122227" custLinFactNeighborX="-540" custLinFactNeighborY="200000">
        <dgm:presLayoutVars>
          <dgm:chPref val="3"/>
        </dgm:presLayoutVars>
      </dgm:prSet>
      <dgm:spPr/>
    </dgm:pt>
    <dgm:pt modelId="{E00BF104-2A28-40C2-9B7D-1AE610D32FB8}" type="pres">
      <dgm:prSet presAssocID="{0D226660-972B-4DA4-BB71-7BFDD62245CC}" presName="level3hierChild" presStyleCnt="0"/>
      <dgm:spPr/>
    </dgm:pt>
    <dgm:pt modelId="{821E6630-276D-4288-962C-9D84F0E08BAB}" type="pres">
      <dgm:prSet presAssocID="{328C6A33-49BF-4203-A77C-38F965E9C5E7}" presName="conn2-1" presStyleLbl="parChTrans1D2" presStyleIdx="1" presStyleCnt="2"/>
      <dgm:spPr/>
    </dgm:pt>
    <dgm:pt modelId="{7CD70CB0-F1C4-41CB-B162-58D1972F5887}" type="pres">
      <dgm:prSet presAssocID="{328C6A33-49BF-4203-A77C-38F965E9C5E7}" presName="connTx" presStyleLbl="parChTrans1D2" presStyleIdx="1" presStyleCnt="2"/>
      <dgm:spPr/>
    </dgm:pt>
    <dgm:pt modelId="{0B0501A8-E6E1-4760-9BB4-FD32B57A1DB3}" type="pres">
      <dgm:prSet presAssocID="{475D92CE-8ED7-4969-B613-18A9457E8E43}" presName="root2" presStyleCnt="0"/>
      <dgm:spPr/>
    </dgm:pt>
    <dgm:pt modelId="{1DB386E3-AFAB-4ADE-9908-710AD49FC7B1}" type="pres">
      <dgm:prSet presAssocID="{475D92CE-8ED7-4969-B613-18A9457E8E43}" presName="LevelTwoTextNode" presStyleLbl="node2" presStyleIdx="1" presStyleCnt="2" custLinFactY="-73428" custLinFactNeighborX="-33" custLinFactNeighborY="-100000">
        <dgm:presLayoutVars>
          <dgm:chPref val="3"/>
        </dgm:presLayoutVars>
      </dgm:prSet>
      <dgm:spPr/>
    </dgm:pt>
    <dgm:pt modelId="{679383A5-2168-429B-8E0C-2395AA4506EC}" type="pres">
      <dgm:prSet presAssocID="{475D92CE-8ED7-4969-B613-18A9457E8E43}" presName="level3hierChild" presStyleCnt="0"/>
      <dgm:spPr/>
    </dgm:pt>
  </dgm:ptLst>
  <dgm:cxnLst>
    <dgm:cxn modelId="{AEF65908-3454-471B-B073-BE3B6F67AB63}" type="presOf" srcId="{30879784-1AF1-4F1B-A923-60E013DF5271}" destId="{882C3AAB-96C0-47EC-8D4E-94948FCC0C5F}" srcOrd="0" destOrd="0" presId="urn:microsoft.com/office/officeart/2005/8/layout/hierarchy2#1"/>
    <dgm:cxn modelId="{78C9B525-C160-480B-91FE-19141D01219B}" srcId="{30879784-1AF1-4F1B-A923-60E013DF5271}" destId="{0D226660-972B-4DA4-BB71-7BFDD62245CC}" srcOrd="0" destOrd="0" parTransId="{7D0C1FDA-21FF-48CE-83B0-1CBD06EF7A14}" sibTransId="{1C7317DE-E6B8-4B71-97AE-1F4455BA07CD}"/>
    <dgm:cxn modelId="{41F3A75F-A444-49C5-87DC-F9B5EF3D8AF5}" srcId="{45E1E6B6-8FD8-4D28-87C4-C75AF3340139}" destId="{30879784-1AF1-4F1B-A923-60E013DF5271}" srcOrd="0" destOrd="0" parTransId="{02969C3D-459E-4ED6-8F0F-C8618FB77A7F}" sibTransId="{994607C0-C3F2-4EA4-8AB9-97597DB951A3}"/>
    <dgm:cxn modelId="{9E362184-484F-44FA-9A58-C4B83FA4A6FB}" type="presOf" srcId="{7D0C1FDA-21FF-48CE-83B0-1CBD06EF7A14}" destId="{FE245B78-653A-4D99-9925-6DE79A079EBB}" srcOrd="1" destOrd="0" presId="urn:microsoft.com/office/officeart/2005/8/layout/hierarchy2#1"/>
    <dgm:cxn modelId="{41A13787-CFB6-4A8B-BF09-B7F3E5F4F94B}" srcId="{30879784-1AF1-4F1B-A923-60E013DF5271}" destId="{475D92CE-8ED7-4969-B613-18A9457E8E43}" srcOrd="1" destOrd="0" parTransId="{328C6A33-49BF-4203-A77C-38F965E9C5E7}" sibTransId="{D572147C-331C-4B87-BC15-535A7E159BB0}"/>
    <dgm:cxn modelId="{6439E49E-EC72-4166-B597-688C04E0F34D}" type="presOf" srcId="{7D0C1FDA-21FF-48CE-83B0-1CBD06EF7A14}" destId="{8C88E677-F9F5-4434-899F-EA8C3EA782A4}" srcOrd="0" destOrd="0" presId="urn:microsoft.com/office/officeart/2005/8/layout/hierarchy2#1"/>
    <dgm:cxn modelId="{ABF2759F-7FFA-44F1-8E70-6E6339A7AC13}" type="presOf" srcId="{45E1E6B6-8FD8-4D28-87C4-C75AF3340139}" destId="{103B685A-DA5D-445E-902B-6736998CBA8C}" srcOrd="0" destOrd="0" presId="urn:microsoft.com/office/officeart/2005/8/layout/hierarchy2#1"/>
    <dgm:cxn modelId="{E2469C9F-8BE8-40D7-89DE-21E01FC32717}" type="presOf" srcId="{328C6A33-49BF-4203-A77C-38F965E9C5E7}" destId="{7CD70CB0-F1C4-41CB-B162-58D1972F5887}" srcOrd="1" destOrd="0" presId="urn:microsoft.com/office/officeart/2005/8/layout/hierarchy2#1"/>
    <dgm:cxn modelId="{C944AED4-EAA2-482D-976B-D2E0824ECE7D}" type="presOf" srcId="{475D92CE-8ED7-4969-B613-18A9457E8E43}" destId="{1DB386E3-AFAB-4ADE-9908-710AD49FC7B1}" srcOrd="0" destOrd="0" presId="urn:microsoft.com/office/officeart/2005/8/layout/hierarchy2#1"/>
    <dgm:cxn modelId="{F0B0DEEB-4670-4DB1-93D1-522A29042B08}" type="presOf" srcId="{0D226660-972B-4DA4-BB71-7BFDD62245CC}" destId="{AB4D4B8B-2798-490E-86B2-054A810D7F5F}" srcOrd="0" destOrd="0" presId="urn:microsoft.com/office/officeart/2005/8/layout/hierarchy2#1"/>
    <dgm:cxn modelId="{0EBB99F7-0171-4DE4-BD26-A77FD1608627}" type="presOf" srcId="{328C6A33-49BF-4203-A77C-38F965E9C5E7}" destId="{821E6630-276D-4288-962C-9D84F0E08BAB}" srcOrd="0" destOrd="0" presId="urn:microsoft.com/office/officeart/2005/8/layout/hierarchy2#1"/>
    <dgm:cxn modelId="{1AC39D47-D386-4ACD-BF45-A3574A99C0D3}" type="presParOf" srcId="{103B685A-DA5D-445E-902B-6736998CBA8C}" destId="{5B0A3692-AF93-4B54-9636-7EF0629BD15E}" srcOrd="0" destOrd="0" presId="urn:microsoft.com/office/officeart/2005/8/layout/hierarchy2#1"/>
    <dgm:cxn modelId="{F3B4856D-0FDD-415B-AE6C-D5134E93DB58}" type="presParOf" srcId="{5B0A3692-AF93-4B54-9636-7EF0629BD15E}" destId="{882C3AAB-96C0-47EC-8D4E-94948FCC0C5F}" srcOrd="0" destOrd="0" presId="urn:microsoft.com/office/officeart/2005/8/layout/hierarchy2#1"/>
    <dgm:cxn modelId="{1BF6E35B-E7E9-4502-9364-D14802195872}" type="presParOf" srcId="{5B0A3692-AF93-4B54-9636-7EF0629BD15E}" destId="{A4BC8B3F-E864-41C9-A0FB-B38117744636}" srcOrd="1" destOrd="0" presId="urn:microsoft.com/office/officeart/2005/8/layout/hierarchy2#1"/>
    <dgm:cxn modelId="{02144E56-3D01-426B-9361-ACAE1763735B}" type="presParOf" srcId="{A4BC8B3F-E864-41C9-A0FB-B38117744636}" destId="{8C88E677-F9F5-4434-899F-EA8C3EA782A4}" srcOrd="0" destOrd="0" presId="urn:microsoft.com/office/officeart/2005/8/layout/hierarchy2#1"/>
    <dgm:cxn modelId="{41AD2AF3-FA2E-4C4C-8FDD-0675188CBFB9}" type="presParOf" srcId="{8C88E677-F9F5-4434-899F-EA8C3EA782A4}" destId="{FE245B78-653A-4D99-9925-6DE79A079EBB}" srcOrd="0" destOrd="0" presId="urn:microsoft.com/office/officeart/2005/8/layout/hierarchy2#1"/>
    <dgm:cxn modelId="{240C2DA1-720F-444B-9D76-FDDEAEAACDAD}" type="presParOf" srcId="{A4BC8B3F-E864-41C9-A0FB-B38117744636}" destId="{84362D18-7CD3-41AC-8E8C-9FA30E9EEA5B}" srcOrd="1" destOrd="0" presId="urn:microsoft.com/office/officeart/2005/8/layout/hierarchy2#1"/>
    <dgm:cxn modelId="{D5A196D0-9856-497E-8B91-7B85F71A9658}" type="presParOf" srcId="{84362D18-7CD3-41AC-8E8C-9FA30E9EEA5B}" destId="{AB4D4B8B-2798-490E-86B2-054A810D7F5F}" srcOrd="0" destOrd="0" presId="urn:microsoft.com/office/officeart/2005/8/layout/hierarchy2#1"/>
    <dgm:cxn modelId="{8725E1A1-C840-43DC-A1BB-9E4BC63C5252}" type="presParOf" srcId="{84362D18-7CD3-41AC-8E8C-9FA30E9EEA5B}" destId="{E00BF104-2A28-40C2-9B7D-1AE610D32FB8}" srcOrd="1" destOrd="0" presId="urn:microsoft.com/office/officeart/2005/8/layout/hierarchy2#1"/>
    <dgm:cxn modelId="{FEB338B4-22F7-4614-9395-A95632AE3D52}" type="presParOf" srcId="{A4BC8B3F-E864-41C9-A0FB-B38117744636}" destId="{821E6630-276D-4288-962C-9D84F0E08BAB}" srcOrd="2" destOrd="0" presId="urn:microsoft.com/office/officeart/2005/8/layout/hierarchy2#1"/>
    <dgm:cxn modelId="{40632FDC-0A94-4881-8078-7921649A3660}" type="presParOf" srcId="{821E6630-276D-4288-962C-9D84F0E08BAB}" destId="{7CD70CB0-F1C4-41CB-B162-58D1972F5887}" srcOrd="0" destOrd="0" presId="urn:microsoft.com/office/officeart/2005/8/layout/hierarchy2#1"/>
    <dgm:cxn modelId="{300AE44C-C22C-4550-85CD-DBE217735BEE}" type="presParOf" srcId="{A4BC8B3F-E864-41C9-A0FB-B38117744636}" destId="{0B0501A8-E6E1-4760-9BB4-FD32B57A1DB3}" srcOrd="3" destOrd="0" presId="urn:microsoft.com/office/officeart/2005/8/layout/hierarchy2#1"/>
    <dgm:cxn modelId="{210F67CB-2448-4241-A86A-F9E728BBCCCD}" type="presParOf" srcId="{0B0501A8-E6E1-4760-9BB4-FD32B57A1DB3}" destId="{1DB386E3-AFAB-4ADE-9908-710AD49FC7B1}" srcOrd="0" destOrd="0" presId="urn:microsoft.com/office/officeart/2005/8/layout/hierarchy2#1"/>
    <dgm:cxn modelId="{69C56EF0-0370-4628-B7BB-7612032ECD95}" type="presParOf" srcId="{0B0501A8-E6E1-4760-9BB4-FD32B57A1DB3}" destId="{679383A5-2168-429B-8E0C-2395AA4506EC}" srcOrd="1" destOrd="0" presId="urn:microsoft.com/office/officeart/2005/8/layout/hierarchy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C5A409-F691-400C-BADD-850F04582AA9}" type="doc">
      <dgm:prSet loTypeId="urn:microsoft.com/office/officeart/2009/3/layout/HorizontalOrganizationChart#1" loCatId="hierarchy" qsTypeId="urn:microsoft.com/office/officeart/2005/8/quickstyle/simple1#2" qsCatId="simple" csTypeId="urn:microsoft.com/office/officeart/2005/8/colors/accent1_2#2" csCatId="accent1" phldr="1"/>
      <dgm:spPr/>
      <dgm:t>
        <a:bodyPr/>
        <a:lstStyle/>
        <a:p>
          <a:endParaRPr lang="zh-CN" altLang="en-US"/>
        </a:p>
      </dgm:t>
    </dgm:pt>
    <dgm:pt modelId="{6A921596-9C74-49A8-93F6-F26937A7C789}">
      <dgm:prSet phldrT="[文本]"/>
      <dgm:spPr/>
      <dgm:t>
        <a:bodyPr/>
        <a:lstStyle/>
        <a:p>
          <a:r>
            <a:rPr lang="zh-CN" altLang="en-US" dirty="0"/>
            <a:t>流程控制</a:t>
          </a:r>
        </a:p>
      </dgm:t>
    </dgm:pt>
    <dgm:pt modelId="{F9B7B506-2E91-4FAB-BC84-70E9EF4E0E9C}" type="parTrans" cxnId="{74A3A94F-CBE8-4C68-953C-BC581789362D}">
      <dgm:prSet/>
      <dgm:spPr/>
      <dgm:t>
        <a:bodyPr/>
        <a:lstStyle/>
        <a:p>
          <a:endParaRPr lang="zh-CN" altLang="en-US"/>
        </a:p>
      </dgm:t>
    </dgm:pt>
    <dgm:pt modelId="{4FC2092C-AFE7-49A6-856E-272160163C7A}" type="sibTrans" cxnId="{74A3A94F-CBE8-4C68-953C-BC581789362D}">
      <dgm:prSet/>
      <dgm:spPr/>
      <dgm:t>
        <a:bodyPr/>
        <a:lstStyle/>
        <a:p>
          <a:endParaRPr lang="zh-CN" altLang="en-US"/>
        </a:p>
      </dgm:t>
    </dgm:pt>
    <dgm:pt modelId="{D668C599-A953-414D-A234-C5F9AED55551}">
      <dgm:prSet phldrT="[文本]"/>
      <dgm:spPr/>
      <dgm:t>
        <a:bodyPr/>
        <a:lstStyle/>
        <a:p>
          <a:r>
            <a:rPr lang="zh-CN" altLang="en-US" dirty="0"/>
            <a:t>顺序结构</a:t>
          </a:r>
        </a:p>
      </dgm:t>
    </dgm:pt>
    <dgm:pt modelId="{AC39AE4C-FA23-4731-A18A-E95CCECF002B}" type="parTrans" cxnId="{FCE84812-700B-465B-AB4E-CC19978034B4}">
      <dgm:prSet/>
      <dgm:spPr/>
      <dgm:t>
        <a:bodyPr/>
        <a:lstStyle/>
        <a:p>
          <a:endParaRPr lang="zh-CN" altLang="en-US"/>
        </a:p>
      </dgm:t>
    </dgm:pt>
    <dgm:pt modelId="{DD42D6E7-5A86-4217-8A87-EC09BE5B3F65}" type="sibTrans" cxnId="{FCE84812-700B-465B-AB4E-CC19978034B4}">
      <dgm:prSet/>
      <dgm:spPr/>
      <dgm:t>
        <a:bodyPr/>
        <a:lstStyle/>
        <a:p>
          <a:endParaRPr lang="zh-CN" altLang="en-US"/>
        </a:p>
      </dgm:t>
    </dgm:pt>
    <dgm:pt modelId="{1925083A-D50D-4A6C-908A-8C66B98C85DB}">
      <dgm:prSet phldrT="[文本]"/>
      <dgm:spPr/>
      <dgm:t>
        <a:bodyPr/>
        <a:lstStyle/>
        <a:p>
          <a:r>
            <a:rPr lang="zh-CN" altLang="en-US" dirty="0"/>
            <a:t>分支结构</a:t>
          </a:r>
        </a:p>
      </dgm:t>
    </dgm:pt>
    <dgm:pt modelId="{B2E3244B-A33C-4500-B9BA-864A7C3A4EE3}" type="parTrans" cxnId="{50F6972B-7ECD-47AA-8401-50E0E29A02AD}">
      <dgm:prSet/>
      <dgm:spPr/>
      <dgm:t>
        <a:bodyPr/>
        <a:lstStyle/>
        <a:p>
          <a:endParaRPr lang="zh-CN" altLang="en-US"/>
        </a:p>
      </dgm:t>
    </dgm:pt>
    <dgm:pt modelId="{E3A156F6-97AA-435E-B3C9-0E7F13A12D12}" type="sibTrans" cxnId="{50F6972B-7ECD-47AA-8401-50E0E29A02AD}">
      <dgm:prSet/>
      <dgm:spPr/>
      <dgm:t>
        <a:bodyPr/>
        <a:lstStyle/>
        <a:p>
          <a:endParaRPr lang="zh-CN" altLang="en-US"/>
        </a:p>
      </dgm:t>
    </dgm:pt>
    <dgm:pt modelId="{4B3CC317-4632-4B71-8B56-08336FA1362F}">
      <dgm:prSet phldrT="[文本]"/>
      <dgm:spPr/>
      <dgm:t>
        <a:bodyPr/>
        <a:lstStyle/>
        <a:p>
          <a:r>
            <a:rPr lang="zh-CN" altLang="en-US" dirty="0"/>
            <a:t>循环结构</a:t>
          </a:r>
        </a:p>
      </dgm:t>
    </dgm:pt>
    <dgm:pt modelId="{CA0FEDF3-AFC9-4F35-BEAD-47F306C9EEC1}" type="parTrans" cxnId="{B77FD0C0-C9D6-4FFA-B444-E54D18D4DA86}">
      <dgm:prSet/>
      <dgm:spPr/>
      <dgm:t>
        <a:bodyPr/>
        <a:lstStyle/>
        <a:p>
          <a:endParaRPr lang="zh-CN" altLang="en-US"/>
        </a:p>
      </dgm:t>
    </dgm:pt>
    <dgm:pt modelId="{E3A0A1C9-1788-4E9B-BAFC-AD54C5F32EB3}" type="sibTrans" cxnId="{B77FD0C0-C9D6-4FFA-B444-E54D18D4DA86}">
      <dgm:prSet/>
      <dgm:spPr/>
      <dgm:t>
        <a:bodyPr/>
        <a:lstStyle/>
        <a:p>
          <a:endParaRPr lang="zh-CN" altLang="en-US"/>
        </a:p>
      </dgm:t>
    </dgm:pt>
    <dgm:pt modelId="{C7204A46-1B23-472B-B107-B5D61E5676E6}" type="pres">
      <dgm:prSet presAssocID="{BBC5A409-F691-400C-BADD-850F04582AA9}" presName="hierChild1" presStyleCnt="0">
        <dgm:presLayoutVars>
          <dgm:orgChart val="1"/>
          <dgm:chPref val="1"/>
          <dgm:dir/>
          <dgm:animOne val="branch"/>
          <dgm:animLvl val="lvl"/>
          <dgm:resizeHandles/>
        </dgm:presLayoutVars>
      </dgm:prSet>
      <dgm:spPr/>
    </dgm:pt>
    <dgm:pt modelId="{9F5BCED5-A6C3-4ADB-B08D-429B9E5DE19A}" type="pres">
      <dgm:prSet presAssocID="{6A921596-9C74-49A8-93F6-F26937A7C789}" presName="hierRoot1" presStyleCnt="0">
        <dgm:presLayoutVars>
          <dgm:hierBranch val="init"/>
        </dgm:presLayoutVars>
      </dgm:prSet>
      <dgm:spPr/>
    </dgm:pt>
    <dgm:pt modelId="{8DEB12AF-61BC-4778-8FC7-2E310E5500F3}" type="pres">
      <dgm:prSet presAssocID="{6A921596-9C74-49A8-93F6-F26937A7C789}" presName="rootComposite1" presStyleCnt="0"/>
      <dgm:spPr/>
    </dgm:pt>
    <dgm:pt modelId="{E3C43382-BB4F-4BBB-9868-2C6339B3D7C7}" type="pres">
      <dgm:prSet presAssocID="{6A921596-9C74-49A8-93F6-F26937A7C789}" presName="rootText1" presStyleLbl="node0" presStyleIdx="0" presStyleCnt="1">
        <dgm:presLayoutVars>
          <dgm:chPref val="3"/>
        </dgm:presLayoutVars>
      </dgm:prSet>
      <dgm:spPr/>
    </dgm:pt>
    <dgm:pt modelId="{C63E99A4-4F35-4483-9740-F29AC06A2D61}" type="pres">
      <dgm:prSet presAssocID="{6A921596-9C74-49A8-93F6-F26937A7C789}" presName="rootConnector1" presStyleLbl="node1" presStyleIdx="0" presStyleCnt="0"/>
      <dgm:spPr/>
    </dgm:pt>
    <dgm:pt modelId="{889377B2-B169-4FA7-8DF1-1652C27791FA}" type="pres">
      <dgm:prSet presAssocID="{6A921596-9C74-49A8-93F6-F26937A7C789}" presName="hierChild2" presStyleCnt="0"/>
      <dgm:spPr/>
    </dgm:pt>
    <dgm:pt modelId="{E1AD45F4-B082-4B94-8713-64EF95E5B234}" type="pres">
      <dgm:prSet presAssocID="{AC39AE4C-FA23-4731-A18A-E95CCECF002B}" presName="Name64" presStyleLbl="parChTrans1D2" presStyleIdx="0" presStyleCnt="3"/>
      <dgm:spPr/>
    </dgm:pt>
    <dgm:pt modelId="{19E48FC5-C2A6-44F4-80A4-484C4A0C9418}" type="pres">
      <dgm:prSet presAssocID="{D668C599-A953-414D-A234-C5F9AED55551}" presName="hierRoot2" presStyleCnt="0">
        <dgm:presLayoutVars>
          <dgm:hierBranch val="init"/>
        </dgm:presLayoutVars>
      </dgm:prSet>
      <dgm:spPr/>
    </dgm:pt>
    <dgm:pt modelId="{E0C76656-3540-4EBD-8519-FBE67AC70F0B}" type="pres">
      <dgm:prSet presAssocID="{D668C599-A953-414D-A234-C5F9AED55551}" presName="rootComposite" presStyleCnt="0"/>
      <dgm:spPr/>
    </dgm:pt>
    <dgm:pt modelId="{F13FFAF2-A9EF-477B-9BDD-2C21401EE653}" type="pres">
      <dgm:prSet presAssocID="{D668C599-A953-414D-A234-C5F9AED55551}" presName="rootText" presStyleLbl="node2" presStyleIdx="0" presStyleCnt="3">
        <dgm:presLayoutVars>
          <dgm:chPref val="3"/>
        </dgm:presLayoutVars>
      </dgm:prSet>
      <dgm:spPr/>
    </dgm:pt>
    <dgm:pt modelId="{6A01813A-BA91-42DA-8916-C2A4B877D11A}" type="pres">
      <dgm:prSet presAssocID="{D668C599-A953-414D-A234-C5F9AED55551}" presName="rootConnector" presStyleLbl="node2" presStyleIdx="0" presStyleCnt="3"/>
      <dgm:spPr/>
    </dgm:pt>
    <dgm:pt modelId="{56DDA007-4715-46C7-BF98-A9974779566B}" type="pres">
      <dgm:prSet presAssocID="{D668C599-A953-414D-A234-C5F9AED55551}" presName="hierChild4" presStyleCnt="0"/>
      <dgm:spPr/>
    </dgm:pt>
    <dgm:pt modelId="{A1B807BE-496E-4FFA-A95F-EF09265A33C3}" type="pres">
      <dgm:prSet presAssocID="{D668C599-A953-414D-A234-C5F9AED55551}" presName="hierChild5" presStyleCnt="0"/>
      <dgm:spPr/>
    </dgm:pt>
    <dgm:pt modelId="{C57B9BCB-4CD9-4E17-999C-F985B81E39A5}" type="pres">
      <dgm:prSet presAssocID="{B2E3244B-A33C-4500-B9BA-864A7C3A4EE3}" presName="Name64" presStyleLbl="parChTrans1D2" presStyleIdx="1" presStyleCnt="3"/>
      <dgm:spPr/>
    </dgm:pt>
    <dgm:pt modelId="{7346A542-32EC-4708-BBAE-444A119197CA}" type="pres">
      <dgm:prSet presAssocID="{1925083A-D50D-4A6C-908A-8C66B98C85DB}" presName="hierRoot2" presStyleCnt="0">
        <dgm:presLayoutVars>
          <dgm:hierBranch val="init"/>
        </dgm:presLayoutVars>
      </dgm:prSet>
      <dgm:spPr/>
    </dgm:pt>
    <dgm:pt modelId="{7DA840A1-1286-4331-B76D-0F8F900145E6}" type="pres">
      <dgm:prSet presAssocID="{1925083A-D50D-4A6C-908A-8C66B98C85DB}" presName="rootComposite" presStyleCnt="0"/>
      <dgm:spPr/>
    </dgm:pt>
    <dgm:pt modelId="{CE3B2AFE-2806-484F-BF6E-4C76C7B398AD}" type="pres">
      <dgm:prSet presAssocID="{1925083A-D50D-4A6C-908A-8C66B98C85DB}" presName="rootText" presStyleLbl="node2" presStyleIdx="1" presStyleCnt="3">
        <dgm:presLayoutVars>
          <dgm:chPref val="3"/>
        </dgm:presLayoutVars>
      </dgm:prSet>
      <dgm:spPr/>
    </dgm:pt>
    <dgm:pt modelId="{C4180422-5826-480A-BC16-A1C67FED9A5E}" type="pres">
      <dgm:prSet presAssocID="{1925083A-D50D-4A6C-908A-8C66B98C85DB}" presName="rootConnector" presStyleLbl="node2" presStyleIdx="1" presStyleCnt="3"/>
      <dgm:spPr/>
    </dgm:pt>
    <dgm:pt modelId="{2EF38F70-DCDF-4277-9B4C-FB40826015C3}" type="pres">
      <dgm:prSet presAssocID="{1925083A-D50D-4A6C-908A-8C66B98C85DB}" presName="hierChild4" presStyleCnt="0"/>
      <dgm:spPr/>
    </dgm:pt>
    <dgm:pt modelId="{C6E8D0D1-91DA-484F-8783-CC78D94C74C2}" type="pres">
      <dgm:prSet presAssocID="{1925083A-D50D-4A6C-908A-8C66B98C85DB}" presName="hierChild5" presStyleCnt="0"/>
      <dgm:spPr/>
    </dgm:pt>
    <dgm:pt modelId="{33D14D47-4D1C-40DC-AF46-EF29F1A04FD2}" type="pres">
      <dgm:prSet presAssocID="{CA0FEDF3-AFC9-4F35-BEAD-47F306C9EEC1}" presName="Name64" presStyleLbl="parChTrans1D2" presStyleIdx="2" presStyleCnt="3"/>
      <dgm:spPr/>
    </dgm:pt>
    <dgm:pt modelId="{0FDDFA71-5172-4D84-B817-F7371B054169}" type="pres">
      <dgm:prSet presAssocID="{4B3CC317-4632-4B71-8B56-08336FA1362F}" presName="hierRoot2" presStyleCnt="0">
        <dgm:presLayoutVars>
          <dgm:hierBranch val="init"/>
        </dgm:presLayoutVars>
      </dgm:prSet>
      <dgm:spPr/>
    </dgm:pt>
    <dgm:pt modelId="{45379C35-C9CD-4D44-BAE2-A2AE0B2BDAFF}" type="pres">
      <dgm:prSet presAssocID="{4B3CC317-4632-4B71-8B56-08336FA1362F}" presName="rootComposite" presStyleCnt="0"/>
      <dgm:spPr/>
    </dgm:pt>
    <dgm:pt modelId="{B43093EE-E1A0-430B-A19A-5ECE53279BF3}" type="pres">
      <dgm:prSet presAssocID="{4B3CC317-4632-4B71-8B56-08336FA1362F}" presName="rootText" presStyleLbl="node2" presStyleIdx="2" presStyleCnt="3">
        <dgm:presLayoutVars>
          <dgm:chPref val="3"/>
        </dgm:presLayoutVars>
      </dgm:prSet>
      <dgm:spPr/>
    </dgm:pt>
    <dgm:pt modelId="{72481259-BAED-4577-A381-B91B533BAA63}" type="pres">
      <dgm:prSet presAssocID="{4B3CC317-4632-4B71-8B56-08336FA1362F}" presName="rootConnector" presStyleLbl="node2" presStyleIdx="2" presStyleCnt="3"/>
      <dgm:spPr/>
    </dgm:pt>
    <dgm:pt modelId="{C8300E42-CDD3-4BF0-8A9C-8E27944070E7}" type="pres">
      <dgm:prSet presAssocID="{4B3CC317-4632-4B71-8B56-08336FA1362F}" presName="hierChild4" presStyleCnt="0"/>
      <dgm:spPr/>
    </dgm:pt>
    <dgm:pt modelId="{D318391D-CBE3-453C-A5AA-CF8C86443849}" type="pres">
      <dgm:prSet presAssocID="{4B3CC317-4632-4B71-8B56-08336FA1362F}" presName="hierChild5" presStyleCnt="0"/>
      <dgm:spPr/>
    </dgm:pt>
    <dgm:pt modelId="{43C23DBC-C767-4C06-BD21-160DE614752E}" type="pres">
      <dgm:prSet presAssocID="{6A921596-9C74-49A8-93F6-F26937A7C789}" presName="hierChild3" presStyleCnt="0"/>
      <dgm:spPr/>
    </dgm:pt>
  </dgm:ptLst>
  <dgm:cxnLst>
    <dgm:cxn modelId="{A6330405-0A99-4195-8D30-99A14A1B4D5D}" type="presOf" srcId="{6A921596-9C74-49A8-93F6-F26937A7C789}" destId="{C63E99A4-4F35-4483-9740-F29AC06A2D61}" srcOrd="1" destOrd="0" presId="urn:microsoft.com/office/officeart/2009/3/layout/HorizontalOrganizationChart#1"/>
    <dgm:cxn modelId="{14B89C0D-76BA-4A01-B3B1-86F676FDC7AC}" type="presOf" srcId="{4B3CC317-4632-4B71-8B56-08336FA1362F}" destId="{72481259-BAED-4577-A381-B91B533BAA63}" srcOrd="1" destOrd="0" presId="urn:microsoft.com/office/officeart/2009/3/layout/HorizontalOrganizationChart#1"/>
    <dgm:cxn modelId="{FCE84812-700B-465B-AB4E-CC19978034B4}" srcId="{6A921596-9C74-49A8-93F6-F26937A7C789}" destId="{D668C599-A953-414D-A234-C5F9AED55551}" srcOrd="0" destOrd="0" parTransId="{AC39AE4C-FA23-4731-A18A-E95CCECF002B}" sibTransId="{DD42D6E7-5A86-4217-8A87-EC09BE5B3F65}"/>
    <dgm:cxn modelId="{926D7113-1EAB-4AAF-B3D9-BD2EEC216ADC}" type="presOf" srcId="{B2E3244B-A33C-4500-B9BA-864A7C3A4EE3}" destId="{C57B9BCB-4CD9-4E17-999C-F985B81E39A5}" srcOrd="0" destOrd="0" presId="urn:microsoft.com/office/officeart/2009/3/layout/HorizontalOrganizationChart#1"/>
    <dgm:cxn modelId="{BB1D0325-67C5-45E9-8518-452E32F38666}" type="presOf" srcId="{4B3CC317-4632-4B71-8B56-08336FA1362F}" destId="{B43093EE-E1A0-430B-A19A-5ECE53279BF3}" srcOrd="0" destOrd="0" presId="urn:microsoft.com/office/officeart/2009/3/layout/HorizontalOrganizationChart#1"/>
    <dgm:cxn modelId="{50F6972B-7ECD-47AA-8401-50E0E29A02AD}" srcId="{6A921596-9C74-49A8-93F6-F26937A7C789}" destId="{1925083A-D50D-4A6C-908A-8C66B98C85DB}" srcOrd="1" destOrd="0" parTransId="{B2E3244B-A33C-4500-B9BA-864A7C3A4EE3}" sibTransId="{E3A156F6-97AA-435E-B3C9-0E7F13A12D12}"/>
    <dgm:cxn modelId="{A3506542-A478-42BA-A399-0384BB0CA3F6}" type="presOf" srcId="{1925083A-D50D-4A6C-908A-8C66B98C85DB}" destId="{CE3B2AFE-2806-484F-BF6E-4C76C7B398AD}" srcOrd="0" destOrd="0" presId="urn:microsoft.com/office/officeart/2009/3/layout/HorizontalOrganizationChart#1"/>
    <dgm:cxn modelId="{762EE049-4FC2-4FF3-82C6-3140E52D7EE6}" type="presOf" srcId="{AC39AE4C-FA23-4731-A18A-E95CCECF002B}" destId="{E1AD45F4-B082-4B94-8713-64EF95E5B234}" srcOrd="0" destOrd="0" presId="urn:microsoft.com/office/officeart/2009/3/layout/HorizontalOrganizationChart#1"/>
    <dgm:cxn modelId="{2ABE024E-5353-4CD4-91D0-51ADD6A687C1}" type="presOf" srcId="{D668C599-A953-414D-A234-C5F9AED55551}" destId="{6A01813A-BA91-42DA-8916-C2A4B877D11A}" srcOrd="1" destOrd="0" presId="urn:microsoft.com/office/officeart/2009/3/layout/HorizontalOrganizationChart#1"/>
    <dgm:cxn modelId="{74A3A94F-CBE8-4C68-953C-BC581789362D}" srcId="{BBC5A409-F691-400C-BADD-850F04582AA9}" destId="{6A921596-9C74-49A8-93F6-F26937A7C789}" srcOrd="0" destOrd="0" parTransId="{F9B7B506-2E91-4FAB-BC84-70E9EF4E0E9C}" sibTransId="{4FC2092C-AFE7-49A6-856E-272160163C7A}"/>
    <dgm:cxn modelId="{6C51FB53-D7C9-4333-BFDD-96CE21A094F7}" type="presOf" srcId="{D668C599-A953-414D-A234-C5F9AED55551}" destId="{F13FFAF2-A9EF-477B-9BDD-2C21401EE653}" srcOrd="0" destOrd="0" presId="urn:microsoft.com/office/officeart/2009/3/layout/HorizontalOrganizationChart#1"/>
    <dgm:cxn modelId="{BE4D797A-AF7D-4837-9BEC-1B00B7237532}" type="presOf" srcId="{6A921596-9C74-49A8-93F6-F26937A7C789}" destId="{E3C43382-BB4F-4BBB-9868-2C6339B3D7C7}" srcOrd="0" destOrd="0" presId="urn:microsoft.com/office/officeart/2009/3/layout/HorizontalOrganizationChart#1"/>
    <dgm:cxn modelId="{94003CB1-44A8-45D8-847D-108A2E2C48D5}" type="presOf" srcId="{CA0FEDF3-AFC9-4F35-BEAD-47F306C9EEC1}" destId="{33D14D47-4D1C-40DC-AF46-EF29F1A04FD2}" srcOrd="0" destOrd="0" presId="urn:microsoft.com/office/officeart/2009/3/layout/HorizontalOrganizationChart#1"/>
    <dgm:cxn modelId="{B77FD0C0-C9D6-4FFA-B444-E54D18D4DA86}" srcId="{6A921596-9C74-49A8-93F6-F26937A7C789}" destId="{4B3CC317-4632-4B71-8B56-08336FA1362F}" srcOrd="2" destOrd="0" parTransId="{CA0FEDF3-AFC9-4F35-BEAD-47F306C9EEC1}" sibTransId="{E3A0A1C9-1788-4E9B-BAFC-AD54C5F32EB3}"/>
    <dgm:cxn modelId="{FD3FABDD-95AB-465C-9595-22FA893C61E6}" type="presOf" srcId="{BBC5A409-F691-400C-BADD-850F04582AA9}" destId="{C7204A46-1B23-472B-B107-B5D61E5676E6}" srcOrd="0" destOrd="0" presId="urn:microsoft.com/office/officeart/2009/3/layout/HorizontalOrganizationChart#1"/>
    <dgm:cxn modelId="{AFC22FF8-ADBD-4D58-A85C-9D2582347B0F}" type="presOf" srcId="{1925083A-D50D-4A6C-908A-8C66B98C85DB}" destId="{C4180422-5826-480A-BC16-A1C67FED9A5E}" srcOrd="1" destOrd="0" presId="urn:microsoft.com/office/officeart/2009/3/layout/HorizontalOrganizationChart#1"/>
    <dgm:cxn modelId="{BAC30CC5-6F76-4C59-A213-1B77C5C1758F}" type="presParOf" srcId="{C7204A46-1B23-472B-B107-B5D61E5676E6}" destId="{9F5BCED5-A6C3-4ADB-B08D-429B9E5DE19A}" srcOrd="0" destOrd="0" presId="urn:microsoft.com/office/officeart/2009/3/layout/HorizontalOrganizationChart#1"/>
    <dgm:cxn modelId="{40D7A34E-CF1A-41D9-8576-2BC80864AE54}" type="presParOf" srcId="{9F5BCED5-A6C3-4ADB-B08D-429B9E5DE19A}" destId="{8DEB12AF-61BC-4778-8FC7-2E310E5500F3}" srcOrd="0" destOrd="0" presId="urn:microsoft.com/office/officeart/2009/3/layout/HorizontalOrganizationChart#1"/>
    <dgm:cxn modelId="{46338BA2-FE87-4A31-9160-0A44C77C8091}" type="presParOf" srcId="{8DEB12AF-61BC-4778-8FC7-2E310E5500F3}" destId="{E3C43382-BB4F-4BBB-9868-2C6339B3D7C7}" srcOrd="0" destOrd="0" presId="urn:microsoft.com/office/officeart/2009/3/layout/HorizontalOrganizationChart#1"/>
    <dgm:cxn modelId="{EEC6742F-939F-4588-9DC9-8F6F7B5E8E7F}" type="presParOf" srcId="{8DEB12AF-61BC-4778-8FC7-2E310E5500F3}" destId="{C63E99A4-4F35-4483-9740-F29AC06A2D61}" srcOrd="1" destOrd="0" presId="urn:microsoft.com/office/officeart/2009/3/layout/HorizontalOrganizationChart#1"/>
    <dgm:cxn modelId="{364573A3-C91D-4B18-96ED-10204DF875AB}" type="presParOf" srcId="{9F5BCED5-A6C3-4ADB-B08D-429B9E5DE19A}" destId="{889377B2-B169-4FA7-8DF1-1652C27791FA}" srcOrd="1" destOrd="0" presId="urn:microsoft.com/office/officeart/2009/3/layout/HorizontalOrganizationChart#1"/>
    <dgm:cxn modelId="{D156D337-2FB0-41FA-9611-3CA798788B28}" type="presParOf" srcId="{889377B2-B169-4FA7-8DF1-1652C27791FA}" destId="{E1AD45F4-B082-4B94-8713-64EF95E5B234}" srcOrd="0" destOrd="0" presId="urn:microsoft.com/office/officeart/2009/3/layout/HorizontalOrganizationChart#1"/>
    <dgm:cxn modelId="{B72CFF9B-4AC4-4B9B-AEA0-4C5D4AFC0045}" type="presParOf" srcId="{889377B2-B169-4FA7-8DF1-1652C27791FA}" destId="{19E48FC5-C2A6-44F4-80A4-484C4A0C9418}" srcOrd="1" destOrd="0" presId="urn:microsoft.com/office/officeart/2009/3/layout/HorizontalOrganizationChart#1"/>
    <dgm:cxn modelId="{EA94F7B5-D9E7-44B9-9895-3F2560F366E6}" type="presParOf" srcId="{19E48FC5-C2A6-44F4-80A4-484C4A0C9418}" destId="{E0C76656-3540-4EBD-8519-FBE67AC70F0B}" srcOrd="0" destOrd="0" presId="urn:microsoft.com/office/officeart/2009/3/layout/HorizontalOrganizationChart#1"/>
    <dgm:cxn modelId="{BECB6295-A188-4065-9232-71A3708F7BFF}" type="presParOf" srcId="{E0C76656-3540-4EBD-8519-FBE67AC70F0B}" destId="{F13FFAF2-A9EF-477B-9BDD-2C21401EE653}" srcOrd="0" destOrd="0" presId="urn:microsoft.com/office/officeart/2009/3/layout/HorizontalOrganizationChart#1"/>
    <dgm:cxn modelId="{AE3C8AF5-B29A-4DAE-AE8C-3292FE877A53}" type="presParOf" srcId="{E0C76656-3540-4EBD-8519-FBE67AC70F0B}" destId="{6A01813A-BA91-42DA-8916-C2A4B877D11A}" srcOrd="1" destOrd="0" presId="urn:microsoft.com/office/officeart/2009/3/layout/HorizontalOrganizationChart#1"/>
    <dgm:cxn modelId="{336AA014-7156-4530-AAA1-B308AAC32FC1}" type="presParOf" srcId="{19E48FC5-C2A6-44F4-80A4-484C4A0C9418}" destId="{56DDA007-4715-46C7-BF98-A9974779566B}" srcOrd="1" destOrd="0" presId="urn:microsoft.com/office/officeart/2009/3/layout/HorizontalOrganizationChart#1"/>
    <dgm:cxn modelId="{06FCB003-2EAB-4A48-9321-EFF70A04E12E}" type="presParOf" srcId="{19E48FC5-C2A6-44F4-80A4-484C4A0C9418}" destId="{A1B807BE-496E-4FFA-A95F-EF09265A33C3}" srcOrd="2" destOrd="0" presId="urn:microsoft.com/office/officeart/2009/3/layout/HorizontalOrganizationChart#1"/>
    <dgm:cxn modelId="{96013853-DEC8-4670-A3DF-DB38C02A738B}" type="presParOf" srcId="{889377B2-B169-4FA7-8DF1-1652C27791FA}" destId="{C57B9BCB-4CD9-4E17-999C-F985B81E39A5}" srcOrd="2" destOrd="0" presId="urn:microsoft.com/office/officeart/2009/3/layout/HorizontalOrganizationChart#1"/>
    <dgm:cxn modelId="{5EB24A57-1200-4AAC-8B91-EDF49168DDFE}" type="presParOf" srcId="{889377B2-B169-4FA7-8DF1-1652C27791FA}" destId="{7346A542-32EC-4708-BBAE-444A119197CA}" srcOrd="3" destOrd="0" presId="urn:microsoft.com/office/officeart/2009/3/layout/HorizontalOrganizationChart#1"/>
    <dgm:cxn modelId="{8164582D-BB54-4A41-B03F-F7099CED51F4}" type="presParOf" srcId="{7346A542-32EC-4708-BBAE-444A119197CA}" destId="{7DA840A1-1286-4331-B76D-0F8F900145E6}" srcOrd="0" destOrd="0" presId="urn:microsoft.com/office/officeart/2009/3/layout/HorizontalOrganizationChart#1"/>
    <dgm:cxn modelId="{66E30684-C26E-49D5-971F-C145CDA7A82D}" type="presParOf" srcId="{7DA840A1-1286-4331-B76D-0F8F900145E6}" destId="{CE3B2AFE-2806-484F-BF6E-4C76C7B398AD}" srcOrd="0" destOrd="0" presId="urn:microsoft.com/office/officeart/2009/3/layout/HorizontalOrganizationChart#1"/>
    <dgm:cxn modelId="{F6CD3DBB-A9FE-48A3-9FC5-06DF2AA1CF96}" type="presParOf" srcId="{7DA840A1-1286-4331-B76D-0F8F900145E6}" destId="{C4180422-5826-480A-BC16-A1C67FED9A5E}" srcOrd="1" destOrd="0" presId="urn:microsoft.com/office/officeart/2009/3/layout/HorizontalOrganizationChart#1"/>
    <dgm:cxn modelId="{5D9BB3EE-7E4D-4206-B34F-0C5D634EB431}" type="presParOf" srcId="{7346A542-32EC-4708-BBAE-444A119197CA}" destId="{2EF38F70-DCDF-4277-9B4C-FB40826015C3}" srcOrd="1" destOrd="0" presId="urn:microsoft.com/office/officeart/2009/3/layout/HorizontalOrganizationChart#1"/>
    <dgm:cxn modelId="{5CDE77BD-1A0F-49FD-AB57-F6C291F0986D}" type="presParOf" srcId="{7346A542-32EC-4708-BBAE-444A119197CA}" destId="{C6E8D0D1-91DA-484F-8783-CC78D94C74C2}" srcOrd="2" destOrd="0" presId="urn:microsoft.com/office/officeart/2009/3/layout/HorizontalOrganizationChart#1"/>
    <dgm:cxn modelId="{04C2BD86-03DF-4EE4-B774-076F6F4A6656}" type="presParOf" srcId="{889377B2-B169-4FA7-8DF1-1652C27791FA}" destId="{33D14D47-4D1C-40DC-AF46-EF29F1A04FD2}" srcOrd="4" destOrd="0" presId="urn:microsoft.com/office/officeart/2009/3/layout/HorizontalOrganizationChart#1"/>
    <dgm:cxn modelId="{4D3D700D-EDA6-4623-B7AC-566E38357528}" type="presParOf" srcId="{889377B2-B169-4FA7-8DF1-1652C27791FA}" destId="{0FDDFA71-5172-4D84-B817-F7371B054169}" srcOrd="5" destOrd="0" presId="urn:microsoft.com/office/officeart/2009/3/layout/HorizontalOrganizationChart#1"/>
    <dgm:cxn modelId="{6111B710-765F-4D63-8E17-17568521DA33}" type="presParOf" srcId="{0FDDFA71-5172-4D84-B817-F7371B054169}" destId="{45379C35-C9CD-4D44-BAE2-A2AE0B2BDAFF}" srcOrd="0" destOrd="0" presId="urn:microsoft.com/office/officeart/2009/3/layout/HorizontalOrganizationChart#1"/>
    <dgm:cxn modelId="{85022168-762D-4645-8E32-635B97725A76}" type="presParOf" srcId="{45379C35-C9CD-4D44-BAE2-A2AE0B2BDAFF}" destId="{B43093EE-E1A0-430B-A19A-5ECE53279BF3}" srcOrd="0" destOrd="0" presId="urn:microsoft.com/office/officeart/2009/3/layout/HorizontalOrganizationChart#1"/>
    <dgm:cxn modelId="{BE4F008C-8EB1-4032-8DE9-7FDC6D9548ED}" type="presParOf" srcId="{45379C35-C9CD-4D44-BAE2-A2AE0B2BDAFF}" destId="{72481259-BAED-4577-A381-B91B533BAA63}" srcOrd="1" destOrd="0" presId="urn:microsoft.com/office/officeart/2009/3/layout/HorizontalOrganizationChart#1"/>
    <dgm:cxn modelId="{E1C69B5D-7AC2-4026-9CDC-E4B6612AF751}" type="presParOf" srcId="{0FDDFA71-5172-4D84-B817-F7371B054169}" destId="{C8300E42-CDD3-4BF0-8A9C-8E27944070E7}" srcOrd="1" destOrd="0" presId="urn:microsoft.com/office/officeart/2009/3/layout/HorizontalOrganizationChart#1"/>
    <dgm:cxn modelId="{82B483D2-11BA-4E57-B010-59EC84F47BF8}" type="presParOf" srcId="{0FDDFA71-5172-4D84-B817-F7371B054169}" destId="{D318391D-CBE3-453C-A5AA-CF8C86443849}" srcOrd="2" destOrd="0" presId="urn:microsoft.com/office/officeart/2009/3/layout/HorizontalOrganizationChart#1"/>
    <dgm:cxn modelId="{B16EFB17-78AE-4505-A297-7B9BADF33D88}" type="presParOf" srcId="{9F5BCED5-A6C3-4ADB-B08D-429B9E5DE19A}" destId="{43C23DBC-C767-4C06-BD21-160DE614752E}" srcOrd="2" destOrd="0" presId="urn:microsoft.com/office/officeart/2009/3/layout/HorizontalOrganization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C3AAB-96C0-47EC-8D4E-94948FCC0C5F}">
      <dsp:nvSpPr>
        <dsp:cNvPr id="0" name=""/>
        <dsp:cNvSpPr/>
      </dsp:nvSpPr>
      <dsp:spPr>
        <a:xfrm>
          <a:off x="26" y="1123616"/>
          <a:ext cx="1695626" cy="84781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处理手段</a:t>
          </a:r>
        </a:p>
      </dsp:txBody>
      <dsp:txXfrm>
        <a:off x="24858" y="1148448"/>
        <a:ext cx="1645962" cy="798149"/>
      </dsp:txXfrm>
    </dsp:sp>
    <dsp:sp modelId="{8C88E677-F9F5-4434-899F-EA8C3EA782A4}">
      <dsp:nvSpPr>
        <dsp:cNvPr id="0" name=""/>
        <dsp:cNvSpPr/>
      </dsp:nvSpPr>
      <dsp:spPr>
        <a:xfrm rot="3553617">
          <a:off x="1376326" y="2084678"/>
          <a:ext cx="1307746" cy="49306"/>
        </a:xfrm>
        <a:custGeom>
          <a:avLst/>
          <a:gdLst/>
          <a:ahLst/>
          <a:cxnLst/>
          <a:rect l="0" t="0" r="0" b="0"/>
          <a:pathLst>
            <a:path>
              <a:moveTo>
                <a:pt x="0" y="24653"/>
              </a:moveTo>
              <a:lnTo>
                <a:pt x="1307746" y="2465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97506" y="2076638"/>
        <a:ext cx="65387" cy="65387"/>
      </dsp:txXfrm>
    </dsp:sp>
    <dsp:sp modelId="{AB4D4B8B-2798-490E-86B2-054A810D7F5F}">
      <dsp:nvSpPr>
        <dsp:cNvPr id="0" name=""/>
        <dsp:cNvSpPr/>
      </dsp:nvSpPr>
      <dsp:spPr>
        <a:xfrm>
          <a:off x="2364746" y="2247233"/>
          <a:ext cx="1695626" cy="84781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对结果强制类型转化</a:t>
          </a:r>
        </a:p>
      </dsp:txBody>
      <dsp:txXfrm>
        <a:off x="2389578" y="2272065"/>
        <a:ext cx="1645962" cy="798149"/>
      </dsp:txXfrm>
    </dsp:sp>
    <dsp:sp modelId="{821E6630-276D-4288-962C-9D84F0E08BAB}">
      <dsp:nvSpPr>
        <dsp:cNvPr id="0" name=""/>
        <dsp:cNvSpPr/>
      </dsp:nvSpPr>
      <dsp:spPr>
        <a:xfrm rot="18275209">
          <a:off x="1437575" y="1031443"/>
          <a:ext cx="1193844" cy="49306"/>
        </a:xfrm>
        <a:custGeom>
          <a:avLst/>
          <a:gdLst/>
          <a:ahLst/>
          <a:cxnLst/>
          <a:rect l="0" t="0" r="0" b="0"/>
          <a:pathLst>
            <a:path>
              <a:moveTo>
                <a:pt x="0" y="24653"/>
              </a:moveTo>
              <a:lnTo>
                <a:pt x="1193844" y="2465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004652" y="1026250"/>
        <a:ext cx="59692" cy="59692"/>
      </dsp:txXfrm>
    </dsp:sp>
    <dsp:sp modelId="{1DB386E3-AFAB-4ADE-9908-710AD49FC7B1}">
      <dsp:nvSpPr>
        <dsp:cNvPr id="0" name=""/>
        <dsp:cNvSpPr/>
      </dsp:nvSpPr>
      <dsp:spPr>
        <a:xfrm>
          <a:off x="2373343" y="140764"/>
          <a:ext cx="1695626" cy="84781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改用类型</a:t>
          </a:r>
        </a:p>
      </dsp:txBody>
      <dsp:txXfrm>
        <a:off x="2398175" y="165596"/>
        <a:ext cx="1645962" cy="7981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14D47-4D1C-40DC-AF46-EF29F1A04FD2}">
      <dsp:nvSpPr>
        <dsp:cNvPr id="0" name=""/>
        <dsp:cNvSpPr/>
      </dsp:nvSpPr>
      <dsp:spPr>
        <a:xfrm>
          <a:off x="2771179" y="2032000"/>
          <a:ext cx="553640" cy="1190327"/>
        </a:xfrm>
        <a:custGeom>
          <a:avLst/>
          <a:gdLst/>
          <a:ahLst/>
          <a:cxnLst/>
          <a:rect l="0" t="0" r="0" b="0"/>
          <a:pathLst>
            <a:path>
              <a:moveTo>
                <a:pt x="0" y="0"/>
              </a:moveTo>
              <a:lnTo>
                <a:pt x="276820" y="0"/>
              </a:lnTo>
              <a:lnTo>
                <a:pt x="276820" y="1190327"/>
              </a:lnTo>
              <a:lnTo>
                <a:pt x="553640" y="119032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7B9BCB-4CD9-4E17-999C-F985B81E39A5}">
      <dsp:nvSpPr>
        <dsp:cNvPr id="0" name=""/>
        <dsp:cNvSpPr/>
      </dsp:nvSpPr>
      <dsp:spPr>
        <a:xfrm>
          <a:off x="2771179" y="1986280"/>
          <a:ext cx="553640" cy="91440"/>
        </a:xfrm>
        <a:custGeom>
          <a:avLst/>
          <a:gdLst/>
          <a:ahLst/>
          <a:cxnLst/>
          <a:rect l="0" t="0" r="0" b="0"/>
          <a:pathLst>
            <a:path>
              <a:moveTo>
                <a:pt x="0" y="45720"/>
              </a:moveTo>
              <a:lnTo>
                <a:pt x="553640" y="4572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AD45F4-B082-4B94-8713-64EF95E5B234}">
      <dsp:nvSpPr>
        <dsp:cNvPr id="0" name=""/>
        <dsp:cNvSpPr/>
      </dsp:nvSpPr>
      <dsp:spPr>
        <a:xfrm>
          <a:off x="2771179" y="841672"/>
          <a:ext cx="553640" cy="1190327"/>
        </a:xfrm>
        <a:custGeom>
          <a:avLst/>
          <a:gdLst/>
          <a:ahLst/>
          <a:cxnLst/>
          <a:rect l="0" t="0" r="0" b="0"/>
          <a:pathLst>
            <a:path>
              <a:moveTo>
                <a:pt x="0" y="1190327"/>
              </a:moveTo>
              <a:lnTo>
                <a:pt x="276820" y="1190327"/>
              </a:lnTo>
              <a:lnTo>
                <a:pt x="276820" y="0"/>
              </a:lnTo>
              <a:lnTo>
                <a:pt x="553640"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C43382-BB4F-4BBB-9868-2C6339B3D7C7}">
      <dsp:nvSpPr>
        <dsp:cNvPr id="0" name=""/>
        <dsp:cNvSpPr/>
      </dsp:nvSpPr>
      <dsp:spPr>
        <a:xfrm>
          <a:off x="2976" y="1609849"/>
          <a:ext cx="2768203" cy="84430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zh-CN" altLang="en-US" sz="3900" kern="1200" dirty="0"/>
            <a:t>流程控制</a:t>
          </a:r>
        </a:p>
      </dsp:txBody>
      <dsp:txXfrm>
        <a:off x="2976" y="1609849"/>
        <a:ext cx="2768203" cy="844301"/>
      </dsp:txXfrm>
    </dsp:sp>
    <dsp:sp modelId="{F13FFAF2-A9EF-477B-9BDD-2C21401EE653}">
      <dsp:nvSpPr>
        <dsp:cNvPr id="0" name=""/>
        <dsp:cNvSpPr/>
      </dsp:nvSpPr>
      <dsp:spPr>
        <a:xfrm>
          <a:off x="3324820" y="419521"/>
          <a:ext cx="2768203" cy="84430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zh-CN" altLang="en-US" sz="3900" kern="1200" dirty="0"/>
            <a:t>顺序结构</a:t>
          </a:r>
        </a:p>
      </dsp:txBody>
      <dsp:txXfrm>
        <a:off x="3324820" y="419521"/>
        <a:ext cx="2768203" cy="844301"/>
      </dsp:txXfrm>
    </dsp:sp>
    <dsp:sp modelId="{CE3B2AFE-2806-484F-BF6E-4C76C7B398AD}">
      <dsp:nvSpPr>
        <dsp:cNvPr id="0" name=""/>
        <dsp:cNvSpPr/>
      </dsp:nvSpPr>
      <dsp:spPr>
        <a:xfrm>
          <a:off x="3324820" y="1609849"/>
          <a:ext cx="2768203" cy="84430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zh-CN" altLang="en-US" sz="3900" kern="1200" dirty="0"/>
            <a:t>分支结构</a:t>
          </a:r>
        </a:p>
      </dsp:txBody>
      <dsp:txXfrm>
        <a:off x="3324820" y="1609849"/>
        <a:ext cx="2768203" cy="844301"/>
      </dsp:txXfrm>
    </dsp:sp>
    <dsp:sp modelId="{B43093EE-E1A0-430B-A19A-5ECE53279BF3}">
      <dsp:nvSpPr>
        <dsp:cNvPr id="0" name=""/>
        <dsp:cNvSpPr/>
      </dsp:nvSpPr>
      <dsp:spPr>
        <a:xfrm>
          <a:off x="3324820" y="2800176"/>
          <a:ext cx="2768203" cy="84430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zh-CN" altLang="en-US" sz="3900" kern="1200" dirty="0"/>
            <a:t>循环结构</a:t>
          </a:r>
        </a:p>
      </dsp:txBody>
      <dsp:txXfrm>
        <a:off x="3324820" y="2800176"/>
        <a:ext cx="2768203" cy="84430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1">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linDir" val="fromL"/>
                      <dgm:param type="chAlign" val="t"/>
                    </dgm:alg>
                  </dgm:if>
                  <dgm:else name="Name31">
                    <dgm:alg type="hierChild">
                      <dgm:param type="linDir" val="fromR"/>
                      <dgm:param type="chAlign" val="t"/>
                    </dgm:alg>
                  </dgm:else>
                </dgm:choose>
              </dgm:if>
              <dgm:if name="Name32" func="var" arg="hierBranch" op="equ" val="r">
                <dgm:choose name="Name33">
                  <dgm:if name="Name34" func="var" arg="dir" op="equ" val="norm">
                    <dgm:alg type="hierChild">
                      <dgm:param type="linDir" val="fromL"/>
                      <dgm:param type="chAlign" val="b"/>
                    </dgm:alg>
                  </dgm:if>
                  <dgm:else name="Name35">
                    <dgm:alg type="hierChild">
                      <dgm:param type="linDir" val="fromR"/>
                      <dgm:param type="chAlign" val="b"/>
                    </dgm:alg>
                  </dgm:else>
                </dgm:choose>
              </dgm:if>
              <dgm:if name="Name36" func="var" arg="hierBranch" op="equ" val="hang">
                <dgm:choose name="Name37">
                  <dgm:if name="Name38" func="var" arg="dir" op="equ" val="norm">
                    <dgm:alg type="hierChild">
                      <dgm:param type="linDir" val="fromT"/>
                      <dgm:param type="chAlign" val="l"/>
                      <dgm:param type="secLinDir" val="fromL"/>
                      <dgm:param type="secChAlign" val="t"/>
                    </dgm:alg>
                  </dgm:if>
                  <dgm:else name="Name39">
                    <dgm:alg type="hierChild">
                      <dgm:param type="linDir" val="fromT"/>
                      <dgm:param type="chAlign" val="r"/>
                      <dgm:param type="secLinDir" val="fromR"/>
                      <dgm:param type="secChAlign" val="t"/>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dim" val="1D"/>
                            <dgm:param type="endSty" val="noArr"/>
                            <dgm:param type="connRout" val="bend"/>
                            <dgm:param type="begPts" val="midR"/>
                            <dgm:param type="endPts" val="bCtr tCtr"/>
                          </dgm:alg>
                        </dgm:if>
                        <dgm:else name="Name50">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dim" val="1D"/>
                            <dgm:param type="endSty" val="noArr"/>
                            <dgm:param type="connRout" val="bend"/>
                            <dgm:param type="begPts" val="midR"/>
                            <dgm:param type="endPts" val="tCtr"/>
                          </dgm:alg>
                        </dgm:if>
                        <dgm:else name="Name55">
                          <dgm:alg type="conn">
                            <dgm:param type="dim" val="1D"/>
                            <dgm:param type="endSty" val="noArr"/>
                            <dgm:param type="connRout" val="bend"/>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dim" val="1D"/>
                            <dgm:param type="endSty" val="noArr"/>
                            <dgm:param type="connRout" val="bend"/>
                            <dgm:param type="begPts" val="midR"/>
                            <dgm:param type="endPts" val="bCtr"/>
                          </dgm:alg>
                        </dgm:if>
                        <dgm:else name="Name60">
                          <dgm:alg type="conn">
                            <dgm:param type="dim" val="1D"/>
                            <dgm:param type="endSty" val="noArr"/>
                            <dgm:param type="connRout" val="bend"/>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dim" val="1D"/>
                            <dgm:param type="endSty" val="noArr"/>
                            <dgm:param type="connRout" val="bend"/>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dim" val="1D"/>
                            <dgm:param type="endSty" val="noArr"/>
                            <dgm:param type="connRout" val="bend"/>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linDir" val="fromL"/>
                            <dgm:param type="chAlign" val="t"/>
                          </dgm:alg>
                        </dgm:if>
                        <dgm:else name="Name93">
                          <dgm:alg type="hierChild">
                            <dgm:param type="linDir" val="fromR"/>
                            <dgm:param type="chAlign" val="t"/>
                          </dgm:alg>
                        </dgm:else>
                      </dgm:choose>
                    </dgm:if>
                    <dgm:if name="Name94" func="var" arg="hierBranch" op="equ" val="r">
                      <dgm:choose name="Name95">
                        <dgm:if name="Name96" func="var" arg="dir" op="equ" val="norm">
                          <dgm:alg type="hierChild">
                            <dgm:param type="linDir" val="fromL"/>
                            <dgm:param type="chAlign" val="b"/>
                          </dgm:alg>
                        </dgm:if>
                        <dgm:else name="Name97">
                          <dgm:alg type="hierChild">
                            <dgm:param type="linDir" val="fromR"/>
                            <dgm:param type="chAlign" val="b"/>
                          </dgm:alg>
                        </dgm:else>
                      </dgm:choose>
                    </dgm:if>
                    <dgm:if name="Name98" func="var" arg="hierBranch" op="equ" val="hang">
                      <dgm:choose name="Name99">
                        <dgm:if name="Name100" func="var" arg="dir" op="equ" val="norm">
                          <dgm:alg type="hierChild">
                            <dgm:param type="linDir" val="fromT"/>
                            <dgm:param type="chAlign" val="l"/>
                            <dgm:param type="secLinDir" val="fromL"/>
                            <dgm:param type="secChAlign" val="t"/>
                          </dgm:alg>
                        </dgm:if>
                        <dgm:else name="Name101">
                          <dgm:alg type="hierChild">
                            <dgm:param type="linDir" val="fromT"/>
                            <dgm:param type="chAlign" val="r"/>
                            <dgm:param type="secLinDir" val="fromR"/>
                            <dgm:param type="secChAlign" val="t"/>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linDir" val="fromT"/>
                        <dgm:param type="chAlign" val="l"/>
                        <dgm:param type="secLinDir" val="fromL"/>
                        <dgm:param type="secChAlign" val="t"/>
                      </dgm:alg>
                    </dgm:if>
                    <dgm:else name="Name109">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linDir" val="fromT"/>
                  <dgm:param type="chAlign" val="l"/>
                  <dgm:param type="secLinDir" val="fromL"/>
                  <dgm:param type="secChAlign" val="t"/>
                </dgm:alg>
              </dgm:if>
              <dgm:else name="Name113">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dim" val="1D"/>
                        <dgm:param type="endSty" val="noArr"/>
                        <dgm:param type="connRout" val="bend"/>
                        <dgm:param type="begPts" val="midR"/>
                        <dgm:param type="endPts" val="bCtr tCtr"/>
                      </dgm:alg>
                    </dgm:if>
                    <dgm:else name="Name118">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linDir" val="fromL"/>
                            <dgm:param type="chAlign" val="t"/>
                          </dgm:alg>
                        </dgm:if>
                        <dgm:else name="Name145">
                          <dgm:alg type="hierChild">
                            <dgm:param type="linDir" val="fromR"/>
                            <dgm:param type="chAlign" val="t"/>
                          </dgm:alg>
                        </dgm:else>
                      </dgm:choose>
                    </dgm:if>
                    <dgm:if name="Name146" func="var" arg="hierBranch" op="equ" val="r">
                      <dgm:choose name="Name147">
                        <dgm:if name="Name148" func="var" arg="dir" op="equ" val="norm">
                          <dgm:alg type="hierChild">
                            <dgm:param type="linDir" val="fromL"/>
                            <dgm:param type="chAlign" val="b"/>
                          </dgm:alg>
                        </dgm:if>
                        <dgm:else name="Name149">
                          <dgm:alg type="hierChild">
                            <dgm:param type="linDir" val="fromR"/>
                            <dgm:param type="chAlign" val="b"/>
                          </dgm:alg>
                        </dgm:else>
                      </dgm:choose>
                    </dgm:if>
                    <dgm:if name="Name150" func="var" arg="hierBranch" op="equ" val="hang">
                      <dgm:choose name="Name151">
                        <dgm:if name="Name152" func="var" arg="dir" op="equ" val="norm">
                          <dgm:alg type="hierChild">
                            <dgm:param type="linDir" val="fromT"/>
                            <dgm:param type="chAlign" val="l"/>
                            <dgm:param type="secLinDir" val="fromL"/>
                            <dgm:param type="secChAlign" val="t"/>
                          </dgm:alg>
                        </dgm:if>
                        <dgm:else name="Name153">
                          <dgm:alg type="hierChild">
                            <dgm:param type="linDir" val="fromT"/>
                            <dgm:param type="chAlign" val="r"/>
                            <dgm:param type="secLinDir" val="fromR"/>
                            <dgm:param type="secChAlign" val="t"/>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linDir" val="fromT"/>
                        <dgm:param type="chAlign" val="l"/>
                        <dgm:param type="secLinDir" val="fromL"/>
                        <dgm:param type="secChAlign" val="t"/>
                      </dgm:alg>
                    </dgm:if>
                    <dgm:else name="Name161">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6A2370C-33AB-4131-AB95-C993B024DF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CBEE80AD-75E8-4BCA-A93F-D975E048D6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EABDB4-C533-42F4-B5C1-A38B9C9BE894}" type="datetimeFigureOut">
              <a:rPr lang="zh-CN" altLang="en-US" smtClean="0"/>
              <a:t>2023/12/23</a:t>
            </a:fld>
            <a:endParaRPr lang="zh-CN" altLang="en-US"/>
          </a:p>
        </p:txBody>
      </p:sp>
      <p:sp>
        <p:nvSpPr>
          <p:cNvPr id="4" name="页脚占位符 3">
            <a:extLst>
              <a:ext uri="{FF2B5EF4-FFF2-40B4-BE49-F238E27FC236}">
                <a16:creationId xmlns:a16="http://schemas.microsoft.com/office/drawing/2014/main" id="{ADB09733-B7C0-47B1-BEB3-1836B29B4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FC39729-DC72-499E-997E-96B6EAB19E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C1D4FD-1186-4357-BAE0-2CF1E9F45047}" type="slidenum">
              <a:rPr lang="zh-CN" altLang="en-US" smtClean="0"/>
              <a:t>‹#›</a:t>
            </a:fld>
            <a:endParaRPr lang="zh-CN" altLang="en-US"/>
          </a:p>
        </p:txBody>
      </p:sp>
    </p:spTree>
    <p:extLst>
      <p:ext uri="{BB962C8B-B14F-4D97-AF65-F5344CB8AC3E}">
        <p14:creationId xmlns:p14="http://schemas.microsoft.com/office/powerpoint/2010/main" val="376708604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22T18:11:49.173"/>
    </inkml:context>
    <inkml:brush xml:id="br0">
      <inkml:brushProperty name="width" value="0.09701" units="cm"/>
      <inkml:brushProperty name="height" value="0.09701" units="cm"/>
      <inkml:brushProperty name="color" value="#FF0000"/>
    </inkml:brush>
  </inkml:definitions>
  <inkml:trace contextRef="#ctx0" brushRef="#br0">799 612,'24'0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42E42E-427E-4D02-B97D-CC450AAE6317}" type="datetimeFigureOut">
              <a:rPr lang="zh-CN" altLang="en-US" smtClean="0"/>
              <a:t>2023/12/23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C21447-1247-475F-81A9-0FC4ADD9F32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4047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87317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23628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scanf</a:t>
            </a:r>
            <a:r>
              <a:rPr lang="zh-CN" altLang="en-US" dirty="0"/>
              <a:t>（）函数的格式化字符串包含普通字符和转换说明，转换说明定义了如何解释以及转换读入的字符序列。</a:t>
            </a:r>
            <a:endParaRPr lang="en-US" altLang="zh-CN" dirty="0"/>
          </a:p>
          <a:p>
            <a:r>
              <a:rPr lang="en-US" altLang="zh-CN" dirty="0" err="1"/>
              <a:t>printf</a:t>
            </a:r>
            <a:r>
              <a:rPr lang="zh-CN" altLang="en-US" dirty="0"/>
              <a:t>（）类似</a:t>
            </a:r>
            <a:r>
              <a:rPr lang="en-US" altLang="zh-CN"/>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scanf</a:t>
            </a:r>
            <a:r>
              <a:rPr lang="zh-CN" altLang="en-US" dirty="0"/>
              <a:t>（“</a:t>
            </a:r>
            <a:r>
              <a:rPr lang="en-US" altLang="zh-CN" dirty="0"/>
              <a:t>%c</a:t>
            </a:r>
            <a:r>
              <a:rPr lang="zh-CN" altLang="en-US" dirty="0"/>
              <a:t>”）也会受到前面的</a:t>
            </a:r>
            <a:r>
              <a:rPr lang="en-US" altLang="zh-CN" dirty="0"/>
              <a:t>scanf()</a:t>
            </a:r>
            <a:r>
              <a:rPr lang="zh-CN" altLang="en-US" dirty="0"/>
              <a:t>影响</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2788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53887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C21447-1247-475F-81A9-0FC4ADD9F326}" type="slidenum">
              <a:rPr lang="zh-CN" altLang="en-US" smtClean="0"/>
              <a:t>55</a:t>
            </a:fld>
            <a:endParaRPr lang="zh-CN" altLang="en-US"/>
          </a:p>
        </p:txBody>
      </p:sp>
    </p:spTree>
    <p:extLst>
      <p:ext uri="{BB962C8B-B14F-4D97-AF65-F5344CB8AC3E}">
        <p14:creationId xmlns:p14="http://schemas.microsoft.com/office/powerpoint/2010/main" val="4152971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变量是什么？</a:t>
            </a:r>
            <a:r>
              <a:rPr kumimoji="1" lang="en-US" altLang="zh-CN" dirty="0"/>
              <a:t>——</a:t>
            </a:r>
            <a:r>
              <a:rPr kumimoji="1" lang="zh-CN" altLang="en-US" dirty="0"/>
              <a:t>变量是一段内存</a:t>
            </a:r>
            <a:endParaRPr kumimoji="1" lang="en-US" altLang="zh-CN" dirty="0"/>
          </a:p>
          <a:p>
            <a:r>
              <a:rPr kumimoji="1" lang="zh-CN" altLang="en-US" dirty="0"/>
              <a:t>指针是什么？</a:t>
            </a:r>
            <a:r>
              <a:rPr kumimoji="1" lang="en-US" altLang="zh-CN" dirty="0"/>
              <a:t>——</a:t>
            </a:r>
            <a:r>
              <a:rPr kumimoji="1" lang="zh-CN" altLang="en-US" dirty="0"/>
              <a:t>存地址的变量</a:t>
            </a:r>
            <a:endParaRPr kumimoji="1" lang="en-US" altLang="zh-CN" dirty="0"/>
          </a:p>
          <a:p>
            <a:r>
              <a:rPr kumimoji="1" lang="zh-CN" altLang="en-US" dirty="0"/>
              <a:t>存的是什么地址？</a:t>
            </a:r>
            <a:r>
              <a:rPr kumimoji="1" lang="en-US" altLang="zh-CN" dirty="0"/>
              <a:t>——</a:t>
            </a:r>
            <a:r>
              <a:rPr kumimoji="1" lang="zh-CN" altLang="en-US" dirty="0"/>
              <a:t>指向变量的首地址</a:t>
            </a:r>
            <a:endParaRPr kumimoji="1" lang="en-US" altLang="zh-CN" dirty="0"/>
          </a:p>
          <a:p>
            <a:r>
              <a:rPr kumimoji="1" lang="zh-CN" altLang="en-US" dirty="0"/>
              <a:t>变量如何被指针指向？</a:t>
            </a:r>
            <a:r>
              <a:rPr kumimoji="1" lang="en-US" altLang="zh-CN" dirty="0"/>
              <a:t>——</a:t>
            </a:r>
            <a:r>
              <a:rPr kumimoji="1" lang="zh-CN" altLang="en-US" dirty="0"/>
              <a:t>当一个指针变量存储了一个变量的首地址后，我们就说该指针指向了该变量</a:t>
            </a:r>
            <a:endParaRPr kumimoji="1" lang="en-US" altLang="zh-CN" dirty="0"/>
          </a:p>
          <a:p>
            <a:r>
              <a:rPr kumimoji="1" lang="zh-CN" altLang="en-US" dirty="0"/>
              <a:t>如何得到变量的地址？</a:t>
            </a:r>
            <a:r>
              <a:rPr kumimoji="1" lang="en-US" altLang="zh-CN" dirty="0"/>
              <a:t>——</a:t>
            </a:r>
            <a:r>
              <a:rPr kumimoji="1" lang="zh-CN" altLang="en-US" dirty="0"/>
              <a:t>采用</a:t>
            </a:r>
            <a:r>
              <a:rPr kumimoji="1" lang="en-US" altLang="zh-CN" dirty="0"/>
              <a:t>&amp;</a:t>
            </a:r>
            <a:r>
              <a:rPr kumimoji="1" lang="zh-CN" altLang="en-US" dirty="0"/>
              <a:t>运算符</a:t>
            </a:r>
            <a:endParaRPr kumimoji="1" lang="en-US" altLang="zh-CN" dirty="0"/>
          </a:p>
          <a:p>
            <a:r>
              <a:rPr kumimoji="1" lang="zh-CN" altLang="en-US" dirty="0"/>
              <a:t>如何访问指向的变量？</a:t>
            </a:r>
            <a:r>
              <a:rPr kumimoji="1" lang="en-US" altLang="zh-CN" dirty="0"/>
              <a:t>——</a:t>
            </a:r>
            <a:r>
              <a:rPr kumimoji="1" lang="zh-CN" altLang="en-US" dirty="0"/>
              <a:t>采用</a:t>
            </a:r>
            <a:r>
              <a:rPr kumimoji="1" lang="en-US" altLang="zh-CN" dirty="0"/>
              <a:t>*</a:t>
            </a:r>
            <a:r>
              <a:rPr kumimoji="1" lang="zh-CN" altLang="en-US" dirty="0"/>
              <a:t>运算符，以从指针存储的值作为首地址，然后访问所指向对象类型字节数的内存</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指针既然是存储地址的变量，那应该和整型变量差不多吧，应该可以做和整型变量一样的事情，就像</a:t>
            </a:r>
            <a:r>
              <a:rPr kumimoji="1" lang="en-US" altLang="zh-CN" dirty="0"/>
              <a:t>char</a:t>
            </a:r>
            <a:r>
              <a:rPr kumimoji="1" lang="zh-CN" altLang="en-US" dirty="0"/>
              <a:t>类型一样？</a:t>
            </a:r>
            <a:endParaRPr kumimoji="1" lang="en-US" altLang="zh-CN" dirty="0"/>
          </a:p>
          <a:p>
            <a:r>
              <a:rPr kumimoji="1" lang="en-US" altLang="zh-CN" dirty="0"/>
              <a:t>——</a:t>
            </a:r>
            <a:r>
              <a:rPr kumimoji="1" lang="zh-CN" altLang="en-US" dirty="0"/>
              <a:t>不，指针和整型变量还是有差别的，指针并不能自动转化为整型变量进行加减，这也就说明，有些加减操作指针并不具备。</a:t>
            </a:r>
            <a:endParaRPr kumimoji="1" lang="en-US" altLang="zh-CN" dirty="0"/>
          </a:p>
          <a:p>
            <a:r>
              <a:rPr kumimoji="1" lang="zh-CN" altLang="en-US" dirty="0"/>
              <a:t>那么指针可以进行什么操作呢？</a:t>
            </a:r>
            <a:endParaRPr kumimoji="1" lang="en-US" altLang="zh-CN" dirty="0"/>
          </a:p>
          <a:p>
            <a:r>
              <a:rPr kumimoji="1" lang="en-US" altLang="zh-CN" dirty="0"/>
              <a:t>——</a:t>
            </a:r>
            <a:r>
              <a:rPr kumimoji="1" lang="zh-CN" altLang="en-US" dirty="0"/>
              <a:t>在同一个数组内可以通过指针减法运算得到这两个指针指向的变量之间差了多少个，并不是单纯的地址相减</a:t>
            </a:r>
            <a:r>
              <a:rPr kumimoji="1" lang="en-US" altLang="zh-CN" dirty="0"/>
              <a:t>(</a:t>
            </a:r>
            <a:r>
              <a:rPr kumimoji="1" lang="zh-CN" altLang="en-US" dirty="0"/>
              <a:t>相当于地址相减</a:t>
            </a:r>
            <a:r>
              <a:rPr kumimoji="1" lang="en-US" altLang="zh-CN" dirty="0"/>
              <a:t>/</a:t>
            </a:r>
            <a:r>
              <a:rPr kumimoji="1" lang="zh-CN" altLang="en-US" dirty="0"/>
              <a:t>变量所占字节数</a:t>
            </a:r>
            <a:r>
              <a:rPr kumimoji="1" lang="en-US" altLang="zh-CN" dirty="0"/>
              <a:t>)</a:t>
            </a:r>
          </a:p>
          <a:p>
            <a:r>
              <a:rPr kumimoji="1" lang="en-US" altLang="zh-CN" dirty="0"/>
              <a:t>——</a:t>
            </a:r>
            <a:r>
              <a:rPr kumimoji="1" lang="zh-CN" altLang="en-US" dirty="0"/>
              <a:t>需要注意的是，对不同数组进行指针减法运算并不会报错，但没有意义</a:t>
            </a:r>
            <a:endParaRPr kumimoji="1" lang="en-US" altLang="zh-CN" dirty="0"/>
          </a:p>
          <a:p>
            <a:r>
              <a:rPr kumimoji="1" lang="en-US" altLang="zh-CN" dirty="0"/>
              <a:t>——</a:t>
            </a:r>
            <a:r>
              <a:rPr kumimoji="1" lang="zh-CN" altLang="en-US" dirty="0"/>
              <a:t>而两个指针的加法、乘法、和除法在标准库中并没有被定义</a:t>
            </a:r>
            <a:endParaRPr kumimoji="1" lang="en-US" altLang="zh-CN" dirty="0"/>
          </a:p>
          <a:p>
            <a:r>
              <a:rPr kumimoji="1" lang="en-US" altLang="zh-CN" dirty="0"/>
              <a:t>——</a:t>
            </a:r>
            <a:r>
              <a:rPr kumimoji="1" lang="zh-CN" altLang="en-US" dirty="0"/>
              <a:t>指针也可以和常数进行加减，相当于移动多少个该变量所占字节数</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84117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char</a:t>
            </a:r>
            <a:r>
              <a:rPr lang="zh-CN" altLang="en-US" dirty="0"/>
              <a:t>字符串变量初始化既可以像初始化数组一样用</a:t>
            </a:r>
            <a:r>
              <a:rPr lang="en-US" altLang="zh-CN" dirty="0"/>
              <a:t>{}</a:t>
            </a:r>
            <a:r>
              <a:rPr lang="zh-CN" altLang="en-US" dirty="0"/>
              <a:t>逐个字符进行初始化</a:t>
            </a:r>
            <a:endParaRPr lang="en-US" altLang="zh-CN" dirty="0"/>
          </a:p>
          <a:p>
            <a:r>
              <a:rPr lang="zh-CN" altLang="en-US" dirty="0"/>
              <a:t>也可以通过双引号引起来的字符串常量来进行初始化</a:t>
            </a:r>
            <a:endParaRPr lang="en-US" altLang="zh-CN" dirty="0"/>
          </a:p>
          <a:p>
            <a:endParaRPr lang="en-US" altLang="zh-CN" dirty="0"/>
          </a:p>
          <a:p>
            <a:r>
              <a:rPr lang="zh-CN" altLang="en-US" dirty="0"/>
              <a:t>字符串常量可以是你在程序中</a:t>
            </a:r>
            <a:r>
              <a:rPr lang="en-US" altLang="zh-CN" dirty="0"/>
              <a:t>””</a:t>
            </a:r>
            <a:r>
              <a:rPr lang="zh-CN" altLang="en-US" dirty="0"/>
              <a:t>引起来的内容，也可以是你用</a:t>
            </a:r>
            <a:r>
              <a:rPr lang="en-US" altLang="zh-CN" dirty="0"/>
              <a:t>const char a[]</a:t>
            </a:r>
            <a:r>
              <a:rPr lang="zh-CN" altLang="en-US" dirty="0"/>
              <a:t>定义的，但是你要用常量来初始化字符串变量，只能用</a:t>
            </a:r>
            <a:r>
              <a:rPr lang="en-US" altLang="zh-CN" dirty="0"/>
              <a:t>””</a:t>
            </a:r>
            <a:r>
              <a:rPr lang="zh-CN" altLang="en-US" dirty="0"/>
              <a:t>括起来的常量</a:t>
            </a:r>
            <a:endParaRPr lang="en-US" altLang="zh-CN" dirty="0"/>
          </a:p>
          <a:p>
            <a:r>
              <a:rPr lang="zh-CN" altLang="en-US" dirty="0"/>
              <a:t>对于</a:t>
            </a:r>
            <a:r>
              <a:rPr lang="en-US" altLang="zh-CN" dirty="0"/>
              <a:t>””</a:t>
            </a:r>
            <a:r>
              <a:rPr lang="zh-CN" altLang="en-US" dirty="0"/>
              <a:t>括起来的常量，系统会自动在结尾追加</a:t>
            </a:r>
            <a:r>
              <a:rPr lang="en-US" altLang="zh-CN" dirty="0"/>
              <a:t>’\0’</a:t>
            </a:r>
          </a:p>
          <a:p>
            <a:r>
              <a:rPr lang="zh-CN" altLang="en-US" dirty="0"/>
              <a:t>如果用它来初始化字符串变量，程序对这种形式字符串常量的处理会自动将该常量转化为逐个字符初始化的形式</a:t>
            </a:r>
            <a:endParaRPr lang="en-US" altLang="zh-CN" dirty="0"/>
          </a:p>
          <a:p>
            <a:endParaRPr lang="en-US" altLang="zh-CN" dirty="0"/>
          </a:p>
          <a:p>
            <a:r>
              <a:rPr lang="zh-CN" altLang="en-US" dirty="0"/>
              <a:t>还要特别注意的是，字符串常量也可以用</a:t>
            </a:r>
            <a:r>
              <a:rPr lang="en-US" altLang="zh-CN" dirty="0"/>
              <a:t>{}</a:t>
            </a:r>
            <a:r>
              <a:rPr lang="zh-CN" altLang="en-US" dirty="0"/>
              <a:t>扩起来</a:t>
            </a:r>
            <a:endParaRPr lang="en-US" altLang="zh-CN" dirty="0"/>
          </a:p>
          <a:p>
            <a:r>
              <a:rPr lang="zh-CN" altLang="en-US" dirty="0"/>
              <a:t>当然，字符串变量如果在定义的时候初始化了，前面的长度可以省略，机器会自动判断</a:t>
            </a:r>
            <a:endParaRPr lang="en-US" altLang="zh-CN" dirty="0"/>
          </a:p>
          <a:p>
            <a:endParaRPr lang="en-US" altLang="zh-CN" dirty="0"/>
          </a:p>
          <a:p>
            <a:r>
              <a:rPr lang="zh-CN" altLang="en-US" dirty="0"/>
              <a:t>用字符串常量初始化变量的方式只有在字符串变量被定义的时候可以。</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60</a:t>
            </a:fld>
            <a:endParaRPr lang="zh-CN" altLang="en-US"/>
          </a:p>
        </p:txBody>
      </p:sp>
    </p:spTree>
    <p:extLst>
      <p:ext uri="{BB962C8B-B14F-4D97-AF65-F5344CB8AC3E}">
        <p14:creationId xmlns:p14="http://schemas.microsoft.com/office/powerpoint/2010/main" val="2540721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61</a:t>
            </a:fld>
            <a:endParaRPr lang="zh-CN" altLang="en-US"/>
          </a:p>
        </p:txBody>
      </p:sp>
    </p:spTree>
    <p:extLst>
      <p:ext uri="{BB962C8B-B14F-4D97-AF65-F5344CB8AC3E}">
        <p14:creationId xmlns:p14="http://schemas.microsoft.com/office/powerpoint/2010/main" val="2038428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这里我们可以清晰的看到</a:t>
            </a:r>
            <a:r>
              <a:rPr lang="en-US" altLang="zh-CN" dirty="0"/>
              <a:t>,gets</a:t>
            </a:r>
            <a:r>
              <a:rPr lang="zh-CN" altLang="en-US" dirty="0"/>
              <a:t>函数是会读入回车，然后补</a:t>
            </a:r>
            <a:r>
              <a:rPr lang="en-US" altLang="zh-CN" dirty="0"/>
              <a:t>’\0’</a:t>
            </a:r>
            <a:r>
              <a:rPr lang="zh-CN" altLang="en-US" dirty="0"/>
              <a:t>的</a:t>
            </a:r>
            <a:endParaRPr lang="en-US" altLang="zh-CN" dirty="0"/>
          </a:p>
          <a:p>
            <a:r>
              <a:rPr lang="zh-CN" altLang="en-US" dirty="0"/>
              <a:t>而</a:t>
            </a:r>
            <a:r>
              <a:rPr lang="en-US" altLang="zh-CN" dirty="0"/>
              <a:t>puts</a:t>
            </a:r>
            <a:r>
              <a:rPr lang="zh-CN" altLang="en-US" dirty="0"/>
              <a:t>函数是会加回车的</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62</a:t>
            </a:fld>
            <a:endParaRPr lang="zh-CN" altLang="en-US"/>
          </a:p>
        </p:txBody>
      </p:sp>
    </p:spTree>
    <p:extLst>
      <p:ext uri="{BB962C8B-B14F-4D97-AF65-F5344CB8AC3E}">
        <p14:creationId xmlns:p14="http://schemas.microsoft.com/office/powerpoint/2010/main" val="3866650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这里我们特别要注意</a:t>
            </a:r>
            <a:r>
              <a:rPr lang="en-US" altLang="zh-CN" dirty="0" err="1"/>
              <a:t>strlen</a:t>
            </a:r>
            <a:r>
              <a:rPr lang="zh-CN" altLang="en-US" dirty="0"/>
              <a:t>求出来的字符串长度是不包括</a:t>
            </a:r>
            <a:r>
              <a:rPr lang="en-US" altLang="zh-CN" dirty="0"/>
              <a:t>’\0’</a:t>
            </a:r>
            <a:r>
              <a:rPr lang="zh-CN" altLang="en-US" dirty="0"/>
              <a:t>的，这里我们读到</a:t>
            </a:r>
            <a:r>
              <a:rPr lang="en-US" altLang="zh-CN" dirty="0"/>
              <a:t>’\0’</a:t>
            </a:r>
            <a:r>
              <a:rPr lang="zh-CN" altLang="en-US" dirty="0"/>
              <a:t>仍然吧</a:t>
            </a:r>
            <a:r>
              <a:rPr lang="en-US" altLang="zh-CN" dirty="0"/>
              <a:t>t</a:t>
            </a:r>
            <a:r>
              <a:rPr lang="zh-CN" altLang="en-US" dirty="0"/>
              <a:t>加了</a:t>
            </a:r>
            <a:r>
              <a:rPr lang="en-US" altLang="zh-CN" dirty="0"/>
              <a:t>1</a:t>
            </a:r>
            <a:r>
              <a:rPr lang="zh-CN" altLang="en-US" dirty="0"/>
              <a:t>，是错误的！！！正确的应该减去</a:t>
            </a:r>
            <a:r>
              <a:rPr lang="en-US" altLang="zh-CN" dirty="0"/>
              <a:t>1</a:t>
            </a:r>
          </a:p>
          <a:p>
            <a:r>
              <a:rPr lang="zh-CN" altLang="en-US" dirty="0"/>
              <a:t>对于</a:t>
            </a:r>
            <a:r>
              <a:rPr lang="en-US" altLang="zh-CN" dirty="0" err="1"/>
              <a:t>strcat</a:t>
            </a:r>
            <a:r>
              <a:rPr lang="zh-CN" altLang="en-US" dirty="0"/>
              <a:t>函数我们先找到了</a:t>
            </a:r>
            <a:r>
              <a:rPr lang="en-US" altLang="zh-CN" dirty="0"/>
              <a:t>a’\0’</a:t>
            </a:r>
            <a:r>
              <a:rPr lang="zh-CN" altLang="en-US" dirty="0"/>
              <a:t>所在的位置，并从该位置开始赋值，我们同时使用两个下标分别加加</a:t>
            </a:r>
            <a:endParaRPr lang="en-US" altLang="zh-CN" dirty="0"/>
          </a:p>
          <a:p>
            <a:r>
              <a:rPr lang="zh-CN" altLang="en-US" dirty="0"/>
              <a:t>对于</a:t>
            </a:r>
            <a:r>
              <a:rPr lang="en-US" altLang="zh-CN" dirty="0" err="1"/>
              <a:t>strcpy</a:t>
            </a:r>
            <a:r>
              <a:rPr lang="zh-CN" altLang="en-US" dirty="0"/>
              <a:t>函数我们在</a:t>
            </a:r>
            <a:r>
              <a:rPr lang="en-US" altLang="zh-CN" dirty="0"/>
              <a:t>b</a:t>
            </a:r>
            <a:r>
              <a:rPr lang="zh-CN" altLang="en-US" dirty="0"/>
              <a:t>到</a:t>
            </a:r>
            <a:r>
              <a:rPr lang="en-US" altLang="zh-CN" dirty="0"/>
              <a:t>’\0’</a:t>
            </a:r>
            <a:r>
              <a:rPr lang="zh-CN" altLang="en-US" dirty="0"/>
              <a:t>之前一直给</a:t>
            </a:r>
            <a:r>
              <a:rPr lang="en-US" altLang="zh-CN" dirty="0"/>
              <a:t>a</a:t>
            </a:r>
            <a:r>
              <a:rPr lang="zh-CN" altLang="en-US" dirty="0"/>
              <a:t>赋值，但需要注意的是我们要把</a:t>
            </a:r>
            <a:r>
              <a:rPr lang="en-US" altLang="zh-CN" dirty="0"/>
              <a:t>’\0’</a:t>
            </a:r>
            <a:r>
              <a:rPr lang="zh-CN" altLang="en-US" dirty="0"/>
              <a:t>也赋过去</a:t>
            </a:r>
            <a:endParaRPr lang="en-US" altLang="zh-CN" dirty="0"/>
          </a:p>
          <a:p>
            <a:r>
              <a:rPr lang="zh-CN" altLang="en-US" dirty="0"/>
              <a:t>对于</a:t>
            </a:r>
            <a:r>
              <a:rPr lang="en-US" altLang="zh-CN" dirty="0" err="1"/>
              <a:t>strcmp</a:t>
            </a:r>
            <a:r>
              <a:rPr lang="zh-CN" altLang="en-US" dirty="0"/>
              <a:t>函数我们要注意它返回值的定义，像我就一直搞错了</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65</a:t>
            </a:fld>
            <a:endParaRPr lang="zh-CN" altLang="en-US"/>
          </a:p>
        </p:txBody>
      </p:sp>
    </p:spTree>
    <p:extLst>
      <p:ext uri="{BB962C8B-B14F-4D97-AF65-F5344CB8AC3E}">
        <p14:creationId xmlns:p14="http://schemas.microsoft.com/office/powerpoint/2010/main" val="287970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A) B) B) D) B)</a:t>
            </a:r>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66</a:t>
            </a:fld>
            <a:endParaRPr lang="zh-CN" altLang="en-US"/>
          </a:p>
        </p:txBody>
      </p:sp>
    </p:spTree>
    <p:extLst>
      <p:ext uri="{BB962C8B-B14F-4D97-AF65-F5344CB8AC3E}">
        <p14:creationId xmlns:p14="http://schemas.microsoft.com/office/powerpoint/2010/main" val="3153937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A) B) B) D) B)</a:t>
            </a:r>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67</a:t>
            </a:fld>
            <a:endParaRPr lang="zh-CN" altLang="en-US"/>
          </a:p>
        </p:txBody>
      </p:sp>
    </p:spTree>
    <p:extLst>
      <p:ext uri="{BB962C8B-B14F-4D97-AF65-F5344CB8AC3E}">
        <p14:creationId xmlns:p14="http://schemas.microsoft.com/office/powerpoint/2010/main" val="505202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C21447-1247-475F-81A9-0FC4ADD9F326}" type="slidenum">
              <a:rPr lang="zh-CN" altLang="en-US" smtClean="0"/>
              <a:t>68</a:t>
            </a:fld>
            <a:endParaRPr lang="zh-CN" altLang="en-US"/>
          </a:p>
        </p:txBody>
      </p:sp>
    </p:spTree>
    <p:extLst>
      <p:ext uri="{BB962C8B-B14F-4D97-AF65-F5344CB8AC3E}">
        <p14:creationId xmlns:p14="http://schemas.microsoft.com/office/powerpoint/2010/main" val="1316231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我们不能用变量给一个数组作为大小，所以</a:t>
            </a:r>
            <a:r>
              <a:rPr kumimoji="1" lang="en-US" altLang="zh-CN" dirty="0"/>
              <a:t>c2</a:t>
            </a:r>
            <a:r>
              <a:rPr kumimoji="1" lang="zh-CN" altLang="en-US" dirty="0"/>
              <a:t>是错的</a:t>
            </a:r>
            <a:endParaRPr kumimoji="1" lang="en-US" altLang="zh-CN" dirty="0"/>
          </a:p>
          <a:p>
            <a:r>
              <a:rPr kumimoji="1" lang="zh-CN" altLang="en-US" dirty="0"/>
              <a:t>未初始化的数组，动态是随机值，而静态是</a:t>
            </a:r>
            <a:r>
              <a:rPr kumimoji="1" lang="en-US" altLang="zh-CN" dirty="0"/>
              <a:t>0</a:t>
            </a:r>
            <a:r>
              <a:rPr kumimoji="1" lang="zh-CN" altLang="en-US" dirty="0"/>
              <a:t>，所以字符串如果是静态的话，你忘记加</a:t>
            </a:r>
            <a:r>
              <a:rPr kumimoji="1" lang="en-US" altLang="zh-CN" dirty="0"/>
              <a:t>’\0’</a:t>
            </a:r>
            <a:r>
              <a:rPr kumimoji="1" lang="zh-CN" altLang="en-US" dirty="0"/>
              <a:t>了也可能没有问题</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21447-1247-475F-81A9-0FC4ADD9F32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74</a:t>
            </a:fld>
            <a:endParaRPr lang="zh-CN" altLang="en-US"/>
          </a:p>
        </p:txBody>
      </p:sp>
    </p:spTree>
    <p:extLst>
      <p:ext uri="{BB962C8B-B14F-4D97-AF65-F5344CB8AC3E}">
        <p14:creationId xmlns:p14="http://schemas.microsoft.com/office/powerpoint/2010/main" val="2727311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对于数组的静态初始化，我们还是采用大括号括起来的形式对每个元素进行赋值，</a:t>
            </a:r>
            <a:endParaRPr lang="en-US" altLang="zh-CN" dirty="0"/>
          </a:p>
          <a:p>
            <a:r>
              <a:rPr lang="zh-CN" altLang="en-US" dirty="0"/>
              <a:t>我们可以给每个元素都进行赋值，也可以对前几个元素进行赋值，对于部分赋值，其他值会改为</a:t>
            </a:r>
            <a:r>
              <a:rPr lang="en-US" altLang="zh-CN" dirty="0"/>
              <a:t>0</a:t>
            </a:r>
          </a:p>
          <a:p>
            <a:endParaRPr lang="en-US" altLang="zh-CN" dirty="0"/>
          </a:p>
          <a:p>
            <a:r>
              <a:rPr lang="zh-CN" altLang="en-US" dirty="0"/>
              <a:t>然后静态初始化数组后数组长度可以省略不写</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77</a:t>
            </a:fld>
            <a:endParaRPr lang="zh-CN" altLang="en-US"/>
          </a:p>
        </p:txBody>
      </p:sp>
    </p:spTree>
    <p:extLst>
      <p:ext uri="{BB962C8B-B14F-4D97-AF65-F5344CB8AC3E}">
        <p14:creationId xmlns:p14="http://schemas.microsoft.com/office/powerpoint/2010/main" val="2713499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由于不加标识符机器会自动决定是静态分配还是动态分配，如果你在定义的时候对它进行了初始化，那它就是静态的，如果你直接用变量作为数组大小，那么它实际上是动态分配的。</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78</a:t>
            </a:fld>
            <a:endParaRPr lang="zh-CN" altLang="en-US"/>
          </a:p>
        </p:txBody>
      </p:sp>
    </p:spTree>
    <p:extLst>
      <p:ext uri="{BB962C8B-B14F-4D97-AF65-F5344CB8AC3E}">
        <p14:creationId xmlns:p14="http://schemas.microsoft.com/office/powerpoint/2010/main" val="4001468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数组名代表着数组首地址，所以可以当作首地址来用；</a:t>
            </a:r>
            <a:endParaRPr lang="en-US" altLang="zh-CN" dirty="0"/>
          </a:p>
          <a:p>
            <a:r>
              <a:rPr lang="zh-CN" altLang="en-US" dirty="0"/>
              <a:t>然后注意数组是一段连续的内存，因此我们得到了首地址指针后可以通过偏移量找到对应的元素。</a:t>
            </a:r>
            <a:endParaRPr lang="en-US" altLang="zh-CN" dirty="0"/>
          </a:p>
          <a:p>
            <a:endParaRPr lang="en-US" altLang="zh-CN" dirty="0"/>
          </a:p>
          <a:p>
            <a:r>
              <a:rPr lang="zh-CN" altLang="en-US" dirty="0"/>
              <a:t>然后，我们介绍一下</a:t>
            </a:r>
            <a:r>
              <a:rPr lang="en-US" altLang="zh-CN" dirty="0"/>
              <a:t>[]</a:t>
            </a:r>
            <a:r>
              <a:rPr lang="zh-CN" altLang="en-US" dirty="0"/>
              <a:t>运算符，</a:t>
            </a:r>
            <a:r>
              <a:rPr lang="en-US" altLang="zh-CN" dirty="0"/>
              <a:t>[]</a:t>
            </a:r>
            <a:r>
              <a:rPr lang="zh-CN" altLang="en-US" dirty="0"/>
              <a:t>运算符的本质就是找到对应偏移量的元素，等效于</a:t>
            </a:r>
            <a:r>
              <a:rPr lang="en-US" altLang="zh-CN" dirty="0"/>
              <a:t>*(</a:t>
            </a:r>
            <a:r>
              <a:rPr lang="en-US" altLang="zh-CN" dirty="0" err="1"/>
              <a:t>a+n</a:t>
            </a:r>
            <a:r>
              <a:rPr lang="en-US" altLang="zh-CN" dirty="0"/>
              <a:t>)</a:t>
            </a:r>
          </a:p>
          <a:p>
            <a:endParaRPr lang="en-US" altLang="zh-CN" dirty="0"/>
          </a:p>
          <a:p>
            <a:r>
              <a:rPr lang="zh-CN" altLang="en-US" dirty="0"/>
              <a:t>所以对于数组地址，可以用</a:t>
            </a:r>
            <a:r>
              <a:rPr lang="en-US" altLang="zh-CN" dirty="0"/>
              <a:t>[]</a:t>
            </a:r>
            <a:r>
              <a:rPr lang="zh-CN" altLang="en-US" dirty="0"/>
              <a:t>运算符来访问各个变量。</a:t>
            </a:r>
            <a:endParaRPr lang="en-US" altLang="zh-CN"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79</a:t>
            </a:fld>
            <a:endParaRPr lang="zh-CN" altLang="en-US"/>
          </a:p>
        </p:txBody>
      </p:sp>
    </p:spTree>
    <p:extLst>
      <p:ext uri="{BB962C8B-B14F-4D97-AF65-F5344CB8AC3E}">
        <p14:creationId xmlns:p14="http://schemas.microsoft.com/office/powerpoint/2010/main" val="2222259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接下来我们具体看一下</a:t>
            </a:r>
            <a:r>
              <a:rPr lang="en-US" altLang="zh-CN" dirty="0"/>
              <a:t>[]</a:t>
            </a:r>
            <a:r>
              <a:rPr lang="zh-CN" altLang="en-US" dirty="0"/>
              <a:t>运算符，也具体体会一下数组连续地址的存储方式</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80</a:t>
            </a:fld>
            <a:endParaRPr lang="zh-CN" altLang="en-US"/>
          </a:p>
        </p:txBody>
      </p:sp>
    </p:spTree>
    <p:extLst>
      <p:ext uri="{BB962C8B-B14F-4D97-AF65-F5344CB8AC3E}">
        <p14:creationId xmlns:p14="http://schemas.microsoft.com/office/powerpoint/2010/main" val="936640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二维数组其实就是把一维数组分行</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81</a:t>
            </a:fld>
            <a:endParaRPr lang="zh-CN" altLang="en-US"/>
          </a:p>
        </p:txBody>
      </p:sp>
    </p:spTree>
    <p:extLst>
      <p:ext uri="{BB962C8B-B14F-4D97-AF65-F5344CB8AC3E}">
        <p14:creationId xmlns:p14="http://schemas.microsoft.com/office/powerpoint/2010/main" val="2710775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第二维度大小如何必要，它是列数，不知道要多少列，你如何判断第几个元素在第几行</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82</a:t>
            </a:fld>
            <a:endParaRPr lang="zh-CN" altLang="en-US"/>
          </a:p>
        </p:txBody>
      </p:sp>
    </p:spTree>
    <p:extLst>
      <p:ext uri="{BB962C8B-B14F-4D97-AF65-F5344CB8AC3E}">
        <p14:creationId xmlns:p14="http://schemas.microsoft.com/office/powerpoint/2010/main" val="3859694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下面给大家介绍一下二维数组的两种访问方式</a:t>
            </a:r>
          </a:p>
        </p:txBody>
      </p:sp>
      <p:sp>
        <p:nvSpPr>
          <p:cNvPr id="4" name="灯片编号占位符 3"/>
          <p:cNvSpPr>
            <a:spLocks noGrp="1"/>
          </p:cNvSpPr>
          <p:nvPr>
            <p:ph type="sldNum" sz="quarter" idx="5"/>
          </p:nvPr>
        </p:nvSpPr>
        <p:spPr/>
        <p:txBody>
          <a:bodyPr/>
          <a:lstStyle/>
          <a:p>
            <a:fld id="{C3D8E266-C8EA-40AD-95BA-344E1F88E2FB}" type="slidenum">
              <a:rPr lang="zh-CN" altLang="en-US" smtClean="0"/>
              <a:t>83</a:t>
            </a:fld>
            <a:endParaRPr lang="zh-CN" altLang="en-US"/>
          </a:p>
        </p:txBody>
      </p:sp>
    </p:spTree>
    <p:extLst>
      <p:ext uri="{BB962C8B-B14F-4D97-AF65-F5344CB8AC3E}">
        <p14:creationId xmlns:p14="http://schemas.microsoft.com/office/powerpoint/2010/main" val="13076166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我们可以将数组变量名抽象化出来作为一个数组变量，但需要注意的是对该数组变量进行取地址操作，返回的地址的值是数组首地址</a:t>
            </a:r>
            <a:endParaRPr lang="en-US" altLang="zh-CN" dirty="0"/>
          </a:p>
          <a:p>
            <a:r>
              <a:rPr lang="zh-CN" altLang="en-US" dirty="0"/>
              <a:t>然后数组指针就是指向变量名的指针</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84</a:t>
            </a:fld>
            <a:endParaRPr lang="zh-CN" altLang="en-US"/>
          </a:p>
        </p:txBody>
      </p:sp>
    </p:spTree>
    <p:extLst>
      <p:ext uri="{BB962C8B-B14F-4D97-AF65-F5344CB8AC3E}">
        <p14:creationId xmlns:p14="http://schemas.microsoft.com/office/powerpoint/2010/main" val="21269476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C) A) C) B) A)</a:t>
            </a:r>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93</a:t>
            </a:fld>
            <a:endParaRPr lang="zh-CN" altLang="en-US"/>
          </a:p>
        </p:txBody>
      </p:sp>
    </p:spTree>
    <p:extLst>
      <p:ext uri="{BB962C8B-B14F-4D97-AF65-F5344CB8AC3E}">
        <p14:creationId xmlns:p14="http://schemas.microsoft.com/office/powerpoint/2010/main" val="1298669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C) A) C) B) A)</a:t>
            </a:r>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94</a:t>
            </a:fld>
            <a:endParaRPr lang="zh-CN" altLang="en-US"/>
          </a:p>
        </p:txBody>
      </p:sp>
    </p:spTree>
    <p:extLst>
      <p:ext uri="{BB962C8B-B14F-4D97-AF65-F5344CB8AC3E}">
        <p14:creationId xmlns:p14="http://schemas.microsoft.com/office/powerpoint/2010/main" val="4103607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96</a:t>
            </a:fld>
            <a:endParaRPr lang="zh-CN" altLang="en-US"/>
          </a:p>
        </p:txBody>
      </p:sp>
    </p:spTree>
    <p:extLst>
      <p:ext uri="{BB962C8B-B14F-4D97-AF65-F5344CB8AC3E}">
        <p14:creationId xmlns:p14="http://schemas.microsoft.com/office/powerpoint/2010/main" val="1288637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  D) E) 201 30</a:t>
            </a:r>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102</a:t>
            </a:fld>
            <a:endParaRPr lang="zh-CN" altLang="en-US"/>
          </a:p>
        </p:txBody>
      </p:sp>
    </p:spTree>
    <p:extLst>
      <p:ext uri="{BB962C8B-B14F-4D97-AF65-F5344CB8AC3E}">
        <p14:creationId xmlns:p14="http://schemas.microsoft.com/office/powerpoint/2010/main" val="6242253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  D) E) 201 30</a:t>
            </a:r>
            <a:endParaRPr lang="zh-CN" altLang="en-US" dirty="0"/>
          </a:p>
        </p:txBody>
      </p:sp>
      <p:sp>
        <p:nvSpPr>
          <p:cNvPr id="4" name="灯片编号占位符 3"/>
          <p:cNvSpPr>
            <a:spLocks noGrp="1"/>
          </p:cNvSpPr>
          <p:nvPr>
            <p:ph type="sldNum" sz="quarter" idx="5"/>
          </p:nvPr>
        </p:nvSpPr>
        <p:spPr/>
        <p:txBody>
          <a:bodyPr/>
          <a:lstStyle/>
          <a:p>
            <a:fld id="{C3D8E266-C8EA-40AD-95BA-344E1F88E2FB}" type="slidenum">
              <a:rPr lang="zh-CN" altLang="en-US" smtClean="0"/>
              <a:t>103</a:t>
            </a:fld>
            <a:endParaRPr lang="zh-CN" altLang="en-US"/>
          </a:p>
        </p:txBody>
      </p:sp>
    </p:spTree>
    <p:extLst>
      <p:ext uri="{BB962C8B-B14F-4D97-AF65-F5344CB8AC3E}">
        <p14:creationId xmlns:p14="http://schemas.microsoft.com/office/powerpoint/2010/main" val="3242879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C21447-1247-475F-81A9-0FC4ADD9F326}" type="slidenum">
              <a:rPr lang="zh-CN" altLang="en-US" smtClean="0"/>
              <a:t>104</a:t>
            </a:fld>
            <a:endParaRPr lang="zh-CN" altLang="en-US"/>
          </a:p>
        </p:txBody>
      </p:sp>
    </p:spTree>
    <p:extLst>
      <p:ext uri="{BB962C8B-B14F-4D97-AF65-F5344CB8AC3E}">
        <p14:creationId xmlns:p14="http://schemas.microsoft.com/office/powerpoint/2010/main" val="31850512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文件的三大部分：打开、操作、关闭。</a:t>
            </a:r>
          </a:p>
          <a:p>
            <a:r>
              <a:rPr lang="zh-CN" altLang="en-US" dirty="0"/>
              <a:t>文件是用来做输入输出的</a:t>
            </a:r>
          </a:p>
        </p:txBody>
      </p:sp>
      <p:sp>
        <p:nvSpPr>
          <p:cNvPr id="4" name="灯片编号占位符 3"/>
          <p:cNvSpPr>
            <a:spLocks noGrp="1"/>
          </p:cNvSpPr>
          <p:nvPr>
            <p:ph type="sldNum" sz="quarter" idx="5"/>
          </p:nvPr>
        </p:nvSpPr>
        <p:spPr/>
        <p:txBody>
          <a:bodyPr/>
          <a:lstStyle/>
          <a:p>
            <a:pPr>
              <a:defRPr/>
            </a:pPr>
            <a:fld id="{0FDFEFD1-067E-4A1C-A343-40F5E2ADE709}" type="slidenum">
              <a:rPr lang="zh-CN" altLang="en-US" smtClean="0"/>
              <a:t>105</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打开文件当然要有文件名</a:t>
            </a:r>
          </a:p>
          <a:p>
            <a:r>
              <a:rPr lang="zh-CN" altLang="en-US"/>
              <a:t>第一个参数</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确定指针的位置</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err="1"/>
              <a:t>r+b</a:t>
            </a:r>
            <a:r>
              <a:rPr lang="en-US" altLang="zh-CN" dirty="0"/>
              <a:t> </a:t>
            </a:r>
            <a:r>
              <a:rPr lang="zh-CN" altLang="en-US" dirty="0"/>
              <a:t>和 </a:t>
            </a:r>
            <a:r>
              <a:rPr lang="en-US" altLang="zh-CN" dirty="0" err="1"/>
              <a:t>rb</a:t>
            </a:r>
            <a:r>
              <a:rPr lang="en-US" altLang="zh-CN" dirty="0"/>
              <a:t>+ </a:t>
            </a:r>
            <a:r>
              <a:rPr lang="zh-CN" altLang="en-US" dirty="0"/>
              <a:t>等效。</a:t>
            </a:r>
          </a:p>
          <a:p>
            <a:r>
              <a:rPr lang="en-US" altLang="zh-CN" dirty="0"/>
              <a:t>“r”</a:t>
            </a:r>
            <a:r>
              <a:rPr lang="zh-CN" altLang="en-US" dirty="0"/>
              <a:t>为了提醒加双引号</a:t>
            </a:r>
          </a:p>
          <a:p>
            <a:r>
              <a:rPr lang="zh-CN" altLang="en-US" dirty="0"/>
              <a:t>（二进制文件和文本文件的区别只是换行符的区别）最好区分一下文本文件和二进制文件两种文件类型</a:t>
            </a:r>
          </a:p>
        </p:txBody>
      </p:sp>
      <p:sp>
        <p:nvSpPr>
          <p:cNvPr id="4" name="灯片编号占位符 3"/>
          <p:cNvSpPr>
            <a:spLocks noGrp="1"/>
          </p:cNvSpPr>
          <p:nvPr>
            <p:ph type="sldNum" sz="quarter" idx="5"/>
          </p:nvPr>
        </p:nvSpPr>
        <p:spPr/>
        <p:txBody>
          <a:bodyPr/>
          <a:lstStyle/>
          <a:p>
            <a:pPr>
              <a:defRPr/>
            </a:pPr>
            <a:fld id="{0FDFEFD1-067E-4A1C-A343-40F5E2ADE709}" type="slidenum">
              <a:rPr lang="zh-CN" altLang="en-US" smtClean="0"/>
              <a:t>109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rewind </a:t>
            </a:r>
            <a:r>
              <a:rPr lang="zh-CN" altLang="en-US" dirty="0"/>
              <a:t>有倒带的意思，复读常用这个方法。</a:t>
            </a:r>
            <a:endParaRPr lang="en-US" altLang="zh-CN" dirty="0"/>
          </a:p>
          <a:p>
            <a:endParaRPr lang="en-US" altLang="zh-CN" dirty="0"/>
          </a:p>
          <a:p>
            <a:pPr algn="l"/>
            <a:r>
              <a:rPr lang="zh-CN" altLang="en-US" b="0" i="0" dirty="0">
                <a:solidFill>
                  <a:srgbClr val="333333"/>
                </a:solidFill>
                <a:effectLst/>
                <a:latin typeface="Chinese serif font"/>
              </a:rPr>
              <a:t>将“读写头”移动到任意位置，这个位置由</a:t>
            </a:r>
            <a:r>
              <a:rPr lang="en-US" altLang="zh-CN" b="0" i="0" dirty="0">
                <a:solidFill>
                  <a:srgbClr val="333333"/>
                </a:solidFill>
                <a:effectLst/>
                <a:latin typeface="Chinese serif font"/>
              </a:rPr>
              <a:t>shift</a:t>
            </a:r>
            <a:r>
              <a:rPr lang="zh-CN" altLang="en-US" b="0" i="0" dirty="0">
                <a:solidFill>
                  <a:srgbClr val="333333"/>
                </a:solidFill>
                <a:effectLst/>
                <a:latin typeface="Chinese serif font"/>
              </a:rPr>
              <a:t>和</a:t>
            </a:r>
            <a:r>
              <a:rPr lang="en-US" altLang="zh-CN" b="0" i="0" dirty="0">
                <a:solidFill>
                  <a:srgbClr val="333333"/>
                </a:solidFill>
                <a:effectLst/>
                <a:latin typeface="Chinese serif font"/>
              </a:rPr>
              <a:t>origin</a:t>
            </a:r>
            <a:r>
              <a:rPr lang="zh-CN" altLang="en-US" b="0" i="0" dirty="0">
                <a:solidFill>
                  <a:srgbClr val="333333"/>
                </a:solidFill>
                <a:effectLst/>
                <a:latin typeface="Chinese serif font"/>
              </a:rPr>
              <a:t>描述。</a:t>
            </a:r>
          </a:p>
          <a:p>
            <a:r>
              <a:rPr lang="en-US" altLang="zh-CN" dirty="0">
                <a:effectLst/>
              </a:rPr>
              <a:t>SEEK_END</a:t>
            </a:r>
            <a:r>
              <a:rPr lang="zh-CN" altLang="en-US" dirty="0">
                <a:effectLst/>
              </a:rPr>
              <a:t>是文件最后一个字节的下一字节，一般</a:t>
            </a:r>
            <a:r>
              <a:rPr lang="en-US" altLang="zh-CN" dirty="0">
                <a:effectLst/>
              </a:rPr>
              <a:t>(-1, SEEK_END)</a:t>
            </a:r>
            <a:r>
              <a:rPr lang="zh-CN" altLang="en-US" dirty="0">
                <a:effectLst/>
              </a:rPr>
              <a:t>是文件的最后一个字节。</a:t>
            </a:r>
          </a:p>
          <a:p>
            <a:pPr algn="l"/>
            <a:r>
              <a:rPr lang="en-US" altLang="zh-CN" b="0" i="0" dirty="0">
                <a:solidFill>
                  <a:srgbClr val="333333"/>
                </a:solidFill>
                <a:effectLst/>
                <a:latin typeface="Chinese serif font"/>
              </a:rPr>
              <a:t>shift</a:t>
            </a:r>
            <a:r>
              <a:rPr lang="zh-CN" altLang="en-US" b="0" i="0" dirty="0">
                <a:solidFill>
                  <a:srgbClr val="333333"/>
                </a:solidFill>
                <a:effectLst/>
                <a:latin typeface="Chinese serif font"/>
              </a:rPr>
              <a:t>是目标位置相对</a:t>
            </a:r>
            <a:r>
              <a:rPr lang="en-US" altLang="zh-CN" b="0" i="0" dirty="0">
                <a:solidFill>
                  <a:srgbClr val="333333"/>
                </a:solidFill>
                <a:effectLst/>
                <a:latin typeface="Chinese serif font"/>
              </a:rPr>
              <a:t>origin</a:t>
            </a:r>
            <a:r>
              <a:rPr lang="zh-CN" altLang="en-US" b="0" i="0" dirty="0">
                <a:solidFill>
                  <a:srgbClr val="333333"/>
                </a:solidFill>
                <a:effectLst/>
                <a:latin typeface="Chinese serif font"/>
              </a:rPr>
              <a:t>的偏移量。二进制模式下，偏移量用字节数表示（有正负）；文本模式下，文件结尾、当前位置的偏移量只允许是零，文件开头的偏移量只允许是</a:t>
            </a:r>
            <a:r>
              <a:rPr lang="en-US" altLang="zh-CN" b="0" i="0" dirty="0" err="1">
                <a:solidFill>
                  <a:srgbClr val="333333"/>
                </a:solidFill>
                <a:effectLst/>
                <a:latin typeface="Chinese serif font"/>
              </a:rPr>
              <a:t>ftell</a:t>
            </a:r>
            <a:r>
              <a:rPr lang="en-US" altLang="zh-CN" b="0" i="0" dirty="0">
                <a:solidFill>
                  <a:srgbClr val="333333"/>
                </a:solidFill>
                <a:effectLst/>
                <a:latin typeface="Chinese serif font"/>
              </a:rPr>
              <a:t>()</a:t>
            </a:r>
            <a:r>
              <a:rPr lang="zh-CN" altLang="en-US" b="0" i="0" dirty="0">
                <a:solidFill>
                  <a:srgbClr val="333333"/>
                </a:solidFill>
                <a:effectLst/>
                <a:latin typeface="Chinese serif font"/>
              </a:rPr>
              <a:t>的返回值。</a:t>
            </a:r>
          </a:p>
          <a:p>
            <a:pPr algn="l"/>
            <a:r>
              <a:rPr lang="en-US" altLang="zh-CN" b="0" i="0" dirty="0" err="1">
                <a:solidFill>
                  <a:srgbClr val="333333"/>
                </a:solidFill>
                <a:effectLst/>
                <a:latin typeface="Chinese serif font"/>
              </a:rPr>
              <a:t>fseek</a:t>
            </a:r>
            <a:r>
              <a:rPr lang="en-US" altLang="zh-CN" b="0" i="0" dirty="0">
                <a:solidFill>
                  <a:srgbClr val="333333"/>
                </a:solidFill>
                <a:effectLst/>
                <a:latin typeface="Chinese serif font"/>
              </a:rPr>
              <a:t>(</a:t>
            </a:r>
            <a:r>
              <a:rPr lang="en-US" altLang="zh-CN" b="0" i="0" dirty="0" err="1">
                <a:solidFill>
                  <a:srgbClr val="333333"/>
                </a:solidFill>
                <a:effectLst/>
                <a:latin typeface="Chinese serif font"/>
              </a:rPr>
              <a:t>fp</a:t>
            </a:r>
            <a:r>
              <a:rPr lang="en-US" altLang="zh-CN" b="0" i="0" dirty="0">
                <a:solidFill>
                  <a:srgbClr val="333333"/>
                </a:solidFill>
                <a:effectLst/>
                <a:latin typeface="Chinese serif font"/>
              </a:rPr>
              <a:t>, 0, SEEK_SET);</a:t>
            </a:r>
            <a:r>
              <a:rPr lang="zh-CN" altLang="en-US" b="0" i="0" dirty="0">
                <a:solidFill>
                  <a:srgbClr val="333333"/>
                </a:solidFill>
                <a:effectLst/>
                <a:latin typeface="Chinese serif font"/>
              </a:rPr>
              <a:t>等价于</a:t>
            </a:r>
            <a:r>
              <a:rPr lang="en-US" altLang="zh-CN" b="0" i="0" dirty="0">
                <a:solidFill>
                  <a:srgbClr val="333333"/>
                </a:solidFill>
                <a:effectLst/>
                <a:latin typeface="Chinese serif font"/>
              </a:rPr>
              <a:t>rewind(</a:t>
            </a:r>
            <a:r>
              <a:rPr lang="en-US" altLang="zh-CN" b="0" i="0" dirty="0" err="1">
                <a:solidFill>
                  <a:srgbClr val="333333"/>
                </a:solidFill>
                <a:effectLst/>
                <a:latin typeface="Chinese serif font"/>
              </a:rPr>
              <a:t>fp</a:t>
            </a:r>
            <a:r>
              <a:rPr lang="en-US" altLang="zh-CN" b="0" i="0" dirty="0">
                <a:solidFill>
                  <a:srgbClr val="333333"/>
                </a:solidFill>
                <a:effectLst/>
                <a:latin typeface="Chinese serif font"/>
              </a:rPr>
              <a:t>);</a:t>
            </a:r>
            <a:r>
              <a:rPr lang="zh-CN" altLang="en-US" b="0" i="0" dirty="0">
                <a:solidFill>
                  <a:srgbClr val="333333"/>
                </a:solidFill>
                <a:effectLst/>
                <a:latin typeface="Chinese serif font"/>
              </a:rPr>
              <a:t>。</a:t>
            </a:r>
            <a:endParaRPr lang="en-US" altLang="zh-CN" b="0" i="0" dirty="0">
              <a:solidFill>
                <a:srgbClr val="333333"/>
              </a:solidFill>
              <a:effectLst/>
              <a:latin typeface="Chinese serif font"/>
            </a:endParaRPr>
          </a:p>
          <a:p>
            <a:pPr algn="l"/>
            <a:endParaRPr lang="en-US" altLang="zh-CN" b="0" i="0" dirty="0">
              <a:solidFill>
                <a:srgbClr val="333333"/>
              </a:solidFill>
              <a:effectLst/>
              <a:latin typeface="Chinese serif font"/>
            </a:endParaRPr>
          </a:p>
          <a:p>
            <a:pPr algn="l"/>
            <a:r>
              <a:rPr lang="zh-CN" altLang="en-US" b="0" i="0" dirty="0">
                <a:solidFill>
                  <a:srgbClr val="333333"/>
                </a:solidFill>
                <a:effectLst/>
                <a:latin typeface="Chinese serif font"/>
              </a:rPr>
              <a:t>返回当前“读写头”位置。</a:t>
            </a:r>
          </a:p>
          <a:p>
            <a:pPr algn="l"/>
            <a:r>
              <a:rPr lang="zh-CN" altLang="en-US" b="0" i="0" dirty="0">
                <a:solidFill>
                  <a:srgbClr val="333333"/>
                </a:solidFill>
                <a:effectLst/>
                <a:latin typeface="Chinese serif font"/>
              </a:rPr>
              <a:t>二进制模式下，这用自文件开头的字节数表示；文本模式下，不同编译器的定义可能不同。</a:t>
            </a:r>
          </a:p>
          <a:p>
            <a:pPr algn="l"/>
            <a:r>
              <a:rPr lang="zh-CN" altLang="en-US" b="0" i="0" dirty="0">
                <a:solidFill>
                  <a:srgbClr val="333333"/>
                </a:solidFill>
                <a:effectLst/>
                <a:latin typeface="Chinese serif font"/>
              </a:rPr>
              <a:t>无论什么模式，</a:t>
            </a:r>
            <a:r>
              <a:rPr lang="en-US" altLang="zh-CN" b="0" i="0" dirty="0" err="1">
                <a:solidFill>
                  <a:srgbClr val="333333"/>
                </a:solidFill>
                <a:effectLst/>
                <a:latin typeface="Chinese serif font"/>
              </a:rPr>
              <a:t>fseek</a:t>
            </a:r>
            <a:r>
              <a:rPr lang="en-US" altLang="zh-CN" b="0" i="0" dirty="0">
                <a:solidFill>
                  <a:srgbClr val="333333"/>
                </a:solidFill>
                <a:effectLst/>
                <a:latin typeface="Chinese serif font"/>
              </a:rPr>
              <a:t>(</a:t>
            </a:r>
            <a:r>
              <a:rPr lang="en-US" altLang="zh-CN" b="0" i="0" dirty="0" err="1">
                <a:solidFill>
                  <a:srgbClr val="333333"/>
                </a:solidFill>
                <a:effectLst/>
                <a:latin typeface="Chinese serif font"/>
              </a:rPr>
              <a:t>fp</a:t>
            </a:r>
            <a:r>
              <a:rPr lang="en-US" altLang="zh-CN" b="0" i="0" dirty="0">
                <a:solidFill>
                  <a:srgbClr val="333333"/>
                </a:solidFill>
                <a:effectLst/>
                <a:latin typeface="Chinese serif font"/>
              </a:rPr>
              <a:t>, </a:t>
            </a:r>
            <a:r>
              <a:rPr lang="en-US" altLang="zh-CN" b="0" i="0" dirty="0" err="1">
                <a:solidFill>
                  <a:srgbClr val="333333"/>
                </a:solidFill>
                <a:effectLst/>
                <a:latin typeface="Chinese serif font"/>
              </a:rPr>
              <a:t>ftell</a:t>
            </a:r>
            <a:r>
              <a:rPr lang="en-US" altLang="zh-CN" b="0" i="0" dirty="0">
                <a:solidFill>
                  <a:srgbClr val="333333"/>
                </a:solidFill>
                <a:effectLst/>
                <a:latin typeface="Chinese serif font"/>
              </a:rPr>
              <a:t>(</a:t>
            </a:r>
            <a:r>
              <a:rPr lang="en-US" altLang="zh-CN" b="0" i="0" dirty="0" err="1">
                <a:solidFill>
                  <a:srgbClr val="333333"/>
                </a:solidFill>
                <a:effectLst/>
                <a:latin typeface="Chinese serif font"/>
              </a:rPr>
              <a:t>fp</a:t>
            </a:r>
            <a:r>
              <a:rPr lang="en-US" altLang="zh-CN" b="0" i="0" dirty="0">
                <a:solidFill>
                  <a:srgbClr val="333333"/>
                </a:solidFill>
                <a:effectLst/>
                <a:latin typeface="Chinese serif font"/>
              </a:rPr>
              <a:t>), SEEK_SET)</a:t>
            </a:r>
            <a:r>
              <a:rPr lang="zh-CN" altLang="en-US" b="0" i="0" dirty="0">
                <a:solidFill>
                  <a:srgbClr val="333333"/>
                </a:solidFill>
                <a:effectLst/>
                <a:latin typeface="Chinese serif font"/>
              </a:rPr>
              <a:t>总是把“读写头”移动到当前位置（即不移动）。</a:t>
            </a:r>
          </a:p>
        </p:txBody>
      </p:sp>
      <p:sp>
        <p:nvSpPr>
          <p:cNvPr id="4" name="灯片编号占位符 3"/>
          <p:cNvSpPr>
            <a:spLocks noGrp="1"/>
          </p:cNvSpPr>
          <p:nvPr>
            <p:ph type="sldNum" sz="quarter" idx="5"/>
          </p:nvPr>
        </p:nvSpPr>
        <p:spPr/>
        <p:txBody>
          <a:bodyPr/>
          <a:lstStyle/>
          <a:p>
            <a:pPr>
              <a:defRPr/>
            </a:pPr>
            <a:fld id="{0FDFEFD1-067E-4A1C-A343-40F5E2ADE709}" type="slidenum">
              <a:rPr lang="zh-CN" altLang="en-US" smtClean="0"/>
              <a:t>110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字符串也有类似的</a:t>
            </a:r>
            <a:r>
              <a:rPr lang="en-US" altLang="zh-CN" dirty="0"/>
              <a:t>`</a:t>
            </a:r>
            <a:r>
              <a:rPr lang="en-US" altLang="zh-CN" dirty="0" err="1"/>
              <a:t>sscanf</a:t>
            </a:r>
            <a:r>
              <a:rPr lang="en-US" altLang="zh-CN" dirty="0"/>
              <a:t>()`</a:t>
            </a:r>
            <a:r>
              <a:rPr lang="zh-CN" altLang="en-US" dirty="0"/>
              <a:t>、</a:t>
            </a:r>
            <a:r>
              <a:rPr lang="en-US" altLang="zh-CN" dirty="0"/>
              <a:t>`</a:t>
            </a:r>
            <a:r>
              <a:rPr lang="en-US" altLang="zh-CN" dirty="0" err="1"/>
              <a:t>sprintf</a:t>
            </a:r>
            <a:r>
              <a:rPr lang="en-US" altLang="zh-CN" dirty="0"/>
              <a:t>()`</a:t>
            </a:r>
            <a:r>
              <a:rPr lang="zh-CN" altLang="en-US" dirty="0"/>
              <a:t>。</a:t>
            </a:r>
            <a:endParaRPr lang="en-GB" altLang="zh-CN" dirty="0"/>
          </a:p>
          <a:p>
            <a:r>
              <a:rPr lang="en-US" altLang="zh-CN" dirty="0"/>
              <a:t>`</a:t>
            </a:r>
            <a:r>
              <a:rPr lang="en-US" altLang="zh-CN" dirty="0" err="1"/>
              <a:t>fgetc</a:t>
            </a:r>
            <a:r>
              <a:rPr lang="en-US" altLang="zh-CN" dirty="0"/>
              <a:t>()`</a:t>
            </a:r>
            <a:r>
              <a:rPr lang="zh-CN" altLang="en-US" dirty="0"/>
              <a:t>不能用</a:t>
            </a:r>
            <a:r>
              <a:rPr lang="en-US" altLang="zh-CN" dirty="0"/>
              <a:t>`unsigned char`</a:t>
            </a:r>
            <a:r>
              <a:rPr lang="zh-CN" altLang="en-US" dirty="0"/>
              <a:t>接收，不然处理</a:t>
            </a:r>
            <a:r>
              <a:rPr lang="en-US" altLang="zh-CN" dirty="0"/>
              <a:t>`EOF`</a:t>
            </a:r>
            <a:r>
              <a:rPr lang="zh-CN" altLang="en-US" dirty="0"/>
              <a:t>会有问题；用一般的</a:t>
            </a:r>
            <a:r>
              <a:rPr lang="en-US" altLang="zh-CN" dirty="0"/>
              <a:t>`char`</a:t>
            </a:r>
            <a:r>
              <a:rPr lang="zh-CN" altLang="en-US" dirty="0"/>
              <a:t>或</a:t>
            </a:r>
            <a:r>
              <a:rPr lang="en-US" altLang="zh-CN" dirty="0"/>
              <a:t>`signed char`</a:t>
            </a:r>
            <a:r>
              <a:rPr lang="zh-CN" altLang="en-US" dirty="0"/>
              <a:t>可以。</a:t>
            </a:r>
            <a:endParaRPr lang="en-US" altLang="zh-CN" dirty="0"/>
          </a:p>
          <a:p>
            <a:r>
              <a:rPr lang="en-US" altLang="zh-CN" dirty="0"/>
              <a:t>`</a:t>
            </a:r>
            <a:r>
              <a:rPr lang="en-US" altLang="zh-CN" dirty="0" err="1"/>
              <a:t>fgets</a:t>
            </a:r>
            <a:r>
              <a:rPr lang="en-US" altLang="zh-CN" dirty="0"/>
              <a:t>(str, count, </a:t>
            </a:r>
            <a:r>
              <a:rPr lang="en-US" altLang="zh-CN" dirty="0" err="1"/>
              <a:t>fp</a:t>
            </a:r>
            <a:r>
              <a:rPr lang="en-US" altLang="zh-CN" dirty="0"/>
              <a:t>)`</a:t>
            </a:r>
            <a:r>
              <a:rPr lang="zh-CN" altLang="en-US" dirty="0"/>
              <a:t>与</a:t>
            </a:r>
            <a:r>
              <a:rPr lang="en-US" altLang="zh-CN" dirty="0"/>
              <a:t>`</a:t>
            </a:r>
            <a:r>
              <a:rPr lang="en-US" altLang="zh-CN" dirty="0" err="1"/>
              <a:t>gets_s</a:t>
            </a:r>
            <a:r>
              <a:rPr lang="en-US" altLang="zh-CN" dirty="0"/>
              <a:t>(str, count)`</a:t>
            </a:r>
            <a:r>
              <a:rPr lang="zh-CN" altLang="en-US" dirty="0"/>
              <a:t>更像。后者是 </a:t>
            </a:r>
            <a:r>
              <a:rPr lang="en-US" altLang="zh-CN" dirty="0"/>
              <a:t>C11 </a:t>
            </a:r>
            <a:r>
              <a:rPr lang="zh-CN" altLang="en-US" dirty="0"/>
              <a:t>引入的；另外，</a:t>
            </a:r>
            <a:r>
              <a:rPr lang="en-US" altLang="zh-CN" dirty="0"/>
              <a:t>C11 </a:t>
            </a:r>
            <a:r>
              <a:rPr lang="zh-CN" altLang="en-US" dirty="0"/>
              <a:t>以后（不含 </a:t>
            </a:r>
            <a:r>
              <a:rPr lang="en-US" altLang="zh-CN" dirty="0"/>
              <a:t>C11</a:t>
            </a:r>
            <a:r>
              <a:rPr lang="zh-CN" altLang="en-US" dirty="0"/>
              <a:t>）的 </a:t>
            </a:r>
            <a:r>
              <a:rPr lang="en-US" altLang="zh-CN" dirty="0"/>
              <a:t>C </a:t>
            </a:r>
            <a:r>
              <a:rPr lang="zh-CN" altLang="en-US" dirty="0"/>
              <a:t>移除了 </a:t>
            </a:r>
            <a:r>
              <a:rPr lang="en-US" altLang="zh-CN" dirty="0"/>
              <a:t>`gets()`</a:t>
            </a:r>
            <a:r>
              <a:rPr lang="zh-CN" altLang="en-US" dirty="0"/>
              <a:t>。</a:t>
            </a:r>
            <a:endParaRPr lang="en-US" altLang="zh-CN" dirty="0"/>
          </a:p>
          <a:p>
            <a:r>
              <a:rPr lang="en-US" altLang="zh-CN" dirty="0" err="1"/>
              <a:t>fp</a:t>
            </a:r>
            <a:r>
              <a:rPr lang="zh-CN" altLang="en-US" dirty="0"/>
              <a:t>是第几个参数？</a:t>
            </a:r>
          </a:p>
        </p:txBody>
      </p:sp>
      <p:sp>
        <p:nvSpPr>
          <p:cNvPr id="4" name="灯片编号占位符 3"/>
          <p:cNvSpPr>
            <a:spLocks noGrp="1"/>
          </p:cNvSpPr>
          <p:nvPr>
            <p:ph type="sldNum" sz="quarter" idx="5"/>
          </p:nvPr>
        </p:nvSpPr>
        <p:spPr/>
        <p:txBody>
          <a:bodyPr/>
          <a:lstStyle/>
          <a:p>
            <a:pPr>
              <a:defRPr/>
            </a:pPr>
            <a:fld id="{0FDFEFD1-067E-4A1C-A343-40F5E2ADE709}" type="slidenum">
              <a:rPr lang="zh-CN" altLang="en-US" smtClean="0"/>
              <a:t>113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文档结尾返回</a:t>
            </a:r>
            <a:r>
              <a:rPr lang="en-US" altLang="zh-CN"/>
              <a:t>EOF</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526374F-0C0C-4755-89E8-8FC748C66BC7}" type="slidenum">
              <a:rPr lang="zh-CN" altLang="en-US" smtClean="0"/>
              <a:t>117</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链表的优势</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C21447-1247-475F-81A9-0FC4ADD9F326}" type="slidenum">
              <a:rPr lang="zh-CN" altLang="en-US" smtClean="0"/>
              <a:t>127</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526374F-0C0C-4755-89E8-8FC748C66BC7}" type="slidenum">
              <a:rPr lang="zh-CN" altLang="en-US" smtClean="0"/>
              <a:t>132</a:t>
            </a:fld>
            <a:endParaRPr lang="zh-CN" altLang="en-US"/>
          </a:p>
        </p:txBody>
      </p:sp>
    </p:spTree>
    <p:extLst>
      <p:ext uri="{BB962C8B-B14F-4D97-AF65-F5344CB8AC3E}">
        <p14:creationId xmlns:p14="http://schemas.microsoft.com/office/powerpoint/2010/main" val="40830941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12/23/2023</a:t>
            </a:fld>
            <a:endParaRPr lang="en-US" dirty="0"/>
          </a:p>
        </p:txBody>
      </p:sp>
      <p:sp>
        <p:nvSpPr>
          <p:cNvPr id="5" name="Footer Placeholder 4"/>
          <p:cNvSpPr>
            <a:spLocks noGrp="1"/>
          </p:cNvSpPr>
          <p:nvPr>
            <p:ph type="ftr" sz="quarter" idx="11"/>
          </p:nvPr>
        </p:nvSpPr>
        <p:spPr/>
        <p:txBody>
          <a:bodyPr/>
          <a:lstStyle/>
          <a:p>
            <a:endParaRPr lang="en-US" dirty="0"/>
          </a:p>
        </p:txBody>
      </p:sp>
      <p:pic>
        <p:nvPicPr>
          <p:cNvPr id="7" name="图片 6">
            <a:extLst>
              <a:ext uri="{FF2B5EF4-FFF2-40B4-BE49-F238E27FC236}">
                <a16:creationId xmlns:a16="http://schemas.microsoft.com/office/drawing/2014/main" id="{B6FD8910-C885-B814-08CD-1162ED09DAF1}"/>
              </a:ext>
            </a:extLst>
          </p:cNvPr>
          <p:cNvPicPr>
            <a:picLocks noChangeAspect="1"/>
          </p:cNvPicPr>
          <p:nvPr userDrawn="1"/>
        </p:nvPicPr>
        <p:blipFill>
          <a:blip r:embed="rId2"/>
          <a:stretch>
            <a:fillRect/>
          </a:stretch>
        </p:blipFill>
        <p:spPr>
          <a:xfrm>
            <a:off x="1" y="3037352"/>
            <a:ext cx="7930836" cy="3820649"/>
          </a:xfrm>
          <a:prstGeom prst="rect">
            <a:avLst/>
          </a:prstGeom>
        </p:spPr>
      </p:pic>
      <p:sp>
        <p:nvSpPr>
          <p:cNvPr id="8" name="副标题 2">
            <a:extLst>
              <a:ext uri="{FF2B5EF4-FFF2-40B4-BE49-F238E27FC236}">
                <a16:creationId xmlns:a16="http://schemas.microsoft.com/office/drawing/2014/main" id="{73B83F6F-CBEC-A087-1609-2E04D4D10FCE}"/>
              </a:ext>
            </a:extLst>
          </p:cNvPr>
          <p:cNvSpPr>
            <a:spLocks noGrp="1"/>
          </p:cNvSpPr>
          <p:nvPr>
            <p:ph type="subTitle" idx="1"/>
          </p:nvPr>
        </p:nvSpPr>
        <p:spPr>
          <a:xfrm>
            <a:off x="669925" y="3079043"/>
            <a:ext cx="10850563" cy="475132"/>
          </a:xfrm>
        </p:spPr>
        <p:txBody>
          <a:bodyPr anchor="ctr">
            <a:normAutofit/>
          </a:bodyPr>
          <a:lstStyle>
            <a:lvl1pPr marL="0" marR="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marR="0" lvl="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a:pPr>
            <a:r>
              <a:rPr lang="en-US" altLang="zh-CN" dirty="0"/>
              <a:t>Click to edit Master subtitle style</a:t>
            </a:r>
          </a:p>
        </p:txBody>
      </p:sp>
      <p:sp>
        <p:nvSpPr>
          <p:cNvPr id="9" name="标题 1">
            <a:extLst>
              <a:ext uri="{FF2B5EF4-FFF2-40B4-BE49-F238E27FC236}">
                <a16:creationId xmlns:a16="http://schemas.microsoft.com/office/drawing/2014/main" id="{63548EDC-C148-9238-ED3C-2787584E6281}"/>
              </a:ext>
            </a:extLst>
          </p:cNvPr>
          <p:cNvSpPr>
            <a:spLocks noGrp="1"/>
          </p:cNvSpPr>
          <p:nvPr>
            <p:ph type="ctrTitle"/>
          </p:nvPr>
        </p:nvSpPr>
        <p:spPr>
          <a:xfrm>
            <a:off x="669925" y="2321170"/>
            <a:ext cx="10850563" cy="749082"/>
          </a:xfrm>
        </p:spPr>
        <p:txBody>
          <a:bodyPr anchor="ctr">
            <a:normAutofit/>
          </a:bodyPr>
          <a:lstStyle>
            <a:lvl1pPr algn="r">
              <a:defRPr sz="2700" b="1">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3783420967"/>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Tree>
    <p:extLst>
      <p:ext uri="{BB962C8B-B14F-4D97-AF65-F5344CB8AC3E}">
        <p14:creationId xmlns:p14="http://schemas.microsoft.com/office/powerpoint/2010/main" val="1373363372"/>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92303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红">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nvPr>
        </p:nvSpPr>
        <p:spPr>
          <a:xfrm>
            <a:off x="696384" y="104776"/>
            <a:ext cx="4679949" cy="803274"/>
          </a:xfrm>
          <a:prstGeom prst="rect">
            <a:avLst/>
          </a:prstGeom>
        </p:spPr>
        <p:txBody>
          <a:bodyPr/>
          <a:lstStyle>
            <a:lvl1pPr algn="l">
              <a:defRPr/>
            </a:lvl1pPr>
          </a:lstStyle>
          <a:p>
            <a:r>
              <a:rPr lang="zh-CN" altLang="en-US" sz="4400" dirty="0">
                <a:latin typeface="华文楷体" panose="02010600040101010101" pitchFamily="2" charset="-122"/>
                <a:ea typeface="华文楷体" panose="02010600040101010101" pitchFamily="2" charset="-122"/>
              </a:rPr>
              <a:t>节标题</a:t>
            </a:r>
          </a:p>
        </p:txBody>
      </p:sp>
      <p:sp>
        <p:nvSpPr>
          <p:cNvPr id="13" name="内容占位符 11"/>
          <p:cNvSpPr>
            <a:spLocks noGrp="1"/>
          </p:cNvSpPr>
          <p:nvPr>
            <p:ph sz="quarter" idx="10"/>
          </p:nvPr>
        </p:nvSpPr>
        <p:spPr>
          <a:xfrm>
            <a:off x="604308" y="1135064"/>
            <a:ext cx="10983384" cy="499623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62184957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2387601" y="567267"/>
            <a:ext cx="2705100" cy="1570567"/>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3" name="矩形 7"/>
          <p:cNvSpPr/>
          <p:nvPr userDrawn="1"/>
        </p:nvSpPr>
        <p:spPr>
          <a:xfrm rot="5400000">
            <a:off x="3747030" y="778405"/>
            <a:ext cx="3127375" cy="1570567"/>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椭圆 12"/>
          <p:cNvSpPr/>
          <p:nvPr userDrawn="1"/>
        </p:nvSpPr>
        <p:spPr>
          <a:xfrm rot="5400000">
            <a:off x="7099301" y="567267"/>
            <a:ext cx="2705100" cy="1570567"/>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椭圆 13"/>
          <p:cNvSpPr/>
          <p:nvPr userDrawn="1"/>
        </p:nvSpPr>
        <p:spPr>
          <a:xfrm rot="5400000">
            <a:off x="5316803" y="779199"/>
            <a:ext cx="3128963" cy="1570567"/>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6" name="弧形 5"/>
          <p:cNvSpPr/>
          <p:nvPr userDrawn="1"/>
        </p:nvSpPr>
        <p:spPr>
          <a:xfrm>
            <a:off x="2766485" y="-3351213"/>
            <a:ext cx="6659033" cy="6659563"/>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a:p>
        </p:txBody>
      </p:sp>
      <p:sp>
        <p:nvSpPr>
          <p:cNvPr id="7" name="椭圆 6"/>
          <p:cNvSpPr/>
          <p:nvPr userDrawn="1"/>
        </p:nvSpPr>
        <p:spPr>
          <a:xfrm>
            <a:off x="5990167" y="3219450"/>
            <a:ext cx="211667" cy="2095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0"/>
            <a:ext cx="300567" cy="962025"/>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7" name="组合 6"/>
          <p:cNvGrpSpPr/>
          <p:nvPr userDrawn="1"/>
        </p:nvGrpSpPr>
        <p:grpSpPr bwMode="auto">
          <a:xfrm rot="10800000">
            <a:off x="11734801" y="6616700"/>
            <a:ext cx="302684" cy="241300"/>
            <a:chOff x="161510" y="0"/>
            <a:chExt cx="225739" cy="721610"/>
          </a:xfrm>
        </p:grpSpPr>
        <p:sp>
          <p:nvSpPr>
            <p:cNvPr id="8" name="矩形 7"/>
            <p:cNvSpPr/>
            <p:nvPr/>
          </p:nvSpPr>
          <p:spPr>
            <a:xfrm>
              <a:off x="163089" y="0"/>
              <a:ext cx="45779"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9" name="矩形 8"/>
            <p:cNvSpPr/>
            <p:nvPr/>
          </p:nvSpPr>
          <p:spPr>
            <a:xfrm>
              <a:off x="223076" y="0"/>
              <a:ext cx="45779"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0" name="矩形 9"/>
            <p:cNvSpPr/>
            <p:nvPr/>
          </p:nvSpPr>
          <p:spPr>
            <a:xfrm>
              <a:off x="283062" y="0"/>
              <a:ext cx="45779"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1" name="矩形 10"/>
            <p:cNvSpPr/>
            <p:nvPr/>
          </p:nvSpPr>
          <p:spPr>
            <a:xfrm>
              <a:off x="343048" y="0"/>
              <a:ext cx="45779"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矩形 1"/>
          <p:cNvSpPr/>
          <p:nvPr userDrawn="1"/>
        </p:nvSpPr>
        <p:spPr>
          <a:xfrm>
            <a:off x="0" y="3608389"/>
            <a:ext cx="12192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3" name="Picture 2" descr="C:\Documents and Settings\yangweizhou\桌面\2.jpg"/>
          <p:cNvPicPr>
            <a:picLocks noChangeAspect="1" noChangeArrowheads="1"/>
          </p:cNvPicPr>
          <p:nvPr userDrawn="1"/>
        </p:nvPicPr>
        <p:blipFill>
          <a:blip r:embed="rId2">
            <a:extLst>
              <a:ext uri="{28A0092B-C50C-407E-A947-70E740481C1C}">
                <a14:useLocalDpi xmlns:a14="http://schemas.microsoft.com/office/drawing/2010/main" val="0"/>
              </a:ext>
            </a:extLst>
          </a:blip>
          <a:srcRect b="20467"/>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绿">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nvPr>
        </p:nvSpPr>
        <p:spPr>
          <a:xfrm>
            <a:off x="696384" y="104776"/>
            <a:ext cx="4738081" cy="803274"/>
          </a:xfrm>
          <a:prstGeom prst="rect">
            <a:avLst/>
          </a:prstGeom>
        </p:spPr>
        <p:txBody>
          <a:bodyPr/>
          <a:lstStyle>
            <a:lvl1pPr algn="l">
              <a:defRPr baseline="0"/>
            </a:lvl1pPr>
          </a:lstStyle>
          <a:p>
            <a:r>
              <a:rPr lang="zh-CN" altLang="en-US" sz="4400" dirty="0">
                <a:latin typeface="华文楷体" panose="02010600040101010101" pitchFamily="2" charset="-122"/>
                <a:ea typeface="华文楷体" panose="02010600040101010101" pitchFamily="2" charset="-122"/>
              </a:rPr>
              <a:t>节标题</a:t>
            </a:r>
          </a:p>
        </p:txBody>
      </p:sp>
      <p:sp>
        <p:nvSpPr>
          <p:cNvPr id="13" name="内容占位符 11"/>
          <p:cNvSpPr>
            <a:spLocks noGrp="1"/>
          </p:cNvSpPr>
          <p:nvPr>
            <p:ph sz="quarter" idx="10"/>
          </p:nvPr>
        </p:nvSpPr>
        <p:spPr>
          <a:xfrm>
            <a:off x="604308" y="1135064"/>
            <a:ext cx="10983384" cy="499623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节标题-绿">
    <p:bg>
      <p:bgPr>
        <a:solidFill>
          <a:srgbClr val="92D050"/>
        </a:solidFill>
        <a:effectLst/>
      </p:bgPr>
    </p:bg>
    <p:spTree>
      <p:nvGrpSpPr>
        <p:cNvPr id="1" name=""/>
        <p:cNvGrpSpPr/>
        <p:nvPr/>
      </p:nvGrpSpPr>
      <p:grpSpPr>
        <a:xfrm>
          <a:off x="0" y="0"/>
          <a:ext cx="0" cy="0"/>
          <a:chOff x="0" y="0"/>
          <a:chExt cx="0" cy="0"/>
        </a:xfrm>
      </p:grpSpPr>
      <p:sp>
        <p:nvSpPr>
          <p:cNvPr id="3" name="矩形 2"/>
          <p:cNvSpPr/>
          <p:nvPr userDrawn="1"/>
        </p:nvSpPr>
        <p:spPr>
          <a:xfrm>
            <a:off x="0" y="3024188"/>
            <a:ext cx="12192000" cy="44926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200" eaLnBrk="1" fontAlgn="auto" hangingPunct="1">
              <a:spcBef>
                <a:spcPts val="0"/>
              </a:spcBef>
              <a:spcAft>
                <a:spcPts val="0"/>
              </a:spcAft>
              <a:defRPr/>
            </a:pPr>
            <a:endParaRPr lang="zh-CN" altLang="en-US" sz="1800">
              <a:solidFill>
                <a:prstClr val="white"/>
              </a:solidFill>
              <a:cs typeface="+mn-ea"/>
              <a:sym typeface="+mn-lt"/>
            </a:endParaRPr>
          </a:p>
        </p:txBody>
      </p:sp>
      <p:sp>
        <p:nvSpPr>
          <p:cNvPr id="7" name="标题 6"/>
          <p:cNvSpPr>
            <a:spLocks noGrp="1"/>
          </p:cNvSpPr>
          <p:nvPr>
            <p:ph type="title" hasCustomPrompt="1"/>
          </p:nvPr>
        </p:nvSpPr>
        <p:spPr>
          <a:xfrm>
            <a:off x="5350933" y="2116668"/>
            <a:ext cx="6299200" cy="907521"/>
          </a:xfrm>
          <a:prstGeom prst="rect">
            <a:avLst/>
          </a:prstGeom>
        </p:spPr>
        <p:txBody>
          <a:bodyPr/>
          <a:lstStyle>
            <a:lvl1pPr algn="r" defTabSz="1219200" eaLnBrk="1" fontAlgn="auto" hangingPunct="1">
              <a:spcBef>
                <a:spcPts val="0"/>
              </a:spcBef>
              <a:spcAft>
                <a:spcPts val="0"/>
              </a:spcAft>
              <a:defRPr sz="4800">
                <a:solidFill>
                  <a:prstClr val="white"/>
                </a:solidFill>
              </a:defRPr>
            </a:lvl1pPr>
          </a:lstStyle>
          <a:p>
            <a:pPr algn="r" defTabSz="1219200" eaLnBrk="1" fontAlgn="auto" hangingPunct="1">
              <a:spcBef>
                <a:spcPts val="0"/>
              </a:spcBef>
              <a:spcAft>
                <a:spcPts val="0"/>
              </a:spcAft>
              <a:defRPr/>
            </a:pPr>
            <a:r>
              <a:rPr lang="zh-CN" altLang="en-US" sz="4400" dirty="0">
                <a:solidFill>
                  <a:prstClr val="white"/>
                </a:solidFill>
                <a:latin typeface="Microsoft YaHei UI" panose="020B0503020204020204" pitchFamily="34" charset="-122"/>
                <a:ea typeface="微软雅黑" panose="020B0503020204020204" pitchFamily="34" charset="-122"/>
                <a:cs typeface="+mn-ea"/>
                <a:sym typeface="+mn-lt"/>
              </a:rPr>
              <a:t>节标题</a:t>
            </a:r>
          </a:p>
        </p:txBody>
      </p:sp>
      <p:sp>
        <p:nvSpPr>
          <p:cNvPr id="9" name="文本占位符 8"/>
          <p:cNvSpPr>
            <a:spLocks noGrp="1"/>
          </p:cNvSpPr>
          <p:nvPr>
            <p:ph type="body" sz="quarter" idx="10" hasCustomPrompt="1"/>
          </p:nvPr>
        </p:nvSpPr>
        <p:spPr>
          <a:xfrm>
            <a:off x="10111508" y="3017987"/>
            <a:ext cx="1538626" cy="461665"/>
          </a:xfrm>
          <a:prstGeom prst="rect">
            <a:avLst/>
          </a:prstGeom>
        </p:spPr>
        <p:txBody>
          <a:bodyPr wrap="none">
            <a:spAutoFit/>
          </a:bodyPr>
          <a:lstStyle>
            <a:lvl1pPr marL="0" indent="0" algn="r">
              <a:buNone/>
              <a:defRPr lang="zh-CN" altLang="en-US" sz="2400" dirty="0" smtClean="0">
                <a:solidFill>
                  <a:prstClr val="white"/>
                </a:solidFill>
                <a:latin typeface="Microsoft YaHei UI" panose="020B0503020204020204" pitchFamily="34" charset="-122"/>
                <a:ea typeface="微软雅黑" panose="020B0503020204020204" pitchFamily="34" charset="-122"/>
                <a:cs typeface="+mn-ea"/>
              </a:defRPr>
            </a:lvl1pPr>
            <a:lvl2pPr>
              <a:defRPr lang="zh-CN" altLang="en-US" dirty="0" smtClean="0">
                <a:latin typeface="Microsoft YaHei UI" panose="020B0503020204020204" pitchFamily="34" charset="-122"/>
                <a:ea typeface="微软雅黑" panose="020B0503020204020204" pitchFamily="34" charset="-122"/>
              </a:defRPr>
            </a:lvl2pPr>
            <a:lvl3pPr>
              <a:defRPr lang="zh-CN" altLang="en-US" dirty="0" smtClean="0">
                <a:latin typeface="Microsoft YaHei UI" panose="020B0503020204020204" pitchFamily="34" charset="-122"/>
                <a:ea typeface="微软雅黑" panose="020B0503020204020204" pitchFamily="34" charset="-122"/>
              </a:defRPr>
            </a:lvl3pPr>
            <a:lvl4pPr>
              <a:defRPr lang="zh-CN" altLang="en-US" dirty="0" smtClean="0">
                <a:latin typeface="Microsoft YaHei UI" panose="020B0503020204020204" pitchFamily="34" charset="-122"/>
                <a:ea typeface="微软雅黑" panose="020B0503020204020204" pitchFamily="34" charset="-122"/>
              </a:defRPr>
            </a:lvl4pPr>
            <a:lvl5pPr>
              <a:defRPr lang="zh-CN" altLang="en-US" dirty="0">
                <a:latin typeface="Microsoft YaHei UI" panose="020B0503020204020204" pitchFamily="34" charset="-122"/>
                <a:ea typeface="微软雅黑" panose="020B0503020204020204" pitchFamily="34" charset="-122"/>
              </a:defRPr>
            </a:lvl5pPr>
          </a:lstStyle>
          <a:p>
            <a:pPr lvl="0" algn="r" defTabSz="1219200" eaLnBrk="1" fontAlgn="auto" hangingPunct="1">
              <a:spcBef>
                <a:spcPts val="0"/>
              </a:spcBef>
              <a:spcAft>
                <a:spcPts val="0"/>
              </a:spcAft>
            </a:pPr>
            <a:r>
              <a:rPr lang="en-US" altLang="zh-CN" dirty="0"/>
              <a:t>Part Zero</a:t>
            </a:r>
            <a:endParaRPr lang="zh-CN" altLang="en-US" dirty="0"/>
          </a:p>
        </p:txBody>
      </p:sp>
      <p:sp>
        <p:nvSpPr>
          <p:cNvPr id="11" name="文本占位符 10"/>
          <p:cNvSpPr>
            <a:spLocks noGrp="1"/>
          </p:cNvSpPr>
          <p:nvPr>
            <p:ph type="body" sz="quarter" idx="11" hasCustomPrompt="1"/>
          </p:nvPr>
        </p:nvSpPr>
        <p:spPr>
          <a:xfrm>
            <a:off x="1" y="-573747"/>
            <a:ext cx="5170647" cy="8094395"/>
          </a:xfrm>
          <a:prstGeom prst="rect">
            <a:avLst/>
          </a:prstGeom>
          <a:noFill/>
          <a:effectLst>
            <a:outerShdw blurRad="165100" dist="76200" dir="1200000" algn="tl" rotWithShape="0">
              <a:prstClr val="black">
                <a:alpha val="10000"/>
              </a:prstClr>
            </a:outerShdw>
          </a:effectLst>
        </p:spPr>
        <p:txBody>
          <a:bodyPr wrap="square">
            <a:spAutoFit/>
          </a:bodyPr>
          <a:lstStyle>
            <a:lvl1pPr marL="0" indent="0">
              <a:buNone/>
              <a:defRPr lang="zh-CN" altLang="en-US" sz="52000" smtClean="0">
                <a:solidFill>
                  <a:prstClr val="white"/>
                </a:solidFill>
                <a:latin typeface="Microsoft YaHei UI" panose="020B0503020204020204" pitchFamily="34" charset="-122"/>
                <a:ea typeface="微软雅黑" panose="020B0503020204020204" pitchFamily="34" charset="-122"/>
                <a:cs typeface="+mn-ea"/>
              </a:defRPr>
            </a:lvl1pPr>
            <a:lvl2pPr>
              <a:defRPr lang="zh-CN" altLang="en-US" smtClean="0">
                <a:latin typeface="Microsoft YaHei UI" panose="020B0503020204020204" pitchFamily="34" charset="-122"/>
                <a:ea typeface="微软雅黑" panose="020B0503020204020204" pitchFamily="34" charset="-122"/>
              </a:defRPr>
            </a:lvl2pPr>
            <a:lvl3pPr>
              <a:defRPr lang="zh-CN" altLang="en-US" smtClean="0">
                <a:latin typeface="Microsoft YaHei UI" panose="020B0503020204020204" pitchFamily="34" charset="-122"/>
                <a:ea typeface="微软雅黑" panose="020B0503020204020204" pitchFamily="34" charset="-122"/>
              </a:defRPr>
            </a:lvl3pPr>
            <a:lvl4pPr>
              <a:defRPr lang="zh-CN" altLang="en-US" smtClean="0">
                <a:latin typeface="Microsoft YaHei UI" panose="020B0503020204020204" pitchFamily="34" charset="-122"/>
                <a:ea typeface="微软雅黑" panose="020B0503020204020204" pitchFamily="34" charset="-122"/>
              </a:defRPr>
            </a:lvl4pPr>
            <a:lvl5pPr>
              <a:defRPr lang="zh-CN" altLang="en-US">
                <a:latin typeface="Microsoft YaHei UI" panose="020B0503020204020204" pitchFamily="34" charset="-122"/>
                <a:ea typeface="微软雅黑" panose="020B0503020204020204" pitchFamily="34" charset="-122"/>
              </a:defRPr>
            </a:lvl5pPr>
          </a:lstStyle>
          <a:p>
            <a:pPr lvl="0" defTabSz="1219200" eaLnBrk="1" fontAlgn="auto" hangingPunct="1">
              <a:spcBef>
                <a:spcPts val="0"/>
              </a:spcBef>
              <a:spcAft>
                <a:spcPts val="0"/>
              </a:spcAft>
            </a:pPr>
            <a:r>
              <a:rPr lang="en-US" altLang="zh-CN" dirty="0"/>
              <a:t>0</a:t>
            </a:r>
            <a:endParaRPr lang="zh-CN" altLang="en-US" dirty="0"/>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1102" name="图片 1101"/>
          <p:cNvPicPr>
            <a:picLocks noChangeAspect="1"/>
          </p:cNvPicPr>
          <p:nvPr userDrawn="1"/>
        </p:nvPicPr>
        <p:blipFill>
          <a:blip r:embed="rId2"/>
          <a:stretch>
            <a:fillRect/>
          </a:stretch>
        </p:blipFill>
        <p:spPr>
          <a:xfrm>
            <a:off x="1" y="3037352"/>
            <a:ext cx="7930836" cy="3820649"/>
          </a:xfrm>
          <a:prstGeom prst="rect">
            <a:avLst/>
          </a:prstGeom>
        </p:spPr>
      </p:pic>
      <p:sp>
        <p:nvSpPr>
          <p:cNvPr id="9801" name="副标题 2"/>
          <p:cNvSpPr>
            <a:spLocks noGrp="1"/>
          </p:cNvSpPr>
          <p:nvPr userDrawn="1">
            <p:ph type="subTitle" idx="1"/>
          </p:nvPr>
        </p:nvSpPr>
        <p:spPr>
          <a:xfrm>
            <a:off x="669925" y="3079043"/>
            <a:ext cx="10850563" cy="475132"/>
          </a:xfrm>
        </p:spPr>
        <p:txBody>
          <a:bodyPr anchor="ctr">
            <a:normAutofit/>
          </a:bodyPr>
          <a:lstStyle>
            <a:lvl1pPr marL="0" marR="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marR="0" lvl="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a:pPr>
            <a:r>
              <a:rPr lang="en-US" altLang="zh-CN" dirty="0"/>
              <a:t>Click to edit Master subtitle style</a:t>
            </a:r>
          </a:p>
        </p:txBody>
      </p:sp>
      <p:sp>
        <p:nvSpPr>
          <p:cNvPr id="9802" name="标题 1"/>
          <p:cNvSpPr>
            <a:spLocks noGrp="1"/>
          </p:cNvSpPr>
          <p:nvPr userDrawn="1">
            <p:ph type="ctrTitle"/>
          </p:nvPr>
        </p:nvSpPr>
        <p:spPr>
          <a:xfrm>
            <a:off x="669925" y="2321170"/>
            <a:ext cx="10850563" cy="749082"/>
          </a:xfrm>
        </p:spPr>
        <p:txBody>
          <a:bodyPr anchor="ctr">
            <a:normAutofit/>
          </a:bodyPr>
          <a:lstStyle>
            <a:lvl1pPr algn="r">
              <a:defRPr sz="2700" b="1">
                <a:solidFill>
                  <a:schemeClr val="tx1"/>
                </a:solidFill>
              </a:defRPr>
            </a:lvl1pPr>
          </a:lstStyle>
          <a:p>
            <a:r>
              <a:rPr lang="en-US" altLang="zh-CN"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315"/>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grpSp>
        <p:nvGrpSpPr>
          <p:cNvPr id="5" name="组合 4"/>
          <p:cNvGrpSpPr/>
          <p:nvPr userDrawn="1"/>
        </p:nvGrpSpPr>
        <p:grpSpPr>
          <a:xfrm rot="10800000">
            <a:off x="11735675" y="6618622"/>
            <a:ext cx="140967" cy="240579"/>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cxnSp>
        <p:nvCxnSpPr>
          <p:cNvPr id="8" name="直接连接符 7"/>
          <p:cNvCxnSpPr/>
          <p:nvPr userDrawn="1"/>
        </p:nvCxnSpPr>
        <p:spPr>
          <a:xfrm>
            <a:off x="696384" y="908209"/>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421546"/>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标题和内容">
    <p:spTree>
      <p:nvGrpSpPr>
        <p:cNvPr id="1" name=""/>
        <p:cNvGrpSpPr/>
        <p:nvPr/>
      </p:nvGrpSpPr>
      <p:grpSpPr>
        <a:xfrm>
          <a:off x="0" y="0"/>
          <a:ext cx="0" cy="0"/>
          <a:chOff x="0" y="0"/>
          <a:chExt cx="0" cy="0"/>
        </a:xfrm>
      </p:grpSpPr>
      <p:sp>
        <p:nvSpPr>
          <p:cNvPr id="2" name="椭圆 1"/>
          <p:cNvSpPr/>
          <p:nvPr userDrawn="1"/>
        </p:nvSpPr>
        <p:spPr>
          <a:xfrm rot="5400000">
            <a:off x="2387601" y="567366"/>
            <a:ext cx="2705100" cy="1570841"/>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3" name="矩形 7"/>
          <p:cNvSpPr/>
          <p:nvPr userDrawn="1"/>
        </p:nvSpPr>
        <p:spPr>
          <a:xfrm rot="5400000">
            <a:off x="3747030" y="778542"/>
            <a:ext cx="3127375" cy="1570841"/>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4" name="椭圆 12"/>
          <p:cNvSpPr/>
          <p:nvPr userDrawn="1"/>
        </p:nvSpPr>
        <p:spPr>
          <a:xfrm rot="5400000">
            <a:off x="7099301" y="567366"/>
            <a:ext cx="2705100" cy="1570841"/>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5" name="椭圆 13"/>
          <p:cNvSpPr/>
          <p:nvPr userDrawn="1"/>
        </p:nvSpPr>
        <p:spPr>
          <a:xfrm rot="5400000">
            <a:off x="5316803" y="779335"/>
            <a:ext cx="3128963" cy="1570841"/>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6" name="弧形 5"/>
          <p:cNvSpPr/>
          <p:nvPr userDrawn="1"/>
        </p:nvSpPr>
        <p:spPr>
          <a:xfrm>
            <a:off x="2766485" y="-3351799"/>
            <a:ext cx="6659033" cy="6660728"/>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350"/>
          </a:p>
        </p:txBody>
      </p:sp>
      <p:sp>
        <p:nvSpPr>
          <p:cNvPr id="7" name="椭圆 6"/>
          <p:cNvSpPr/>
          <p:nvPr userDrawn="1"/>
        </p:nvSpPr>
        <p:spPr>
          <a:xfrm>
            <a:off x="5990167" y="3220014"/>
            <a:ext cx="211667" cy="2095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315"/>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grpSp>
        <p:nvGrpSpPr>
          <p:cNvPr id="5" name="组合 4"/>
          <p:cNvGrpSpPr/>
          <p:nvPr userDrawn="1"/>
        </p:nvGrpSpPr>
        <p:grpSpPr>
          <a:xfrm rot="10800000">
            <a:off x="11735675" y="6618622"/>
            <a:ext cx="140967" cy="240579"/>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cxnSp>
        <p:nvCxnSpPr>
          <p:cNvPr id="8" name="直接连接符 7"/>
          <p:cNvCxnSpPr/>
          <p:nvPr userDrawn="1"/>
        </p:nvCxnSpPr>
        <p:spPr>
          <a:xfrm>
            <a:off x="696384" y="908209"/>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315"/>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grpSp>
        <p:nvGrpSpPr>
          <p:cNvPr id="5" name="组合 4"/>
          <p:cNvGrpSpPr/>
          <p:nvPr userDrawn="1"/>
        </p:nvGrpSpPr>
        <p:grpSpPr>
          <a:xfrm rot="10800000">
            <a:off x="11735675" y="6618622"/>
            <a:ext cx="140967" cy="240579"/>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cxnSp>
        <p:nvCxnSpPr>
          <p:cNvPr id="8" name="直接连接符 7"/>
          <p:cNvCxnSpPr/>
          <p:nvPr userDrawn="1"/>
        </p:nvCxnSpPr>
        <p:spPr>
          <a:xfrm>
            <a:off x="696384" y="908209"/>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315"/>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grpSp>
        <p:nvGrpSpPr>
          <p:cNvPr id="5" name="组合 4"/>
          <p:cNvGrpSpPr/>
          <p:nvPr userDrawn="1"/>
        </p:nvGrpSpPr>
        <p:grpSpPr>
          <a:xfrm rot="10800000">
            <a:off x="11735675" y="6618622"/>
            <a:ext cx="140967" cy="240579"/>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cxnSp>
        <p:nvCxnSpPr>
          <p:cNvPr id="8" name="直接连接符 7"/>
          <p:cNvCxnSpPr/>
          <p:nvPr userDrawn="1"/>
        </p:nvCxnSpPr>
        <p:spPr>
          <a:xfrm>
            <a:off x="696384" y="908209"/>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1"/>
            <a:ext cx="300567" cy="962193"/>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grpSp>
        <p:nvGrpSpPr>
          <p:cNvPr id="7" name="组合 6"/>
          <p:cNvGrpSpPr/>
          <p:nvPr userDrawn="1"/>
        </p:nvGrpSpPr>
        <p:grpSpPr bwMode="auto">
          <a:xfrm rot="10800000">
            <a:off x="11734801" y="6617858"/>
            <a:ext cx="302684" cy="241343"/>
            <a:chOff x="161510" y="0"/>
            <a:chExt cx="225739" cy="721610"/>
          </a:xfrm>
        </p:grpSpPr>
        <p:sp>
          <p:nvSpPr>
            <p:cNvPr id="8" name="矩形 7"/>
            <p:cNvSpPr/>
            <p:nvPr/>
          </p:nvSpPr>
          <p:spPr>
            <a:xfrm>
              <a:off x="163089" y="0"/>
              <a:ext cx="45779"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9" name="矩形 8"/>
            <p:cNvSpPr/>
            <p:nvPr/>
          </p:nvSpPr>
          <p:spPr>
            <a:xfrm>
              <a:off x="223076" y="0"/>
              <a:ext cx="45779"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10" name="矩形 9"/>
            <p:cNvSpPr/>
            <p:nvPr/>
          </p:nvSpPr>
          <p:spPr>
            <a:xfrm>
              <a:off x="283062" y="0"/>
              <a:ext cx="45779"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
          <p:nvSpPr>
            <p:cNvPr id="11" name="矩形 10"/>
            <p:cNvSpPr/>
            <p:nvPr/>
          </p:nvSpPr>
          <p:spPr>
            <a:xfrm>
              <a:off x="343048" y="0"/>
              <a:ext cx="45779"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grpSp>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2387601" y="567267"/>
            <a:ext cx="2705100" cy="1570567"/>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3" name="矩形 7"/>
          <p:cNvSpPr/>
          <p:nvPr userDrawn="1"/>
        </p:nvSpPr>
        <p:spPr>
          <a:xfrm rot="5400000">
            <a:off x="3747030" y="778405"/>
            <a:ext cx="3127375" cy="1570567"/>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椭圆 12"/>
          <p:cNvSpPr/>
          <p:nvPr userDrawn="1"/>
        </p:nvSpPr>
        <p:spPr>
          <a:xfrm rot="5400000">
            <a:off x="7099301" y="567267"/>
            <a:ext cx="2705100" cy="1570567"/>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椭圆 13"/>
          <p:cNvSpPr/>
          <p:nvPr userDrawn="1"/>
        </p:nvSpPr>
        <p:spPr>
          <a:xfrm rot="5400000">
            <a:off x="5316803" y="779199"/>
            <a:ext cx="3128963" cy="1570567"/>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6" name="弧形 5"/>
          <p:cNvSpPr/>
          <p:nvPr userDrawn="1"/>
        </p:nvSpPr>
        <p:spPr>
          <a:xfrm>
            <a:off x="2766485" y="-3351213"/>
            <a:ext cx="6659033" cy="6659563"/>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a:p>
        </p:txBody>
      </p:sp>
      <p:sp>
        <p:nvSpPr>
          <p:cNvPr id="7" name="椭圆 6"/>
          <p:cNvSpPr/>
          <p:nvPr userDrawn="1"/>
        </p:nvSpPr>
        <p:spPr>
          <a:xfrm>
            <a:off x="5990167" y="3219450"/>
            <a:ext cx="211667" cy="2095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Tree>
    <p:extLst>
      <p:ext uri="{BB962C8B-B14F-4D97-AF65-F5344CB8AC3E}">
        <p14:creationId xmlns:p14="http://schemas.microsoft.com/office/powerpoint/2010/main" val="4035396069"/>
      </p:ext>
    </p:extLst>
  </p:cSld>
  <p:clrMapOvr>
    <a:masterClrMapping/>
  </p:clrMapOvr>
  <p:transition spd="slow">
    <p:push di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362013"/>
      </p:ext>
    </p:extLst>
  </p:cSld>
  <p:clrMapOvr>
    <a:masterClrMapping/>
  </p:clrMapOvr>
  <p:transition spd="slow">
    <p:push di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1826026"/>
      </p:ext>
    </p:extLst>
  </p:cSld>
  <p:clrMapOvr>
    <a:masterClrMapping/>
  </p:clrMapOvr>
  <p:transition spd="slow">
    <p:push dir="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478930"/>
      </p:ext>
    </p:extLst>
  </p:cSld>
  <p:clrMapOvr>
    <a:masterClrMapping/>
  </p:clrMapOvr>
  <p:transition spd="slow">
    <p:push dir="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825886"/>
      </p:ext>
    </p:extLst>
  </p:cSld>
  <p:clrMapOvr>
    <a:masterClrMapping/>
  </p:clrMapOvr>
  <p:transition spd="slow">
    <p:push di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0"/>
            <a:ext cx="300567" cy="962025"/>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7" name="组合 6"/>
          <p:cNvGrpSpPr/>
          <p:nvPr userDrawn="1"/>
        </p:nvGrpSpPr>
        <p:grpSpPr bwMode="auto">
          <a:xfrm rot="10800000">
            <a:off x="11734801" y="6616700"/>
            <a:ext cx="302684" cy="241300"/>
            <a:chOff x="161510" y="0"/>
            <a:chExt cx="225739" cy="721610"/>
          </a:xfrm>
        </p:grpSpPr>
        <p:sp>
          <p:nvSpPr>
            <p:cNvPr id="8" name="矩形 7"/>
            <p:cNvSpPr/>
            <p:nvPr/>
          </p:nvSpPr>
          <p:spPr>
            <a:xfrm>
              <a:off x="163089" y="0"/>
              <a:ext cx="45779"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9" name="矩形 8"/>
            <p:cNvSpPr/>
            <p:nvPr/>
          </p:nvSpPr>
          <p:spPr>
            <a:xfrm>
              <a:off x="223076" y="0"/>
              <a:ext cx="45779"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0" name="矩形 9"/>
            <p:cNvSpPr/>
            <p:nvPr/>
          </p:nvSpPr>
          <p:spPr>
            <a:xfrm>
              <a:off x="283062" y="0"/>
              <a:ext cx="45779"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11" name="矩形 10"/>
            <p:cNvSpPr/>
            <p:nvPr/>
          </p:nvSpPr>
          <p:spPr>
            <a:xfrm>
              <a:off x="343048" y="0"/>
              <a:ext cx="45779"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spTree>
    <p:extLst>
      <p:ext uri="{BB962C8B-B14F-4D97-AF65-F5344CB8AC3E}">
        <p14:creationId xmlns:p14="http://schemas.microsoft.com/office/powerpoint/2010/main" val="3495384091"/>
      </p:ext>
    </p:extLst>
  </p:cSld>
  <p:clrMapOvr>
    <a:masterClrMapping/>
  </p:clrMapOvr>
  <p:transition spd="slow">
    <p:push di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800903"/>
      </p:ext>
    </p:extLst>
  </p:cSld>
  <p:clrMapOvr>
    <a:masterClrMapping/>
  </p:clrMapOvr>
  <p:transition spd="slow">
    <p:push dir="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241189"/>
      </p:ext>
    </p:extLst>
  </p:cSld>
  <p:clrMapOvr>
    <a:masterClrMapping/>
  </p:clrMapOvr>
  <p:transition spd="slow">
    <p:push di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矩形 1"/>
          <p:cNvSpPr/>
          <p:nvPr userDrawn="1"/>
        </p:nvSpPr>
        <p:spPr>
          <a:xfrm>
            <a:off x="0" y="3608389"/>
            <a:ext cx="12192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3" name="Picture 2" descr="C:\Documents and Settings\yangweizhou\桌面\2.jpg"/>
          <p:cNvPicPr>
            <a:picLocks noChangeAspect="1" noChangeArrowheads="1"/>
          </p:cNvPicPr>
          <p:nvPr userDrawn="1"/>
        </p:nvPicPr>
        <p:blipFill>
          <a:blip r:embed="rId2">
            <a:extLst>
              <a:ext uri="{28A0092B-C50C-407E-A947-70E740481C1C}">
                <a14:useLocalDpi xmlns:a14="http://schemas.microsoft.com/office/drawing/2010/main" val="0"/>
              </a:ext>
            </a:extLst>
          </a:blip>
          <a:srcRect b="20467"/>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1609925"/>
      </p:ext>
    </p:extLst>
  </p:cSld>
  <p:clrMapOvr>
    <a:masterClrMapping/>
  </p:clrMapOvr>
  <p:transition spd="slow">
    <p:push di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899578"/>
      </p:ext>
    </p:extLst>
  </p:cSld>
  <p:clrMapOvr>
    <a:masterClrMapping/>
  </p:clrMapOvr>
  <p:transition spd="slow">
    <p:push dir="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zh-CN" altLang="en-US"/>
          </a:p>
        </p:txBody>
      </p:sp>
      <p:sp>
        <p:nvSpPr>
          <p:cNvPr id="3" name="页脚占位符 2"/>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273FE2CE-A58D-4A02-9191-9E544D8B88BE}" type="slidenum">
              <a:rPr lang="zh-CN" altLang="en-US"/>
              <a:t>‹#›</a:t>
            </a:fld>
            <a:endParaRPr lang="zh-CN" altLang="en-US"/>
          </a:p>
        </p:txBody>
      </p:sp>
    </p:spTree>
    <p:extLst>
      <p:ext uri="{BB962C8B-B14F-4D97-AF65-F5344CB8AC3E}">
        <p14:creationId xmlns:p14="http://schemas.microsoft.com/office/powerpoint/2010/main" val="3577384635"/>
      </p:ext>
    </p:extLst>
  </p:cSld>
  <p:clrMapOvr>
    <a:masterClrMapping/>
  </p:clrMapOvr>
  <p:transition spd="slow">
    <p:push dir="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1"/>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4"/>
            <a:ext cx="681566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1ED3A597-4D41-4540-8C7E-066A612E15DC}" type="slidenum">
              <a:rPr lang="zh-CN" altLang="en-US"/>
              <a:t>‹#›</a:t>
            </a:fld>
            <a:endParaRPr lang="zh-CN" altLang="en-US"/>
          </a:p>
        </p:txBody>
      </p:sp>
    </p:spTree>
    <p:extLst>
      <p:ext uri="{BB962C8B-B14F-4D97-AF65-F5344CB8AC3E}">
        <p14:creationId xmlns:p14="http://schemas.microsoft.com/office/powerpoint/2010/main" val="542510615"/>
      </p:ext>
    </p:extLst>
  </p:cSld>
  <p:clrMapOvr>
    <a:masterClrMapping/>
  </p:clrMapOvr>
  <p:transition spd="slow">
    <p:push dir="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40"/>
            <a:ext cx="7315200" cy="8048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9FD90FA0-F634-49A1-9BDD-9F49ECCBAD4E}" type="slidenum">
              <a:rPr lang="zh-CN" altLang="en-US"/>
              <a:t>‹#›</a:t>
            </a:fld>
            <a:endParaRPr lang="zh-CN" altLang="en-US"/>
          </a:p>
        </p:txBody>
      </p:sp>
    </p:spTree>
    <p:extLst>
      <p:ext uri="{BB962C8B-B14F-4D97-AF65-F5344CB8AC3E}">
        <p14:creationId xmlns:p14="http://schemas.microsoft.com/office/powerpoint/2010/main" val="881572065"/>
      </p:ext>
    </p:extLst>
  </p:cSld>
  <p:clrMapOvr>
    <a:masterClrMapping/>
  </p:clrMapOvr>
  <p:transition spd="slow">
    <p:push dir="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7"/>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2"/>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892AD5EA-C726-4764-8EFC-8F19DE184A5E}" type="slidenum">
              <a:rPr lang="zh-CN" altLang="en-US"/>
              <a:t>‹#›</a:t>
            </a:fld>
            <a:endParaRPr lang="zh-CN" altLang="en-US"/>
          </a:p>
        </p:txBody>
      </p:sp>
    </p:spTree>
    <p:extLst>
      <p:ext uri="{BB962C8B-B14F-4D97-AF65-F5344CB8AC3E}">
        <p14:creationId xmlns:p14="http://schemas.microsoft.com/office/powerpoint/2010/main" val="3893079534"/>
      </p:ext>
    </p:extLst>
  </p:cSld>
  <p:clrMapOvr>
    <a:masterClrMapping/>
  </p:clrMapOvr>
  <p:transition spd="slow">
    <p:push dir="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9D66D281-3F80-487A-8444-6AAAC885C7CC}" type="slidenum">
              <a:rPr lang="zh-CN" altLang="en-US"/>
              <a:t>‹#›</a:t>
            </a:fld>
            <a:endParaRPr lang="zh-CN" altLang="en-US"/>
          </a:p>
        </p:txBody>
      </p:sp>
    </p:spTree>
    <p:extLst>
      <p:ext uri="{BB962C8B-B14F-4D97-AF65-F5344CB8AC3E}">
        <p14:creationId xmlns:p14="http://schemas.microsoft.com/office/powerpoint/2010/main" val="3502590881"/>
      </p:ext>
    </p:extLst>
  </p:cSld>
  <p:clrMapOvr>
    <a:masterClrMapping/>
  </p:clrMapOvr>
  <p:transition spd="slow">
    <p:push dir="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标题和内容-蓝">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nvPr>
        </p:nvSpPr>
        <p:spPr>
          <a:xfrm>
            <a:off x="696383" y="104776"/>
            <a:ext cx="4679948" cy="803274"/>
          </a:xfrm>
          <a:prstGeom prst="rect">
            <a:avLst/>
          </a:prstGeom>
        </p:spPr>
        <p:txBody>
          <a:bodyPr/>
          <a:lstStyle>
            <a:lvl1pPr algn="l">
              <a:defRPr/>
            </a:lvl1pPr>
          </a:lstStyle>
          <a:p>
            <a:r>
              <a:rPr lang="zh-CN" altLang="en-US" sz="4400" dirty="0">
                <a:latin typeface="华文楷体" panose="02010600040101010101" pitchFamily="2" charset="-122"/>
                <a:ea typeface="华文楷体" panose="02010600040101010101" pitchFamily="2" charset="-122"/>
              </a:rPr>
              <a:t>节标题</a:t>
            </a:r>
          </a:p>
        </p:txBody>
      </p:sp>
      <p:sp>
        <p:nvSpPr>
          <p:cNvPr id="12" name="内容占位符 11"/>
          <p:cNvSpPr>
            <a:spLocks noGrp="1"/>
          </p:cNvSpPr>
          <p:nvPr>
            <p:ph sz="quarter" idx="10"/>
          </p:nvPr>
        </p:nvSpPr>
        <p:spPr>
          <a:xfrm>
            <a:off x="604308" y="1135064"/>
            <a:ext cx="10983384" cy="499623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601277109"/>
      </p:ext>
    </p:extLst>
  </p:cSld>
  <p:clrMapOvr>
    <a:masterClrMapping/>
  </p:clrMapOvr>
  <p:transition spd="slow">
    <p:push dir="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标题和内容-绿">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nvPr>
        </p:nvSpPr>
        <p:spPr>
          <a:xfrm>
            <a:off x="696384" y="104776"/>
            <a:ext cx="4738081" cy="803274"/>
          </a:xfrm>
          <a:prstGeom prst="rect">
            <a:avLst/>
          </a:prstGeom>
        </p:spPr>
        <p:txBody>
          <a:bodyPr/>
          <a:lstStyle>
            <a:lvl1pPr algn="l">
              <a:defRPr baseline="0"/>
            </a:lvl1pPr>
          </a:lstStyle>
          <a:p>
            <a:r>
              <a:rPr lang="zh-CN" altLang="en-US" sz="4400" dirty="0">
                <a:latin typeface="华文楷体" panose="02010600040101010101" pitchFamily="2" charset="-122"/>
                <a:ea typeface="华文楷体" panose="02010600040101010101" pitchFamily="2" charset="-122"/>
              </a:rPr>
              <a:t>节标题</a:t>
            </a:r>
          </a:p>
        </p:txBody>
      </p:sp>
      <p:sp>
        <p:nvSpPr>
          <p:cNvPr id="13" name="内容占位符 11"/>
          <p:cNvSpPr>
            <a:spLocks noGrp="1"/>
          </p:cNvSpPr>
          <p:nvPr>
            <p:ph sz="quarter" idx="10"/>
          </p:nvPr>
        </p:nvSpPr>
        <p:spPr>
          <a:xfrm>
            <a:off x="604308" y="1135064"/>
            <a:ext cx="10983384" cy="499623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088933062"/>
      </p:ext>
    </p:extLst>
  </p:cSld>
  <p:clrMapOvr>
    <a:masterClrMapping/>
  </p:clrMapOvr>
  <p:transition spd="slow">
    <p:push dir="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内容-红">
    <p:spTree>
      <p:nvGrpSpPr>
        <p:cNvPr id="1" name=""/>
        <p:cNvGrpSpPr/>
        <p:nvPr/>
      </p:nvGrpSpPr>
      <p:grpSpPr>
        <a:xfrm>
          <a:off x="0" y="0"/>
          <a:ext cx="0" cy="0"/>
          <a:chOff x="0" y="0"/>
          <a:chExt cx="0" cy="0"/>
        </a:xfrm>
      </p:grpSpPr>
      <p:grpSp>
        <p:nvGrpSpPr>
          <p:cNvPr id="2" name="组合 1"/>
          <p:cNvGrpSpPr/>
          <p:nvPr userDrawn="1"/>
        </p:nvGrpSpPr>
        <p:grpSpPr>
          <a:xfrm>
            <a:off x="375366"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grpSp>
        <p:nvGrpSpPr>
          <p:cNvPr id="5" name="组合 4"/>
          <p:cNvGrpSpPr/>
          <p:nvPr userDrawn="1"/>
        </p:nvGrpSpPr>
        <p:grpSpPr>
          <a:xfrm rot="10800000">
            <a:off x="11735675"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grpSp>
      <p:cxnSp>
        <p:nvCxnSpPr>
          <p:cNvPr id="8" name="直接连接符 7"/>
          <p:cNvCxnSpPr/>
          <p:nvPr userDrawn="1"/>
        </p:nvCxnSpPr>
        <p:spPr>
          <a:xfrm>
            <a:off x="696384" y="908050"/>
            <a:ext cx="46799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nvPr>
        </p:nvSpPr>
        <p:spPr>
          <a:xfrm>
            <a:off x="696384" y="104776"/>
            <a:ext cx="4679949" cy="803274"/>
          </a:xfrm>
          <a:prstGeom prst="rect">
            <a:avLst/>
          </a:prstGeom>
        </p:spPr>
        <p:txBody>
          <a:bodyPr/>
          <a:lstStyle>
            <a:lvl1pPr algn="l">
              <a:defRPr/>
            </a:lvl1pPr>
          </a:lstStyle>
          <a:p>
            <a:r>
              <a:rPr lang="zh-CN" altLang="en-US" sz="4400" dirty="0">
                <a:latin typeface="华文楷体" panose="02010600040101010101" pitchFamily="2" charset="-122"/>
                <a:ea typeface="华文楷体" panose="02010600040101010101" pitchFamily="2" charset="-122"/>
              </a:rPr>
              <a:t>节标题</a:t>
            </a:r>
          </a:p>
        </p:txBody>
      </p:sp>
      <p:sp>
        <p:nvSpPr>
          <p:cNvPr id="13" name="内容占位符 11"/>
          <p:cNvSpPr>
            <a:spLocks noGrp="1"/>
          </p:cNvSpPr>
          <p:nvPr>
            <p:ph sz="quarter" idx="10"/>
          </p:nvPr>
        </p:nvSpPr>
        <p:spPr>
          <a:xfrm>
            <a:off x="604308" y="1135064"/>
            <a:ext cx="10983384" cy="499623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90461120"/>
      </p:ext>
    </p:extLst>
  </p:cSld>
  <p:clrMapOvr>
    <a:masterClrMapping/>
  </p:clrMapOvr>
  <p:transition spd="slow">
    <p:push dir="u"/>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节标题-绿">
    <p:bg>
      <p:bgPr>
        <a:solidFill>
          <a:srgbClr val="92D050"/>
        </a:solidFill>
        <a:effectLst/>
      </p:bgPr>
    </p:bg>
    <p:spTree>
      <p:nvGrpSpPr>
        <p:cNvPr id="1" name=""/>
        <p:cNvGrpSpPr/>
        <p:nvPr/>
      </p:nvGrpSpPr>
      <p:grpSpPr>
        <a:xfrm>
          <a:off x="0" y="0"/>
          <a:ext cx="0" cy="0"/>
          <a:chOff x="0" y="0"/>
          <a:chExt cx="0" cy="0"/>
        </a:xfrm>
      </p:grpSpPr>
      <p:sp>
        <p:nvSpPr>
          <p:cNvPr id="3" name="矩形 2"/>
          <p:cNvSpPr/>
          <p:nvPr userDrawn="1"/>
        </p:nvSpPr>
        <p:spPr>
          <a:xfrm>
            <a:off x="0" y="3024188"/>
            <a:ext cx="12192000" cy="44926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200" eaLnBrk="1" fontAlgn="auto" hangingPunct="1">
              <a:spcBef>
                <a:spcPts val="0"/>
              </a:spcBef>
              <a:spcAft>
                <a:spcPts val="0"/>
              </a:spcAft>
              <a:defRPr/>
            </a:pPr>
            <a:endParaRPr lang="zh-CN" altLang="en-US" sz="1800">
              <a:solidFill>
                <a:prstClr val="white"/>
              </a:solidFill>
              <a:cs typeface="+mn-ea"/>
              <a:sym typeface="+mn-lt"/>
            </a:endParaRPr>
          </a:p>
        </p:txBody>
      </p:sp>
      <p:sp>
        <p:nvSpPr>
          <p:cNvPr id="7" name="标题 6"/>
          <p:cNvSpPr>
            <a:spLocks noGrp="1"/>
          </p:cNvSpPr>
          <p:nvPr>
            <p:ph type="title" hasCustomPrompt="1"/>
          </p:nvPr>
        </p:nvSpPr>
        <p:spPr>
          <a:xfrm>
            <a:off x="5350933" y="2116668"/>
            <a:ext cx="6299200" cy="907521"/>
          </a:xfrm>
          <a:prstGeom prst="rect">
            <a:avLst/>
          </a:prstGeom>
        </p:spPr>
        <p:txBody>
          <a:bodyPr/>
          <a:lstStyle>
            <a:lvl1pPr algn="r" defTabSz="1219200" eaLnBrk="1" fontAlgn="auto" hangingPunct="1">
              <a:spcBef>
                <a:spcPts val="0"/>
              </a:spcBef>
              <a:spcAft>
                <a:spcPts val="0"/>
              </a:spcAft>
              <a:defRPr sz="4800">
                <a:solidFill>
                  <a:prstClr val="white"/>
                </a:solidFill>
              </a:defRPr>
            </a:lvl1pPr>
          </a:lstStyle>
          <a:p>
            <a:pPr algn="r" defTabSz="1219200" eaLnBrk="1" fontAlgn="auto" hangingPunct="1">
              <a:spcBef>
                <a:spcPts val="0"/>
              </a:spcBef>
              <a:spcAft>
                <a:spcPts val="0"/>
              </a:spcAft>
              <a:defRPr/>
            </a:pPr>
            <a:r>
              <a:rPr lang="zh-CN" altLang="en-US" sz="4400" dirty="0">
                <a:solidFill>
                  <a:prstClr val="white"/>
                </a:solidFill>
                <a:latin typeface="Microsoft YaHei UI" panose="020B0503020204020204" pitchFamily="34" charset="-122"/>
                <a:ea typeface="微软雅黑" panose="020B0503020204020204" pitchFamily="34" charset="-122"/>
                <a:cs typeface="+mn-ea"/>
                <a:sym typeface="+mn-lt"/>
              </a:rPr>
              <a:t>节标题</a:t>
            </a:r>
          </a:p>
        </p:txBody>
      </p:sp>
      <p:sp>
        <p:nvSpPr>
          <p:cNvPr id="9" name="文本占位符 8"/>
          <p:cNvSpPr>
            <a:spLocks noGrp="1"/>
          </p:cNvSpPr>
          <p:nvPr>
            <p:ph type="body" sz="quarter" idx="10" hasCustomPrompt="1"/>
          </p:nvPr>
        </p:nvSpPr>
        <p:spPr>
          <a:xfrm>
            <a:off x="10111508" y="3017987"/>
            <a:ext cx="1538626" cy="461665"/>
          </a:xfrm>
          <a:prstGeom prst="rect">
            <a:avLst/>
          </a:prstGeom>
        </p:spPr>
        <p:txBody>
          <a:bodyPr wrap="none">
            <a:spAutoFit/>
          </a:bodyPr>
          <a:lstStyle>
            <a:lvl1pPr marL="0" indent="0" algn="r">
              <a:buNone/>
              <a:defRPr lang="zh-CN" altLang="en-US" sz="2400" dirty="0" smtClean="0">
                <a:solidFill>
                  <a:prstClr val="white"/>
                </a:solidFill>
                <a:latin typeface="Microsoft YaHei UI" panose="020B0503020204020204" pitchFamily="34" charset="-122"/>
                <a:ea typeface="微软雅黑" panose="020B0503020204020204" pitchFamily="34" charset="-122"/>
                <a:cs typeface="+mn-ea"/>
              </a:defRPr>
            </a:lvl1pPr>
            <a:lvl2pPr>
              <a:defRPr lang="zh-CN" altLang="en-US" dirty="0" smtClean="0">
                <a:latin typeface="Microsoft YaHei UI" panose="020B0503020204020204" pitchFamily="34" charset="-122"/>
                <a:ea typeface="微软雅黑" panose="020B0503020204020204" pitchFamily="34" charset="-122"/>
              </a:defRPr>
            </a:lvl2pPr>
            <a:lvl3pPr>
              <a:defRPr lang="zh-CN" altLang="en-US" dirty="0" smtClean="0">
                <a:latin typeface="Microsoft YaHei UI" panose="020B0503020204020204" pitchFamily="34" charset="-122"/>
                <a:ea typeface="微软雅黑" panose="020B0503020204020204" pitchFamily="34" charset="-122"/>
              </a:defRPr>
            </a:lvl3pPr>
            <a:lvl4pPr>
              <a:defRPr lang="zh-CN" altLang="en-US" dirty="0" smtClean="0">
                <a:latin typeface="Microsoft YaHei UI" panose="020B0503020204020204" pitchFamily="34" charset="-122"/>
                <a:ea typeface="微软雅黑" panose="020B0503020204020204" pitchFamily="34" charset="-122"/>
              </a:defRPr>
            </a:lvl4pPr>
            <a:lvl5pPr>
              <a:defRPr lang="zh-CN" altLang="en-US" dirty="0">
                <a:latin typeface="Microsoft YaHei UI" panose="020B0503020204020204" pitchFamily="34" charset="-122"/>
                <a:ea typeface="微软雅黑" panose="020B0503020204020204" pitchFamily="34" charset="-122"/>
              </a:defRPr>
            </a:lvl5pPr>
          </a:lstStyle>
          <a:p>
            <a:pPr lvl="0" algn="r" defTabSz="1219200" eaLnBrk="1" fontAlgn="auto" hangingPunct="1">
              <a:spcBef>
                <a:spcPts val="0"/>
              </a:spcBef>
              <a:spcAft>
                <a:spcPts val="0"/>
              </a:spcAft>
            </a:pPr>
            <a:r>
              <a:rPr lang="en-US" altLang="zh-CN" dirty="0"/>
              <a:t>Part Zero</a:t>
            </a:r>
            <a:endParaRPr lang="zh-CN" altLang="en-US" dirty="0"/>
          </a:p>
        </p:txBody>
      </p:sp>
      <p:sp>
        <p:nvSpPr>
          <p:cNvPr id="11" name="文本占位符 10"/>
          <p:cNvSpPr>
            <a:spLocks noGrp="1"/>
          </p:cNvSpPr>
          <p:nvPr>
            <p:ph type="body" sz="quarter" idx="11" hasCustomPrompt="1"/>
          </p:nvPr>
        </p:nvSpPr>
        <p:spPr>
          <a:xfrm>
            <a:off x="1" y="-573747"/>
            <a:ext cx="5170647" cy="8094395"/>
          </a:xfrm>
          <a:prstGeom prst="rect">
            <a:avLst/>
          </a:prstGeom>
          <a:noFill/>
          <a:effectLst>
            <a:outerShdw blurRad="165100" dist="76200" dir="1200000" algn="tl" rotWithShape="0">
              <a:prstClr val="black">
                <a:alpha val="10000"/>
              </a:prstClr>
            </a:outerShdw>
          </a:effectLst>
        </p:spPr>
        <p:txBody>
          <a:bodyPr wrap="square">
            <a:spAutoFit/>
          </a:bodyPr>
          <a:lstStyle>
            <a:lvl1pPr marL="0" indent="0">
              <a:buNone/>
              <a:defRPr lang="zh-CN" altLang="en-US" sz="52000" smtClean="0">
                <a:solidFill>
                  <a:prstClr val="white"/>
                </a:solidFill>
                <a:latin typeface="Microsoft YaHei UI" panose="020B0503020204020204" pitchFamily="34" charset="-122"/>
                <a:ea typeface="微软雅黑" panose="020B0503020204020204" pitchFamily="34" charset="-122"/>
                <a:cs typeface="+mn-ea"/>
              </a:defRPr>
            </a:lvl1pPr>
            <a:lvl2pPr>
              <a:defRPr lang="zh-CN" altLang="en-US" smtClean="0">
                <a:latin typeface="Microsoft YaHei UI" panose="020B0503020204020204" pitchFamily="34" charset="-122"/>
                <a:ea typeface="微软雅黑" panose="020B0503020204020204" pitchFamily="34" charset="-122"/>
              </a:defRPr>
            </a:lvl2pPr>
            <a:lvl3pPr>
              <a:defRPr lang="zh-CN" altLang="en-US" smtClean="0">
                <a:latin typeface="Microsoft YaHei UI" panose="020B0503020204020204" pitchFamily="34" charset="-122"/>
                <a:ea typeface="微软雅黑" panose="020B0503020204020204" pitchFamily="34" charset="-122"/>
              </a:defRPr>
            </a:lvl3pPr>
            <a:lvl4pPr>
              <a:defRPr lang="zh-CN" altLang="en-US" smtClean="0">
                <a:latin typeface="Microsoft YaHei UI" panose="020B0503020204020204" pitchFamily="34" charset="-122"/>
                <a:ea typeface="微软雅黑" panose="020B0503020204020204" pitchFamily="34" charset="-122"/>
              </a:defRPr>
            </a:lvl4pPr>
            <a:lvl5pPr>
              <a:defRPr lang="zh-CN" altLang="en-US">
                <a:latin typeface="Microsoft YaHei UI" panose="020B0503020204020204" pitchFamily="34" charset="-122"/>
                <a:ea typeface="微软雅黑" panose="020B0503020204020204" pitchFamily="34" charset="-122"/>
              </a:defRPr>
            </a:lvl5pPr>
          </a:lstStyle>
          <a:p>
            <a:pPr lvl="0" defTabSz="1219200" eaLnBrk="1" fontAlgn="auto" hangingPunct="1">
              <a:spcBef>
                <a:spcPts val="0"/>
              </a:spcBef>
              <a:spcAft>
                <a:spcPts val="0"/>
              </a:spcAft>
            </a:pPr>
            <a:r>
              <a:rPr lang="en-US" altLang="zh-CN" dirty="0"/>
              <a:t>0</a:t>
            </a:r>
            <a:endParaRPr lang="zh-CN" altLang="en-US" dirty="0"/>
          </a:p>
        </p:txBody>
      </p:sp>
    </p:spTree>
    <p:extLst>
      <p:ext uri="{BB962C8B-B14F-4D97-AF65-F5344CB8AC3E}">
        <p14:creationId xmlns:p14="http://schemas.microsoft.com/office/powerpoint/2010/main" val="2940527119"/>
      </p:ext>
    </p:extLst>
  </p:cSld>
  <p:clrMapOvr>
    <a:masterClrMapping/>
  </p:clrMapOvr>
  <p:transition spd="slow">
    <p:push dir="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102" name="图片 1101"/>
          <p:cNvPicPr>
            <a:picLocks noChangeAspect="1"/>
          </p:cNvPicPr>
          <p:nvPr userDrawn="1"/>
        </p:nvPicPr>
        <p:blipFill>
          <a:blip r:embed="rId2"/>
          <a:stretch>
            <a:fillRect/>
          </a:stretch>
        </p:blipFill>
        <p:spPr>
          <a:xfrm>
            <a:off x="1" y="3037352"/>
            <a:ext cx="7930836" cy="3820649"/>
          </a:xfrm>
          <a:prstGeom prst="rect">
            <a:avLst/>
          </a:prstGeom>
        </p:spPr>
      </p:pic>
      <p:sp>
        <p:nvSpPr>
          <p:cNvPr id="9801" name="副标题 2"/>
          <p:cNvSpPr>
            <a:spLocks noGrp="1"/>
          </p:cNvSpPr>
          <p:nvPr userDrawn="1">
            <p:ph type="subTitle" idx="1"/>
          </p:nvPr>
        </p:nvSpPr>
        <p:spPr>
          <a:xfrm>
            <a:off x="669925" y="3079043"/>
            <a:ext cx="10850563" cy="475132"/>
          </a:xfrm>
        </p:spPr>
        <p:txBody>
          <a:bodyPr anchor="ctr">
            <a:normAutofit/>
          </a:bodyPr>
          <a:lstStyle>
            <a:lvl1pPr marL="0" marR="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marR="0" lvl="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a:pPr>
            <a:r>
              <a:rPr lang="en-US" altLang="zh-CN" dirty="0"/>
              <a:t>Click to edit Master subtitle style</a:t>
            </a:r>
          </a:p>
        </p:txBody>
      </p:sp>
      <p:sp>
        <p:nvSpPr>
          <p:cNvPr id="9802" name="标题 1"/>
          <p:cNvSpPr>
            <a:spLocks noGrp="1"/>
          </p:cNvSpPr>
          <p:nvPr userDrawn="1">
            <p:ph type="ctrTitle"/>
          </p:nvPr>
        </p:nvSpPr>
        <p:spPr>
          <a:xfrm>
            <a:off x="669925" y="2321170"/>
            <a:ext cx="10850563" cy="749082"/>
          </a:xfrm>
        </p:spPr>
        <p:txBody>
          <a:bodyPr anchor="ctr">
            <a:normAutofit/>
          </a:bodyPr>
          <a:lstStyle>
            <a:lvl1pPr algn="r">
              <a:defRPr sz="2700" b="1">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1858606407"/>
      </p:ext>
    </p:extLst>
  </p:cSld>
  <p:clrMapOvr>
    <a:overrideClrMapping bg1="lt1" tx1="dk1" bg2="lt2" tx2="dk2" accent1="accent1" accent2="accent2" accent3="accent3" accent4="accent4" accent5="accent5" accent6="accent6" hlink="hlink" folHlink="folHlink"/>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theme" Target="../theme/theme2.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image" Target="../media/image2.png"/><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image" Target="../media/image1.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12/23/2023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pic>
        <p:nvPicPr>
          <p:cNvPr id="7" name="图形 13">
            <a:extLst>
              <a:ext uri="{FF2B5EF4-FFF2-40B4-BE49-F238E27FC236}">
                <a16:creationId xmlns:a16="http://schemas.microsoft.com/office/drawing/2014/main" id="{5C5D466A-A5A2-4FA1-BBCC-8B697724ECDB}"/>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609249" y="6112138"/>
            <a:ext cx="2457450" cy="542925"/>
          </a:xfrm>
          <a:prstGeom prst="rect">
            <a:avLst/>
          </a:prstGeom>
        </p:spPr>
      </p:pic>
      <p:sp>
        <p:nvSpPr>
          <p:cNvPr id="8" name="文本框 7">
            <a:extLst>
              <a:ext uri="{FF2B5EF4-FFF2-40B4-BE49-F238E27FC236}">
                <a16:creationId xmlns:a16="http://schemas.microsoft.com/office/drawing/2014/main" id="{51CD9C9C-5E34-411E-8DE4-BE57AF531425}"/>
              </a:ext>
            </a:extLst>
          </p:cNvPr>
          <p:cNvSpPr txBox="1"/>
          <p:nvPr userDrawn="1"/>
        </p:nvSpPr>
        <p:spPr>
          <a:xfrm>
            <a:off x="4013425" y="6215119"/>
            <a:ext cx="3491865" cy="398780"/>
          </a:xfrm>
          <a:prstGeom prst="rect">
            <a:avLst/>
          </a:prstGeom>
          <a:noFill/>
        </p:spPr>
        <p:txBody>
          <a:bodyPr wrap="square" rtlCol="0">
            <a:spAutoFit/>
          </a:bodyPr>
          <a:lstStyle/>
          <a:p>
            <a:r>
              <a:rPr lang="zh-CN" altLang="en-US" sz="2000" dirty="0">
                <a:latin typeface="汉仪黑方简" panose="00020600040101010101" charset="-122"/>
                <a:ea typeface="汉仪黑方简" panose="00020600040101010101" charset="-122"/>
              </a:rPr>
              <a:t>网络开拓者协会</a:t>
            </a:r>
          </a:p>
        </p:txBody>
      </p:sp>
      <p:pic>
        <p:nvPicPr>
          <p:cNvPr id="9" name="图片 8" descr="联想截图_20231214002915">
            <a:extLst>
              <a:ext uri="{FF2B5EF4-FFF2-40B4-BE49-F238E27FC236}">
                <a16:creationId xmlns:a16="http://schemas.microsoft.com/office/drawing/2014/main" id="{F5850174-C3C6-4FAC-8924-71B5397EA49D}"/>
              </a:ext>
            </a:extLst>
          </p:cNvPr>
          <p:cNvPicPr>
            <a:picLocks noChangeAspect="1"/>
          </p:cNvPicPr>
          <p:nvPr userDrawn="1">
            <p:custDataLst>
              <p:tags r:id="rId25"/>
            </p:custDataLst>
          </p:nvPr>
        </p:nvPicPr>
        <p:blipFill>
          <a:blip r:embed="rId27"/>
          <a:stretch>
            <a:fillRect/>
          </a:stretch>
        </p:blipFill>
        <p:spPr>
          <a:xfrm>
            <a:off x="3395570" y="6112249"/>
            <a:ext cx="545465" cy="546735"/>
          </a:xfrm>
          <a:prstGeom prst="rect">
            <a:avLst/>
          </a:prstGeom>
        </p:spPr>
      </p:pic>
    </p:spTree>
    <p:extLst>
      <p:ext uri="{BB962C8B-B14F-4D97-AF65-F5344CB8AC3E}">
        <p14:creationId xmlns:p14="http://schemas.microsoft.com/office/powerpoint/2010/main" val="2196493489"/>
      </p:ext>
    </p:extLst>
  </p:cSld>
  <p:clrMap bg1="lt1" tx1="dk1" bg2="lt2" tx2="dk2" accent1="accent1" accent2="accent2" accent3="accent3" accent4="accent4" accent5="accent5" accent6="accent6" hlink="hlink" folHlink="folHlink"/>
  <p:sldLayoutIdLst>
    <p:sldLayoutId id="2147483778" r:id="rId1"/>
    <p:sldLayoutId id="2147483784" r:id="rId2"/>
    <p:sldLayoutId id="2147483789" r:id="rId3"/>
    <p:sldLayoutId id="2147483790" r:id="rId4"/>
    <p:sldLayoutId id="2147483649"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65" r:id="rId14"/>
    <p:sldLayoutId id="2147483667" r:id="rId15"/>
    <p:sldLayoutId id="2147483668" r:id="rId16"/>
    <p:sldLayoutId id="2147483804" r:id="rId17"/>
    <p:sldLayoutId id="2147483757" r:id="rId18"/>
    <p:sldLayoutId id="2147483759" r:id="rId19"/>
    <p:sldLayoutId id="2147483760" r:id="rId20"/>
    <p:sldLayoutId id="2147483761" r:id="rId21"/>
    <p:sldLayoutId id="2147483762" r:id="rId22"/>
    <p:sldLayoutId id="2147483766" r:id="rId23"/>
  </p:sldLayoutIdLst>
  <p:transition spd="slow">
    <p:push dir="u"/>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形 13">
            <a:extLst>
              <a:ext uri="{FF2B5EF4-FFF2-40B4-BE49-F238E27FC236}">
                <a16:creationId xmlns:a16="http://schemas.microsoft.com/office/drawing/2014/main" id="{573DBF72-E53D-4078-932A-342486348316}"/>
              </a:ext>
            </a:extLst>
          </p:cNvPr>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609249" y="6112138"/>
            <a:ext cx="2457450" cy="542925"/>
          </a:xfrm>
          <a:prstGeom prst="rect">
            <a:avLst/>
          </a:prstGeom>
        </p:spPr>
      </p:pic>
      <p:sp>
        <p:nvSpPr>
          <p:cNvPr id="3" name="文本框 2">
            <a:extLst>
              <a:ext uri="{FF2B5EF4-FFF2-40B4-BE49-F238E27FC236}">
                <a16:creationId xmlns:a16="http://schemas.microsoft.com/office/drawing/2014/main" id="{70350BE0-DDF4-4EDB-A9D3-295186CF6089}"/>
              </a:ext>
            </a:extLst>
          </p:cNvPr>
          <p:cNvSpPr txBox="1"/>
          <p:nvPr userDrawn="1"/>
        </p:nvSpPr>
        <p:spPr>
          <a:xfrm>
            <a:off x="4013425" y="6215119"/>
            <a:ext cx="3491865" cy="398780"/>
          </a:xfrm>
          <a:prstGeom prst="rect">
            <a:avLst/>
          </a:prstGeom>
          <a:noFill/>
        </p:spPr>
        <p:txBody>
          <a:bodyPr wrap="square" rtlCol="0">
            <a:spAutoFit/>
          </a:bodyPr>
          <a:lstStyle/>
          <a:p>
            <a:r>
              <a:rPr lang="zh-CN" altLang="en-US" sz="2000" dirty="0">
                <a:latin typeface="汉仪黑方简" panose="00020600040101010101" charset="-122"/>
                <a:ea typeface="汉仪黑方简" panose="00020600040101010101" charset="-122"/>
              </a:rPr>
              <a:t>网络开拓者协会</a:t>
            </a:r>
          </a:p>
        </p:txBody>
      </p:sp>
      <p:pic>
        <p:nvPicPr>
          <p:cNvPr id="4" name="图片 3" descr="联想截图_20231214002915">
            <a:extLst>
              <a:ext uri="{FF2B5EF4-FFF2-40B4-BE49-F238E27FC236}">
                <a16:creationId xmlns:a16="http://schemas.microsoft.com/office/drawing/2014/main" id="{126AA66F-DFB2-4D1D-AC23-8F94C309801B}"/>
              </a:ext>
            </a:extLst>
          </p:cNvPr>
          <p:cNvPicPr>
            <a:picLocks noChangeAspect="1"/>
          </p:cNvPicPr>
          <p:nvPr userDrawn="1">
            <p:custDataLst>
              <p:tags r:id="rId22"/>
            </p:custDataLst>
          </p:nvPr>
        </p:nvPicPr>
        <p:blipFill>
          <a:blip r:embed="rId24"/>
          <a:stretch>
            <a:fillRect/>
          </a:stretch>
        </p:blipFill>
        <p:spPr>
          <a:xfrm>
            <a:off x="3395570" y="6112249"/>
            <a:ext cx="545465" cy="546735"/>
          </a:xfrm>
          <a:prstGeom prst="rect">
            <a:avLst/>
          </a:prstGeom>
        </p:spPr>
      </p:pic>
    </p:spTree>
    <p:extLst>
      <p:ext uri="{BB962C8B-B14F-4D97-AF65-F5344CB8AC3E}">
        <p14:creationId xmlns:p14="http://schemas.microsoft.com/office/powerpoint/2010/main" val="387208408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Lst>
  <p:transition spd="slow">
    <p:push dir="u"/>
  </p:transition>
  <p:hf hdr="0" ftr="0" dt="0"/>
  <p:txStyles>
    <p:titleStyle>
      <a:lvl1pPr algn="ctr" defTabSz="913130" rtl="0" fontAlgn="base">
        <a:spcBef>
          <a:spcPct val="0"/>
        </a:spcBef>
        <a:spcAft>
          <a:spcPct val="0"/>
        </a:spcAft>
        <a:defRPr sz="4400" kern="1200">
          <a:solidFill>
            <a:schemeClr val="tx1"/>
          </a:solidFill>
          <a:latin typeface="+mj-lt"/>
          <a:ea typeface="+mj-ea"/>
          <a:cs typeface="+mj-cs"/>
        </a:defRPr>
      </a:lvl1pPr>
      <a:lvl2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2pPr>
      <a:lvl3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3pPr>
      <a:lvl4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4pPr>
      <a:lvl5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5pPr>
      <a:lvl6pPr marL="4572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6pPr>
      <a:lvl7pPr marL="9144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7pPr>
      <a:lvl8pPr marL="13716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8pPr>
      <a:lvl9pPr marL="18288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9pPr>
    </p:titleStyle>
    <p:bodyStyle>
      <a:lvl1pPr marL="341630" indent="-341630" algn="l" defTabSz="913130"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1680" indent="-284480" algn="l" defTabSz="913130"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1730" indent="-227330" algn="l" defTabSz="91313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598930" indent="-227330" algn="l" defTabSz="913130"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6130" indent="-227330" algn="l" defTabSz="913130"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GIF"/><Relationship Id="rId1" Type="http://schemas.openxmlformats.org/officeDocument/2006/relationships/slideLayout" Target="../slideLayouts/slideLayout2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3" Type="http://schemas.openxmlformats.org/officeDocument/2006/relationships/image" Target="../media/image24.png"/><Relationship Id="rId12" Type="http://schemas.openxmlformats.org/officeDocument/2006/relationships/image" Target="../media/image270.png"/><Relationship Id="rId2" Type="http://schemas.openxmlformats.org/officeDocument/2006/relationships/notesSlide" Target="../notesSlides/notesSlide3.xml"/><Relationship Id="rId1" Type="http://schemas.openxmlformats.org/officeDocument/2006/relationships/slideLayout" Target="../slideLayouts/slideLayout25.xml"/><Relationship Id="rId11" Type="http://schemas.openxmlformats.org/officeDocument/2006/relationships/image" Target="../media/image23.png"/><Relationship Id="rId10" Type="http://schemas.openxmlformats.org/officeDocument/2006/relationships/image" Target="../media/image250.png"/><Relationship Id="rId9" Type="http://schemas.openxmlformats.org/officeDocument/2006/relationships/image" Target="../media/image24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6.xml"/><Relationship Id="rId7" Type="http://schemas.openxmlformats.org/officeDocument/2006/relationships/image" Target="../media/image28.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slideLayout" Target="../slideLayouts/slideLayout25.xml"/><Relationship Id="rId9"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5.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38.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image" Target="../media/image39.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tags" Target="../tags/tag9.xml"/><Relationship Id="rId7" Type="http://schemas.openxmlformats.org/officeDocument/2006/relationships/image" Target="../media/image28.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slideLayout" Target="../slideLayouts/slideLayout29.xml"/><Relationship Id="rId9" Type="http://schemas.openxmlformats.org/officeDocument/2006/relationships/image" Target="../media/image52.png"/></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6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6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7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7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3.png"/></Relationships>
</file>

<file path=ppt/slides/_rels/slide8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8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8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100.png"/></Relationships>
</file>

<file path=ppt/slides/_rels/slide8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8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7.xml"/><Relationship Id="rId5" Type="http://schemas.openxmlformats.org/officeDocument/2006/relationships/image" Target="../media/image115.gif"/><Relationship Id="rId4" Type="http://schemas.openxmlformats.org/officeDocument/2006/relationships/image" Target="../media/image114.GIF"/></Relationships>
</file>

<file path=ppt/slides/_rels/slide9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 Id="rId5" Type="http://schemas.openxmlformats.org/officeDocument/2006/relationships/image" Target="../media/image119.gif"/><Relationship Id="rId4" Type="http://schemas.openxmlformats.org/officeDocument/2006/relationships/image" Target="../media/image118.GIF"/></Relationships>
</file>

<file path=ppt/slides/_rels/slide9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22.png"/></Relationships>
</file>

<file path=ppt/slides/_rels/slide9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7.xml"/><Relationship Id="rId4" Type="http://schemas.openxmlformats.org/officeDocument/2006/relationships/image" Target="../media/image129.png"/></Relationships>
</file>

<file path=ppt/slides/_rels/slide10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10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10.xml"/><Relationship Id="rId5" Type="http://schemas.openxmlformats.org/officeDocument/2006/relationships/image" Target="../media/image135.png"/><Relationship Id="rId4" Type="http://schemas.openxmlformats.org/officeDocument/2006/relationships/image" Target="../media/image134.png"/></Relationships>
</file>

<file path=ppt/slides/_rels/slide10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1.xml"/><Relationship Id="rId1" Type="http://schemas.openxmlformats.org/officeDocument/2006/relationships/themeOverride" Target="../theme/themeOverride1.xml"/><Relationship Id="rId4" Type="http://schemas.openxmlformats.org/officeDocument/2006/relationships/notesSlide" Target="../notesSlides/notesSlide3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3.xml"/><Relationship Id="rId4" Type="http://schemas.openxmlformats.org/officeDocument/2006/relationships/image" Target="../media/image146.png"/></Relationships>
</file>

<file path=ppt/slides/_rels/slide12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43.png"/></Relationships>
</file>

<file path=ppt/slides/_rels/slide128.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customXml" Target="../ink/ink1.xml"/><Relationship Id="rId4" Type="http://schemas.openxmlformats.org/officeDocument/2006/relationships/image" Target="../media/image1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副标题 1">
            <a:extLst>
              <a:ext uri="{FF2B5EF4-FFF2-40B4-BE49-F238E27FC236}">
                <a16:creationId xmlns:a16="http://schemas.microsoft.com/office/drawing/2014/main" id="{B37B884C-B2D7-A7BB-18CE-6331178E0F0E}"/>
              </a:ext>
            </a:extLst>
          </p:cNvPr>
          <p:cNvSpPr>
            <a:spLocks noGrp="1"/>
          </p:cNvSpPr>
          <p:nvPr>
            <p:ph type="subTitle" idx="1"/>
          </p:nvPr>
        </p:nvSpPr>
        <p:spPr>
          <a:xfrm>
            <a:off x="3196324" y="3015738"/>
            <a:ext cx="8137922" cy="475132"/>
          </a:xfrm>
        </p:spPr>
        <p:txBody>
          <a:bodyPr>
            <a:noAutofit/>
          </a:bodyPr>
          <a:lstStyle/>
          <a:p>
            <a:pPr algn="r"/>
            <a:r>
              <a:rPr lang="en-US" altLang="zh-CN" sz="4400">
                <a:latin typeface="Aptos" panose="020B0004020202020204" pitchFamily="34" charset="0"/>
              </a:rPr>
              <a:t>2023.12.23</a:t>
            </a:r>
            <a:endParaRPr lang="en-US" altLang="zh-CN" sz="4400" dirty="0">
              <a:latin typeface="Aptos" panose="020B0004020202020204" pitchFamily="34" charset="0"/>
            </a:endParaRPr>
          </a:p>
        </p:txBody>
      </p:sp>
      <p:sp>
        <p:nvSpPr>
          <p:cNvPr id="20" name="标题 2">
            <a:extLst>
              <a:ext uri="{FF2B5EF4-FFF2-40B4-BE49-F238E27FC236}">
                <a16:creationId xmlns:a16="http://schemas.microsoft.com/office/drawing/2014/main" id="{C3A33F8A-BF54-2C43-6005-E9F3C94F05D4}"/>
              </a:ext>
            </a:extLst>
          </p:cNvPr>
          <p:cNvSpPr>
            <a:spLocks noGrp="1"/>
          </p:cNvSpPr>
          <p:nvPr>
            <p:ph type="ctrTitle"/>
          </p:nvPr>
        </p:nvSpPr>
        <p:spPr>
          <a:xfrm>
            <a:off x="3196324" y="2257865"/>
            <a:ext cx="8137922" cy="749082"/>
          </a:xfrm>
        </p:spPr>
        <p:txBody>
          <a:bodyPr>
            <a:noAutofit/>
          </a:bodyPr>
          <a:lstStyle/>
          <a:p>
            <a:pPr algn="r"/>
            <a:r>
              <a:rPr lang="zh-CN" altLang="en-US" sz="6600" b="1">
                <a:latin typeface="华文楷体" panose="02010600040101010101" pitchFamily="2" charset="-122"/>
                <a:ea typeface="华文楷体" panose="02010600040101010101" pitchFamily="2" charset="-122"/>
              </a:rPr>
              <a:t>网协</a:t>
            </a:r>
            <a:r>
              <a:rPr lang="en-US" altLang="zh-CN" sz="6600" b="1">
                <a:latin typeface="华文楷体" panose="02010600040101010101" pitchFamily="2" charset="-122"/>
                <a:ea typeface="华文楷体" panose="02010600040101010101" pitchFamily="2" charset="-122"/>
              </a:rPr>
              <a:t>C</a:t>
            </a:r>
            <a:r>
              <a:rPr lang="zh-CN" altLang="en-US" sz="6600" b="1">
                <a:latin typeface="华文楷体" panose="02010600040101010101" pitchFamily="2" charset="-122"/>
                <a:ea typeface="华文楷体" panose="02010600040101010101" pitchFamily="2" charset="-122"/>
              </a:rPr>
              <a:t>语言串讲</a:t>
            </a:r>
            <a:endParaRPr lang="zh-CN" altLang="en-US" sz="66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0633962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7BAE"/>
        </a:solidFill>
        <a:effectLst/>
      </p:bgPr>
    </p:bg>
    <p:spTree>
      <p:nvGrpSpPr>
        <p:cNvPr id="1" name=""/>
        <p:cNvGrpSpPr/>
        <p:nvPr/>
      </p:nvGrpSpPr>
      <p:grpSpPr>
        <a:xfrm>
          <a:off x="0" y="0"/>
          <a:ext cx="0" cy="0"/>
          <a:chOff x="0" y="0"/>
          <a:chExt cx="0" cy="0"/>
        </a:xfrm>
      </p:grpSpPr>
      <p:sp>
        <p:nvSpPr>
          <p:cNvPr id="6" name="矩形 5"/>
          <p:cNvSpPr/>
          <p:nvPr/>
        </p:nvSpPr>
        <p:spPr>
          <a:xfrm>
            <a:off x="1524000" y="3024188"/>
            <a:ext cx="9144000" cy="449262"/>
          </a:xfrm>
          <a:prstGeom prst="rect">
            <a:avLst/>
          </a:prstGeom>
          <a:solidFill>
            <a:srgbClr val="1D8A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200">
              <a:defRPr/>
            </a:pPr>
            <a:endParaRPr lang="zh-CN" altLang="en-US">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4" name="TextBox 3"/>
          <p:cNvSpPr txBox="1"/>
          <p:nvPr/>
        </p:nvSpPr>
        <p:spPr>
          <a:xfrm>
            <a:off x="1550988" y="-576263"/>
            <a:ext cx="4094162" cy="8094663"/>
          </a:xfrm>
          <a:prstGeom prst="rect">
            <a:avLst/>
          </a:prstGeom>
          <a:noFill/>
          <a:effectLst>
            <a:outerShdw blurRad="165100" dist="76200" dir="1200000" algn="tl" rotWithShape="0">
              <a:prstClr val="black">
                <a:alpha val="10000"/>
              </a:prstClr>
            </a:outerShdw>
          </a:effectLst>
        </p:spPr>
        <p:txBody>
          <a:bodyPr wrap="none">
            <a:spAutoFit/>
          </a:bodyPr>
          <a:lstStyle/>
          <a:p>
            <a:pPr defTabSz="1219200">
              <a:defRPr/>
            </a:pPr>
            <a:r>
              <a:rPr lang="en-US" altLang="zh-CN" sz="52000" dirty="0">
                <a:solidFill>
                  <a:prstClr val="white"/>
                </a:solidFill>
                <a:latin typeface="Microsoft YaHei UI" panose="020B0503020204020204" pitchFamily="34" charset="-122"/>
                <a:ea typeface="微软雅黑" panose="020B0503020204020204" pitchFamily="34" charset="-122"/>
                <a:cs typeface="+mn-ea"/>
                <a:sym typeface="+mn-lt"/>
              </a:rPr>
              <a:t>1</a:t>
            </a:r>
            <a:endParaRPr lang="zh-CN" altLang="en-US" sz="52000" dirty="0">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5" name="矩形 4"/>
          <p:cNvSpPr/>
          <p:nvPr/>
        </p:nvSpPr>
        <p:spPr>
          <a:xfrm>
            <a:off x="7239884" y="3010694"/>
            <a:ext cx="2413999" cy="460375"/>
          </a:xfrm>
          <a:prstGeom prst="rect">
            <a:avLst/>
          </a:prstGeom>
        </p:spPr>
        <p:txBody>
          <a:bodyPr wrap="square">
            <a:spAutoFit/>
          </a:bodyPr>
          <a:lstStyle/>
          <a:p>
            <a:pPr algn="r" defTabSz="1219200">
              <a:defRPr/>
            </a:pPr>
            <a:r>
              <a:rPr lang="zh-CN" altLang="en-US" sz="2400" dirty="0">
                <a:solidFill>
                  <a:prstClr val="white"/>
                </a:solidFill>
                <a:latin typeface="Microsoft YaHei UI" panose="020B0503020204020204" pitchFamily="34" charset="-122"/>
                <a:ea typeface="微软雅黑" panose="020B0503020204020204" pitchFamily="34" charset="-122"/>
                <a:cs typeface="+mn-ea"/>
                <a:sym typeface="+mn-lt"/>
              </a:rPr>
              <a:t>基本类型规则</a:t>
            </a:r>
          </a:p>
        </p:txBody>
      </p:sp>
      <p:sp>
        <p:nvSpPr>
          <p:cNvPr id="3" name="矩形 2"/>
          <p:cNvSpPr/>
          <p:nvPr/>
        </p:nvSpPr>
        <p:spPr>
          <a:xfrm>
            <a:off x="7329508" y="2254251"/>
            <a:ext cx="2952731" cy="769441"/>
          </a:xfrm>
          <a:prstGeom prst="rect">
            <a:avLst/>
          </a:prstGeom>
        </p:spPr>
        <p:txBody>
          <a:bodyPr wrap="none">
            <a:spAutoFit/>
          </a:bodyPr>
          <a:lstStyle/>
          <a:p>
            <a:pPr algn="r" defTabSz="1219200">
              <a:defRPr/>
            </a:pPr>
            <a:r>
              <a:rPr lang="en-US" altLang="zh-CN" sz="4400" dirty="0">
                <a:solidFill>
                  <a:prstClr val="white"/>
                </a:solidFill>
                <a:latin typeface="Microsoft YaHei UI" panose="020B0503020204020204" pitchFamily="34" charset="-122"/>
                <a:ea typeface="微软雅黑" panose="020B0503020204020204" pitchFamily="34" charset="-122"/>
                <a:cs typeface="+mn-ea"/>
                <a:sym typeface="+mn-lt"/>
              </a:rPr>
              <a:t>PART ONE</a:t>
            </a:r>
            <a:endParaRPr lang="zh-CN" altLang="en-US" sz="4400" dirty="0">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44038" name="文本框 1"/>
          <p:cNvSpPr txBox="1">
            <a:spLocks noChangeArrowheads="1"/>
          </p:cNvSpPr>
          <p:nvPr/>
        </p:nvSpPr>
        <p:spPr bwMode="auto">
          <a:xfrm>
            <a:off x="7607300" y="3627347"/>
            <a:ext cx="30607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930">
              <a:defRPr>
                <a:solidFill>
                  <a:schemeClr val="tx1"/>
                </a:solidFill>
                <a:latin typeface="Microsoft YaHei UI" panose="020B0503020204020204" pitchFamily="34" charset="-122"/>
                <a:ea typeface="微软雅黑" panose="020B0503020204020204" pitchFamily="34" charset="-122"/>
              </a:defRPr>
            </a:lvl1pPr>
            <a:lvl2pPr marL="742950" indent="-285750" defTabSz="1217930">
              <a:defRPr>
                <a:solidFill>
                  <a:schemeClr val="tx1"/>
                </a:solidFill>
                <a:latin typeface="Microsoft YaHei UI" panose="020B0503020204020204" pitchFamily="34" charset="-122"/>
                <a:ea typeface="微软雅黑" panose="020B0503020204020204" pitchFamily="34" charset="-122"/>
              </a:defRPr>
            </a:lvl2pPr>
            <a:lvl3pPr marL="1143000" indent="-228600" defTabSz="1217930">
              <a:defRPr>
                <a:solidFill>
                  <a:schemeClr val="tx1"/>
                </a:solidFill>
                <a:latin typeface="Microsoft YaHei UI" panose="020B0503020204020204" pitchFamily="34" charset="-122"/>
                <a:ea typeface="微软雅黑" panose="020B0503020204020204" pitchFamily="34" charset="-122"/>
              </a:defRPr>
            </a:lvl3pPr>
            <a:lvl4pPr marL="1600200" indent="-228600" defTabSz="1217930">
              <a:defRPr>
                <a:solidFill>
                  <a:schemeClr val="tx1"/>
                </a:solidFill>
                <a:latin typeface="Microsoft YaHei UI" panose="020B0503020204020204" pitchFamily="34" charset="-122"/>
                <a:ea typeface="微软雅黑" panose="020B0503020204020204" pitchFamily="34" charset="-122"/>
              </a:defRPr>
            </a:lvl4pPr>
            <a:lvl5pPr marL="2057400" indent="-228600" defTabSz="1217930">
              <a:defRPr>
                <a:solidFill>
                  <a:schemeClr val="tx1"/>
                </a:solidFill>
                <a:latin typeface="Microsoft YaHei UI" panose="020B0503020204020204" pitchFamily="34" charset="-122"/>
                <a:ea typeface="微软雅黑" panose="020B0503020204020204" pitchFamily="34" charset="-122"/>
              </a:defRPr>
            </a:lvl5pPr>
            <a:lvl6pPr marL="25146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6pPr>
            <a:lvl7pPr marL="29718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7pPr>
            <a:lvl8pPr marL="34290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8pPr>
            <a:lvl9pPr marL="38862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9pPr>
          </a:lstStyle>
          <a:p>
            <a:pPr fontAlgn="base">
              <a:spcBef>
                <a:spcPct val="0"/>
              </a:spcBef>
              <a:spcAft>
                <a:spcPct val="0"/>
              </a:spcAft>
              <a:defRPr/>
            </a:pPr>
            <a:r>
              <a:rPr lang="en-US" altLang="zh-CN" sz="2400" dirty="0">
                <a:solidFill>
                  <a:srgbClr val="FFFFFF"/>
                </a:solidFill>
              </a:rPr>
              <a:t>1.</a:t>
            </a:r>
            <a:r>
              <a:rPr lang="zh-CN" altLang="en-US" sz="2400" dirty="0">
                <a:solidFill>
                  <a:srgbClr val="FFFFFF"/>
                </a:solidFill>
              </a:rPr>
              <a:t>数据类型</a:t>
            </a:r>
          </a:p>
          <a:p>
            <a:pPr fontAlgn="base">
              <a:spcBef>
                <a:spcPct val="0"/>
              </a:spcBef>
              <a:spcAft>
                <a:spcPct val="0"/>
              </a:spcAft>
              <a:defRPr/>
            </a:pPr>
            <a:r>
              <a:rPr lang="en-US" altLang="zh-CN" sz="2400" dirty="0">
                <a:solidFill>
                  <a:srgbClr val="FFFFFF"/>
                </a:solidFill>
              </a:rPr>
              <a:t>2.</a:t>
            </a:r>
            <a:r>
              <a:rPr lang="zh-CN" altLang="en-US" sz="2400" dirty="0">
                <a:solidFill>
                  <a:srgbClr val="FFFFFF"/>
                </a:solidFill>
              </a:rPr>
              <a:t>运算符与运算</a:t>
            </a:r>
          </a:p>
          <a:p>
            <a:pPr fontAlgn="base">
              <a:spcBef>
                <a:spcPct val="0"/>
              </a:spcBef>
              <a:spcAft>
                <a:spcPct val="0"/>
              </a:spcAft>
              <a:defRPr/>
            </a:pPr>
            <a:r>
              <a:rPr lang="en-US" altLang="zh-CN" sz="2400" dirty="0">
                <a:solidFill>
                  <a:srgbClr val="FFFFFF"/>
                </a:solidFill>
              </a:rPr>
              <a:t>3.</a:t>
            </a:r>
            <a:r>
              <a:rPr lang="zh-CN" altLang="en-US" sz="2400" dirty="0">
                <a:solidFill>
                  <a:srgbClr val="FFFFFF"/>
                </a:solidFill>
              </a:rPr>
              <a:t>格式化输入输出</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09625" y="244475"/>
            <a:ext cx="8137525" cy="679450"/>
          </a:xfrm>
        </p:spPr>
        <p:txBody>
          <a:bodyPr/>
          <a:lstStyle/>
          <a:p>
            <a:pPr algn="l"/>
            <a:r>
              <a:rPr lang="zh-CN" altLang="en-US" sz="2800" dirty="0"/>
              <a:t>数据类型</a:t>
            </a:r>
          </a:p>
        </p:txBody>
      </p:sp>
      <p:pic>
        <p:nvPicPr>
          <p:cNvPr id="40" name="图片 39"/>
          <p:cNvPicPr>
            <a:picLocks noChangeAspect="1"/>
          </p:cNvPicPr>
          <p:nvPr/>
        </p:nvPicPr>
        <p:blipFill>
          <a:blip r:embed="rId2"/>
          <a:stretch>
            <a:fillRect/>
          </a:stretch>
        </p:blipFill>
        <p:spPr>
          <a:xfrm>
            <a:off x="3309868" y="1250146"/>
            <a:ext cx="6011177" cy="37737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76275" y="302754"/>
            <a:ext cx="8137525" cy="679450"/>
          </a:xfrm>
        </p:spPr>
        <p:txBody>
          <a:bodyPr/>
          <a:lstStyle/>
          <a:p>
            <a:pPr algn="l"/>
            <a:r>
              <a:rPr lang="zh-CN" altLang="en-US" sz="2800" dirty="0"/>
              <a:t>数据类型</a:t>
            </a:r>
          </a:p>
        </p:txBody>
      </p:sp>
      <p:sp>
        <p:nvSpPr>
          <p:cNvPr id="6" name="文本框 5"/>
          <p:cNvSpPr txBox="1"/>
          <p:nvPr/>
        </p:nvSpPr>
        <p:spPr>
          <a:xfrm>
            <a:off x="2562815" y="982204"/>
            <a:ext cx="7730575" cy="645160"/>
          </a:xfrm>
          <a:prstGeom prst="rect">
            <a:avLst/>
          </a:prstGeom>
          <a:noFill/>
        </p:spPr>
        <p:txBody>
          <a:bodyPr wrap="square" rtlCol="0">
            <a:spAutoFit/>
          </a:bodyPr>
          <a:lstStyle/>
          <a:p>
            <a:pPr algn="ctr"/>
            <a:r>
              <a:rPr lang="zh-CN" altLang="en-US" dirty="0">
                <a:solidFill>
                  <a:prstClr val="black"/>
                </a:solidFill>
                <a:latin typeface="Microsoft YaHei UI"/>
                <a:ea typeface="微软雅黑"/>
              </a:rPr>
              <a:t>各种类型的存储大小与系统位数有关，使用时要避免数据溢出</a:t>
            </a:r>
            <a:endParaRPr lang="en-US" altLang="zh-CN" dirty="0">
              <a:solidFill>
                <a:prstClr val="black"/>
              </a:solidFill>
              <a:latin typeface="Microsoft YaHei UI"/>
              <a:ea typeface="微软雅黑"/>
            </a:endParaRPr>
          </a:p>
          <a:p>
            <a:pPr algn="ctr"/>
            <a:r>
              <a:rPr lang="zh-CN" altLang="en-US" dirty="0">
                <a:solidFill>
                  <a:prstClr val="black"/>
                </a:solidFill>
                <a:latin typeface="Microsoft YaHei UI"/>
                <a:ea typeface="微软雅黑"/>
              </a:rPr>
              <a:t>以常见的</a:t>
            </a:r>
            <a:r>
              <a:rPr lang="en-US" altLang="zh-CN" dirty="0">
                <a:solidFill>
                  <a:prstClr val="black"/>
                </a:solidFill>
                <a:latin typeface="Microsoft YaHei UI"/>
                <a:ea typeface="微软雅黑"/>
              </a:rPr>
              <a:t>32</a:t>
            </a:r>
            <a:r>
              <a:rPr lang="zh-CN" altLang="en-US" dirty="0">
                <a:solidFill>
                  <a:prstClr val="black"/>
                </a:solidFill>
                <a:latin typeface="Microsoft YaHei UI"/>
                <a:ea typeface="微软雅黑"/>
              </a:rPr>
              <a:t>位机为例子</a:t>
            </a:r>
          </a:p>
        </p:txBody>
      </p:sp>
      <p:graphicFrame>
        <p:nvGraphicFramePr>
          <p:cNvPr id="3" name="表格 4"/>
          <p:cNvGraphicFramePr>
            <a:graphicFrameLocks noGrp="1"/>
          </p:cNvGraphicFramePr>
          <p:nvPr/>
        </p:nvGraphicFramePr>
        <p:xfrm>
          <a:off x="2336133" y="1627388"/>
          <a:ext cx="7730574" cy="4724400"/>
        </p:xfrm>
        <a:graphic>
          <a:graphicData uri="http://schemas.openxmlformats.org/drawingml/2006/table">
            <a:tbl>
              <a:tblPr firstRow="1" bandRow="1">
                <a:tableStyleId>{5C22544A-7EE6-4342-B048-85BDC9FD1C3A}</a:tableStyleId>
              </a:tblPr>
              <a:tblGrid>
                <a:gridCol w="2576858">
                  <a:extLst>
                    <a:ext uri="{9D8B030D-6E8A-4147-A177-3AD203B41FA5}">
                      <a16:colId xmlns:a16="http://schemas.microsoft.com/office/drawing/2014/main" val="20000"/>
                    </a:ext>
                  </a:extLst>
                </a:gridCol>
                <a:gridCol w="2576858">
                  <a:extLst>
                    <a:ext uri="{9D8B030D-6E8A-4147-A177-3AD203B41FA5}">
                      <a16:colId xmlns:a16="http://schemas.microsoft.com/office/drawing/2014/main" val="20001"/>
                    </a:ext>
                  </a:extLst>
                </a:gridCol>
                <a:gridCol w="2576858">
                  <a:extLst>
                    <a:ext uri="{9D8B030D-6E8A-4147-A177-3AD203B41FA5}">
                      <a16:colId xmlns:a16="http://schemas.microsoft.com/office/drawing/2014/main" val="20002"/>
                    </a:ext>
                  </a:extLst>
                </a:gridCol>
              </a:tblGrid>
              <a:tr h="457200">
                <a:tc>
                  <a:txBody>
                    <a:bodyPr/>
                    <a:lstStyle/>
                    <a:p>
                      <a:pPr algn="ctr"/>
                      <a:r>
                        <a:rPr lang="zh-CN" altLang="en-US" sz="2400" dirty="0"/>
                        <a:t>类型</a:t>
                      </a:r>
                    </a:p>
                  </a:txBody>
                  <a:tcPr/>
                </a:tc>
                <a:tc>
                  <a:txBody>
                    <a:bodyPr/>
                    <a:lstStyle/>
                    <a:p>
                      <a:pPr algn="ctr"/>
                      <a:r>
                        <a:rPr lang="zh-CN" altLang="en-US" sz="2400" dirty="0"/>
                        <a:t>字节数</a:t>
                      </a:r>
                    </a:p>
                  </a:txBody>
                  <a:tcPr/>
                </a:tc>
                <a:tc>
                  <a:txBody>
                    <a:bodyPr/>
                    <a:lstStyle/>
                    <a:p>
                      <a:pPr algn="ctr"/>
                      <a:r>
                        <a:rPr lang="zh-CN" altLang="en-US" sz="2400" dirty="0"/>
                        <a:t>范围</a:t>
                      </a:r>
                    </a:p>
                  </a:txBody>
                  <a:tcPr/>
                </a:tc>
                <a:extLst>
                  <a:ext uri="{0D108BD9-81ED-4DB2-BD59-A6C34878D82A}">
                    <a16:rowId xmlns:a16="http://schemas.microsoft.com/office/drawing/2014/main" val="10000"/>
                  </a:ext>
                </a:extLst>
              </a:tr>
              <a:tr h="457200">
                <a:tc>
                  <a:txBody>
                    <a:bodyPr/>
                    <a:lstStyle/>
                    <a:p>
                      <a:pPr algn="ctr"/>
                      <a:r>
                        <a:rPr lang="en-US" altLang="zh-CN" sz="2400" dirty="0"/>
                        <a:t>char</a:t>
                      </a:r>
                      <a:endParaRPr lang="zh-CN" altLang="en-US" sz="2400" dirty="0"/>
                    </a:p>
                  </a:txBody>
                  <a:tcPr/>
                </a:tc>
                <a:tc>
                  <a:txBody>
                    <a:bodyPr/>
                    <a:lstStyle/>
                    <a:p>
                      <a:pPr algn="ctr"/>
                      <a:r>
                        <a:rPr lang="en-US" altLang="zh-CN" sz="2400" dirty="0"/>
                        <a:t>1</a:t>
                      </a:r>
                      <a:endParaRPr lang="zh-CN" altLang="en-US" sz="2400" dirty="0"/>
                    </a:p>
                  </a:txBody>
                  <a:tcPr/>
                </a:tc>
                <a:tc>
                  <a:txBody>
                    <a:bodyPr/>
                    <a:lstStyle/>
                    <a:p>
                      <a:pPr algn="ctr"/>
                      <a:r>
                        <a:rPr lang="en-US" altLang="zh-CN" sz="2000" dirty="0"/>
                        <a:t>-128</a:t>
                      </a:r>
                      <a:r>
                        <a:rPr lang="zh-CN" altLang="en-US" sz="2000" dirty="0"/>
                        <a:t>～</a:t>
                      </a:r>
                      <a:r>
                        <a:rPr lang="en-US" altLang="zh-CN" sz="2000" dirty="0"/>
                        <a:t>127</a:t>
                      </a:r>
                      <a:endParaRPr lang="zh-CN" altLang="en-US" sz="2000" dirty="0"/>
                    </a:p>
                  </a:txBody>
                  <a:tcPr/>
                </a:tc>
                <a:extLst>
                  <a:ext uri="{0D108BD9-81ED-4DB2-BD59-A6C34878D82A}">
                    <a16:rowId xmlns:a16="http://schemas.microsoft.com/office/drawing/2014/main" val="10001"/>
                  </a:ext>
                </a:extLst>
              </a:tr>
              <a:tr h="457200">
                <a:tc>
                  <a:txBody>
                    <a:bodyPr/>
                    <a:lstStyle/>
                    <a:p>
                      <a:pPr algn="ctr"/>
                      <a:r>
                        <a:rPr lang="en-US" altLang="zh-CN" sz="2400" dirty="0"/>
                        <a:t>short int</a:t>
                      </a:r>
                      <a:endParaRPr lang="zh-CN" altLang="en-US" sz="2400" dirty="0"/>
                    </a:p>
                  </a:txBody>
                  <a:tcPr/>
                </a:tc>
                <a:tc>
                  <a:txBody>
                    <a:bodyPr/>
                    <a:lstStyle/>
                    <a:p>
                      <a:pPr algn="ctr"/>
                      <a:r>
                        <a:rPr lang="en-US" altLang="zh-CN" sz="2400" dirty="0"/>
                        <a:t>2</a:t>
                      </a:r>
                      <a:endParaRPr lang="zh-CN" altLang="en-US" sz="2400" dirty="0"/>
                    </a:p>
                  </a:txBody>
                  <a:tcPr/>
                </a:tc>
                <a:tc>
                  <a:txBody>
                    <a:bodyPr/>
                    <a:lstStyle/>
                    <a:p>
                      <a:pPr algn="ctr"/>
                      <a:r>
                        <a:rPr lang="en-US" altLang="zh-CN" sz="2000" dirty="0"/>
                        <a:t>-32768</a:t>
                      </a:r>
                      <a:r>
                        <a:rPr lang="zh-CN" altLang="en-US" sz="2000" dirty="0"/>
                        <a:t>～</a:t>
                      </a:r>
                      <a:r>
                        <a:rPr lang="en-US" altLang="zh-CN" sz="2000" dirty="0"/>
                        <a:t>32767</a:t>
                      </a:r>
                      <a:endParaRPr lang="zh-CN" altLang="en-US" sz="2000" dirty="0"/>
                    </a:p>
                  </a:txBody>
                  <a:tcPr/>
                </a:tc>
                <a:extLst>
                  <a:ext uri="{0D108BD9-81ED-4DB2-BD59-A6C34878D82A}">
                    <a16:rowId xmlns:a16="http://schemas.microsoft.com/office/drawing/2014/main" val="10002"/>
                  </a:ext>
                </a:extLst>
              </a:tr>
              <a:tr h="457200">
                <a:tc>
                  <a:txBody>
                    <a:bodyPr/>
                    <a:lstStyle/>
                    <a:p>
                      <a:pPr algn="ctr"/>
                      <a:r>
                        <a:rPr lang="en-US" altLang="zh-CN" sz="2400" dirty="0"/>
                        <a:t>int</a:t>
                      </a:r>
                      <a:endParaRPr lang="zh-CN" altLang="en-US" sz="2400" dirty="0"/>
                    </a:p>
                  </a:txBody>
                  <a:tcPr/>
                </a:tc>
                <a:tc>
                  <a:txBody>
                    <a:bodyPr/>
                    <a:lstStyle/>
                    <a:p>
                      <a:pPr algn="ctr"/>
                      <a:r>
                        <a:rPr lang="en-US" altLang="zh-CN" sz="2400" dirty="0"/>
                        <a:t>4</a:t>
                      </a:r>
                      <a:endParaRPr lang="zh-CN" altLang="en-US" sz="2400" dirty="0"/>
                    </a:p>
                  </a:txBody>
                  <a:tcPr/>
                </a:tc>
                <a:tc>
                  <a:txBody>
                    <a:bodyPr/>
                    <a:lstStyle/>
                    <a:p>
                      <a:pPr algn="ctr"/>
                      <a:r>
                        <a:rPr lang="en-US" altLang="zh-CN" sz="1400" dirty="0"/>
                        <a:t>-2147483648~2147483647</a:t>
                      </a:r>
                      <a:endParaRPr lang="zh-CN" altLang="en-US" sz="1400" dirty="0"/>
                    </a:p>
                  </a:txBody>
                  <a:tcPr/>
                </a:tc>
                <a:extLst>
                  <a:ext uri="{0D108BD9-81ED-4DB2-BD59-A6C34878D82A}">
                    <a16:rowId xmlns:a16="http://schemas.microsoft.com/office/drawing/2014/main" val="10003"/>
                  </a:ext>
                </a:extLst>
              </a:tr>
              <a:tr h="457200">
                <a:tc>
                  <a:txBody>
                    <a:bodyPr/>
                    <a:lstStyle/>
                    <a:p>
                      <a:pPr algn="ctr"/>
                      <a:r>
                        <a:rPr lang="en-US" altLang="zh-CN" sz="2400" dirty="0"/>
                        <a:t>long int</a:t>
                      </a:r>
                      <a:endParaRPr lang="zh-CN" altLang="en-US" sz="2400" dirty="0"/>
                    </a:p>
                  </a:txBody>
                  <a:tcPr/>
                </a:tc>
                <a:tc>
                  <a:txBody>
                    <a:bodyPr/>
                    <a:lstStyle/>
                    <a:p>
                      <a:pPr algn="ctr"/>
                      <a:r>
                        <a:rPr lang="en-US" altLang="zh-CN" sz="2400" dirty="0"/>
                        <a:t>4</a:t>
                      </a:r>
                      <a:endParaRPr lang="zh-CN" altLang="en-US" sz="2400" dirty="0"/>
                    </a:p>
                  </a:txBody>
                  <a:tcPr/>
                </a:tc>
                <a:tc>
                  <a:txBody>
                    <a:bodyPr/>
                    <a:lstStyle/>
                    <a:p>
                      <a:pPr algn="ctr"/>
                      <a:r>
                        <a:rPr lang="en-US" altLang="zh-CN" sz="1400" dirty="0"/>
                        <a:t>-2147483648~2147483647</a:t>
                      </a:r>
                    </a:p>
                  </a:txBody>
                  <a:tcPr/>
                </a:tc>
                <a:extLst>
                  <a:ext uri="{0D108BD9-81ED-4DB2-BD59-A6C34878D82A}">
                    <a16:rowId xmlns:a16="http://schemas.microsoft.com/office/drawing/2014/main" val="10004"/>
                  </a:ext>
                </a:extLst>
              </a:tr>
              <a:tr h="457200">
                <a:tc>
                  <a:txBody>
                    <a:bodyPr/>
                    <a:lstStyle/>
                    <a:p>
                      <a:pPr algn="ctr"/>
                      <a:r>
                        <a:rPr lang="en-US" altLang="zh-CN" sz="2400" dirty="0"/>
                        <a:t>unsigned int</a:t>
                      </a:r>
                    </a:p>
                  </a:txBody>
                  <a:tcPr/>
                </a:tc>
                <a:tc>
                  <a:txBody>
                    <a:bodyPr/>
                    <a:lstStyle/>
                    <a:p>
                      <a:pPr algn="ctr"/>
                      <a:r>
                        <a:rPr lang="en-US" altLang="zh-CN" sz="2400" dirty="0"/>
                        <a:t>4</a:t>
                      </a:r>
                      <a:endParaRPr lang="zh-CN" altLang="en-US" sz="2400" dirty="0"/>
                    </a:p>
                  </a:txBody>
                  <a:tcPr/>
                </a:tc>
                <a:tc>
                  <a:txBody>
                    <a:bodyPr/>
                    <a:lstStyle/>
                    <a:p>
                      <a:pPr algn="ctr"/>
                      <a:r>
                        <a:rPr lang="en-US" altLang="zh-CN" sz="2000" dirty="0"/>
                        <a:t>0~4294967295</a:t>
                      </a:r>
                      <a:endParaRPr lang="zh-CN" altLang="en-US" sz="2000" dirty="0"/>
                    </a:p>
                  </a:txBody>
                  <a:tcPr/>
                </a:tc>
                <a:extLst>
                  <a:ext uri="{0D108BD9-81ED-4DB2-BD59-A6C34878D82A}">
                    <a16:rowId xmlns:a16="http://schemas.microsoft.com/office/drawing/2014/main" val="10005"/>
                  </a:ext>
                </a:extLst>
              </a:tr>
              <a:tr h="579120">
                <a:tc>
                  <a:txBody>
                    <a:bodyPr/>
                    <a:lstStyle/>
                    <a:p>
                      <a:pPr algn="ctr"/>
                      <a:r>
                        <a:rPr lang="en-US" altLang="zh-CN" sz="2400" dirty="0"/>
                        <a:t>long long int</a:t>
                      </a:r>
                      <a:endParaRPr lang="zh-CN" altLang="en-US" sz="2400" dirty="0"/>
                    </a:p>
                  </a:txBody>
                  <a:tcPr/>
                </a:tc>
                <a:tc>
                  <a:txBody>
                    <a:bodyPr/>
                    <a:lstStyle/>
                    <a:p>
                      <a:pPr algn="ctr"/>
                      <a:r>
                        <a:rPr lang="en-US" altLang="zh-CN" sz="2400" dirty="0"/>
                        <a:t>8</a:t>
                      </a:r>
                      <a:endParaRPr lang="zh-CN" altLang="en-US" sz="2400" dirty="0"/>
                    </a:p>
                  </a:txBody>
                  <a:tcPr/>
                </a:tc>
                <a:tc>
                  <a:txBody>
                    <a:bodyPr/>
                    <a:lstStyle/>
                    <a:p>
                      <a:pPr algn="ctr"/>
                      <a:r>
                        <a:rPr lang="zh-CN" altLang="en-US" sz="1200" dirty="0"/>
                        <a:t> </a:t>
                      </a:r>
                      <a:r>
                        <a:rPr lang="en-US" altLang="zh-CN" sz="1600" dirty="0"/>
                        <a:t>-9223372036854775808~</a:t>
                      </a:r>
                    </a:p>
                    <a:p>
                      <a:pPr algn="ctr"/>
                      <a:r>
                        <a:rPr lang="en-US" altLang="zh-CN" sz="1600" dirty="0"/>
                        <a:t>9223372036854775807</a:t>
                      </a:r>
                      <a:endParaRPr lang="zh-CN" altLang="en-US" sz="1600" dirty="0"/>
                    </a:p>
                  </a:txBody>
                  <a:tcPr/>
                </a:tc>
                <a:extLst>
                  <a:ext uri="{0D108BD9-81ED-4DB2-BD59-A6C34878D82A}">
                    <a16:rowId xmlns:a16="http://schemas.microsoft.com/office/drawing/2014/main" val="10006"/>
                  </a:ext>
                </a:extLst>
              </a:tr>
              <a:tr h="457200">
                <a:tc>
                  <a:txBody>
                    <a:bodyPr/>
                    <a:lstStyle/>
                    <a:p>
                      <a:pPr algn="ctr"/>
                      <a:r>
                        <a:rPr lang="en-US" altLang="zh-CN" sz="2400" dirty="0"/>
                        <a:t>float</a:t>
                      </a:r>
                      <a:endParaRPr lang="zh-CN" altLang="en-US" sz="2400" dirty="0"/>
                    </a:p>
                  </a:txBody>
                  <a:tcPr/>
                </a:tc>
                <a:tc>
                  <a:txBody>
                    <a:bodyPr/>
                    <a:lstStyle/>
                    <a:p>
                      <a:pPr algn="ctr"/>
                      <a:r>
                        <a:rPr lang="en-US" altLang="zh-CN" sz="2400" dirty="0"/>
                        <a:t>4</a:t>
                      </a:r>
                      <a:endParaRPr lang="zh-CN" altLang="en-US" sz="2400" dirty="0"/>
                    </a:p>
                  </a:txBody>
                  <a:tcPr/>
                </a:tc>
                <a:tc>
                  <a:txBody>
                    <a:bodyPr/>
                    <a:lstStyle/>
                    <a:p>
                      <a:endParaRPr lang="zh-CN"/>
                    </a:p>
                  </a:txBody>
                  <a:tcPr>
                    <a:blipFill>
                      <a:blip r:embed="rId2"/>
                      <a:stretch>
                        <a:fillRect l="-200236" t="-737333" r="-946" b="-132000"/>
                      </a:stretch>
                    </a:blipFill>
                  </a:tcPr>
                </a:tc>
                <a:extLst>
                  <a:ext uri="{0D108BD9-81ED-4DB2-BD59-A6C34878D82A}">
                    <a16:rowId xmlns:a16="http://schemas.microsoft.com/office/drawing/2014/main" val="10007"/>
                  </a:ext>
                </a:extLst>
              </a:tr>
              <a:tr h="457200">
                <a:tc>
                  <a:txBody>
                    <a:bodyPr/>
                    <a:lstStyle/>
                    <a:p>
                      <a:pPr algn="ctr"/>
                      <a:r>
                        <a:rPr lang="en-US" altLang="zh-CN" sz="2400" dirty="0"/>
                        <a:t>double</a:t>
                      </a:r>
                      <a:endParaRPr lang="zh-CN" altLang="en-US" sz="2400" dirty="0"/>
                    </a:p>
                  </a:txBody>
                  <a:tcPr/>
                </a:tc>
                <a:tc>
                  <a:txBody>
                    <a:bodyPr/>
                    <a:lstStyle/>
                    <a:p>
                      <a:pPr algn="ctr"/>
                      <a:r>
                        <a:rPr lang="en-US" altLang="zh-CN" sz="2400" dirty="0"/>
                        <a:t>8</a:t>
                      </a:r>
                      <a:endParaRPr lang="zh-CN" altLang="en-US" sz="2400" dirty="0"/>
                    </a:p>
                  </a:txBody>
                  <a:tcPr/>
                </a:tc>
                <a:tc>
                  <a:txBody>
                    <a:bodyPr/>
                    <a:lstStyle/>
                    <a:p>
                      <a:endParaRPr lang="zh-CN"/>
                    </a:p>
                  </a:txBody>
                  <a:tcPr>
                    <a:blipFill>
                      <a:blip r:embed="rId2"/>
                      <a:stretch>
                        <a:fillRect l="-200236" t="-837333" r="-946" b="-32000"/>
                      </a:stretch>
                    </a:blip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9600" y="227111"/>
            <a:ext cx="8137525" cy="677862"/>
          </a:xfrm>
        </p:spPr>
        <p:txBody>
          <a:bodyPr/>
          <a:lstStyle/>
          <a:p>
            <a:pPr algn="l"/>
            <a:r>
              <a:rPr lang="zh-CN" altLang="en-US" sz="2800" dirty="0"/>
              <a:t>运算符</a:t>
            </a:r>
            <a:r>
              <a:rPr lang="en-US" altLang="zh-CN" sz="2800" dirty="0"/>
              <a:t>——</a:t>
            </a:r>
            <a:r>
              <a:rPr lang="zh-CN" altLang="en-US" sz="2800" dirty="0"/>
              <a:t>优先级与方向</a:t>
            </a:r>
          </a:p>
        </p:txBody>
      </p:sp>
      <p:pic>
        <p:nvPicPr>
          <p:cNvPr id="7"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214" y="1022626"/>
            <a:ext cx="4541837"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rotWithShape="1">
          <a:blip r:embed="rId3"/>
          <a:srcRect t="907" b="-1"/>
          <a:stretch>
            <a:fillRect/>
          </a:stretch>
        </p:blipFill>
        <p:spPr>
          <a:xfrm>
            <a:off x="1696364" y="1022448"/>
            <a:ext cx="4218765" cy="5213252"/>
          </a:xfrm>
          <a:prstGeom prst="rect">
            <a:avLst/>
          </a:prstGeom>
        </p:spPr>
      </p:pic>
      <p:pic>
        <p:nvPicPr>
          <p:cNvPr id="8" name="图片 7"/>
          <p:cNvPicPr>
            <a:picLocks noChangeAspect="1"/>
          </p:cNvPicPr>
          <p:nvPr/>
        </p:nvPicPr>
        <p:blipFill rotWithShape="1">
          <a:blip r:embed="rId3"/>
          <a:srcRect l="-3571" t="-3673" r="95747" b="97347"/>
          <a:stretch>
            <a:fillRect/>
          </a:stretch>
        </p:blipFill>
        <p:spPr>
          <a:xfrm>
            <a:off x="1531323" y="738567"/>
            <a:ext cx="330080" cy="332812"/>
          </a:xfrm>
          <a:prstGeom prst="ellipse">
            <a:avLst/>
          </a:prstGeom>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76275" y="247565"/>
            <a:ext cx="8137525" cy="679450"/>
          </a:xfrm>
        </p:spPr>
        <p:txBody>
          <a:bodyPr/>
          <a:lstStyle/>
          <a:p>
            <a:pPr algn="l"/>
            <a:r>
              <a:rPr lang="zh-CN" altLang="en-US" sz="2800" dirty="0"/>
              <a:t>运算符</a:t>
            </a:r>
            <a:r>
              <a:rPr lang="en-US" altLang="zh-CN" sz="2800" dirty="0"/>
              <a:t>——</a:t>
            </a:r>
            <a:r>
              <a:rPr lang="zh-CN" altLang="en-US" sz="2800" dirty="0"/>
              <a:t>优先级与方向</a:t>
            </a:r>
          </a:p>
        </p:txBody>
      </p:sp>
      <p:pic>
        <p:nvPicPr>
          <p:cNvPr id="7"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164" y="1148991"/>
            <a:ext cx="4541837"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rotWithShape="1">
          <a:blip r:embed="rId3"/>
          <a:srcRect t="907" b="-1"/>
          <a:stretch>
            <a:fillRect/>
          </a:stretch>
        </p:blipFill>
        <p:spPr>
          <a:xfrm>
            <a:off x="1732559" y="1148813"/>
            <a:ext cx="4218765" cy="5213252"/>
          </a:xfrm>
          <a:prstGeom prst="rect">
            <a:avLst/>
          </a:prstGeom>
        </p:spPr>
      </p:pic>
      <p:pic>
        <p:nvPicPr>
          <p:cNvPr id="3" name="图片 2"/>
          <p:cNvPicPr>
            <a:picLocks noChangeAspect="1"/>
          </p:cNvPicPr>
          <p:nvPr/>
        </p:nvPicPr>
        <p:blipFill rotWithShape="1">
          <a:blip r:embed="rId3"/>
          <a:srcRect l="6923" t="36881" r="62734" b="40950"/>
          <a:stretch>
            <a:fillRect/>
          </a:stretch>
        </p:blipFill>
        <p:spPr>
          <a:xfrm>
            <a:off x="1524000" y="2271860"/>
            <a:ext cx="2580264" cy="2488291"/>
          </a:xfrm>
          <a:prstGeom prst="ellipse">
            <a:avLst/>
          </a:prstGeom>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04850" y="282573"/>
            <a:ext cx="8137525" cy="679450"/>
          </a:xfrm>
        </p:spPr>
        <p:txBody>
          <a:bodyPr/>
          <a:lstStyle/>
          <a:p>
            <a:pPr algn="l"/>
            <a:r>
              <a:rPr lang="zh-CN" altLang="en-US" sz="2800" dirty="0"/>
              <a:t>运算符</a:t>
            </a:r>
            <a:r>
              <a:rPr lang="en-US" altLang="zh-CN" sz="2800" dirty="0"/>
              <a:t>——</a:t>
            </a:r>
            <a:r>
              <a:rPr lang="zh-CN" altLang="en-US" sz="2800" dirty="0"/>
              <a:t>优先级与方向</a:t>
            </a:r>
          </a:p>
        </p:txBody>
      </p:sp>
      <p:pic>
        <p:nvPicPr>
          <p:cNvPr id="5" name="图片 4"/>
          <p:cNvPicPr>
            <a:picLocks noChangeAspect="1"/>
          </p:cNvPicPr>
          <p:nvPr/>
        </p:nvPicPr>
        <p:blipFill>
          <a:blip r:embed="rId3"/>
          <a:stretch>
            <a:fillRect/>
          </a:stretch>
        </p:blipFill>
        <p:spPr>
          <a:xfrm>
            <a:off x="4392224" y="1263193"/>
            <a:ext cx="5699871" cy="4972509"/>
          </a:xfrm>
          <a:prstGeom prst="rect">
            <a:avLst/>
          </a:prstGeom>
        </p:spPr>
      </p:pic>
      <p:pic>
        <p:nvPicPr>
          <p:cNvPr id="6" name="图片 5"/>
          <p:cNvPicPr>
            <a:picLocks noChangeAspect="1"/>
          </p:cNvPicPr>
          <p:nvPr/>
        </p:nvPicPr>
        <p:blipFill rotWithShape="1">
          <a:blip r:embed="rId4"/>
          <a:srcRect b="5917"/>
          <a:stretch>
            <a:fillRect/>
          </a:stretch>
        </p:blipFill>
        <p:spPr>
          <a:xfrm>
            <a:off x="2193925" y="4387195"/>
            <a:ext cx="1714500" cy="17564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916"/>
            <a:ext cx="8137525" cy="679450"/>
          </a:xfrm>
          <a:prstGeom prst="rect">
            <a:avLst/>
          </a:prstGeom>
        </p:spPr>
        <p:txBody>
          <a:bodyPr/>
          <a:lstStyle/>
          <a:p>
            <a:pPr algn="l"/>
            <a:r>
              <a:rPr lang="zh-CN" altLang="en-US" sz="2800" dirty="0"/>
              <a:t>运算符</a:t>
            </a:r>
            <a:r>
              <a:rPr lang="en-US" altLang="zh-CN" sz="2800" dirty="0"/>
              <a:t>——</a:t>
            </a:r>
            <a:r>
              <a:rPr lang="zh-CN" altLang="en-US" sz="2800" dirty="0"/>
              <a:t>分类</a:t>
            </a:r>
          </a:p>
        </p:txBody>
      </p:sp>
      <p:sp>
        <p:nvSpPr>
          <p:cNvPr id="8" name="任意多边形: 形状 7"/>
          <p:cNvSpPr/>
          <p:nvPr/>
        </p:nvSpPr>
        <p:spPr>
          <a:xfrm>
            <a:off x="3865331" y="3108169"/>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运算符</a:t>
            </a:r>
          </a:p>
        </p:txBody>
      </p:sp>
      <p:sp>
        <p:nvSpPr>
          <p:cNvPr id="9" name="任意多边形: 形状 8"/>
          <p:cNvSpPr/>
          <p:nvPr/>
        </p:nvSpPr>
        <p:spPr>
          <a:xfrm rot="17132988">
            <a:off x="4447887" y="2493293"/>
            <a:ext cx="1914870" cy="26630"/>
          </a:xfrm>
          <a:custGeom>
            <a:avLst/>
            <a:gdLst>
              <a:gd name="connsiteX0" fmla="*/ 0 w 1914870"/>
              <a:gd name="connsiteY0" fmla="*/ 13315 h 26630"/>
              <a:gd name="connsiteX1" fmla="*/ 1914870 w 1914870"/>
              <a:gd name="connsiteY1" fmla="*/ 13315 h 26630"/>
            </a:gdLst>
            <a:ahLst/>
            <a:cxnLst>
              <a:cxn ang="0">
                <a:pos x="connsiteX0" y="connsiteY0"/>
              </a:cxn>
              <a:cxn ang="0">
                <a:pos x="connsiteX1" y="connsiteY1"/>
              </a:cxn>
            </a:cxnLst>
            <a:rect l="l" t="t" r="r" b="b"/>
            <a:pathLst>
              <a:path w="1914870" h="26630">
                <a:moveTo>
                  <a:pt x="0" y="13315"/>
                </a:moveTo>
                <a:lnTo>
                  <a:pt x="1914870" y="133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22263" tIns="-34556" rIns="922263" bIns="-34558" numCol="1" spcCol="1270" anchor="ctr" anchorCtr="0">
            <a:noAutofit/>
          </a:bodyPr>
          <a:lstStyle/>
          <a:p>
            <a:pPr algn="ctr" defTabSz="311150">
              <a:lnSpc>
                <a:spcPct val="90000"/>
              </a:lnSpc>
              <a:spcBef>
                <a:spcPct val="0"/>
              </a:spcBef>
              <a:spcAft>
                <a:spcPct val="35000"/>
              </a:spcAft>
            </a:pPr>
            <a:endParaRPr lang="zh-CN" altLang="en-US" sz="700">
              <a:solidFill>
                <a:prstClr val="black">
                  <a:hueOff val="0"/>
                  <a:satOff val="0"/>
                  <a:lumOff val="0"/>
                  <a:alphaOff val="0"/>
                </a:prstClr>
              </a:solidFill>
              <a:latin typeface="Microsoft YaHei UI"/>
              <a:ea typeface="微软雅黑"/>
            </a:endParaRPr>
          </a:p>
        </p:txBody>
      </p:sp>
      <p:sp>
        <p:nvSpPr>
          <p:cNvPr id="10" name="任意多边形: 形状 9"/>
          <p:cNvSpPr/>
          <p:nvPr/>
        </p:nvSpPr>
        <p:spPr>
          <a:xfrm>
            <a:off x="5661988" y="1263387"/>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算术运算符</a:t>
            </a:r>
          </a:p>
        </p:txBody>
      </p:sp>
      <p:sp>
        <p:nvSpPr>
          <p:cNvPr id="11" name="任意多边形: 形状 10"/>
          <p:cNvSpPr/>
          <p:nvPr/>
        </p:nvSpPr>
        <p:spPr>
          <a:xfrm rot="17692822">
            <a:off x="4795269" y="2862250"/>
            <a:ext cx="1220109" cy="26630"/>
          </a:xfrm>
          <a:custGeom>
            <a:avLst/>
            <a:gdLst>
              <a:gd name="connsiteX0" fmla="*/ 0 w 1220109"/>
              <a:gd name="connsiteY0" fmla="*/ 13315 h 26630"/>
              <a:gd name="connsiteX1" fmla="*/ 1220109 w 1220109"/>
              <a:gd name="connsiteY1" fmla="*/ 13315 h 26630"/>
            </a:gdLst>
            <a:ahLst/>
            <a:cxnLst>
              <a:cxn ang="0">
                <a:pos x="connsiteX0" y="connsiteY0"/>
              </a:cxn>
              <a:cxn ang="0">
                <a:pos x="connsiteX1" y="connsiteY1"/>
              </a:cxn>
            </a:cxnLst>
            <a:rect l="l" t="t" r="r" b="b"/>
            <a:pathLst>
              <a:path w="1220109" h="26630">
                <a:moveTo>
                  <a:pt x="0" y="13315"/>
                </a:moveTo>
                <a:lnTo>
                  <a:pt x="1220109" y="133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92252" tIns="-17188" rIns="592251" bIns="-17188" numCol="1" spcCol="1270" anchor="ctr" anchorCtr="0">
            <a:noAutofit/>
          </a:bodyPr>
          <a:lstStyle/>
          <a:p>
            <a:pPr algn="ctr" defTabSz="222250">
              <a:lnSpc>
                <a:spcPct val="90000"/>
              </a:lnSpc>
              <a:spcBef>
                <a:spcPct val="0"/>
              </a:spcBef>
              <a:spcAft>
                <a:spcPct val="35000"/>
              </a:spcAft>
            </a:pPr>
            <a:endParaRPr lang="zh-CN" altLang="en-US" sz="500">
              <a:solidFill>
                <a:prstClr val="black">
                  <a:hueOff val="0"/>
                  <a:satOff val="0"/>
                  <a:lumOff val="0"/>
                  <a:alphaOff val="0"/>
                </a:prstClr>
              </a:solidFill>
              <a:latin typeface="Microsoft YaHei UI"/>
              <a:ea typeface="微软雅黑"/>
            </a:endParaRPr>
          </a:p>
        </p:txBody>
      </p:sp>
      <p:sp>
        <p:nvSpPr>
          <p:cNvPr id="12" name="任意多边形: 形状 11"/>
          <p:cNvSpPr/>
          <p:nvPr/>
        </p:nvSpPr>
        <p:spPr>
          <a:xfrm>
            <a:off x="5661988" y="2001300"/>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关系运算符</a:t>
            </a:r>
          </a:p>
        </p:txBody>
      </p:sp>
      <p:sp>
        <p:nvSpPr>
          <p:cNvPr id="13" name="任意多边形: 形状 12"/>
          <p:cNvSpPr/>
          <p:nvPr/>
        </p:nvSpPr>
        <p:spPr>
          <a:xfrm rot="19457599">
            <a:off x="5089238" y="3231206"/>
            <a:ext cx="632168" cy="26630"/>
          </a:xfrm>
          <a:custGeom>
            <a:avLst/>
            <a:gdLst>
              <a:gd name="connsiteX0" fmla="*/ 0 w 632168"/>
              <a:gd name="connsiteY0" fmla="*/ 13315 h 26630"/>
              <a:gd name="connsiteX1" fmla="*/ 632168 w 632168"/>
              <a:gd name="connsiteY1" fmla="*/ 13315 h 26630"/>
            </a:gdLst>
            <a:ahLst/>
            <a:cxnLst>
              <a:cxn ang="0">
                <a:pos x="connsiteX0" y="connsiteY0"/>
              </a:cxn>
              <a:cxn ang="0">
                <a:pos x="connsiteX1" y="connsiteY1"/>
              </a:cxn>
            </a:cxnLst>
            <a:rect l="l" t="t" r="r" b="b"/>
            <a:pathLst>
              <a:path w="632168" h="26630">
                <a:moveTo>
                  <a:pt x="0" y="13315"/>
                </a:moveTo>
                <a:lnTo>
                  <a:pt x="632168" y="133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12980" tIns="-2489" rIns="312980" bIns="-2489" numCol="1" spcCol="1270" anchor="ctr" anchorCtr="0">
            <a:noAutofit/>
          </a:bodyPr>
          <a:lstStyle/>
          <a:p>
            <a:pPr algn="ctr" defTabSz="222250">
              <a:lnSpc>
                <a:spcPct val="90000"/>
              </a:lnSpc>
              <a:spcBef>
                <a:spcPct val="0"/>
              </a:spcBef>
              <a:spcAft>
                <a:spcPct val="35000"/>
              </a:spcAft>
            </a:pPr>
            <a:endParaRPr lang="zh-CN" altLang="en-US" sz="500">
              <a:solidFill>
                <a:prstClr val="black">
                  <a:hueOff val="0"/>
                  <a:satOff val="0"/>
                  <a:lumOff val="0"/>
                  <a:alphaOff val="0"/>
                </a:prstClr>
              </a:solidFill>
              <a:latin typeface="Microsoft YaHei UI"/>
              <a:ea typeface="微软雅黑"/>
            </a:endParaRPr>
          </a:p>
        </p:txBody>
      </p:sp>
      <p:sp>
        <p:nvSpPr>
          <p:cNvPr id="14" name="任意多边形: 形状 13"/>
          <p:cNvSpPr/>
          <p:nvPr/>
        </p:nvSpPr>
        <p:spPr>
          <a:xfrm>
            <a:off x="5661988" y="2739213"/>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逻辑运算符</a:t>
            </a:r>
          </a:p>
        </p:txBody>
      </p:sp>
      <p:sp>
        <p:nvSpPr>
          <p:cNvPr id="15" name="任意多边形: 形状 14"/>
          <p:cNvSpPr/>
          <p:nvPr/>
        </p:nvSpPr>
        <p:spPr>
          <a:xfrm rot="2142401">
            <a:off x="5089238" y="3600162"/>
            <a:ext cx="632168" cy="26630"/>
          </a:xfrm>
          <a:custGeom>
            <a:avLst/>
            <a:gdLst>
              <a:gd name="connsiteX0" fmla="*/ 0 w 632168"/>
              <a:gd name="connsiteY0" fmla="*/ 13315 h 26630"/>
              <a:gd name="connsiteX1" fmla="*/ 632168 w 632168"/>
              <a:gd name="connsiteY1" fmla="*/ 13315 h 26630"/>
            </a:gdLst>
            <a:ahLst/>
            <a:cxnLst>
              <a:cxn ang="0">
                <a:pos x="connsiteX0" y="connsiteY0"/>
              </a:cxn>
              <a:cxn ang="0">
                <a:pos x="connsiteX1" y="connsiteY1"/>
              </a:cxn>
            </a:cxnLst>
            <a:rect l="l" t="t" r="r" b="b"/>
            <a:pathLst>
              <a:path w="632168" h="26630">
                <a:moveTo>
                  <a:pt x="0" y="13315"/>
                </a:moveTo>
                <a:lnTo>
                  <a:pt x="632168" y="133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12980" tIns="-2489" rIns="312980" bIns="-2489" numCol="1" spcCol="1270" anchor="ctr" anchorCtr="0">
            <a:noAutofit/>
          </a:bodyPr>
          <a:lstStyle/>
          <a:p>
            <a:pPr algn="ctr" defTabSz="222250">
              <a:lnSpc>
                <a:spcPct val="90000"/>
              </a:lnSpc>
              <a:spcBef>
                <a:spcPct val="0"/>
              </a:spcBef>
              <a:spcAft>
                <a:spcPct val="35000"/>
              </a:spcAft>
            </a:pPr>
            <a:endParaRPr lang="zh-CN" altLang="en-US" sz="500">
              <a:solidFill>
                <a:prstClr val="black">
                  <a:hueOff val="0"/>
                  <a:satOff val="0"/>
                  <a:lumOff val="0"/>
                  <a:alphaOff val="0"/>
                </a:prstClr>
              </a:solidFill>
              <a:latin typeface="Microsoft YaHei UI"/>
              <a:ea typeface="微软雅黑"/>
            </a:endParaRPr>
          </a:p>
        </p:txBody>
      </p:sp>
      <p:sp>
        <p:nvSpPr>
          <p:cNvPr id="16" name="任意多边形: 形状 15"/>
          <p:cNvSpPr/>
          <p:nvPr/>
        </p:nvSpPr>
        <p:spPr>
          <a:xfrm>
            <a:off x="5661988" y="3477125"/>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位运算符</a:t>
            </a:r>
          </a:p>
        </p:txBody>
      </p:sp>
      <p:sp>
        <p:nvSpPr>
          <p:cNvPr id="17" name="任意多边形: 形状 16"/>
          <p:cNvSpPr/>
          <p:nvPr/>
        </p:nvSpPr>
        <p:spPr>
          <a:xfrm rot="3907178">
            <a:off x="4795269" y="3969119"/>
            <a:ext cx="1220109" cy="26630"/>
          </a:xfrm>
          <a:custGeom>
            <a:avLst/>
            <a:gdLst>
              <a:gd name="connsiteX0" fmla="*/ 0 w 1220109"/>
              <a:gd name="connsiteY0" fmla="*/ 13315 h 26630"/>
              <a:gd name="connsiteX1" fmla="*/ 1220109 w 1220109"/>
              <a:gd name="connsiteY1" fmla="*/ 13315 h 26630"/>
            </a:gdLst>
            <a:ahLst/>
            <a:cxnLst>
              <a:cxn ang="0">
                <a:pos x="connsiteX0" y="connsiteY0"/>
              </a:cxn>
              <a:cxn ang="0">
                <a:pos x="connsiteX1" y="connsiteY1"/>
              </a:cxn>
            </a:cxnLst>
            <a:rect l="l" t="t" r="r" b="b"/>
            <a:pathLst>
              <a:path w="1220109" h="26630">
                <a:moveTo>
                  <a:pt x="0" y="13315"/>
                </a:moveTo>
                <a:lnTo>
                  <a:pt x="1220109" y="133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92251" tIns="-17189" rIns="592252" bIns="-17187" numCol="1" spcCol="1270" anchor="ctr" anchorCtr="0">
            <a:noAutofit/>
          </a:bodyPr>
          <a:lstStyle/>
          <a:p>
            <a:pPr algn="ctr" defTabSz="222250">
              <a:lnSpc>
                <a:spcPct val="90000"/>
              </a:lnSpc>
              <a:spcBef>
                <a:spcPct val="0"/>
              </a:spcBef>
              <a:spcAft>
                <a:spcPct val="35000"/>
              </a:spcAft>
            </a:pPr>
            <a:endParaRPr lang="zh-CN" altLang="en-US" sz="500">
              <a:solidFill>
                <a:prstClr val="black">
                  <a:hueOff val="0"/>
                  <a:satOff val="0"/>
                  <a:lumOff val="0"/>
                  <a:alphaOff val="0"/>
                </a:prstClr>
              </a:solidFill>
              <a:latin typeface="Microsoft YaHei UI"/>
              <a:ea typeface="微软雅黑"/>
            </a:endParaRPr>
          </a:p>
        </p:txBody>
      </p:sp>
      <p:sp>
        <p:nvSpPr>
          <p:cNvPr id="18" name="任意多边形: 形状 17"/>
          <p:cNvSpPr/>
          <p:nvPr/>
        </p:nvSpPr>
        <p:spPr>
          <a:xfrm>
            <a:off x="5661988" y="4215038"/>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赋值运算符</a:t>
            </a:r>
          </a:p>
        </p:txBody>
      </p:sp>
      <p:sp>
        <p:nvSpPr>
          <p:cNvPr id="19" name="任意多边形: 形状 18"/>
          <p:cNvSpPr/>
          <p:nvPr/>
        </p:nvSpPr>
        <p:spPr>
          <a:xfrm rot="4467012">
            <a:off x="4447887" y="4338075"/>
            <a:ext cx="1914870" cy="26630"/>
          </a:xfrm>
          <a:custGeom>
            <a:avLst/>
            <a:gdLst>
              <a:gd name="connsiteX0" fmla="*/ 0 w 1914870"/>
              <a:gd name="connsiteY0" fmla="*/ 13315 h 26630"/>
              <a:gd name="connsiteX1" fmla="*/ 1914870 w 1914870"/>
              <a:gd name="connsiteY1" fmla="*/ 13315 h 26630"/>
            </a:gdLst>
            <a:ahLst/>
            <a:cxnLst>
              <a:cxn ang="0">
                <a:pos x="connsiteX0" y="connsiteY0"/>
              </a:cxn>
              <a:cxn ang="0">
                <a:pos x="connsiteX1" y="connsiteY1"/>
              </a:cxn>
            </a:cxnLst>
            <a:rect l="l" t="t" r="r" b="b"/>
            <a:pathLst>
              <a:path w="1914870" h="26630">
                <a:moveTo>
                  <a:pt x="0" y="13315"/>
                </a:moveTo>
                <a:lnTo>
                  <a:pt x="1914870" y="133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22264" tIns="-34557" rIns="922262" bIns="-34557" numCol="1" spcCol="1270" anchor="ctr" anchorCtr="0">
            <a:noAutofit/>
          </a:bodyPr>
          <a:lstStyle/>
          <a:p>
            <a:pPr algn="ctr" defTabSz="311150">
              <a:lnSpc>
                <a:spcPct val="90000"/>
              </a:lnSpc>
              <a:spcBef>
                <a:spcPct val="0"/>
              </a:spcBef>
              <a:spcAft>
                <a:spcPct val="35000"/>
              </a:spcAft>
            </a:pPr>
            <a:endParaRPr lang="zh-CN" altLang="en-US" sz="700">
              <a:solidFill>
                <a:prstClr val="black">
                  <a:hueOff val="0"/>
                  <a:satOff val="0"/>
                  <a:lumOff val="0"/>
                  <a:alphaOff val="0"/>
                </a:prstClr>
              </a:solidFill>
              <a:latin typeface="Microsoft YaHei UI"/>
              <a:ea typeface="微软雅黑"/>
            </a:endParaRPr>
          </a:p>
        </p:txBody>
      </p:sp>
      <p:sp>
        <p:nvSpPr>
          <p:cNvPr id="20" name="任意多边形: 形状 19"/>
          <p:cNvSpPr/>
          <p:nvPr/>
        </p:nvSpPr>
        <p:spPr>
          <a:xfrm>
            <a:off x="5661988" y="4952951"/>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杂项运算符</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0075" y="232910"/>
            <a:ext cx="8137525" cy="679450"/>
          </a:xfrm>
        </p:spPr>
        <p:txBody>
          <a:bodyPr/>
          <a:lstStyle/>
          <a:p>
            <a:pPr algn="l"/>
            <a:r>
              <a:rPr lang="zh-CN" altLang="en-US" sz="2800" dirty="0"/>
              <a:t>运算符</a:t>
            </a:r>
            <a:r>
              <a:rPr lang="en-US" altLang="zh-CN" sz="2800" dirty="0"/>
              <a:t>——</a:t>
            </a:r>
            <a:r>
              <a:rPr lang="zh-CN" altLang="en-US" sz="2800" dirty="0"/>
              <a:t>分类</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sp>
        <p:nvSpPr>
          <p:cNvPr id="9" name="任意多边形: 形状 8"/>
          <p:cNvSpPr/>
          <p:nvPr/>
        </p:nvSpPr>
        <p:spPr>
          <a:xfrm>
            <a:off x="3062570" y="3091410"/>
            <a:ext cx="1283326" cy="641663"/>
          </a:xfrm>
          <a:custGeom>
            <a:avLst/>
            <a:gdLst>
              <a:gd name="connsiteX0" fmla="*/ 0 w 1283326"/>
              <a:gd name="connsiteY0" fmla="*/ 64166 h 641663"/>
              <a:gd name="connsiteX1" fmla="*/ 64166 w 1283326"/>
              <a:gd name="connsiteY1" fmla="*/ 0 h 641663"/>
              <a:gd name="connsiteX2" fmla="*/ 1219160 w 1283326"/>
              <a:gd name="connsiteY2" fmla="*/ 0 h 641663"/>
              <a:gd name="connsiteX3" fmla="*/ 1283326 w 1283326"/>
              <a:gd name="connsiteY3" fmla="*/ 64166 h 641663"/>
              <a:gd name="connsiteX4" fmla="*/ 1283326 w 1283326"/>
              <a:gd name="connsiteY4" fmla="*/ 577497 h 641663"/>
              <a:gd name="connsiteX5" fmla="*/ 1219160 w 1283326"/>
              <a:gd name="connsiteY5" fmla="*/ 641663 h 641663"/>
              <a:gd name="connsiteX6" fmla="*/ 64166 w 1283326"/>
              <a:gd name="connsiteY6" fmla="*/ 641663 h 641663"/>
              <a:gd name="connsiteX7" fmla="*/ 0 w 1283326"/>
              <a:gd name="connsiteY7" fmla="*/ 577497 h 641663"/>
              <a:gd name="connsiteX8" fmla="*/ 0 w 1283326"/>
              <a:gd name="connsiteY8" fmla="*/ 64166 h 64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3326" h="641663">
                <a:moveTo>
                  <a:pt x="0" y="64166"/>
                </a:moveTo>
                <a:cubicBezTo>
                  <a:pt x="0" y="28728"/>
                  <a:pt x="28728" y="0"/>
                  <a:pt x="64166" y="0"/>
                </a:cubicBezTo>
                <a:lnTo>
                  <a:pt x="1219160" y="0"/>
                </a:lnTo>
                <a:cubicBezTo>
                  <a:pt x="1254598" y="0"/>
                  <a:pt x="1283326" y="28728"/>
                  <a:pt x="1283326" y="64166"/>
                </a:cubicBezTo>
                <a:lnTo>
                  <a:pt x="1283326" y="577497"/>
                </a:lnTo>
                <a:cubicBezTo>
                  <a:pt x="1283326" y="612935"/>
                  <a:pt x="1254598" y="641663"/>
                  <a:pt x="1219160" y="641663"/>
                </a:cubicBezTo>
                <a:lnTo>
                  <a:pt x="64166" y="641663"/>
                </a:lnTo>
                <a:cubicBezTo>
                  <a:pt x="28728" y="641663"/>
                  <a:pt x="0" y="612935"/>
                  <a:pt x="0" y="577497"/>
                </a:cubicBezTo>
                <a:lnTo>
                  <a:pt x="0" y="641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859" tIns="30859" rIns="30859" bIns="30859" numCol="1" spcCol="1270" anchor="ctr" anchorCtr="0">
            <a:noAutofit/>
          </a:bodyPr>
          <a:lstStyle/>
          <a:p>
            <a:pPr algn="ctr" defTabSz="844550">
              <a:lnSpc>
                <a:spcPct val="90000"/>
              </a:lnSpc>
              <a:spcBef>
                <a:spcPct val="0"/>
              </a:spcBef>
              <a:spcAft>
                <a:spcPct val="35000"/>
              </a:spcAft>
            </a:pPr>
            <a:r>
              <a:rPr lang="zh-CN" altLang="en-US" sz="1900" dirty="0">
                <a:solidFill>
                  <a:prstClr val="white"/>
                </a:solidFill>
                <a:latin typeface="Microsoft YaHei UI"/>
                <a:ea typeface="微软雅黑"/>
              </a:rPr>
              <a:t>杂项运算符</a:t>
            </a:r>
          </a:p>
        </p:txBody>
      </p:sp>
      <p:sp>
        <p:nvSpPr>
          <p:cNvPr id="10" name="矩形: 圆角 9"/>
          <p:cNvSpPr/>
          <p:nvPr/>
        </p:nvSpPr>
        <p:spPr>
          <a:xfrm>
            <a:off x="5501366" y="775332"/>
            <a:ext cx="1624263" cy="67872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Microsoft YaHei UI"/>
                <a:ea typeface="微软雅黑"/>
              </a:rPr>
              <a:t>条件运算符</a:t>
            </a:r>
            <a:endParaRPr lang="en-US" altLang="zh-CN" dirty="0">
              <a:solidFill>
                <a:prstClr val="white"/>
              </a:solidFill>
              <a:latin typeface="Microsoft YaHei UI"/>
              <a:ea typeface="微软雅黑"/>
            </a:endParaRPr>
          </a:p>
          <a:p>
            <a:pPr algn="ctr"/>
            <a:r>
              <a:rPr lang="zh-CN" altLang="en-US" dirty="0">
                <a:solidFill>
                  <a:prstClr val="white"/>
                </a:solidFill>
                <a:latin typeface="Microsoft YaHei UI"/>
                <a:ea typeface="微软雅黑"/>
              </a:rPr>
              <a:t>？：</a:t>
            </a:r>
          </a:p>
        </p:txBody>
      </p:sp>
      <p:sp>
        <p:nvSpPr>
          <p:cNvPr id="11" name="矩形: 圆角 10"/>
          <p:cNvSpPr/>
          <p:nvPr/>
        </p:nvSpPr>
        <p:spPr>
          <a:xfrm>
            <a:off x="5501365" y="1865841"/>
            <a:ext cx="1624263" cy="81704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Microsoft YaHei UI"/>
                <a:ea typeface="微软雅黑"/>
              </a:rPr>
              <a:t>逗号运算符</a:t>
            </a:r>
            <a:endParaRPr lang="en-US" altLang="zh-CN" dirty="0">
              <a:solidFill>
                <a:prstClr val="white"/>
              </a:solidFill>
              <a:latin typeface="Microsoft YaHei UI"/>
              <a:ea typeface="微软雅黑"/>
            </a:endParaRPr>
          </a:p>
          <a:p>
            <a:pPr algn="ctr"/>
            <a:r>
              <a:rPr lang="en-US" altLang="zh-CN" dirty="0">
                <a:solidFill>
                  <a:prstClr val="white"/>
                </a:solidFill>
                <a:latin typeface="Microsoft YaHei UI"/>
                <a:ea typeface="微软雅黑"/>
              </a:rPr>
              <a:t>,</a:t>
            </a:r>
            <a:endParaRPr lang="zh-CN" altLang="en-US" dirty="0">
              <a:solidFill>
                <a:prstClr val="white"/>
              </a:solidFill>
              <a:latin typeface="Microsoft YaHei UI"/>
              <a:ea typeface="微软雅黑"/>
            </a:endParaRPr>
          </a:p>
        </p:txBody>
      </p:sp>
      <p:sp>
        <p:nvSpPr>
          <p:cNvPr id="12" name="矩形: 圆角 11"/>
          <p:cNvSpPr/>
          <p:nvPr/>
        </p:nvSpPr>
        <p:spPr>
          <a:xfrm>
            <a:off x="5501365" y="3003719"/>
            <a:ext cx="1624263" cy="81704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Microsoft YaHei UI"/>
                <a:ea typeface="微软雅黑"/>
              </a:rPr>
              <a:t>指针运算符</a:t>
            </a:r>
            <a:endParaRPr lang="en-US" altLang="zh-CN" dirty="0">
              <a:solidFill>
                <a:prstClr val="white"/>
              </a:solidFill>
              <a:latin typeface="Microsoft YaHei UI"/>
              <a:ea typeface="微软雅黑"/>
            </a:endParaRPr>
          </a:p>
          <a:p>
            <a:pPr algn="ctr"/>
            <a:r>
              <a:rPr lang="en-US" altLang="zh-CN" dirty="0">
                <a:solidFill>
                  <a:prstClr val="white"/>
                </a:solidFill>
                <a:latin typeface="Microsoft YaHei UI"/>
                <a:ea typeface="微软雅黑"/>
              </a:rPr>
              <a:t>&amp;   *</a:t>
            </a:r>
            <a:endParaRPr lang="zh-CN" altLang="en-US" dirty="0">
              <a:solidFill>
                <a:prstClr val="white"/>
              </a:solidFill>
              <a:latin typeface="Microsoft YaHei UI"/>
              <a:ea typeface="微软雅黑"/>
            </a:endParaRPr>
          </a:p>
        </p:txBody>
      </p:sp>
      <p:sp>
        <p:nvSpPr>
          <p:cNvPr id="13" name="矩形: 圆角 12"/>
          <p:cNvSpPr/>
          <p:nvPr/>
        </p:nvSpPr>
        <p:spPr>
          <a:xfrm>
            <a:off x="5501365" y="4141597"/>
            <a:ext cx="1624263" cy="102247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Microsoft YaHei UI"/>
                <a:ea typeface="微软雅黑"/>
              </a:rPr>
              <a:t>求字节数运算符</a:t>
            </a:r>
            <a:endParaRPr lang="en-US" altLang="zh-CN" dirty="0">
              <a:solidFill>
                <a:prstClr val="white"/>
              </a:solidFill>
              <a:latin typeface="Microsoft YaHei UI"/>
              <a:ea typeface="微软雅黑"/>
            </a:endParaRPr>
          </a:p>
          <a:p>
            <a:pPr algn="ctr"/>
            <a:r>
              <a:rPr lang="en-US" altLang="zh-CN" dirty="0">
                <a:solidFill>
                  <a:prstClr val="white"/>
                </a:solidFill>
                <a:latin typeface="Microsoft YaHei UI"/>
                <a:ea typeface="微软雅黑"/>
              </a:rPr>
              <a:t>sizeof</a:t>
            </a:r>
            <a:r>
              <a:rPr lang="zh-CN" altLang="en-US" dirty="0">
                <a:solidFill>
                  <a:prstClr val="white"/>
                </a:solidFill>
                <a:latin typeface="Microsoft YaHei UI"/>
                <a:ea typeface="微软雅黑"/>
              </a:rPr>
              <a:t>（）</a:t>
            </a:r>
            <a:endParaRPr lang="en-US" altLang="zh-CN" dirty="0">
              <a:solidFill>
                <a:prstClr val="white"/>
              </a:solidFill>
              <a:latin typeface="Microsoft YaHei UI"/>
              <a:ea typeface="微软雅黑"/>
            </a:endParaRPr>
          </a:p>
        </p:txBody>
      </p:sp>
      <p:sp>
        <p:nvSpPr>
          <p:cNvPr id="15" name="矩形: 圆角 14"/>
          <p:cNvSpPr/>
          <p:nvPr/>
        </p:nvSpPr>
        <p:spPr>
          <a:xfrm>
            <a:off x="5501364" y="5476871"/>
            <a:ext cx="1624263" cy="81704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Microsoft YaHei UI"/>
                <a:ea typeface="微软雅黑"/>
              </a:rPr>
              <a:t>特殊运算符</a:t>
            </a:r>
            <a:endParaRPr lang="en-US" altLang="zh-CN" dirty="0">
              <a:solidFill>
                <a:prstClr val="white"/>
              </a:solidFill>
              <a:latin typeface="Microsoft YaHei UI"/>
              <a:ea typeface="微软雅黑"/>
            </a:endParaRPr>
          </a:p>
          <a:p>
            <a:pPr algn="ctr"/>
            <a:r>
              <a:rPr lang="zh-CN" altLang="en-US" dirty="0">
                <a:solidFill>
                  <a:prstClr val="white"/>
                </a:solidFill>
                <a:latin typeface="Microsoft YaHei UI"/>
                <a:ea typeface="微软雅黑"/>
              </a:rPr>
              <a:t>（）</a:t>
            </a:r>
            <a:r>
              <a:rPr lang="en-US" altLang="zh-CN" dirty="0">
                <a:solidFill>
                  <a:prstClr val="white"/>
                </a:solidFill>
                <a:latin typeface="Microsoft YaHei UI"/>
                <a:ea typeface="微软雅黑"/>
              </a:rPr>
              <a:t>[] {} -&gt; .</a:t>
            </a:r>
            <a:endParaRPr lang="zh-CN" altLang="en-US" dirty="0">
              <a:solidFill>
                <a:prstClr val="white"/>
              </a:solidFill>
              <a:latin typeface="Microsoft YaHei UI"/>
              <a:ea typeface="微软雅黑"/>
            </a:endParaRPr>
          </a:p>
        </p:txBody>
      </p:sp>
      <p:cxnSp>
        <p:nvCxnSpPr>
          <p:cNvPr id="17" name="直接连接符 16"/>
          <p:cNvCxnSpPr>
            <a:endCxn id="10" idx="1"/>
          </p:cNvCxnSpPr>
          <p:nvPr/>
        </p:nvCxnSpPr>
        <p:spPr>
          <a:xfrm flipV="1">
            <a:off x="4345897" y="1114697"/>
            <a:ext cx="1155468" cy="23415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11" idx="1"/>
          </p:cNvCxnSpPr>
          <p:nvPr/>
        </p:nvCxnSpPr>
        <p:spPr>
          <a:xfrm flipV="1">
            <a:off x="4345898" y="2274365"/>
            <a:ext cx="1155467" cy="11564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2" idx="1"/>
          </p:cNvCxnSpPr>
          <p:nvPr/>
        </p:nvCxnSpPr>
        <p:spPr>
          <a:xfrm>
            <a:off x="4345898" y="3412242"/>
            <a:ext cx="11554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3" idx="1"/>
          </p:cNvCxnSpPr>
          <p:nvPr/>
        </p:nvCxnSpPr>
        <p:spPr>
          <a:xfrm>
            <a:off x="4345896" y="3430774"/>
            <a:ext cx="1155468" cy="1222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5" idx="1"/>
          </p:cNvCxnSpPr>
          <p:nvPr/>
        </p:nvCxnSpPr>
        <p:spPr>
          <a:xfrm>
            <a:off x="4345897" y="3474732"/>
            <a:ext cx="1155467" cy="2410663"/>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57225" y="263544"/>
            <a:ext cx="8137525" cy="679450"/>
          </a:xfrm>
        </p:spPr>
        <p:txBody>
          <a:bodyPr/>
          <a:lstStyle/>
          <a:p>
            <a:pPr algn="l"/>
            <a:r>
              <a:rPr lang="zh-CN" altLang="en-US" sz="2800" dirty="0"/>
              <a:t>运算符</a:t>
            </a:r>
            <a:r>
              <a:rPr lang="en-US" altLang="zh-CN" sz="2800" dirty="0"/>
              <a:t>——</a:t>
            </a:r>
            <a:r>
              <a:rPr lang="zh-CN" altLang="en-US" sz="2800" dirty="0"/>
              <a:t>实例</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sp>
        <p:nvSpPr>
          <p:cNvPr id="10" name="文本框 9"/>
          <p:cNvSpPr txBox="1"/>
          <p:nvPr/>
        </p:nvSpPr>
        <p:spPr>
          <a:xfrm>
            <a:off x="2026444" y="4647415"/>
            <a:ext cx="9429476" cy="460375"/>
          </a:xfrm>
          <a:prstGeom prst="rect">
            <a:avLst/>
          </a:prstGeom>
          <a:noFill/>
        </p:spPr>
        <p:txBody>
          <a:bodyPr wrap="square" rtlCol="0">
            <a:spAutoFit/>
          </a:bodyPr>
          <a:lstStyle/>
          <a:p>
            <a:r>
              <a:rPr lang="zh-CN" altLang="en-US" sz="2400" dirty="0">
                <a:solidFill>
                  <a:prstClr val="black"/>
                </a:solidFill>
                <a:latin typeface="Microsoft YaHei UI"/>
                <a:ea typeface="微软雅黑"/>
              </a:rPr>
              <a:t>想一想，</a:t>
            </a:r>
            <a:r>
              <a:rPr lang="en-US" altLang="zh-CN" sz="2400" dirty="0">
                <a:solidFill>
                  <a:prstClr val="black"/>
                </a:solidFill>
                <a:latin typeface="Microsoft YaHei UI"/>
                <a:ea typeface="微软雅黑"/>
              </a:rPr>
              <a:t>a1,a2,a3,a4</a:t>
            </a:r>
            <a:r>
              <a:rPr lang="zh-CN" altLang="en-US" sz="2400" dirty="0">
                <a:solidFill>
                  <a:prstClr val="black"/>
                </a:solidFill>
                <a:latin typeface="Microsoft YaHei UI"/>
                <a:ea typeface="微软雅黑"/>
              </a:rPr>
              <a:t>的值分别是多少？在最后</a:t>
            </a:r>
            <a:r>
              <a:rPr lang="en-US" altLang="zh-CN" sz="2400" dirty="0">
                <a:solidFill>
                  <a:prstClr val="black"/>
                </a:solidFill>
                <a:latin typeface="Microsoft YaHei UI"/>
                <a:ea typeface="微软雅黑"/>
              </a:rPr>
              <a:t>x , y</a:t>
            </a:r>
            <a:r>
              <a:rPr lang="zh-CN" altLang="en-US" sz="2400" dirty="0">
                <a:solidFill>
                  <a:prstClr val="black"/>
                </a:solidFill>
                <a:latin typeface="Microsoft YaHei UI"/>
                <a:ea typeface="微软雅黑"/>
              </a:rPr>
              <a:t>各等于多少？</a:t>
            </a:r>
          </a:p>
        </p:txBody>
      </p:sp>
      <p:pic>
        <p:nvPicPr>
          <p:cNvPr id="11" name="图片 10"/>
          <p:cNvPicPr>
            <a:picLocks noChangeAspect="1"/>
          </p:cNvPicPr>
          <p:nvPr/>
        </p:nvPicPr>
        <p:blipFill>
          <a:blip r:embed="rId2"/>
          <a:stretch>
            <a:fillRect/>
          </a:stretch>
        </p:blipFill>
        <p:spPr>
          <a:xfrm>
            <a:off x="5440800" y="5198089"/>
            <a:ext cx="1091355" cy="1572835"/>
          </a:xfrm>
          <a:prstGeom prst="rect">
            <a:avLst/>
          </a:prstGeom>
        </p:spPr>
      </p:pic>
      <p:pic>
        <p:nvPicPr>
          <p:cNvPr id="5" name="图片 4"/>
          <p:cNvPicPr>
            <a:picLocks noChangeAspect="1"/>
          </p:cNvPicPr>
          <p:nvPr/>
        </p:nvPicPr>
        <p:blipFill>
          <a:blip r:embed="rId3"/>
          <a:stretch>
            <a:fillRect/>
          </a:stretch>
        </p:blipFill>
        <p:spPr>
          <a:xfrm>
            <a:off x="3649270" y="961535"/>
            <a:ext cx="5446206" cy="3340121"/>
          </a:xfrm>
          <a:prstGeom prst="rect">
            <a:avLst/>
          </a:prstGeom>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552450" y="234701"/>
            <a:ext cx="8137525" cy="679450"/>
          </a:xfrm>
        </p:spPr>
        <p:txBody>
          <a:bodyPr/>
          <a:lstStyle/>
          <a:p>
            <a:pPr algn="l"/>
            <a:r>
              <a:rPr lang="zh-CN" altLang="en-US" sz="2800" dirty="0"/>
              <a:t>运算符</a:t>
            </a:r>
            <a:r>
              <a:rPr lang="en-US" altLang="zh-CN" sz="2800" dirty="0"/>
              <a:t>——</a:t>
            </a:r>
            <a:r>
              <a:rPr lang="zh-CN" altLang="en-US" sz="2800" dirty="0"/>
              <a:t>实例</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r>
              <a:rPr lang="zh-CN" altLang="en-US" dirty="0">
                <a:solidFill>
                  <a:srgbClr val="000000">
                    <a:lumMod val="50000"/>
                    <a:lumOff val="50000"/>
                  </a:srgbClr>
                </a:solidFill>
                <a:latin typeface="Arial" panose="020B0604020202020204"/>
                <a:ea typeface="微软雅黑" panose="020B0503020204020204" pitchFamily="34" charset="-122"/>
              </a:rPr>
              <a:t>  </a:t>
            </a:r>
          </a:p>
        </p:txBody>
      </p:sp>
      <p:pic>
        <p:nvPicPr>
          <p:cNvPr id="7" name="图片 6"/>
          <p:cNvPicPr>
            <a:picLocks noChangeAspect="1"/>
          </p:cNvPicPr>
          <p:nvPr/>
        </p:nvPicPr>
        <p:blipFill>
          <a:blip r:embed="rId2"/>
          <a:stretch>
            <a:fillRect/>
          </a:stretch>
        </p:blipFill>
        <p:spPr>
          <a:xfrm>
            <a:off x="9586647" y="1459351"/>
            <a:ext cx="857250" cy="685800"/>
          </a:xfrm>
          <a:prstGeom prst="rect">
            <a:avLst/>
          </a:prstGeom>
        </p:spPr>
      </p:pic>
      <p:sp>
        <p:nvSpPr>
          <p:cNvPr id="9" name="文本框 8"/>
          <p:cNvSpPr txBox="1"/>
          <p:nvPr/>
        </p:nvSpPr>
        <p:spPr>
          <a:xfrm>
            <a:off x="2177281" y="3933059"/>
            <a:ext cx="7060678" cy="2584450"/>
          </a:xfrm>
          <a:prstGeom prst="rect">
            <a:avLst/>
          </a:prstGeom>
          <a:noFill/>
        </p:spPr>
        <p:txBody>
          <a:bodyPr wrap="square" rtlCol="0">
            <a:spAutoFit/>
          </a:bodyPr>
          <a:lstStyle/>
          <a:p>
            <a:r>
              <a:rPr lang="zh-CN" altLang="en-US" sz="2400" dirty="0">
                <a:solidFill>
                  <a:prstClr val="black"/>
                </a:solidFill>
                <a:latin typeface="Microsoft YaHei UI"/>
                <a:ea typeface="微软雅黑"/>
              </a:rPr>
              <a:t>提示：</a:t>
            </a:r>
            <a:endParaRPr lang="en-US" altLang="zh-CN" sz="2400" dirty="0">
              <a:solidFill>
                <a:prstClr val="black"/>
              </a:solidFill>
              <a:latin typeface="Microsoft YaHei UI"/>
              <a:ea typeface="微软雅黑"/>
            </a:endParaRPr>
          </a:p>
          <a:p>
            <a:r>
              <a:rPr lang="en-US" altLang="zh-CN" sz="2400" dirty="0">
                <a:solidFill>
                  <a:prstClr val="black"/>
                </a:solidFill>
                <a:latin typeface="Microsoft YaHei UI"/>
                <a:ea typeface="微软雅黑"/>
              </a:rPr>
              <a:t>1</a:t>
            </a:r>
            <a:r>
              <a:rPr lang="zh-CN" altLang="en-US" sz="2400" dirty="0">
                <a:solidFill>
                  <a:prstClr val="black"/>
                </a:solidFill>
                <a:latin typeface="Microsoft YaHei UI"/>
                <a:ea typeface="微软雅黑"/>
              </a:rPr>
              <a:t>）逗号运算符的优先级非常低</a:t>
            </a:r>
            <a:endParaRPr lang="en-US" altLang="zh-CN" sz="2400" dirty="0">
              <a:solidFill>
                <a:prstClr val="black"/>
              </a:solidFill>
              <a:latin typeface="Microsoft YaHei UI"/>
              <a:ea typeface="微软雅黑"/>
            </a:endParaRPr>
          </a:p>
          <a:p>
            <a:r>
              <a:rPr lang="en-US" altLang="zh-CN" sz="2400" dirty="0">
                <a:solidFill>
                  <a:prstClr val="black"/>
                </a:solidFill>
                <a:latin typeface="Microsoft YaHei UI"/>
                <a:ea typeface="微软雅黑"/>
              </a:rPr>
              <a:t>2</a:t>
            </a:r>
            <a:r>
              <a:rPr lang="zh-CN" altLang="en-US" sz="2400" dirty="0">
                <a:solidFill>
                  <a:prstClr val="black"/>
                </a:solidFill>
                <a:latin typeface="Microsoft YaHei UI"/>
                <a:ea typeface="微软雅黑"/>
              </a:rPr>
              <a:t>）逗号运算符以右侧值作为其整个表达式的值</a:t>
            </a:r>
            <a:endParaRPr lang="en-US" altLang="zh-CN" sz="2400" dirty="0">
              <a:solidFill>
                <a:prstClr val="black"/>
              </a:solidFill>
              <a:latin typeface="Microsoft YaHei UI"/>
              <a:ea typeface="微软雅黑"/>
            </a:endParaRPr>
          </a:p>
          <a:p>
            <a:r>
              <a:rPr lang="en-US" altLang="zh-CN" sz="2400" dirty="0">
                <a:solidFill>
                  <a:prstClr val="black"/>
                </a:solidFill>
                <a:latin typeface="Microsoft YaHei UI"/>
                <a:ea typeface="微软雅黑"/>
              </a:rPr>
              <a:t>3</a:t>
            </a:r>
            <a:r>
              <a:rPr lang="zh-CN" altLang="en-US" sz="2400" dirty="0">
                <a:solidFill>
                  <a:prstClr val="black"/>
                </a:solidFill>
                <a:latin typeface="Microsoft YaHei UI"/>
                <a:ea typeface="微软雅黑"/>
              </a:rPr>
              <a:t>）条件运算符以最终选择的值，作为整个表达式的值</a:t>
            </a:r>
            <a:endParaRPr lang="en-US" altLang="zh-CN" sz="2400" dirty="0">
              <a:solidFill>
                <a:prstClr val="black"/>
              </a:solidFill>
              <a:latin typeface="Microsoft YaHei UI"/>
              <a:ea typeface="微软雅黑"/>
            </a:endParaRPr>
          </a:p>
          <a:p>
            <a:r>
              <a:rPr lang="en-US" altLang="zh-CN" sz="2400" dirty="0">
                <a:solidFill>
                  <a:prstClr val="black"/>
                </a:solidFill>
                <a:latin typeface="Microsoft YaHei UI"/>
                <a:ea typeface="微软雅黑"/>
              </a:rPr>
              <a:t>4</a:t>
            </a:r>
            <a:r>
              <a:rPr lang="zh-CN" altLang="en-US" sz="2400" dirty="0">
                <a:solidFill>
                  <a:prstClr val="black"/>
                </a:solidFill>
                <a:latin typeface="Microsoft YaHei UI"/>
                <a:ea typeface="微软雅黑"/>
              </a:rPr>
              <a:t>）</a:t>
            </a:r>
            <a:r>
              <a:rPr lang="en-US" altLang="zh-CN" sz="2400" dirty="0">
                <a:solidFill>
                  <a:prstClr val="black"/>
                </a:solidFill>
                <a:latin typeface="Microsoft YaHei UI"/>
                <a:ea typeface="微软雅黑"/>
              </a:rPr>
              <a:t>&amp;&amp;</a:t>
            </a:r>
            <a:r>
              <a:rPr lang="zh-CN" altLang="en-US" sz="2400" dirty="0">
                <a:solidFill>
                  <a:prstClr val="black"/>
                </a:solidFill>
                <a:latin typeface="Microsoft YaHei UI"/>
                <a:ea typeface="微软雅黑"/>
              </a:rPr>
              <a:t>的短路运算</a:t>
            </a:r>
          </a:p>
          <a:p>
            <a:endParaRPr lang="zh-CN" altLang="en-US" dirty="0">
              <a:solidFill>
                <a:prstClr val="black"/>
              </a:solidFill>
              <a:latin typeface="Microsoft YaHei UI"/>
              <a:ea typeface="微软雅黑"/>
            </a:endParaRPr>
          </a:p>
        </p:txBody>
      </p:sp>
      <p:pic>
        <p:nvPicPr>
          <p:cNvPr id="5" name="图片 4"/>
          <p:cNvPicPr>
            <a:picLocks noChangeAspect="1"/>
          </p:cNvPicPr>
          <p:nvPr/>
        </p:nvPicPr>
        <p:blipFill>
          <a:blip r:embed="rId3"/>
          <a:stretch>
            <a:fillRect/>
          </a:stretch>
        </p:blipFill>
        <p:spPr>
          <a:xfrm>
            <a:off x="6431853" y="1005050"/>
            <a:ext cx="2806107" cy="1953482"/>
          </a:xfrm>
          <a:prstGeom prst="rect">
            <a:avLst/>
          </a:prstGeom>
        </p:spPr>
      </p:pic>
      <p:pic>
        <p:nvPicPr>
          <p:cNvPr id="10" name="图片 9"/>
          <p:cNvPicPr>
            <a:picLocks noChangeAspect="1"/>
          </p:cNvPicPr>
          <p:nvPr/>
        </p:nvPicPr>
        <p:blipFill>
          <a:blip r:embed="rId4"/>
          <a:stretch>
            <a:fillRect/>
          </a:stretch>
        </p:blipFill>
        <p:spPr>
          <a:xfrm>
            <a:off x="2322947" y="991098"/>
            <a:ext cx="3656159" cy="2242297"/>
          </a:xfrm>
          <a:prstGeom prst="rect">
            <a:avLst/>
          </a:prstGeom>
        </p:spPr>
      </p:pic>
      <p:graphicFrame>
        <p:nvGraphicFramePr>
          <p:cNvPr id="8" name="表格 10"/>
          <p:cNvGraphicFramePr>
            <a:graphicFrameLocks noGrp="1"/>
          </p:cNvGraphicFramePr>
          <p:nvPr/>
        </p:nvGraphicFramePr>
        <p:xfrm>
          <a:off x="7357669" y="3233394"/>
          <a:ext cx="2806108" cy="957032"/>
        </p:xfrm>
        <a:graphic>
          <a:graphicData uri="http://schemas.openxmlformats.org/drawingml/2006/table">
            <a:tbl>
              <a:tblPr firstRow="1" bandRow="1">
                <a:tableStyleId>{5C22544A-7EE6-4342-B048-85BDC9FD1C3A}</a:tableStyleId>
              </a:tblPr>
              <a:tblGrid>
                <a:gridCol w="1403054">
                  <a:extLst>
                    <a:ext uri="{9D8B030D-6E8A-4147-A177-3AD203B41FA5}">
                      <a16:colId xmlns:a16="http://schemas.microsoft.com/office/drawing/2014/main" val="20000"/>
                    </a:ext>
                  </a:extLst>
                </a:gridCol>
                <a:gridCol w="1403054">
                  <a:extLst>
                    <a:ext uri="{9D8B030D-6E8A-4147-A177-3AD203B41FA5}">
                      <a16:colId xmlns:a16="http://schemas.microsoft.com/office/drawing/2014/main" val="20001"/>
                    </a:ext>
                  </a:extLst>
                </a:gridCol>
              </a:tblGrid>
              <a:tr h="478516">
                <a:tc>
                  <a:txBody>
                    <a:bodyPr/>
                    <a:lstStyle/>
                    <a:p>
                      <a:pPr algn="ctr"/>
                      <a:r>
                        <a:rPr lang="zh-CN" altLang="en-US" sz="1800" dirty="0"/>
                        <a:t>赋值运算符</a:t>
                      </a:r>
                    </a:p>
                  </a:txBody>
                  <a:tcPr/>
                </a:tc>
                <a:tc>
                  <a:txBody>
                    <a:bodyPr/>
                    <a:lstStyle/>
                    <a:p>
                      <a:pPr algn="ctr"/>
                      <a:r>
                        <a:rPr lang="zh-CN" altLang="en-US" sz="1800" dirty="0"/>
                        <a:t>逗号运算符</a:t>
                      </a:r>
                    </a:p>
                  </a:txBody>
                  <a:tcPr/>
                </a:tc>
                <a:extLst>
                  <a:ext uri="{0D108BD9-81ED-4DB2-BD59-A6C34878D82A}">
                    <a16:rowId xmlns:a16="http://schemas.microsoft.com/office/drawing/2014/main" val="10000"/>
                  </a:ext>
                </a:extLst>
              </a:tr>
              <a:tr h="478516">
                <a:tc>
                  <a:txBody>
                    <a:bodyPr/>
                    <a:lstStyle/>
                    <a:p>
                      <a:pPr algn="ctr"/>
                      <a:r>
                        <a:rPr lang="en-US" altLang="zh-CN" sz="1800" dirty="0"/>
                        <a:t>14</a:t>
                      </a:r>
                      <a:endParaRPr lang="zh-CN" altLang="en-US" sz="1800" dirty="0"/>
                    </a:p>
                  </a:txBody>
                  <a:tcPr/>
                </a:tc>
                <a:tc>
                  <a:txBody>
                    <a:bodyPr/>
                    <a:lstStyle/>
                    <a:p>
                      <a:pPr algn="ctr"/>
                      <a:r>
                        <a:rPr lang="en-US" altLang="zh-CN" sz="1800" dirty="0"/>
                        <a:t>15</a:t>
                      </a:r>
                      <a:endParaRPr lang="zh-CN" altLang="en-US" sz="1800" dirty="0"/>
                    </a:p>
                  </a:txBody>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anim calcmode="lin" valueType="num">
                                      <p:cBhvr>
                                        <p:cTn id="16" dur="1000" fill="hold"/>
                                        <p:tgtEl>
                                          <p:spTgt spid="9"/>
                                        </p:tgtEl>
                                        <p:attrNameLst>
                                          <p:attrName>ppt_x</p:attrName>
                                        </p:attrNameLst>
                                      </p:cBhvr>
                                      <p:tavLst>
                                        <p:tav tm="0">
                                          <p:val>
                                            <p:strVal val="#ppt_x"/>
                                          </p:val>
                                        </p:tav>
                                        <p:tav tm="100000">
                                          <p:val>
                                            <p:strVal val="#ppt_x"/>
                                          </p:val>
                                        </p:tav>
                                      </p:tavLst>
                                    </p:anim>
                                    <p:anim calcmode="lin" valueType="num">
                                      <p:cBhvr>
                                        <p:cTn id="17" dur="1000" fill="hold"/>
                                        <p:tgtEl>
                                          <p:spTgt spid="9"/>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42"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85914" y="217066"/>
            <a:ext cx="8137525" cy="677863"/>
          </a:xfrm>
        </p:spPr>
        <p:txBody>
          <a:bodyPr/>
          <a:lstStyle/>
          <a:p>
            <a:pPr algn="l"/>
            <a:r>
              <a:rPr lang="zh-CN" altLang="en-US" sz="2800" dirty="0"/>
              <a:t>运算</a:t>
            </a:r>
            <a:r>
              <a:rPr lang="en-US" altLang="zh-CN" sz="2800" dirty="0"/>
              <a:t>——</a:t>
            </a:r>
            <a:r>
              <a:rPr lang="zh-CN" altLang="en-US" sz="2800" dirty="0"/>
              <a:t>浮点数判等</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fld id="{5DD3DB80-B894-403A-B48E-6FDC1A72010E}" type="slidenum">
              <a:rPr lang="zh-CN" altLang="en-US">
                <a:solidFill>
                  <a:srgbClr val="000000">
                    <a:lumMod val="50000"/>
                    <a:lumOff val="50000"/>
                  </a:srgbClr>
                </a:solidFill>
                <a:latin typeface="Arial" panose="020B0604020202020204"/>
                <a:ea typeface="微软雅黑" panose="020B0503020204020204" pitchFamily="34" charset="-122"/>
              </a:rPr>
              <a:pPr defTabSz="685800"/>
              <a:t>12</a:t>
            </a:fld>
            <a:endParaRPr lang="zh-CN" altLang="en-US">
              <a:solidFill>
                <a:srgbClr val="000000">
                  <a:lumMod val="50000"/>
                  <a:lumOff val="50000"/>
                </a:srgbClr>
              </a:solidFill>
              <a:latin typeface="Arial" panose="020B0604020202020204"/>
              <a:ea typeface="微软雅黑" panose="020B0503020204020204" pitchFamily="34" charset="-122"/>
            </a:endParaRPr>
          </a:p>
        </p:txBody>
      </p:sp>
      <p:sp>
        <p:nvSpPr>
          <p:cNvPr id="3" name="文本框 2"/>
          <p:cNvSpPr txBox="1"/>
          <p:nvPr/>
        </p:nvSpPr>
        <p:spPr>
          <a:xfrm>
            <a:off x="2314150" y="796789"/>
            <a:ext cx="8587819" cy="460375"/>
          </a:xfrm>
          <a:prstGeom prst="rect">
            <a:avLst/>
          </a:prstGeom>
          <a:noFill/>
        </p:spPr>
        <p:txBody>
          <a:bodyPr wrap="square" rtlCol="0">
            <a:spAutoFit/>
          </a:bodyPr>
          <a:lstStyle/>
          <a:p>
            <a:r>
              <a:rPr lang="zh-CN" altLang="en-US" sz="2400" dirty="0">
                <a:solidFill>
                  <a:prstClr val="black"/>
                </a:solidFill>
                <a:latin typeface="Microsoft YaHei UI"/>
                <a:ea typeface="微软雅黑"/>
              </a:rPr>
              <a:t>如果我想要判断两个浮点数是否相等，应该采取什么措施呢？</a:t>
            </a:r>
          </a:p>
        </p:txBody>
      </p:sp>
      <p:pic>
        <p:nvPicPr>
          <p:cNvPr id="10" name="图片 9"/>
          <p:cNvPicPr>
            <a:picLocks noChangeAspect="1"/>
          </p:cNvPicPr>
          <p:nvPr/>
        </p:nvPicPr>
        <p:blipFill>
          <a:blip r:embed="rId3"/>
          <a:stretch>
            <a:fillRect/>
          </a:stretch>
        </p:blipFill>
        <p:spPr>
          <a:xfrm>
            <a:off x="8497599" y="2022071"/>
            <a:ext cx="1666767" cy="1356015"/>
          </a:xfrm>
          <a:prstGeom prst="rect">
            <a:avLst/>
          </a:prstGeom>
        </p:spPr>
      </p:pic>
      <p:pic>
        <p:nvPicPr>
          <p:cNvPr id="13" name="图片 12"/>
          <p:cNvPicPr>
            <a:picLocks noChangeAspect="1"/>
          </p:cNvPicPr>
          <p:nvPr/>
        </p:nvPicPr>
        <p:blipFill>
          <a:blip r:embed="rId4"/>
          <a:stretch>
            <a:fillRect/>
          </a:stretch>
        </p:blipFill>
        <p:spPr>
          <a:xfrm>
            <a:off x="7169926" y="2166343"/>
            <a:ext cx="1006362" cy="1211742"/>
          </a:xfrm>
          <a:prstGeom prst="rect">
            <a:avLst/>
          </a:prstGeom>
        </p:spPr>
      </p:pic>
      <p:pic>
        <p:nvPicPr>
          <p:cNvPr id="15" name="图片 14"/>
          <p:cNvPicPr>
            <a:picLocks noChangeAspect="1"/>
          </p:cNvPicPr>
          <p:nvPr/>
        </p:nvPicPr>
        <p:blipFill>
          <a:blip r:embed="rId5"/>
          <a:stretch>
            <a:fillRect/>
          </a:stretch>
        </p:blipFill>
        <p:spPr>
          <a:xfrm>
            <a:off x="2193925" y="1432092"/>
            <a:ext cx="4414134" cy="2316638"/>
          </a:xfrm>
          <a:prstGeom prst="rect">
            <a:avLst/>
          </a:prstGeom>
        </p:spPr>
      </p:pic>
      <p:sp>
        <p:nvSpPr>
          <p:cNvPr id="17" name="文本框 16"/>
          <p:cNvSpPr txBox="1"/>
          <p:nvPr/>
        </p:nvSpPr>
        <p:spPr>
          <a:xfrm>
            <a:off x="2436698" y="3697824"/>
            <a:ext cx="8465270" cy="398780"/>
          </a:xfrm>
          <a:prstGeom prst="rect">
            <a:avLst/>
          </a:prstGeom>
          <a:noFill/>
        </p:spPr>
        <p:txBody>
          <a:bodyPr wrap="square" rtlCol="0">
            <a:spAutoFit/>
          </a:bodyPr>
          <a:lstStyle/>
          <a:p>
            <a:r>
              <a:rPr lang="zh-CN" altLang="en-US" sz="2000" dirty="0">
                <a:solidFill>
                  <a:prstClr val="black"/>
                </a:solidFill>
                <a:latin typeface="Microsoft YaHei UI"/>
                <a:ea typeface="微软雅黑"/>
              </a:rPr>
              <a:t>浮点数的相等判断，由于精度问题，所以直接比较有时可能会出错。</a:t>
            </a:r>
          </a:p>
        </p:txBody>
      </p:sp>
      <p:pic>
        <p:nvPicPr>
          <p:cNvPr id="19" name="图片 18"/>
          <p:cNvPicPr>
            <a:picLocks noChangeAspect="1"/>
          </p:cNvPicPr>
          <p:nvPr/>
        </p:nvPicPr>
        <p:blipFill>
          <a:blip r:embed="rId6"/>
          <a:stretch>
            <a:fillRect/>
          </a:stretch>
        </p:blipFill>
        <p:spPr>
          <a:xfrm>
            <a:off x="5862000" y="4510078"/>
            <a:ext cx="4628577" cy="2369290"/>
          </a:xfrm>
          <a:prstGeom prst="rect">
            <a:avLst/>
          </a:prstGeom>
        </p:spPr>
      </p:pic>
      <p:sp>
        <p:nvSpPr>
          <p:cNvPr id="20" name="文本框 19"/>
          <p:cNvSpPr txBox="1"/>
          <p:nvPr/>
        </p:nvSpPr>
        <p:spPr>
          <a:xfrm>
            <a:off x="1363879" y="4328453"/>
            <a:ext cx="4731526" cy="706755"/>
          </a:xfrm>
          <a:prstGeom prst="rect">
            <a:avLst/>
          </a:prstGeom>
          <a:noFill/>
        </p:spPr>
        <p:txBody>
          <a:bodyPr wrap="square" rtlCol="0">
            <a:spAutoFit/>
          </a:bodyPr>
          <a:lstStyle/>
          <a:p>
            <a:pPr algn="ctr"/>
            <a:r>
              <a:rPr lang="zh-CN" altLang="en-US" sz="2000" dirty="0">
                <a:solidFill>
                  <a:prstClr val="black"/>
                </a:solidFill>
                <a:latin typeface="Microsoft YaHei UI"/>
                <a:ea typeface="微软雅黑"/>
              </a:rPr>
              <a:t>所以</a:t>
            </a:r>
            <a:endParaRPr lang="en-US" altLang="zh-CN" sz="2000" dirty="0">
              <a:solidFill>
                <a:prstClr val="black"/>
              </a:solidFill>
              <a:latin typeface="Microsoft YaHei UI"/>
              <a:ea typeface="微软雅黑"/>
            </a:endParaRPr>
          </a:p>
          <a:p>
            <a:pPr algn="ctr"/>
            <a:r>
              <a:rPr lang="zh-CN" altLang="en-US" sz="2000" dirty="0">
                <a:solidFill>
                  <a:prstClr val="black"/>
                </a:solidFill>
                <a:latin typeface="Microsoft YaHei UI"/>
                <a:ea typeface="微软雅黑"/>
              </a:rPr>
              <a:t>我们通常引入一个额外值来辅助判断</a:t>
            </a:r>
          </a:p>
        </p:txBody>
      </p:sp>
      <p:pic>
        <p:nvPicPr>
          <p:cNvPr id="23" name="图片 22"/>
          <p:cNvPicPr>
            <a:picLocks noChangeAspect="1"/>
          </p:cNvPicPr>
          <p:nvPr/>
        </p:nvPicPr>
        <p:blipFill rotWithShape="1">
          <a:blip r:embed="rId7"/>
          <a:srcRect l="6399"/>
          <a:stretch>
            <a:fillRect/>
          </a:stretch>
        </p:blipFill>
        <p:spPr>
          <a:xfrm>
            <a:off x="2396663" y="5250826"/>
            <a:ext cx="1480009" cy="1226780"/>
          </a:xfrm>
          <a:prstGeom prst="rect">
            <a:avLst/>
          </a:prstGeom>
        </p:spPr>
      </p:pic>
      <p:pic>
        <p:nvPicPr>
          <p:cNvPr id="24" name="图片 23"/>
          <p:cNvPicPr>
            <a:picLocks noChangeAspect="1"/>
          </p:cNvPicPr>
          <p:nvPr/>
        </p:nvPicPr>
        <p:blipFill>
          <a:blip r:embed="rId8"/>
          <a:stretch>
            <a:fillRect/>
          </a:stretch>
        </p:blipFill>
        <p:spPr>
          <a:xfrm>
            <a:off x="4233486" y="5480907"/>
            <a:ext cx="1042382" cy="104238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45"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0"/>
                                        <p:tgtEl>
                                          <p:spTgt spid="13"/>
                                        </p:tgtEl>
                                      </p:cBhvr>
                                    </p:animEffect>
                                    <p:anim calcmode="lin" valueType="num">
                                      <p:cBhvr>
                                        <p:cTn id="17" dur="2000" fill="hold"/>
                                        <p:tgtEl>
                                          <p:spTgt spid="13"/>
                                        </p:tgtEl>
                                        <p:attrNameLst>
                                          <p:attrName>ppt_w</p:attrName>
                                        </p:attrNameLst>
                                      </p:cBhvr>
                                      <p:tavLst>
                                        <p:tav tm="0" fmla="#ppt_w*sin(2.5*pi*$)">
                                          <p:val>
                                            <p:fltVal val="0"/>
                                          </p:val>
                                        </p:tav>
                                        <p:tav tm="100000">
                                          <p:val>
                                            <p:fltVal val="1"/>
                                          </p:val>
                                        </p:tav>
                                      </p:tavLst>
                                    </p:anim>
                                    <p:anim calcmode="lin" valueType="num">
                                      <p:cBhvr>
                                        <p:cTn id="18"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04850" y="258311"/>
            <a:ext cx="8137525" cy="679450"/>
          </a:xfrm>
        </p:spPr>
        <p:txBody>
          <a:bodyPr/>
          <a:lstStyle/>
          <a:p>
            <a:pPr algn="l"/>
            <a:r>
              <a:rPr lang="zh-CN" altLang="en-US" sz="2800" dirty="0"/>
              <a:t>运算</a:t>
            </a:r>
            <a:r>
              <a:rPr lang="en-US" altLang="zh-CN" sz="2800" dirty="0"/>
              <a:t>——</a:t>
            </a:r>
            <a:r>
              <a:rPr lang="zh-CN" altLang="en-US" sz="2800" dirty="0"/>
              <a:t>类型转化</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sp>
        <p:nvSpPr>
          <p:cNvPr id="3" name="文本框 2"/>
          <p:cNvSpPr txBox="1"/>
          <p:nvPr/>
        </p:nvSpPr>
        <p:spPr>
          <a:xfrm>
            <a:off x="2269957" y="993348"/>
            <a:ext cx="7066380" cy="521970"/>
          </a:xfrm>
          <a:prstGeom prst="rect">
            <a:avLst/>
          </a:prstGeom>
          <a:noFill/>
        </p:spPr>
        <p:txBody>
          <a:bodyPr wrap="square" rtlCol="0">
            <a:spAutoFit/>
          </a:bodyPr>
          <a:lstStyle/>
          <a:p>
            <a:r>
              <a:rPr lang="zh-CN" altLang="en-US" sz="2800" dirty="0">
                <a:solidFill>
                  <a:prstClr val="black"/>
                </a:solidFill>
                <a:latin typeface="Microsoft YaHei UI"/>
                <a:ea typeface="微软雅黑"/>
              </a:rPr>
              <a:t>在进行除法时，会存在一个小陷阱</a:t>
            </a:r>
          </a:p>
        </p:txBody>
      </p:sp>
      <p:sp>
        <p:nvSpPr>
          <p:cNvPr id="5" name="双波形 4"/>
          <p:cNvSpPr/>
          <p:nvPr/>
        </p:nvSpPr>
        <p:spPr>
          <a:xfrm>
            <a:off x="2269958" y="1876926"/>
            <a:ext cx="3826043" cy="1816768"/>
          </a:xfrm>
          <a:prstGeom prst="doubleWav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dirty="0">
                <a:solidFill>
                  <a:prstClr val="white"/>
                </a:solidFill>
                <a:latin typeface="Microsoft YaHei UI"/>
                <a:ea typeface="微软雅黑"/>
              </a:rPr>
              <a:t>3 / 2 =</a:t>
            </a:r>
            <a:r>
              <a:rPr lang="zh-CN" altLang="en-US" sz="4800" dirty="0">
                <a:solidFill>
                  <a:prstClr val="white"/>
                </a:solidFill>
                <a:latin typeface="Microsoft YaHei UI"/>
                <a:ea typeface="微软雅黑"/>
              </a:rPr>
              <a:t>？</a:t>
            </a:r>
          </a:p>
        </p:txBody>
      </p:sp>
      <p:sp>
        <p:nvSpPr>
          <p:cNvPr id="6" name="文本框 5"/>
          <p:cNvSpPr txBox="1"/>
          <p:nvPr/>
        </p:nvSpPr>
        <p:spPr>
          <a:xfrm>
            <a:off x="6198905" y="2057545"/>
            <a:ext cx="4619924" cy="1198880"/>
          </a:xfrm>
          <a:prstGeom prst="rect">
            <a:avLst/>
          </a:prstGeom>
          <a:noFill/>
        </p:spPr>
        <p:txBody>
          <a:bodyPr wrap="square" rtlCol="0">
            <a:spAutoFit/>
          </a:bodyPr>
          <a:lstStyle/>
          <a:p>
            <a:r>
              <a:rPr lang="zh-CN" altLang="en-US" sz="2400" dirty="0">
                <a:solidFill>
                  <a:prstClr val="black"/>
                </a:solidFill>
                <a:latin typeface="Microsoft YaHei UI"/>
                <a:ea typeface="微软雅黑"/>
              </a:rPr>
              <a:t>直接使用</a:t>
            </a:r>
            <a:r>
              <a:rPr lang="zh-CN" altLang="en-US" sz="2400" dirty="0">
                <a:solidFill>
                  <a:srgbClr val="FF0000"/>
                </a:solidFill>
                <a:latin typeface="Microsoft YaHei UI"/>
                <a:ea typeface="微软雅黑"/>
              </a:rPr>
              <a:t>整数型</a:t>
            </a:r>
            <a:r>
              <a:rPr lang="zh-CN" altLang="en-US" sz="2400" dirty="0">
                <a:solidFill>
                  <a:prstClr val="black"/>
                </a:solidFill>
                <a:latin typeface="Microsoft YaHei UI"/>
                <a:ea typeface="微软雅黑"/>
              </a:rPr>
              <a:t>操作</a:t>
            </a:r>
            <a:endParaRPr lang="en-US" altLang="zh-CN" sz="2400" dirty="0">
              <a:solidFill>
                <a:prstClr val="black"/>
              </a:solidFill>
              <a:latin typeface="Microsoft YaHei UI"/>
              <a:ea typeface="微软雅黑"/>
            </a:endParaRPr>
          </a:p>
          <a:p>
            <a:r>
              <a:rPr lang="zh-CN" altLang="en-US" sz="2400" dirty="0">
                <a:solidFill>
                  <a:prstClr val="black"/>
                </a:solidFill>
                <a:latin typeface="Microsoft YaHei UI"/>
                <a:ea typeface="微软雅黑"/>
              </a:rPr>
              <a:t>得到的结果还是</a:t>
            </a:r>
            <a:r>
              <a:rPr lang="zh-CN" altLang="en-US" sz="2400" dirty="0">
                <a:solidFill>
                  <a:srgbClr val="FF0000"/>
                </a:solidFill>
                <a:latin typeface="Microsoft YaHei UI"/>
                <a:ea typeface="微软雅黑"/>
              </a:rPr>
              <a:t>整数型</a:t>
            </a:r>
            <a:endParaRPr lang="en-US" altLang="zh-CN" sz="2400" dirty="0">
              <a:solidFill>
                <a:srgbClr val="FF0000"/>
              </a:solidFill>
              <a:latin typeface="Microsoft YaHei UI"/>
              <a:ea typeface="微软雅黑"/>
            </a:endParaRPr>
          </a:p>
          <a:p>
            <a:r>
              <a:rPr lang="zh-CN" altLang="en-US" sz="2400" dirty="0">
                <a:solidFill>
                  <a:prstClr val="black"/>
                </a:solidFill>
                <a:latin typeface="Microsoft YaHei UI"/>
                <a:ea typeface="微软雅黑"/>
              </a:rPr>
              <a:t>并且只</a:t>
            </a:r>
            <a:r>
              <a:rPr lang="zh-CN" altLang="en-US" sz="2400" dirty="0">
                <a:solidFill>
                  <a:srgbClr val="FF0000"/>
                </a:solidFill>
                <a:latin typeface="Microsoft YaHei UI"/>
                <a:ea typeface="微软雅黑"/>
              </a:rPr>
              <a:t>保留整数</a:t>
            </a:r>
            <a:r>
              <a:rPr lang="zh-CN" altLang="en-US" sz="2400" dirty="0">
                <a:solidFill>
                  <a:prstClr val="black"/>
                </a:solidFill>
                <a:latin typeface="Microsoft YaHei UI"/>
                <a:ea typeface="微软雅黑"/>
              </a:rPr>
              <a:t>位（非四舍五入）</a:t>
            </a:r>
          </a:p>
        </p:txBody>
      </p:sp>
      <p:pic>
        <p:nvPicPr>
          <p:cNvPr id="29" name="图片 28"/>
          <p:cNvPicPr>
            <a:picLocks noChangeAspect="1"/>
          </p:cNvPicPr>
          <p:nvPr/>
        </p:nvPicPr>
        <p:blipFill>
          <a:blip r:embed="rId2"/>
          <a:stretch>
            <a:fillRect/>
          </a:stretch>
        </p:blipFill>
        <p:spPr>
          <a:xfrm>
            <a:off x="6198905" y="3256425"/>
            <a:ext cx="4065915" cy="3491078"/>
          </a:xfrm>
          <a:prstGeom prst="rect">
            <a:avLst/>
          </a:prstGeom>
        </p:spPr>
      </p:pic>
      <p:pic>
        <p:nvPicPr>
          <p:cNvPr id="31" name="图片 30"/>
          <p:cNvPicPr>
            <a:picLocks noChangeAspect="1"/>
          </p:cNvPicPr>
          <p:nvPr/>
        </p:nvPicPr>
        <p:blipFill>
          <a:blip r:embed="rId3"/>
          <a:stretch>
            <a:fillRect/>
          </a:stretch>
        </p:blipFill>
        <p:spPr>
          <a:xfrm>
            <a:off x="2597348" y="4165910"/>
            <a:ext cx="2546545" cy="239922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545062" y="235555"/>
            <a:ext cx="8137525" cy="679450"/>
          </a:xfrm>
        </p:spPr>
        <p:txBody>
          <a:bodyPr/>
          <a:lstStyle/>
          <a:p>
            <a:pPr algn="l"/>
            <a:r>
              <a:rPr lang="zh-CN" altLang="en-US" sz="2800" dirty="0"/>
              <a:t>运算</a:t>
            </a:r>
            <a:r>
              <a:rPr lang="en-US" altLang="zh-CN" sz="2800" dirty="0"/>
              <a:t>——</a:t>
            </a:r>
            <a:r>
              <a:rPr lang="zh-CN" altLang="en-US" sz="2800" dirty="0"/>
              <a:t>类型转化</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graphicFrame>
        <p:nvGraphicFramePr>
          <p:cNvPr id="16" name="图示 15"/>
          <p:cNvGraphicFramePr/>
          <p:nvPr/>
        </p:nvGraphicFramePr>
        <p:xfrm>
          <a:off x="2893710" y="1923483"/>
          <a:ext cx="4069556" cy="3095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框 4"/>
          <p:cNvSpPr txBox="1"/>
          <p:nvPr/>
        </p:nvSpPr>
        <p:spPr>
          <a:xfrm>
            <a:off x="7412327" y="2303491"/>
            <a:ext cx="1085795" cy="460375"/>
          </a:xfrm>
          <a:prstGeom prst="rect">
            <a:avLst/>
          </a:prstGeom>
          <a:noFill/>
        </p:spPr>
        <p:txBody>
          <a:bodyPr wrap="square" rtlCol="0">
            <a:spAutoFit/>
          </a:bodyPr>
          <a:lstStyle/>
          <a:p>
            <a:r>
              <a:rPr lang="en-US" altLang="zh-CN" sz="2400" dirty="0">
                <a:solidFill>
                  <a:prstClr val="black"/>
                </a:solidFill>
                <a:latin typeface="Microsoft YaHei UI"/>
                <a:ea typeface="微软雅黑"/>
              </a:rPr>
              <a:t>3/2.0</a:t>
            </a:r>
            <a:endParaRPr lang="zh-CN" altLang="en-US" sz="2400" dirty="0">
              <a:solidFill>
                <a:prstClr val="black"/>
              </a:solidFill>
              <a:latin typeface="Microsoft YaHei UI"/>
              <a:ea typeface="微软雅黑"/>
            </a:endParaRPr>
          </a:p>
        </p:txBody>
      </p:sp>
      <p:sp>
        <p:nvSpPr>
          <p:cNvPr id="6" name="文本框 5"/>
          <p:cNvSpPr txBox="1"/>
          <p:nvPr/>
        </p:nvSpPr>
        <p:spPr>
          <a:xfrm>
            <a:off x="7143662" y="4492077"/>
            <a:ext cx="3020703" cy="460375"/>
          </a:xfrm>
          <a:prstGeom prst="rect">
            <a:avLst/>
          </a:prstGeom>
          <a:noFill/>
        </p:spPr>
        <p:txBody>
          <a:bodyPr wrap="square" rtlCol="0">
            <a:spAutoFit/>
          </a:bodyPr>
          <a:lstStyle/>
          <a:p>
            <a:r>
              <a:rPr lang="zh-CN" altLang="en-US" sz="2400" dirty="0">
                <a:solidFill>
                  <a:prstClr val="black"/>
                </a:solidFill>
                <a:latin typeface="Microsoft YaHei UI"/>
                <a:ea typeface="微软雅黑"/>
              </a:rPr>
              <a:t>（</a:t>
            </a:r>
            <a:r>
              <a:rPr lang="en-US" altLang="zh-CN" sz="2400" dirty="0">
                <a:solidFill>
                  <a:prstClr val="black"/>
                </a:solidFill>
                <a:latin typeface="Microsoft YaHei UI"/>
                <a:ea typeface="微软雅黑"/>
              </a:rPr>
              <a:t>double</a:t>
            </a:r>
            <a:r>
              <a:rPr lang="zh-CN" altLang="en-US" sz="2400" dirty="0">
                <a:solidFill>
                  <a:prstClr val="black"/>
                </a:solidFill>
                <a:latin typeface="Microsoft YaHei UI"/>
                <a:ea typeface="微软雅黑"/>
              </a:rPr>
              <a:t>）</a:t>
            </a:r>
            <a:r>
              <a:rPr lang="en-US" altLang="zh-CN" sz="2400" dirty="0">
                <a:solidFill>
                  <a:prstClr val="black"/>
                </a:solidFill>
                <a:latin typeface="Microsoft YaHei UI"/>
                <a:ea typeface="微软雅黑"/>
              </a:rPr>
              <a:t>3/2</a:t>
            </a:r>
            <a:endParaRPr lang="zh-CN" altLang="en-US" sz="2400" dirty="0">
              <a:solidFill>
                <a:prstClr val="black"/>
              </a:solidFill>
              <a:latin typeface="Microsoft YaHei UI"/>
              <a:ea typeface="微软雅黑"/>
            </a:endParaRPr>
          </a:p>
        </p:txBody>
      </p:sp>
      <p:sp>
        <p:nvSpPr>
          <p:cNvPr id="22" name="双波形 21"/>
          <p:cNvSpPr/>
          <p:nvPr/>
        </p:nvSpPr>
        <p:spPr>
          <a:xfrm>
            <a:off x="9037164" y="125526"/>
            <a:ext cx="1630837" cy="580784"/>
          </a:xfrm>
          <a:prstGeom prst="doubleWav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latin typeface="Microsoft YaHei UI"/>
                <a:ea typeface="微软雅黑"/>
              </a:rPr>
              <a:t>3 / 2 =</a:t>
            </a:r>
            <a:r>
              <a:rPr lang="zh-CN" altLang="en-US" sz="2000" dirty="0">
                <a:solidFill>
                  <a:prstClr val="white"/>
                </a:solidFill>
                <a:latin typeface="Microsoft YaHei UI"/>
                <a:ea typeface="微软雅黑"/>
              </a:rPr>
              <a:t>？</a:t>
            </a: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1152" y="217375"/>
            <a:ext cx="8139112" cy="679450"/>
          </a:xfrm>
        </p:spPr>
        <p:txBody>
          <a:bodyPr/>
          <a:lstStyle/>
          <a:p>
            <a:pPr algn="l"/>
            <a:r>
              <a:rPr lang="zh-CN" altLang="en-US" sz="2800" dirty="0"/>
              <a:t>运算</a:t>
            </a:r>
            <a:r>
              <a:rPr lang="en-US" altLang="zh-CN" sz="2800" dirty="0"/>
              <a:t>——</a:t>
            </a:r>
            <a:r>
              <a:rPr lang="zh-CN" altLang="en-US" sz="2800" dirty="0"/>
              <a:t>类型转化</a:t>
            </a:r>
          </a:p>
        </p:txBody>
      </p:sp>
      <p:sp>
        <p:nvSpPr>
          <p:cNvPr id="4" name="灯片编号占位符 3"/>
          <p:cNvSpPr>
            <a:spLocks noGrp="1"/>
          </p:cNvSpPr>
          <p:nvPr>
            <p:ph type="sldNum" sz="quarter" idx="4294967295"/>
          </p:nvPr>
        </p:nvSpPr>
        <p:spPr>
          <a:xfrm>
            <a:off x="10009188" y="6430963"/>
            <a:ext cx="2182812"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grpSp>
        <p:nvGrpSpPr>
          <p:cNvPr id="28" name="组合 27"/>
          <p:cNvGrpSpPr/>
          <p:nvPr/>
        </p:nvGrpSpPr>
        <p:grpSpPr>
          <a:xfrm>
            <a:off x="2621280" y="1123950"/>
            <a:ext cx="1133856" cy="4115558"/>
            <a:chOff x="1097280" y="1054489"/>
            <a:chExt cx="1133856" cy="4115558"/>
          </a:xfrm>
        </p:grpSpPr>
        <p:sp>
          <p:nvSpPr>
            <p:cNvPr id="8" name="矩形 7"/>
            <p:cNvSpPr/>
            <p:nvPr/>
          </p:nvSpPr>
          <p:spPr>
            <a:xfrm>
              <a:off x="1097280" y="1054489"/>
              <a:ext cx="1133856" cy="426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prstClr val="white"/>
                  </a:solidFill>
                  <a:latin typeface="Arial" panose="020B0604020202020204" pitchFamily="34" charset="0"/>
                  <a:ea typeface="微软雅黑"/>
                  <a:cs typeface="Arial" panose="020B0604020202020204" pitchFamily="34" charset="0"/>
                </a:rPr>
                <a:t>double</a:t>
              </a:r>
              <a:endParaRPr lang="zh-CN" altLang="en-US" sz="2400" dirty="0">
                <a:solidFill>
                  <a:prstClr val="white"/>
                </a:solidFill>
                <a:latin typeface="Arial" panose="020B0604020202020204" pitchFamily="34" charset="0"/>
                <a:ea typeface="微软雅黑"/>
                <a:cs typeface="Arial" panose="020B0604020202020204" pitchFamily="34" charset="0"/>
              </a:endParaRPr>
            </a:p>
          </p:txBody>
        </p:sp>
        <p:sp>
          <p:nvSpPr>
            <p:cNvPr id="9" name="矩形 8"/>
            <p:cNvSpPr/>
            <p:nvPr/>
          </p:nvSpPr>
          <p:spPr>
            <a:xfrm>
              <a:off x="1097280" y="1973395"/>
              <a:ext cx="1133856" cy="426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prstClr val="white"/>
                  </a:solidFill>
                  <a:latin typeface="Microsoft YaHei UI"/>
                  <a:ea typeface="微软雅黑"/>
                </a:rPr>
                <a:t>float</a:t>
              </a:r>
              <a:endParaRPr lang="zh-CN" altLang="en-US" sz="2400" dirty="0">
                <a:solidFill>
                  <a:prstClr val="white"/>
                </a:solidFill>
                <a:latin typeface="Microsoft YaHei UI"/>
                <a:ea typeface="微软雅黑"/>
              </a:endParaRPr>
            </a:p>
          </p:txBody>
        </p:sp>
        <p:sp>
          <p:nvSpPr>
            <p:cNvPr id="10" name="矩形 9"/>
            <p:cNvSpPr/>
            <p:nvPr/>
          </p:nvSpPr>
          <p:spPr>
            <a:xfrm>
              <a:off x="1097280" y="2933467"/>
              <a:ext cx="1133856" cy="426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prstClr val="white"/>
                  </a:solidFill>
                  <a:latin typeface="Microsoft YaHei UI"/>
                  <a:ea typeface="微软雅黑"/>
                </a:rPr>
                <a:t>long</a:t>
              </a:r>
              <a:endParaRPr lang="zh-CN" altLang="en-US" sz="2400" dirty="0">
                <a:solidFill>
                  <a:prstClr val="white"/>
                </a:solidFill>
                <a:latin typeface="Microsoft YaHei UI"/>
                <a:ea typeface="微软雅黑"/>
              </a:endParaRPr>
            </a:p>
          </p:txBody>
        </p:sp>
        <p:sp>
          <p:nvSpPr>
            <p:cNvPr id="12" name="矩形 11"/>
            <p:cNvSpPr/>
            <p:nvPr/>
          </p:nvSpPr>
          <p:spPr>
            <a:xfrm>
              <a:off x="1097280" y="3816708"/>
              <a:ext cx="1133856" cy="426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prstClr val="white"/>
                  </a:solidFill>
                  <a:latin typeface="Microsoft YaHei UI"/>
                  <a:ea typeface="微软雅黑"/>
                </a:rPr>
                <a:t>int</a:t>
              </a:r>
              <a:endParaRPr lang="zh-CN" altLang="en-US" sz="2400" dirty="0">
                <a:solidFill>
                  <a:prstClr val="white"/>
                </a:solidFill>
                <a:latin typeface="Microsoft YaHei UI"/>
                <a:ea typeface="微软雅黑"/>
              </a:endParaRPr>
            </a:p>
          </p:txBody>
        </p:sp>
        <p:sp>
          <p:nvSpPr>
            <p:cNvPr id="13" name="矩形 12"/>
            <p:cNvSpPr/>
            <p:nvPr/>
          </p:nvSpPr>
          <p:spPr>
            <a:xfrm>
              <a:off x="1097280" y="4743327"/>
              <a:ext cx="1133856" cy="426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prstClr val="white"/>
                  </a:solidFill>
                  <a:latin typeface="Microsoft YaHei UI"/>
                  <a:ea typeface="微软雅黑"/>
                </a:rPr>
                <a:t>char</a:t>
              </a:r>
              <a:endParaRPr lang="zh-CN" altLang="en-US" sz="2400" dirty="0">
                <a:solidFill>
                  <a:prstClr val="white"/>
                </a:solidFill>
                <a:latin typeface="Microsoft YaHei UI"/>
                <a:ea typeface="微软雅黑"/>
              </a:endParaRPr>
            </a:p>
          </p:txBody>
        </p:sp>
        <p:cxnSp>
          <p:nvCxnSpPr>
            <p:cNvPr id="14" name="直接箭头连接符 13"/>
            <p:cNvCxnSpPr>
              <a:stCxn id="13" idx="0"/>
              <a:endCxn id="12" idx="2"/>
            </p:cNvCxnSpPr>
            <p:nvPr/>
          </p:nvCxnSpPr>
          <p:spPr>
            <a:xfrm flipV="1">
              <a:off x="1664208" y="4243428"/>
              <a:ext cx="0" cy="499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2" idx="0"/>
              <a:endCxn id="10" idx="2"/>
            </p:cNvCxnSpPr>
            <p:nvPr/>
          </p:nvCxnSpPr>
          <p:spPr>
            <a:xfrm flipV="1">
              <a:off x="1664208" y="3360187"/>
              <a:ext cx="0" cy="456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0" idx="0"/>
              <a:endCxn id="9" idx="2"/>
            </p:cNvCxnSpPr>
            <p:nvPr/>
          </p:nvCxnSpPr>
          <p:spPr>
            <a:xfrm flipV="1">
              <a:off x="1664208" y="2400115"/>
              <a:ext cx="0" cy="533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9" idx="0"/>
              <a:endCxn id="8" idx="2"/>
            </p:cNvCxnSpPr>
            <p:nvPr/>
          </p:nvCxnSpPr>
          <p:spPr>
            <a:xfrm flipV="1">
              <a:off x="1664208" y="1481209"/>
              <a:ext cx="0" cy="492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1681570" y="5291419"/>
            <a:ext cx="3308432" cy="1198880"/>
          </a:xfrm>
          <a:prstGeom prst="rect">
            <a:avLst/>
          </a:prstGeom>
          <a:noFill/>
        </p:spPr>
        <p:txBody>
          <a:bodyPr wrap="square" rtlCol="0">
            <a:spAutoFit/>
          </a:bodyPr>
          <a:lstStyle/>
          <a:p>
            <a:pPr algn="ctr"/>
            <a:r>
              <a:rPr lang="zh-CN" altLang="en-US" sz="2400" dirty="0">
                <a:solidFill>
                  <a:prstClr val="black"/>
                </a:solidFill>
                <a:latin typeface="Microsoft YaHei UI"/>
                <a:ea typeface="微软雅黑"/>
              </a:rPr>
              <a:t>在计算过程中</a:t>
            </a:r>
            <a:endParaRPr lang="en-US" altLang="zh-CN" sz="2400" dirty="0">
              <a:solidFill>
                <a:prstClr val="black"/>
              </a:solidFill>
              <a:latin typeface="Microsoft YaHei UI"/>
              <a:ea typeface="微软雅黑"/>
            </a:endParaRPr>
          </a:p>
          <a:p>
            <a:pPr algn="ctr"/>
            <a:r>
              <a:rPr lang="zh-CN" altLang="en-US" sz="2400" dirty="0">
                <a:solidFill>
                  <a:prstClr val="black"/>
                </a:solidFill>
                <a:latin typeface="Microsoft YaHei UI"/>
                <a:ea typeface="微软雅黑"/>
              </a:rPr>
              <a:t>低级类型服从高级类型</a:t>
            </a:r>
            <a:endParaRPr lang="en-US" altLang="zh-CN" sz="2400" dirty="0">
              <a:solidFill>
                <a:prstClr val="black"/>
              </a:solidFill>
              <a:latin typeface="Microsoft YaHei UI"/>
              <a:ea typeface="微软雅黑"/>
            </a:endParaRPr>
          </a:p>
          <a:p>
            <a:pPr algn="ctr"/>
            <a:r>
              <a:rPr lang="zh-CN" altLang="en-US" sz="2400" dirty="0">
                <a:solidFill>
                  <a:prstClr val="black"/>
                </a:solidFill>
                <a:latin typeface="Microsoft YaHei UI"/>
                <a:ea typeface="微软雅黑"/>
              </a:rPr>
              <a:t>由低向高转换</a:t>
            </a:r>
            <a:endParaRPr lang="en-US" altLang="zh-CN" sz="2400" dirty="0">
              <a:solidFill>
                <a:prstClr val="black"/>
              </a:solidFill>
              <a:latin typeface="Microsoft YaHei UI"/>
              <a:ea typeface="微软雅黑"/>
            </a:endParaRPr>
          </a:p>
        </p:txBody>
      </p:sp>
      <p:grpSp>
        <p:nvGrpSpPr>
          <p:cNvPr id="59" name="组合 58"/>
          <p:cNvGrpSpPr/>
          <p:nvPr/>
        </p:nvGrpSpPr>
        <p:grpSpPr>
          <a:xfrm>
            <a:off x="5500794" y="323834"/>
            <a:ext cx="4559133" cy="1016396"/>
            <a:chOff x="3910805" y="606639"/>
            <a:chExt cx="4559133" cy="1016396"/>
          </a:xfrm>
        </p:grpSpPr>
        <mc:AlternateContent xmlns:mc="http://schemas.openxmlformats.org/markup-compatibility/2006" xmlns:a14="http://schemas.microsoft.com/office/drawing/2010/main">
          <mc:Choice Requires="a14">
            <p:sp>
              <p:nvSpPr>
                <p:cNvPr id="27" name="文本框 26"/>
                <p:cNvSpPr txBox="1"/>
                <p:nvPr/>
              </p:nvSpPr>
              <p:spPr>
                <a:xfrm>
                  <a:off x="3910805" y="606639"/>
                  <a:ext cx="4559133"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1">
                            <a:solidFill>
                              <a:prstClr val="black"/>
                            </a:solidFill>
                            <a:latin typeface="Cambria Math" panose="02040503050406030204" pitchFamily="18" charset="0"/>
                          </a:rPr>
                          <m:t>𝑎𝑛𝑠</m:t>
                        </m:r>
                        <m:r>
                          <a:rPr lang="en-US" altLang="zh-CN" sz="3200" i="1">
                            <a:solidFill>
                              <a:prstClr val="black"/>
                            </a:solidFill>
                            <a:latin typeface="Cambria Math" panose="02040503050406030204" pitchFamily="18" charset="0"/>
                          </a:rPr>
                          <m:t>=(</m:t>
                        </m:r>
                        <m:r>
                          <a:rPr lang="en-US" altLang="zh-CN" sz="3200" i="1">
                            <a:solidFill>
                              <a:prstClr val="black"/>
                            </a:solidFill>
                            <a:latin typeface="Cambria Math" panose="02040503050406030204" pitchFamily="18" charset="0"/>
                          </a:rPr>
                          <m:t>𝑎</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𝑏</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𝑐</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𝑑</m:t>
                        </m:r>
                      </m:oMath>
                    </m:oMathPara>
                  </a14:m>
                  <a:endParaRPr lang="zh-CN" altLang="en-US" sz="3200" dirty="0">
                    <a:solidFill>
                      <a:prstClr val="black"/>
                    </a:solidFill>
                    <a:latin typeface="Microsoft YaHei UI"/>
                    <a:ea typeface="微软雅黑"/>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3910805" y="606639"/>
                  <a:ext cx="4559133" cy="492443"/>
                </a:xfrm>
                <a:prstGeom prst="rect">
                  <a:avLst/>
                </a:prstGeom>
                <a:blipFill rotWithShape="1">
                  <a:blip r:embed="rId9"/>
                </a:blipFill>
              </p:spPr>
              <p:txBody>
                <a:bodyPr/>
                <a:lstStyle/>
                <a:p>
                  <a:r>
                    <a:rPr lang="zh-CN" altLang="en-US">
                      <a:noFill/>
                    </a:rPr>
                    <a:t> </a:t>
                  </a:r>
                </a:p>
              </p:txBody>
            </p:sp>
          </mc:Fallback>
        </mc:AlternateContent>
        <p:sp>
          <p:nvSpPr>
            <p:cNvPr id="32" name="矩形: 圆角 31"/>
            <p:cNvSpPr/>
            <p:nvPr/>
          </p:nvSpPr>
          <p:spPr>
            <a:xfrm>
              <a:off x="3977377" y="1162339"/>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sp>
          <p:nvSpPr>
            <p:cNvPr id="33" name="矩形: 圆角 32"/>
            <p:cNvSpPr/>
            <p:nvPr/>
          </p:nvSpPr>
          <p:spPr>
            <a:xfrm>
              <a:off x="4916662" y="1162338"/>
              <a:ext cx="677557" cy="42672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sp>
          <p:nvSpPr>
            <p:cNvPr id="34" name="矩形: 圆角 33"/>
            <p:cNvSpPr/>
            <p:nvPr/>
          </p:nvSpPr>
          <p:spPr>
            <a:xfrm>
              <a:off x="5769058" y="1181936"/>
              <a:ext cx="677558" cy="42672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char</a:t>
              </a:r>
              <a:endParaRPr lang="zh-CN" altLang="en-US" dirty="0">
                <a:solidFill>
                  <a:prstClr val="white"/>
                </a:solidFill>
                <a:latin typeface="Arial" panose="020B0604020202020204" pitchFamily="34" charset="0"/>
                <a:ea typeface="微软雅黑"/>
                <a:cs typeface="Arial" panose="020B0604020202020204" pitchFamily="34" charset="0"/>
              </a:endParaRPr>
            </a:p>
          </p:txBody>
        </p:sp>
        <p:sp>
          <p:nvSpPr>
            <p:cNvPr id="36" name="矩形: 圆角 35"/>
            <p:cNvSpPr/>
            <p:nvPr/>
          </p:nvSpPr>
          <p:spPr>
            <a:xfrm>
              <a:off x="6616365" y="1196314"/>
              <a:ext cx="677558" cy="39603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long</a:t>
              </a:r>
              <a:endParaRPr lang="zh-CN" altLang="en-US" dirty="0">
                <a:solidFill>
                  <a:prstClr val="white"/>
                </a:solidFill>
                <a:latin typeface="Arial" panose="020B0604020202020204" pitchFamily="34" charset="0"/>
                <a:ea typeface="微软雅黑"/>
                <a:cs typeface="Arial" panose="020B0604020202020204" pitchFamily="34" charset="0"/>
              </a:endParaRPr>
            </a:p>
          </p:txBody>
        </p:sp>
        <p:sp>
          <p:nvSpPr>
            <p:cNvPr id="37" name="矩形: 圆角 36"/>
            <p:cNvSpPr/>
            <p:nvPr/>
          </p:nvSpPr>
          <p:spPr>
            <a:xfrm>
              <a:off x="7463672" y="1196314"/>
              <a:ext cx="956089" cy="42672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double</a:t>
              </a:r>
              <a:endParaRPr lang="zh-CN" altLang="en-US" dirty="0">
                <a:solidFill>
                  <a:prstClr val="white"/>
                </a:solidFill>
                <a:latin typeface="Arial" panose="020B0604020202020204" pitchFamily="34" charset="0"/>
                <a:ea typeface="微软雅黑"/>
                <a:cs typeface="Arial" panose="020B0604020202020204" pitchFamily="34" charset="0"/>
              </a:endParaRPr>
            </a:p>
          </p:txBody>
        </p:sp>
      </p:grpSp>
      <p:grpSp>
        <p:nvGrpSpPr>
          <p:cNvPr id="60" name="组合 59"/>
          <p:cNvGrpSpPr/>
          <p:nvPr/>
        </p:nvGrpSpPr>
        <p:grpSpPr>
          <a:xfrm>
            <a:off x="5492991" y="1374492"/>
            <a:ext cx="5016760" cy="1131445"/>
            <a:chOff x="3903003" y="1657296"/>
            <a:chExt cx="5016760" cy="1131445"/>
          </a:xfrm>
        </p:grpSpPr>
        <mc:AlternateContent xmlns:mc="http://schemas.openxmlformats.org/markup-compatibility/2006" xmlns:a14="http://schemas.microsoft.com/office/drawing/2010/main">
          <mc:Choice Requires="a14">
            <p:sp>
              <p:nvSpPr>
                <p:cNvPr id="38" name="文本框 37"/>
                <p:cNvSpPr txBox="1"/>
                <p:nvPr/>
              </p:nvSpPr>
              <p:spPr>
                <a:xfrm>
                  <a:off x="3903003" y="1657296"/>
                  <a:ext cx="462966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1">
                            <a:solidFill>
                              <a:prstClr val="black"/>
                            </a:solidFill>
                            <a:latin typeface="Cambria Math" panose="02040503050406030204" pitchFamily="18" charset="0"/>
                          </a:rPr>
                          <m:t>𝑎𝑛𝑠</m:t>
                        </m:r>
                        <m:r>
                          <a:rPr lang="en-US" altLang="zh-CN" sz="3200" i="1">
                            <a:solidFill>
                              <a:prstClr val="black"/>
                            </a:solidFill>
                            <a:latin typeface="Cambria Math" panose="02040503050406030204" pitchFamily="18" charset="0"/>
                          </a:rPr>
                          <m:t>=(</m:t>
                        </m:r>
                        <m:r>
                          <a:rPr lang="en-US" altLang="zh-CN" sz="3200" i="1">
                            <a:solidFill>
                              <a:prstClr val="black"/>
                            </a:solidFill>
                            <a:latin typeface="Cambria Math" panose="02040503050406030204" pitchFamily="18" charset="0"/>
                          </a:rPr>
                          <m:t>𝑎</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𝑏</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𝑐</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𝑑</m:t>
                        </m:r>
                        <m:r>
                          <a:rPr lang="en-US" altLang="zh-CN" sz="3200" i="1">
                            <a:solidFill>
                              <a:prstClr val="black"/>
                            </a:solidFill>
                            <a:latin typeface="Cambria Math" panose="02040503050406030204" pitchFamily="18" charset="0"/>
                          </a:rPr>
                          <m:t>)</m:t>
                        </m:r>
                      </m:oMath>
                    </m:oMathPara>
                  </a14:m>
                  <a:endParaRPr lang="zh-CN" altLang="en-US" sz="3200" dirty="0">
                    <a:solidFill>
                      <a:prstClr val="black"/>
                    </a:solidFill>
                    <a:latin typeface="Microsoft YaHei UI"/>
                    <a:ea typeface="微软雅黑"/>
                  </a:endParaRPr>
                </a:p>
              </p:txBody>
            </p:sp>
          </mc:Choice>
          <mc:Fallback xmlns="">
            <p:sp>
              <p:nvSpPr>
                <p:cNvPr id="38" name="文本框 37"/>
                <p:cNvSpPr txBox="1">
                  <a:spLocks noRot="1" noChangeAspect="1" noMove="1" noResize="1" noEditPoints="1" noAdjustHandles="1" noChangeArrowheads="1" noChangeShapeType="1" noTextEdit="1"/>
                </p:cNvSpPr>
                <p:nvPr/>
              </p:nvSpPr>
              <p:spPr>
                <a:xfrm>
                  <a:off x="3903003" y="1657296"/>
                  <a:ext cx="4629665" cy="492443"/>
                </a:xfrm>
                <a:prstGeom prst="rect">
                  <a:avLst/>
                </a:prstGeom>
                <a:blipFill rotWithShape="1">
                  <a:blip r:embed="rId10"/>
                </a:blipFill>
              </p:spPr>
              <p:txBody>
                <a:bodyPr/>
                <a:lstStyle/>
                <a:p>
                  <a:r>
                    <a:rPr lang="zh-CN" altLang="en-US">
                      <a:noFill/>
                    </a:rPr>
                    <a:t> </a:t>
                  </a:r>
                </a:p>
              </p:txBody>
            </p:sp>
          </mc:Fallback>
        </mc:AlternateContent>
        <p:sp>
          <p:nvSpPr>
            <p:cNvPr id="39" name="矩形: 圆角 38"/>
            <p:cNvSpPr/>
            <p:nvPr/>
          </p:nvSpPr>
          <p:spPr>
            <a:xfrm>
              <a:off x="3977376" y="2285771"/>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pic>
          <p:nvPicPr>
            <p:cNvPr id="40" name="图片 39"/>
            <p:cNvPicPr>
              <a:picLocks noChangeAspect="1"/>
            </p:cNvPicPr>
            <p:nvPr/>
          </p:nvPicPr>
          <p:blipFill>
            <a:blip r:embed="rId11"/>
            <a:stretch>
              <a:fillRect/>
            </a:stretch>
          </p:blipFill>
          <p:spPr>
            <a:xfrm>
              <a:off x="5025401" y="2294922"/>
              <a:ext cx="743776" cy="493819"/>
            </a:xfrm>
            <a:prstGeom prst="rect">
              <a:avLst/>
            </a:prstGeom>
          </p:spPr>
        </p:pic>
        <p:sp>
          <p:nvSpPr>
            <p:cNvPr id="41" name="矩形: 圆角 40"/>
            <p:cNvSpPr/>
            <p:nvPr/>
          </p:nvSpPr>
          <p:spPr>
            <a:xfrm>
              <a:off x="6020453" y="2309094"/>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sp>
          <p:nvSpPr>
            <p:cNvPr id="42" name="矩形: 圆角 41"/>
            <p:cNvSpPr/>
            <p:nvPr/>
          </p:nvSpPr>
          <p:spPr>
            <a:xfrm>
              <a:off x="6895582" y="2285497"/>
              <a:ext cx="944394"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double</a:t>
              </a:r>
              <a:endParaRPr lang="zh-CN" altLang="en-US" dirty="0">
                <a:solidFill>
                  <a:prstClr val="white"/>
                </a:solidFill>
                <a:latin typeface="Arial" panose="020B0604020202020204" pitchFamily="34" charset="0"/>
                <a:ea typeface="微软雅黑"/>
                <a:cs typeface="Arial" panose="020B0604020202020204" pitchFamily="34" charset="0"/>
              </a:endParaRPr>
            </a:p>
          </p:txBody>
        </p:sp>
        <p:sp>
          <p:nvSpPr>
            <p:cNvPr id="43" name="矩形: 圆角 42"/>
            <p:cNvSpPr/>
            <p:nvPr/>
          </p:nvSpPr>
          <p:spPr>
            <a:xfrm>
              <a:off x="7975369" y="2285497"/>
              <a:ext cx="944394"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double</a:t>
              </a:r>
              <a:endParaRPr lang="zh-CN" altLang="en-US" dirty="0">
                <a:solidFill>
                  <a:prstClr val="white"/>
                </a:solidFill>
                <a:latin typeface="Arial" panose="020B0604020202020204" pitchFamily="34" charset="0"/>
                <a:ea typeface="微软雅黑"/>
                <a:cs typeface="Arial" panose="020B0604020202020204" pitchFamily="34" charset="0"/>
              </a:endParaRPr>
            </a:p>
          </p:txBody>
        </p:sp>
      </p:grpSp>
      <p:grpSp>
        <p:nvGrpSpPr>
          <p:cNvPr id="61" name="组合 60"/>
          <p:cNvGrpSpPr/>
          <p:nvPr/>
        </p:nvGrpSpPr>
        <p:grpSpPr>
          <a:xfrm>
            <a:off x="5539390" y="2558430"/>
            <a:ext cx="4629665" cy="968270"/>
            <a:chOff x="3949401" y="2841235"/>
            <a:chExt cx="4629665" cy="968270"/>
          </a:xfrm>
        </p:grpSpPr>
        <mc:AlternateContent xmlns:mc="http://schemas.openxmlformats.org/markup-compatibility/2006" xmlns:a14="http://schemas.microsoft.com/office/drawing/2010/main">
          <mc:Choice Requires="a14">
            <p:sp>
              <p:nvSpPr>
                <p:cNvPr id="44" name="文本框 43"/>
                <p:cNvSpPr txBox="1"/>
                <p:nvPr/>
              </p:nvSpPr>
              <p:spPr>
                <a:xfrm>
                  <a:off x="3949401" y="2841235"/>
                  <a:ext cx="462966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1">
                            <a:solidFill>
                              <a:prstClr val="black"/>
                            </a:solidFill>
                            <a:latin typeface="Cambria Math" panose="02040503050406030204" pitchFamily="18" charset="0"/>
                          </a:rPr>
                          <m:t>𝑎𝑛𝑠</m:t>
                        </m:r>
                        <m:r>
                          <a:rPr lang="en-US" altLang="zh-CN" sz="3200" i="1">
                            <a:solidFill>
                              <a:prstClr val="black"/>
                            </a:solidFill>
                            <a:latin typeface="Cambria Math" panose="02040503050406030204" pitchFamily="18" charset="0"/>
                          </a:rPr>
                          <m:t>=(</m:t>
                        </m:r>
                        <m:r>
                          <a:rPr lang="en-US" altLang="zh-CN" sz="3200" i="1">
                            <a:solidFill>
                              <a:prstClr val="black"/>
                            </a:solidFill>
                            <a:latin typeface="Cambria Math" panose="02040503050406030204" pitchFamily="18" charset="0"/>
                          </a:rPr>
                          <m:t>𝑎</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𝑏</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𝑐</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𝑑</m:t>
                        </m:r>
                        <m:r>
                          <a:rPr lang="en-US" altLang="zh-CN" sz="3200" i="1">
                            <a:solidFill>
                              <a:prstClr val="black"/>
                            </a:solidFill>
                            <a:latin typeface="Cambria Math" panose="02040503050406030204" pitchFamily="18" charset="0"/>
                          </a:rPr>
                          <m:t>)</m:t>
                        </m:r>
                      </m:oMath>
                    </m:oMathPara>
                  </a14:m>
                  <a:endParaRPr lang="zh-CN" altLang="en-US" sz="3200" dirty="0">
                    <a:solidFill>
                      <a:prstClr val="black"/>
                    </a:solidFill>
                    <a:latin typeface="Microsoft YaHei UI"/>
                    <a:ea typeface="微软雅黑"/>
                  </a:endParaRPr>
                </a:p>
              </p:txBody>
            </p:sp>
          </mc:Choice>
          <mc:Fallback xmlns="">
            <p:sp>
              <p:nvSpPr>
                <p:cNvPr id="44" name="文本框 43"/>
                <p:cNvSpPr txBox="1">
                  <a:spLocks noRot="1" noChangeAspect="1" noMove="1" noResize="1" noEditPoints="1" noAdjustHandles="1" noChangeArrowheads="1" noChangeShapeType="1" noTextEdit="1"/>
                </p:cNvSpPr>
                <p:nvPr/>
              </p:nvSpPr>
              <p:spPr>
                <a:xfrm>
                  <a:off x="3949401" y="2841235"/>
                  <a:ext cx="4629665" cy="492443"/>
                </a:xfrm>
                <a:prstGeom prst="rect">
                  <a:avLst/>
                </a:prstGeom>
                <a:blipFill rotWithShape="1">
                  <a:blip r:embed="rId10"/>
                </a:blipFill>
              </p:spPr>
              <p:txBody>
                <a:bodyPr/>
                <a:lstStyle/>
                <a:p>
                  <a:r>
                    <a:rPr lang="zh-CN" altLang="en-US">
                      <a:noFill/>
                    </a:rPr>
                    <a:t> </a:t>
                  </a:r>
                </a:p>
              </p:txBody>
            </p:sp>
          </mc:Fallback>
        </mc:AlternateContent>
        <p:sp>
          <p:nvSpPr>
            <p:cNvPr id="45" name="矩形: 圆角 44"/>
            <p:cNvSpPr/>
            <p:nvPr/>
          </p:nvSpPr>
          <p:spPr>
            <a:xfrm>
              <a:off x="3982370" y="3337710"/>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sp>
          <p:nvSpPr>
            <p:cNvPr id="46" name="矩形: 圆角 45"/>
            <p:cNvSpPr/>
            <p:nvPr/>
          </p:nvSpPr>
          <p:spPr>
            <a:xfrm>
              <a:off x="5613867" y="3380616"/>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sp>
          <p:nvSpPr>
            <p:cNvPr id="47" name="矩形: 圆角 46"/>
            <p:cNvSpPr/>
            <p:nvPr/>
          </p:nvSpPr>
          <p:spPr>
            <a:xfrm>
              <a:off x="7418493" y="3382785"/>
              <a:ext cx="944394"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double</a:t>
              </a:r>
              <a:endParaRPr lang="zh-CN" altLang="en-US" dirty="0">
                <a:solidFill>
                  <a:prstClr val="white"/>
                </a:solidFill>
                <a:latin typeface="Arial" panose="020B0604020202020204" pitchFamily="34" charset="0"/>
                <a:ea typeface="微软雅黑"/>
                <a:cs typeface="Arial" panose="020B0604020202020204" pitchFamily="34" charset="0"/>
              </a:endParaRPr>
            </a:p>
          </p:txBody>
        </p:sp>
      </p:grpSp>
      <p:grpSp>
        <p:nvGrpSpPr>
          <p:cNvPr id="66" name="组合 65"/>
          <p:cNvGrpSpPr/>
          <p:nvPr/>
        </p:nvGrpSpPr>
        <p:grpSpPr>
          <a:xfrm>
            <a:off x="5539390" y="4574313"/>
            <a:ext cx="4971041" cy="1063843"/>
            <a:chOff x="3949401" y="4857117"/>
            <a:chExt cx="4971041" cy="1063843"/>
          </a:xfrm>
        </p:grpSpPr>
        <mc:AlternateContent xmlns:mc="http://schemas.openxmlformats.org/markup-compatibility/2006" xmlns:a14="http://schemas.microsoft.com/office/drawing/2010/main">
          <mc:Choice Requires="a14">
            <p:sp>
              <p:nvSpPr>
                <p:cNvPr id="53" name="文本框 52"/>
                <p:cNvSpPr txBox="1"/>
                <p:nvPr/>
              </p:nvSpPr>
              <p:spPr>
                <a:xfrm>
                  <a:off x="3949401" y="4857117"/>
                  <a:ext cx="497104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1">
                            <a:solidFill>
                              <a:prstClr val="black"/>
                            </a:solidFill>
                            <a:latin typeface="Cambria Math" panose="02040503050406030204" pitchFamily="18" charset="0"/>
                          </a:rPr>
                          <m:t>𝑎𝑛𝑠</m:t>
                        </m:r>
                        <m:r>
                          <a:rPr lang="en-US" altLang="zh-CN" sz="3200" i="1">
                            <a:solidFill>
                              <a:prstClr val="black"/>
                            </a:solidFill>
                            <a:latin typeface="Cambria Math" panose="02040503050406030204" pitchFamily="18" charset="0"/>
                          </a:rPr>
                          <m:t>=(</m:t>
                        </m:r>
                        <m:d>
                          <m:dPr>
                            <m:ctrlPr>
                              <a:rPr lang="en-US" altLang="zh-CN" sz="3200" i="1">
                                <a:solidFill>
                                  <a:prstClr val="black"/>
                                </a:solidFill>
                                <a:latin typeface="Cambria Math" panose="02040503050406030204" pitchFamily="18" charset="0"/>
                              </a:rPr>
                            </m:ctrlPr>
                          </m:dPr>
                          <m:e>
                            <m:r>
                              <a:rPr lang="en-US" altLang="zh-CN" sz="3200" i="1">
                                <a:solidFill>
                                  <a:prstClr val="black"/>
                                </a:solidFill>
                                <a:latin typeface="Cambria Math" panose="02040503050406030204" pitchFamily="18" charset="0"/>
                              </a:rPr>
                              <m:t>𝑎</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𝑏</m:t>
                            </m:r>
                            <m:r>
                              <a:rPr lang="en-US" altLang="zh-CN" sz="3200" i="1">
                                <a:solidFill>
                                  <a:prstClr val="black"/>
                                </a:solidFill>
                                <a:latin typeface="Cambria Math" panose="02040503050406030204" pitchFamily="18" charset="0"/>
                              </a:rPr>
                              <m:t> </m:t>
                            </m:r>
                          </m:e>
                        </m:d>
                        <m:r>
                          <a:rPr lang="en-US" altLang="zh-CN" sz="3200" i="1">
                            <a:solidFill>
                              <a:prstClr val="black"/>
                            </a:solidFill>
                            <a:latin typeface="Cambria Math" panose="02040503050406030204" pitchFamily="18" charset="0"/>
                          </a:rPr>
                          <m:t>+</m:t>
                        </m:r>
                        <m:d>
                          <m:dPr>
                            <m:ctrlPr>
                              <a:rPr lang="en-US" altLang="zh-CN" sz="3200" i="1">
                                <a:solidFill>
                                  <a:prstClr val="black"/>
                                </a:solidFill>
                                <a:latin typeface="Cambria Math" panose="02040503050406030204" pitchFamily="18" charset="0"/>
                              </a:rPr>
                            </m:ctrlPr>
                          </m:dPr>
                          <m:e>
                            <m:r>
                              <a:rPr lang="en-US" altLang="zh-CN" sz="3200" i="1">
                                <a:solidFill>
                                  <a:prstClr val="black"/>
                                </a:solidFill>
                                <a:latin typeface="Cambria Math" panose="02040503050406030204" pitchFamily="18" charset="0"/>
                              </a:rPr>
                              <m:t> </m:t>
                            </m:r>
                            <m:r>
                              <a:rPr lang="en-US" altLang="zh-CN" sz="3200" i="1">
                                <a:solidFill>
                                  <a:prstClr val="black"/>
                                </a:solidFill>
                                <a:latin typeface="Cambria Math" panose="02040503050406030204" pitchFamily="18" charset="0"/>
                              </a:rPr>
                              <m:t>𝑐</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𝑑</m:t>
                            </m:r>
                          </m:e>
                        </m:d>
                        <m:r>
                          <a:rPr lang="en-US" altLang="zh-CN" sz="3200" i="1">
                            <a:solidFill>
                              <a:prstClr val="black"/>
                            </a:solidFill>
                            <a:latin typeface="Cambria Math" panose="02040503050406030204" pitchFamily="18" charset="0"/>
                          </a:rPr>
                          <m:t>)</m:t>
                        </m:r>
                      </m:oMath>
                    </m:oMathPara>
                  </a14:m>
                  <a:endParaRPr lang="zh-CN" altLang="en-US" sz="3200" dirty="0">
                    <a:solidFill>
                      <a:prstClr val="black"/>
                    </a:solidFill>
                    <a:latin typeface="Microsoft YaHei UI"/>
                    <a:ea typeface="微软雅黑"/>
                  </a:endParaRPr>
                </a:p>
              </p:txBody>
            </p:sp>
          </mc:Choice>
          <mc:Fallback xmlns="">
            <p:sp>
              <p:nvSpPr>
                <p:cNvPr id="53" name="文本框 52"/>
                <p:cNvSpPr txBox="1">
                  <a:spLocks noRot="1" noChangeAspect="1" noMove="1" noResize="1" noEditPoints="1" noAdjustHandles="1" noChangeArrowheads="1" noChangeShapeType="1" noTextEdit="1"/>
                </p:cNvSpPr>
                <p:nvPr/>
              </p:nvSpPr>
              <p:spPr>
                <a:xfrm>
                  <a:off x="3949401" y="4857117"/>
                  <a:ext cx="4971041" cy="492443"/>
                </a:xfrm>
                <a:prstGeom prst="rect">
                  <a:avLst/>
                </a:prstGeom>
                <a:blipFill rotWithShape="1">
                  <a:blip r:embed="rId12"/>
                </a:blipFill>
              </p:spPr>
              <p:txBody>
                <a:bodyPr/>
                <a:lstStyle/>
                <a:p>
                  <a:r>
                    <a:rPr lang="zh-CN" altLang="en-US">
                      <a:noFill/>
                    </a:rPr>
                    <a:t> </a:t>
                  </a:r>
                </a:p>
              </p:txBody>
            </p:sp>
          </mc:Fallback>
        </mc:AlternateContent>
        <p:sp>
          <p:nvSpPr>
            <p:cNvPr id="57" name="矩形: 圆角 56"/>
            <p:cNvSpPr/>
            <p:nvPr/>
          </p:nvSpPr>
          <p:spPr>
            <a:xfrm>
              <a:off x="3986065" y="5395946"/>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pic>
          <p:nvPicPr>
            <p:cNvPr id="58" name="图片 57"/>
            <p:cNvPicPr>
              <a:picLocks noChangeAspect="1"/>
            </p:cNvPicPr>
            <p:nvPr/>
          </p:nvPicPr>
          <p:blipFill>
            <a:blip r:embed="rId13"/>
            <a:stretch>
              <a:fillRect/>
            </a:stretch>
          </p:blipFill>
          <p:spPr>
            <a:xfrm>
              <a:off x="6521197" y="5421045"/>
              <a:ext cx="975445" cy="499915"/>
            </a:xfrm>
            <a:prstGeom prst="rect">
              <a:avLst/>
            </a:prstGeom>
          </p:spPr>
        </p:pic>
      </p:grpSp>
      <p:grpSp>
        <p:nvGrpSpPr>
          <p:cNvPr id="65" name="组合 64"/>
          <p:cNvGrpSpPr/>
          <p:nvPr/>
        </p:nvGrpSpPr>
        <p:grpSpPr>
          <a:xfrm>
            <a:off x="5534702" y="3626358"/>
            <a:ext cx="4629665" cy="971406"/>
            <a:chOff x="3949401" y="3878125"/>
            <a:chExt cx="4629665" cy="971406"/>
          </a:xfrm>
        </p:grpSpPr>
        <mc:AlternateContent xmlns:mc="http://schemas.openxmlformats.org/markup-compatibility/2006" xmlns:a14="http://schemas.microsoft.com/office/drawing/2010/main">
          <mc:Choice Requires="a14">
            <p:sp>
              <p:nvSpPr>
                <p:cNvPr id="48" name="文本框 47"/>
                <p:cNvSpPr txBox="1"/>
                <p:nvPr/>
              </p:nvSpPr>
              <p:spPr>
                <a:xfrm>
                  <a:off x="3949401" y="3878125"/>
                  <a:ext cx="462966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1">
                            <a:solidFill>
                              <a:prstClr val="black"/>
                            </a:solidFill>
                            <a:latin typeface="Cambria Math" panose="02040503050406030204" pitchFamily="18" charset="0"/>
                          </a:rPr>
                          <m:t>𝑎𝑛𝑠</m:t>
                        </m:r>
                        <m:r>
                          <a:rPr lang="en-US" altLang="zh-CN" sz="3200" i="1">
                            <a:solidFill>
                              <a:prstClr val="black"/>
                            </a:solidFill>
                            <a:latin typeface="Cambria Math" panose="02040503050406030204" pitchFamily="18" charset="0"/>
                          </a:rPr>
                          <m:t>=(</m:t>
                        </m:r>
                        <m:r>
                          <a:rPr lang="en-US" altLang="zh-CN" sz="3200" i="1">
                            <a:solidFill>
                              <a:prstClr val="black"/>
                            </a:solidFill>
                            <a:latin typeface="Cambria Math" panose="02040503050406030204" pitchFamily="18" charset="0"/>
                          </a:rPr>
                          <m:t>𝑎</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𝑏</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𝑐</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𝑑</m:t>
                        </m:r>
                        <m:r>
                          <a:rPr lang="en-US" altLang="zh-CN" sz="3200" i="1">
                            <a:solidFill>
                              <a:prstClr val="black"/>
                            </a:solidFill>
                            <a:latin typeface="Cambria Math" panose="02040503050406030204" pitchFamily="18" charset="0"/>
                          </a:rPr>
                          <m:t>)</m:t>
                        </m:r>
                      </m:oMath>
                    </m:oMathPara>
                  </a14:m>
                  <a:endParaRPr lang="zh-CN" altLang="en-US" sz="3200" dirty="0">
                    <a:solidFill>
                      <a:prstClr val="black"/>
                    </a:solidFill>
                    <a:latin typeface="Microsoft YaHei UI"/>
                    <a:ea typeface="微软雅黑"/>
                  </a:endParaRPr>
                </a:p>
              </p:txBody>
            </p:sp>
          </mc:Choice>
          <mc:Fallback xmlns="">
            <p:sp>
              <p:nvSpPr>
                <p:cNvPr id="48" name="文本框 47"/>
                <p:cNvSpPr txBox="1">
                  <a:spLocks noRot="1" noChangeAspect="1" noMove="1" noResize="1" noEditPoints="1" noAdjustHandles="1" noChangeArrowheads="1" noChangeShapeType="1" noTextEdit="1"/>
                </p:cNvSpPr>
                <p:nvPr/>
              </p:nvSpPr>
              <p:spPr>
                <a:xfrm>
                  <a:off x="3949401" y="3878125"/>
                  <a:ext cx="4629665" cy="492443"/>
                </a:xfrm>
                <a:prstGeom prst="rect">
                  <a:avLst/>
                </a:prstGeom>
                <a:blipFill rotWithShape="1">
                  <a:blip r:embed="rId10"/>
                </a:blipFill>
              </p:spPr>
              <p:txBody>
                <a:bodyPr/>
                <a:lstStyle/>
                <a:p>
                  <a:r>
                    <a:rPr lang="zh-CN" altLang="en-US">
                      <a:noFill/>
                    </a:rPr>
                    <a:t> </a:t>
                  </a:r>
                </a:p>
              </p:txBody>
            </p:sp>
          </mc:Fallback>
        </mc:AlternateContent>
        <p:sp>
          <p:nvSpPr>
            <p:cNvPr id="51" name="矩形: 圆角 50"/>
            <p:cNvSpPr/>
            <p:nvPr/>
          </p:nvSpPr>
          <p:spPr>
            <a:xfrm>
              <a:off x="7418493" y="4422811"/>
              <a:ext cx="944394"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double</a:t>
              </a:r>
              <a:endParaRPr lang="zh-CN" altLang="en-US" dirty="0">
                <a:solidFill>
                  <a:prstClr val="white"/>
                </a:solidFill>
                <a:latin typeface="Arial" panose="020B0604020202020204" pitchFamily="34" charset="0"/>
                <a:ea typeface="微软雅黑"/>
                <a:cs typeface="Arial" panose="020B0604020202020204" pitchFamily="34" charset="0"/>
              </a:endParaRPr>
            </a:p>
          </p:txBody>
        </p:sp>
        <p:sp>
          <p:nvSpPr>
            <p:cNvPr id="63" name="矩形: 圆角 62"/>
            <p:cNvSpPr/>
            <p:nvPr/>
          </p:nvSpPr>
          <p:spPr>
            <a:xfrm>
              <a:off x="4004618" y="4382676"/>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sp>
          <p:nvSpPr>
            <p:cNvPr id="64" name="矩形: 圆角 63"/>
            <p:cNvSpPr/>
            <p:nvPr/>
          </p:nvSpPr>
          <p:spPr>
            <a:xfrm>
              <a:off x="5604046" y="4406840"/>
              <a:ext cx="944394"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Arial" panose="020B0604020202020204" pitchFamily="34" charset="0"/>
                  <a:ea typeface="微软雅黑"/>
                  <a:cs typeface="Arial" panose="020B0604020202020204" pitchFamily="34" charset="0"/>
                </a:rPr>
                <a:t>double</a:t>
              </a:r>
              <a:endParaRPr lang="zh-CN" altLang="en-US" dirty="0">
                <a:solidFill>
                  <a:prstClr val="white"/>
                </a:solidFill>
                <a:latin typeface="Arial" panose="020B0604020202020204" pitchFamily="34" charset="0"/>
                <a:ea typeface="微软雅黑"/>
                <a:cs typeface="Arial" panose="020B0604020202020204" pitchFamily="34" charset="0"/>
              </a:endParaRPr>
            </a:p>
          </p:txBody>
        </p:sp>
      </p:grpSp>
      <p:grpSp>
        <p:nvGrpSpPr>
          <p:cNvPr id="72" name="组合 71"/>
          <p:cNvGrpSpPr/>
          <p:nvPr/>
        </p:nvGrpSpPr>
        <p:grpSpPr>
          <a:xfrm>
            <a:off x="5539390" y="5518109"/>
            <a:ext cx="4971041" cy="973601"/>
            <a:chOff x="3949401" y="5800913"/>
            <a:chExt cx="4971041" cy="973601"/>
          </a:xfrm>
        </p:grpSpPr>
        <p:grpSp>
          <p:nvGrpSpPr>
            <p:cNvPr id="67" name="组合 66"/>
            <p:cNvGrpSpPr/>
            <p:nvPr/>
          </p:nvGrpSpPr>
          <p:grpSpPr>
            <a:xfrm>
              <a:off x="3949401" y="5800913"/>
              <a:ext cx="4971041" cy="965549"/>
              <a:chOff x="3949401" y="4857117"/>
              <a:chExt cx="4971041" cy="965549"/>
            </a:xfrm>
          </p:grpSpPr>
          <mc:AlternateContent xmlns:mc="http://schemas.openxmlformats.org/markup-compatibility/2006" xmlns:a14="http://schemas.microsoft.com/office/drawing/2010/main">
            <mc:Choice Requires="a14">
              <p:sp>
                <p:nvSpPr>
                  <p:cNvPr id="68" name="文本框 67"/>
                  <p:cNvSpPr txBox="1"/>
                  <p:nvPr/>
                </p:nvSpPr>
                <p:spPr>
                  <a:xfrm>
                    <a:off x="3949401" y="4857117"/>
                    <a:ext cx="497104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1">
                              <a:solidFill>
                                <a:prstClr val="black"/>
                              </a:solidFill>
                              <a:latin typeface="Cambria Math" panose="02040503050406030204" pitchFamily="18" charset="0"/>
                            </a:rPr>
                            <m:t>𝑎𝑛𝑠</m:t>
                          </m:r>
                          <m:r>
                            <a:rPr lang="en-US" altLang="zh-CN" sz="3200" i="1">
                              <a:solidFill>
                                <a:prstClr val="black"/>
                              </a:solidFill>
                              <a:latin typeface="Cambria Math" panose="02040503050406030204" pitchFamily="18" charset="0"/>
                            </a:rPr>
                            <m:t>=(</m:t>
                          </m:r>
                          <m:d>
                            <m:dPr>
                              <m:ctrlPr>
                                <a:rPr lang="en-US" altLang="zh-CN" sz="3200" i="1">
                                  <a:solidFill>
                                    <a:prstClr val="black"/>
                                  </a:solidFill>
                                  <a:latin typeface="Cambria Math" panose="02040503050406030204" pitchFamily="18" charset="0"/>
                                </a:rPr>
                              </m:ctrlPr>
                            </m:dPr>
                            <m:e>
                              <m:r>
                                <a:rPr lang="en-US" altLang="zh-CN" sz="3200" i="1">
                                  <a:solidFill>
                                    <a:prstClr val="black"/>
                                  </a:solidFill>
                                  <a:latin typeface="Cambria Math" panose="02040503050406030204" pitchFamily="18" charset="0"/>
                                </a:rPr>
                                <m:t>𝑎</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𝑏</m:t>
                              </m:r>
                              <m:r>
                                <a:rPr lang="en-US" altLang="zh-CN" sz="3200" i="1">
                                  <a:solidFill>
                                    <a:prstClr val="black"/>
                                  </a:solidFill>
                                  <a:latin typeface="Cambria Math" panose="02040503050406030204" pitchFamily="18" charset="0"/>
                                </a:rPr>
                                <m:t> </m:t>
                              </m:r>
                            </m:e>
                          </m:d>
                          <m:r>
                            <a:rPr lang="en-US" altLang="zh-CN" sz="3200" i="1">
                              <a:solidFill>
                                <a:prstClr val="black"/>
                              </a:solidFill>
                              <a:latin typeface="Cambria Math" panose="02040503050406030204" pitchFamily="18" charset="0"/>
                            </a:rPr>
                            <m:t>+</m:t>
                          </m:r>
                          <m:d>
                            <m:dPr>
                              <m:ctrlPr>
                                <a:rPr lang="en-US" altLang="zh-CN" sz="3200" i="1">
                                  <a:solidFill>
                                    <a:prstClr val="black"/>
                                  </a:solidFill>
                                  <a:latin typeface="Cambria Math" panose="02040503050406030204" pitchFamily="18" charset="0"/>
                                </a:rPr>
                              </m:ctrlPr>
                            </m:dPr>
                            <m:e>
                              <m:r>
                                <a:rPr lang="en-US" altLang="zh-CN" sz="3200" i="1">
                                  <a:solidFill>
                                    <a:prstClr val="black"/>
                                  </a:solidFill>
                                  <a:latin typeface="Cambria Math" panose="02040503050406030204" pitchFamily="18" charset="0"/>
                                </a:rPr>
                                <m:t> </m:t>
                              </m:r>
                              <m:r>
                                <a:rPr lang="en-US" altLang="zh-CN" sz="3200" i="1">
                                  <a:solidFill>
                                    <a:prstClr val="black"/>
                                  </a:solidFill>
                                  <a:latin typeface="Cambria Math" panose="02040503050406030204" pitchFamily="18" charset="0"/>
                                </a:rPr>
                                <m:t>𝑐</m:t>
                              </m:r>
                              <m:r>
                                <a:rPr lang="en-US" altLang="zh-CN" sz="3200" i="1">
                                  <a:solidFill>
                                    <a:prstClr val="black"/>
                                  </a:solidFill>
                                  <a:latin typeface="Cambria Math" panose="02040503050406030204" pitchFamily="18" charset="0"/>
                                </a:rPr>
                                <m:t> / </m:t>
                              </m:r>
                              <m:r>
                                <a:rPr lang="en-US" altLang="zh-CN" sz="3200" i="1">
                                  <a:solidFill>
                                    <a:prstClr val="black"/>
                                  </a:solidFill>
                                  <a:latin typeface="Cambria Math" panose="02040503050406030204" pitchFamily="18" charset="0"/>
                                </a:rPr>
                                <m:t>𝑑</m:t>
                              </m:r>
                            </m:e>
                          </m:d>
                          <m:r>
                            <a:rPr lang="en-US" altLang="zh-CN" sz="3200" i="1">
                              <a:solidFill>
                                <a:prstClr val="black"/>
                              </a:solidFill>
                              <a:latin typeface="Cambria Math" panose="02040503050406030204" pitchFamily="18" charset="0"/>
                            </a:rPr>
                            <m:t>)</m:t>
                          </m:r>
                        </m:oMath>
                      </m:oMathPara>
                    </a14:m>
                    <a:endParaRPr lang="zh-CN" altLang="en-US" sz="3200" dirty="0">
                      <a:solidFill>
                        <a:prstClr val="black"/>
                      </a:solidFill>
                      <a:latin typeface="Microsoft YaHei UI"/>
                      <a:ea typeface="微软雅黑"/>
                    </a:endParaRPr>
                  </a:p>
                </p:txBody>
              </p:sp>
            </mc:Choice>
            <mc:Fallback xmlns="">
              <p:sp>
                <p:nvSpPr>
                  <p:cNvPr id="68" name="文本框 67"/>
                  <p:cNvSpPr txBox="1">
                    <a:spLocks noRot="1" noChangeAspect="1" noMove="1" noResize="1" noEditPoints="1" noAdjustHandles="1" noChangeArrowheads="1" noChangeShapeType="1" noTextEdit="1"/>
                  </p:cNvSpPr>
                  <p:nvPr/>
                </p:nvSpPr>
                <p:spPr>
                  <a:xfrm>
                    <a:off x="3949401" y="4857117"/>
                    <a:ext cx="4971041" cy="492443"/>
                  </a:xfrm>
                  <a:prstGeom prst="rect">
                    <a:avLst/>
                  </a:prstGeom>
                  <a:blipFill rotWithShape="1">
                    <a:blip r:embed="rId12"/>
                  </a:blipFill>
                </p:spPr>
                <p:txBody>
                  <a:bodyPr/>
                  <a:lstStyle/>
                  <a:p>
                    <a:r>
                      <a:rPr lang="zh-CN" altLang="en-US">
                        <a:noFill/>
                      </a:rPr>
                      <a:t> </a:t>
                    </a:r>
                  </a:p>
                </p:txBody>
              </p:sp>
            </mc:Fallback>
          </mc:AlternateContent>
          <p:sp>
            <p:nvSpPr>
              <p:cNvPr id="69" name="矩形: 圆角 68"/>
              <p:cNvSpPr/>
              <p:nvPr/>
            </p:nvSpPr>
            <p:spPr>
              <a:xfrm>
                <a:off x="3986065" y="5395946"/>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grpSp>
        <p:sp>
          <p:nvSpPr>
            <p:cNvPr id="71" name="矩形: 圆角 70"/>
            <p:cNvSpPr/>
            <p:nvPr/>
          </p:nvSpPr>
          <p:spPr>
            <a:xfrm>
              <a:off x="6718955" y="6347794"/>
              <a:ext cx="744717" cy="4267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int</a:t>
              </a:r>
              <a:endParaRPr lang="zh-CN" altLang="en-US" dirty="0">
                <a:solidFill>
                  <a:prstClr val="white"/>
                </a:solidFill>
                <a:latin typeface="Microsoft YaHei UI"/>
                <a:ea typeface="微软雅黑"/>
              </a:endParaRPr>
            </a:p>
          </p:txBody>
        </p:sp>
      </p:grpSp>
      <p:sp>
        <p:nvSpPr>
          <p:cNvPr id="77" name="文本框 76"/>
          <p:cNvSpPr txBox="1"/>
          <p:nvPr/>
        </p:nvSpPr>
        <p:spPr>
          <a:xfrm>
            <a:off x="3840385" y="2399694"/>
            <a:ext cx="1880646" cy="1938020"/>
          </a:xfrm>
          <a:prstGeom prst="rect">
            <a:avLst/>
          </a:prstGeom>
          <a:noFill/>
        </p:spPr>
        <p:txBody>
          <a:bodyPr wrap="square">
            <a:spAutoFit/>
          </a:bodyPr>
          <a:lstStyle/>
          <a:p>
            <a:r>
              <a:rPr lang="zh-CN" altLang="en-US" sz="2400" dirty="0">
                <a:solidFill>
                  <a:srgbClr val="FF0000"/>
                </a:solidFill>
                <a:latin typeface="Microsoft YaHei UI"/>
                <a:ea typeface="微软雅黑"/>
              </a:rPr>
              <a:t>赋值运算符</a:t>
            </a:r>
            <a:endParaRPr lang="en-US" altLang="zh-CN" sz="2400" dirty="0">
              <a:solidFill>
                <a:srgbClr val="FF0000"/>
              </a:solidFill>
              <a:latin typeface="Microsoft YaHei UI"/>
              <a:ea typeface="微软雅黑"/>
            </a:endParaRPr>
          </a:p>
          <a:p>
            <a:r>
              <a:rPr lang="zh-CN" altLang="en-US" sz="2400" dirty="0">
                <a:solidFill>
                  <a:srgbClr val="FFC000"/>
                </a:solidFill>
                <a:latin typeface="Microsoft YaHei UI"/>
                <a:ea typeface="微软雅黑"/>
              </a:rPr>
              <a:t>右边</a:t>
            </a:r>
            <a:r>
              <a:rPr lang="zh-CN" altLang="en-US" sz="2400" dirty="0">
                <a:solidFill>
                  <a:prstClr val="black"/>
                </a:solidFill>
                <a:latin typeface="Microsoft YaHei UI"/>
                <a:ea typeface="微软雅黑"/>
              </a:rPr>
              <a:t>的变量</a:t>
            </a:r>
            <a:endParaRPr lang="en-US" altLang="zh-CN" sz="2400" dirty="0">
              <a:solidFill>
                <a:prstClr val="black"/>
              </a:solidFill>
              <a:latin typeface="Microsoft YaHei UI"/>
              <a:ea typeface="微软雅黑"/>
            </a:endParaRPr>
          </a:p>
          <a:p>
            <a:r>
              <a:rPr lang="zh-CN" altLang="en-US" sz="2400" dirty="0">
                <a:solidFill>
                  <a:prstClr val="black"/>
                </a:solidFill>
                <a:latin typeface="Microsoft YaHei UI"/>
                <a:ea typeface="微软雅黑"/>
              </a:rPr>
              <a:t>强制转换为</a:t>
            </a:r>
            <a:endParaRPr lang="en-US" altLang="zh-CN" sz="2400" dirty="0">
              <a:solidFill>
                <a:prstClr val="black"/>
              </a:solidFill>
              <a:latin typeface="Microsoft YaHei UI"/>
              <a:ea typeface="微软雅黑"/>
            </a:endParaRPr>
          </a:p>
          <a:p>
            <a:r>
              <a:rPr lang="zh-CN" altLang="en-US" sz="2400" dirty="0">
                <a:solidFill>
                  <a:srgbClr val="FFC000"/>
                </a:solidFill>
                <a:latin typeface="Microsoft YaHei UI"/>
                <a:ea typeface="微软雅黑"/>
              </a:rPr>
              <a:t>左边</a:t>
            </a:r>
            <a:r>
              <a:rPr lang="zh-CN" altLang="en-US" sz="2400" dirty="0">
                <a:solidFill>
                  <a:prstClr val="black"/>
                </a:solidFill>
                <a:latin typeface="Microsoft YaHei UI"/>
                <a:ea typeface="微软雅黑"/>
              </a:rPr>
              <a:t>变量类型</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500"/>
                                        <p:tgtEl>
                                          <p:spTgt spid="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7"/>
                                        </p:tgtEl>
                                        <p:attrNameLst>
                                          <p:attrName>style.visibility</p:attrName>
                                        </p:attrNameLst>
                                      </p:cBhvr>
                                      <p:to>
                                        <p:strVal val="visible"/>
                                      </p:to>
                                    </p:set>
                                    <p:animEffect transition="in" filter="fade">
                                      <p:cBhvr>
                                        <p:cTn id="3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42950" y="273050"/>
            <a:ext cx="8137525" cy="677863"/>
          </a:xfrm>
        </p:spPr>
        <p:txBody>
          <a:bodyPr/>
          <a:lstStyle/>
          <a:p>
            <a:pPr algn="l"/>
            <a:r>
              <a:rPr lang="zh-CN" altLang="en-US" sz="2800" dirty="0"/>
              <a:t>格式化输入输出</a:t>
            </a:r>
          </a:p>
        </p:txBody>
      </p:sp>
      <p:sp>
        <p:nvSpPr>
          <p:cNvPr id="4" name="灯片编号占位符 3"/>
          <p:cNvSpPr>
            <a:spLocks noGrp="1"/>
          </p:cNvSpPr>
          <p:nvPr>
            <p:ph type="sldNum" sz="quarter" idx="4294967295"/>
          </p:nvPr>
        </p:nvSpPr>
        <p:spPr>
          <a:xfrm>
            <a:off x="10009188" y="6235700"/>
            <a:ext cx="2182812"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sp>
        <p:nvSpPr>
          <p:cNvPr id="3" name="矩形 2"/>
          <p:cNvSpPr/>
          <p:nvPr/>
        </p:nvSpPr>
        <p:spPr>
          <a:xfrm>
            <a:off x="3645761" y="1875201"/>
            <a:ext cx="1455938" cy="678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latin typeface="Microsoft YaHei UI"/>
                <a:ea typeface="微软雅黑"/>
              </a:rPr>
              <a:t>scanf</a:t>
            </a:r>
            <a:endParaRPr lang="zh-CN" altLang="en-US" sz="3200" dirty="0">
              <a:solidFill>
                <a:prstClr val="white"/>
              </a:solidFill>
              <a:latin typeface="Microsoft YaHei UI"/>
              <a:ea typeface="微软雅黑"/>
            </a:endParaRPr>
          </a:p>
        </p:txBody>
      </p:sp>
      <p:sp>
        <p:nvSpPr>
          <p:cNvPr id="7" name="矩形 6"/>
          <p:cNvSpPr/>
          <p:nvPr/>
        </p:nvSpPr>
        <p:spPr>
          <a:xfrm>
            <a:off x="7253980" y="1875201"/>
            <a:ext cx="1455938" cy="678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err="1">
                <a:solidFill>
                  <a:prstClr val="white"/>
                </a:solidFill>
                <a:latin typeface="Microsoft YaHei UI"/>
                <a:ea typeface="微软雅黑"/>
              </a:rPr>
              <a:t>printf</a:t>
            </a:r>
            <a:endParaRPr lang="zh-CN" altLang="en-US" sz="2800" dirty="0">
              <a:solidFill>
                <a:prstClr val="white"/>
              </a:solidFill>
              <a:latin typeface="Microsoft YaHei UI"/>
              <a:ea typeface="微软雅黑"/>
            </a:endParaRPr>
          </a:p>
        </p:txBody>
      </p:sp>
      <p:sp>
        <p:nvSpPr>
          <p:cNvPr id="8" name="文本框 7"/>
          <p:cNvSpPr txBox="1"/>
          <p:nvPr/>
        </p:nvSpPr>
        <p:spPr>
          <a:xfrm>
            <a:off x="2322990" y="3071671"/>
            <a:ext cx="8052047" cy="1814830"/>
          </a:xfrm>
          <a:prstGeom prst="rect">
            <a:avLst/>
          </a:prstGeom>
          <a:noFill/>
        </p:spPr>
        <p:txBody>
          <a:bodyPr wrap="square" rtlCol="0">
            <a:spAutoFit/>
          </a:bodyPr>
          <a:lstStyle/>
          <a:p>
            <a:pPr algn="ctr"/>
            <a:r>
              <a:rPr lang="zh-CN" altLang="en-US" sz="2800" dirty="0">
                <a:solidFill>
                  <a:prstClr val="black"/>
                </a:solidFill>
                <a:latin typeface="Microsoft YaHei UI"/>
                <a:ea typeface="微软雅黑"/>
              </a:rPr>
              <a:t>尽管</a:t>
            </a:r>
            <a:r>
              <a:rPr lang="en-US" altLang="zh-CN" sz="2800" dirty="0">
                <a:solidFill>
                  <a:prstClr val="black"/>
                </a:solidFill>
                <a:latin typeface="Microsoft YaHei UI"/>
                <a:ea typeface="微软雅黑"/>
              </a:rPr>
              <a:t>scanf</a:t>
            </a:r>
            <a:r>
              <a:rPr lang="zh-CN" altLang="en-US" sz="2800" dirty="0">
                <a:solidFill>
                  <a:prstClr val="black"/>
                </a:solidFill>
                <a:latin typeface="Microsoft YaHei UI"/>
                <a:ea typeface="微软雅黑"/>
              </a:rPr>
              <a:t>是输入函数，</a:t>
            </a:r>
            <a:r>
              <a:rPr lang="en-US" altLang="zh-CN" sz="2800" dirty="0" err="1">
                <a:solidFill>
                  <a:prstClr val="black"/>
                </a:solidFill>
                <a:latin typeface="Microsoft YaHei UI"/>
                <a:ea typeface="微软雅黑"/>
              </a:rPr>
              <a:t>printf</a:t>
            </a:r>
            <a:r>
              <a:rPr lang="zh-CN" altLang="en-US" sz="2800" dirty="0">
                <a:solidFill>
                  <a:prstClr val="black"/>
                </a:solidFill>
                <a:latin typeface="Microsoft YaHei UI"/>
                <a:ea typeface="微软雅黑"/>
              </a:rPr>
              <a:t>是输出函数，但两者具有相似的工作原理。</a:t>
            </a:r>
            <a:endParaRPr lang="en-US" altLang="zh-CN" sz="2800" dirty="0">
              <a:solidFill>
                <a:prstClr val="black"/>
              </a:solidFill>
              <a:latin typeface="Microsoft YaHei UI"/>
              <a:ea typeface="微软雅黑"/>
            </a:endParaRPr>
          </a:p>
          <a:p>
            <a:pPr algn="ctr"/>
            <a:r>
              <a:rPr lang="zh-CN" altLang="en-US" sz="2800" dirty="0">
                <a:solidFill>
                  <a:prstClr val="black"/>
                </a:solidFill>
                <a:latin typeface="Microsoft YaHei UI"/>
                <a:ea typeface="微软雅黑"/>
              </a:rPr>
              <a:t>这两个函数都使用了</a:t>
            </a:r>
            <a:r>
              <a:rPr lang="zh-CN" altLang="en-US" sz="2800" dirty="0">
                <a:solidFill>
                  <a:srgbClr val="00B050"/>
                </a:solidFill>
                <a:latin typeface="Microsoft YaHei UI"/>
                <a:ea typeface="微软雅黑"/>
              </a:rPr>
              <a:t>格式字符串</a:t>
            </a:r>
            <a:r>
              <a:rPr lang="zh-CN" altLang="en-US" sz="2800" dirty="0">
                <a:solidFill>
                  <a:prstClr val="black"/>
                </a:solidFill>
                <a:latin typeface="Microsoft YaHei UI"/>
                <a:ea typeface="微软雅黑"/>
              </a:rPr>
              <a:t>和</a:t>
            </a:r>
            <a:r>
              <a:rPr lang="zh-CN" altLang="en-US" sz="2800" dirty="0">
                <a:solidFill>
                  <a:srgbClr val="00B050"/>
                </a:solidFill>
                <a:latin typeface="Microsoft YaHei UI"/>
                <a:ea typeface="微软雅黑"/>
              </a:rPr>
              <a:t>参数列表</a:t>
            </a:r>
            <a:endParaRPr lang="en-US" altLang="zh-CN" sz="2800" dirty="0">
              <a:solidFill>
                <a:srgbClr val="00B050"/>
              </a:solidFill>
              <a:latin typeface="Microsoft YaHei UI"/>
              <a:ea typeface="微软雅黑"/>
            </a:endParaRPr>
          </a:p>
          <a:p>
            <a:pPr algn="ctr"/>
            <a:endParaRPr lang="zh-CN" altLang="en-US" sz="2800" dirty="0">
              <a:solidFill>
                <a:srgbClr val="00B050"/>
              </a:solidFill>
              <a:latin typeface="Microsoft YaHei UI"/>
              <a:ea typeface="微软雅黑"/>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38175" y="196850"/>
            <a:ext cx="8137525" cy="679450"/>
          </a:xfrm>
        </p:spPr>
        <p:txBody>
          <a:bodyPr/>
          <a:lstStyle/>
          <a:p>
            <a:pPr algn="l"/>
            <a:r>
              <a:rPr lang="zh-CN" altLang="en-US" sz="2800" dirty="0"/>
              <a:t>格式化输入输出</a:t>
            </a:r>
          </a:p>
        </p:txBody>
      </p:sp>
      <p:graphicFrame>
        <p:nvGraphicFramePr>
          <p:cNvPr id="5" name="表格 5"/>
          <p:cNvGraphicFramePr>
            <a:graphicFrameLocks noGrp="1"/>
          </p:cNvGraphicFramePr>
          <p:nvPr/>
        </p:nvGraphicFramePr>
        <p:xfrm>
          <a:off x="2657856" y="1328928"/>
          <a:ext cx="6876288" cy="4572000"/>
        </p:xfrm>
        <a:graphic>
          <a:graphicData uri="http://schemas.openxmlformats.org/drawingml/2006/table">
            <a:tbl>
              <a:tblPr firstRow="1" bandRow="1">
                <a:tableStyleId>{5C22544A-7EE6-4342-B048-85BDC9FD1C3A}</a:tableStyleId>
              </a:tblPr>
              <a:tblGrid>
                <a:gridCol w="2273006">
                  <a:extLst>
                    <a:ext uri="{9D8B030D-6E8A-4147-A177-3AD203B41FA5}">
                      <a16:colId xmlns:a16="http://schemas.microsoft.com/office/drawing/2014/main" val="20000"/>
                    </a:ext>
                  </a:extLst>
                </a:gridCol>
                <a:gridCol w="4603282">
                  <a:extLst>
                    <a:ext uri="{9D8B030D-6E8A-4147-A177-3AD203B41FA5}">
                      <a16:colId xmlns:a16="http://schemas.microsoft.com/office/drawing/2014/main" val="20001"/>
                    </a:ext>
                  </a:extLst>
                </a:gridCol>
              </a:tblGrid>
              <a:tr h="370840">
                <a:tc>
                  <a:txBody>
                    <a:bodyPr/>
                    <a:lstStyle/>
                    <a:p>
                      <a:pPr algn="ctr"/>
                      <a:r>
                        <a:rPr lang="zh-CN" altLang="en-US" sz="2400" dirty="0"/>
                        <a:t>转换说明</a:t>
                      </a:r>
                    </a:p>
                  </a:txBody>
                  <a:tcPr/>
                </a:tc>
                <a:tc>
                  <a:txBody>
                    <a:bodyPr/>
                    <a:lstStyle/>
                    <a:p>
                      <a:pPr algn="ctr"/>
                      <a:r>
                        <a:rPr lang="zh-CN" altLang="en-US" sz="2400" dirty="0"/>
                        <a:t>输出</a:t>
                      </a:r>
                    </a:p>
                  </a:txBody>
                  <a:tcPr/>
                </a:tc>
                <a:extLst>
                  <a:ext uri="{0D108BD9-81ED-4DB2-BD59-A6C34878D82A}">
                    <a16:rowId xmlns:a16="http://schemas.microsoft.com/office/drawing/2014/main" val="10000"/>
                  </a:ext>
                </a:extLst>
              </a:tr>
              <a:tr h="370840">
                <a:tc>
                  <a:txBody>
                    <a:bodyPr/>
                    <a:lstStyle/>
                    <a:p>
                      <a:pPr algn="ctr"/>
                      <a:r>
                        <a:rPr lang="en-US" altLang="zh-CN" sz="2400" dirty="0"/>
                        <a:t>%d</a:t>
                      </a:r>
                      <a:endParaRPr lang="zh-CN" altLang="en-US" sz="2400" dirty="0"/>
                    </a:p>
                  </a:txBody>
                  <a:tcPr/>
                </a:tc>
                <a:tc>
                  <a:txBody>
                    <a:bodyPr/>
                    <a:lstStyle/>
                    <a:p>
                      <a:pPr algn="ctr"/>
                      <a:r>
                        <a:rPr lang="zh-CN" altLang="en-US" sz="2400" dirty="0"/>
                        <a:t>有符号的十进制整数</a:t>
                      </a:r>
                    </a:p>
                  </a:txBody>
                  <a:tcPr/>
                </a:tc>
                <a:extLst>
                  <a:ext uri="{0D108BD9-81ED-4DB2-BD59-A6C34878D82A}">
                    <a16:rowId xmlns:a16="http://schemas.microsoft.com/office/drawing/2014/main" val="10001"/>
                  </a:ext>
                </a:extLst>
              </a:tr>
              <a:tr h="370840">
                <a:tc>
                  <a:txBody>
                    <a:bodyPr/>
                    <a:lstStyle/>
                    <a:p>
                      <a:pPr algn="ctr"/>
                      <a:r>
                        <a:rPr lang="en-US" altLang="zh-CN" sz="2400" dirty="0"/>
                        <a:t>%f</a:t>
                      </a:r>
                      <a:endParaRPr lang="zh-CN" altLang="en-US" sz="2400" dirty="0"/>
                    </a:p>
                  </a:txBody>
                  <a:tcPr/>
                </a:tc>
                <a:tc>
                  <a:txBody>
                    <a:bodyPr/>
                    <a:lstStyle/>
                    <a:p>
                      <a:pPr algn="ctr"/>
                      <a:r>
                        <a:rPr lang="zh-CN" altLang="en-US" sz="2400" dirty="0"/>
                        <a:t>单精度浮点数</a:t>
                      </a:r>
                    </a:p>
                  </a:txBody>
                  <a:tcPr/>
                </a:tc>
                <a:extLst>
                  <a:ext uri="{0D108BD9-81ED-4DB2-BD59-A6C34878D82A}">
                    <a16:rowId xmlns:a16="http://schemas.microsoft.com/office/drawing/2014/main" val="10002"/>
                  </a:ext>
                </a:extLst>
              </a:tr>
              <a:tr h="370840">
                <a:tc>
                  <a:txBody>
                    <a:bodyPr/>
                    <a:lstStyle/>
                    <a:p>
                      <a:pPr algn="ctr"/>
                      <a:r>
                        <a:rPr lang="en-US" altLang="zh-CN" sz="2400" dirty="0"/>
                        <a:t>%lf</a:t>
                      </a:r>
                      <a:endParaRPr lang="zh-CN" altLang="en-US" sz="2400" dirty="0"/>
                    </a:p>
                  </a:txBody>
                  <a:tcPr/>
                </a:tc>
                <a:tc>
                  <a:txBody>
                    <a:bodyPr/>
                    <a:lstStyle/>
                    <a:p>
                      <a:pPr algn="ctr"/>
                      <a:r>
                        <a:rPr lang="zh-CN" altLang="en-US" sz="2400" dirty="0"/>
                        <a:t>双精度浮点数</a:t>
                      </a:r>
                    </a:p>
                  </a:txBody>
                  <a:tcPr/>
                </a:tc>
                <a:extLst>
                  <a:ext uri="{0D108BD9-81ED-4DB2-BD59-A6C34878D82A}">
                    <a16:rowId xmlns:a16="http://schemas.microsoft.com/office/drawing/2014/main" val="10003"/>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dirty="0"/>
                        <a:t>%s</a:t>
                      </a:r>
                      <a:endParaRPr lang="zh-CN" altLang="en-US" sz="2400" dirty="0"/>
                    </a:p>
                  </a:txBody>
                  <a:tcPr/>
                </a:tc>
                <a:tc>
                  <a:txBody>
                    <a:bodyPr/>
                    <a:lstStyle/>
                    <a:p>
                      <a:pPr algn="ctr"/>
                      <a:r>
                        <a:rPr lang="zh-CN" altLang="en-US" sz="2400" dirty="0"/>
                        <a:t>字符串</a:t>
                      </a:r>
                    </a:p>
                  </a:txBody>
                  <a:tcPr/>
                </a:tc>
                <a:extLst>
                  <a:ext uri="{0D108BD9-81ED-4DB2-BD59-A6C34878D82A}">
                    <a16:rowId xmlns:a16="http://schemas.microsoft.com/office/drawing/2014/main" val="10004"/>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dirty="0"/>
                        <a:t>%c</a:t>
                      </a:r>
                      <a:endParaRPr lang="zh-CN" altLang="en-US" sz="2400" dirty="0"/>
                    </a:p>
                  </a:txBody>
                  <a:tcPr/>
                </a:tc>
                <a:tc>
                  <a:txBody>
                    <a:bodyPr/>
                    <a:lstStyle/>
                    <a:p>
                      <a:pPr algn="ctr"/>
                      <a:r>
                        <a:rPr lang="zh-CN" altLang="en-US" sz="2400" dirty="0"/>
                        <a:t>单个字符</a:t>
                      </a:r>
                    </a:p>
                  </a:txBody>
                  <a:tcPr/>
                </a:tc>
                <a:extLst>
                  <a:ext uri="{0D108BD9-81ED-4DB2-BD59-A6C34878D82A}">
                    <a16:rowId xmlns:a16="http://schemas.microsoft.com/office/drawing/2014/main" val="10005"/>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dirty="0"/>
                        <a:t>%u</a:t>
                      </a:r>
                      <a:endParaRPr lang="zh-CN" altLang="en-US" sz="2400" dirty="0"/>
                    </a:p>
                  </a:txBody>
                  <a:tcPr/>
                </a:tc>
                <a:tc>
                  <a:txBody>
                    <a:bodyPr/>
                    <a:lstStyle/>
                    <a:p>
                      <a:pPr algn="ctr"/>
                      <a:r>
                        <a:rPr lang="zh-CN" altLang="en-US" sz="2400" dirty="0"/>
                        <a:t>无符号的十进制整数</a:t>
                      </a:r>
                    </a:p>
                  </a:txBody>
                  <a:tcPr/>
                </a:tc>
                <a:extLst>
                  <a:ext uri="{0D108BD9-81ED-4DB2-BD59-A6C34878D82A}">
                    <a16:rowId xmlns:a16="http://schemas.microsoft.com/office/drawing/2014/main" val="10006"/>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dirty="0"/>
                        <a:t>%o</a:t>
                      </a:r>
                      <a:endParaRPr lang="zh-CN" altLang="en-US" sz="2400" dirty="0"/>
                    </a:p>
                  </a:txBody>
                  <a:tcPr/>
                </a:tc>
                <a:tc>
                  <a:txBody>
                    <a:bodyPr/>
                    <a:lstStyle/>
                    <a:p>
                      <a:pPr algn="ctr"/>
                      <a:r>
                        <a:rPr lang="zh-CN" altLang="en-US" sz="2400" dirty="0"/>
                        <a:t>无符号的八进制整数</a:t>
                      </a:r>
                    </a:p>
                  </a:txBody>
                  <a:tcPr/>
                </a:tc>
                <a:extLst>
                  <a:ext uri="{0D108BD9-81ED-4DB2-BD59-A6C34878D82A}">
                    <a16:rowId xmlns:a16="http://schemas.microsoft.com/office/drawing/2014/main" val="10007"/>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dirty="0"/>
                        <a:t>%x</a:t>
                      </a:r>
                      <a:endParaRPr lang="zh-CN" altLang="en-US" sz="2400" dirty="0"/>
                    </a:p>
                  </a:txBody>
                  <a:tcPr/>
                </a:tc>
                <a:tc>
                  <a:txBody>
                    <a:bodyPr/>
                    <a:lstStyle/>
                    <a:p>
                      <a:pPr algn="ctr"/>
                      <a:r>
                        <a:rPr lang="zh-CN" altLang="en-US" sz="2400" dirty="0"/>
                        <a:t>无符号的十六进制整数</a:t>
                      </a:r>
                    </a:p>
                  </a:txBody>
                  <a:tcPr/>
                </a:tc>
                <a:extLst>
                  <a:ext uri="{0D108BD9-81ED-4DB2-BD59-A6C34878D82A}">
                    <a16:rowId xmlns:a16="http://schemas.microsoft.com/office/drawing/2014/main" val="10008"/>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dirty="0"/>
                        <a:t>%%</a:t>
                      </a:r>
                      <a:endParaRPr lang="zh-CN" altLang="en-US" sz="2400" dirty="0"/>
                    </a:p>
                  </a:txBody>
                  <a:tcPr/>
                </a:tc>
                <a:tc>
                  <a:txBody>
                    <a:bodyPr/>
                    <a:lstStyle/>
                    <a:p>
                      <a:pPr algn="ctr"/>
                      <a:r>
                        <a:rPr lang="zh-CN" altLang="en-US" sz="2400" dirty="0"/>
                        <a:t>打印一个百分号</a:t>
                      </a:r>
                    </a:p>
                  </a:txBody>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76275" y="261468"/>
            <a:ext cx="8137525" cy="679450"/>
          </a:xfrm>
          <a:prstGeom prst="rect">
            <a:avLst/>
          </a:prstGeom>
        </p:spPr>
        <p:txBody>
          <a:bodyPr/>
          <a:lstStyle/>
          <a:p>
            <a:pPr algn="l"/>
            <a:r>
              <a:rPr lang="zh-CN" altLang="en-US" sz="2800" dirty="0"/>
              <a:t>格式化输入</a:t>
            </a:r>
          </a:p>
        </p:txBody>
      </p:sp>
      <p:sp>
        <p:nvSpPr>
          <p:cNvPr id="7" name="矩形 6"/>
          <p:cNvSpPr/>
          <p:nvPr/>
        </p:nvSpPr>
        <p:spPr>
          <a:xfrm>
            <a:off x="2193926" y="3088458"/>
            <a:ext cx="1706721" cy="6810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latin typeface="Microsoft YaHei UI"/>
                <a:ea typeface="微软雅黑"/>
              </a:rPr>
              <a:t>scanf()</a:t>
            </a:r>
            <a:endParaRPr lang="zh-CN" altLang="en-US" sz="3200" dirty="0">
              <a:solidFill>
                <a:prstClr val="white"/>
              </a:solidFill>
              <a:latin typeface="Microsoft YaHei UI"/>
              <a:ea typeface="微软雅黑"/>
            </a:endParaRPr>
          </a:p>
        </p:txBody>
      </p:sp>
      <p:graphicFrame>
        <p:nvGraphicFramePr>
          <p:cNvPr id="9" name="表格 8"/>
          <p:cNvGraphicFramePr>
            <a:graphicFrameLocks noGrp="1"/>
          </p:cNvGraphicFramePr>
          <p:nvPr/>
        </p:nvGraphicFramePr>
        <p:xfrm>
          <a:off x="2449366" y="810736"/>
          <a:ext cx="7470775" cy="1515532"/>
        </p:xfrm>
        <a:graphic>
          <a:graphicData uri="http://schemas.openxmlformats.org/drawingml/2006/table">
            <a:tbl>
              <a:tblPr firstRow="1" bandRow="1">
                <a:tableStyleId>{5C22544A-7EE6-4342-B048-85BDC9FD1C3A}</a:tableStyleId>
              </a:tblPr>
              <a:tblGrid>
                <a:gridCol w="1980205">
                  <a:extLst>
                    <a:ext uri="{9D8B030D-6E8A-4147-A177-3AD203B41FA5}">
                      <a16:colId xmlns:a16="http://schemas.microsoft.com/office/drawing/2014/main" val="20000"/>
                    </a:ext>
                  </a:extLst>
                </a:gridCol>
                <a:gridCol w="5490570">
                  <a:extLst>
                    <a:ext uri="{9D8B030D-6E8A-4147-A177-3AD203B41FA5}">
                      <a16:colId xmlns:a16="http://schemas.microsoft.com/office/drawing/2014/main" val="20001"/>
                    </a:ext>
                  </a:extLst>
                </a:gridCol>
              </a:tblGrid>
              <a:tr h="378883">
                <a:tc>
                  <a:txBody>
                    <a:bodyPr/>
                    <a:lstStyle/>
                    <a:p>
                      <a:pPr algn="ctr"/>
                      <a:r>
                        <a:rPr lang="zh-CN" altLang="en-US" sz="1800" dirty="0"/>
                        <a:t>附加格式说明符</a:t>
                      </a:r>
                    </a:p>
                  </a:txBody>
                  <a:tcPr marL="91439" marR="91439" marT="45735" marB="45735">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zh-CN" altLang="en-US" sz="1800" dirty="0"/>
                        <a:t>功能</a:t>
                      </a:r>
                    </a:p>
                  </a:txBody>
                  <a:tcPr marL="91439" marR="91439" marT="45735" marB="45735">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8883">
                <a:tc>
                  <a:txBody>
                    <a:bodyPr/>
                    <a:lstStyle/>
                    <a:p>
                      <a:pPr algn="ctr"/>
                      <a:r>
                        <a:rPr lang="en-US" altLang="zh-CN" sz="1800" dirty="0"/>
                        <a:t>m(m</a:t>
                      </a:r>
                      <a:r>
                        <a:rPr lang="zh-CN" altLang="en-US" sz="1800" dirty="0"/>
                        <a:t>为正整数）</a:t>
                      </a:r>
                      <a:endParaRPr lang="en-US" altLang="zh-CN" sz="1800" dirty="0"/>
                    </a:p>
                  </a:txBody>
                  <a:tcPr marL="91439" marR="91439" marT="45735" marB="45735">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zh-CN" altLang="en-US" sz="1800" dirty="0"/>
                        <a:t>数据输入宽度为</a:t>
                      </a:r>
                      <a:r>
                        <a:rPr lang="en-US" altLang="zh-CN" sz="1800" dirty="0"/>
                        <a:t>m</a:t>
                      </a:r>
                      <a:endParaRPr lang="zh-CN" altLang="en-US" sz="1800" dirty="0"/>
                    </a:p>
                  </a:txBody>
                  <a:tcPr marL="91439" marR="91439" marT="45735" marB="45735">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8883">
                <a:tc>
                  <a:txBody>
                    <a:bodyPr/>
                    <a:lstStyle/>
                    <a:p>
                      <a:pPr algn="ctr"/>
                      <a:r>
                        <a:rPr lang="en-US" altLang="zh-CN" sz="1800" dirty="0"/>
                        <a:t>l</a:t>
                      </a:r>
                      <a:endParaRPr lang="zh-CN" altLang="en-US" sz="1800" dirty="0"/>
                    </a:p>
                  </a:txBody>
                  <a:tcPr marL="91439" marR="91439" marT="45735" marB="45735">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altLang="zh-CN" sz="1800" dirty="0" err="1"/>
                        <a:t>ld</a:t>
                      </a:r>
                      <a:r>
                        <a:rPr lang="en-US" altLang="zh-CN" sz="1800" dirty="0"/>
                        <a:t> </a:t>
                      </a:r>
                      <a:r>
                        <a:rPr lang="zh-CN" altLang="en-US" sz="1800" dirty="0"/>
                        <a:t>输入输出</a:t>
                      </a:r>
                      <a:r>
                        <a:rPr lang="en-US" altLang="zh-CN" sz="1800" dirty="0"/>
                        <a:t>long </a:t>
                      </a:r>
                      <a:r>
                        <a:rPr lang="zh-CN" altLang="en-US" sz="1800" dirty="0"/>
                        <a:t>型数据，</a:t>
                      </a:r>
                      <a:r>
                        <a:rPr lang="en-US" altLang="zh-CN" sz="1800" dirty="0"/>
                        <a:t>lf</a:t>
                      </a:r>
                      <a:r>
                        <a:rPr lang="zh-CN" altLang="en-US" sz="1800" dirty="0"/>
                        <a:t>、</a:t>
                      </a:r>
                      <a:r>
                        <a:rPr lang="en-US" altLang="zh-CN" sz="1800" dirty="0"/>
                        <a:t>le</a:t>
                      </a:r>
                      <a:r>
                        <a:rPr lang="zh-CN" altLang="en-US" sz="1800" dirty="0"/>
                        <a:t>输入</a:t>
                      </a:r>
                      <a:r>
                        <a:rPr lang="en-US" altLang="zh-CN" sz="1800" dirty="0"/>
                        <a:t>double</a:t>
                      </a:r>
                      <a:r>
                        <a:rPr lang="zh-CN" altLang="en-US" sz="1800" dirty="0"/>
                        <a:t>型数据</a:t>
                      </a:r>
                    </a:p>
                  </a:txBody>
                  <a:tcPr marL="91439" marR="91439" marT="45735" marB="45735">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8883">
                <a:tc>
                  <a:txBody>
                    <a:bodyPr/>
                    <a:lstStyle/>
                    <a:p>
                      <a:pPr algn="ctr"/>
                      <a:r>
                        <a:rPr lang="en-US" altLang="zh-CN" sz="1800" dirty="0"/>
                        <a:t>*</a:t>
                      </a:r>
                      <a:endParaRPr lang="zh-CN" altLang="en-US" sz="1800" dirty="0"/>
                    </a:p>
                  </a:txBody>
                  <a:tcPr marL="91439" marR="91439" marT="45735" marB="45735">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zh-CN" altLang="en-US" sz="1800" dirty="0"/>
                        <a:t>使对应的输入数据不赋值给相应变量</a:t>
                      </a:r>
                    </a:p>
                  </a:txBody>
                  <a:tcPr marL="91439" marR="91439" marT="45735" marB="45735">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pic>
        <p:nvPicPr>
          <p:cNvPr id="6" name="图片 5"/>
          <p:cNvPicPr>
            <a:picLocks noChangeAspect="1"/>
          </p:cNvPicPr>
          <p:nvPr/>
        </p:nvPicPr>
        <p:blipFill>
          <a:blip r:embed="rId3"/>
          <a:stretch>
            <a:fillRect/>
          </a:stretch>
        </p:blipFill>
        <p:spPr>
          <a:xfrm>
            <a:off x="4078666" y="2535811"/>
            <a:ext cx="5154989" cy="2202478"/>
          </a:xfrm>
          <a:prstGeom prst="rect">
            <a:avLst/>
          </a:prstGeom>
        </p:spPr>
      </p:pic>
      <p:sp>
        <p:nvSpPr>
          <p:cNvPr id="11" name="文本框 10"/>
          <p:cNvSpPr txBox="1"/>
          <p:nvPr/>
        </p:nvSpPr>
        <p:spPr>
          <a:xfrm>
            <a:off x="1936174" y="4579177"/>
            <a:ext cx="3996966" cy="1568450"/>
          </a:xfrm>
          <a:prstGeom prst="rect">
            <a:avLst/>
          </a:prstGeom>
          <a:noFill/>
        </p:spPr>
        <p:txBody>
          <a:bodyPr wrap="square" rtlCol="0">
            <a:spAutoFit/>
          </a:bodyPr>
          <a:lstStyle/>
          <a:p>
            <a:r>
              <a:rPr lang="en-US" altLang="zh-CN" sz="2400" dirty="0">
                <a:solidFill>
                  <a:prstClr val="black"/>
                </a:solidFill>
                <a:latin typeface="Microsoft YaHei UI"/>
                <a:ea typeface="微软雅黑"/>
              </a:rPr>
              <a:t>    scanf ()</a:t>
            </a:r>
            <a:r>
              <a:rPr lang="zh-CN" altLang="en-US" sz="2400" dirty="0">
                <a:solidFill>
                  <a:prstClr val="black"/>
                </a:solidFill>
                <a:latin typeface="Microsoft YaHei UI"/>
                <a:ea typeface="微软雅黑"/>
              </a:rPr>
              <a:t>的返回值：</a:t>
            </a:r>
            <a:endParaRPr lang="en-US" altLang="zh-CN" sz="2400" dirty="0">
              <a:solidFill>
                <a:prstClr val="black"/>
              </a:solidFill>
              <a:latin typeface="Microsoft YaHei UI"/>
              <a:ea typeface="微软雅黑"/>
            </a:endParaRPr>
          </a:p>
          <a:p>
            <a:r>
              <a:rPr lang="en-US" altLang="zh-CN" sz="2400" dirty="0">
                <a:solidFill>
                  <a:prstClr val="black"/>
                </a:solidFill>
                <a:latin typeface="Microsoft YaHei UI"/>
                <a:ea typeface="微软雅黑"/>
              </a:rPr>
              <a:t>1.</a:t>
            </a:r>
            <a:r>
              <a:rPr lang="zh-CN" altLang="en-US" sz="2400" dirty="0">
                <a:solidFill>
                  <a:prstClr val="black"/>
                </a:solidFill>
                <a:latin typeface="Microsoft YaHei UI"/>
                <a:ea typeface="微软雅黑"/>
              </a:rPr>
              <a:t>成功匹配，则返回个数</a:t>
            </a:r>
            <a:endParaRPr lang="en-US" altLang="zh-CN" sz="2400" dirty="0">
              <a:solidFill>
                <a:prstClr val="black"/>
              </a:solidFill>
              <a:latin typeface="Microsoft YaHei UI"/>
              <a:ea typeface="微软雅黑"/>
            </a:endParaRPr>
          </a:p>
          <a:p>
            <a:r>
              <a:rPr lang="en-US" altLang="zh-CN" sz="2400" dirty="0">
                <a:solidFill>
                  <a:prstClr val="black"/>
                </a:solidFill>
                <a:latin typeface="Microsoft YaHei UI"/>
                <a:ea typeface="微软雅黑"/>
              </a:rPr>
              <a:t>2.</a:t>
            </a:r>
            <a:r>
              <a:rPr lang="zh-CN" altLang="en-US" sz="2400" dirty="0">
                <a:solidFill>
                  <a:prstClr val="black"/>
                </a:solidFill>
                <a:latin typeface="Microsoft YaHei UI"/>
                <a:ea typeface="微软雅黑"/>
              </a:rPr>
              <a:t>匹配失败，则返回</a:t>
            </a:r>
            <a:r>
              <a:rPr lang="en-US" altLang="zh-CN" sz="2400" dirty="0">
                <a:solidFill>
                  <a:prstClr val="black"/>
                </a:solidFill>
                <a:latin typeface="Microsoft YaHei UI"/>
                <a:ea typeface="微软雅黑"/>
              </a:rPr>
              <a:t>0</a:t>
            </a:r>
          </a:p>
          <a:p>
            <a:r>
              <a:rPr lang="en-US" altLang="zh-CN" sz="2400" dirty="0">
                <a:solidFill>
                  <a:prstClr val="black"/>
                </a:solidFill>
                <a:latin typeface="Microsoft YaHei UI"/>
                <a:ea typeface="微软雅黑"/>
              </a:rPr>
              <a:t>3.</a:t>
            </a:r>
            <a:r>
              <a:rPr lang="zh-CN" altLang="en-US" sz="2400" dirty="0">
                <a:solidFill>
                  <a:prstClr val="black"/>
                </a:solidFill>
                <a:latin typeface="Microsoft YaHei UI"/>
                <a:ea typeface="微软雅黑"/>
              </a:rPr>
              <a:t>输入流结束，返回</a:t>
            </a:r>
            <a:r>
              <a:rPr lang="en-US" altLang="zh-CN" sz="2400" dirty="0">
                <a:solidFill>
                  <a:prstClr val="black"/>
                </a:solidFill>
                <a:latin typeface="Microsoft YaHei UI"/>
                <a:ea typeface="微软雅黑"/>
              </a:rPr>
              <a:t>EOF</a:t>
            </a:r>
            <a:endParaRPr lang="zh-CN" altLang="en-US" sz="2400" dirty="0">
              <a:solidFill>
                <a:prstClr val="black"/>
              </a:solidFill>
              <a:latin typeface="Microsoft YaHei UI"/>
              <a:ea typeface="微软雅黑"/>
            </a:endParaRP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068771" y="6092695"/>
            <a:ext cx="6896041" cy="543036"/>
            <a:chOff x="945891" y="6407060"/>
            <a:chExt cx="6896041" cy="543036"/>
          </a:xfrm>
        </p:grpSpPr>
        <p:pic>
          <p:nvPicPr>
            <p:cNvPr id="6" name="图形 7"/>
            <p:cNvPicPr>
              <a:picLocks noChangeAspect="1"/>
            </p:cNvPicPr>
            <p:nvPr>
              <p:custDataLst>
                <p:tags r:id="rId1"/>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5891" y="6407060"/>
              <a:ext cx="2457450" cy="542925"/>
            </a:xfrm>
            <a:prstGeom prst="rect">
              <a:avLst/>
            </a:prstGeom>
          </p:spPr>
        </p:pic>
        <p:pic>
          <p:nvPicPr>
            <p:cNvPr id="8" name="图片 7" descr="314e251f95cad1c804ecc5fe753e6709c83d5197 (1)"/>
            <p:cNvPicPr>
              <a:picLocks noChangeAspect="1"/>
            </p:cNvPicPr>
            <p:nvPr>
              <p:custDataLst>
                <p:tags r:id="rId2"/>
              </p:custDataLst>
            </p:nvPr>
          </p:nvPicPr>
          <p:blipFill>
            <a:blip r:embed="rId7"/>
            <a:stretch>
              <a:fillRect/>
            </a:stretch>
          </p:blipFill>
          <p:spPr>
            <a:xfrm>
              <a:off x="3713162" y="6407171"/>
              <a:ext cx="542925" cy="542925"/>
            </a:xfrm>
            <a:prstGeom prst="rect">
              <a:avLst/>
            </a:prstGeom>
          </p:spPr>
        </p:pic>
        <p:sp>
          <p:nvSpPr>
            <p:cNvPr id="10" name="文本框 9"/>
            <p:cNvSpPr txBox="1"/>
            <p:nvPr>
              <p:custDataLst>
                <p:tags r:id="rId3"/>
              </p:custDataLst>
            </p:nvPr>
          </p:nvSpPr>
          <p:spPr>
            <a:xfrm>
              <a:off x="4350067" y="6510041"/>
              <a:ext cx="3491865" cy="398780"/>
            </a:xfrm>
            <a:prstGeom prst="rect">
              <a:avLst/>
            </a:prstGeom>
            <a:noFill/>
          </p:spPr>
          <p:txBody>
            <a:bodyPr wrap="square" rtlCol="0">
              <a:spAutoFit/>
            </a:bodyPr>
            <a:lstStyle/>
            <a:p>
              <a:r>
                <a:rPr lang="zh-CN" altLang="en-US" sz="2000" dirty="0">
                  <a:solidFill>
                    <a:prstClr val="black"/>
                  </a:solidFill>
                  <a:latin typeface="汉仪黑方简" panose="00020600040101010101" charset="-122"/>
                  <a:ea typeface="汉仪黑方简" panose="00020600040101010101" charset="-122"/>
                </a:rPr>
                <a:t>网络开拓者协会</a:t>
              </a:r>
            </a:p>
          </p:txBody>
        </p:sp>
      </p:grpSp>
      <p:sp>
        <p:nvSpPr>
          <p:cNvPr id="2" name="标题 1"/>
          <p:cNvSpPr>
            <a:spLocks noGrp="1"/>
          </p:cNvSpPr>
          <p:nvPr>
            <p:ph type="title" idx="4294967295"/>
          </p:nvPr>
        </p:nvSpPr>
        <p:spPr>
          <a:xfrm>
            <a:off x="767279" y="222269"/>
            <a:ext cx="8137525" cy="679450"/>
          </a:xfrm>
        </p:spPr>
        <p:txBody>
          <a:bodyPr/>
          <a:lstStyle/>
          <a:p>
            <a:pPr algn="l"/>
            <a:r>
              <a:rPr lang="zh-CN" altLang="en-US" sz="2800" dirty="0"/>
              <a:t>格式化输出</a:t>
            </a:r>
          </a:p>
        </p:txBody>
      </p:sp>
      <p:graphicFrame>
        <p:nvGraphicFramePr>
          <p:cNvPr id="3" name="表格 5"/>
          <p:cNvGraphicFramePr>
            <a:graphicFrameLocks noGrp="1"/>
          </p:cNvGraphicFramePr>
          <p:nvPr/>
        </p:nvGraphicFramePr>
        <p:xfrm>
          <a:off x="2411735" y="891674"/>
          <a:ext cx="7752630" cy="2661980"/>
        </p:xfrm>
        <a:graphic>
          <a:graphicData uri="http://schemas.openxmlformats.org/drawingml/2006/table">
            <a:tbl>
              <a:tblPr firstRow="1" bandRow="1">
                <a:tableStyleId>{5C22544A-7EE6-4342-B048-85BDC9FD1C3A}</a:tableStyleId>
              </a:tblPr>
              <a:tblGrid>
                <a:gridCol w="3876315">
                  <a:extLst>
                    <a:ext uri="{9D8B030D-6E8A-4147-A177-3AD203B41FA5}">
                      <a16:colId xmlns:a16="http://schemas.microsoft.com/office/drawing/2014/main" val="20000"/>
                    </a:ext>
                  </a:extLst>
                </a:gridCol>
                <a:gridCol w="3876315">
                  <a:extLst>
                    <a:ext uri="{9D8B030D-6E8A-4147-A177-3AD203B41FA5}">
                      <a16:colId xmlns:a16="http://schemas.microsoft.com/office/drawing/2014/main" val="20001"/>
                    </a:ext>
                  </a:extLst>
                </a:gridCol>
              </a:tblGrid>
              <a:tr h="370840">
                <a:tc>
                  <a:txBody>
                    <a:bodyPr/>
                    <a:lstStyle/>
                    <a:p>
                      <a:pPr algn="ctr"/>
                      <a:r>
                        <a:rPr lang="zh-CN" altLang="en-US" sz="1800" dirty="0"/>
                        <a:t>附加格式说明符</a:t>
                      </a:r>
                    </a:p>
                  </a:txBody>
                  <a:tcPr/>
                </a:tc>
                <a:tc>
                  <a:txBody>
                    <a:bodyPr/>
                    <a:lstStyle/>
                    <a:p>
                      <a:pPr algn="ctr"/>
                      <a:r>
                        <a:rPr lang="zh-CN" altLang="en-US" sz="1800" dirty="0"/>
                        <a:t>含义</a:t>
                      </a:r>
                    </a:p>
                  </a:txBody>
                  <a:tcPr/>
                </a:tc>
                <a:extLst>
                  <a:ext uri="{0D108BD9-81ED-4DB2-BD59-A6C34878D82A}">
                    <a16:rowId xmlns:a16="http://schemas.microsoft.com/office/drawing/2014/main" val="10000"/>
                  </a:ext>
                </a:extLst>
              </a:tr>
              <a:tr h="370840">
                <a:tc>
                  <a:txBody>
                    <a:bodyPr/>
                    <a:lstStyle/>
                    <a:p>
                      <a:pPr algn="ctr"/>
                      <a:r>
                        <a:rPr lang="en-US" altLang="zh-CN" sz="1800" dirty="0">
                          <a:latin typeface="+mj-ea"/>
                          <a:ea typeface="+mj-ea"/>
                        </a:rPr>
                        <a:t>-</a:t>
                      </a:r>
                      <a:endParaRPr lang="zh-CN" altLang="en-US" sz="1800" dirty="0">
                        <a:latin typeface="+mj-ea"/>
                        <a:ea typeface="+mj-ea"/>
                      </a:endParaRPr>
                    </a:p>
                  </a:txBody>
                  <a:tcPr/>
                </a:tc>
                <a:tc>
                  <a:txBody>
                    <a:bodyPr/>
                    <a:lstStyle/>
                    <a:p>
                      <a:pPr algn="ctr"/>
                      <a:r>
                        <a:rPr lang="zh-CN" altLang="en-US" sz="1800" dirty="0">
                          <a:latin typeface="+mj-ea"/>
                          <a:ea typeface="+mj-ea"/>
                        </a:rPr>
                        <a:t>将待打印项左对齐，一般默认右对齐</a:t>
                      </a:r>
                    </a:p>
                  </a:txBody>
                  <a:tcPr/>
                </a:tc>
                <a:extLst>
                  <a:ext uri="{0D108BD9-81ED-4DB2-BD59-A6C34878D82A}">
                    <a16:rowId xmlns:a16="http://schemas.microsoft.com/office/drawing/2014/main" val="10001"/>
                  </a:ext>
                </a:extLst>
              </a:tr>
              <a:tr h="370840">
                <a:tc>
                  <a:txBody>
                    <a:bodyPr/>
                    <a:lstStyle/>
                    <a:p>
                      <a:pPr algn="ctr"/>
                      <a:r>
                        <a:rPr lang="en-US" altLang="zh-CN" sz="1800" dirty="0">
                          <a:latin typeface="+mj-ea"/>
                          <a:ea typeface="+mj-ea"/>
                        </a:rPr>
                        <a:t>+</a:t>
                      </a:r>
                      <a:endParaRPr lang="zh-CN" altLang="en-US" sz="1800" dirty="0">
                        <a:latin typeface="+mj-ea"/>
                        <a:ea typeface="+mj-ea"/>
                      </a:endParaRPr>
                    </a:p>
                  </a:txBody>
                  <a:tcPr/>
                </a:tc>
                <a:tc>
                  <a:txBody>
                    <a:bodyPr/>
                    <a:lstStyle/>
                    <a:p>
                      <a:pPr algn="ctr"/>
                      <a:r>
                        <a:rPr lang="zh-CN" altLang="en-US" sz="1800" dirty="0">
                          <a:latin typeface="+mj-ea"/>
                          <a:ea typeface="+mj-ea"/>
                        </a:rPr>
                        <a:t>有符号若为正，则在值前面显示加号；为负，则在值前面显示负号</a:t>
                      </a:r>
                    </a:p>
                  </a:txBody>
                  <a:tcPr/>
                </a:tc>
                <a:extLst>
                  <a:ext uri="{0D108BD9-81ED-4DB2-BD59-A6C34878D82A}">
                    <a16:rowId xmlns:a16="http://schemas.microsoft.com/office/drawing/2014/main" val="10002"/>
                  </a:ext>
                </a:extLst>
              </a:tr>
              <a:tr h="370840">
                <a:tc>
                  <a:txBody>
                    <a:bodyPr/>
                    <a:lstStyle/>
                    <a:p>
                      <a:pPr algn="ctr"/>
                      <a:r>
                        <a:rPr lang="en-US" altLang="zh-CN" sz="1800" dirty="0">
                          <a:latin typeface="+mj-ea"/>
                          <a:ea typeface="+mj-ea"/>
                        </a:rPr>
                        <a:t>m(m</a:t>
                      </a:r>
                      <a:r>
                        <a:rPr lang="zh-CN" altLang="en-US" sz="1800" dirty="0">
                          <a:latin typeface="+mj-ea"/>
                          <a:ea typeface="+mj-ea"/>
                        </a:rPr>
                        <a:t>为正整数）</a:t>
                      </a:r>
                      <a:endParaRPr lang="en-US" altLang="zh-CN" sz="1800" dirty="0">
                        <a:latin typeface="+mj-ea"/>
                        <a:ea typeface="+mj-ea"/>
                      </a:endParaRPr>
                    </a:p>
                  </a:txBody>
                  <a:tcPr marL="91439" marR="91439" marT="45735" marB="45735"/>
                </a:tc>
                <a:tc>
                  <a:txBody>
                    <a:bodyPr/>
                    <a:lstStyle/>
                    <a:p>
                      <a:pPr algn="l"/>
                      <a:r>
                        <a:rPr lang="zh-CN" altLang="en-US" sz="1800" dirty="0">
                          <a:latin typeface="+mj-ea"/>
                          <a:ea typeface="+mj-ea"/>
                        </a:rPr>
                        <a:t>数据输出宽度为</a:t>
                      </a:r>
                      <a:r>
                        <a:rPr lang="en-US" altLang="zh-CN" sz="1800" dirty="0">
                          <a:latin typeface="+mj-ea"/>
                          <a:ea typeface="+mj-ea"/>
                        </a:rPr>
                        <a:t>m</a:t>
                      </a:r>
                      <a:r>
                        <a:rPr lang="zh-CN" altLang="en-US" sz="1800" dirty="0">
                          <a:latin typeface="+mj-ea"/>
                          <a:ea typeface="+mj-ea"/>
                        </a:rPr>
                        <a:t>，若</a:t>
                      </a:r>
                      <a:r>
                        <a:rPr lang="en-US" altLang="zh-CN" sz="1800" dirty="0">
                          <a:latin typeface="+mj-ea"/>
                          <a:ea typeface="+mj-ea"/>
                        </a:rPr>
                        <a:t>m</a:t>
                      </a:r>
                      <a:r>
                        <a:rPr lang="zh-CN" altLang="en-US" sz="1800" dirty="0">
                          <a:latin typeface="+mj-ea"/>
                          <a:ea typeface="+mj-ea"/>
                        </a:rPr>
                        <a:t>前有</a:t>
                      </a:r>
                      <a:r>
                        <a:rPr lang="en-US" altLang="zh-CN" sz="1800" dirty="0">
                          <a:latin typeface="+mj-ea"/>
                          <a:ea typeface="+mj-ea"/>
                        </a:rPr>
                        <a:t>0</a:t>
                      </a:r>
                      <a:r>
                        <a:rPr lang="zh-CN" altLang="en-US" sz="1800" dirty="0">
                          <a:latin typeface="+mj-ea"/>
                          <a:ea typeface="+mj-ea"/>
                        </a:rPr>
                        <a:t>，则补</a:t>
                      </a:r>
                      <a:r>
                        <a:rPr lang="en-US" altLang="zh-CN" sz="1800" dirty="0">
                          <a:latin typeface="+mj-ea"/>
                          <a:ea typeface="+mj-ea"/>
                        </a:rPr>
                        <a:t>0</a:t>
                      </a:r>
                      <a:r>
                        <a:rPr lang="zh-CN" altLang="en-US" sz="1800" dirty="0">
                          <a:latin typeface="+mj-ea"/>
                          <a:ea typeface="+mj-ea"/>
                        </a:rPr>
                        <a:t>填充</a:t>
                      </a:r>
                    </a:p>
                  </a:txBody>
                  <a:tcPr marL="91439" marR="91439" marT="45735" marB="45735"/>
                </a:tc>
                <a:extLst>
                  <a:ext uri="{0D108BD9-81ED-4DB2-BD59-A6C34878D82A}">
                    <a16:rowId xmlns:a16="http://schemas.microsoft.com/office/drawing/2014/main" val="10003"/>
                  </a:ext>
                </a:extLst>
              </a:tr>
              <a:tr h="370840">
                <a:tc>
                  <a:txBody>
                    <a:bodyPr/>
                    <a:lstStyle/>
                    <a:p>
                      <a:pPr algn="ctr"/>
                      <a:r>
                        <a:rPr lang="en-US" altLang="zh-CN" sz="1800" dirty="0">
                          <a:latin typeface="+mj-ea"/>
                          <a:ea typeface="+mj-ea"/>
                        </a:rPr>
                        <a:t>.n</a:t>
                      </a:r>
                      <a:r>
                        <a:rPr lang="zh-CN" altLang="en-US" sz="1800" dirty="0">
                          <a:latin typeface="+mj-ea"/>
                          <a:ea typeface="+mj-ea"/>
                        </a:rPr>
                        <a:t>（</a:t>
                      </a:r>
                      <a:r>
                        <a:rPr lang="en-US" altLang="zh-CN" sz="1800" dirty="0">
                          <a:latin typeface="+mj-ea"/>
                          <a:ea typeface="+mj-ea"/>
                        </a:rPr>
                        <a:t>n</a:t>
                      </a:r>
                      <a:r>
                        <a:rPr lang="zh-CN" altLang="en-US" sz="1800" dirty="0">
                          <a:latin typeface="+mj-ea"/>
                          <a:ea typeface="+mj-ea"/>
                        </a:rPr>
                        <a:t>为正整数）</a:t>
                      </a:r>
                      <a:endParaRPr lang="en-US" altLang="zh-CN" sz="1800" dirty="0">
                        <a:latin typeface="+mj-ea"/>
                        <a:ea typeface="+mj-ea"/>
                      </a:endParaRPr>
                    </a:p>
                  </a:txBody>
                  <a:tcPr marL="91439" marR="91439" marT="45735" marB="45735"/>
                </a:tc>
                <a:tc>
                  <a:txBody>
                    <a:bodyPr/>
                    <a:lstStyle/>
                    <a:p>
                      <a:pPr algn="l"/>
                      <a:r>
                        <a:rPr lang="zh-CN" altLang="en-US" sz="1800" dirty="0">
                          <a:latin typeface="+mj-ea"/>
                          <a:ea typeface="+mj-ea"/>
                        </a:rPr>
                        <a:t>对实数，</a:t>
                      </a:r>
                      <a:r>
                        <a:rPr lang="en-US" altLang="zh-CN" sz="1800" dirty="0">
                          <a:latin typeface="+mj-ea"/>
                          <a:ea typeface="+mj-ea"/>
                        </a:rPr>
                        <a:t>n</a:t>
                      </a:r>
                      <a:r>
                        <a:rPr lang="zh-CN" altLang="en-US" sz="1800" dirty="0">
                          <a:latin typeface="+mj-ea"/>
                          <a:ea typeface="+mj-ea"/>
                        </a:rPr>
                        <a:t>是输出的小数位数，对字符串，</a:t>
                      </a:r>
                      <a:r>
                        <a:rPr lang="en-US" altLang="zh-CN" sz="1800" baseline="0" dirty="0">
                          <a:latin typeface="+mj-ea"/>
                          <a:ea typeface="+mj-ea"/>
                        </a:rPr>
                        <a:t>n</a:t>
                      </a:r>
                      <a:r>
                        <a:rPr lang="zh-CN" altLang="en-US" sz="1800" baseline="0" dirty="0">
                          <a:latin typeface="+mj-ea"/>
                          <a:ea typeface="+mj-ea"/>
                        </a:rPr>
                        <a:t>表示输出前</a:t>
                      </a:r>
                      <a:r>
                        <a:rPr lang="en-US" altLang="zh-CN" sz="1800" baseline="0" dirty="0">
                          <a:latin typeface="+mj-ea"/>
                          <a:ea typeface="+mj-ea"/>
                        </a:rPr>
                        <a:t>n</a:t>
                      </a:r>
                      <a:r>
                        <a:rPr lang="zh-CN" altLang="en-US" sz="1800" baseline="0" dirty="0">
                          <a:latin typeface="+mj-ea"/>
                          <a:ea typeface="+mj-ea"/>
                        </a:rPr>
                        <a:t>个字符</a:t>
                      </a:r>
                      <a:endParaRPr lang="zh-CN" altLang="en-US" sz="1800" dirty="0">
                        <a:latin typeface="+mj-ea"/>
                        <a:ea typeface="+mj-ea"/>
                      </a:endParaRPr>
                    </a:p>
                  </a:txBody>
                  <a:tcPr marL="91439" marR="91439" marT="45735" marB="45735"/>
                </a:tc>
                <a:extLst>
                  <a:ext uri="{0D108BD9-81ED-4DB2-BD59-A6C34878D82A}">
                    <a16:rowId xmlns:a16="http://schemas.microsoft.com/office/drawing/2014/main" val="10004"/>
                  </a:ext>
                </a:extLst>
              </a:tr>
            </a:tbl>
          </a:graphicData>
        </a:graphic>
      </p:graphicFrame>
      <p:pic>
        <p:nvPicPr>
          <p:cNvPr id="7" name="图片 6"/>
          <p:cNvPicPr>
            <a:picLocks noChangeAspect="1"/>
          </p:cNvPicPr>
          <p:nvPr/>
        </p:nvPicPr>
        <p:blipFill>
          <a:blip r:embed="rId8"/>
          <a:stretch>
            <a:fillRect/>
          </a:stretch>
        </p:blipFill>
        <p:spPr>
          <a:xfrm>
            <a:off x="1837433" y="3766597"/>
            <a:ext cx="4992857" cy="3091400"/>
          </a:xfrm>
          <a:prstGeom prst="rect">
            <a:avLst/>
          </a:prstGeom>
        </p:spPr>
      </p:pic>
      <p:pic>
        <p:nvPicPr>
          <p:cNvPr id="9" name="图片 8"/>
          <p:cNvPicPr>
            <a:picLocks noChangeAspect="1"/>
          </p:cNvPicPr>
          <p:nvPr/>
        </p:nvPicPr>
        <p:blipFill>
          <a:blip r:embed="rId9"/>
          <a:stretch>
            <a:fillRect/>
          </a:stretch>
        </p:blipFill>
        <p:spPr>
          <a:xfrm>
            <a:off x="6679460" y="3925807"/>
            <a:ext cx="3099614" cy="21376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48823" y="229620"/>
            <a:ext cx="8137525" cy="677863"/>
          </a:xfrm>
        </p:spPr>
        <p:txBody>
          <a:bodyPr/>
          <a:lstStyle/>
          <a:p>
            <a:pPr algn="l"/>
            <a:r>
              <a:rPr lang="zh-CN" altLang="en-US" sz="2800" dirty="0"/>
              <a:t>格式化输出</a:t>
            </a:r>
            <a:r>
              <a:rPr lang="en-US" altLang="zh-CN" sz="2800" dirty="0"/>
              <a:t>——</a:t>
            </a:r>
            <a:r>
              <a:rPr lang="zh-CN" altLang="en-US" sz="2800" dirty="0"/>
              <a:t>转义序列</a:t>
            </a:r>
          </a:p>
        </p:txBody>
      </p:sp>
      <p:graphicFrame>
        <p:nvGraphicFramePr>
          <p:cNvPr id="3" name="表格 6"/>
          <p:cNvGraphicFramePr>
            <a:graphicFrameLocks noGrp="1"/>
          </p:cNvGraphicFramePr>
          <p:nvPr/>
        </p:nvGraphicFramePr>
        <p:xfrm>
          <a:off x="2223531" y="2798128"/>
          <a:ext cx="3547496" cy="2072640"/>
        </p:xfrm>
        <a:graphic>
          <a:graphicData uri="http://schemas.openxmlformats.org/drawingml/2006/table">
            <a:tbl>
              <a:tblPr firstRow="1" bandRow="1">
                <a:tableStyleId>{5C22544A-7EE6-4342-B048-85BDC9FD1C3A}</a:tableStyleId>
              </a:tblPr>
              <a:tblGrid>
                <a:gridCol w="1773748">
                  <a:extLst>
                    <a:ext uri="{9D8B030D-6E8A-4147-A177-3AD203B41FA5}">
                      <a16:colId xmlns:a16="http://schemas.microsoft.com/office/drawing/2014/main" val="20000"/>
                    </a:ext>
                  </a:extLst>
                </a:gridCol>
                <a:gridCol w="1773748">
                  <a:extLst>
                    <a:ext uri="{9D8B030D-6E8A-4147-A177-3AD203B41FA5}">
                      <a16:colId xmlns:a16="http://schemas.microsoft.com/office/drawing/2014/main" val="20001"/>
                    </a:ext>
                  </a:extLst>
                </a:gridCol>
              </a:tblGrid>
              <a:tr h="262872">
                <a:tc>
                  <a:txBody>
                    <a:bodyPr/>
                    <a:lstStyle/>
                    <a:p>
                      <a:pPr algn="ctr"/>
                      <a:r>
                        <a:rPr lang="zh-CN" altLang="en-US" sz="2800" dirty="0"/>
                        <a:t>转义序列</a:t>
                      </a:r>
                    </a:p>
                  </a:txBody>
                  <a:tcPr/>
                </a:tc>
                <a:tc>
                  <a:txBody>
                    <a:bodyPr/>
                    <a:lstStyle/>
                    <a:p>
                      <a:pPr algn="ctr"/>
                      <a:r>
                        <a:rPr lang="zh-CN" altLang="en-US" sz="2800" dirty="0"/>
                        <a:t>含义</a:t>
                      </a:r>
                    </a:p>
                  </a:txBody>
                  <a:tcPr/>
                </a:tc>
                <a:extLst>
                  <a:ext uri="{0D108BD9-81ED-4DB2-BD59-A6C34878D82A}">
                    <a16:rowId xmlns:a16="http://schemas.microsoft.com/office/drawing/2014/main" val="10000"/>
                  </a:ext>
                </a:extLst>
              </a:tr>
              <a:tr h="262872">
                <a:tc>
                  <a:txBody>
                    <a:bodyPr/>
                    <a:lstStyle/>
                    <a:p>
                      <a:pPr algn="ctr"/>
                      <a:r>
                        <a:rPr lang="en-US" altLang="zh-CN" sz="2800" dirty="0"/>
                        <a:t>\\</a:t>
                      </a:r>
                      <a:endParaRPr lang="zh-CN" altLang="en-US" sz="2800" dirty="0"/>
                    </a:p>
                  </a:txBody>
                  <a:tcPr/>
                </a:tc>
                <a:tc>
                  <a:txBody>
                    <a:bodyPr/>
                    <a:lstStyle/>
                    <a:p>
                      <a:pPr algn="ctr"/>
                      <a:r>
                        <a:rPr lang="zh-CN" altLang="en-US" sz="2800" dirty="0"/>
                        <a:t>反斜杠</a:t>
                      </a:r>
                    </a:p>
                  </a:txBody>
                  <a:tcPr/>
                </a:tc>
                <a:extLst>
                  <a:ext uri="{0D108BD9-81ED-4DB2-BD59-A6C34878D82A}">
                    <a16:rowId xmlns:a16="http://schemas.microsoft.com/office/drawing/2014/main" val="10001"/>
                  </a:ext>
                </a:extLst>
              </a:tr>
              <a:tr h="262872">
                <a:tc>
                  <a:txBody>
                    <a:bodyPr/>
                    <a:lstStyle/>
                    <a:p>
                      <a:pPr algn="ctr"/>
                      <a:r>
                        <a:rPr lang="en-US" altLang="zh-CN" sz="2800" dirty="0"/>
                        <a:t>\’</a:t>
                      </a:r>
                    </a:p>
                  </a:txBody>
                  <a:tcPr/>
                </a:tc>
                <a:tc>
                  <a:txBody>
                    <a:bodyPr/>
                    <a:lstStyle/>
                    <a:p>
                      <a:pPr algn="ctr"/>
                      <a:r>
                        <a:rPr lang="zh-CN" altLang="en-US" sz="2800" dirty="0"/>
                        <a:t>单引号</a:t>
                      </a:r>
                    </a:p>
                  </a:txBody>
                  <a:tcPr/>
                </a:tc>
                <a:extLst>
                  <a:ext uri="{0D108BD9-81ED-4DB2-BD59-A6C34878D82A}">
                    <a16:rowId xmlns:a16="http://schemas.microsoft.com/office/drawing/2014/main" val="10002"/>
                  </a:ext>
                </a:extLst>
              </a:tr>
              <a:tr h="262872">
                <a:tc>
                  <a:txBody>
                    <a:bodyPr/>
                    <a:lstStyle/>
                    <a:p>
                      <a:pPr algn="ctr"/>
                      <a:r>
                        <a:rPr lang="en-US" altLang="zh-CN" sz="2800" dirty="0"/>
                        <a:t>\”</a:t>
                      </a:r>
                      <a:endParaRPr lang="zh-CN" altLang="en-US" sz="2800" dirty="0"/>
                    </a:p>
                  </a:txBody>
                  <a:tcPr/>
                </a:tc>
                <a:tc>
                  <a:txBody>
                    <a:bodyPr/>
                    <a:lstStyle/>
                    <a:p>
                      <a:pPr algn="ctr"/>
                      <a:r>
                        <a:rPr lang="zh-CN" altLang="en-US" sz="2800" dirty="0"/>
                        <a:t>双引号</a:t>
                      </a:r>
                    </a:p>
                  </a:txBody>
                  <a:tcPr/>
                </a:tc>
                <a:extLst>
                  <a:ext uri="{0D108BD9-81ED-4DB2-BD59-A6C34878D82A}">
                    <a16:rowId xmlns:a16="http://schemas.microsoft.com/office/drawing/2014/main" val="10003"/>
                  </a:ext>
                </a:extLst>
              </a:tr>
            </a:tbl>
          </a:graphicData>
        </a:graphic>
      </p:graphicFrame>
      <p:sp>
        <p:nvSpPr>
          <p:cNvPr id="5" name="文本框 4"/>
          <p:cNvSpPr txBox="1"/>
          <p:nvPr/>
        </p:nvSpPr>
        <p:spPr>
          <a:xfrm>
            <a:off x="4435169" y="816286"/>
            <a:ext cx="5729196" cy="829945"/>
          </a:xfrm>
          <a:prstGeom prst="rect">
            <a:avLst/>
          </a:prstGeom>
          <a:noFill/>
        </p:spPr>
        <p:txBody>
          <a:bodyPr wrap="square" rtlCol="0">
            <a:spAutoFit/>
          </a:bodyPr>
          <a:lstStyle/>
          <a:p>
            <a:pPr algn="ctr"/>
            <a:r>
              <a:rPr lang="zh-CN" altLang="en-US" sz="2400" dirty="0">
                <a:solidFill>
                  <a:prstClr val="black"/>
                </a:solidFill>
                <a:latin typeface="Microsoft YaHei UI"/>
                <a:ea typeface="微软雅黑"/>
              </a:rPr>
              <a:t>如果想输出   </a:t>
            </a:r>
            <a:r>
              <a:rPr lang="en-US" altLang="zh-CN" sz="2400" dirty="0">
                <a:solidFill>
                  <a:prstClr val="black"/>
                </a:solidFill>
                <a:latin typeface="Microsoft YaHei UI"/>
                <a:ea typeface="微软雅黑"/>
              </a:rPr>
              <a:t>{</a:t>
            </a:r>
            <a:r>
              <a:rPr lang="zh-CN" altLang="en-US" sz="2400" dirty="0">
                <a:solidFill>
                  <a:prstClr val="black"/>
                </a:solidFill>
                <a:latin typeface="Microsoft YaHei UI"/>
                <a:ea typeface="微软雅黑"/>
              </a:rPr>
              <a:t>相约</a:t>
            </a:r>
            <a:r>
              <a:rPr lang="en-US" altLang="zh-CN" sz="2400" dirty="0">
                <a:solidFill>
                  <a:prstClr val="black"/>
                </a:solidFill>
                <a:latin typeface="Microsoft YaHei UI"/>
                <a:ea typeface="微软雅黑"/>
              </a:rPr>
              <a:t>“</a:t>
            </a:r>
            <a:r>
              <a:rPr lang="zh-CN" altLang="en-US" sz="2400" dirty="0">
                <a:solidFill>
                  <a:prstClr val="black"/>
                </a:solidFill>
                <a:latin typeface="Microsoft YaHei UI"/>
                <a:ea typeface="微软雅黑"/>
              </a:rPr>
              <a:t>理教</a:t>
            </a:r>
            <a:r>
              <a:rPr lang="en-US" altLang="zh-CN" sz="2400" dirty="0">
                <a:solidFill>
                  <a:prstClr val="black"/>
                </a:solidFill>
                <a:latin typeface="Microsoft YaHei UI"/>
                <a:ea typeface="微软雅黑"/>
              </a:rPr>
              <a:t>301”}</a:t>
            </a:r>
          </a:p>
          <a:p>
            <a:pPr algn="ctr"/>
            <a:r>
              <a:rPr lang="zh-CN" altLang="en-US" sz="2400" dirty="0">
                <a:solidFill>
                  <a:prstClr val="black"/>
                </a:solidFill>
                <a:latin typeface="Microsoft YaHei UI"/>
                <a:ea typeface="微软雅黑"/>
              </a:rPr>
              <a:t>该怎么办呢？</a:t>
            </a:r>
            <a:r>
              <a:rPr lang="en-US" altLang="zh-CN" sz="2400" dirty="0">
                <a:solidFill>
                  <a:prstClr val="black"/>
                </a:solidFill>
                <a:latin typeface="Microsoft YaHei UI"/>
                <a:ea typeface="微软雅黑"/>
              </a:rPr>
              <a:t>(</a:t>
            </a:r>
            <a:r>
              <a:rPr lang="zh-CN" altLang="en-US" sz="2400" dirty="0">
                <a:solidFill>
                  <a:prstClr val="black"/>
                </a:solidFill>
                <a:latin typeface="Microsoft YaHei UI"/>
                <a:ea typeface="微软雅黑"/>
              </a:rPr>
              <a:t>采用半角字符</a:t>
            </a:r>
            <a:r>
              <a:rPr lang="en-US" altLang="zh-CN" sz="2400" dirty="0">
                <a:solidFill>
                  <a:prstClr val="black"/>
                </a:solidFill>
                <a:latin typeface="Microsoft YaHei UI"/>
                <a:ea typeface="微软雅黑"/>
              </a:rPr>
              <a:t>)</a:t>
            </a:r>
            <a:endParaRPr lang="zh-CN" altLang="en-US" sz="2400" dirty="0">
              <a:solidFill>
                <a:prstClr val="black"/>
              </a:solidFill>
              <a:latin typeface="Microsoft YaHei UI"/>
              <a:ea typeface="微软雅黑"/>
            </a:endParaRPr>
          </a:p>
        </p:txBody>
      </p:sp>
      <p:pic>
        <p:nvPicPr>
          <p:cNvPr id="6" name="图片 5"/>
          <p:cNvPicPr>
            <a:picLocks noChangeAspect="1"/>
          </p:cNvPicPr>
          <p:nvPr/>
        </p:nvPicPr>
        <p:blipFill>
          <a:blip r:embed="rId2"/>
          <a:stretch>
            <a:fillRect/>
          </a:stretch>
        </p:blipFill>
        <p:spPr>
          <a:xfrm>
            <a:off x="3763160" y="720514"/>
            <a:ext cx="857250" cy="523875"/>
          </a:xfrm>
          <a:prstGeom prst="rect">
            <a:avLst/>
          </a:prstGeom>
        </p:spPr>
      </p:pic>
      <p:pic>
        <p:nvPicPr>
          <p:cNvPr id="12" name="图片 11"/>
          <p:cNvPicPr>
            <a:picLocks noChangeAspect="1"/>
          </p:cNvPicPr>
          <p:nvPr/>
        </p:nvPicPr>
        <p:blipFill>
          <a:blip r:embed="rId3"/>
          <a:stretch>
            <a:fillRect/>
          </a:stretch>
        </p:blipFill>
        <p:spPr>
          <a:xfrm>
            <a:off x="6117473" y="1749100"/>
            <a:ext cx="3728952" cy="1674408"/>
          </a:xfrm>
          <a:prstGeom prst="rect">
            <a:avLst/>
          </a:prstGeom>
        </p:spPr>
      </p:pic>
      <p:pic>
        <p:nvPicPr>
          <p:cNvPr id="16" name="图片 15"/>
          <p:cNvPicPr>
            <a:picLocks noChangeAspect="1"/>
          </p:cNvPicPr>
          <p:nvPr/>
        </p:nvPicPr>
        <p:blipFill>
          <a:blip r:embed="rId4"/>
          <a:stretch>
            <a:fillRect/>
          </a:stretch>
        </p:blipFill>
        <p:spPr>
          <a:xfrm>
            <a:off x="6542871" y="3106268"/>
            <a:ext cx="2343477" cy="1381318"/>
          </a:xfrm>
          <a:prstGeom prst="rect">
            <a:avLst/>
          </a:prstGeom>
        </p:spPr>
      </p:pic>
      <p:pic>
        <p:nvPicPr>
          <p:cNvPr id="20" name="图片 19"/>
          <p:cNvPicPr>
            <a:picLocks noChangeAspect="1"/>
          </p:cNvPicPr>
          <p:nvPr/>
        </p:nvPicPr>
        <p:blipFill>
          <a:blip r:embed="rId5"/>
          <a:stretch>
            <a:fillRect/>
          </a:stretch>
        </p:blipFill>
        <p:spPr>
          <a:xfrm>
            <a:off x="5958807" y="4749658"/>
            <a:ext cx="4472841" cy="1483281"/>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38175" y="244475"/>
            <a:ext cx="8139113" cy="679450"/>
          </a:xfrm>
        </p:spPr>
        <p:txBody>
          <a:bodyPr/>
          <a:lstStyle/>
          <a:p>
            <a:pPr algn="l"/>
            <a:r>
              <a:rPr lang="zh-CN" altLang="en-US" sz="2800" dirty="0"/>
              <a:t>格式化输出</a:t>
            </a:r>
            <a:r>
              <a:rPr lang="en-US" altLang="zh-CN" sz="2800" dirty="0"/>
              <a:t>——</a:t>
            </a:r>
            <a:r>
              <a:rPr lang="zh-CN" altLang="en-US" sz="2800" dirty="0"/>
              <a:t>转义序列</a:t>
            </a:r>
          </a:p>
        </p:txBody>
      </p:sp>
      <p:graphicFrame>
        <p:nvGraphicFramePr>
          <p:cNvPr id="3" name="表格 6"/>
          <p:cNvGraphicFramePr>
            <a:graphicFrameLocks noGrp="1"/>
          </p:cNvGraphicFramePr>
          <p:nvPr/>
        </p:nvGraphicFramePr>
        <p:xfrm>
          <a:off x="3798469" y="1171214"/>
          <a:ext cx="4593870" cy="4572000"/>
        </p:xfrm>
        <a:graphic>
          <a:graphicData uri="http://schemas.openxmlformats.org/drawingml/2006/table">
            <a:tbl>
              <a:tblPr firstRow="1" bandRow="1">
                <a:tableStyleId>{5C22544A-7EE6-4342-B048-85BDC9FD1C3A}</a:tableStyleId>
              </a:tblPr>
              <a:tblGrid>
                <a:gridCol w="2296935">
                  <a:extLst>
                    <a:ext uri="{9D8B030D-6E8A-4147-A177-3AD203B41FA5}">
                      <a16:colId xmlns:a16="http://schemas.microsoft.com/office/drawing/2014/main" val="20000"/>
                    </a:ext>
                  </a:extLst>
                </a:gridCol>
                <a:gridCol w="2296935">
                  <a:extLst>
                    <a:ext uri="{9D8B030D-6E8A-4147-A177-3AD203B41FA5}">
                      <a16:colId xmlns:a16="http://schemas.microsoft.com/office/drawing/2014/main" val="20001"/>
                    </a:ext>
                  </a:extLst>
                </a:gridCol>
              </a:tblGrid>
              <a:tr h="118696">
                <a:tc>
                  <a:txBody>
                    <a:bodyPr/>
                    <a:lstStyle/>
                    <a:p>
                      <a:pPr algn="ctr"/>
                      <a:r>
                        <a:rPr lang="zh-CN" altLang="en-US" sz="2400" dirty="0"/>
                        <a:t>转义序列</a:t>
                      </a:r>
                    </a:p>
                  </a:txBody>
                  <a:tcPr/>
                </a:tc>
                <a:tc>
                  <a:txBody>
                    <a:bodyPr/>
                    <a:lstStyle/>
                    <a:p>
                      <a:pPr algn="ctr"/>
                      <a:r>
                        <a:rPr lang="zh-CN" altLang="en-US" sz="2400" dirty="0"/>
                        <a:t>含义</a:t>
                      </a:r>
                    </a:p>
                  </a:txBody>
                  <a:tcPr/>
                </a:tc>
                <a:extLst>
                  <a:ext uri="{0D108BD9-81ED-4DB2-BD59-A6C34878D82A}">
                    <a16:rowId xmlns:a16="http://schemas.microsoft.com/office/drawing/2014/main" val="10000"/>
                  </a:ext>
                </a:extLst>
              </a:tr>
              <a:tr h="118696">
                <a:tc>
                  <a:txBody>
                    <a:bodyPr/>
                    <a:lstStyle/>
                    <a:p>
                      <a:pPr algn="ctr"/>
                      <a:r>
                        <a:rPr lang="en-US" altLang="zh-CN" sz="2400" dirty="0"/>
                        <a:t>\n</a:t>
                      </a:r>
                      <a:endParaRPr lang="zh-CN" altLang="en-US" sz="2400" dirty="0"/>
                    </a:p>
                  </a:txBody>
                  <a:tcPr/>
                </a:tc>
                <a:tc>
                  <a:txBody>
                    <a:bodyPr/>
                    <a:lstStyle/>
                    <a:p>
                      <a:pPr algn="ctr"/>
                      <a:r>
                        <a:rPr lang="zh-CN" altLang="en-US" sz="2400" dirty="0"/>
                        <a:t>换行</a:t>
                      </a:r>
                    </a:p>
                  </a:txBody>
                  <a:tcPr/>
                </a:tc>
                <a:extLst>
                  <a:ext uri="{0D108BD9-81ED-4DB2-BD59-A6C34878D82A}">
                    <a16:rowId xmlns:a16="http://schemas.microsoft.com/office/drawing/2014/main" val="10001"/>
                  </a:ext>
                </a:extLst>
              </a:tr>
              <a:tr h="354688">
                <a:tc>
                  <a:txBody>
                    <a:bodyPr/>
                    <a:lstStyle/>
                    <a:p>
                      <a:pPr algn="ctr"/>
                      <a:r>
                        <a:rPr lang="en-US" altLang="zh-CN" sz="2400" dirty="0"/>
                        <a:t>\a</a:t>
                      </a:r>
                      <a:endParaRPr lang="zh-CN" altLang="en-US" sz="2400" dirty="0"/>
                    </a:p>
                  </a:txBody>
                  <a:tcPr/>
                </a:tc>
                <a:tc>
                  <a:txBody>
                    <a:bodyPr/>
                    <a:lstStyle/>
                    <a:p>
                      <a:pPr algn="ctr"/>
                      <a:r>
                        <a:rPr lang="zh-CN" altLang="en-US" sz="2400" dirty="0"/>
                        <a:t>警报（</a:t>
                      </a:r>
                      <a:r>
                        <a:rPr lang="en-US" altLang="zh-CN" sz="2400" dirty="0"/>
                        <a:t>ANSI C</a:t>
                      </a:r>
                      <a:r>
                        <a:rPr lang="zh-CN" altLang="en-US" sz="2400" dirty="0"/>
                        <a:t>）</a:t>
                      </a:r>
                    </a:p>
                  </a:txBody>
                  <a:tcPr/>
                </a:tc>
                <a:extLst>
                  <a:ext uri="{0D108BD9-81ED-4DB2-BD59-A6C34878D82A}">
                    <a16:rowId xmlns:a16="http://schemas.microsoft.com/office/drawing/2014/main" val="10002"/>
                  </a:ext>
                </a:extLst>
              </a:tr>
              <a:tr h="354688">
                <a:tc>
                  <a:txBody>
                    <a:bodyPr/>
                    <a:lstStyle/>
                    <a:p>
                      <a:pPr algn="ctr"/>
                      <a:r>
                        <a:rPr lang="en-US" altLang="zh-CN" sz="2400" dirty="0"/>
                        <a:t>\b</a:t>
                      </a:r>
                      <a:endParaRPr lang="zh-CN" altLang="en-US" sz="2400" dirty="0"/>
                    </a:p>
                  </a:txBody>
                  <a:tcPr/>
                </a:tc>
                <a:tc>
                  <a:txBody>
                    <a:bodyPr/>
                    <a:lstStyle/>
                    <a:p>
                      <a:pPr algn="ctr"/>
                      <a:r>
                        <a:rPr lang="zh-CN" altLang="en-US" sz="2400" dirty="0"/>
                        <a:t>退格</a:t>
                      </a:r>
                    </a:p>
                  </a:txBody>
                  <a:tcPr/>
                </a:tc>
                <a:extLst>
                  <a:ext uri="{0D108BD9-81ED-4DB2-BD59-A6C34878D82A}">
                    <a16:rowId xmlns:a16="http://schemas.microsoft.com/office/drawing/2014/main" val="10003"/>
                  </a:ext>
                </a:extLst>
              </a:tr>
              <a:tr h="354688">
                <a:tc>
                  <a:txBody>
                    <a:bodyPr/>
                    <a:lstStyle/>
                    <a:p>
                      <a:pPr algn="ctr"/>
                      <a:r>
                        <a:rPr lang="en-US" altLang="zh-CN" sz="2400" dirty="0"/>
                        <a:t>\f</a:t>
                      </a:r>
                      <a:endParaRPr lang="zh-CN" altLang="en-US" sz="2400" dirty="0"/>
                    </a:p>
                  </a:txBody>
                  <a:tcPr/>
                </a:tc>
                <a:tc>
                  <a:txBody>
                    <a:bodyPr/>
                    <a:lstStyle/>
                    <a:p>
                      <a:pPr algn="ctr"/>
                      <a:r>
                        <a:rPr lang="zh-CN" altLang="en-US" sz="2400" dirty="0"/>
                        <a:t>换页</a:t>
                      </a:r>
                    </a:p>
                  </a:txBody>
                  <a:tcPr/>
                </a:tc>
                <a:extLst>
                  <a:ext uri="{0D108BD9-81ED-4DB2-BD59-A6C34878D82A}">
                    <a16:rowId xmlns:a16="http://schemas.microsoft.com/office/drawing/2014/main" val="10004"/>
                  </a:ext>
                </a:extLst>
              </a:tr>
              <a:tr h="354688">
                <a:tc>
                  <a:txBody>
                    <a:bodyPr/>
                    <a:lstStyle/>
                    <a:p>
                      <a:pPr algn="ctr"/>
                      <a:r>
                        <a:rPr lang="en-US" altLang="zh-CN" sz="2400" dirty="0"/>
                        <a:t>\r</a:t>
                      </a:r>
                      <a:endParaRPr lang="zh-CN" altLang="en-US" sz="2400" dirty="0"/>
                    </a:p>
                  </a:txBody>
                  <a:tcPr/>
                </a:tc>
                <a:tc>
                  <a:txBody>
                    <a:bodyPr/>
                    <a:lstStyle/>
                    <a:p>
                      <a:pPr algn="ctr"/>
                      <a:r>
                        <a:rPr lang="zh-CN" altLang="en-US" sz="2400" dirty="0"/>
                        <a:t>回车</a:t>
                      </a:r>
                    </a:p>
                  </a:txBody>
                  <a:tcPr/>
                </a:tc>
                <a:extLst>
                  <a:ext uri="{0D108BD9-81ED-4DB2-BD59-A6C34878D82A}">
                    <a16:rowId xmlns:a16="http://schemas.microsoft.com/office/drawing/2014/main" val="10005"/>
                  </a:ext>
                </a:extLst>
              </a:tr>
              <a:tr h="354688">
                <a:tc>
                  <a:txBody>
                    <a:bodyPr/>
                    <a:lstStyle/>
                    <a:p>
                      <a:pPr algn="ctr"/>
                      <a:r>
                        <a:rPr lang="en-US" altLang="zh-CN" sz="2400" dirty="0"/>
                        <a:t>\t</a:t>
                      </a:r>
                      <a:endParaRPr lang="zh-CN" altLang="en-US" sz="2400" dirty="0"/>
                    </a:p>
                  </a:txBody>
                  <a:tcPr/>
                </a:tc>
                <a:tc>
                  <a:txBody>
                    <a:bodyPr/>
                    <a:lstStyle/>
                    <a:p>
                      <a:pPr algn="ctr"/>
                      <a:r>
                        <a:rPr lang="zh-CN" altLang="en-US" sz="2400" dirty="0"/>
                        <a:t>水平制表符</a:t>
                      </a:r>
                    </a:p>
                  </a:txBody>
                  <a:tcPr/>
                </a:tc>
                <a:extLst>
                  <a:ext uri="{0D108BD9-81ED-4DB2-BD59-A6C34878D82A}">
                    <a16:rowId xmlns:a16="http://schemas.microsoft.com/office/drawing/2014/main" val="10006"/>
                  </a:ext>
                </a:extLst>
              </a:tr>
              <a:tr h="354688">
                <a:tc>
                  <a:txBody>
                    <a:bodyPr/>
                    <a:lstStyle/>
                    <a:p>
                      <a:pPr algn="ctr"/>
                      <a:r>
                        <a:rPr lang="en-US" altLang="zh-CN" sz="2400" dirty="0"/>
                        <a:t>\v</a:t>
                      </a:r>
                      <a:endParaRPr lang="zh-CN" altLang="en-US" sz="2400" dirty="0"/>
                    </a:p>
                  </a:txBody>
                  <a:tcPr/>
                </a:tc>
                <a:tc>
                  <a:txBody>
                    <a:bodyPr/>
                    <a:lstStyle/>
                    <a:p>
                      <a:pPr algn="ctr"/>
                      <a:r>
                        <a:rPr lang="zh-CN" altLang="en-US" sz="2400" dirty="0"/>
                        <a:t>垂直制表符</a:t>
                      </a:r>
                    </a:p>
                  </a:txBody>
                  <a:tcPr/>
                </a:tc>
                <a:extLst>
                  <a:ext uri="{0D108BD9-81ED-4DB2-BD59-A6C34878D82A}">
                    <a16:rowId xmlns:a16="http://schemas.microsoft.com/office/drawing/2014/main" val="10007"/>
                  </a:ext>
                </a:extLst>
              </a:tr>
              <a:tr h="354688">
                <a:tc>
                  <a:txBody>
                    <a:bodyPr/>
                    <a:lstStyle/>
                    <a:p>
                      <a:pPr algn="ctr"/>
                      <a:r>
                        <a:rPr lang="en-US" altLang="zh-CN" sz="2400" dirty="0"/>
                        <a:t>\0oo</a:t>
                      </a:r>
                      <a:endParaRPr lang="zh-CN" altLang="en-US" sz="2400" dirty="0"/>
                    </a:p>
                  </a:txBody>
                  <a:tcPr/>
                </a:tc>
                <a:tc>
                  <a:txBody>
                    <a:bodyPr/>
                    <a:lstStyle/>
                    <a:p>
                      <a:pPr algn="ctr"/>
                      <a:r>
                        <a:rPr lang="zh-CN" altLang="en-US" sz="2400" dirty="0"/>
                        <a:t>八进制值</a:t>
                      </a:r>
                    </a:p>
                  </a:txBody>
                  <a:tcPr/>
                </a:tc>
                <a:extLst>
                  <a:ext uri="{0D108BD9-81ED-4DB2-BD59-A6C34878D82A}">
                    <a16:rowId xmlns:a16="http://schemas.microsoft.com/office/drawing/2014/main" val="10008"/>
                  </a:ext>
                </a:extLst>
              </a:tr>
              <a:tr h="354688">
                <a:tc>
                  <a:txBody>
                    <a:bodyPr/>
                    <a:lstStyle/>
                    <a:p>
                      <a:pPr algn="ctr"/>
                      <a:r>
                        <a:rPr lang="en-US" altLang="zh-CN" sz="2400" dirty="0"/>
                        <a:t>\xhh</a:t>
                      </a:r>
                      <a:endParaRPr lang="zh-CN" altLang="en-US" sz="2400" dirty="0"/>
                    </a:p>
                  </a:txBody>
                  <a:tcPr/>
                </a:tc>
                <a:tc>
                  <a:txBody>
                    <a:bodyPr/>
                    <a:lstStyle/>
                    <a:p>
                      <a:pPr algn="ctr"/>
                      <a:r>
                        <a:rPr lang="zh-CN" altLang="en-US" sz="2400" dirty="0"/>
                        <a:t>十六进制值</a:t>
                      </a:r>
                    </a:p>
                  </a:txBody>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6E73F-3F4D-FBFE-3095-71C54255BD55}"/>
              </a:ext>
            </a:extLst>
          </p:cNvPr>
          <p:cNvSpPr txBox="1">
            <a:spLocks/>
          </p:cNvSpPr>
          <p:nvPr/>
        </p:nvSpPr>
        <p:spPr>
          <a:xfrm>
            <a:off x="2026285" y="225426"/>
            <a:ext cx="8138160" cy="678815"/>
          </a:xfrm>
        </p:spPr>
        <p:txBody>
          <a:bodyPr/>
          <a:lstStyle>
            <a:lvl1pPr algn="ctr" defTabSz="913130" rtl="0" fontAlgn="base">
              <a:spcBef>
                <a:spcPct val="0"/>
              </a:spcBef>
              <a:spcAft>
                <a:spcPct val="0"/>
              </a:spcAft>
              <a:defRPr sz="4400" kern="1200">
                <a:solidFill>
                  <a:schemeClr val="tx1"/>
                </a:solidFill>
                <a:latin typeface="+mj-lt"/>
                <a:ea typeface="+mj-ea"/>
                <a:cs typeface="+mj-cs"/>
              </a:defRPr>
            </a:lvl1pPr>
            <a:lvl2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2pPr>
            <a:lvl3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3pPr>
            <a:lvl4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4pPr>
            <a:lvl5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5pPr>
            <a:lvl6pPr marL="4572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6pPr>
            <a:lvl7pPr marL="9144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7pPr>
            <a:lvl8pPr marL="13716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8pPr>
            <a:lvl9pPr marL="18288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9pPr>
          </a:lstStyle>
          <a:p>
            <a:pPr algn="l"/>
            <a:r>
              <a:rPr lang="zh-CN" altLang="en-US" sz="2800" dirty="0">
                <a:solidFill>
                  <a:prstClr val="black"/>
                </a:solidFill>
                <a:latin typeface="Microsoft YaHei UI"/>
                <a:ea typeface="微软雅黑"/>
              </a:rPr>
              <a:t>例题</a:t>
            </a:r>
          </a:p>
        </p:txBody>
      </p:sp>
      <p:sp>
        <p:nvSpPr>
          <p:cNvPr id="3" name="文本框 2">
            <a:extLst>
              <a:ext uri="{FF2B5EF4-FFF2-40B4-BE49-F238E27FC236}">
                <a16:creationId xmlns:a16="http://schemas.microsoft.com/office/drawing/2014/main" id="{00D940A3-B35F-E9F6-13F7-532BBE8320D3}"/>
              </a:ext>
            </a:extLst>
          </p:cNvPr>
          <p:cNvSpPr txBox="1"/>
          <p:nvPr/>
        </p:nvSpPr>
        <p:spPr>
          <a:xfrm>
            <a:off x="2558144" y="1284516"/>
            <a:ext cx="5007429" cy="4247317"/>
          </a:xfrm>
          <a:prstGeom prst="rect">
            <a:avLst/>
          </a:prstGeom>
          <a:noFill/>
        </p:spPr>
        <p:txBody>
          <a:bodyPr wrap="square" rtlCol="0">
            <a:spAutoFit/>
          </a:bodyPr>
          <a:lstStyle/>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1.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C语言中，运算对象必须是整型数的运算符是（A）</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en-US" altLang="zh-CN" kern="100" dirty="0">
                <a:solidFill>
                  <a:prstClr val="black"/>
                </a:solidFill>
                <a:highlight>
                  <a:srgbClr val="FF0000"/>
                </a:highligh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  B. \  C. *  D. ||</a:t>
            </a:r>
          </a:p>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2.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为表示关系x≥y≥z,应使用C语言表达式(  A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A. (x&gt;=y)&amp;&amp;(y&gt;=z)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B. (x&gt;=y)AND(y&gt;=z)</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C. (x&gt;=y&gt;=z)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D. (x&gt;=y)||(y&gt;=z)</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b="1" kern="100" dirty="0">
                <a:solidFill>
                  <a:prstClr val="black"/>
                </a:solidFill>
                <a:latin typeface="Calibri" panose="020F0502020204030204" pitchFamily="34" charset="0"/>
                <a:ea typeface="宋体" panose="02010600030101010101" pitchFamily="2" charset="-122"/>
              </a:rPr>
              <a:t>3.</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下面语句哪个满足申明一个整型常量并赋初值为20的要求（B）</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int a=20;</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const int a=20;</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int b; b=20;</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const int a; a=20;</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92932087"/>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6" name="矩形 5"/>
          <p:cNvSpPr/>
          <p:nvPr/>
        </p:nvSpPr>
        <p:spPr>
          <a:xfrm>
            <a:off x="1524000" y="3024188"/>
            <a:ext cx="9144000" cy="44926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200">
              <a:defRPr/>
            </a:pPr>
            <a:endParaRPr lang="zh-CN" altLang="en-US">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4" name="TextBox 3"/>
          <p:cNvSpPr txBox="1"/>
          <p:nvPr/>
        </p:nvSpPr>
        <p:spPr>
          <a:xfrm>
            <a:off x="1550988" y="-576263"/>
            <a:ext cx="4094162" cy="8094663"/>
          </a:xfrm>
          <a:prstGeom prst="rect">
            <a:avLst/>
          </a:prstGeom>
          <a:noFill/>
          <a:effectLst>
            <a:outerShdw blurRad="165100" dist="76200" dir="1200000" algn="tl" rotWithShape="0">
              <a:prstClr val="black">
                <a:alpha val="10000"/>
              </a:prstClr>
            </a:outerShdw>
          </a:effectLst>
        </p:spPr>
        <p:txBody>
          <a:bodyPr wrap="none">
            <a:spAutoFit/>
          </a:bodyPr>
          <a:lstStyle/>
          <a:p>
            <a:pPr defTabSz="1219200">
              <a:defRPr/>
            </a:pPr>
            <a:r>
              <a:rPr lang="en-US" altLang="zh-CN" sz="52000" dirty="0">
                <a:solidFill>
                  <a:prstClr val="white"/>
                </a:solidFill>
                <a:latin typeface="Microsoft YaHei UI" panose="020B0503020204020204" pitchFamily="34" charset="-122"/>
                <a:ea typeface="微软雅黑" panose="020B0503020204020204" pitchFamily="34" charset="-122"/>
                <a:cs typeface="+mn-ea"/>
                <a:sym typeface="+mn-lt"/>
              </a:rPr>
              <a:t>2</a:t>
            </a:r>
            <a:endParaRPr lang="zh-CN" altLang="en-US" sz="52000" dirty="0">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5" name="矩形 4"/>
          <p:cNvSpPr/>
          <p:nvPr/>
        </p:nvSpPr>
        <p:spPr>
          <a:xfrm>
            <a:off x="7095243" y="3022125"/>
            <a:ext cx="3941141" cy="460375"/>
          </a:xfrm>
          <a:prstGeom prst="rect">
            <a:avLst/>
          </a:prstGeom>
        </p:spPr>
        <p:txBody>
          <a:bodyPr wrap="square">
            <a:spAutoFit/>
          </a:bodyPr>
          <a:lstStyle/>
          <a:p>
            <a:pPr defTabSz="1219200">
              <a:defRPr/>
            </a:pPr>
            <a:r>
              <a:rPr lang="zh-CN" altLang="en-US" sz="2400" dirty="0">
                <a:solidFill>
                  <a:prstClr val="white"/>
                </a:solidFill>
                <a:latin typeface="Microsoft YaHei UI" panose="020B0503020204020204" pitchFamily="34" charset="-122"/>
                <a:ea typeface="微软雅黑" panose="020B0503020204020204" pitchFamily="34" charset="-122"/>
                <a:cs typeface="+mn-ea"/>
                <a:sym typeface="+mn-lt"/>
              </a:rPr>
              <a:t>           流程控制</a:t>
            </a:r>
          </a:p>
        </p:txBody>
      </p:sp>
      <p:sp>
        <p:nvSpPr>
          <p:cNvPr id="3" name="矩形 2"/>
          <p:cNvSpPr/>
          <p:nvPr/>
        </p:nvSpPr>
        <p:spPr>
          <a:xfrm>
            <a:off x="7189724" y="2254251"/>
            <a:ext cx="3092514" cy="769441"/>
          </a:xfrm>
          <a:prstGeom prst="rect">
            <a:avLst/>
          </a:prstGeom>
        </p:spPr>
        <p:txBody>
          <a:bodyPr wrap="none">
            <a:spAutoFit/>
          </a:bodyPr>
          <a:lstStyle/>
          <a:p>
            <a:pPr algn="r" defTabSz="1219200">
              <a:defRPr/>
            </a:pPr>
            <a:r>
              <a:rPr lang="en-US" altLang="zh-CN" sz="4400" dirty="0">
                <a:solidFill>
                  <a:prstClr val="white"/>
                </a:solidFill>
                <a:latin typeface="Microsoft YaHei UI" panose="020B0503020204020204" pitchFamily="34" charset="-122"/>
                <a:ea typeface="微软雅黑" panose="020B0503020204020204" pitchFamily="34" charset="-122"/>
                <a:cs typeface="+mn-ea"/>
                <a:sym typeface="+mn-lt"/>
              </a:rPr>
              <a:t>PART TWO</a:t>
            </a:r>
            <a:endParaRPr lang="zh-CN" altLang="en-US" sz="4400" dirty="0">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7" name="文本框 1"/>
          <p:cNvSpPr txBox="1">
            <a:spLocks noChangeArrowheads="1"/>
          </p:cNvSpPr>
          <p:nvPr/>
        </p:nvSpPr>
        <p:spPr bwMode="auto">
          <a:xfrm>
            <a:off x="7886700" y="3598961"/>
            <a:ext cx="32480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217930">
              <a:defRPr>
                <a:solidFill>
                  <a:schemeClr val="tx1"/>
                </a:solidFill>
                <a:latin typeface="Microsoft YaHei UI" panose="020B0503020204020204" pitchFamily="34" charset="-122"/>
                <a:ea typeface="微软雅黑" panose="020B0503020204020204" pitchFamily="34" charset="-122"/>
              </a:defRPr>
            </a:lvl1pPr>
            <a:lvl2pPr marL="742950" indent="-285750" defTabSz="1217930">
              <a:defRPr>
                <a:solidFill>
                  <a:schemeClr val="tx1"/>
                </a:solidFill>
                <a:latin typeface="Microsoft YaHei UI" panose="020B0503020204020204" pitchFamily="34" charset="-122"/>
                <a:ea typeface="微软雅黑" panose="020B0503020204020204" pitchFamily="34" charset="-122"/>
              </a:defRPr>
            </a:lvl2pPr>
            <a:lvl3pPr marL="1143000" indent="-228600" defTabSz="1217930">
              <a:defRPr>
                <a:solidFill>
                  <a:schemeClr val="tx1"/>
                </a:solidFill>
                <a:latin typeface="Microsoft YaHei UI" panose="020B0503020204020204" pitchFamily="34" charset="-122"/>
                <a:ea typeface="微软雅黑" panose="020B0503020204020204" pitchFamily="34" charset="-122"/>
              </a:defRPr>
            </a:lvl3pPr>
            <a:lvl4pPr marL="1600200" indent="-228600" defTabSz="1217930">
              <a:defRPr>
                <a:solidFill>
                  <a:schemeClr val="tx1"/>
                </a:solidFill>
                <a:latin typeface="Microsoft YaHei UI" panose="020B0503020204020204" pitchFamily="34" charset="-122"/>
                <a:ea typeface="微软雅黑" panose="020B0503020204020204" pitchFamily="34" charset="-122"/>
              </a:defRPr>
            </a:lvl4pPr>
            <a:lvl5pPr marL="2057400" indent="-228600" defTabSz="1217930">
              <a:defRPr>
                <a:solidFill>
                  <a:schemeClr val="tx1"/>
                </a:solidFill>
                <a:latin typeface="Microsoft YaHei UI" panose="020B0503020204020204" pitchFamily="34" charset="-122"/>
                <a:ea typeface="微软雅黑" panose="020B0503020204020204" pitchFamily="34" charset="-122"/>
              </a:defRPr>
            </a:lvl5pPr>
            <a:lvl6pPr marL="25146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6pPr>
            <a:lvl7pPr marL="29718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7pPr>
            <a:lvl8pPr marL="34290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8pPr>
            <a:lvl9pPr marL="38862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9pPr>
          </a:lstStyle>
          <a:p>
            <a:pPr fontAlgn="base">
              <a:spcBef>
                <a:spcPct val="0"/>
              </a:spcBef>
              <a:spcAft>
                <a:spcPct val="0"/>
              </a:spcAft>
              <a:defRPr/>
            </a:pPr>
            <a:r>
              <a:rPr lang="en-US" altLang="zh-CN" sz="2000" dirty="0">
                <a:solidFill>
                  <a:srgbClr val="FFFFFF"/>
                </a:solidFill>
              </a:rPr>
              <a:t>1.</a:t>
            </a:r>
            <a:r>
              <a:rPr lang="zh-CN" altLang="en-US" sz="2000" dirty="0">
                <a:solidFill>
                  <a:srgbClr val="FFFFFF"/>
                </a:solidFill>
              </a:rPr>
              <a:t>分支与跳转（选择）语句</a:t>
            </a:r>
          </a:p>
          <a:p>
            <a:pPr fontAlgn="base">
              <a:spcBef>
                <a:spcPct val="0"/>
              </a:spcBef>
              <a:spcAft>
                <a:spcPct val="0"/>
              </a:spcAft>
              <a:defRPr/>
            </a:pPr>
            <a:r>
              <a:rPr lang="en-US" altLang="zh-CN" sz="2000" dirty="0">
                <a:solidFill>
                  <a:srgbClr val="FFFFFF"/>
                </a:solidFill>
              </a:rPr>
              <a:t>2.</a:t>
            </a:r>
            <a:r>
              <a:rPr lang="zh-CN" altLang="en-US" sz="2000" dirty="0">
                <a:solidFill>
                  <a:srgbClr val="FFFFFF"/>
                </a:solidFill>
              </a:rPr>
              <a:t>循环语句</a:t>
            </a: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8485506" y="6235701"/>
            <a:ext cx="2182495"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sp>
        <p:nvSpPr>
          <p:cNvPr id="7" name="标题 6"/>
          <p:cNvSpPr>
            <a:spLocks noGrp="1"/>
          </p:cNvSpPr>
          <p:nvPr>
            <p:ph type="title" idx="4294967295"/>
          </p:nvPr>
        </p:nvSpPr>
        <p:spPr>
          <a:xfrm>
            <a:off x="2026920" y="248921"/>
            <a:ext cx="8138160" cy="641985"/>
          </a:xfrm>
        </p:spPr>
        <p:txBody>
          <a:bodyPr/>
          <a:lstStyle/>
          <a:p>
            <a:pPr algn="l"/>
            <a:r>
              <a:rPr lang="zh-CN" altLang="en-US" sz="2800" dirty="0"/>
              <a:t>流程控制</a:t>
            </a:r>
          </a:p>
        </p:txBody>
      </p:sp>
      <p:graphicFrame>
        <p:nvGraphicFramePr>
          <p:cNvPr id="12" name="图示 11"/>
          <p:cNvGraphicFramePr/>
          <p:nvPr/>
        </p:nvGraphicFramePr>
        <p:xfrm>
          <a:off x="3048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26061"/>
            <a:ext cx="8138160" cy="678815"/>
          </a:xfrm>
        </p:spPr>
        <p:txBody>
          <a:bodyPr/>
          <a:lstStyle/>
          <a:p>
            <a:pPr algn="l"/>
            <a:r>
              <a:rPr lang="zh-CN" altLang="en-US" sz="2800" dirty="0"/>
              <a:t>分支与跳转</a:t>
            </a:r>
            <a:r>
              <a:rPr lang="en-US" altLang="zh-CN" sz="2800" dirty="0"/>
              <a:t>——if</a:t>
            </a:r>
            <a:r>
              <a:rPr lang="zh-CN" altLang="en-US" sz="2800" dirty="0"/>
              <a:t>类</a:t>
            </a:r>
          </a:p>
        </p:txBody>
      </p:sp>
      <p:sp>
        <p:nvSpPr>
          <p:cNvPr id="4" name="灯片编号占位符 3"/>
          <p:cNvSpPr>
            <a:spLocks noGrp="1"/>
          </p:cNvSpPr>
          <p:nvPr>
            <p:ph type="sldNum" sz="quarter" idx="4294967295"/>
          </p:nvPr>
        </p:nvSpPr>
        <p:spPr>
          <a:xfrm>
            <a:off x="8485506" y="6235701"/>
            <a:ext cx="2182495" cy="206375"/>
          </a:xfrm>
        </p:spPr>
        <p:txBody>
          <a:bodyPr/>
          <a:lstStyle/>
          <a:p>
            <a:pPr defTabSz="685800"/>
            <a:r>
              <a:rPr lang="en-US" altLang="zh-CN" dirty="0">
                <a:solidFill>
                  <a:srgbClr val="000000">
                    <a:lumMod val="50000"/>
                    <a:lumOff val="50000"/>
                  </a:srgbClr>
                </a:solidFill>
                <a:latin typeface="Arial" panose="020B0604020202020204"/>
                <a:ea typeface="微软雅黑" panose="020B0503020204020204" pitchFamily="34" charset="-122"/>
              </a:rPr>
              <a:t> </a:t>
            </a:r>
            <a:endParaRPr lang="zh-CN" altLang="en-US" dirty="0">
              <a:solidFill>
                <a:srgbClr val="000000">
                  <a:lumMod val="50000"/>
                  <a:lumOff val="50000"/>
                </a:srgbClr>
              </a:solidFill>
              <a:latin typeface="Arial" panose="020B0604020202020204"/>
              <a:ea typeface="微软雅黑" panose="020B0503020204020204" pitchFamily="34" charset="-122"/>
            </a:endParaRPr>
          </a:p>
        </p:txBody>
      </p:sp>
      <p:sp>
        <p:nvSpPr>
          <p:cNvPr id="3" name="矩形: 圆角 2"/>
          <p:cNvSpPr/>
          <p:nvPr/>
        </p:nvSpPr>
        <p:spPr>
          <a:xfrm>
            <a:off x="2395133" y="1414022"/>
            <a:ext cx="3511296" cy="13056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prstClr val="white"/>
                </a:solidFill>
                <a:latin typeface="Microsoft YaHei UI"/>
                <a:ea typeface="微软雅黑"/>
              </a:rPr>
              <a:t>If</a:t>
            </a:r>
            <a:r>
              <a:rPr lang="zh-CN" altLang="en-US" sz="2400" dirty="0">
                <a:solidFill>
                  <a:prstClr val="white"/>
                </a:solidFill>
                <a:latin typeface="Microsoft YaHei UI"/>
                <a:ea typeface="微软雅黑"/>
              </a:rPr>
              <a:t>（判断内容）</a:t>
            </a:r>
            <a:endParaRPr lang="en-US" altLang="zh-CN" sz="2400" dirty="0">
              <a:solidFill>
                <a:prstClr val="white"/>
              </a:solidFill>
              <a:latin typeface="Microsoft YaHei UI"/>
              <a:ea typeface="微软雅黑"/>
            </a:endParaRPr>
          </a:p>
          <a:p>
            <a:r>
              <a:rPr lang="en-US" altLang="zh-CN" sz="2400" dirty="0">
                <a:solidFill>
                  <a:prstClr val="white"/>
                </a:solidFill>
                <a:latin typeface="Microsoft YaHei UI"/>
                <a:ea typeface="微软雅黑"/>
              </a:rPr>
              <a:t>	{</a:t>
            </a:r>
            <a:r>
              <a:rPr lang="zh-CN" altLang="en-US" sz="2400" dirty="0">
                <a:solidFill>
                  <a:prstClr val="white"/>
                </a:solidFill>
                <a:latin typeface="Microsoft YaHei UI"/>
                <a:ea typeface="微软雅黑"/>
              </a:rPr>
              <a:t>执行；</a:t>
            </a:r>
            <a:r>
              <a:rPr lang="en-US" altLang="zh-CN" sz="2400" dirty="0">
                <a:solidFill>
                  <a:prstClr val="white"/>
                </a:solidFill>
                <a:latin typeface="Microsoft YaHei UI"/>
                <a:ea typeface="微软雅黑"/>
              </a:rPr>
              <a:t>}</a:t>
            </a:r>
          </a:p>
          <a:p>
            <a:r>
              <a:rPr lang="en-US" altLang="zh-CN" sz="2400" dirty="0">
                <a:solidFill>
                  <a:prstClr val="white"/>
                </a:solidFill>
                <a:latin typeface="Microsoft YaHei UI"/>
                <a:ea typeface="微软雅黑"/>
              </a:rPr>
              <a:t>……</a:t>
            </a:r>
            <a:endParaRPr lang="zh-CN" altLang="en-US" sz="2400" dirty="0">
              <a:solidFill>
                <a:prstClr val="white"/>
              </a:solidFill>
              <a:latin typeface="Microsoft YaHei UI"/>
              <a:ea typeface="微软雅黑"/>
            </a:endParaRPr>
          </a:p>
        </p:txBody>
      </p:sp>
      <p:sp>
        <p:nvSpPr>
          <p:cNvPr id="8" name="矩形: 圆角 7"/>
          <p:cNvSpPr/>
          <p:nvPr/>
        </p:nvSpPr>
        <p:spPr>
          <a:xfrm>
            <a:off x="2352461" y="3252247"/>
            <a:ext cx="3596640" cy="197844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prstClr val="white"/>
                </a:solidFill>
                <a:latin typeface="Microsoft YaHei UI"/>
                <a:ea typeface="微软雅黑"/>
              </a:rPr>
              <a:t>If</a:t>
            </a:r>
            <a:r>
              <a:rPr lang="zh-CN" altLang="en-US" sz="2400" dirty="0">
                <a:solidFill>
                  <a:prstClr val="white"/>
                </a:solidFill>
                <a:latin typeface="Microsoft YaHei UI"/>
                <a:ea typeface="微软雅黑"/>
              </a:rPr>
              <a:t>（判断内容）</a:t>
            </a:r>
            <a:endParaRPr lang="en-US" altLang="zh-CN" sz="2400" dirty="0">
              <a:solidFill>
                <a:prstClr val="white"/>
              </a:solidFill>
              <a:latin typeface="Microsoft YaHei UI"/>
              <a:ea typeface="微软雅黑"/>
            </a:endParaRPr>
          </a:p>
          <a:p>
            <a:r>
              <a:rPr lang="en-US" altLang="zh-CN" sz="2400" dirty="0">
                <a:solidFill>
                  <a:prstClr val="white"/>
                </a:solidFill>
                <a:latin typeface="Microsoft YaHei UI"/>
                <a:ea typeface="微软雅黑"/>
              </a:rPr>
              <a:t>	{</a:t>
            </a:r>
            <a:r>
              <a:rPr lang="zh-CN" altLang="en-US" sz="2400" dirty="0">
                <a:solidFill>
                  <a:prstClr val="white"/>
                </a:solidFill>
                <a:latin typeface="Microsoft YaHei UI"/>
                <a:ea typeface="微软雅黑"/>
              </a:rPr>
              <a:t>执行</a:t>
            </a:r>
            <a:r>
              <a:rPr lang="en-US" altLang="zh-CN" sz="2400" dirty="0">
                <a:solidFill>
                  <a:prstClr val="white"/>
                </a:solidFill>
                <a:latin typeface="Microsoft YaHei UI"/>
                <a:ea typeface="微软雅黑"/>
              </a:rPr>
              <a:t>1</a:t>
            </a:r>
            <a:r>
              <a:rPr lang="zh-CN" altLang="en-US" sz="2400" dirty="0">
                <a:solidFill>
                  <a:prstClr val="white"/>
                </a:solidFill>
                <a:latin typeface="Microsoft YaHei UI"/>
                <a:ea typeface="微软雅黑"/>
              </a:rPr>
              <a:t>；</a:t>
            </a:r>
            <a:r>
              <a:rPr lang="en-US" altLang="zh-CN" sz="2400" dirty="0">
                <a:solidFill>
                  <a:prstClr val="white"/>
                </a:solidFill>
                <a:latin typeface="Microsoft YaHei UI"/>
                <a:ea typeface="微软雅黑"/>
              </a:rPr>
              <a:t>}</a:t>
            </a:r>
          </a:p>
          <a:p>
            <a:r>
              <a:rPr lang="en-US" altLang="zh-CN" sz="2400" dirty="0">
                <a:solidFill>
                  <a:prstClr val="white"/>
                </a:solidFill>
                <a:latin typeface="Microsoft YaHei UI"/>
                <a:ea typeface="微软雅黑"/>
              </a:rPr>
              <a:t>else </a:t>
            </a:r>
          </a:p>
          <a:p>
            <a:r>
              <a:rPr lang="en-US" altLang="zh-CN" sz="2400" dirty="0">
                <a:solidFill>
                  <a:prstClr val="white"/>
                </a:solidFill>
                <a:latin typeface="Microsoft YaHei UI"/>
                <a:ea typeface="微软雅黑"/>
              </a:rPr>
              <a:t>	{</a:t>
            </a:r>
            <a:r>
              <a:rPr lang="zh-CN" altLang="en-US" sz="2400" dirty="0">
                <a:solidFill>
                  <a:prstClr val="white"/>
                </a:solidFill>
                <a:latin typeface="Microsoft YaHei UI"/>
                <a:ea typeface="微软雅黑"/>
              </a:rPr>
              <a:t>执行</a:t>
            </a:r>
            <a:r>
              <a:rPr lang="en-US" altLang="zh-CN" sz="2400" dirty="0">
                <a:solidFill>
                  <a:prstClr val="white"/>
                </a:solidFill>
                <a:latin typeface="Microsoft YaHei UI"/>
                <a:ea typeface="微软雅黑"/>
              </a:rPr>
              <a:t>2</a:t>
            </a:r>
            <a:r>
              <a:rPr lang="zh-CN" altLang="en-US" sz="2400" dirty="0">
                <a:solidFill>
                  <a:prstClr val="white"/>
                </a:solidFill>
                <a:latin typeface="Microsoft YaHei UI"/>
                <a:ea typeface="微软雅黑"/>
              </a:rPr>
              <a:t>；</a:t>
            </a:r>
            <a:r>
              <a:rPr lang="en-US" altLang="zh-CN" sz="2400" dirty="0">
                <a:solidFill>
                  <a:prstClr val="white"/>
                </a:solidFill>
                <a:latin typeface="Microsoft YaHei UI"/>
                <a:ea typeface="微软雅黑"/>
              </a:rPr>
              <a:t>}</a:t>
            </a:r>
          </a:p>
          <a:p>
            <a:r>
              <a:rPr lang="en-US" altLang="zh-CN" sz="2400" dirty="0">
                <a:solidFill>
                  <a:prstClr val="white"/>
                </a:solidFill>
                <a:latin typeface="Microsoft YaHei UI"/>
                <a:ea typeface="微软雅黑"/>
              </a:rPr>
              <a:t>……</a:t>
            </a:r>
          </a:p>
        </p:txBody>
      </p:sp>
      <p:sp>
        <p:nvSpPr>
          <p:cNvPr id="9" name="矩形: 圆角 8"/>
          <p:cNvSpPr/>
          <p:nvPr/>
        </p:nvSpPr>
        <p:spPr>
          <a:xfrm>
            <a:off x="6445805" y="1990800"/>
            <a:ext cx="3511296" cy="238848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prstClr val="white"/>
                </a:solidFill>
                <a:latin typeface="Microsoft YaHei UI"/>
                <a:ea typeface="微软雅黑"/>
              </a:rPr>
              <a:t>If</a:t>
            </a:r>
            <a:r>
              <a:rPr lang="zh-CN" altLang="en-US" sz="2400" dirty="0">
                <a:solidFill>
                  <a:prstClr val="white"/>
                </a:solidFill>
                <a:latin typeface="Microsoft YaHei UI"/>
                <a:ea typeface="微软雅黑"/>
              </a:rPr>
              <a:t>（判断内容</a:t>
            </a:r>
            <a:r>
              <a:rPr lang="en-US" altLang="zh-CN" sz="2400" dirty="0">
                <a:solidFill>
                  <a:prstClr val="white"/>
                </a:solidFill>
                <a:latin typeface="Microsoft YaHei UI"/>
                <a:ea typeface="微软雅黑"/>
              </a:rPr>
              <a:t>1</a:t>
            </a:r>
            <a:r>
              <a:rPr lang="zh-CN" altLang="en-US" sz="2400" dirty="0">
                <a:solidFill>
                  <a:prstClr val="white"/>
                </a:solidFill>
                <a:latin typeface="Microsoft YaHei UI"/>
                <a:ea typeface="微软雅黑"/>
              </a:rPr>
              <a:t>）</a:t>
            </a:r>
            <a:endParaRPr lang="en-US" altLang="zh-CN" sz="2400" dirty="0">
              <a:solidFill>
                <a:prstClr val="white"/>
              </a:solidFill>
              <a:latin typeface="Microsoft YaHei UI"/>
              <a:ea typeface="微软雅黑"/>
            </a:endParaRPr>
          </a:p>
          <a:p>
            <a:r>
              <a:rPr lang="en-US" altLang="zh-CN" sz="2400" dirty="0">
                <a:solidFill>
                  <a:prstClr val="white"/>
                </a:solidFill>
                <a:latin typeface="Microsoft YaHei UI"/>
                <a:ea typeface="微软雅黑"/>
              </a:rPr>
              <a:t>	{</a:t>
            </a:r>
            <a:r>
              <a:rPr lang="zh-CN" altLang="en-US" sz="2400" dirty="0">
                <a:solidFill>
                  <a:prstClr val="white"/>
                </a:solidFill>
                <a:latin typeface="Microsoft YaHei UI"/>
                <a:ea typeface="微软雅黑"/>
              </a:rPr>
              <a:t>执行</a:t>
            </a:r>
            <a:r>
              <a:rPr lang="en-US" altLang="zh-CN" sz="2400" dirty="0">
                <a:solidFill>
                  <a:prstClr val="white"/>
                </a:solidFill>
                <a:latin typeface="Microsoft YaHei UI"/>
                <a:ea typeface="微软雅黑"/>
              </a:rPr>
              <a:t>1</a:t>
            </a:r>
            <a:r>
              <a:rPr lang="zh-CN" altLang="en-US" sz="2400" dirty="0">
                <a:solidFill>
                  <a:prstClr val="white"/>
                </a:solidFill>
                <a:latin typeface="Microsoft YaHei UI"/>
                <a:ea typeface="微软雅黑"/>
              </a:rPr>
              <a:t>；</a:t>
            </a:r>
            <a:r>
              <a:rPr lang="en-US" altLang="zh-CN" sz="2400" dirty="0">
                <a:solidFill>
                  <a:prstClr val="white"/>
                </a:solidFill>
                <a:latin typeface="Microsoft YaHei UI"/>
                <a:ea typeface="微软雅黑"/>
              </a:rPr>
              <a:t>}</a:t>
            </a:r>
          </a:p>
          <a:p>
            <a:r>
              <a:rPr lang="en-US" altLang="zh-CN" sz="2400" dirty="0">
                <a:solidFill>
                  <a:prstClr val="white"/>
                </a:solidFill>
                <a:latin typeface="Microsoft YaHei UI"/>
                <a:ea typeface="微软雅黑"/>
              </a:rPr>
              <a:t>else if </a:t>
            </a:r>
            <a:r>
              <a:rPr lang="zh-CN" altLang="en-US" sz="2400" dirty="0">
                <a:solidFill>
                  <a:prstClr val="white"/>
                </a:solidFill>
                <a:latin typeface="Microsoft YaHei UI"/>
                <a:ea typeface="微软雅黑"/>
              </a:rPr>
              <a:t>（判断内容</a:t>
            </a:r>
            <a:r>
              <a:rPr lang="en-US" altLang="zh-CN" sz="2400" dirty="0">
                <a:solidFill>
                  <a:prstClr val="white"/>
                </a:solidFill>
                <a:latin typeface="Microsoft YaHei UI"/>
                <a:ea typeface="微软雅黑"/>
              </a:rPr>
              <a:t>2</a:t>
            </a:r>
            <a:r>
              <a:rPr lang="zh-CN" altLang="en-US" sz="2400" dirty="0">
                <a:solidFill>
                  <a:prstClr val="white"/>
                </a:solidFill>
                <a:latin typeface="Microsoft YaHei UI"/>
                <a:ea typeface="微软雅黑"/>
              </a:rPr>
              <a:t>）</a:t>
            </a:r>
            <a:endParaRPr lang="en-US" altLang="zh-CN" sz="2400" dirty="0">
              <a:solidFill>
                <a:prstClr val="white"/>
              </a:solidFill>
              <a:latin typeface="Microsoft YaHei UI"/>
              <a:ea typeface="微软雅黑"/>
            </a:endParaRPr>
          </a:p>
          <a:p>
            <a:r>
              <a:rPr lang="en-US" altLang="zh-CN" sz="2400" dirty="0">
                <a:solidFill>
                  <a:prstClr val="white"/>
                </a:solidFill>
                <a:latin typeface="Microsoft YaHei UI"/>
                <a:ea typeface="微软雅黑"/>
              </a:rPr>
              <a:t>	{</a:t>
            </a:r>
            <a:r>
              <a:rPr lang="zh-CN" altLang="en-US" sz="2400" dirty="0">
                <a:solidFill>
                  <a:prstClr val="white"/>
                </a:solidFill>
                <a:latin typeface="Microsoft YaHei UI"/>
                <a:ea typeface="微软雅黑"/>
              </a:rPr>
              <a:t>执行</a:t>
            </a:r>
            <a:r>
              <a:rPr lang="en-US" altLang="zh-CN" sz="2400" dirty="0">
                <a:solidFill>
                  <a:prstClr val="white"/>
                </a:solidFill>
                <a:latin typeface="Microsoft YaHei UI"/>
                <a:ea typeface="微软雅黑"/>
              </a:rPr>
              <a:t>2</a:t>
            </a:r>
            <a:r>
              <a:rPr lang="zh-CN" altLang="en-US" sz="2400" dirty="0">
                <a:solidFill>
                  <a:prstClr val="white"/>
                </a:solidFill>
                <a:latin typeface="Microsoft YaHei UI"/>
                <a:ea typeface="微软雅黑"/>
              </a:rPr>
              <a:t>；</a:t>
            </a:r>
            <a:r>
              <a:rPr lang="en-US" altLang="zh-CN" sz="2400" dirty="0">
                <a:solidFill>
                  <a:prstClr val="white"/>
                </a:solidFill>
                <a:latin typeface="Microsoft YaHei UI"/>
                <a:ea typeface="微软雅黑"/>
              </a:rPr>
              <a:t>}</a:t>
            </a:r>
          </a:p>
          <a:p>
            <a:r>
              <a:rPr lang="en-US" altLang="zh-CN" sz="2400" dirty="0">
                <a:solidFill>
                  <a:prstClr val="white"/>
                </a:solidFill>
                <a:latin typeface="Microsoft YaHei UI"/>
                <a:ea typeface="微软雅黑"/>
              </a:rPr>
              <a:t>……</a:t>
            </a:r>
            <a:endParaRPr lang="zh-CN" altLang="en-US" sz="2400" dirty="0">
              <a:solidFill>
                <a:prstClr val="white"/>
              </a:solidFill>
              <a:latin typeface="Microsoft YaHei UI"/>
              <a:ea typeface="微软雅黑"/>
            </a:endParaRPr>
          </a:p>
        </p:txBody>
      </p:sp>
      <p:sp>
        <p:nvSpPr>
          <p:cNvPr id="10" name="文本框 9"/>
          <p:cNvSpPr txBox="1"/>
          <p:nvPr/>
        </p:nvSpPr>
        <p:spPr>
          <a:xfrm>
            <a:off x="1936780" y="5691358"/>
            <a:ext cx="9018050" cy="460375"/>
          </a:xfrm>
          <a:prstGeom prst="rect">
            <a:avLst/>
          </a:prstGeom>
          <a:noFill/>
        </p:spPr>
        <p:txBody>
          <a:bodyPr wrap="square" rtlCol="0">
            <a:spAutoFit/>
          </a:bodyPr>
          <a:lstStyle/>
          <a:p>
            <a:r>
              <a:rPr lang="zh-CN" altLang="en-US" sz="2400" dirty="0">
                <a:solidFill>
                  <a:prstClr val="black"/>
                </a:solidFill>
                <a:latin typeface="Microsoft YaHei UI"/>
                <a:ea typeface="微软雅黑"/>
              </a:rPr>
              <a:t>注意：若</a:t>
            </a:r>
            <a:r>
              <a:rPr lang="en-US" altLang="zh-CN" sz="2400" dirty="0">
                <a:solidFill>
                  <a:prstClr val="black"/>
                </a:solidFill>
                <a:latin typeface="Microsoft YaHei UI"/>
                <a:ea typeface="微软雅黑"/>
              </a:rPr>
              <a:t>if</a:t>
            </a:r>
            <a:r>
              <a:rPr lang="zh-CN" altLang="en-US" sz="2400" dirty="0">
                <a:solidFill>
                  <a:prstClr val="black"/>
                </a:solidFill>
                <a:latin typeface="Microsoft YaHei UI"/>
                <a:ea typeface="微软雅黑"/>
              </a:rPr>
              <a:t>（）后没有添加花括号，则执行紧接着的第一条语句</a:t>
            </a:r>
          </a:p>
        </p:txBody>
      </p:sp>
      <p:sp>
        <p:nvSpPr>
          <p:cNvPr id="5" name="文本框 4"/>
          <p:cNvSpPr txBox="1"/>
          <p:nvPr/>
        </p:nvSpPr>
        <p:spPr>
          <a:xfrm>
            <a:off x="6096000" y="6112216"/>
            <a:ext cx="5778631" cy="521970"/>
          </a:xfrm>
          <a:prstGeom prst="rect">
            <a:avLst/>
          </a:prstGeom>
          <a:noFill/>
        </p:spPr>
        <p:txBody>
          <a:bodyPr wrap="square" rtlCol="0">
            <a:spAutoFit/>
          </a:bodyPr>
          <a:lstStyle/>
          <a:p>
            <a:r>
              <a:rPr lang="en-US" altLang="zh-CN" sz="2800" dirty="0">
                <a:solidFill>
                  <a:srgbClr val="FF0000"/>
                </a:solidFill>
                <a:latin typeface="Microsoft YaHei UI"/>
                <a:ea typeface="微软雅黑"/>
              </a:rPr>
              <a:t>= </a:t>
            </a:r>
            <a:r>
              <a:rPr lang="zh-CN" altLang="en-US" sz="2800" dirty="0">
                <a:solidFill>
                  <a:srgbClr val="FF0000"/>
                </a:solidFill>
                <a:latin typeface="Microsoft YaHei UI"/>
                <a:ea typeface="微软雅黑"/>
              </a:rPr>
              <a:t>和 </a:t>
            </a:r>
            <a:r>
              <a:rPr lang="en-US" altLang="zh-CN" sz="2800" dirty="0">
                <a:solidFill>
                  <a:srgbClr val="FF0000"/>
                </a:solidFill>
                <a:latin typeface="Microsoft YaHei UI"/>
                <a:ea typeface="微软雅黑"/>
              </a:rPr>
              <a:t>== </a:t>
            </a:r>
            <a:r>
              <a:rPr lang="zh-CN" altLang="en-US" sz="2800" dirty="0">
                <a:solidFill>
                  <a:srgbClr val="FF0000"/>
                </a:solidFill>
                <a:latin typeface="Microsoft YaHei UI"/>
                <a:ea typeface="微软雅黑"/>
              </a:rPr>
              <a:t>一定要分清楚！！</a:t>
            </a:r>
            <a:endParaRPr lang="zh-CN" altLang="en-US" sz="2800" dirty="0">
              <a:solidFill>
                <a:prstClr val="black"/>
              </a:solidFill>
              <a:latin typeface="Microsoft YaHei UI"/>
              <a:ea typeface="微软雅黑"/>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34316"/>
            <a:ext cx="8138160" cy="678815"/>
          </a:xfrm>
        </p:spPr>
        <p:txBody>
          <a:bodyPr/>
          <a:lstStyle/>
          <a:p>
            <a:pPr algn="l"/>
            <a:r>
              <a:rPr lang="zh-CN" altLang="en-US" sz="2800" dirty="0"/>
              <a:t>分支与跳转</a:t>
            </a:r>
            <a:r>
              <a:rPr lang="en-US" altLang="zh-CN" sz="2800" dirty="0"/>
              <a:t>——if</a:t>
            </a:r>
            <a:r>
              <a:rPr lang="zh-CN" altLang="en-US" sz="2800"/>
              <a:t>类实例</a:t>
            </a:r>
            <a:endParaRPr lang="zh-CN" altLang="en-US" sz="2800" dirty="0"/>
          </a:p>
        </p:txBody>
      </p:sp>
      <p:sp>
        <p:nvSpPr>
          <p:cNvPr id="4" name="灯片编号占位符 3"/>
          <p:cNvSpPr>
            <a:spLocks noGrp="1"/>
          </p:cNvSpPr>
          <p:nvPr>
            <p:ph type="sldNum" sz="quarter" idx="4294967295"/>
          </p:nvPr>
        </p:nvSpPr>
        <p:spPr>
          <a:xfrm>
            <a:off x="8485506" y="6235701"/>
            <a:ext cx="2182495" cy="206375"/>
          </a:xfrm>
        </p:spPr>
        <p:txBody>
          <a:bodyPr/>
          <a:lstStyle/>
          <a:p>
            <a:pPr defTabSz="685800"/>
            <a:r>
              <a:rPr lang="zh-CN" altLang="en-US" dirty="0">
                <a:solidFill>
                  <a:srgbClr val="000000">
                    <a:lumMod val="50000"/>
                    <a:lumOff val="50000"/>
                  </a:srgbClr>
                </a:solidFill>
                <a:latin typeface="Arial" panose="020B0604020202020204"/>
                <a:ea typeface="微软雅黑" panose="020B0503020204020204" pitchFamily="34" charset="-122"/>
              </a:rPr>
              <a:t> </a:t>
            </a:r>
          </a:p>
        </p:txBody>
      </p:sp>
      <p:sp>
        <p:nvSpPr>
          <p:cNvPr id="7" name="文本框 6"/>
          <p:cNvSpPr txBox="1"/>
          <p:nvPr/>
        </p:nvSpPr>
        <p:spPr>
          <a:xfrm>
            <a:off x="4567941" y="4160375"/>
            <a:ext cx="4477732" cy="521970"/>
          </a:xfrm>
          <a:prstGeom prst="rect">
            <a:avLst/>
          </a:prstGeom>
          <a:noFill/>
        </p:spPr>
        <p:txBody>
          <a:bodyPr wrap="square" rtlCol="0">
            <a:spAutoFit/>
          </a:bodyPr>
          <a:lstStyle/>
          <a:p>
            <a:r>
              <a:rPr lang="zh-CN" altLang="en-US" sz="2800" dirty="0">
                <a:solidFill>
                  <a:prstClr val="black"/>
                </a:solidFill>
                <a:latin typeface="Microsoft YaHei UI"/>
                <a:ea typeface="微软雅黑"/>
              </a:rPr>
              <a:t>输出结果是多少呢？</a:t>
            </a:r>
          </a:p>
        </p:txBody>
      </p:sp>
      <p:pic>
        <p:nvPicPr>
          <p:cNvPr id="12" name="图片 11"/>
          <p:cNvPicPr>
            <a:picLocks noChangeAspect="1"/>
          </p:cNvPicPr>
          <p:nvPr/>
        </p:nvPicPr>
        <p:blipFill>
          <a:blip r:embed="rId2"/>
          <a:stretch>
            <a:fillRect/>
          </a:stretch>
        </p:blipFill>
        <p:spPr>
          <a:xfrm>
            <a:off x="3323503" y="1404595"/>
            <a:ext cx="5994430" cy="2821993"/>
          </a:xfrm>
          <a:prstGeom prst="rect">
            <a:avLst/>
          </a:prstGeom>
        </p:spPr>
      </p:pic>
      <p:pic>
        <p:nvPicPr>
          <p:cNvPr id="13" name="图片 12"/>
          <p:cNvPicPr>
            <a:picLocks noChangeAspect="1"/>
          </p:cNvPicPr>
          <p:nvPr/>
        </p:nvPicPr>
        <p:blipFill>
          <a:blip r:embed="rId3"/>
          <a:stretch>
            <a:fillRect/>
          </a:stretch>
        </p:blipFill>
        <p:spPr>
          <a:xfrm>
            <a:off x="3180859" y="4200884"/>
            <a:ext cx="1171182" cy="1171182"/>
          </a:xfrm>
          <a:prstGeom prst="rect">
            <a:avLst/>
          </a:prstGeom>
        </p:spPr>
      </p:pic>
      <p:sp>
        <p:nvSpPr>
          <p:cNvPr id="14" name="文本框 13"/>
          <p:cNvSpPr txBox="1"/>
          <p:nvPr/>
        </p:nvSpPr>
        <p:spPr>
          <a:xfrm>
            <a:off x="5559369" y="4819182"/>
            <a:ext cx="3176833" cy="706755"/>
          </a:xfrm>
          <a:prstGeom prst="rect">
            <a:avLst/>
          </a:prstGeom>
          <a:noFill/>
        </p:spPr>
        <p:txBody>
          <a:bodyPr wrap="square" rtlCol="0">
            <a:spAutoFit/>
          </a:bodyPr>
          <a:lstStyle/>
          <a:p>
            <a:r>
              <a:rPr lang="en-US" altLang="zh-CN" sz="4000" dirty="0">
                <a:solidFill>
                  <a:prstClr val="black"/>
                </a:solidFill>
                <a:latin typeface="Microsoft YaHei UI"/>
                <a:ea typeface="微软雅黑"/>
              </a:rPr>
              <a:t>z</a:t>
            </a:r>
            <a:r>
              <a:rPr lang="en-US" altLang="zh-CN" sz="4000">
                <a:solidFill>
                  <a:prstClr val="black"/>
                </a:solidFill>
                <a:latin typeface="Microsoft YaHei UI"/>
                <a:ea typeface="微软雅黑"/>
              </a:rPr>
              <a:t> </a:t>
            </a:r>
            <a:r>
              <a:rPr lang="en-US" altLang="zh-CN" sz="4000" dirty="0">
                <a:solidFill>
                  <a:prstClr val="black"/>
                </a:solidFill>
                <a:latin typeface="Microsoft YaHei UI"/>
                <a:ea typeface="微软雅黑"/>
              </a:rPr>
              <a:t>= 2</a:t>
            </a:r>
            <a:endParaRPr lang="zh-CN" altLang="en-US" sz="4000" dirty="0">
              <a:solidFill>
                <a:prstClr val="black"/>
              </a:solidFill>
              <a:latin typeface="Microsoft YaHei UI"/>
              <a:ea typeface="微软雅黑"/>
            </a:endParaRPr>
          </a:p>
        </p:txBody>
      </p:sp>
      <p:sp>
        <p:nvSpPr>
          <p:cNvPr id="16" name="文本框 15"/>
          <p:cNvSpPr txBox="1"/>
          <p:nvPr/>
        </p:nvSpPr>
        <p:spPr>
          <a:xfrm>
            <a:off x="4568103" y="5548323"/>
            <a:ext cx="6777872" cy="521970"/>
          </a:xfrm>
          <a:prstGeom prst="rect">
            <a:avLst/>
          </a:prstGeom>
          <a:noFill/>
        </p:spPr>
        <p:txBody>
          <a:bodyPr wrap="square">
            <a:spAutoFit/>
          </a:bodyPr>
          <a:lstStyle/>
          <a:p>
            <a:r>
              <a:rPr lang="en-US" altLang="zh-CN" sz="2800" dirty="0">
                <a:solidFill>
                  <a:prstClr val="black"/>
                </a:solidFill>
                <a:latin typeface="Microsoft YaHei UI"/>
                <a:ea typeface="微软雅黑"/>
              </a:rPr>
              <a:t>else</a:t>
            </a:r>
            <a:r>
              <a:rPr lang="zh-CN" altLang="en-US" sz="2800" dirty="0">
                <a:solidFill>
                  <a:prstClr val="black"/>
                </a:solidFill>
                <a:latin typeface="Microsoft YaHei UI"/>
                <a:ea typeface="微软雅黑"/>
              </a:rPr>
              <a:t>子句总是与其之前最近的</a:t>
            </a:r>
            <a:r>
              <a:rPr lang="en-US" altLang="zh-CN" sz="2800" dirty="0">
                <a:solidFill>
                  <a:prstClr val="black"/>
                </a:solidFill>
                <a:latin typeface="Microsoft YaHei UI"/>
                <a:ea typeface="微软雅黑"/>
              </a:rPr>
              <a:t>if</a:t>
            </a:r>
            <a:r>
              <a:rPr lang="zh-CN" altLang="en-US" sz="2800" dirty="0">
                <a:solidFill>
                  <a:prstClr val="black"/>
                </a:solidFill>
                <a:latin typeface="Microsoft YaHei UI"/>
                <a:ea typeface="微软雅黑"/>
              </a:rPr>
              <a:t>配对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34316"/>
            <a:ext cx="8138160" cy="678815"/>
          </a:xfrm>
        </p:spPr>
        <p:txBody>
          <a:bodyPr/>
          <a:lstStyle/>
          <a:p>
            <a:pPr algn="l"/>
            <a:r>
              <a:rPr lang="zh-CN" altLang="en-US" sz="2800" dirty="0"/>
              <a:t>分支与跳转</a:t>
            </a:r>
            <a:r>
              <a:rPr lang="en-US" altLang="zh-CN" sz="2800" dirty="0"/>
              <a:t>——</a:t>
            </a:r>
            <a:r>
              <a:rPr lang="zh-CN" altLang="en-US" sz="2800" dirty="0"/>
              <a:t>条件运算符   ？ ：</a:t>
            </a:r>
          </a:p>
        </p:txBody>
      </p:sp>
      <p:sp>
        <p:nvSpPr>
          <p:cNvPr id="4" name="灯片编号占位符 3"/>
          <p:cNvSpPr>
            <a:spLocks noGrp="1"/>
          </p:cNvSpPr>
          <p:nvPr>
            <p:ph type="sldNum" sz="quarter" idx="4294967295"/>
          </p:nvPr>
        </p:nvSpPr>
        <p:spPr>
          <a:xfrm>
            <a:off x="8485506" y="6235701"/>
            <a:ext cx="2182495" cy="206375"/>
          </a:xfrm>
        </p:spPr>
        <p:txBody>
          <a:bodyPr/>
          <a:lstStyle/>
          <a:p>
            <a:pPr defTabSz="685800"/>
            <a:r>
              <a:rPr lang="zh-CN" altLang="en-US" dirty="0">
                <a:solidFill>
                  <a:srgbClr val="000000">
                    <a:lumMod val="50000"/>
                    <a:lumOff val="50000"/>
                  </a:srgbClr>
                </a:solidFill>
                <a:latin typeface="Arial" panose="020B0604020202020204"/>
                <a:ea typeface="微软雅黑" panose="020B0503020204020204" pitchFamily="34" charset="-122"/>
              </a:rPr>
              <a:t> </a:t>
            </a:r>
          </a:p>
        </p:txBody>
      </p:sp>
      <p:sp>
        <p:nvSpPr>
          <p:cNvPr id="5" name="矩形 4"/>
          <p:cNvSpPr/>
          <p:nvPr/>
        </p:nvSpPr>
        <p:spPr>
          <a:xfrm>
            <a:off x="3755136" y="1248797"/>
            <a:ext cx="4328160" cy="12557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Microsoft YaHei UI"/>
                <a:ea typeface="微软雅黑"/>
              </a:rPr>
              <a:t>Exp1 </a:t>
            </a:r>
            <a:r>
              <a:rPr lang="zh-CN" altLang="en-US" sz="2800" dirty="0">
                <a:solidFill>
                  <a:prstClr val="white"/>
                </a:solidFill>
                <a:latin typeface="Microsoft YaHei UI"/>
                <a:ea typeface="微软雅黑"/>
              </a:rPr>
              <a:t>？</a:t>
            </a:r>
            <a:r>
              <a:rPr lang="en-US" altLang="zh-CN" sz="2800" dirty="0">
                <a:solidFill>
                  <a:prstClr val="white"/>
                </a:solidFill>
                <a:latin typeface="Microsoft YaHei UI"/>
                <a:ea typeface="微软雅黑"/>
              </a:rPr>
              <a:t>Exp2</a:t>
            </a:r>
            <a:r>
              <a:rPr lang="zh-CN" altLang="en-US" sz="2800" dirty="0">
                <a:solidFill>
                  <a:prstClr val="white"/>
                </a:solidFill>
                <a:latin typeface="Microsoft YaHei UI"/>
                <a:ea typeface="微软雅黑"/>
              </a:rPr>
              <a:t>：</a:t>
            </a:r>
            <a:r>
              <a:rPr lang="en-US" altLang="zh-CN" sz="2800" dirty="0">
                <a:solidFill>
                  <a:prstClr val="white"/>
                </a:solidFill>
                <a:latin typeface="Microsoft YaHei UI"/>
                <a:ea typeface="微软雅黑"/>
              </a:rPr>
              <a:t>Exp3;</a:t>
            </a:r>
            <a:endParaRPr lang="zh-CN" altLang="en-US" sz="2800" dirty="0">
              <a:solidFill>
                <a:prstClr val="white"/>
              </a:solidFill>
              <a:latin typeface="Microsoft YaHei UI"/>
              <a:ea typeface="微软雅黑"/>
            </a:endParaRPr>
          </a:p>
        </p:txBody>
      </p:sp>
      <p:sp>
        <p:nvSpPr>
          <p:cNvPr id="7" name="椭圆 6"/>
          <p:cNvSpPr/>
          <p:nvPr/>
        </p:nvSpPr>
        <p:spPr>
          <a:xfrm>
            <a:off x="1894967" y="3625850"/>
            <a:ext cx="1146048" cy="1109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Exp1</a:t>
            </a:r>
            <a:endParaRPr lang="zh-CN" altLang="en-US" dirty="0">
              <a:solidFill>
                <a:prstClr val="white"/>
              </a:solidFill>
              <a:latin typeface="Microsoft YaHei UI"/>
              <a:ea typeface="微软雅黑"/>
            </a:endParaRPr>
          </a:p>
        </p:txBody>
      </p:sp>
      <p:sp>
        <p:nvSpPr>
          <p:cNvPr id="11" name="椭圆 10"/>
          <p:cNvSpPr/>
          <p:nvPr/>
        </p:nvSpPr>
        <p:spPr>
          <a:xfrm>
            <a:off x="4300981" y="3625850"/>
            <a:ext cx="1146048" cy="1109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Exp2</a:t>
            </a:r>
            <a:endParaRPr lang="zh-CN" altLang="en-US" dirty="0">
              <a:solidFill>
                <a:prstClr val="white"/>
              </a:solidFill>
              <a:latin typeface="Microsoft YaHei UI"/>
              <a:ea typeface="微软雅黑"/>
            </a:endParaRPr>
          </a:p>
        </p:txBody>
      </p:sp>
      <p:sp>
        <p:nvSpPr>
          <p:cNvPr id="12" name="椭圆 11"/>
          <p:cNvSpPr/>
          <p:nvPr/>
        </p:nvSpPr>
        <p:spPr>
          <a:xfrm>
            <a:off x="6706996" y="3625850"/>
            <a:ext cx="1146048" cy="11094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Exp3</a:t>
            </a:r>
            <a:endParaRPr lang="zh-CN" altLang="en-US" dirty="0">
              <a:solidFill>
                <a:prstClr val="white"/>
              </a:solidFill>
              <a:latin typeface="Microsoft YaHei UI"/>
              <a:ea typeface="微软雅黑"/>
            </a:endParaRPr>
          </a:p>
        </p:txBody>
      </p:sp>
      <p:cxnSp>
        <p:nvCxnSpPr>
          <p:cNvPr id="14" name="连接符: 曲线 13"/>
          <p:cNvCxnSpPr>
            <a:endCxn id="11" idx="0"/>
          </p:cNvCxnSpPr>
          <p:nvPr/>
        </p:nvCxnSpPr>
        <p:spPr>
          <a:xfrm rot="5400000" flipH="1" flipV="1">
            <a:off x="3670998" y="2422843"/>
            <a:ext cx="12700" cy="2406014"/>
          </a:xfrm>
          <a:prstGeom prst="curvedConnector3">
            <a:avLst>
              <a:gd name="adj1" fmla="val 4296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连接符: 曲线 17"/>
          <p:cNvCxnSpPr>
            <a:endCxn id="12" idx="4"/>
          </p:cNvCxnSpPr>
          <p:nvPr/>
        </p:nvCxnSpPr>
        <p:spPr>
          <a:xfrm rot="16200000" flipH="1">
            <a:off x="4874005" y="2329308"/>
            <a:ext cx="12700" cy="4812029"/>
          </a:xfrm>
          <a:prstGeom prst="curvedConnector3">
            <a:avLst>
              <a:gd name="adj1" fmla="val 6408016"/>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041015" y="2543176"/>
            <a:ext cx="1188720" cy="583565"/>
          </a:xfrm>
          <a:prstGeom prst="rect">
            <a:avLst/>
          </a:prstGeom>
          <a:noFill/>
        </p:spPr>
        <p:txBody>
          <a:bodyPr wrap="square" rtlCol="0">
            <a:spAutoFit/>
          </a:bodyPr>
          <a:lstStyle/>
          <a:p>
            <a:r>
              <a:rPr lang="en-US" altLang="zh-CN" sz="3200" dirty="0">
                <a:solidFill>
                  <a:prstClr val="black"/>
                </a:solidFill>
                <a:latin typeface="Microsoft YaHei UI"/>
                <a:ea typeface="微软雅黑"/>
              </a:rPr>
              <a:t>true</a:t>
            </a:r>
            <a:endParaRPr lang="zh-CN" altLang="en-US" sz="3200" dirty="0">
              <a:solidFill>
                <a:prstClr val="black"/>
              </a:solidFill>
              <a:latin typeface="Microsoft YaHei UI"/>
              <a:ea typeface="微软雅黑"/>
            </a:endParaRPr>
          </a:p>
        </p:txBody>
      </p:sp>
      <p:sp>
        <p:nvSpPr>
          <p:cNvPr id="22" name="文本框 21"/>
          <p:cNvSpPr txBox="1"/>
          <p:nvPr/>
        </p:nvSpPr>
        <p:spPr>
          <a:xfrm>
            <a:off x="4317363" y="5552406"/>
            <a:ext cx="1158240" cy="583565"/>
          </a:xfrm>
          <a:prstGeom prst="rect">
            <a:avLst/>
          </a:prstGeom>
          <a:noFill/>
        </p:spPr>
        <p:txBody>
          <a:bodyPr wrap="square" rtlCol="0">
            <a:spAutoFit/>
          </a:bodyPr>
          <a:lstStyle/>
          <a:p>
            <a:r>
              <a:rPr lang="en-US" altLang="zh-CN" sz="3200" dirty="0">
                <a:solidFill>
                  <a:prstClr val="black"/>
                </a:solidFill>
                <a:latin typeface="Microsoft YaHei UI"/>
                <a:ea typeface="微软雅黑"/>
              </a:rPr>
              <a:t>false</a:t>
            </a:r>
            <a:endParaRPr lang="zh-CN" altLang="en-US" sz="3200" dirty="0">
              <a:solidFill>
                <a:prstClr val="black"/>
              </a:solidFill>
              <a:latin typeface="Microsoft YaHei UI"/>
              <a:ea typeface="微软雅黑"/>
            </a:endParaRPr>
          </a:p>
        </p:txBody>
      </p:sp>
      <p:sp>
        <p:nvSpPr>
          <p:cNvPr id="23" name="文本框 22"/>
          <p:cNvSpPr txBox="1"/>
          <p:nvPr/>
        </p:nvSpPr>
        <p:spPr>
          <a:xfrm>
            <a:off x="8384285" y="1280083"/>
            <a:ext cx="1463040" cy="706755"/>
          </a:xfrm>
          <a:prstGeom prst="rect">
            <a:avLst/>
          </a:prstGeom>
          <a:noFill/>
        </p:spPr>
        <p:txBody>
          <a:bodyPr wrap="square" rtlCol="0">
            <a:spAutoFit/>
          </a:bodyPr>
          <a:lstStyle/>
          <a:p>
            <a:r>
              <a:rPr lang="zh-CN" altLang="en-US" sz="2000" dirty="0">
                <a:solidFill>
                  <a:prstClr val="black"/>
                </a:solidFill>
                <a:latin typeface="Microsoft YaHei UI"/>
                <a:ea typeface="微软雅黑"/>
              </a:rPr>
              <a:t>可用于替代</a:t>
            </a:r>
            <a:r>
              <a:rPr lang="en-US" altLang="zh-CN" sz="2000" dirty="0">
                <a:solidFill>
                  <a:prstClr val="black"/>
                </a:solidFill>
                <a:latin typeface="Microsoft YaHei UI"/>
                <a:ea typeface="微软雅黑"/>
              </a:rPr>
              <a:t>if-else</a:t>
            </a:r>
            <a:r>
              <a:rPr lang="zh-CN" altLang="en-US" sz="2000" dirty="0">
                <a:solidFill>
                  <a:prstClr val="black"/>
                </a:solidFill>
                <a:latin typeface="Microsoft YaHei UI"/>
                <a:ea typeface="微软雅黑"/>
              </a:rPr>
              <a:t>语句</a:t>
            </a:r>
          </a:p>
        </p:txBody>
      </p:sp>
      <p:sp>
        <p:nvSpPr>
          <p:cNvPr id="24" name="文本框 23"/>
          <p:cNvSpPr txBox="1"/>
          <p:nvPr/>
        </p:nvSpPr>
        <p:spPr>
          <a:xfrm>
            <a:off x="8295462" y="2328211"/>
            <a:ext cx="1962912" cy="1014730"/>
          </a:xfrm>
          <a:prstGeom prst="rect">
            <a:avLst/>
          </a:prstGeom>
          <a:noFill/>
        </p:spPr>
        <p:txBody>
          <a:bodyPr wrap="square" rtlCol="0">
            <a:spAutoFit/>
          </a:bodyPr>
          <a:lstStyle/>
          <a:p>
            <a:r>
              <a:rPr lang="zh-CN" altLang="en-US" sz="2000" dirty="0">
                <a:solidFill>
                  <a:prstClr val="black"/>
                </a:solidFill>
                <a:latin typeface="Microsoft YaHei UI"/>
                <a:ea typeface="微软雅黑"/>
              </a:rPr>
              <a:t>最终选择的值，作为整个表达式的值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27966"/>
            <a:ext cx="8138160" cy="678815"/>
          </a:xfrm>
        </p:spPr>
        <p:txBody>
          <a:bodyPr/>
          <a:lstStyle/>
          <a:p>
            <a:pPr algn="l"/>
            <a:r>
              <a:rPr lang="zh-CN" altLang="en-US" sz="2800" dirty="0"/>
              <a:t>分支与跳转</a:t>
            </a:r>
            <a:r>
              <a:rPr lang="en-US" altLang="zh-CN" sz="2800" dirty="0"/>
              <a:t>——switch</a:t>
            </a:r>
            <a:endParaRPr lang="zh-CN" altLang="en-US" sz="2800" dirty="0"/>
          </a:p>
        </p:txBody>
      </p:sp>
      <p:sp>
        <p:nvSpPr>
          <p:cNvPr id="4" name="灯片编号占位符 3"/>
          <p:cNvSpPr>
            <a:spLocks noGrp="1"/>
          </p:cNvSpPr>
          <p:nvPr>
            <p:ph type="sldNum" sz="quarter" idx="4294967295"/>
          </p:nvPr>
        </p:nvSpPr>
        <p:spPr>
          <a:xfrm>
            <a:off x="8485506" y="6235701"/>
            <a:ext cx="2182495" cy="206375"/>
          </a:xfrm>
        </p:spPr>
        <p:txBody>
          <a:bodyPr/>
          <a:lstStyle/>
          <a:p>
            <a:pPr algn="r" defTabSz="685800">
              <a:defRPr/>
            </a:pPr>
            <a:r>
              <a:rPr lang="en-US" altLang="zh-CN" sz="750" dirty="0">
                <a:solidFill>
                  <a:srgbClr val="000000">
                    <a:lumMod val="50000"/>
                    <a:lumOff val="50000"/>
                  </a:srgbClr>
                </a:solidFill>
                <a:latin typeface="Arial" panose="020B0604020202020204"/>
                <a:ea typeface="微软雅黑" panose="020B0503020204020204" pitchFamily="34" charset="-122"/>
              </a:rPr>
              <a:t> </a:t>
            </a:r>
            <a:endParaRPr lang="zh-CN" altLang="en-US" sz="750" dirty="0">
              <a:solidFill>
                <a:srgbClr val="000000">
                  <a:lumMod val="50000"/>
                  <a:lumOff val="50000"/>
                </a:srgbClr>
              </a:solidFill>
              <a:latin typeface="Arial" panose="020B0604020202020204"/>
              <a:ea typeface="微软雅黑" panose="020B0503020204020204" pitchFamily="34" charset="-122"/>
            </a:endParaRPr>
          </a:p>
        </p:txBody>
      </p:sp>
      <p:grpSp>
        <p:nvGrpSpPr>
          <p:cNvPr id="66" name="组合 65"/>
          <p:cNvGrpSpPr/>
          <p:nvPr/>
        </p:nvGrpSpPr>
        <p:grpSpPr>
          <a:xfrm>
            <a:off x="2832315" y="906478"/>
            <a:ext cx="6150299" cy="5465386"/>
            <a:chOff x="1255776" y="1123950"/>
            <a:chExt cx="6150299" cy="5465386"/>
          </a:xfrm>
        </p:grpSpPr>
        <p:cxnSp>
          <p:nvCxnSpPr>
            <p:cNvPr id="53" name="直接箭头连接符 52"/>
            <p:cNvCxnSpPr/>
            <p:nvPr/>
          </p:nvCxnSpPr>
          <p:spPr>
            <a:xfrm>
              <a:off x="7268066" y="2775204"/>
              <a:ext cx="0" cy="3814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5" name="组合 64"/>
            <p:cNvGrpSpPr/>
            <p:nvPr/>
          </p:nvGrpSpPr>
          <p:grpSpPr>
            <a:xfrm>
              <a:off x="1255776" y="1123950"/>
              <a:ext cx="6150299" cy="5057394"/>
              <a:chOff x="1255776" y="1123950"/>
              <a:chExt cx="6150299" cy="5057394"/>
            </a:xfrm>
          </p:grpSpPr>
          <p:sp>
            <p:nvSpPr>
              <p:cNvPr id="5" name="菱形 4"/>
              <p:cNvSpPr/>
              <p:nvPr/>
            </p:nvSpPr>
            <p:spPr>
              <a:xfrm>
                <a:off x="1255776" y="1123950"/>
                <a:ext cx="1840992" cy="1255776"/>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switch</a:t>
                </a:r>
                <a:r>
                  <a:rPr lang="zh-CN" altLang="en-US" dirty="0">
                    <a:solidFill>
                      <a:prstClr val="white"/>
                    </a:solidFill>
                    <a:latin typeface="Microsoft YaHei UI"/>
                    <a:ea typeface="微软雅黑"/>
                  </a:rPr>
                  <a:t>（</a:t>
                </a:r>
                <a:r>
                  <a:rPr lang="en-US" altLang="zh-CN" dirty="0">
                    <a:solidFill>
                      <a:prstClr val="white"/>
                    </a:solidFill>
                    <a:latin typeface="Microsoft YaHei UI"/>
                    <a:ea typeface="微软雅黑"/>
                  </a:rPr>
                  <a:t>Exp</a:t>
                </a:r>
                <a:r>
                  <a:rPr lang="zh-CN" altLang="en-US" dirty="0">
                    <a:solidFill>
                      <a:prstClr val="white"/>
                    </a:solidFill>
                    <a:latin typeface="Microsoft YaHei UI"/>
                    <a:ea typeface="微软雅黑"/>
                  </a:rPr>
                  <a:t>）</a:t>
                </a:r>
              </a:p>
            </p:txBody>
          </p:sp>
          <p:grpSp>
            <p:nvGrpSpPr>
              <p:cNvPr id="64" name="组合 63"/>
              <p:cNvGrpSpPr/>
              <p:nvPr/>
            </p:nvGrpSpPr>
            <p:grpSpPr>
              <a:xfrm>
                <a:off x="2030156" y="2379726"/>
                <a:ext cx="5375919" cy="3801618"/>
                <a:chOff x="2030156" y="2379726"/>
                <a:chExt cx="5375919" cy="3801618"/>
              </a:xfrm>
            </p:grpSpPr>
            <p:sp>
              <p:nvSpPr>
                <p:cNvPr id="6" name="矩形 5"/>
                <p:cNvSpPr/>
                <p:nvPr/>
              </p:nvSpPr>
              <p:spPr>
                <a:xfrm>
                  <a:off x="4303776" y="2494788"/>
                  <a:ext cx="1682496" cy="5608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Code 1</a:t>
                  </a:r>
                  <a:endParaRPr lang="zh-CN" altLang="en-US" dirty="0">
                    <a:solidFill>
                      <a:prstClr val="white"/>
                    </a:solidFill>
                    <a:latin typeface="Microsoft YaHei UI"/>
                    <a:ea typeface="微软雅黑"/>
                  </a:endParaRPr>
                </a:p>
              </p:txBody>
            </p:sp>
            <p:sp>
              <p:nvSpPr>
                <p:cNvPr id="11" name="矩形 10"/>
                <p:cNvSpPr/>
                <p:nvPr/>
              </p:nvSpPr>
              <p:spPr>
                <a:xfrm>
                  <a:off x="4303776" y="3317749"/>
                  <a:ext cx="1682496" cy="5608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Code 2</a:t>
                  </a:r>
                  <a:endParaRPr lang="zh-CN" altLang="en-US" dirty="0">
                    <a:solidFill>
                      <a:prstClr val="white"/>
                    </a:solidFill>
                    <a:latin typeface="Microsoft YaHei UI"/>
                    <a:ea typeface="微软雅黑"/>
                  </a:endParaRPr>
                </a:p>
              </p:txBody>
            </p:sp>
            <p:sp>
              <p:nvSpPr>
                <p:cNvPr id="12" name="矩形 11"/>
                <p:cNvSpPr/>
                <p:nvPr/>
              </p:nvSpPr>
              <p:spPr>
                <a:xfrm>
                  <a:off x="4303776" y="4140710"/>
                  <a:ext cx="1682496" cy="5608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Code 3</a:t>
                  </a:r>
                  <a:endParaRPr lang="zh-CN" altLang="en-US" dirty="0">
                    <a:solidFill>
                      <a:prstClr val="white"/>
                    </a:solidFill>
                    <a:latin typeface="Microsoft YaHei UI"/>
                    <a:ea typeface="微软雅黑"/>
                  </a:endParaRPr>
                </a:p>
              </p:txBody>
            </p:sp>
            <p:cxnSp>
              <p:nvCxnSpPr>
                <p:cNvPr id="14" name="直接箭头连接符 13"/>
                <p:cNvCxnSpPr>
                  <a:stCxn id="5" idx="2"/>
                </p:cNvCxnSpPr>
                <p:nvPr/>
              </p:nvCxnSpPr>
              <p:spPr>
                <a:xfrm>
                  <a:off x="2176272" y="2379726"/>
                  <a:ext cx="0" cy="3521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6" idx="1"/>
                </p:cNvCxnSpPr>
                <p:nvPr/>
              </p:nvCxnSpPr>
              <p:spPr>
                <a:xfrm>
                  <a:off x="2176272" y="2775204"/>
                  <a:ext cx="21275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11" idx="1"/>
                </p:cNvCxnSpPr>
                <p:nvPr/>
              </p:nvCxnSpPr>
              <p:spPr>
                <a:xfrm>
                  <a:off x="2176272" y="3598165"/>
                  <a:ext cx="21275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2" idx="1"/>
                </p:cNvCxnSpPr>
                <p:nvPr/>
              </p:nvCxnSpPr>
              <p:spPr>
                <a:xfrm>
                  <a:off x="2176272" y="4421126"/>
                  <a:ext cx="21275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613142" y="2405872"/>
                  <a:ext cx="1253765" cy="369332"/>
                </a:xfrm>
                <a:prstGeom prst="rect">
                  <a:avLst/>
                </a:prstGeom>
                <a:noFill/>
              </p:spPr>
              <p:txBody>
                <a:bodyPr wrap="square" rtlCol="0">
                  <a:spAutoFit/>
                </a:bodyPr>
                <a:lstStyle/>
                <a:p>
                  <a:r>
                    <a:rPr lang="en-US" altLang="zh-CN" dirty="0">
                      <a:solidFill>
                        <a:prstClr val="black"/>
                      </a:solidFill>
                      <a:latin typeface="Microsoft YaHei UI"/>
                      <a:ea typeface="微软雅黑"/>
                    </a:rPr>
                    <a:t>case 1</a:t>
                  </a:r>
                  <a:r>
                    <a:rPr lang="zh-CN" altLang="en-US" dirty="0">
                      <a:solidFill>
                        <a:prstClr val="black"/>
                      </a:solidFill>
                      <a:latin typeface="Microsoft YaHei UI"/>
                      <a:ea typeface="微软雅黑"/>
                    </a:rPr>
                    <a:t>：</a:t>
                  </a:r>
                </a:p>
              </p:txBody>
            </p:sp>
            <p:sp>
              <p:nvSpPr>
                <p:cNvPr id="28" name="文本框 27"/>
                <p:cNvSpPr txBox="1"/>
                <p:nvPr/>
              </p:nvSpPr>
              <p:spPr>
                <a:xfrm>
                  <a:off x="2621280" y="3272550"/>
                  <a:ext cx="1253765" cy="369332"/>
                </a:xfrm>
                <a:prstGeom prst="rect">
                  <a:avLst/>
                </a:prstGeom>
                <a:noFill/>
              </p:spPr>
              <p:txBody>
                <a:bodyPr wrap="square" rtlCol="0">
                  <a:spAutoFit/>
                </a:bodyPr>
                <a:lstStyle/>
                <a:p>
                  <a:r>
                    <a:rPr lang="en-US" altLang="zh-CN" dirty="0">
                      <a:solidFill>
                        <a:prstClr val="black"/>
                      </a:solidFill>
                      <a:latin typeface="Microsoft YaHei UI"/>
                      <a:ea typeface="微软雅黑"/>
                    </a:rPr>
                    <a:t>case 2</a:t>
                  </a:r>
                  <a:r>
                    <a:rPr lang="zh-CN" altLang="en-US" dirty="0">
                      <a:solidFill>
                        <a:prstClr val="black"/>
                      </a:solidFill>
                      <a:latin typeface="Microsoft YaHei UI"/>
                      <a:ea typeface="微软雅黑"/>
                    </a:rPr>
                    <a:t>：</a:t>
                  </a:r>
                </a:p>
              </p:txBody>
            </p:sp>
            <p:sp>
              <p:nvSpPr>
                <p:cNvPr id="29" name="文本框 28"/>
                <p:cNvSpPr txBox="1"/>
                <p:nvPr/>
              </p:nvSpPr>
              <p:spPr>
                <a:xfrm>
                  <a:off x="2621280" y="4055018"/>
                  <a:ext cx="1253765" cy="369332"/>
                </a:xfrm>
                <a:prstGeom prst="rect">
                  <a:avLst/>
                </a:prstGeom>
                <a:noFill/>
              </p:spPr>
              <p:txBody>
                <a:bodyPr wrap="square" rtlCol="0">
                  <a:spAutoFit/>
                </a:bodyPr>
                <a:lstStyle/>
                <a:p>
                  <a:r>
                    <a:rPr lang="en-US" altLang="zh-CN" dirty="0">
                      <a:solidFill>
                        <a:prstClr val="black"/>
                      </a:solidFill>
                      <a:latin typeface="Microsoft YaHei UI"/>
                      <a:ea typeface="微软雅黑"/>
                    </a:rPr>
                    <a:t>case 3</a:t>
                  </a:r>
                  <a:r>
                    <a:rPr lang="zh-CN" altLang="en-US" dirty="0">
                      <a:solidFill>
                        <a:prstClr val="black"/>
                      </a:solidFill>
                      <a:latin typeface="Microsoft YaHei UI"/>
                      <a:ea typeface="微软雅黑"/>
                    </a:rPr>
                    <a:t>：</a:t>
                  </a:r>
                </a:p>
              </p:txBody>
            </p:sp>
            <p:grpSp>
              <p:nvGrpSpPr>
                <p:cNvPr id="60" name="组合 59"/>
                <p:cNvGrpSpPr/>
                <p:nvPr/>
              </p:nvGrpSpPr>
              <p:grpSpPr>
                <a:xfrm>
                  <a:off x="2030156" y="5082536"/>
                  <a:ext cx="292231" cy="347303"/>
                  <a:chOff x="2030156" y="5082536"/>
                  <a:chExt cx="292231" cy="347303"/>
                </a:xfrm>
              </p:grpSpPr>
              <p:cxnSp>
                <p:nvCxnSpPr>
                  <p:cNvPr id="31" name="直接连接符 30"/>
                  <p:cNvCxnSpPr/>
                  <p:nvPr/>
                </p:nvCxnSpPr>
                <p:spPr>
                  <a:xfrm flipH="1">
                    <a:off x="2030156" y="5082536"/>
                    <a:ext cx="292231" cy="235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2030156" y="5200371"/>
                    <a:ext cx="292231" cy="229468"/>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5" name="直接箭头连接符 34"/>
                <p:cNvCxnSpPr/>
                <p:nvPr/>
              </p:nvCxnSpPr>
              <p:spPr>
                <a:xfrm>
                  <a:off x="2176271" y="5900928"/>
                  <a:ext cx="2127505" cy="7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303776" y="5620512"/>
                  <a:ext cx="1682496" cy="5608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Code n</a:t>
                  </a:r>
                  <a:endParaRPr lang="zh-CN" altLang="en-US" dirty="0">
                    <a:solidFill>
                      <a:prstClr val="white"/>
                    </a:solidFill>
                    <a:latin typeface="Microsoft YaHei UI"/>
                    <a:ea typeface="微软雅黑"/>
                  </a:endParaRPr>
                </a:p>
              </p:txBody>
            </p:sp>
            <p:sp>
              <p:nvSpPr>
                <p:cNvPr id="39" name="文本框 38"/>
                <p:cNvSpPr txBox="1"/>
                <p:nvPr/>
              </p:nvSpPr>
              <p:spPr>
                <a:xfrm>
                  <a:off x="2613140" y="5443638"/>
                  <a:ext cx="1253765" cy="369332"/>
                </a:xfrm>
                <a:prstGeom prst="rect">
                  <a:avLst/>
                </a:prstGeom>
                <a:noFill/>
              </p:spPr>
              <p:txBody>
                <a:bodyPr wrap="square" rtlCol="0">
                  <a:spAutoFit/>
                </a:bodyPr>
                <a:lstStyle/>
                <a:p>
                  <a:r>
                    <a:rPr lang="en-US" altLang="zh-CN" dirty="0">
                      <a:solidFill>
                        <a:prstClr val="black"/>
                      </a:solidFill>
                      <a:latin typeface="Microsoft YaHei UI"/>
                      <a:ea typeface="微软雅黑"/>
                    </a:rPr>
                    <a:t>default</a:t>
                  </a:r>
                  <a:r>
                    <a:rPr lang="zh-CN" altLang="en-US" dirty="0">
                      <a:solidFill>
                        <a:prstClr val="black"/>
                      </a:solidFill>
                      <a:latin typeface="Microsoft YaHei UI"/>
                      <a:ea typeface="微软雅黑"/>
                    </a:rPr>
                    <a:t>：</a:t>
                  </a:r>
                </a:p>
              </p:txBody>
            </p:sp>
            <p:cxnSp>
              <p:nvCxnSpPr>
                <p:cNvPr id="41" name="直接箭头连接符 40"/>
                <p:cNvCxnSpPr>
                  <a:stCxn id="6" idx="3"/>
                </p:cNvCxnSpPr>
                <p:nvPr/>
              </p:nvCxnSpPr>
              <p:spPr>
                <a:xfrm>
                  <a:off x="5986272" y="2775204"/>
                  <a:ext cx="1281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1" idx="3"/>
                </p:cNvCxnSpPr>
                <p:nvPr/>
              </p:nvCxnSpPr>
              <p:spPr>
                <a:xfrm>
                  <a:off x="5986272" y="3598165"/>
                  <a:ext cx="1281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12" idx="3"/>
                </p:cNvCxnSpPr>
                <p:nvPr/>
              </p:nvCxnSpPr>
              <p:spPr>
                <a:xfrm>
                  <a:off x="5986272" y="4421126"/>
                  <a:ext cx="1281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38" idx="3"/>
                </p:cNvCxnSpPr>
                <p:nvPr/>
              </p:nvCxnSpPr>
              <p:spPr>
                <a:xfrm>
                  <a:off x="5986272" y="5900928"/>
                  <a:ext cx="1281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a:off x="7162014" y="2691533"/>
                  <a:ext cx="212103" cy="2063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icrosoft YaHei UI"/>
                    <a:ea typeface="微软雅黑"/>
                  </a:endParaRPr>
                </a:p>
              </p:txBody>
            </p:sp>
            <p:sp>
              <p:nvSpPr>
                <p:cNvPr id="56" name="椭圆 55"/>
                <p:cNvSpPr/>
                <p:nvPr/>
              </p:nvSpPr>
              <p:spPr>
                <a:xfrm>
                  <a:off x="7162014" y="3513080"/>
                  <a:ext cx="212103" cy="2063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icrosoft YaHei UI"/>
                    <a:ea typeface="微软雅黑"/>
                  </a:endParaRPr>
                </a:p>
              </p:txBody>
            </p:sp>
            <p:sp>
              <p:nvSpPr>
                <p:cNvPr id="57" name="椭圆 56"/>
                <p:cNvSpPr/>
                <p:nvPr/>
              </p:nvSpPr>
              <p:spPr>
                <a:xfrm>
                  <a:off x="7162013" y="4316521"/>
                  <a:ext cx="212103" cy="2063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icrosoft YaHei UI"/>
                    <a:ea typeface="微软雅黑"/>
                  </a:endParaRPr>
                </a:p>
              </p:txBody>
            </p:sp>
            <p:sp>
              <p:nvSpPr>
                <p:cNvPr id="58" name="椭圆 57"/>
                <p:cNvSpPr/>
                <p:nvPr/>
              </p:nvSpPr>
              <p:spPr>
                <a:xfrm>
                  <a:off x="7162012" y="5812970"/>
                  <a:ext cx="212103" cy="2063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icrosoft YaHei UI"/>
                    <a:ea typeface="微软雅黑"/>
                  </a:endParaRPr>
                </a:p>
              </p:txBody>
            </p:sp>
            <p:sp>
              <p:nvSpPr>
                <p:cNvPr id="59" name="椭圆 58"/>
                <p:cNvSpPr/>
                <p:nvPr/>
              </p:nvSpPr>
              <p:spPr>
                <a:xfrm>
                  <a:off x="2102030" y="5750363"/>
                  <a:ext cx="212103" cy="2063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icrosoft YaHei UI"/>
                    <a:ea typeface="微软雅黑"/>
                  </a:endParaRPr>
                </a:p>
              </p:txBody>
            </p:sp>
            <p:grpSp>
              <p:nvGrpSpPr>
                <p:cNvPr id="61" name="组合 60"/>
                <p:cNvGrpSpPr/>
                <p:nvPr/>
              </p:nvGrpSpPr>
              <p:grpSpPr>
                <a:xfrm>
                  <a:off x="7113844" y="5199262"/>
                  <a:ext cx="292231" cy="347303"/>
                  <a:chOff x="2030156" y="5082536"/>
                  <a:chExt cx="292231" cy="347303"/>
                </a:xfrm>
              </p:grpSpPr>
              <p:cxnSp>
                <p:nvCxnSpPr>
                  <p:cNvPr id="62" name="直接连接符 61"/>
                  <p:cNvCxnSpPr/>
                  <p:nvPr/>
                </p:nvCxnSpPr>
                <p:spPr>
                  <a:xfrm flipH="1">
                    <a:off x="2030156" y="5082536"/>
                    <a:ext cx="292231" cy="235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2030156" y="5200371"/>
                    <a:ext cx="292231" cy="229468"/>
                  </a:xfrm>
                  <a:prstGeom prst="line">
                    <a:avLst/>
                  </a:prstGeom>
                </p:spPr>
                <p:style>
                  <a:lnRef idx="1">
                    <a:schemeClr val="accent1"/>
                  </a:lnRef>
                  <a:fillRef idx="0">
                    <a:schemeClr val="accent1"/>
                  </a:fillRef>
                  <a:effectRef idx="0">
                    <a:schemeClr val="accent1"/>
                  </a:effectRef>
                  <a:fontRef idx="minor">
                    <a:schemeClr val="tx1"/>
                  </a:fontRef>
                </p:style>
              </p:cxnSp>
            </p:grpSp>
          </p:grpSp>
        </p:grpSp>
      </p:grpSp>
      <p:sp>
        <p:nvSpPr>
          <p:cNvPr id="68" name="文本框 67"/>
          <p:cNvSpPr txBox="1"/>
          <p:nvPr/>
        </p:nvSpPr>
        <p:spPr>
          <a:xfrm>
            <a:off x="6095405" y="808025"/>
            <a:ext cx="4572000" cy="1014730"/>
          </a:xfrm>
          <a:prstGeom prst="rect">
            <a:avLst/>
          </a:prstGeom>
          <a:noFill/>
        </p:spPr>
        <p:txBody>
          <a:bodyPr wrap="square">
            <a:spAutoFit/>
          </a:bodyPr>
          <a:lstStyle/>
          <a:p>
            <a:r>
              <a:rPr lang="en-US" altLang="zh-CN" sz="2000" dirty="0">
                <a:solidFill>
                  <a:prstClr val="black"/>
                </a:solidFill>
                <a:latin typeface="Microsoft YaHei UI"/>
                <a:ea typeface="微软雅黑"/>
              </a:rPr>
              <a:t>switch </a:t>
            </a:r>
            <a:r>
              <a:rPr lang="zh-CN" altLang="en-US" sz="2000" dirty="0">
                <a:solidFill>
                  <a:prstClr val="black"/>
                </a:solidFill>
                <a:latin typeface="Microsoft YaHei UI"/>
                <a:ea typeface="微软雅黑"/>
              </a:rPr>
              <a:t>语句中的 </a:t>
            </a:r>
            <a:r>
              <a:rPr lang="en-US" altLang="zh-CN" sz="2000" dirty="0">
                <a:solidFill>
                  <a:prstClr val="black"/>
                </a:solidFill>
                <a:latin typeface="Microsoft YaHei UI"/>
                <a:ea typeface="微软雅黑"/>
              </a:rPr>
              <a:t>exp</a:t>
            </a:r>
            <a:r>
              <a:rPr lang="zh-CN" altLang="en-US" sz="2000" dirty="0">
                <a:solidFill>
                  <a:prstClr val="black"/>
                </a:solidFill>
                <a:latin typeface="Microsoft YaHei UI"/>
                <a:ea typeface="微软雅黑"/>
              </a:rPr>
              <a:t>是一个常量表达式</a:t>
            </a:r>
            <a:endParaRPr lang="en-US" altLang="zh-CN" sz="2000" dirty="0">
              <a:solidFill>
                <a:prstClr val="black"/>
              </a:solidFill>
              <a:latin typeface="Microsoft YaHei UI"/>
              <a:ea typeface="微软雅黑"/>
            </a:endParaRPr>
          </a:p>
          <a:p>
            <a:r>
              <a:rPr lang="zh-CN" altLang="en-US" sz="2000" dirty="0">
                <a:solidFill>
                  <a:prstClr val="black"/>
                </a:solidFill>
                <a:latin typeface="Microsoft YaHei UI"/>
                <a:ea typeface="微软雅黑"/>
              </a:rPr>
              <a:t>必须是一个整型或枚举类型。</a:t>
            </a:r>
          </a:p>
        </p:txBody>
      </p:sp>
      <p:sp>
        <p:nvSpPr>
          <p:cNvPr id="69" name="文本框 68"/>
          <p:cNvSpPr txBox="1"/>
          <p:nvPr/>
        </p:nvSpPr>
        <p:spPr>
          <a:xfrm>
            <a:off x="5968123" y="1657161"/>
            <a:ext cx="3657599" cy="460375"/>
          </a:xfrm>
          <a:prstGeom prst="rect">
            <a:avLst/>
          </a:prstGeom>
          <a:noFill/>
        </p:spPr>
        <p:txBody>
          <a:bodyPr wrap="square" rtlCol="0">
            <a:spAutoFit/>
          </a:bodyPr>
          <a:lstStyle/>
          <a:p>
            <a:r>
              <a:rPr lang="zh-CN" altLang="en-US" sz="2400" dirty="0">
                <a:solidFill>
                  <a:prstClr val="black"/>
                </a:solidFill>
                <a:latin typeface="Microsoft YaHei UI"/>
                <a:ea typeface="微软雅黑"/>
              </a:rPr>
              <a:t>别忘了什么时候要用</a:t>
            </a:r>
          </a:p>
        </p:txBody>
      </p:sp>
      <p:sp>
        <p:nvSpPr>
          <p:cNvPr id="3" name="爆炸形: 8 pt  2"/>
          <p:cNvSpPr/>
          <p:nvPr/>
        </p:nvSpPr>
        <p:spPr>
          <a:xfrm>
            <a:off x="8844601" y="1215055"/>
            <a:ext cx="1562240" cy="1642744"/>
          </a:xfrm>
          <a:prstGeom prst="irregularSeal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break</a:t>
            </a:r>
            <a:r>
              <a:rPr lang="zh-CN" altLang="en-US" dirty="0">
                <a:solidFill>
                  <a:prstClr val="white"/>
                </a:solidFill>
                <a:latin typeface="Microsoft YaHei UI"/>
                <a:ea typeface="微软雅黑"/>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26696"/>
            <a:ext cx="8138160" cy="678815"/>
          </a:xfrm>
        </p:spPr>
        <p:txBody>
          <a:bodyPr/>
          <a:lstStyle/>
          <a:p>
            <a:pPr algn="l"/>
            <a:r>
              <a:rPr lang="zh-CN" altLang="en-US" sz="2800" dirty="0"/>
              <a:t>分支与跳转</a:t>
            </a:r>
            <a:r>
              <a:rPr lang="en-US" altLang="zh-CN" sz="2800" dirty="0"/>
              <a:t>——switch</a:t>
            </a:r>
            <a:r>
              <a:rPr lang="zh-CN" altLang="en-US" sz="2800" dirty="0"/>
              <a:t>实例</a:t>
            </a:r>
          </a:p>
        </p:txBody>
      </p:sp>
      <p:sp>
        <p:nvSpPr>
          <p:cNvPr id="4" name="灯片编号占位符 3"/>
          <p:cNvSpPr>
            <a:spLocks noGrp="1"/>
          </p:cNvSpPr>
          <p:nvPr>
            <p:ph type="sldNum" sz="quarter" idx="4294967295"/>
          </p:nvPr>
        </p:nvSpPr>
        <p:spPr>
          <a:xfrm>
            <a:off x="8485506" y="6235701"/>
            <a:ext cx="2182495" cy="206375"/>
          </a:xfrm>
        </p:spPr>
        <p:txBody>
          <a:bodyPr/>
          <a:lstStyle/>
          <a:p>
            <a:pPr algn="r" defTabSz="685800">
              <a:defRPr/>
            </a:pPr>
            <a:r>
              <a:rPr lang="zh-CN" altLang="en-US" sz="750" dirty="0">
                <a:solidFill>
                  <a:srgbClr val="000000">
                    <a:lumMod val="50000"/>
                    <a:lumOff val="50000"/>
                  </a:srgbClr>
                </a:solidFill>
                <a:latin typeface="Arial" panose="020B0604020202020204"/>
                <a:ea typeface="微软雅黑" panose="020B0503020204020204" pitchFamily="34" charset="-122"/>
              </a:rPr>
              <a:t> </a:t>
            </a:r>
          </a:p>
        </p:txBody>
      </p:sp>
      <p:pic>
        <p:nvPicPr>
          <p:cNvPr id="7" name="图片 6"/>
          <p:cNvPicPr>
            <a:picLocks noChangeAspect="1"/>
          </p:cNvPicPr>
          <p:nvPr/>
        </p:nvPicPr>
        <p:blipFill>
          <a:blip r:embed="rId2"/>
          <a:stretch>
            <a:fillRect/>
          </a:stretch>
        </p:blipFill>
        <p:spPr>
          <a:xfrm>
            <a:off x="3553454" y="905380"/>
            <a:ext cx="5085092" cy="4304992"/>
          </a:xfrm>
          <a:prstGeom prst="rect">
            <a:avLst/>
          </a:prstGeom>
        </p:spPr>
      </p:pic>
      <p:sp>
        <p:nvSpPr>
          <p:cNvPr id="8" name="文本框 7"/>
          <p:cNvSpPr txBox="1"/>
          <p:nvPr/>
        </p:nvSpPr>
        <p:spPr>
          <a:xfrm>
            <a:off x="3553455" y="5380221"/>
            <a:ext cx="4487159" cy="521970"/>
          </a:xfrm>
          <a:prstGeom prst="rect">
            <a:avLst/>
          </a:prstGeom>
          <a:noFill/>
        </p:spPr>
        <p:txBody>
          <a:bodyPr wrap="square" rtlCol="0">
            <a:spAutoFit/>
          </a:bodyPr>
          <a:lstStyle/>
          <a:p>
            <a:r>
              <a:rPr lang="zh-CN" altLang="en-US" sz="2800" dirty="0">
                <a:solidFill>
                  <a:prstClr val="black"/>
                </a:solidFill>
                <a:latin typeface="Microsoft YaHei UI"/>
                <a:ea typeface="微软雅黑"/>
              </a:rPr>
              <a:t>最终</a:t>
            </a:r>
            <a:r>
              <a:rPr lang="en-US" altLang="zh-CN" sz="2800" dirty="0">
                <a:solidFill>
                  <a:prstClr val="black"/>
                </a:solidFill>
                <a:latin typeface="Microsoft YaHei UI"/>
                <a:ea typeface="微软雅黑"/>
              </a:rPr>
              <a:t>a , b</a:t>
            </a:r>
            <a:r>
              <a:rPr lang="zh-CN" altLang="en-US" sz="2800" dirty="0">
                <a:solidFill>
                  <a:prstClr val="black"/>
                </a:solidFill>
                <a:latin typeface="Microsoft YaHei UI"/>
                <a:ea typeface="微软雅黑"/>
              </a:rPr>
              <a:t>各等于多少呢？</a:t>
            </a: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4782" y="4752848"/>
            <a:ext cx="1341552" cy="1341552"/>
          </a:xfrm>
          <a:prstGeom prst="rect">
            <a:avLst/>
          </a:prstGeom>
        </p:spPr>
      </p:pic>
    </p:spTree>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15901"/>
            <a:ext cx="8138160" cy="678815"/>
          </a:xfrm>
        </p:spPr>
        <p:txBody>
          <a:bodyPr/>
          <a:lstStyle/>
          <a:p>
            <a:pPr algn="l"/>
            <a:r>
              <a:rPr lang="zh-CN" altLang="en-US" sz="2800" dirty="0"/>
              <a:t>分支与跳转</a:t>
            </a:r>
            <a:r>
              <a:rPr lang="en-US" altLang="zh-CN" sz="2800" dirty="0"/>
              <a:t>——switch</a:t>
            </a:r>
            <a:r>
              <a:rPr lang="zh-CN" altLang="en-US" sz="2800" dirty="0"/>
              <a:t>实例</a:t>
            </a:r>
          </a:p>
        </p:txBody>
      </p:sp>
      <p:sp>
        <p:nvSpPr>
          <p:cNvPr id="4" name="灯片编号占位符 3"/>
          <p:cNvSpPr>
            <a:spLocks noGrp="1"/>
          </p:cNvSpPr>
          <p:nvPr>
            <p:ph type="sldNum" sz="quarter" idx="4294967295"/>
          </p:nvPr>
        </p:nvSpPr>
        <p:spPr>
          <a:xfrm>
            <a:off x="8485506" y="6235701"/>
            <a:ext cx="2182495" cy="206375"/>
          </a:xfrm>
        </p:spPr>
        <p:txBody>
          <a:bodyPr/>
          <a:lstStyle/>
          <a:p>
            <a:pPr algn="r" defTabSz="685800">
              <a:defRPr/>
            </a:pPr>
            <a:r>
              <a:rPr lang="zh-CN" altLang="en-US" sz="750" dirty="0">
                <a:solidFill>
                  <a:srgbClr val="000000">
                    <a:lumMod val="50000"/>
                    <a:lumOff val="50000"/>
                  </a:srgbClr>
                </a:solidFill>
                <a:latin typeface="Arial" panose="020B0604020202020204"/>
                <a:ea typeface="微软雅黑" panose="020B0503020204020204" pitchFamily="34" charset="-122"/>
              </a:rPr>
              <a:t> </a:t>
            </a:r>
          </a:p>
        </p:txBody>
      </p:sp>
      <p:pic>
        <p:nvPicPr>
          <p:cNvPr id="7" name="图片 6"/>
          <p:cNvPicPr>
            <a:picLocks noChangeAspect="1"/>
          </p:cNvPicPr>
          <p:nvPr/>
        </p:nvPicPr>
        <p:blipFill>
          <a:blip r:embed="rId3"/>
          <a:stretch>
            <a:fillRect/>
          </a:stretch>
        </p:blipFill>
        <p:spPr>
          <a:xfrm>
            <a:off x="2193925" y="1123950"/>
            <a:ext cx="3148310" cy="2665330"/>
          </a:xfrm>
          <a:prstGeom prst="rect">
            <a:avLst/>
          </a:prstGeom>
        </p:spPr>
      </p:pic>
      <p:pic>
        <p:nvPicPr>
          <p:cNvPr id="10" name="图片 9"/>
          <p:cNvPicPr>
            <a:picLocks noChangeAspect="1"/>
          </p:cNvPicPr>
          <p:nvPr/>
        </p:nvPicPr>
        <p:blipFill>
          <a:blip r:embed="rId4"/>
          <a:stretch>
            <a:fillRect/>
          </a:stretch>
        </p:blipFill>
        <p:spPr>
          <a:xfrm>
            <a:off x="9998076" y="1123951"/>
            <a:ext cx="554443" cy="554443"/>
          </a:xfrm>
          <a:prstGeom prst="rect">
            <a:avLst/>
          </a:prstGeom>
        </p:spPr>
      </p:pic>
      <p:sp>
        <p:nvSpPr>
          <p:cNvPr id="6" name="矩形: 圆角 5"/>
          <p:cNvSpPr/>
          <p:nvPr/>
        </p:nvSpPr>
        <p:spPr>
          <a:xfrm>
            <a:off x="6378805" y="1123951"/>
            <a:ext cx="3026004" cy="165440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prstClr val="white"/>
                </a:solidFill>
                <a:latin typeface="Microsoft YaHei UI"/>
                <a:ea typeface="微软雅黑"/>
              </a:rPr>
              <a:t>a = 2</a:t>
            </a:r>
          </a:p>
          <a:p>
            <a:pPr algn="ctr"/>
            <a:r>
              <a:rPr lang="en-US" altLang="zh-CN" sz="3200" b="1" dirty="0">
                <a:solidFill>
                  <a:prstClr val="white"/>
                </a:solidFill>
                <a:latin typeface="Microsoft YaHei UI"/>
                <a:ea typeface="微软雅黑"/>
              </a:rPr>
              <a:t>b = 1</a:t>
            </a:r>
            <a:endParaRPr lang="zh-CN" altLang="en-US" sz="3200" b="1" dirty="0">
              <a:solidFill>
                <a:prstClr val="white"/>
              </a:solidFill>
              <a:latin typeface="Microsoft YaHei UI"/>
              <a:ea typeface="微软雅黑"/>
            </a:endParaRPr>
          </a:p>
        </p:txBody>
      </p:sp>
      <p:sp>
        <p:nvSpPr>
          <p:cNvPr id="9" name="文本框 8"/>
          <p:cNvSpPr txBox="1"/>
          <p:nvPr/>
        </p:nvSpPr>
        <p:spPr>
          <a:xfrm>
            <a:off x="3400434" y="4496587"/>
            <a:ext cx="7013042" cy="1383665"/>
          </a:xfrm>
          <a:prstGeom prst="rect">
            <a:avLst/>
          </a:prstGeom>
          <a:noFill/>
        </p:spPr>
        <p:txBody>
          <a:bodyPr wrap="square" rtlCol="0">
            <a:spAutoFit/>
          </a:bodyPr>
          <a:lstStyle/>
          <a:p>
            <a:r>
              <a:rPr lang="zh-CN" altLang="en-US" sz="2800" dirty="0">
                <a:solidFill>
                  <a:prstClr val="black"/>
                </a:solidFill>
                <a:latin typeface="Microsoft YaHei UI"/>
                <a:ea typeface="微软雅黑"/>
              </a:rPr>
              <a:t>提示：在第二层</a:t>
            </a:r>
            <a:r>
              <a:rPr lang="en-US" altLang="zh-CN" sz="2800" dirty="0">
                <a:solidFill>
                  <a:prstClr val="black"/>
                </a:solidFill>
                <a:latin typeface="Microsoft YaHei UI"/>
                <a:ea typeface="微软雅黑"/>
              </a:rPr>
              <a:t>switch</a:t>
            </a:r>
            <a:r>
              <a:rPr lang="zh-CN" altLang="en-US" sz="2800" dirty="0">
                <a:solidFill>
                  <a:prstClr val="black"/>
                </a:solidFill>
                <a:latin typeface="Microsoft YaHei UI"/>
                <a:ea typeface="微软雅黑"/>
              </a:rPr>
              <a:t>执行完毕后，</a:t>
            </a:r>
            <a:endParaRPr lang="en-US" altLang="zh-CN" sz="2800" dirty="0">
              <a:solidFill>
                <a:prstClr val="black"/>
              </a:solidFill>
              <a:latin typeface="Microsoft YaHei UI"/>
              <a:ea typeface="微软雅黑"/>
            </a:endParaRPr>
          </a:p>
          <a:p>
            <a:r>
              <a:rPr lang="en-US" altLang="zh-CN" sz="2800" dirty="0">
                <a:solidFill>
                  <a:prstClr val="black"/>
                </a:solidFill>
                <a:latin typeface="Microsoft YaHei UI"/>
                <a:ea typeface="微软雅黑"/>
              </a:rPr>
              <a:t>          </a:t>
            </a:r>
            <a:r>
              <a:rPr lang="zh-CN" altLang="en-US" sz="2800" dirty="0">
                <a:solidFill>
                  <a:prstClr val="black"/>
                </a:solidFill>
                <a:latin typeface="Microsoft YaHei UI"/>
                <a:ea typeface="微软雅黑"/>
              </a:rPr>
              <a:t>没有及时</a:t>
            </a:r>
            <a:r>
              <a:rPr lang="en-US" altLang="zh-CN" sz="2800" dirty="0">
                <a:solidFill>
                  <a:prstClr val="black"/>
                </a:solidFill>
                <a:latin typeface="Microsoft YaHei UI"/>
                <a:ea typeface="微软雅黑"/>
              </a:rPr>
              <a:t>break</a:t>
            </a:r>
            <a:r>
              <a:rPr lang="zh-CN" altLang="en-US" sz="2800" dirty="0">
                <a:solidFill>
                  <a:prstClr val="black"/>
                </a:solidFill>
                <a:latin typeface="Microsoft YaHei UI"/>
                <a:ea typeface="微软雅黑"/>
              </a:rPr>
              <a:t>出第一层</a:t>
            </a:r>
            <a:r>
              <a:rPr lang="en-US" altLang="zh-CN" sz="2800" dirty="0">
                <a:solidFill>
                  <a:prstClr val="black"/>
                </a:solidFill>
                <a:latin typeface="Microsoft YaHei UI"/>
                <a:ea typeface="微软雅黑"/>
              </a:rPr>
              <a:t>switch</a:t>
            </a:r>
            <a:r>
              <a:rPr lang="zh-CN" altLang="en-US" sz="2800" dirty="0">
                <a:solidFill>
                  <a:prstClr val="black"/>
                </a:solidFill>
                <a:latin typeface="Microsoft YaHei UI"/>
                <a:ea typeface="微软雅黑"/>
              </a:rPr>
              <a:t>，</a:t>
            </a:r>
            <a:endParaRPr lang="en-US" altLang="zh-CN" sz="2800" dirty="0">
              <a:solidFill>
                <a:prstClr val="black"/>
              </a:solidFill>
              <a:latin typeface="Microsoft YaHei UI"/>
              <a:ea typeface="微软雅黑"/>
            </a:endParaRPr>
          </a:p>
          <a:p>
            <a:r>
              <a:rPr lang="en-US" altLang="zh-CN" sz="2800" dirty="0">
                <a:solidFill>
                  <a:prstClr val="black"/>
                </a:solidFill>
                <a:latin typeface="Microsoft YaHei UI"/>
                <a:ea typeface="微软雅黑"/>
              </a:rPr>
              <a:t>          </a:t>
            </a:r>
            <a:r>
              <a:rPr lang="zh-CN" altLang="en-US" sz="2800" dirty="0">
                <a:solidFill>
                  <a:prstClr val="black"/>
                </a:solidFill>
                <a:latin typeface="Microsoft YaHei UI"/>
                <a:ea typeface="微软雅黑"/>
              </a:rPr>
              <a:t>导致程序顺次进入</a:t>
            </a:r>
            <a:r>
              <a:rPr lang="en-US" altLang="zh-CN" sz="2800" dirty="0">
                <a:solidFill>
                  <a:prstClr val="black"/>
                </a:solidFill>
                <a:latin typeface="Microsoft YaHei UI"/>
                <a:ea typeface="微软雅黑"/>
              </a:rPr>
              <a:t>case 2</a:t>
            </a:r>
            <a:r>
              <a:rPr lang="zh-CN" altLang="en-US" sz="2800" dirty="0">
                <a:solidFill>
                  <a:prstClr val="black"/>
                </a:solidFill>
                <a:latin typeface="Microsoft YaHei UI"/>
                <a:ea typeface="微软雅黑"/>
              </a:rPr>
              <a:t>中</a:t>
            </a:r>
            <a:endParaRPr lang="en-US" altLang="zh-CN" sz="2800" dirty="0">
              <a:solidFill>
                <a:prstClr val="black"/>
              </a:solidFill>
              <a:latin typeface="Microsoft YaHei UI"/>
              <a:ea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989455" y="234316"/>
            <a:ext cx="8138160" cy="678815"/>
          </a:xfrm>
        </p:spPr>
        <p:txBody>
          <a:bodyPr/>
          <a:lstStyle/>
          <a:p>
            <a:pPr algn="l"/>
            <a:r>
              <a:rPr lang="zh-CN" altLang="en-US" sz="2800" dirty="0"/>
              <a:t>循环</a:t>
            </a:r>
            <a:r>
              <a:rPr lang="en-US" altLang="zh-CN" sz="2800" dirty="0"/>
              <a:t>——for</a:t>
            </a:r>
            <a:r>
              <a:rPr lang="zh-CN" altLang="en-US" sz="2800" dirty="0"/>
              <a:t>，</a:t>
            </a:r>
            <a:r>
              <a:rPr lang="en-US" altLang="zh-CN" sz="2800" dirty="0"/>
              <a:t>while</a:t>
            </a:r>
            <a:r>
              <a:rPr lang="zh-CN" altLang="en-US" sz="2800" dirty="0"/>
              <a:t>，</a:t>
            </a:r>
            <a:r>
              <a:rPr lang="en-US" altLang="zh-CN" sz="2800" dirty="0"/>
              <a:t>do-while</a:t>
            </a:r>
            <a:endParaRPr lang="zh-CN" altLang="en-US" sz="2800" dirty="0"/>
          </a:p>
        </p:txBody>
      </p:sp>
      <p:sp>
        <p:nvSpPr>
          <p:cNvPr id="4" name="灯片编号占位符 3"/>
          <p:cNvSpPr>
            <a:spLocks noGrp="1"/>
          </p:cNvSpPr>
          <p:nvPr>
            <p:ph type="sldNum" sz="quarter" idx="4294967295"/>
          </p:nvPr>
        </p:nvSpPr>
        <p:spPr>
          <a:xfrm>
            <a:off x="8485506" y="6235701"/>
            <a:ext cx="2182495" cy="206375"/>
          </a:xfrm>
        </p:spPr>
        <p:txBody>
          <a:bodyPr/>
          <a:lstStyle/>
          <a:p>
            <a:pPr algn="r" defTabSz="685800">
              <a:defRPr/>
            </a:pPr>
            <a:r>
              <a:rPr lang="zh-CN" altLang="en-US" sz="750" dirty="0">
                <a:solidFill>
                  <a:srgbClr val="000000">
                    <a:lumMod val="50000"/>
                    <a:lumOff val="50000"/>
                  </a:srgbClr>
                </a:solidFill>
                <a:latin typeface="Arial" panose="020B0604020202020204"/>
                <a:ea typeface="微软雅黑" panose="020B0503020204020204" pitchFamily="34" charset="-122"/>
              </a:rPr>
              <a:t> </a:t>
            </a:r>
          </a:p>
        </p:txBody>
      </p:sp>
      <p:sp>
        <p:nvSpPr>
          <p:cNvPr id="3" name="矩形: 圆角 2"/>
          <p:cNvSpPr/>
          <p:nvPr/>
        </p:nvSpPr>
        <p:spPr>
          <a:xfrm>
            <a:off x="2692922" y="1147287"/>
            <a:ext cx="6947556" cy="11595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prstClr val="white"/>
                </a:solidFill>
                <a:latin typeface="Microsoft YaHei UI"/>
                <a:ea typeface="微软雅黑"/>
              </a:rPr>
              <a:t>for</a:t>
            </a:r>
            <a:r>
              <a:rPr lang="zh-CN" altLang="en-US" sz="2000" dirty="0">
                <a:solidFill>
                  <a:prstClr val="white"/>
                </a:solidFill>
                <a:latin typeface="Microsoft YaHei UI"/>
                <a:ea typeface="微软雅黑"/>
              </a:rPr>
              <a:t>（初始化（一次性）</a:t>
            </a:r>
            <a:r>
              <a:rPr lang="en-US" altLang="zh-CN" sz="2000" dirty="0">
                <a:solidFill>
                  <a:prstClr val="white"/>
                </a:solidFill>
                <a:latin typeface="Microsoft YaHei UI"/>
                <a:ea typeface="微软雅黑"/>
              </a:rPr>
              <a:t>; </a:t>
            </a:r>
            <a:r>
              <a:rPr lang="zh-CN" altLang="en-US" sz="2000" dirty="0">
                <a:solidFill>
                  <a:prstClr val="white"/>
                </a:solidFill>
                <a:latin typeface="Microsoft YaHei UI"/>
                <a:ea typeface="微软雅黑"/>
              </a:rPr>
              <a:t>循环条件 </a:t>
            </a:r>
            <a:r>
              <a:rPr lang="en-US" altLang="zh-CN" sz="2000" dirty="0">
                <a:solidFill>
                  <a:prstClr val="white"/>
                </a:solidFill>
                <a:latin typeface="Microsoft YaHei UI"/>
                <a:ea typeface="微软雅黑"/>
              </a:rPr>
              <a:t>; </a:t>
            </a:r>
            <a:r>
              <a:rPr lang="zh-CN" altLang="en-US" sz="2000" dirty="0">
                <a:solidFill>
                  <a:prstClr val="white"/>
                </a:solidFill>
                <a:latin typeface="Microsoft YaHei UI"/>
                <a:ea typeface="微软雅黑"/>
              </a:rPr>
              <a:t>一次循环的最后一步）</a:t>
            </a:r>
            <a:endParaRPr lang="en-US" altLang="zh-CN" sz="2000" dirty="0">
              <a:solidFill>
                <a:prstClr val="white"/>
              </a:solidFill>
              <a:latin typeface="Microsoft YaHei UI"/>
              <a:ea typeface="微软雅黑"/>
            </a:endParaRPr>
          </a:p>
          <a:p>
            <a:r>
              <a:rPr lang="en-US" altLang="zh-CN" sz="2000" dirty="0">
                <a:solidFill>
                  <a:prstClr val="white"/>
                </a:solidFill>
                <a:latin typeface="Microsoft YaHei UI"/>
                <a:ea typeface="微软雅黑"/>
              </a:rPr>
              <a:t>	{</a:t>
            </a:r>
            <a:r>
              <a:rPr lang="zh-CN" altLang="en-US" sz="2000" dirty="0">
                <a:solidFill>
                  <a:prstClr val="white"/>
                </a:solidFill>
                <a:latin typeface="Microsoft YaHei UI"/>
                <a:ea typeface="微软雅黑"/>
              </a:rPr>
              <a:t>执行内容</a:t>
            </a:r>
            <a:r>
              <a:rPr lang="en-US" altLang="zh-CN" sz="2000" dirty="0">
                <a:solidFill>
                  <a:prstClr val="white"/>
                </a:solidFill>
                <a:latin typeface="Microsoft YaHei UI"/>
                <a:ea typeface="微软雅黑"/>
              </a:rPr>
              <a:t>;}</a:t>
            </a:r>
          </a:p>
          <a:p>
            <a:pPr algn="ctr"/>
            <a:endParaRPr lang="zh-CN" altLang="en-US" dirty="0">
              <a:solidFill>
                <a:prstClr val="white"/>
              </a:solidFill>
              <a:latin typeface="Microsoft YaHei UI"/>
              <a:ea typeface="微软雅黑"/>
            </a:endParaRPr>
          </a:p>
        </p:txBody>
      </p:sp>
      <p:sp>
        <p:nvSpPr>
          <p:cNvPr id="7" name="矩形: 圆角 6"/>
          <p:cNvSpPr/>
          <p:nvPr/>
        </p:nvSpPr>
        <p:spPr>
          <a:xfrm>
            <a:off x="4788761" y="2729205"/>
            <a:ext cx="2540635" cy="10437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dirty="0">
              <a:solidFill>
                <a:prstClr val="white"/>
              </a:solidFill>
              <a:latin typeface="Microsoft YaHei UI"/>
              <a:ea typeface="微软雅黑"/>
            </a:endParaRPr>
          </a:p>
          <a:p>
            <a:r>
              <a:rPr lang="en-US" altLang="zh-CN" dirty="0">
                <a:solidFill>
                  <a:prstClr val="white"/>
                </a:solidFill>
                <a:latin typeface="Microsoft YaHei UI"/>
                <a:ea typeface="微软雅黑"/>
              </a:rPr>
              <a:t>while</a:t>
            </a:r>
            <a:r>
              <a:rPr lang="zh-CN" altLang="en-US" dirty="0">
                <a:solidFill>
                  <a:prstClr val="white"/>
                </a:solidFill>
                <a:latin typeface="Microsoft YaHei UI"/>
                <a:ea typeface="微软雅黑"/>
              </a:rPr>
              <a:t>（循环条件）</a:t>
            </a:r>
            <a:endParaRPr lang="en-US" altLang="zh-CN" dirty="0">
              <a:solidFill>
                <a:prstClr val="white"/>
              </a:solidFill>
              <a:latin typeface="Microsoft YaHei UI"/>
              <a:ea typeface="微软雅黑"/>
            </a:endParaRPr>
          </a:p>
          <a:p>
            <a:r>
              <a:rPr lang="en-US" altLang="zh-CN" dirty="0">
                <a:solidFill>
                  <a:prstClr val="white"/>
                </a:solidFill>
                <a:latin typeface="Microsoft YaHei UI"/>
                <a:ea typeface="微软雅黑"/>
              </a:rPr>
              <a:t>	{</a:t>
            </a:r>
            <a:r>
              <a:rPr lang="zh-CN" altLang="en-US" dirty="0">
                <a:solidFill>
                  <a:prstClr val="white"/>
                </a:solidFill>
                <a:latin typeface="Microsoft YaHei UI"/>
                <a:ea typeface="微软雅黑"/>
              </a:rPr>
              <a:t>执行内容</a:t>
            </a:r>
            <a:r>
              <a:rPr lang="en-US" altLang="zh-CN" dirty="0">
                <a:solidFill>
                  <a:prstClr val="white"/>
                </a:solidFill>
                <a:latin typeface="Microsoft YaHei UI"/>
                <a:ea typeface="微软雅黑"/>
              </a:rPr>
              <a:t>;}</a:t>
            </a:r>
          </a:p>
          <a:p>
            <a:endParaRPr lang="zh-CN" altLang="en-US" dirty="0">
              <a:solidFill>
                <a:prstClr val="white"/>
              </a:solidFill>
              <a:latin typeface="Microsoft YaHei UI"/>
              <a:ea typeface="微软雅黑"/>
            </a:endParaRPr>
          </a:p>
        </p:txBody>
      </p:sp>
      <p:sp>
        <p:nvSpPr>
          <p:cNvPr id="8" name="矩形: 圆角 7"/>
          <p:cNvSpPr/>
          <p:nvPr/>
        </p:nvSpPr>
        <p:spPr>
          <a:xfrm>
            <a:off x="4788759" y="4244810"/>
            <a:ext cx="2540636" cy="104372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prstClr val="white"/>
                </a:solidFill>
                <a:latin typeface="Microsoft YaHei UI"/>
                <a:ea typeface="微软雅黑"/>
              </a:rPr>
              <a:t>do</a:t>
            </a:r>
          </a:p>
          <a:p>
            <a:r>
              <a:rPr lang="en-US" altLang="zh-CN" dirty="0">
                <a:solidFill>
                  <a:prstClr val="white"/>
                </a:solidFill>
                <a:latin typeface="Microsoft YaHei UI"/>
                <a:ea typeface="微软雅黑"/>
              </a:rPr>
              <a:t>	{</a:t>
            </a:r>
            <a:r>
              <a:rPr lang="zh-CN" altLang="en-US" dirty="0">
                <a:solidFill>
                  <a:prstClr val="white"/>
                </a:solidFill>
                <a:latin typeface="Microsoft YaHei UI"/>
                <a:ea typeface="微软雅黑"/>
              </a:rPr>
              <a:t>执行内容</a:t>
            </a:r>
            <a:r>
              <a:rPr lang="en-US" altLang="zh-CN" dirty="0">
                <a:solidFill>
                  <a:prstClr val="white"/>
                </a:solidFill>
                <a:latin typeface="Microsoft YaHei UI"/>
                <a:ea typeface="微软雅黑"/>
              </a:rPr>
              <a:t>;}</a:t>
            </a:r>
          </a:p>
          <a:p>
            <a:r>
              <a:rPr lang="en-US" altLang="zh-CN" dirty="0">
                <a:solidFill>
                  <a:prstClr val="white"/>
                </a:solidFill>
                <a:latin typeface="Microsoft YaHei UI"/>
                <a:ea typeface="微软雅黑"/>
              </a:rPr>
              <a:t>while</a:t>
            </a:r>
            <a:r>
              <a:rPr lang="zh-CN" altLang="en-US" dirty="0">
                <a:solidFill>
                  <a:prstClr val="white"/>
                </a:solidFill>
                <a:latin typeface="Microsoft YaHei UI"/>
                <a:ea typeface="微软雅黑"/>
              </a:rPr>
              <a:t>（循环条件）</a:t>
            </a:r>
            <a:r>
              <a:rPr lang="en-US" altLang="zh-CN" dirty="0">
                <a:solidFill>
                  <a:prstClr val="white"/>
                </a:solidFill>
                <a:latin typeface="Microsoft YaHei UI"/>
                <a:ea typeface="微软雅黑"/>
              </a:rPr>
              <a:t>;</a:t>
            </a:r>
            <a:endParaRPr lang="zh-CN" altLang="en-US" dirty="0">
              <a:solidFill>
                <a:prstClr val="white"/>
              </a:solidFill>
              <a:latin typeface="Microsoft YaHei UI"/>
              <a:ea typeface="微软雅黑"/>
            </a:endParaRPr>
          </a:p>
        </p:txBody>
      </p:sp>
      <p:grpSp>
        <p:nvGrpSpPr>
          <p:cNvPr id="16" name="组合 15"/>
          <p:cNvGrpSpPr/>
          <p:nvPr/>
        </p:nvGrpSpPr>
        <p:grpSpPr>
          <a:xfrm>
            <a:off x="1524000" y="2712588"/>
            <a:ext cx="2158738" cy="2633155"/>
            <a:chOff x="282804" y="3244611"/>
            <a:chExt cx="2158738" cy="2633155"/>
          </a:xfrm>
        </p:grpSpPr>
        <p:sp>
          <p:nvSpPr>
            <p:cNvPr id="9" name="椭圆 8"/>
            <p:cNvSpPr/>
            <p:nvPr/>
          </p:nvSpPr>
          <p:spPr>
            <a:xfrm>
              <a:off x="502514" y="3244611"/>
              <a:ext cx="1688465" cy="141859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continue;</a:t>
              </a:r>
              <a:endParaRPr lang="zh-CN" altLang="en-US" dirty="0">
                <a:solidFill>
                  <a:prstClr val="white"/>
                </a:solidFill>
                <a:latin typeface="Microsoft YaHei UI"/>
                <a:ea typeface="微软雅黑"/>
              </a:endParaRPr>
            </a:p>
          </p:txBody>
        </p:sp>
        <p:sp>
          <p:nvSpPr>
            <p:cNvPr id="10" name="文本框 9"/>
            <p:cNvSpPr txBox="1"/>
            <p:nvPr/>
          </p:nvSpPr>
          <p:spPr>
            <a:xfrm>
              <a:off x="282804" y="4677437"/>
              <a:ext cx="2158738" cy="1200329"/>
            </a:xfrm>
            <a:prstGeom prst="rect">
              <a:avLst/>
            </a:prstGeom>
            <a:noFill/>
          </p:spPr>
          <p:txBody>
            <a:bodyPr wrap="square" rtlCol="0">
              <a:spAutoFit/>
            </a:bodyPr>
            <a:lstStyle/>
            <a:p>
              <a:pPr algn="ctr"/>
              <a:r>
                <a:rPr lang="zh-CN" altLang="en-US" sz="2400" dirty="0">
                  <a:solidFill>
                    <a:prstClr val="black"/>
                  </a:solidFill>
                  <a:latin typeface="Microsoft YaHei UI"/>
                  <a:ea typeface="微软雅黑"/>
                </a:rPr>
                <a:t>跳过本次循环</a:t>
              </a:r>
              <a:endParaRPr lang="en-US" altLang="zh-CN" sz="2400" dirty="0">
                <a:solidFill>
                  <a:prstClr val="black"/>
                </a:solidFill>
                <a:latin typeface="Microsoft YaHei UI"/>
                <a:ea typeface="微软雅黑"/>
              </a:endParaRPr>
            </a:p>
            <a:p>
              <a:pPr algn="ctr"/>
              <a:r>
                <a:rPr lang="zh-CN" altLang="en-US" sz="2400" dirty="0">
                  <a:solidFill>
                    <a:prstClr val="black"/>
                  </a:solidFill>
                  <a:latin typeface="Microsoft YaHei UI"/>
                  <a:ea typeface="微软雅黑"/>
                </a:rPr>
                <a:t>直接开始下一次</a:t>
              </a:r>
            </a:p>
          </p:txBody>
        </p:sp>
      </p:grpSp>
      <p:grpSp>
        <p:nvGrpSpPr>
          <p:cNvPr id="18" name="组合 17"/>
          <p:cNvGrpSpPr/>
          <p:nvPr/>
        </p:nvGrpSpPr>
        <p:grpSpPr>
          <a:xfrm>
            <a:off x="8717939" y="2729204"/>
            <a:ext cx="2628790" cy="1952318"/>
            <a:chOff x="7070103" y="3278033"/>
            <a:chExt cx="2628790" cy="1952318"/>
          </a:xfrm>
        </p:grpSpPr>
        <p:sp>
          <p:nvSpPr>
            <p:cNvPr id="44" name="椭圆 43"/>
            <p:cNvSpPr/>
            <p:nvPr/>
          </p:nvSpPr>
          <p:spPr>
            <a:xfrm>
              <a:off x="7301662" y="3278033"/>
              <a:ext cx="1498862" cy="141237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Microsoft YaHei UI"/>
                  <a:ea typeface="微软雅黑"/>
                </a:rPr>
                <a:t>break;</a:t>
              </a:r>
              <a:endParaRPr lang="zh-CN" altLang="en-US" dirty="0">
                <a:solidFill>
                  <a:prstClr val="white"/>
                </a:solidFill>
                <a:latin typeface="Microsoft YaHei UI"/>
                <a:ea typeface="微软雅黑"/>
              </a:endParaRPr>
            </a:p>
          </p:txBody>
        </p:sp>
        <p:sp>
          <p:nvSpPr>
            <p:cNvPr id="13" name="文本框 12"/>
            <p:cNvSpPr txBox="1"/>
            <p:nvPr/>
          </p:nvSpPr>
          <p:spPr>
            <a:xfrm>
              <a:off x="7070103" y="4768686"/>
              <a:ext cx="2628790" cy="461665"/>
            </a:xfrm>
            <a:prstGeom prst="rect">
              <a:avLst/>
            </a:prstGeom>
            <a:noFill/>
          </p:spPr>
          <p:txBody>
            <a:bodyPr wrap="square" rtlCol="0">
              <a:spAutoFit/>
            </a:bodyPr>
            <a:lstStyle/>
            <a:p>
              <a:r>
                <a:rPr lang="zh-CN" altLang="en-US" sz="2400" dirty="0">
                  <a:solidFill>
                    <a:prstClr val="black"/>
                  </a:solidFill>
                  <a:latin typeface="Microsoft YaHei UI"/>
                  <a:ea typeface="微软雅黑"/>
                </a:rPr>
                <a:t>退出当前循环</a:t>
              </a:r>
            </a:p>
          </p:txBody>
        </p:sp>
      </p:grpSp>
      <p:sp>
        <p:nvSpPr>
          <p:cNvPr id="15" name="文本框 14"/>
          <p:cNvSpPr txBox="1"/>
          <p:nvPr/>
        </p:nvSpPr>
        <p:spPr>
          <a:xfrm>
            <a:off x="3698344" y="5590115"/>
            <a:ext cx="5942135" cy="1014730"/>
          </a:xfrm>
          <a:prstGeom prst="rect">
            <a:avLst/>
          </a:prstGeom>
          <a:noFill/>
        </p:spPr>
        <p:txBody>
          <a:bodyPr wrap="square" rtlCol="0">
            <a:spAutoFit/>
          </a:bodyPr>
          <a:lstStyle/>
          <a:p>
            <a:r>
              <a:rPr lang="zh-CN" altLang="en-US" sz="2000" dirty="0">
                <a:solidFill>
                  <a:prstClr val="black"/>
                </a:solidFill>
                <a:latin typeface="Microsoft YaHei UI"/>
                <a:ea typeface="微软雅黑"/>
              </a:rPr>
              <a:t>  若后面没有花括号，则只执行紧接着的第一个语句</a:t>
            </a:r>
            <a:endParaRPr lang="en-US" altLang="zh-CN" sz="2000" dirty="0">
              <a:solidFill>
                <a:prstClr val="black"/>
              </a:solidFill>
              <a:latin typeface="Microsoft YaHei UI"/>
              <a:ea typeface="微软雅黑"/>
            </a:endParaRPr>
          </a:p>
          <a:p>
            <a:r>
              <a:rPr lang="zh-CN" altLang="en-US" sz="2000" dirty="0">
                <a:solidFill>
                  <a:prstClr val="black"/>
                </a:solidFill>
                <a:latin typeface="Microsoft YaHei UI"/>
                <a:ea typeface="微软雅黑"/>
              </a:rPr>
              <a:t>  有时，会使用   </a:t>
            </a:r>
            <a:r>
              <a:rPr lang="en-US" altLang="zh-CN" sz="2000" dirty="0">
                <a:solidFill>
                  <a:prstClr val="black"/>
                </a:solidFill>
                <a:latin typeface="Microsoft YaHei UI"/>
                <a:ea typeface="微软雅黑"/>
              </a:rPr>
              <a:t>for</a:t>
            </a:r>
            <a:r>
              <a:rPr lang="zh-CN" altLang="en-US" sz="2000" dirty="0">
                <a:solidFill>
                  <a:prstClr val="black"/>
                </a:solidFill>
                <a:latin typeface="Microsoft YaHei UI"/>
                <a:ea typeface="微软雅黑"/>
              </a:rPr>
              <a:t>（</a:t>
            </a:r>
            <a:r>
              <a:rPr lang="en-US" altLang="zh-CN" sz="2000" dirty="0">
                <a:solidFill>
                  <a:prstClr val="black"/>
                </a:solidFill>
                <a:latin typeface="Microsoft YaHei UI"/>
                <a:ea typeface="微软雅黑"/>
              </a:rPr>
              <a:t>……</a:t>
            </a:r>
            <a:r>
              <a:rPr lang="zh-CN" altLang="en-US" sz="2000" dirty="0">
                <a:solidFill>
                  <a:prstClr val="black"/>
                </a:solidFill>
                <a:latin typeface="Microsoft YaHei UI"/>
                <a:ea typeface="微软雅黑"/>
              </a:rPr>
              <a:t>）； 直接利用</a:t>
            </a:r>
            <a:r>
              <a:rPr lang="en-US" altLang="zh-CN" sz="2000" dirty="0">
                <a:solidFill>
                  <a:prstClr val="black"/>
                </a:solidFill>
                <a:latin typeface="Microsoft YaHei UI"/>
                <a:ea typeface="微软雅黑"/>
              </a:rPr>
              <a:t>for</a:t>
            </a:r>
            <a:r>
              <a:rPr lang="zh-CN" altLang="en-US" sz="2000" dirty="0">
                <a:solidFill>
                  <a:prstClr val="black"/>
                </a:solidFill>
                <a:latin typeface="Microsoft YaHei UI"/>
                <a:ea typeface="微软雅黑"/>
              </a:rPr>
              <a:t>语句中的第三个语句完成循环目的</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16536"/>
            <a:ext cx="8138160" cy="678815"/>
          </a:xfrm>
        </p:spPr>
        <p:txBody>
          <a:bodyPr/>
          <a:lstStyle/>
          <a:p>
            <a:pPr algn="l"/>
            <a:r>
              <a:rPr lang="zh-CN" altLang="en-US" sz="2800" dirty="0"/>
              <a:t>循环</a:t>
            </a:r>
            <a:r>
              <a:rPr lang="en-US" altLang="zh-CN" sz="2800" dirty="0"/>
              <a:t>——for</a:t>
            </a:r>
            <a:r>
              <a:rPr lang="zh-CN" altLang="en-US" sz="2800" dirty="0"/>
              <a:t>，</a:t>
            </a:r>
            <a:r>
              <a:rPr lang="en-US" altLang="zh-CN" sz="2800" dirty="0"/>
              <a:t>while</a:t>
            </a:r>
            <a:r>
              <a:rPr lang="zh-CN" altLang="en-US" sz="2800" dirty="0"/>
              <a:t>，</a:t>
            </a:r>
            <a:r>
              <a:rPr lang="en-US" altLang="zh-CN" sz="2800" dirty="0"/>
              <a:t>do-while</a:t>
            </a:r>
            <a:r>
              <a:rPr lang="zh-CN" altLang="en-US" sz="2800" dirty="0"/>
              <a:t>实例</a:t>
            </a:r>
          </a:p>
        </p:txBody>
      </p:sp>
      <p:sp>
        <p:nvSpPr>
          <p:cNvPr id="4" name="灯片编号占位符 3"/>
          <p:cNvSpPr>
            <a:spLocks noGrp="1"/>
          </p:cNvSpPr>
          <p:nvPr>
            <p:ph type="sldNum" sz="quarter" idx="4294967295"/>
          </p:nvPr>
        </p:nvSpPr>
        <p:spPr>
          <a:xfrm>
            <a:off x="8485506" y="6235701"/>
            <a:ext cx="2182495" cy="206375"/>
          </a:xfrm>
        </p:spPr>
        <p:txBody>
          <a:bodyPr/>
          <a:lstStyle/>
          <a:p>
            <a:pPr algn="r" defTabSz="685800">
              <a:defRPr/>
            </a:pPr>
            <a:r>
              <a:rPr lang="zh-CN" altLang="en-US" sz="750" dirty="0">
                <a:solidFill>
                  <a:srgbClr val="000000">
                    <a:lumMod val="50000"/>
                    <a:lumOff val="50000"/>
                  </a:srgbClr>
                </a:solidFill>
                <a:latin typeface="Arial" panose="020B0604020202020204"/>
                <a:ea typeface="微软雅黑" panose="020B0503020204020204" pitchFamily="34" charset="-122"/>
              </a:rPr>
              <a:t>   </a:t>
            </a:r>
          </a:p>
        </p:txBody>
      </p:sp>
      <p:pic>
        <p:nvPicPr>
          <p:cNvPr id="5" name="图片 4"/>
          <p:cNvPicPr>
            <a:picLocks noChangeAspect="1"/>
          </p:cNvPicPr>
          <p:nvPr/>
        </p:nvPicPr>
        <p:blipFill>
          <a:blip r:embed="rId2"/>
          <a:stretch>
            <a:fillRect/>
          </a:stretch>
        </p:blipFill>
        <p:spPr>
          <a:xfrm>
            <a:off x="2193926" y="1028701"/>
            <a:ext cx="5952067" cy="4705277"/>
          </a:xfrm>
          <a:prstGeom prst="rect">
            <a:avLst/>
          </a:prstGeom>
        </p:spPr>
      </p:pic>
      <p:sp>
        <p:nvSpPr>
          <p:cNvPr id="6" name="文本框 5"/>
          <p:cNvSpPr txBox="1"/>
          <p:nvPr/>
        </p:nvSpPr>
        <p:spPr>
          <a:xfrm>
            <a:off x="6749744" y="836590"/>
            <a:ext cx="3692013" cy="1568450"/>
          </a:xfrm>
          <a:prstGeom prst="rect">
            <a:avLst/>
          </a:prstGeom>
          <a:noFill/>
        </p:spPr>
        <p:txBody>
          <a:bodyPr wrap="square" rtlCol="0">
            <a:spAutoFit/>
          </a:bodyPr>
          <a:lstStyle/>
          <a:p>
            <a:r>
              <a:rPr lang="zh-CN" altLang="en-US" sz="2400" dirty="0">
                <a:solidFill>
                  <a:prstClr val="black"/>
                </a:solidFill>
                <a:latin typeface="Microsoft YaHei UI"/>
                <a:ea typeface="微软雅黑"/>
              </a:rPr>
              <a:t>需求：</a:t>
            </a:r>
            <a:endParaRPr lang="en-US" altLang="zh-CN" sz="2400" dirty="0">
              <a:solidFill>
                <a:prstClr val="black"/>
              </a:solidFill>
              <a:latin typeface="Microsoft YaHei UI"/>
              <a:ea typeface="微软雅黑"/>
            </a:endParaRPr>
          </a:p>
          <a:p>
            <a:r>
              <a:rPr lang="zh-CN" altLang="en-US" sz="2400" dirty="0">
                <a:solidFill>
                  <a:prstClr val="black"/>
                </a:solidFill>
                <a:latin typeface="Microsoft YaHei UI"/>
                <a:ea typeface="微软雅黑"/>
              </a:rPr>
              <a:t>实现简单的连加计算器</a:t>
            </a:r>
            <a:endParaRPr lang="en-US" altLang="zh-CN" sz="2400" dirty="0">
              <a:solidFill>
                <a:prstClr val="black"/>
              </a:solidFill>
              <a:latin typeface="Microsoft YaHei UI"/>
              <a:ea typeface="微软雅黑"/>
            </a:endParaRPr>
          </a:p>
          <a:p>
            <a:r>
              <a:rPr lang="zh-CN" altLang="en-US" sz="2400" dirty="0">
                <a:solidFill>
                  <a:prstClr val="black"/>
                </a:solidFill>
                <a:latin typeface="Microsoft YaHei UI"/>
                <a:ea typeface="微软雅黑"/>
              </a:rPr>
              <a:t>直到输入非数字后结束循环并打印出最终结果</a:t>
            </a:r>
          </a:p>
        </p:txBody>
      </p:sp>
      <p:sp>
        <p:nvSpPr>
          <p:cNvPr id="7" name="文本框 6"/>
          <p:cNvSpPr txBox="1"/>
          <p:nvPr/>
        </p:nvSpPr>
        <p:spPr>
          <a:xfrm>
            <a:off x="4540213" y="6009245"/>
            <a:ext cx="2780907" cy="583565"/>
          </a:xfrm>
          <a:prstGeom prst="rect">
            <a:avLst/>
          </a:prstGeom>
          <a:noFill/>
        </p:spPr>
        <p:txBody>
          <a:bodyPr wrap="square" rtlCol="0">
            <a:spAutoFit/>
          </a:bodyPr>
          <a:lstStyle/>
          <a:p>
            <a:r>
              <a:rPr lang="zh-CN" altLang="en-US" sz="3200" dirty="0">
                <a:solidFill>
                  <a:prstClr val="black"/>
                </a:solidFill>
                <a:latin typeface="Microsoft YaHei UI"/>
                <a:ea typeface="微软雅黑"/>
              </a:rPr>
              <a:t>有几个</a:t>
            </a:r>
            <a:r>
              <a:rPr lang="en-US" altLang="zh-CN" sz="3200" dirty="0">
                <a:solidFill>
                  <a:prstClr val="black"/>
                </a:solidFill>
                <a:latin typeface="Microsoft YaHei UI"/>
                <a:ea typeface="微软雅黑"/>
              </a:rPr>
              <a:t>bug</a:t>
            </a:r>
            <a:r>
              <a:rPr lang="zh-CN" altLang="en-US" sz="3200" dirty="0">
                <a:solidFill>
                  <a:prstClr val="black"/>
                </a:solidFill>
                <a:latin typeface="Microsoft YaHei UI"/>
                <a:ea typeface="微软雅黑"/>
              </a:rPr>
              <a:t>呢？</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0725" y="5733978"/>
            <a:ext cx="1402506" cy="10410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26920" y="234316"/>
            <a:ext cx="8138160" cy="678815"/>
          </a:xfrm>
        </p:spPr>
        <p:txBody>
          <a:bodyPr/>
          <a:lstStyle/>
          <a:p>
            <a:pPr algn="l"/>
            <a:r>
              <a:rPr lang="zh-CN" altLang="en-US" sz="2800" dirty="0"/>
              <a:t>循环</a:t>
            </a:r>
            <a:r>
              <a:rPr lang="en-US" altLang="zh-CN" sz="2800" dirty="0"/>
              <a:t>——for</a:t>
            </a:r>
            <a:r>
              <a:rPr lang="zh-CN" altLang="en-US" sz="2800" dirty="0"/>
              <a:t>，</a:t>
            </a:r>
            <a:r>
              <a:rPr lang="en-US" altLang="zh-CN" sz="2800" dirty="0"/>
              <a:t>while</a:t>
            </a:r>
            <a:r>
              <a:rPr lang="zh-CN" altLang="en-US" sz="2800" dirty="0"/>
              <a:t>，</a:t>
            </a:r>
            <a:r>
              <a:rPr lang="en-US" altLang="zh-CN" sz="2800" dirty="0"/>
              <a:t>do-while</a:t>
            </a:r>
            <a:r>
              <a:rPr lang="zh-CN" altLang="en-US" sz="2800" dirty="0"/>
              <a:t>实例</a:t>
            </a:r>
          </a:p>
        </p:txBody>
      </p:sp>
      <p:sp>
        <p:nvSpPr>
          <p:cNvPr id="4" name="灯片编号占位符 3"/>
          <p:cNvSpPr>
            <a:spLocks noGrp="1"/>
          </p:cNvSpPr>
          <p:nvPr>
            <p:ph type="sldNum" sz="quarter" idx="4294967295"/>
          </p:nvPr>
        </p:nvSpPr>
        <p:spPr>
          <a:xfrm>
            <a:off x="8485506" y="6235701"/>
            <a:ext cx="2182495" cy="206375"/>
          </a:xfrm>
        </p:spPr>
        <p:txBody>
          <a:bodyPr/>
          <a:lstStyle/>
          <a:p>
            <a:pPr algn="r" defTabSz="685800">
              <a:defRPr/>
            </a:pPr>
            <a:r>
              <a:rPr lang="zh-CN" altLang="en-US" sz="750" dirty="0">
                <a:solidFill>
                  <a:srgbClr val="000000">
                    <a:lumMod val="50000"/>
                    <a:lumOff val="50000"/>
                  </a:srgbClr>
                </a:solidFill>
                <a:latin typeface="Arial" panose="020B0604020202020204"/>
                <a:ea typeface="微软雅黑" panose="020B0503020204020204" pitchFamily="34" charset="-122"/>
              </a:rPr>
              <a:t> </a:t>
            </a:r>
          </a:p>
        </p:txBody>
      </p:sp>
      <p:pic>
        <p:nvPicPr>
          <p:cNvPr id="5" name="图片 4"/>
          <p:cNvPicPr>
            <a:picLocks noChangeAspect="1"/>
          </p:cNvPicPr>
          <p:nvPr/>
        </p:nvPicPr>
        <p:blipFill>
          <a:blip r:embed="rId3"/>
          <a:stretch>
            <a:fillRect/>
          </a:stretch>
        </p:blipFill>
        <p:spPr>
          <a:xfrm>
            <a:off x="2193925" y="1020960"/>
            <a:ext cx="4627938" cy="3658516"/>
          </a:xfrm>
          <a:prstGeom prst="rect">
            <a:avLst/>
          </a:prstGeom>
        </p:spPr>
      </p:pic>
      <p:sp>
        <p:nvSpPr>
          <p:cNvPr id="3" name="文本框 2"/>
          <p:cNvSpPr txBox="1"/>
          <p:nvPr/>
        </p:nvSpPr>
        <p:spPr>
          <a:xfrm>
            <a:off x="6049455" y="844034"/>
            <a:ext cx="1932495" cy="521970"/>
          </a:xfrm>
          <a:prstGeom prst="rect">
            <a:avLst/>
          </a:prstGeom>
          <a:noFill/>
        </p:spPr>
        <p:txBody>
          <a:bodyPr wrap="square" rtlCol="0">
            <a:spAutoFit/>
          </a:bodyPr>
          <a:lstStyle/>
          <a:p>
            <a:r>
              <a:rPr lang="zh-CN" altLang="en-US" sz="2800" dirty="0">
                <a:solidFill>
                  <a:prstClr val="black"/>
                </a:solidFill>
                <a:latin typeface="Microsoft YaHei UI"/>
                <a:ea typeface="微软雅黑"/>
              </a:rPr>
              <a:t>有两处：</a:t>
            </a:r>
            <a:endParaRPr lang="en-US" altLang="zh-CN" sz="2800" dirty="0">
              <a:solidFill>
                <a:prstClr val="black"/>
              </a:solidFill>
              <a:latin typeface="Microsoft YaHei UI"/>
              <a:ea typeface="微软雅黑"/>
            </a:endParaRPr>
          </a:p>
        </p:txBody>
      </p:sp>
      <p:grpSp>
        <p:nvGrpSpPr>
          <p:cNvPr id="6" name="组合 5"/>
          <p:cNvGrpSpPr/>
          <p:nvPr/>
        </p:nvGrpSpPr>
        <p:grpSpPr>
          <a:xfrm>
            <a:off x="6096001" y="1532558"/>
            <a:ext cx="3512185" cy="729615"/>
            <a:chOff x="4572000" y="1588531"/>
            <a:chExt cx="3512185" cy="729615"/>
          </a:xfrm>
        </p:grpSpPr>
        <p:sp>
          <p:nvSpPr>
            <p:cNvPr id="9" name="矩形 8"/>
            <p:cNvSpPr/>
            <p:nvPr/>
          </p:nvSpPr>
          <p:spPr>
            <a:xfrm>
              <a:off x="4572000" y="1647841"/>
              <a:ext cx="1244338" cy="6372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latin typeface="Microsoft YaHei UI"/>
                  <a:ea typeface="微软雅黑"/>
                </a:rPr>
                <a:t>int </a:t>
              </a:r>
              <a:r>
                <a:rPr lang="en-US" altLang="zh-CN" sz="2000" dirty="0" err="1">
                  <a:solidFill>
                    <a:prstClr val="white"/>
                  </a:solidFill>
                  <a:latin typeface="Microsoft YaHei UI"/>
                  <a:ea typeface="微软雅黑"/>
                </a:rPr>
                <a:t>mian</a:t>
              </a:r>
              <a:endParaRPr lang="zh-CN" altLang="en-US" sz="2000" dirty="0">
                <a:solidFill>
                  <a:prstClr val="white"/>
                </a:solidFill>
                <a:latin typeface="Microsoft YaHei UI"/>
                <a:ea typeface="微软雅黑"/>
              </a:endParaRPr>
            </a:p>
          </p:txBody>
        </p:sp>
        <p:cxnSp>
          <p:nvCxnSpPr>
            <p:cNvPr id="11" name="直接箭头连接符 10"/>
            <p:cNvCxnSpPr>
              <a:stCxn id="9" idx="3"/>
              <a:endCxn id="12" idx="1"/>
            </p:cNvCxnSpPr>
            <p:nvPr/>
          </p:nvCxnSpPr>
          <p:spPr>
            <a:xfrm flipV="1">
              <a:off x="5816338" y="1953137"/>
              <a:ext cx="862330" cy="13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678930" y="1588531"/>
              <a:ext cx="1405255" cy="7296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prstClr val="white"/>
                  </a:solidFill>
                  <a:latin typeface="Microsoft YaHei UI"/>
                  <a:ea typeface="微软雅黑"/>
                </a:rPr>
                <a:t>int main</a:t>
              </a:r>
              <a:endParaRPr lang="zh-CN" altLang="en-US" sz="2400" dirty="0">
                <a:solidFill>
                  <a:prstClr val="white"/>
                </a:solidFill>
                <a:latin typeface="Microsoft YaHei UI"/>
                <a:ea typeface="微软雅黑"/>
              </a:endParaRPr>
            </a:p>
          </p:txBody>
        </p:sp>
      </p:grpSp>
      <p:grpSp>
        <p:nvGrpSpPr>
          <p:cNvPr id="7" name="组合 6"/>
          <p:cNvGrpSpPr/>
          <p:nvPr/>
        </p:nvGrpSpPr>
        <p:grpSpPr>
          <a:xfrm>
            <a:off x="6050135" y="2406055"/>
            <a:ext cx="3879850" cy="640080"/>
            <a:chOff x="4450132" y="4402318"/>
            <a:chExt cx="3879850" cy="640080"/>
          </a:xfrm>
        </p:grpSpPr>
        <p:sp>
          <p:nvSpPr>
            <p:cNvPr id="21" name="矩形 20"/>
            <p:cNvSpPr/>
            <p:nvPr/>
          </p:nvSpPr>
          <p:spPr>
            <a:xfrm>
              <a:off x="4450132" y="4402318"/>
              <a:ext cx="1474470" cy="63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latin typeface="Microsoft YaHei UI"/>
                  <a:ea typeface="微软雅黑"/>
                </a:rPr>
                <a:t>status = 1 </a:t>
              </a:r>
              <a:endParaRPr lang="zh-CN" altLang="en-US" sz="2000" dirty="0">
                <a:solidFill>
                  <a:prstClr val="white"/>
                </a:solidFill>
                <a:latin typeface="Microsoft YaHei UI"/>
                <a:ea typeface="微软雅黑"/>
              </a:endParaRPr>
            </a:p>
          </p:txBody>
        </p:sp>
        <p:cxnSp>
          <p:nvCxnSpPr>
            <p:cNvPr id="23" name="直接箭头连接符 22"/>
            <p:cNvCxnSpPr>
              <a:stCxn id="21" idx="3"/>
              <a:endCxn id="24" idx="1"/>
            </p:cNvCxnSpPr>
            <p:nvPr/>
          </p:nvCxnSpPr>
          <p:spPr>
            <a:xfrm>
              <a:off x="5924923" y="4719753"/>
              <a:ext cx="806450" cy="5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731052" y="4407398"/>
              <a:ext cx="1598930" cy="63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latin typeface="Microsoft YaHei UI"/>
                  <a:ea typeface="微软雅黑"/>
                </a:rPr>
                <a:t>status == 1 </a:t>
              </a:r>
              <a:endParaRPr lang="zh-CN" altLang="en-US" sz="2000" dirty="0">
                <a:solidFill>
                  <a:prstClr val="white"/>
                </a:solidFill>
                <a:latin typeface="Microsoft YaHei UI"/>
                <a:ea typeface="微软雅黑"/>
              </a:endParaRPr>
            </a:p>
          </p:txBody>
        </p:sp>
      </p:grpSp>
      <p:sp>
        <p:nvSpPr>
          <p:cNvPr id="14" name="文本框 13"/>
          <p:cNvSpPr txBox="1"/>
          <p:nvPr/>
        </p:nvSpPr>
        <p:spPr>
          <a:xfrm>
            <a:off x="3828854" y="5374808"/>
            <a:ext cx="5778631" cy="521970"/>
          </a:xfrm>
          <a:prstGeom prst="rect">
            <a:avLst/>
          </a:prstGeom>
          <a:noFill/>
        </p:spPr>
        <p:txBody>
          <a:bodyPr wrap="square" rtlCol="0">
            <a:spAutoFit/>
          </a:bodyPr>
          <a:lstStyle/>
          <a:p>
            <a:r>
              <a:rPr lang="en-US" altLang="zh-CN" sz="2800" dirty="0">
                <a:solidFill>
                  <a:srgbClr val="FF0000"/>
                </a:solidFill>
                <a:latin typeface="Microsoft YaHei UI"/>
                <a:ea typeface="微软雅黑"/>
              </a:rPr>
              <a:t>= </a:t>
            </a:r>
            <a:r>
              <a:rPr lang="zh-CN" altLang="en-US" sz="2800" dirty="0">
                <a:solidFill>
                  <a:srgbClr val="FF0000"/>
                </a:solidFill>
                <a:latin typeface="Microsoft YaHei UI"/>
                <a:ea typeface="微软雅黑"/>
              </a:rPr>
              <a:t>和 </a:t>
            </a:r>
            <a:r>
              <a:rPr lang="en-US" altLang="zh-CN" sz="2800" dirty="0">
                <a:solidFill>
                  <a:srgbClr val="FF0000"/>
                </a:solidFill>
                <a:latin typeface="Microsoft YaHei UI"/>
                <a:ea typeface="微软雅黑"/>
              </a:rPr>
              <a:t>== </a:t>
            </a:r>
            <a:r>
              <a:rPr lang="zh-CN" altLang="en-US" sz="2800" dirty="0">
                <a:solidFill>
                  <a:srgbClr val="FF0000"/>
                </a:solidFill>
                <a:latin typeface="Microsoft YaHei UI"/>
                <a:ea typeface="微软雅黑"/>
              </a:rPr>
              <a:t>一定要分清楚！！</a:t>
            </a:r>
            <a:endParaRPr lang="zh-CN" altLang="en-US" sz="2800" dirty="0">
              <a:solidFill>
                <a:prstClr val="black"/>
              </a:solidFill>
              <a:latin typeface="Microsoft YaHei UI"/>
              <a:ea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6E73F-3F4D-FBFE-3095-71C54255BD55}"/>
              </a:ext>
            </a:extLst>
          </p:cNvPr>
          <p:cNvSpPr txBox="1">
            <a:spLocks/>
          </p:cNvSpPr>
          <p:nvPr/>
        </p:nvSpPr>
        <p:spPr>
          <a:xfrm>
            <a:off x="2026285" y="225426"/>
            <a:ext cx="8138160" cy="678815"/>
          </a:xfrm>
        </p:spPr>
        <p:txBody>
          <a:bodyPr/>
          <a:lstStyle>
            <a:lvl1pPr algn="ctr" defTabSz="913130" rtl="0" fontAlgn="base">
              <a:spcBef>
                <a:spcPct val="0"/>
              </a:spcBef>
              <a:spcAft>
                <a:spcPct val="0"/>
              </a:spcAft>
              <a:defRPr sz="4400" kern="1200">
                <a:solidFill>
                  <a:schemeClr val="tx1"/>
                </a:solidFill>
                <a:latin typeface="+mj-lt"/>
                <a:ea typeface="+mj-ea"/>
                <a:cs typeface="+mj-cs"/>
              </a:defRPr>
            </a:lvl1pPr>
            <a:lvl2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2pPr>
            <a:lvl3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3pPr>
            <a:lvl4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4pPr>
            <a:lvl5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5pPr>
            <a:lvl6pPr marL="4572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6pPr>
            <a:lvl7pPr marL="9144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7pPr>
            <a:lvl8pPr marL="13716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8pPr>
            <a:lvl9pPr marL="18288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9pPr>
          </a:lstStyle>
          <a:p>
            <a:pPr algn="l">
              <a:defRPr/>
            </a:pPr>
            <a:r>
              <a:rPr lang="zh-CN" altLang="en-US" sz="2800" dirty="0">
                <a:solidFill>
                  <a:prstClr val="black"/>
                </a:solidFill>
                <a:latin typeface="Microsoft YaHei UI"/>
                <a:ea typeface="微软雅黑"/>
              </a:rPr>
              <a:t>例题</a:t>
            </a:r>
          </a:p>
        </p:txBody>
      </p:sp>
      <p:sp>
        <p:nvSpPr>
          <p:cNvPr id="3" name="文本框 2">
            <a:extLst>
              <a:ext uri="{FF2B5EF4-FFF2-40B4-BE49-F238E27FC236}">
                <a16:creationId xmlns:a16="http://schemas.microsoft.com/office/drawing/2014/main" id="{00D940A3-B35F-E9F6-13F7-532BBE8320D3}"/>
              </a:ext>
            </a:extLst>
          </p:cNvPr>
          <p:cNvSpPr txBox="1"/>
          <p:nvPr/>
        </p:nvSpPr>
        <p:spPr>
          <a:xfrm>
            <a:off x="2590801" y="1295400"/>
            <a:ext cx="5007429" cy="5355312"/>
          </a:xfrm>
          <a:prstGeom prst="rect">
            <a:avLst/>
          </a:prstGeom>
          <a:noFill/>
        </p:spPr>
        <p:txBody>
          <a:bodyPr wrap="square" rtlCol="0">
            <a:spAutoFit/>
          </a:bodyPr>
          <a:lstStyle/>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1.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以下叙述正确的是（D）</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do-while</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语句构成的循环不能用其他语句构成的循环来代替</a:t>
            </a:r>
          </a:p>
          <a:p>
            <a:pPr marL="342900" indent="-342900" algn="just">
              <a:buFont typeface="+mj-lt"/>
              <a:buAutoNum type="alphaUcPeriod"/>
            </a:pP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do-while</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语句构成的循环只能用</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break</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语句退出。</a:t>
            </a:r>
          </a:p>
          <a:p>
            <a:pPr marL="342900" indent="-342900" algn="just">
              <a:buFont typeface="+mj-lt"/>
              <a:buAutoNum type="alphaUcPeriod"/>
            </a:pP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用</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do-while</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语句构成的循环，在</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while</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后的表达式为非零时循环结束。</a:t>
            </a:r>
          </a:p>
          <a:p>
            <a:pPr marL="342900" indent="-342900" algn="just">
              <a:buFont typeface="+mj-lt"/>
              <a:buAutoNum type="alphaUcPeriod"/>
            </a:pP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用</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do-while</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语句构成的循环，在</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while</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后的表达式为零时循环结束。</a:t>
            </a:r>
            <a:endPar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2.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以下关于数组的描述正确的是（C）。</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数组的大小是固定的，但可以有不同的类型的数组元素。</a:t>
            </a: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B.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数组的大小是可变的，但所有数组元素的类型必须相同。</a:t>
            </a: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C.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数组的大小是固定的，但所有</a:t>
            </a:r>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数组</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元素的类型必须相同。</a:t>
            </a: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D.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数组的大小是可变的，但可以有不同的类型的数组元素。</a:t>
            </a:r>
          </a:p>
          <a:p>
            <a:pPr marL="342900" indent="-342900" algn="just">
              <a:buFont typeface="+mj-lt"/>
              <a:buAutoNum type="alphaUcPeriod"/>
            </a:pP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288480"/>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6E73F-3F4D-FBFE-3095-71C54255BD55}"/>
              </a:ext>
            </a:extLst>
          </p:cNvPr>
          <p:cNvSpPr txBox="1">
            <a:spLocks/>
          </p:cNvSpPr>
          <p:nvPr/>
        </p:nvSpPr>
        <p:spPr>
          <a:xfrm>
            <a:off x="2026285" y="225426"/>
            <a:ext cx="8138160" cy="678815"/>
          </a:xfrm>
        </p:spPr>
        <p:txBody>
          <a:bodyPr/>
          <a:lstStyle>
            <a:lvl1pPr algn="ctr" defTabSz="913130" rtl="0" fontAlgn="base">
              <a:spcBef>
                <a:spcPct val="0"/>
              </a:spcBef>
              <a:spcAft>
                <a:spcPct val="0"/>
              </a:spcAft>
              <a:defRPr sz="4400" kern="1200">
                <a:solidFill>
                  <a:schemeClr val="tx1"/>
                </a:solidFill>
                <a:latin typeface="+mj-lt"/>
                <a:ea typeface="+mj-ea"/>
                <a:cs typeface="+mj-cs"/>
              </a:defRPr>
            </a:lvl1pPr>
            <a:lvl2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2pPr>
            <a:lvl3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3pPr>
            <a:lvl4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4pPr>
            <a:lvl5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5pPr>
            <a:lvl6pPr marL="4572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6pPr>
            <a:lvl7pPr marL="9144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7pPr>
            <a:lvl8pPr marL="13716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8pPr>
            <a:lvl9pPr marL="18288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9pPr>
          </a:lstStyle>
          <a:p>
            <a:pPr algn="l">
              <a:defRPr/>
            </a:pPr>
            <a:r>
              <a:rPr lang="zh-CN" altLang="en-US" sz="2800" dirty="0">
                <a:solidFill>
                  <a:prstClr val="black"/>
                </a:solidFill>
                <a:latin typeface="Microsoft YaHei UI"/>
                <a:ea typeface="微软雅黑"/>
              </a:rPr>
              <a:t>例题</a:t>
            </a:r>
          </a:p>
        </p:txBody>
      </p:sp>
      <p:sp>
        <p:nvSpPr>
          <p:cNvPr id="3" name="文本框 2">
            <a:extLst>
              <a:ext uri="{FF2B5EF4-FFF2-40B4-BE49-F238E27FC236}">
                <a16:creationId xmlns:a16="http://schemas.microsoft.com/office/drawing/2014/main" id="{00D940A3-B35F-E9F6-13F7-532BBE8320D3}"/>
              </a:ext>
            </a:extLst>
          </p:cNvPr>
          <p:cNvSpPr txBox="1"/>
          <p:nvPr/>
        </p:nvSpPr>
        <p:spPr>
          <a:xfrm>
            <a:off x="2590801" y="1295401"/>
            <a:ext cx="5007429" cy="4524315"/>
          </a:xfrm>
          <a:prstGeom prst="rect">
            <a:avLst/>
          </a:prstGeom>
          <a:noFill/>
        </p:spPr>
        <p:txBody>
          <a:bodyPr wrap="square" rtlCol="0">
            <a:spAutoFit/>
          </a:bodyPr>
          <a:lstStyle/>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1.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switch(表达式)语句中的“表达式”，允许的类型是(  C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A</a:t>
            </a:r>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a:t>
            </a:r>
            <a:r>
              <a:rPr lang="en-US"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float, int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B</a:t>
            </a:r>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a:t>
            </a:r>
            <a:r>
              <a:rPr lang="en-US"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float, int, char</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C. int, char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D. char, double</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【分支结构】</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2.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下面有关for循环的正确描述是（ D ）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A.for循环只能用于循环次数已经确定的情况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B.for循环是先执行循环体语句，后判断表达式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C.在for循环中，不能用break语句跳出循环体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D.for循环的循环体语句中，可以包含多条语句，但必须用花括号括起来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【循环结构】</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80233012"/>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FD69E"/>
        </a:solidFill>
        <a:effectLst/>
      </p:bgPr>
    </p:bg>
    <p:spTree>
      <p:nvGrpSpPr>
        <p:cNvPr id="1" name=""/>
        <p:cNvGrpSpPr/>
        <p:nvPr/>
      </p:nvGrpSpPr>
      <p:grpSpPr>
        <a:xfrm>
          <a:off x="0" y="0"/>
          <a:ext cx="0" cy="0"/>
          <a:chOff x="0" y="0"/>
          <a:chExt cx="0" cy="0"/>
        </a:xfrm>
      </p:grpSpPr>
      <p:sp>
        <p:nvSpPr>
          <p:cNvPr id="6" name="矩形 5"/>
          <p:cNvSpPr/>
          <p:nvPr/>
        </p:nvSpPr>
        <p:spPr>
          <a:xfrm>
            <a:off x="1524000" y="3024188"/>
            <a:ext cx="9144000" cy="449262"/>
          </a:xfrm>
          <a:prstGeom prst="rect">
            <a:avLst/>
          </a:prstGeom>
          <a:solidFill>
            <a:srgbClr val="24F0C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200">
              <a:defRPr/>
            </a:pPr>
            <a:endParaRPr lang="zh-CN" altLang="en-US">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4" name="TextBox 3"/>
          <p:cNvSpPr txBox="1"/>
          <p:nvPr/>
        </p:nvSpPr>
        <p:spPr>
          <a:xfrm>
            <a:off x="1550989" y="-576263"/>
            <a:ext cx="4095993" cy="8094524"/>
          </a:xfrm>
          <a:prstGeom prst="rect">
            <a:avLst/>
          </a:prstGeom>
          <a:noFill/>
          <a:effectLst>
            <a:outerShdw blurRad="165100" dist="76200" dir="1200000" algn="tl" rotWithShape="0">
              <a:prstClr val="black">
                <a:alpha val="10000"/>
              </a:prstClr>
            </a:outerShdw>
          </a:effectLst>
        </p:spPr>
        <p:txBody>
          <a:bodyPr wrap="none">
            <a:spAutoFit/>
          </a:bodyPr>
          <a:lstStyle/>
          <a:p>
            <a:pPr defTabSz="1219200">
              <a:defRPr/>
            </a:pPr>
            <a:r>
              <a:rPr lang="en-US" sz="52000" dirty="0">
                <a:solidFill>
                  <a:prstClr val="white"/>
                </a:solidFill>
                <a:latin typeface="Microsoft YaHei UI" panose="020B0503020204020204" pitchFamily="34" charset="-122"/>
                <a:ea typeface="微软雅黑" panose="020B0503020204020204" pitchFamily="34" charset="-122"/>
                <a:cs typeface="+mn-ea"/>
                <a:sym typeface="+mn-lt"/>
              </a:rPr>
              <a:t>3</a:t>
            </a:r>
          </a:p>
        </p:txBody>
      </p:sp>
      <p:sp>
        <p:nvSpPr>
          <p:cNvPr id="5" name="矩形 4"/>
          <p:cNvSpPr/>
          <p:nvPr/>
        </p:nvSpPr>
        <p:spPr>
          <a:xfrm>
            <a:off x="7239884" y="3010694"/>
            <a:ext cx="2413999" cy="460375"/>
          </a:xfrm>
          <a:prstGeom prst="rect">
            <a:avLst/>
          </a:prstGeom>
        </p:spPr>
        <p:txBody>
          <a:bodyPr wrap="square">
            <a:spAutoFit/>
          </a:bodyPr>
          <a:lstStyle/>
          <a:p>
            <a:pPr algn="r" defTabSz="1219200">
              <a:defRPr/>
            </a:pPr>
            <a:r>
              <a:rPr lang="zh-CN" altLang="en-US" sz="2400" dirty="0">
                <a:solidFill>
                  <a:prstClr val="white"/>
                </a:solidFill>
                <a:latin typeface="黑体" panose="02010609060101010101" pitchFamily="49" charset="-122"/>
                <a:ea typeface="黑体" panose="02010609060101010101" pitchFamily="49" charset="-122"/>
                <a:sym typeface="+mn-ea"/>
              </a:rPr>
              <a:t>函数与递归</a:t>
            </a:r>
            <a:endParaRPr lang="zh-CN" altLang="en-US" sz="2400" dirty="0">
              <a:solidFill>
                <a:prstClr val="white"/>
              </a:solidFill>
              <a:latin typeface="黑体" panose="02010609060101010101" pitchFamily="49" charset="-122"/>
              <a:ea typeface="黑体" panose="02010609060101010101" pitchFamily="49" charset="-122"/>
              <a:cs typeface="+mn-ea"/>
              <a:sym typeface="+mn-ea"/>
            </a:endParaRPr>
          </a:p>
        </p:txBody>
      </p:sp>
      <p:sp>
        <p:nvSpPr>
          <p:cNvPr id="3" name="矩形 2"/>
          <p:cNvSpPr/>
          <p:nvPr/>
        </p:nvSpPr>
        <p:spPr>
          <a:xfrm>
            <a:off x="6808530" y="2254251"/>
            <a:ext cx="3473708" cy="769441"/>
          </a:xfrm>
          <a:prstGeom prst="rect">
            <a:avLst/>
          </a:prstGeom>
        </p:spPr>
        <p:txBody>
          <a:bodyPr wrap="none">
            <a:spAutoFit/>
          </a:bodyPr>
          <a:lstStyle/>
          <a:p>
            <a:pPr algn="r" defTabSz="1219200">
              <a:defRPr/>
            </a:pPr>
            <a:r>
              <a:rPr lang="en-US" altLang="zh-CN" sz="4400" dirty="0">
                <a:solidFill>
                  <a:prstClr val="white"/>
                </a:solidFill>
                <a:latin typeface="Microsoft YaHei UI" panose="020B0503020204020204" pitchFamily="34" charset="-122"/>
                <a:ea typeface="微软雅黑" panose="020B0503020204020204" pitchFamily="34" charset="-122"/>
                <a:cs typeface="+mn-ea"/>
                <a:sym typeface="+mn-lt"/>
              </a:rPr>
              <a:t>PART THREE</a:t>
            </a:r>
            <a:endParaRPr lang="zh-CN" altLang="en-US" sz="4400" dirty="0">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44038" name="文本框 1"/>
          <p:cNvSpPr txBox="1">
            <a:spLocks noChangeArrowheads="1"/>
          </p:cNvSpPr>
          <p:nvPr/>
        </p:nvSpPr>
        <p:spPr bwMode="auto">
          <a:xfrm>
            <a:off x="8036302" y="3627243"/>
            <a:ext cx="30607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930">
              <a:defRPr>
                <a:solidFill>
                  <a:schemeClr val="tx1"/>
                </a:solidFill>
                <a:latin typeface="Microsoft YaHei UI" panose="020B0503020204020204" pitchFamily="34" charset="-122"/>
                <a:ea typeface="微软雅黑" panose="020B0503020204020204" pitchFamily="34" charset="-122"/>
              </a:defRPr>
            </a:lvl1pPr>
            <a:lvl2pPr marL="742950" indent="-285750" defTabSz="1217930">
              <a:defRPr>
                <a:solidFill>
                  <a:schemeClr val="tx1"/>
                </a:solidFill>
                <a:latin typeface="Microsoft YaHei UI" panose="020B0503020204020204" pitchFamily="34" charset="-122"/>
                <a:ea typeface="微软雅黑" panose="020B0503020204020204" pitchFamily="34" charset="-122"/>
              </a:defRPr>
            </a:lvl2pPr>
            <a:lvl3pPr marL="1143000" indent="-228600" defTabSz="1217930">
              <a:defRPr>
                <a:solidFill>
                  <a:schemeClr val="tx1"/>
                </a:solidFill>
                <a:latin typeface="Microsoft YaHei UI" panose="020B0503020204020204" pitchFamily="34" charset="-122"/>
                <a:ea typeface="微软雅黑" panose="020B0503020204020204" pitchFamily="34" charset="-122"/>
              </a:defRPr>
            </a:lvl3pPr>
            <a:lvl4pPr marL="1600200" indent="-228600" defTabSz="1217930">
              <a:defRPr>
                <a:solidFill>
                  <a:schemeClr val="tx1"/>
                </a:solidFill>
                <a:latin typeface="Microsoft YaHei UI" panose="020B0503020204020204" pitchFamily="34" charset="-122"/>
                <a:ea typeface="微软雅黑" panose="020B0503020204020204" pitchFamily="34" charset="-122"/>
              </a:defRPr>
            </a:lvl4pPr>
            <a:lvl5pPr marL="2057400" indent="-228600" defTabSz="1217930">
              <a:defRPr>
                <a:solidFill>
                  <a:schemeClr val="tx1"/>
                </a:solidFill>
                <a:latin typeface="Microsoft YaHei UI" panose="020B0503020204020204" pitchFamily="34" charset="-122"/>
                <a:ea typeface="微软雅黑" panose="020B0503020204020204" pitchFamily="34" charset="-122"/>
              </a:defRPr>
            </a:lvl5pPr>
            <a:lvl6pPr marL="25146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6pPr>
            <a:lvl7pPr marL="29718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7pPr>
            <a:lvl8pPr marL="34290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8pPr>
            <a:lvl9pPr marL="3886200" indent="-228600" defTabSz="1217930" eaLnBrk="0" fontAlgn="base" hangingPunct="0">
              <a:spcBef>
                <a:spcPct val="0"/>
              </a:spcBef>
              <a:spcAft>
                <a:spcPct val="0"/>
              </a:spcAft>
              <a:defRPr>
                <a:solidFill>
                  <a:schemeClr val="tx1"/>
                </a:solidFill>
                <a:latin typeface="Microsoft YaHei UI" panose="020B0503020204020204" pitchFamily="34" charset="-122"/>
                <a:ea typeface="微软雅黑" panose="020B0503020204020204" pitchFamily="34" charset="-122"/>
              </a:defRPr>
            </a:lvl9pPr>
          </a:lstStyle>
          <a:p>
            <a:pPr fontAlgn="base">
              <a:spcBef>
                <a:spcPct val="0"/>
              </a:spcBef>
              <a:spcAft>
                <a:spcPct val="0"/>
              </a:spcAft>
              <a:defRPr/>
            </a:pPr>
            <a:r>
              <a:rPr lang="en-US" altLang="zh-CN" sz="2000" dirty="0">
                <a:solidFill>
                  <a:srgbClr val="FFFFFF"/>
                </a:solidFill>
              </a:rPr>
              <a:t>1.</a:t>
            </a:r>
            <a:r>
              <a:rPr lang="zh-CN" altLang="en-US" sz="2000" dirty="0">
                <a:solidFill>
                  <a:srgbClr val="FFFFFF"/>
                </a:solidFill>
              </a:rPr>
              <a:t>函数格式</a:t>
            </a:r>
          </a:p>
          <a:p>
            <a:pPr fontAlgn="base">
              <a:spcBef>
                <a:spcPct val="0"/>
              </a:spcBef>
              <a:spcAft>
                <a:spcPct val="0"/>
              </a:spcAft>
              <a:defRPr/>
            </a:pPr>
            <a:r>
              <a:rPr lang="en-US" altLang="zh-CN" sz="2000" dirty="0">
                <a:solidFill>
                  <a:srgbClr val="FFFFFF"/>
                </a:solidFill>
              </a:rPr>
              <a:t>2.</a:t>
            </a:r>
            <a:r>
              <a:rPr lang="zh-CN" altLang="en-US" sz="2000" dirty="0">
                <a:solidFill>
                  <a:srgbClr val="FFFFFF"/>
                </a:solidFill>
              </a:rPr>
              <a:t>变量生存期</a:t>
            </a:r>
          </a:p>
          <a:p>
            <a:pPr fontAlgn="base">
              <a:spcBef>
                <a:spcPct val="0"/>
              </a:spcBef>
              <a:spcAft>
                <a:spcPct val="0"/>
              </a:spcAft>
              <a:defRPr/>
            </a:pPr>
            <a:r>
              <a:rPr lang="en-US" altLang="zh-CN" sz="2000" dirty="0">
                <a:solidFill>
                  <a:srgbClr val="FFFFFF"/>
                </a:solidFill>
              </a:rPr>
              <a:t>3.</a:t>
            </a:r>
            <a:r>
              <a:rPr lang="zh-CN" altLang="en-US" sz="2000" dirty="0">
                <a:solidFill>
                  <a:srgbClr val="FFFFFF"/>
                </a:solidFill>
              </a:rPr>
              <a:t>函数与指针</a:t>
            </a:r>
          </a:p>
          <a:p>
            <a:pPr fontAlgn="base">
              <a:spcBef>
                <a:spcPct val="0"/>
              </a:spcBef>
              <a:spcAft>
                <a:spcPct val="0"/>
              </a:spcAft>
              <a:defRPr/>
            </a:pPr>
            <a:r>
              <a:rPr lang="en-US" altLang="zh-CN" sz="2000" dirty="0">
                <a:solidFill>
                  <a:srgbClr val="FFFFFF"/>
                </a:solidFill>
              </a:rPr>
              <a:t>4.</a:t>
            </a:r>
            <a:r>
              <a:rPr lang="zh-CN" altLang="en-US" sz="2000" dirty="0">
                <a:solidFill>
                  <a:srgbClr val="FFFFFF"/>
                </a:solidFill>
              </a:rPr>
              <a:t>递归</a:t>
            </a:r>
          </a:p>
        </p:txBody>
      </p:sp>
    </p:spTree>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23093" y="373118"/>
            <a:ext cx="6211613" cy="523220"/>
          </a:xfrm>
          <a:prstGeom prst="rect">
            <a:avLst/>
          </a:prstGeom>
          <a:noFill/>
        </p:spPr>
        <p:txBody>
          <a:bodyPr wrap="square" rtlCol="0">
            <a:spAutoFit/>
          </a:bodyPr>
          <a:lstStyle/>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函数：格式（定义，声明，调用）</a:t>
            </a:r>
          </a:p>
        </p:txBody>
      </p:sp>
      <p:sp>
        <p:nvSpPr>
          <p:cNvPr id="5" name="矩形 4"/>
          <p:cNvSpPr/>
          <p:nvPr/>
        </p:nvSpPr>
        <p:spPr>
          <a:xfrm>
            <a:off x="2640999" y="1138537"/>
            <a:ext cx="1444626" cy="707886"/>
          </a:xfrm>
          <a:prstGeom prst="rect">
            <a:avLst/>
          </a:prstGeom>
          <a:noFill/>
        </p:spPr>
        <p:txBody>
          <a:bodyPr wrap="none" lIns="91440" tIns="45720" rIns="91440" bIns="45720">
            <a:spAutoFit/>
          </a:bodyPr>
          <a:lstStyle/>
          <a:p>
            <a:pPr algn="ctr" eaLnBrk="0" fontAlgn="base" hangingPunct="0">
              <a:spcBef>
                <a:spcPct val="0"/>
              </a:spcBef>
              <a:spcAft>
                <a:spcPct val="0"/>
              </a:spcAft>
            </a:pPr>
            <a:r>
              <a:rPr lang="en-US" altLang="zh-CN" sz="4000" dirty="0">
                <a:ln w="0"/>
                <a:solidFill>
                  <a:prstClr val="black"/>
                </a:solidFill>
                <a:effectLst>
                  <a:outerShdw blurRad="38100" dist="19050" dir="2700000" algn="tl" rotWithShape="0">
                    <a:prstClr val="black">
                      <a:alpha val="40000"/>
                    </a:prstClr>
                  </a:outerShdw>
                </a:effectLst>
                <a:latin typeface="Microsoft YaHei UI" panose="020B0503020204020204" pitchFamily="34" charset="-122"/>
                <a:ea typeface="微软雅黑" panose="020B0503020204020204" pitchFamily="34" charset="-122"/>
              </a:rPr>
              <a:t>*</a:t>
            </a:r>
            <a:r>
              <a:rPr lang="zh-CN" altLang="en-US" sz="4000" dirty="0">
                <a:ln w="0"/>
                <a:solidFill>
                  <a:prstClr val="black"/>
                </a:solidFill>
                <a:effectLst>
                  <a:outerShdw blurRad="38100" dist="19050" dir="2700000" algn="tl" rotWithShape="0">
                    <a:prstClr val="black">
                      <a:alpha val="40000"/>
                    </a:prstClr>
                  </a:outerShdw>
                </a:effectLst>
                <a:latin typeface="Microsoft YaHei UI" panose="020B0503020204020204" pitchFamily="34" charset="-122"/>
                <a:ea typeface="微软雅黑" panose="020B0503020204020204" pitchFamily="34" charset="-122"/>
              </a:rPr>
              <a:t>定义</a:t>
            </a:r>
          </a:p>
        </p:txBody>
      </p:sp>
      <p:sp>
        <p:nvSpPr>
          <p:cNvPr id="6" name="文本框 5"/>
          <p:cNvSpPr txBox="1"/>
          <p:nvPr/>
        </p:nvSpPr>
        <p:spPr>
          <a:xfrm>
            <a:off x="6668815" y="2307023"/>
            <a:ext cx="4041228" cy="2359107"/>
          </a:xfrm>
          <a:prstGeom prst="rect">
            <a:avLst/>
          </a:prstGeom>
          <a:noFill/>
        </p:spPr>
        <p:txBody>
          <a:bodyPr wrap="square" rtlCol="0">
            <a:spAutoFit/>
          </a:bodyPr>
          <a:lstStyle/>
          <a:p>
            <a:pPr eaLnBrk="0" fontAlgn="base" hangingPunct="0">
              <a:lnSpc>
                <a:spcPct val="125000"/>
              </a:lnSpc>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2.</a:t>
            </a:r>
            <a:r>
              <a:rPr lang="zh-CN" altLang="en-US" sz="2400" dirty="0">
                <a:solidFill>
                  <a:prstClr val="black"/>
                </a:solidFill>
                <a:latin typeface="Microsoft YaHei UI" panose="020B0503020204020204" pitchFamily="34" charset="-122"/>
                <a:ea typeface="微软雅黑" panose="020B0503020204020204" pitchFamily="34" charset="-122"/>
              </a:rPr>
              <a:t>形式参数（简称形参）：</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     是函数的“假想操作对象”，调用时，用实际参数的值代替形式参数进行操作。</a:t>
            </a:r>
            <a:endParaRPr lang="en-US" altLang="zh-CN" sz="2400" dirty="0">
              <a:solidFill>
                <a:prstClr val="black"/>
              </a:solidFill>
              <a:latin typeface="Microsoft YaHei UI"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1609463" y="2193599"/>
            <a:ext cx="5001551" cy="155048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文本框 10"/>
          <p:cNvSpPr txBox="1"/>
          <p:nvPr/>
        </p:nvSpPr>
        <p:spPr>
          <a:xfrm>
            <a:off x="6668820" y="1020664"/>
            <a:ext cx="3645951" cy="830997"/>
          </a:xfrm>
          <a:prstGeom prst="rect">
            <a:avLst/>
          </a:prstGeom>
          <a:noFill/>
        </p:spPr>
        <p:txBody>
          <a:bodyPr wrap="square" rtlCol="0">
            <a:spAutoFit/>
          </a:bodyPr>
          <a:lstStyle/>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1.</a:t>
            </a:r>
            <a:r>
              <a:rPr lang="zh-CN" altLang="en-US" sz="2400" dirty="0">
                <a:solidFill>
                  <a:prstClr val="black"/>
                </a:solidFill>
                <a:latin typeface="Microsoft YaHei UI" panose="020B0503020204020204" pitchFamily="34" charset="-122"/>
                <a:ea typeface="微软雅黑" panose="020B0503020204020204" pitchFamily="34" charset="-122"/>
              </a:rPr>
              <a:t>函数返回值类型：</a:t>
            </a:r>
            <a:r>
              <a:rPr lang="en-US" altLang="zh-CN" sz="2400" dirty="0">
                <a:solidFill>
                  <a:prstClr val="black"/>
                </a:solidFill>
                <a:latin typeface="Microsoft YaHei UI" panose="020B0503020204020204" pitchFamily="34" charset="-122"/>
                <a:ea typeface="微软雅黑" panose="020B0503020204020204" pitchFamily="34" charset="-122"/>
              </a:rPr>
              <a:t>int\char\void…</a:t>
            </a:r>
            <a:endParaRPr lang="zh-CN" altLang="en-US" sz="2400" dirty="0">
              <a:solidFill>
                <a:prstClr val="black"/>
              </a:solidFill>
              <a:latin typeface="Microsoft YaHei UI" panose="020B0503020204020204" pitchFamily="34" charset="-122"/>
              <a:ea typeface="微软雅黑" panose="020B0503020204020204" pitchFamily="34" charset="-122"/>
            </a:endParaRPr>
          </a:p>
        </p:txBody>
      </p:sp>
      <p:sp>
        <p:nvSpPr>
          <p:cNvPr id="12" name="文本框 11"/>
          <p:cNvSpPr txBox="1"/>
          <p:nvPr/>
        </p:nvSpPr>
        <p:spPr>
          <a:xfrm>
            <a:off x="6762439" y="5186943"/>
            <a:ext cx="3631824" cy="461665"/>
          </a:xfrm>
          <a:prstGeom prst="rect">
            <a:avLst/>
          </a:prstGeom>
          <a:noFill/>
        </p:spPr>
        <p:txBody>
          <a:bodyPr wrap="square" rtlCol="0">
            <a:spAutoFit/>
          </a:bodyPr>
          <a:lstStyle/>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3. </a:t>
            </a:r>
            <a:r>
              <a:rPr lang="zh-CN" altLang="en-US" sz="2400" dirty="0">
                <a:solidFill>
                  <a:prstClr val="black"/>
                </a:solidFill>
                <a:latin typeface="Microsoft YaHei UI" panose="020B0503020204020204" pitchFamily="34" charset="-122"/>
                <a:ea typeface="微软雅黑" panose="020B0503020204020204" pitchFamily="34" charset="-122"/>
              </a:rPr>
              <a:t>函数体</a:t>
            </a:r>
          </a:p>
        </p:txBody>
      </p:sp>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23093" y="373118"/>
            <a:ext cx="6211613" cy="523220"/>
          </a:xfrm>
          <a:prstGeom prst="rect">
            <a:avLst/>
          </a:prstGeom>
          <a:noFill/>
        </p:spPr>
        <p:txBody>
          <a:bodyPr wrap="square" rtlCol="0">
            <a:spAutoFit/>
          </a:bodyPr>
          <a:lstStyle/>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函数：格式（定义，声明，调用）</a:t>
            </a:r>
          </a:p>
        </p:txBody>
      </p:sp>
      <p:sp>
        <p:nvSpPr>
          <p:cNvPr id="5" name="矩形 4"/>
          <p:cNvSpPr/>
          <p:nvPr/>
        </p:nvSpPr>
        <p:spPr>
          <a:xfrm>
            <a:off x="7965987" y="707233"/>
            <a:ext cx="1495112" cy="707886"/>
          </a:xfrm>
          <a:prstGeom prst="rect">
            <a:avLst/>
          </a:prstGeom>
          <a:noFill/>
        </p:spPr>
        <p:txBody>
          <a:bodyPr wrap="square" lIns="91440" tIns="45720" rIns="91440" bIns="45720">
            <a:spAutoFit/>
          </a:bodyPr>
          <a:lstStyle/>
          <a:p>
            <a:pPr algn="ctr" eaLnBrk="0" fontAlgn="base" hangingPunct="0">
              <a:spcBef>
                <a:spcPct val="0"/>
              </a:spcBef>
              <a:spcAft>
                <a:spcPct val="0"/>
              </a:spcAft>
            </a:pPr>
            <a:r>
              <a:rPr lang="en-US" altLang="zh-CN" sz="4000" dirty="0">
                <a:ln w="0"/>
                <a:solidFill>
                  <a:prstClr val="black"/>
                </a:solidFill>
                <a:effectLst>
                  <a:outerShdw blurRad="38100" dist="19050" dir="2700000" algn="tl" rotWithShape="0">
                    <a:prstClr val="black">
                      <a:alpha val="40000"/>
                    </a:prstClr>
                  </a:outerShdw>
                </a:effectLst>
                <a:latin typeface="Microsoft YaHei UI" panose="020B0503020204020204" pitchFamily="34" charset="-122"/>
                <a:ea typeface="微软雅黑" panose="020B0503020204020204" pitchFamily="34" charset="-122"/>
              </a:rPr>
              <a:t>*</a:t>
            </a:r>
            <a:r>
              <a:rPr lang="zh-CN" altLang="en-US" sz="4000" dirty="0">
                <a:ln w="0"/>
                <a:solidFill>
                  <a:prstClr val="black"/>
                </a:solidFill>
                <a:effectLst>
                  <a:outerShdw blurRad="38100" dist="19050" dir="2700000" algn="tl" rotWithShape="0">
                    <a:prstClr val="black">
                      <a:alpha val="40000"/>
                    </a:prstClr>
                  </a:outerShdw>
                </a:effectLst>
                <a:latin typeface="Microsoft YaHei UI" panose="020B0503020204020204" pitchFamily="34" charset="-122"/>
                <a:ea typeface="微软雅黑" panose="020B0503020204020204" pitchFamily="34" charset="-122"/>
              </a:rPr>
              <a:t>声明</a:t>
            </a:r>
          </a:p>
        </p:txBody>
      </p:sp>
      <p:sp>
        <p:nvSpPr>
          <p:cNvPr id="6" name="文本框 5"/>
          <p:cNvSpPr txBox="1"/>
          <p:nvPr/>
        </p:nvSpPr>
        <p:spPr>
          <a:xfrm>
            <a:off x="6658304" y="2438181"/>
            <a:ext cx="3715408" cy="3282437"/>
          </a:xfrm>
          <a:prstGeom prst="rect">
            <a:avLst/>
          </a:prstGeom>
          <a:noFill/>
        </p:spPr>
        <p:txBody>
          <a:bodyPr wrap="square" rtlCol="0">
            <a:spAutoFit/>
          </a:bodyPr>
          <a:lstStyle/>
          <a:p>
            <a:pPr eaLnBrk="0" fontAlgn="base" hangingPunct="0">
              <a:lnSpc>
                <a:spcPct val="125000"/>
              </a:lnSpc>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作用：在调用函数之前，让系统知道函数的内容。</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有多种声明方法；</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推荐：</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1.</a:t>
            </a:r>
            <a:r>
              <a:rPr lang="zh-CN" altLang="en-US" sz="2400" dirty="0">
                <a:solidFill>
                  <a:prstClr val="black"/>
                </a:solidFill>
                <a:latin typeface="Microsoft YaHei UI" panose="020B0503020204020204" pitchFamily="34" charset="-122"/>
                <a:ea typeface="微软雅黑" panose="020B0503020204020204" pitchFamily="34" charset="-122"/>
              </a:rPr>
              <a:t>在</a:t>
            </a:r>
            <a:r>
              <a:rPr lang="en-US" altLang="zh-CN" sz="2400" dirty="0">
                <a:solidFill>
                  <a:prstClr val="black"/>
                </a:solidFill>
                <a:latin typeface="Microsoft YaHei UI" panose="020B0503020204020204" pitchFamily="34" charset="-122"/>
                <a:ea typeface="微软雅黑" panose="020B0503020204020204" pitchFamily="34" charset="-122"/>
              </a:rPr>
              <a:t>.c</a:t>
            </a:r>
            <a:r>
              <a:rPr lang="zh-CN" altLang="en-US" sz="2400" dirty="0">
                <a:solidFill>
                  <a:prstClr val="black"/>
                </a:solidFill>
                <a:latin typeface="Microsoft YaHei UI" panose="020B0503020204020204" pitchFamily="34" charset="-122"/>
                <a:ea typeface="微软雅黑" panose="020B0503020204020204" pitchFamily="34" charset="-122"/>
              </a:rPr>
              <a:t>文件的头部声明</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2.</a:t>
            </a:r>
            <a:r>
              <a:rPr lang="zh-CN" altLang="en-US" sz="2400" dirty="0">
                <a:solidFill>
                  <a:prstClr val="black"/>
                </a:solidFill>
                <a:latin typeface="Microsoft YaHei UI" panose="020B0503020204020204" pitchFamily="34" charset="-122"/>
                <a:ea typeface="微软雅黑" panose="020B0503020204020204" pitchFamily="34" charset="-122"/>
              </a:rPr>
              <a:t>把函数写在</a:t>
            </a:r>
            <a:r>
              <a:rPr lang="en-US" altLang="zh-CN" sz="2400" dirty="0">
                <a:solidFill>
                  <a:prstClr val="black"/>
                </a:solidFill>
                <a:latin typeface="Microsoft YaHei UI" panose="020B0503020204020204" pitchFamily="34" charset="-122"/>
                <a:ea typeface="微软雅黑" panose="020B0503020204020204" pitchFamily="34" charset="-122"/>
              </a:rPr>
              <a:t>main</a:t>
            </a:r>
            <a:r>
              <a:rPr lang="zh-CN" altLang="en-US" sz="2400" dirty="0">
                <a:solidFill>
                  <a:prstClr val="black"/>
                </a:solidFill>
                <a:latin typeface="Microsoft YaHei UI" panose="020B0503020204020204" pitchFamily="34" charset="-122"/>
                <a:ea typeface="微软雅黑" panose="020B0503020204020204" pitchFamily="34" charset="-122"/>
              </a:rPr>
              <a:t>函数前面，就无需声明。</a:t>
            </a:r>
            <a:endParaRPr lang="en-US" altLang="zh-CN" sz="2400" dirty="0">
              <a:solidFill>
                <a:prstClr val="black"/>
              </a:solidFill>
              <a:latin typeface="Microsoft YaHei UI"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1513487" y="956924"/>
            <a:ext cx="3715408" cy="288635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8" name="图片 7"/>
          <p:cNvPicPr>
            <a:picLocks noChangeAspect="1"/>
          </p:cNvPicPr>
          <p:nvPr/>
        </p:nvPicPr>
        <p:blipFill>
          <a:blip r:embed="rId3"/>
          <a:stretch>
            <a:fillRect/>
          </a:stretch>
        </p:blipFill>
        <p:spPr>
          <a:xfrm>
            <a:off x="1513488" y="3903861"/>
            <a:ext cx="3223371" cy="304938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9" name="文本框 8"/>
          <p:cNvSpPr txBox="1"/>
          <p:nvPr/>
        </p:nvSpPr>
        <p:spPr>
          <a:xfrm>
            <a:off x="5052849" y="3843272"/>
            <a:ext cx="951187" cy="707886"/>
          </a:xfrm>
          <a:prstGeom prst="rect">
            <a:avLst/>
          </a:prstGeom>
          <a:noFill/>
        </p:spPr>
        <p:txBody>
          <a:bodyPr wrap="square" rtlCol="0">
            <a:spAutoFit/>
          </a:bodyPr>
          <a:lstStyle/>
          <a:p>
            <a:pPr eaLnBrk="0" fontAlgn="base" hangingPunct="0">
              <a:spcBef>
                <a:spcPct val="0"/>
              </a:spcBef>
              <a:spcAft>
                <a:spcPct val="0"/>
              </a:spcAft>
            </a:pPr>
            <a:r>
              <a:rPr lang="zh-CN" altLang="en-US" sz="4000" dirty="0">
                <a:solidFill>
                  <a:prstClr val="black"/>
                </a:solidFill>
                <a:latin typeface="Microsoft YaHei UI" panose="020B0503020204020204" pitchFamily="34" charset="-122"/>
                <a:ea typeface="微软雅黑" panose="020B0503020204020204" pitchFamily="34" charset="-122"/>
              </a:rPr>
              <a:t>或</a:t>
            </a:r>
          </a:p>
        </p:txBody>
      </p:sp>
    </p:spTree>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23093" y="373118"/>
            <a:ext cx="6211613" cy="523220"/>
          </a:xfrm>
          <a:prstGeom prst="rect">
            <a:avLst/>
          </a:prstGeom>
          <a:noFill/>
        </p:spPr>
        <p:txBody>
          <a:bodyPr wrap="square" rtlCol="0">
            <a:spAutoFit/>
          </a:bodyPr>
          <a:lstStyle/>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函数：格式（定义，声明，调用）</a:t>
            </a:r>
          </a:p>
        </p:txBody>
      </p:sp>
      <p:sp>
        <p:nvSpPr>
          <p:cNvPr id="5" name="矩形 4"/>
          <p:cNvSpPr/>
          <p:nvPr/>
        </p:nvSpPr>
        <p:spPr>
          <a:xfrm>
            <a:off x="2640999" y="1138537"/>
            <a:ext cx="1444626" cy="707886"/>
          </a:xfrm>
          <a:prstGeom prst="rect">
            <a:avLst/>
          </a:prstGeom>
          <a:noFill/>
        </p:spPr>
        <p:txBody>
          <a:bodyPr wrap="none" lIns="91440" tIns="45720" rIns="91440" bIns="45720">
            <a:spAutoFit/>
          </a:bodyPr>
          <a:lstStyle/>
          <a:p>
            <a:pPr algn="ctr" eaLnBrk="0" fontAlgn="base" hangingPunct="0">
              <a:spcBef>
                <a:spcPct val="0"/>
              </a:spcBef>
              <a:spcAft>
                <a:spcPct val="0"/>
              </a:spcAft>
            </a:pPr>
            <a:r>
              <a:rPr lang="en-US" altLang="zh-CN" sz="4000" dirty="0">
                <a:ln w="0"/>
                <a:solidFill>
                  <a:prstClr val="black"/>
                </a:solidFill>
                <a:effectLst>
                  <a:outerShdw blurRad="38100" dist="19050" dir="2700000" algn="tl" rotWithShape="0">
                    <a:prstClr val="black">
                      <a:alpha val="40000"/>
                    </a:prstClr>
                  </a:outerShdw>
                </a:effectLst>
                <a:latin typeface="Microsoft YaHei UI" panose="020B0503020204020204" pitchFamily="34" charset="-122"/>
                <a:ea typeface="微软雅黑" panose="020B0503020204020204" pitchFamily="34" charset="-122"/>
              </a:rPr>
              <a:t>*</a:t>
            </a:r>
            <a:r>
              <a:rPr lang="zh-CN" altLang="en-US" sz="4000" dirty="0">
                <a:ln w="0"/>
                <a:solidFill>
                  <a:prstClr val="black"/>
                </a:solidFill>
                <a:effectLst>
                  <a:outerShdw blurRad="38100" dist="19050" dir="2700000" algn="tl" rotWithShape="0">
                    <a:prstClr val="black">
                      <a:alpha val="40000"/>
                    </a:prstClr>
                  </a:outerShdw>
                </a:effectLst>
                <a:latin typeface="Microsoft YaHei UI" panose="020B0503020204020204" pitchFamily="34" charset="-122"/>
                <a:ea typeface="微软雅黑" panose="020B0503020204020204" pitchFamily="34" charset="-122"/>
              </a:rPr>
              <a:t>调用</a:t>
            </a:r>
          </a:p>
        </p:txBody>
      </p:sp>
      <p:sp>
        <p:nvSpPr>
          <p:cNvPr id="6" name="文本框 5"/>
          <p:cNvSpPr txBox="1"/>
          <p:nvPr/>
        </p:nvSpPr>
        <p:spPr>
          <a:xfrm>
            <a:off x="6668815" y="2307020"/>
            <a:ext cx="4041228" cy="2820772"/>
          </a:xfrm>
          <a:prstGeom prst="rect">
            <a:avLst/>
          </a:prstGeom>
          <a:noFill/>
        </p:spPr>
        <p:txBody>
          <a:bodyPr wrap="square" rtlCol="0">
            <a:spAutoFit/>
          </a:bodyPr>
          <a:lstStyle/>
          <a:p>
            <a:pPr eaLnBrk="0" fontAlgn="base" hangingPunct="0">
              <a:lnSpc>
                <a:spcPct val="125000"/>
              </a:lnSpc>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Void</a:t>
            </a:r>
            <a:r>
              <a:rPr lang="zh-CN" altLang="en-US" sz="2400" dirty="0">
                <a:solidFill>
                  <a:prstClr val="black"/>
                </a:solidFill>
                <a:latin typeface="Microsoft YaHei UI" panose="020B0503020204020204" pitchFamily="34" charset="-122"/>
                <a:ea typeface="微软雅黑" panose="020B0503020204020204" pitchFamily="34" charset="-122"/>
              </a:rPr>
              <a:t>类函数：是一个操作，直接加分号；</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int\char\</a:t>
            </a:r>
            <a:r>
              <a:rPr lang="zh-CN" altLang="en-US" sz="2400" dirty="0">
                <a:solidFill>
                  <a:prstClr val="black"/>
                </a:solidFill>
                <a:latin typeface="Microsoft YaHei UI" panose="020B0503020204020204" pitchFamily="34" charset="-122"/>
                <a:ea typeface="微软雅黑" panose="020B0503020204020204" pitchFamily="34" charset="-122"/>
              </a:rPr>
              <a:t>等：直接当作值使用。</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25000"/>
              </a:lnSpc>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*int\*char\</a:t>
            </a:r>
            <a:r>
              <a:rPr lang="zh-CN" altLang="en-US" sz="2400" dirty="0">
                <a:solidFill>
                  <a:prstClr val="black"/>
                </a:solidFill>
                <a:latin typeface="Microsoft YaHei UI" panose="020B0503020204020204" pitchFamily="34" charset="-122"/>
                <a:ea typeface="微软雅黑" panose="020B0503020204020204" pitchFamily="34" charset="-122"/>
              </a:rPr>
              <a:t>等</a:t>
            </a:r>
            <a:r>
              <a:rPr lang="en-US" altLang="zh-CN" sz="2400" dirty="0">
                <a:solidFill>
                  <a:prstClr val="black"/>
                </a:solidFill>
                <a:latin typeface="Microsoft YaHei UI" panose="020B0503020204020204" pitchFamily="34" charset="-122"/>
                <a:ea typeface="微软雅黑" panose="020B0503020204020204" pitchFamily="34" charset="-122"/>
              </a:rPr>
              <a:t>:</a:t>
            </a:r>
            <a:r>
              <a:rPr lang="zh-CN" altLang="en-US" sz="2400" dirty="0">
                <a:solidFill>
                  <a:prstClr val="black"/>
                </a:solidFill>
                <a:latin typeface="Microsoft YaHei UI" panose="020B0503020204020204" pitchFamily="34" charset="-122"/>
                <a:ea typeface="微软雅黑" panose="020B0503020204020204" pitchFamily="34" charset="-122"/>
              </a:rPr>
              <a:t>直接当作指针使用。</a:t>
            </a:r>
            <a:endParaRPr lang="en-US" altLang="zh-CN" sz="2400" dirty="0">
              <a:solidFill>
                <a:prstClr val="black"/>
              </a:solidFill>
              <a:latin typeface="Microsoft YaHei UI"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012731" y="1914713"/>
            <a:ext cx="3282740" cy="2366239"/>
          </a:xfrm>
          <a:prstGeom prst="rect">
            <a:avLst/>
          </a:prstGeom>
        </p:spPr>
      </p:pic>
      <p:pic>
        <p:nvPicPr>
          <p:cNvPr id="8" name="图片 7"/>
          <p:cNvPicPr>
            <a:picLocks noChangeAspect="1"/>
          </p:cNvPicPr>
          <p:nvPr/>
        </p:nvPicPr>
        <p:blipFill>
          <a:blip r:embed="rId3"/>
          <a:stretch>
            <a:fillRect/>
          </a:stretch>
        </p:blipFill>
        <p:spPr>
          <a:xfrm>
            <a:off x="2360395" y="4538798"/>
            <a:ext cx="3124636" cy="1314633"/>
          </a:xfrm>
          <a:prstGeom prst="rect">
            <a:avLst/>
          </a:prstGeom>
        </p:spPr>
      </p:pic>
    </p:spTree>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75495" y="1014116"/>
            <a:ext cx="7525407" cy="2243691"/>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用函数分别实现一个个小功能，把功能“封装起来”：</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50000"/>
              </a:lnSpc>
              <a:spcBef>
                <a:spcPct val="0"/>
              </a:spcBef>
              <a:spcAft>
                <a:spcPct val="0"/>
              </a:spcAft>
            </a:pPr>
            <a:r>
              <a:rPr lang="zh-CN" altLang="en-US" sz="2400" dirty="0">
                <a:solidFill>
                  <a:prstClr val="black"/>
                </a:solidFill>
                <a:highlight>
                  <a:srgbClr val="FFFF00"/>
                </a:highlight>
                <a:latin typeface="Microsoft YaHei UI" panose="020B0503020204020204" pitchFamily="34" charset="-122"/>
                <a:ea typeface="微软雅黑" panose="020B0503020204020204" pitchFamily="34" charset="-122"/>
              </a:rPr>
              <a:t>方便调试纠错</a:t>
            </a:r>
            <a:r>
              <a:rPr lang="zh-CN" altLang="en-US" sz="2400" dirty="0">
                <a:solidFill>
                  <a:prstClr val="black"/>
                </a:solidFill>
                <a:latin typeface="Microsoft YaHei UI" panose="020B0503020204020204" pitchFamily="34" charset="-122"/>
                <a:ea typeface="微软雅黑" panose="020B0503020204020204" pitchFamily="34" charset="-122"/>
              </a:rPr>
              <a:t>；</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50000"/>
              </a:lnSpc>
              <a:spcBef>
                <a:spcPct val="0"/>
              </a:spcBef>
              <a:spcAft>
                <a:spcPct val="0"/>
              </a:spcAft>
            </a:pPr>
            <a:r>
              <a:rPr lang="zh-CN" altLang="en-US" sz="2400" dirty="0">
                <a:solidFill>
                  <a:prstClr val="black"/>
                </a:solidFill>
                <a:highlight>
                  <a:srgbClr val="FFFF00"/>
                </a:highlight>
                <a:latin typeface="Microsoft YaHei UI" panose="020B0503020204020204" pitchFamily="34" charset="-122"/>
                <a:ea typeface="微软雅黑" panose="020B0503020204020204" pitchFamily="34" charset="-122"/>
              </a:rPr>
              <a:t>有益于思维理解</a:t>
            </a:r>
            <a:r>
              <a:rPr lang="zh-CN" altLang="en-US" sz="2400" dirty="0">
                <a:solidFill>
                  <a:prstClr val="black"/>
                </a:solidFill>
                <a:latin typeface="Microsoft YaHei UI" panose="020B0503020204020204" pitchFamily="34" charset="-122"/>
                <a:ea typeface="微软雅黑" panose="020B0503020204020204" pitchFamily="34" charset="-122"/>
              </a:rPr>
              <a:t>；好看，有益于视力；</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lnSpc>
                <a:spcPct val="150000"/>
              </a:lnSpc>
              <a:spcBef>
                <a:spcPct val="0"/>
              </a:spcBef>
              <a:spcAft>
                <a:spcPct val="0"/>
              </a:spcAft>
            </a:pPr>
            <a:r>
              <a:rPr lang="zh-CN" altLang="en-US" sz="2400" dirty="0">
                <a:solidFill>
                  <a:prstClr val="black"/>
                </a:solidFill>
                <a:highlight>
                  <a:srgbClr val="FFFF00"/>
                </a:highlight>
                <a:latin typeface="Microsoft YaHei UI" panose="020B0503020204020204" pitchFamily="34" charset="-122"/>
                <a:ea typeface="微软雅黑" panose="020B0503020204020204" pitchFamily="34" charset="-122"/>
              </a:rPr>
              <a:t>模块化处理</a:t>
            </a:r>
            <a:r>
              <a:rPr lang="zh-CN" altLang="en-US" sz="2400" dirty="0">
                <a:solidFill>
                  <a:prstClr val="black"/>
                </a:solidFill>
                <a:latin typeface="Microsoft YaHei UI" panose="020B0503020204020204" pitchFamily="34" charset="-122"/>
                <a:ea typeface="微软雅黑" panose="020B0503020204020204" pitchFamily="34" charset="-122"/>
              </a:rPr>
              <a:t>，方便管理。</a:t>
            </a:r>
            <a:endParaRPr lang="en-US" altLang="zh-CN" sz="2400" dirty="0">
              <a:solidFill>
                <a:prstClr val="black"/>
              </a:solidFill>
              <a:latin typeface="Microsoft YaHei UI" panose="020B0503020204020204" pitchFamily="34" charset="-122"/>
              <a:ea typeface="微软雅黑" panose="020B0503020204020204" pitchFamily="34" charset="-122"/>
            </a:endParaRPr>
          </a:p>
        </p:txBody>
      </p:sp>
      <p:sp>
        <p:nvSpPr>
          <p:cNvPr id="3" name="Rectangle 3"/>
          <p:cNvSpPr>
            <a:spLocks noChangeArrowheads="1"/>
          </p:cNvSpPr>
          <p:nvPr/>
        </p:nvSpPr>
        <p:spPr bwMode="auto">
          <a:xfrm>
            <a:off x="7734301" y="5155539"/>
            <a:ext cx="1562100" cy="647700"/>
          </a:xfrm>
          <a:prstGeom prst="rect">
            <a:avLst/>
          </a:prstGeom>
          <a:solidFill>
            <a:srgbClr val="9900CC"/>
          </a:solidFill>
          <a:ln w="9525">
            <a:miter lim="800000"/>
          </a:ln>
          <a:scene3d>
            <a:camera prst="legacyObliqueTopRight"/>
            <a:lightRig rig="legacyFlat3" dir="b"/>
          </a:scene3d>
          <a:sp3d extrusionH="430200" prstMaterial="legacyMatte">
            <a:bevelT w="13500" h="13500" prst="angle"/>
            <a:bevelB w="13500" h="13500" prst="angle"/>
            <a:extrusionClr>
              <a:srgbClr val="9900CC"/>
            </a:extrusionClr>
            <a:contourClr>
              <a:srgbClr val="9900CC"/>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a:solidFill>
                  <a:srgbClr val="FFFFFF"/>
                </a:solidFill>
              </a:rPr>
              <a:t>Module_2_2</a:t>
            </a:r>
          </a:p>
        </p:txBody>
      </p:sp>
      <p:sp>
        <p:nvSpPr>
          <p:cNvPr id="4" name="Rectangle 4"/>
          <p:cNvSpPr>
            <a:spLocks noChangeArrowheads="1"/>
          </p:cNvSpPr>
          <p:nvPr/>
        </p:nvSpPr>
        <p:spPr bwMode="auto">
          <a:xfrm>
            <a:off x="6099175" y="5155539"/>
            <a:ext cx="1244600" cy="647700"/>
          </a:xfrm>
          <a:prstGeom prst="rect">
            <a:avLst/>
          </a:prstGeom>
          <a:solidFill>
            <a:srgbClr val="FF00FF"/>
          </a:solidFill>
          <a:ln w="9525">
            <a:miter lim="800000"/>
          </a:ln>
          <a:scene3d>
            <a:camera prst="legacyObliqueTopRight"/>
            <a:lightRig rig="legacyFlat3" dir="b"/>
          </a:scene3d>
          <a:sp3d extrusionH="430200" prstMaterial="legacyMatte">
            <a:bevelT w="13500" h="13500" prst="angle"/>
            <a:bevelB w="13500" h="13500" prst="angle"/>
            <a:extrusionClr>
              <a:srgbClr val="FF00FF"/>
            </a:extrusionClr>
            <a:contourClr>
              <a:srgbClr val="FF00FF"/>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a:solidFill>
                  <a:srgbClr val="FFFFFF"/>
                </a:solidFill>
              </a:rPr>
              <a:t>Module_2</a:t>
            </a:r>
          </a:p>
        </p:txBody>
      </p:sp>
      <p:sp>
        <p:nvSpPr>
          <p:cNvPr id="5" name="Rectangle 5"/>
          <p:cNvSpPr>
            <a:spLocks noChangeArrowheads="1"/>
          </p:cNvSpPr>
          <p:nvPr/>
        </p:nvSpPr>
        <p:spPr bwMode="auto">
          <a:xfrm>
            <a:off x="2508254" y="5157127"/>
            <a:ext cx="1717675" cy="647700"/>
          </a:xfrm>
          <a:prstGeom prst="rect">
            <a:avLst/>
          </a:prstGeom>
          <a:solidFill>
            <a:srgbClr val="993300"/>
          </a:solidFill>
          <a:ln w="9525">
            <a:miter lim="800000"/>
          </a:ln>
          <a:scene3d>
            <a:camera prst="legacyObliqueTopRight"/>
            <a:lightRig rig="legacyFlat3" dir="b"/>
          </a:scene3d>
          <a:sp3d extrusionH="430200" prstMaterial="legacyMatte">
            <a:bevelT w="13500" h="13500" prst="angle"/>
            <a:bevelB w="13500" h="13500" prst="angle"/>
            <a:extrusionClr>
              <a:srgbClr val="993300"/>
            </a:extrusionClr>
            <a:contourClr>
              <a:srgbClr val="993300"/>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a:solidFill>
                  <a:srgbClr val="FFFFFF"/>
                </a:solidFill>
              </a:rPr>
              <a:t>Module_1_1</a:t>
            </a:r>
          </a:p>
        </p:txBody>
      </p:sp>
      <p:sp>
        <p:nvSpPr>
          <p:cNvPr id="6" name="Rectangle 18"/>
          <p:cNvSpPr>
            <a:spLocks noChangeArrowheads="1"/>
          </p:cNvSpPr>
          <p:nvPr/>
        </p:nvSpPr>
        <p:spPr bwMode="auto">
          <a:xfrm>
            <a:off x="4457704" y="5157127"/>
            <a:ext cx="1247775" cy="647700"/>
          </a:xfrm>
          <a:prstGeom prst="rect">
            <a:avLst/>
          </a:prstGeom>
          <a:solidFill>
            <a:srgbClr val="FFFF00"/>
          </a:solidFill>
          <a:ln w="9525">
            <a:miter lim="800000"/>
          </a:ln>
          <a:scene3d>
            <a:camera prst="legacyObliqueTopRight"/>
            <a:lightRig rig="legacyFlat3" dir="b"/>
          </a:scene3d>
          <a:sp3d extrusionH="430200" prstMaterial="legacyMatte">
            <a:bevelT w="13500" h="13500" prst="angle"/>
            <a:bevelB w="13500" h="13500" prst="angle"/>
            <a:extrusionClr>
              <a:srgbClr val="FFFF00"/>
            </a:extrusionClr>
            <a:contourClr>
              <a:srgbClr val="FFFF00"/>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a:solidFill>
                  <a:srgbClr val="000000"/>
                </a:solidFill>
              </a:rPr>
              <a:t>Module_1</a:t>
            </a:r>
          </a:p>
        </p:txBody>
      </p:sp>
      <p:sp>
        <p:nvSpPr>
          <p:cNvPr id="7" name="Rectangle 19"/>
          <p:cNvSpPr>
            <a:spLocks noChangeArrowheads="1"/>
          </p:cNvSpPr>
          <p:nvPr/>
        </p:nvSpPr>
        <p:spPr bwMode="auto">
          <a:xfrm>
            <a:off x="3602042" y="4399097"/>
            <a:ext cx="1635125" cy="719139"/>
          </a:xfrm>
          <a:prstGeom prst="rect">
            <a:avLst/>
          </a:prstGeom>
          <a:solidFill>
            <a:srgbClr val="FF3300"/>
          </a:solidFill>
          <a:ln w="9525">
            <a:miter lim="800000"/>
          </a:ln>
          <a:scene3d>
            <a:camera prst="legacyObliqueTopRight"/>
            <a:lightRig rig="legacyFlat3" dir="b"/>
          </a:scene3d>
          <a:sp3d extrusionH="430200" prstMaterial="legacyMatte">
            <a:bevelT w="13500" h="13500" prst="angle"/>
            <a:bevelB w="13500" h="13500" prst="angle"/>
            <a:extrusionClr>
              <a:srgbClr val="FF3300"/>
            </a:extrusionClr>
            <a:contourClr>
              <a:srgbClr val="FF3300"/>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dirty="0">
                <a:solidFill>
                  <a:srgbClr val="FFFFFF"/>
                </a:solidFill>
              </a:rPr>
              <a:t>Module_4</a:t>
            </a:r>
          </a:p>
        </p:txBody>
      </p:sp>
      <p:sp>
        <p:nvSpPr>
          <p:cNvPr id="8" name="Rectangle 20"/>
          <p:cNvSpPr>
            <a:spLocks noChangeArrowheads="1"/>
          </p:cNvSpPr>
          <p:nvPr/>
        </p:nvSpPr>
        <p:spPr bwMode="auto">
          <a:xfrm>
            <a:off x="6565902" y="4436403"/>
            <a:ext cx="1949451" cy="719139"/>
          </a:xfrm>
          <a:prstGeom prst="rect">
            <a:avLst/>
          </a:prstGeom>
          <a:solidFill>
            <a:srgbClr val="00FFFF"/>
          </a:solidFill>
          <a:ln w="9525">
            <a:miter lim="800000"/>
          </a:ln>
          <a:scene3d>
            <a:camera prst="legacyObliqueTopRight"/>
            <a:lightRig rig="legacyFlat3" dir="b"/>
          </a:scene3d>
          <a:sp3d extrusionH="430200" prstMaterial="legacyMatte">
            <a:bevelT w="13500" h="13500" prst="angle"/>
            <a:bevelB w="13500" h="13500" prst="angle"/>
            <a:extrusionClr>
              <a:srgbClr val="00FFFF"/>
            </a:extrusionClr>
            <a:contourClr>
              <a:srgbClr val="00FFFF"/>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a:solidFill>
                  <a:srgbClr val="000000"/>
                </a:solidFill>
              </a:rPr>
              <a:t>Module_5</a:t>
            </a:r>
          </a:p>
        </p:txBody>
      </p:sp>
      <p:sp>
        <p:nvSpPr>
          <p:cNvPr id="9" name="Rectangle 21"/>
          <p:cNvSpPr>
            <a:spLocks noChangeArrowheads="1"/>
          </p:cNvSpPr>
          <p:nvPr/>
        </p:nvSpPr>
        <p:spPr bwMode="auto">
          <a:xfrm>
            <a:off x="5159377" y="3715678"/>
            <a:ext cx="1873251" cy="719139"/>
          </a:xfrm>
          <a:prstGeom prst="rect">
            <a:avLst/>
          </a:prstGeom>
          <a:solidFill>
            <a:srgbClr val="CC0000"/>
          </a:solidFill>
          <a:ln w="9525">
            <a:miter lim="800000"/>
          </a:ln>
          <a:scene3d>
            <a:camera prst="legacyObliqueTopRight"/>
            <a:lightRig rig="legacyFlat3" dir="b"/>
          </a:scene3d>
          <a:sp3d extrusionH="430200" prstMaterial="legacyMatte">
            <a:bevelT w="13500" h="13500" prst="angle"/>
            <a:bevelB w="13500" h="13500" prst="angle"/>
            <a:extrusionClr>
              <a:srgbClr val="CC0000"/>
            </a:extrusionClr>
            <a:contourClr>
              <a:srgbClr val="CC0000"/>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defRPr/>
            </a:pPr>
            <a:r>
              <a:rPr lang="en-US" altLang="zh-CN" sz="2000" b="1">
                <a:solidFill>
                  <a:srgbClr val="FFFFFF"/>
                </a:solidFill>
              </a:rPr>
              <a:t>Main </a:t>
            </a:r>
          </a:p>
          <a:p>
            <a:pPr algn="ctr" fontAlgn="base">
              <a:spcBef>
                <a:spcPct val="0"/>
              </a:spcBef>
              <a:spcAft>
                <a:spcPct val="0"/>
              </a:spcAft>
              <a:buNone/>
              <a:defRPr/>
            </a:pPr>
            <a:r>
              <a:rPr lang="en-US" altLang="zh-CN" sz="2000" b="1">
                <a:solidFill>
                  <a:srgbClr val="FFFFFF"/>
                </a:solidFill>
              </a:rPr>
              <a:t>module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P spid="8" grpId="0" bldLvl="0" animBg="1"/>
      <p:bldP spid="9"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8"/>
            <a:ext cx="3778469"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变量的“生存期”</a:t>
            </a:r>
          </a:p>
        </p:txBody>
      </p:sp>
      <p:sp>
        <p:nvSpPr>
          <p:cNvPr id="3" name="文本框 2"/>
          <p:cNvSpPr txBox="1"/>
          <p:nvPr/>
        </p:nvSpPr>
        <p:spPr>
          <a:xfrm>
            <a:off x="1792015" y="1008994"/>
            <a:ext cx="8786648" cy="523220"/>
          </a:xfrm>
          <a:prstGeom prst="rect">
            <a:avLst/>
          </a:prstGeom>
          <a:noFill/>
        </p:spPr>
        <p:txBody>
          <a:bodyPr wrap="square" rtlCol="0">
            <a:spAutoFit/>
          </a:bodyPr>
          <a:lstStyle/>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定义在一个“</a:t>
            </a:r>
            <a:r>
              <a:rPr lang="en-US" altLang="zh-CN" sz="2800" dirty="0">
                <a:solidFill>
                  <a:prstClr val="black"/>
                </a:solidFill>
                <a:latin typeface="Microsoft YaHei UI" panose="020B0503020204020204" pitchFamily="34" charset="-122"/>
                <a:ea typeface="微软雅黑" panose="020B0503020204020204" pitchFamily="34" charset="-122"/>
              </a:rPr>
              <a:t>{ }</a:t>
            </a:r>
            <a:r>
              <a:rPr lang="zh-CN" altLang="en-US" sz="2800" dirty="0">
                <a:solidFill>
                  <a:prstClr val="black"/>
                </a:solidFill>
                <a:latin typeface="Microsoft YaHei UI" panose="020B0503020204020204" pitchFamily="34" charset="-122"/>
                <a:ea typeface="微软雅黑" panose="020B0503020204020204" pitchFamily="34" charset="-122"/>
              </a:rPr>
              <a:t>”外面的变量，可以在“</a:t>
            </a:r>
            <a:r>
              <a:rPr lang="en-US" altLang="zh-CN" sz="2800" dirty="0">
                <a:solidFill>
                  <a:prstClr val="black"/>
                </a:solidFill>
                <a:latin typeface="Microsoft YaHei UI" panose="020B0503020204020204" pitchFamily="34" charset="-122"/>
                <a:ea typeface="微软雅黑" panose="020B0503020204020204" pitchFamily="34" charset="-122"/>
              </a:rPr>
              <a:t>{ }</a:t>
            </a:r>
            <a:r>
              <a:rPr lang="zh-CN" altLang="en-US" sz="2800" dirty="0">
                <a:solidFill>
                  <a:prstClr val="black"/>
                </a:solidFill>
                <a:latin typeface="Microsoft YaHei UI" panose="020B0503020204020204" pitchFamily="34" charset="-122"/>
                <a:ea typeface="微软雅黑" panose="020B0503020204020204" pitchFamily="34" charset="-122"/>
              </a:rPr>
              <a:t>”里面用。</a:t>
            </a:r>
          </a:p>
        </p:txBody>
      </p:sp>
      <p:pic>
        <p:nvPicPr>
          <p:cNvPr id="8" name="图片 7"/>
          <p:cNvPicPr>
            <a:picLocks noChangeAspect="1"/>
          </p:cNvPicPr>
          <p:nvPr/>
        </p:nvPicPr>
        <p:blipFill>
          <a:blip r:embed="rId2"/>
          <a:stretch>
            <a:fillRect/>
          </a:stretch>
        </p:blipFill>
        <p:spPr>
          <a:xfrm>
            <a:off x="1711601" y="1751484"/>
            <a:ext cx="3816843" cy="1471135"/>
          </a:xfrm>
          <a:prstGeom prst="rect">
            <a:avLst/>
          </a:prstGeom>
          <a:ln>
            <a:noFill/>
          </a:ln>
          <a:effectLst>
            <a:outerShdw blurRad="292100" dist="139700" dir="2700000" algn="tl" rotWithShape="0">
              <a:srgbClr val="333333">
                <a:alpha val="65000"/>
              </a:srgbClr>
            </a:outerShdw>
          </a:effectLst>
        </p:spPr>
      </p:pic>
      <p:sp>
        <p:nvSpPr>
          <p:cNvPr id="9" name="文本框 8"/>
          <p:cNvSpPr txBox="1"/>
          <p:nvPr/>
        </p:nvSpPr>
        <p:spPr>
          <a:xfrm>
            <a:off x="5749162" y="2128345"/>
            <a:ext cx="5150069" cy="400110"/>
          </a:xfrm>
          <a:prstGeom prst="rect">
            <a:avLst/>
          </a:prstGeom>
          <a:noFill/>
        </p:spPr>
        <p:txBody>
          <a:bodyPr wrap="square" rtlCol="0">
            <a:spAutoFit/>
          </a:bodyPr>
          <a:lstStyle/>
          <a:p>
            <a:pPr eaLnBrk="0" fontAlgn="base" hangingPunct="0">
              <a:spcBef>
                <a:spcPct val="0"/>
              </a:spcBef>
              <a:spcAft>
                <a:spcPct val="0"/>
              </a:spcAft>
            </a:pPr>
            <a:r>
              <a:rPr lang="zh-CN" altLang="en-US" sz="2000" dirty="0">
                <a:solidFill>
                  <a:prstClr val="black"/>
                </a:solidFill>
                <a:latin typeface="Microsoft YaHei UI" panose="020B0503020204020204" pitchFamily="34" charset="-122"/>
                <a:ea typeface="微软雅黑" panose="020B0503020204020204" pitchFamily="34" charset="-122"/>
              </a:rPr>
              <a:t>（全局变量：静态外部变量、外部变量）</a:t>
            </a:r>
          </a:p>
        </p:txBody>
      </p:sp>
      <p:pic>
        <p:nvPicPr>
          <p:cNvPr id="11" name="图片 10"/>
          <p:cNvPicPr>
            <a:picLocks noChangeAspect="1"/>
          </p:cNvPicPr>
          <p:nvPr/>
        </p:nvPicPr>
        <p:blipFill>
          <a:blip r:embed="rId3"/>
          <a:stretch>
            <a:fillRect/>
          </a:stretch>
        </p:blipFill>
        <p:spPr>
          <a:xfrm>
            <a:off x="1832787" y="4558437"/>
            <a:ext cx="3350691" cy="1749295"/>
          </a:xfrm>
          <a:prstGeom prst="rect">
            <a:avLst/>
          </a:prstGeom>
          <a:ln>
            <a:noFill/>
          </a:ln>
          <a:effectLst>
            <a:outerShdw blurRad="292100" dist="139700" dir="2700000" algn="tl" rotWithShape="0">
              <a:srgbClr val="333333">
                <a:alpha val="65000"/>
              </a:srgbClr>
            </a:outerShdw>
          </a:effectLst>
        </p:spPr>
      </p:pic>
      <p:sp>
        <p:nvSpPr>
          <p:cNvPr id="12" name="文本框 11"/>
          <p:cNvSpPr txBox="1"/>
          <p:nvPr/>
        </p:nvSpPr>
        <p:spPr>
          <a:xfrm>
            <a:off x="1711599" y="3864274"/>
            <a:ext cx="8786648" cy="523220"/>
          </a:xfrm>
          <a:prstGeom prst="rect">
            <a:avLst/>
          </a:prstGeom>
          <a:noFill/>
        </p:spPr>
        <p:txBody>
          <a:bodyPr wrap="square" rtlCol="0">
            <a:spAutoFit/>
          </a:bodyPr>
          <a:lstStyle/>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定义在一个“</a:t>
            </a:r>
            <a:r>
              <a:rPr lang="en-US" altLang="zh-CN" sz="2800" dirty="0">
                <a:solidFill>
                  <a:prstClr val="black"/>
                </a:solidFill>
                <a:latin typeface="Microsoft YaHei UI" panose="020B0503020204020204" pitchFamily="34" charset="-122"/>
                <a:ea typeface="微软雅黑" panose="020B0503020204020204" pitchFamily="34" charset="-122"/>
              </a:rPr>
              <a:t>{ }</a:t>
            </a:r>
            <a:r>
              <a:rPr lang="zh-CN" altLang="en-US" sz="2800" dirty="0">
                <a:solidFill>
                  <a:prstClr val="black"/>
                </a:solidFill>
                <a:latin typeface="Microsoft YaHei UI" panose="020B0503020204020204" pitchFamily="34" charset="-122"/>
                <a:ea typeface="微软雅黑" panose="020B0503020204020204" pitchFamily="34" charset="-122"/>
              </a:rPr>
              <a:t>”里面的变量，不能在“</a:t>
            </a:r>
            <a:r>
              <a:rPr lang="en-US" altLang="zh-CN" sz="2800" dirty="0">
                <a:solidFill>
                  <a:prstClr val="black"/>
                </a:solidFill>
                <a:latin typeface="Microsoft YaHei UI" panose="020B0503020204020204" pitchFamily="34" charset="-122"/>
                <a:ea typeface="微软雅黑" panose="020B0503020204020204" pitchFamily="34" charset="-122"/>
              </a:rPr>
              <a:t>{ }</a:t>
            </a:r>
            <a:r>
              <a:rPr lang="zh-CN" altLang="en-US" sz="2800" dirty="0">
                <a:solidFill>
                  <a:prstClr val="black"/>
                </a:solidFill>
                <a:latin typeface="Microsoft YaHei UI" panose="020B0503020204020204" pitchFamily="34" charset="-122"/>
                <a:ea typeface="微软雅黑" panose="020B0503020204020204" pitchFamily="34" charset="-122"/>
              </a:rPr>
              <a:t>”外面用。</a:t>
            </a:r>
          </a:p>
        </p:txBody>
      </p:sp>
      <p:sp>
        <p:nvSpPr>
          <p:cNvPr id="13" name="文本框 12"/>
          <p:cNvSpPr txBox="1"/>
          <p:nvPr/>
        </p:nvSpPr>
        <p:spPr>
          <a:xfrm>
            <a:off x="5528441" y="4816619"/>
            <a:ext cx="4830776" cy="1015663"/>
          </a:xfrm>
          <a:prstGeom prst="rect">
            <a:avLst/>
          </a:prstGeom>
          <a:noFill/>
        </p:spPr>
        <p:txBody>
          <a:bodyPr wrap="square" rtlCol="0">
            <a:spAutoFit/>
          </a:bodyPr>
          <a:lstStyle/>
          <a:p>
            <a:pPr eaLnBrk="0" fontAlgn="base" hangingPunct="0">
              <a:spcBef>
                <a:spcPct val="0"/>
              </a:spcBef>
              <a:spcAft>
                <a:spcPct val="0"/>
              </a:spcAft>
            </a:pPr>
            <a:r>
              <a:rPr lang="zh-CN" altLang="en-US" sz="2000" dirty="0">
                <a:solidFill>
                  <a:prstClr val="black"/>
                </a:solidFill>
                <a:latin typeface="Microsoft YaHei UI" panose="020B0503020204020204" pitchFamily="34" charset="-122"/>
                <a:ea typeface="微软雅黑" panose="020B0503020204020204" pitchFamily="34" charset="-122"/>
              </a:rPr>
              <a:t>（局部变量）：出了大括号就死了。</a:t>
            </a:r>
            <a:endParaRPr lang="en-US" altLang="zh-CN" sz="20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0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zh-CN" altLang="en-US" sz="2000" dirty="0">
                <a:solidFill>
                  <a:prstClr val="black"/>
                </a:solidFill>
                <a:latin typeface="Microsoft YaHei UI" panose="020B0503020204020204" pitchFamily="34" charset="-122"/>
                <a:ea typeface="微软雅黑" panose="020B0503020204020204" pitchFamily="34" charset="-122"/>
              </a:rPr>
              <a:t>函数的形参就是一个局部变量。</a:t>
            </a:r>
          </a:p>
        </p:txBody>
      </p:sp>
    </p:spTree>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8"/>
            <a:ext cx="3778469"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变量的“生存期”</a:t>
            </a:r>
          </a:p>
        </p:txBody>
      </p:sp>
      <p:sp>
        <p:nvSpPr>
          <p:cNvPr id="3" name="文本框 2"/>
          <p:cNvSpPr txBox="1"/>
          <p:nvPr/>
        </p:nvSpPr>
        <p:spPr>
          <a:xfrm>
            <a:off x="1792015" y="1008997"/>
            <a:ext cx="8786648" cy="1384995"/>
          </a:xfrm>
          <a:prstGeom prst="rect">
            <a:avLst/>
          </a:prstGeom>
          <a:noFill/>
        </p:spPr>
        <p:txBody>
          <a:bodyPr wrap="square" rtlCol="0">
            <a:spAutoFit/>
          </a:bodyPr>
          <a:lstStyle/>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很重要的大数组、计数器变量</a:t>
            </a:r>
            <a:r>
              <a:rPr lang="en-US" altLang="zh-CN" sz="2800" dirty="0">
                <a:solidFill>
                  <a:prstClr val="black"/>
                </a:solidFill>
                <a:latin typeface="Microsoft YaHei UI" panose="020B0503020204020204" pitchFamily="34" charset="-122"/>
                <a:ea typeface="微软雅黑" panose="020B0503020204020204" pitchFamily="34" charset="-122"/>
              </a:rPr>
              <a:t>…</a:t>
            </a:r>
            <a:r>
              <a:rPr lang="zh-CN" altLang="en-US" sz="2800" dirty="0">
                <a:solidFill>
                  <a:prstClr val="black"/>
                </a:solidFill>
                <a:latin typeface="Microsoft YaHei UI" panose="020B0503020204020204" pitchFamily="34" charset="-122"/>
                <a:ea typeface="微软雅黑" panose="020B0503020204020204" pitchFamily="34" charset="-122"/>
              </a:rPr>
              <a:t>都应该是全局变量。</a:t>
            </a:r>
            <a:endParaRPr lang="en-US" altLang="zh-CN" sz="28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8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zh-CN" altLang="en-US" sz="2800" dirty="0">
                <a:solidFill>
                  <a:prstClr val="black"/>
                </a:solidFill>
                <a:latin typeface="Microsoft YaHei UI" panose="020B0503020204020204" pitchFamily="34" charset="-122"/>
                <a:ea typeface="微软雅黑" panose="020B0503020204020204" pitchFamily="34" charset="-122"/>
              </a:rPr>
              <a:t>好处</a:t>
            </a:r>
            <a:r>
              <a:rPr lang="en-US" altLang="zh-CN" sz="2800" dirty="0">
                <a:solidFill>
                  <a:prstClr val="black"/>
                </a:solidFill>
                <a:latin typeface="Microsoft YaHei UI" panose="020B0503020204020204" pitchFamily="34" charset="-122"/>
                <a:ea typeface="微软雅黑" panose="020B0503020204020204" pitchFamily="34" charset="-122"/>
              </a:rPr>
              <a:t>…</a:t>
            </a:r>
            <a:endParaRPr lang="zh-CN" altLang="en-US" sz="2800" dirty="0">
              <a:solidFill>
                <a:prstClr val="black"/>
              </a:solidFill>
              <a:latin typeface="Microsoft YaHei UI"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2"/>
          <a:stretch>
            <a:fillRect/>
          </a:stretch>
        </p:blipFill>
        <p:spPr>
          <a:xfrm>
            <a:off x="4041635" y="1951175"/>
            <a:ext cx="5183540" cy="5025667"/>
          </a:xfrm>
          <a:prstGeom prst="rect">
            <a:avLst/>
          </a:prstGeom>
        </p:spPr>
      </p:pic>
    </p:spTree>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9"/>
            <a:ext cx="3778469"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用指针的函数</a:t>
            </a:r>
          </a:p>
        </p:txBody>
      </p:sp>
      <p:pic>
        <p:nvPicPr>
          <p:cNvPr id="5" name="图片 4"/>
          <p:cNvPicPr>
            <a:picLocks noChangeAspect="1"/>
          </p:cNvPicPr>
          <p:nvPr/>
        </p:nvPicPr>
        <p:blipFill>
          <a:blip r:embed="rId2"/>
          <a:stretch>
            <a:fillRect/>
          </a:stretch>
        </p:blipFill>
        <p:spPr>
          <a:xfrm>
            <a:off x="2441584" y="1759750"/>
            <a:ext cx="7308832" cy="2992803"/>
          </a:xfrm>
          <a:prstGeom prst="rect">
            <a:avLst/>
          </a:prstGeom>
        </p:spPr>
      </p:pic>
      <p:sp>
        <p:nvSpPr>
          <p:cNvPr id="6" name="文本框 5"/>
          <p:cNvSpPr txBox="1"/>
          <p:nvPr/>
        </p:nvSpPr>
        <p:spPr>
          <a:xfrm>
            <a:off x="2298623" y="4956401"/>
            <a:ext cx="7635531" cy="1200329"/>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指针就是数据地址，就是数据本身。指针比变量值更能代表变量。</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用指针作为函数的形参</a:t>
            </a:r>
            <a:r>
              <a:rPr lang="en-US" altLang="zh-CN" sz="2400" dirty="0">
                <a:solidFill>
                  <a:prstClr val="black"/>
                </a:solidFill>
                <a:latin typeface="Microsoft YaHei UI" panose="020B0503020204020204" pitchFamily="34" charset="-122"/>
                <a:ea typeface="微软雅黑" panose="020B0503020204020204" pitchFamily="34" charset="-122"/>
              </a:rPr>
              <a:t>/</a:t>
            </a:r>
            <a:r>
              <a:rPr lang="zh-CN" altLang="en-US" sz="2400" dirty="0">
                <a:solidFill>
                  <a:prstClr val="black"/>
                </a:solidFill>
                <a:latin typeface="Microsoft YaHei UI" panose="020B0503020204020204" pitchFamily="34" charset="-122"/>
                <a:ea typeface="微软雅黑" panose="020B0503020204020204" pitchFamily="34" charset="-122"/>
              </a:rPr>
              <a:t>返回值，能有很多特殊效果。</a:t>
            </a:r>
          </a:p>
        </p:txBody>
      </p:sp>
    </p:spTree>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9"/>
            <a:ext cx="3778469" cy="584775"/>
          </a:xfrm>
          <a:prstGeom prst="rect">
            <a:avLst/>
          </a:prstGeom>
          <a:noFill/>
        </p:spPr>
        <p:txBody>
          <a:bodyPr wrap="square" rtlCol="0">
            <a:spAutoFit/>
          </a:bodyPr>
          <a:lstStyle/>
          <a:p>
            <a:pPr eaLnBrk="0" fontAlgn="base" hangingPunct="0">
              <a:spcBef>
                <a:spcPct val="0"/>
              </a:spcBef>
              <a:spcAft>
                <a:spcPct val="0"/>
              </a:spcAft>
              <a:defRPr/>
            </a:pPr>
            <a:r>
              <a:rPr lang="zh-CN" altLang="en-US" sz="3200" dirty="0">
                <a:solidFill>
                  <a:prstClr val="black"/>
                </a:solidFill>
                <a:latin typeface="Microsoft YaHei UI" panose="020B0503020204020204" pitchFamily="34" charset="-122"/>
                <a:ea typeface="微软雅黑" panose="020B0503020204020204" pitchFamily="34" charset="-122"/>
              </a:rPr>
              <a:t>用指针的函数</a:t>
            </a:r>
          </a:p>
        </p:txBody>
      </p:sp>
      <p:pic>
        <p:nvPicPr>
          <p:cNvPr id="4" name="图片 3"/>
          <p:cNvPicPr>
            <a:picLocks noChangeAspect="1"/>
          </p:cNvPicPr>
          <p:nvPr/>
        </p:nvPicPr>
        <p:blipFill>
          <a:blip r:embed="rId2"/>
          <a:stretch>
            <a:fillRect/>
          </a:stretch>
        </p:blipFill>
        <p:spPr>
          <a:xfrm>
            <a:off x="1870037" y="2253987"/>
            <a:ext cx="8545119" cy="1895740"/>
          </a:xfrm>
          <a:prstGeom prst="rect">
            <a:avLst/>
          </a:prstGeom>
        </p:spPr>
      </p:pic>
      <p:sp>
        <p:nvSpPr>
          <p:cNvPr id="5" name="文本框 4"/>
          <p:cNvSpPr txBox="1"/>
          <p:nvPr/>
        </p:nvSpPr>
        <p:spPr>
          <a:xfrm>
            <a:off x="2496646" y="4618595"/>
            <a:ext cx="6546405" cy="1569660"/>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一个返回值不够用的时候，常常用指针。</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函数对数组的操作，是在数组原有地址上进行的，不会新建数组。</a:t>
            </a:r>
          </a:p>
        </p:txBody>
      </p:sp>
    </p:spTree>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8"/>
            <a:ext cx="5639603"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看一些函数的例子，就知道了</a:t>
            </a:r>
          </a:p>
        </p:txBody>
      </p:sp>
      <p:sp>
        <p:nvSpPr>
          <p:cNvPr id="3" name="文本框 2"/>
          <p:cNvSpPr txBox="1"/>
          <p:nvPr/>
        </p:nvSpPr>
        <p:spPr>
          <a:xfrm>
            <a:off x="2375342" y="1601839"/>
            <a:ext cx="7641021" cy="4062651"/>
          </a:xfrm>
          <a:prstGeom prst="rect">
            <a:avLst/>
          </a:prstGeom>
          <a:noFill/>
        </p:spPr>
        <p:txBody>
          <a:bodyPr wrap="square" rtlCol="0">
            <a:spAutoFit/>
          </a:bodyPr>
          <a:lstStyle/>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&lt;</a:t>
            </a:r>
            <a:r>
              <a:rPr lang="en-US" altLang="zh-CN" sz="2400" dirty="0" err="1">
                <a:solidFill>
                  <a:prstClr val="black"/>
                </a:solidFill>
                <a:latin typeface="Microsoft YaHei UI" panose="020B0503020204020204" pitchFamily="34" charset="-122"/>
                <a:ea typeface="微软雅黑" panose="020B0503020204020204" pitchFamily="34" charset="-122"/>
              </a:rPr>
              <a:t>math.h</a:t>
            </a:r>
            <a:r>
              <a:rPr lang="en-US" altLang="zh-CN" sz="2400" dirty="0">
                <a:solidFill>
                  <a:prstClr val="black"/>
                </a:solidFill>
                <a:latin typeface="Microsoft YaHei UI" panose="020B0503020204020204" pitchFamily="34" charset="-122"/>
                <a:ea typeface="微软雅黑" panose="020B0503020204020204" pitchFamily="34" charset="-122"/>
              </a:rPr>
              <a:t>&gt;</a:t>
            </a:r>
          </a:p>
          <a:p>
            <a:pPr eaLnBrk="0" fontAlgn="base" hangingPunct="0">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double cos ( double x ); </a:t>
            </a:r>
          </a:p>
          <a:p>
            <a:pPr eaLnBrk="0" fontAlgn="base" hangingPunct="0">
              <a:spcBef>
                <a:spcPct val="0"/>
              </a:spcBef>
              <a:spcAft>
                <a:spcPct val="0"/>
              </a:spcAft>
            </a:pPr>
            <a:r>
              <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rPr>
              <a:t>//</a:t>
            </a:r>
            <a:r>
              <a:rPr lang="zh-CN" altLang="en-US" sz="2400" dirty="0">
                <a:solidFill>
                  <a:prstClr val="black"/>
                </a:solidFill>
                <a:highlight>
                  <a:srgbClr val="00FFFF"/>
                </a:highlight>
                <a:latin typeface="Microsoft YaHei UI" panose="020B0503020204020204" pitchFamily="34" charset="-122"/>
                <a:ea typeface="微软雅黑" panose="020B0503020204020204" pitchFamily="34" charset="-122"/>
              </a:rPr>
              <a:t>取余弦</a:t>
            </a:r>
            <a:endPar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double fabs ( double x ); </a:t>
            </a:r>
          </a:p>
          <a:p>
            <a:pPr eaLnBrk="0" fontAlgn="base" hangingPunct="0">
              <a:spcBef>
                <a:spcPct val="0"/>
              </a:spcBef>
              <a:spcAft>
                <a:spcPct val="0"/>
              </a:spcAft>
            </a:pPr>
            <a:r>
              <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rPr>
              <a:t>//</a:t>
            </a:r>
            <a:r>
              <a:rPr lang="zh-CN" altLang="en-US" sz="2400" dirty="0">
                <a:solidFill>
                  <a:prstClr val="black"/>
                </a:solidFill>
                <a:highlight>
                  <a:srgbClr val="00FFFF"/>
                </a:highlight>
                <a:latin typeface="Microsoft YaHei UI" panose="020B0503020204020204" pitchFamily="34" charset="-122"/>
                <a:ea typeface="微软雅黑" panose="020B0503020204020204" pitchFamily="34" charset="-122"/>
              </a:rPr>
              <a:t>取</a:t>
            </a:r>
            <a:r>
              <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rPr>
              <a:t>x</a:t>
            </a:r>
            <a:r>
              <a:rPr lang="zh-CN" altLang="en-US" sz="2400" dirty="0">
                <a:solidFill>
                  <a:prstClr val="black"/>
                </a:solidFill>
                <a:highlight>
                  <a:srgbClr val="00FFFF"/>
                </a:highlight>
                <a:latin typeface="Microsoft YaHei UI" panose="020B0503020204020204" pitchFamily="34" charset="-122"/>
                <a:ea typeface="微软雅黑" panose="020B0503020204020204" pitchFamily="34" charset="-122"/>
              </a:rPr>
              <a:t>绝对值</a:t>
            </a:r>
            <a:endPar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double</a:t>
            </a:r>
            <a:r>
              <a:rPr lang="zh-CN" altLang="en-US" sz="2400" dirty="0">
                <a:solidFill>
                  <a:prstClr val="black"/>
                </a:solidFill>
                <a:latin typeface="Microsoft YaHei UI" panose="020B0503020204020204" pitchFamily="34" charset="-122"/>
                <a:ea typeface="微软雅黑" panose="020B0503020204020204" pitchFamily="34" charset="-122"/>
              </a:rPr>
              <a:t> </a:t>
            </a:r>
            <a:r>
              <a:rPr lang="en-US" altLang="zh-CN" sz="2400" dirty="0" err="1">
                <a:solidFill>
                  <a:prstClr val="black"/>
                </a:solidFill>
                <a:latin typeface="Microsoft YaHei UI" panose="020B0503020204020204" pitchFamily="34" charset="-122"/>
                <a:ea typeface="微软雅黑" panose="020B0503020204020204" pitchFamily="34" charset="-122"/>
              </a:rPr>
              <a:t>modf</a:t>
            </a:r>
            <a:r>
              <a:rPr lang="en-US" altLang="zh-CN" sz="2400" dirty="0">
                <a:solidFill>
                  <a:prstClr val="black"/>
                </a:solidFill>
                <a:latin typeface="Microsoft YaHei UI" panose="020B0503020204020204" pitchFamily="34" charset="-122"/>
                <a:ea typeface="微软雅黑" panose="020B0503020204020204" pitchFamily="34" charset="-122"/>
              </a:rPr>
              <a:t>( double </a:t>
            </a:r>
            <a:r>
              <a:rPr lang="en-US" altLang="zh-CN" sz="2400" dirty="0" err="1">
                <a:solidFill>
                  <a:prstClr val="black"/>
                </a:solidFill>
                <a:latin typeface="Microsoft YaHei UI" panose="020B0503020204020204" pitchFamily="34" charset="-122"/>
                <a:ea typeface="微软雅黑" panose="020B0503020204020204" pitchFamily="34" charset="-122"/>
              </a:rPr>
              <a:t>val</a:t>
            </a:r>
            <a:r>
              <a:rPr lang="en-US" altLang="zh-CN" sz="2400" dirty="0">
                <a:solidFill>
                  <a:prstClr val="black"/>
                </a:solidFill>
                <a:latin typeface="Microsoft YaHei UI" panose="020B0503020204020204" pitchFamily="34" charset="-122"/>
                <a:ea typeface="微软雅黑" panose="020B0503020204020204" pitchFamily="34" charset="-122"/>
              </a:rPr>
              <a:t>, double * </a:t>
            </a:r>
            <a:r>
              <a:rPr lang="en-US" altLang="zh-CN" sz="2400" dirty="0" err="1">
                <a:solidFill>
                  <a:prstClr val="black"/>
                </a:solidFill>
                <a:latin typeface="Microsoft YaHei UI" panose="020B0503020204020204" pitchFamily="34" charset="-122"/>
                <a:ea typeface="微软雅黑" panose="020B0503020204020204" pitchFamily="34" charset="-122"/>
              </a:rPr>
              <a:t>pt</a:t>
            </a:r>
            <a:r>
              <a:rPr lang="en-US" altLang="zh-CN" sz="2400" dirty="0">
                <a:solidFill>
                  <a:prstClr val="black"/>
                </a:solidFill>
                <a:latin typeface="Microsoft YaHei UI" panose="020B0503020204020204" pitchFamily="34" charset="-122"/>
                <a:ea typeface="微软雅黑" panose="020B0503020204020204" pitchFamily="34" charset="-122"/>
              </a:rPr>
              <a:t>); </a:t>
            </a:r>
          </a:p>
          <a:p>
            <a:pPr eaLnBrk="0" fontAlgn="base" hangingPunct="0">
              <a:spcBef>
                <a:spcPct val="0"/>
              </a:spcBef>
              <a:spcAft>
                <a:spcPct val="0"/>
              </a:spcAft>
            </a:pPr>
            <a:r>
              <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rPr>
              <a:t>//</a:t>
            </a:r>
            <a:r>
              <a:rPr lang="zh-CN" altLang="en-US" sz="2400" dirty="0">
                <a:solidFill>
                  <a:prstClr val="black"/>
                </a:solidFill>
                <a:highlight>
                  <a:srgbClr val="00FFFF"/>
                </a:highlight>
                <a:latin typeface="Microsoft YaHei UI" panose="020B0503020204020204" pitchFamily="34" charset="-122"/>
                <a:ea typeface="微软雅黑" panose="020B0503020204020204" pitchFamily="34" charset="-122"/>
              </a:rPr>
              <a:t>返回值为整数部分，并把小数部分存入 </a:t>
            </a:r>
            <a:r>
              <a:rPr lang="en-US" altLang="zh-CN" sz="2400" dirty="0" err="1">
                <a:solidFill>
                  <a:prstClr val="black"/>
                </a:solidFill>
                <a:highlight>
                  <a:srgbClr val="00FFFF"/>
                </a:highlight>
                <a:latin typeface="Microsoft YaHei UI" panose="020B0503020204020204" pitchFamily="34" charset="-122"/>
                <a:ea typeface="微软雅黑" panose="020B0503020204020204" pitchFamily="34" charset="-122"/>
              </a:rPr>
              <a:t>pt</a:t>
            </a:r>
            <a:r>
              <a:rPr lang="zh-CN" altLang="en-US" sz="2400" dirty="0">
                <a:solidFill>
                  <a:prstClr val="black"/>
                </a:solidFill>
                <a:highlight>
                  <a:srgbClr val="00FFFF"/>
                </a:highlight>
                <a:latin typeface="Microsoft YaHei UI" panose="020B0503020204020204" pitchFamily="34" charset="-122"/>
                <a:ea typeface="微软雅黑" panose="020B0503020204020204" pitchFamily="34" charset="-122"/>
              </a:rPr>
              <a:t>所指单元</a:t>
            </a:r>
            <a:r>
              <a:rPr lang="en-US" altLang="zh-CN" sz="2400" dirty="0">
                <a:solidFill>
                  <a:prstClr val="black"/>
                </a:solidFill>
                <a:highlight>
                  <a:srgbClr val="00FFFF"/>
                </a:highlight>
                <a:latin typeface="Microsoft YaHei UI" panose="020B0503020204020204" pitchFamily="34" charset="-122"/>
                <a:ea typeface="微软雅黑" panose="020B0503020204020204" pitchFamily="34" charset="-122"/>
              </a:rPr>
              <a:t>;</a:t>
            </a:r>
          </a:p>
          <a:p>
            <a:pPr eaLnBrk="0" fontAlgn="base" hangingPunct="0">
              <a:spcBef>
                <a:spcPct val="0"/>
              </a:spcBef>
              <a:spcAft>
                <a:spcPct val="0"/>
              </a:spcAft>
            </a:pPr>
            <a:endParaRPr lang="en-US" altLang="zh-CN" dirty="0">
              <a:solidFill>
                <a:prstClr val="black"/>
              </a:solidFill>
              <a:latin typeface="Microsoft YaHei UI"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8"/>
            <a:ext cx="5639603"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看一些函数的例子，就知道了</a:t>
            </a:r>
          </a:p>
        </p:txBody>
      </p:sp>
      <p:sp>
        <p:nvSpPr>
          <p:cNvPr id="3" name="文本框 2"/>
          <p:cNvSpPr txBox="1"/>
          <p:nvPr/>
        </p:nvSpPr>
        <p:spPr>
          <a:xfrm>
            <a:off x="2385853" y="1796894"/>
            <a:ext cx="7641021" cy="4093428"/>
          </a:xfrm>
          <a:prstGeom prst="rect">
            <a:avLst/>
          </a:prstGeom>
          <a:noFill/>
        </p:spPr>
        <p:txBody>
          <a:bodyPr wrap="square" rtlCol="0">
            <a:spAutoFit/>
          </a:bodyPr>
          <a:lstStyle/>
          <a:p>
            <a:pPr eaLnBrk="0" fontAlgn="base" hangingPunct="0">
              <a:spcBef>
                <a:spcPct val="0"/>
              </a:spcBef>
              <a:spcAft>
                <a:spcPct val="0"/>
              </a:spcAft>
            </a:pPr>
            <a:r>
              <a:rPr lang="en-US" altLang="zh-CN" sz="2200" dirty="0">
                <a:solidFill>
                  <a:prstClr val="black"/>
                </a:solidFill>
                <a:latin typeface="Microsoft YaHei UI" panose="020B0503020204020204" pitchFamily="34" charset="-122"/>
                <a:ea typeface="微软雅黑" panose="020B0503020204020204" pitchFamily="34" charset="-122"/>
              </a:rPr>
              <a:t>&lt;</a:t>
            </a:r>
            <a:r>
              <a:rPr lang="en-US" altLang="zh-CN" sz="2200" dirty="0" err="1">
                <a:solidFill>
                  <a:prstClr val="black"/>
                </a:solidFill>
                <a:latin typeface="Microsoft YaHei UI" panose="020B0503020204020204" pitchFamily="34" charset="-122"/>
                <a:ea typeface="微软雅黑" panose="020B0503020204020204" pitchFamily="34" charset="-122"/>
              </a:rPr>
              <a:t>string.h</a:t>
            </a:r>
            <a:r>
              <a:rPr lang="en-US" altLang="zh-CN" sz="2200" dirty="0">
                <a:solidFill>
                  <a:prstClr val="black"/>
                </a:solidFill>
                <a:latin typeface="Microsoft YaHei UI" panose="020B0503020204020204" pitchFamily="34" charset="-122"/>
                <a:ea typeface="微软雅黑" panose="020B0503020204020204" pitchFamily="34" charset="-122"/>
              </a:rPr>
              <a:t>&gt;</a:t>
            </a:r>
          </a:p>
          <a:p>
            <a:pPr eaLnBrk="0" fontAlgn="base" hangingPunct="0">
              <a:spcBef>
                <a:spcPct val="0"/>
              </a:spcBef>
              <a:spcAft>
                <a:spcPct val="0"/>
              </a:spcAft>
            </a:pPr>
            <a:endParaRPr lang="en-US" altLang="zh-CN" sz="22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200" dirty="0">
                <a:solidFill>
                  <a:prstClr val="black"/>
                </a:solidFill>
                <a:latin typeface="Microsoft YaHei UI" panose="020B0503020204020204" pitchFamily="34" charset="-122"/>
                <a:ea typeface="微软雅黑" panose="020B0503020204020204" pitchFamily="34" charset="-122"/>
              </a:rPr>
              <a:t>void </a:t>
            </a:r>
            <a:r>
              <a:rPr lang="en-US" altLang="zh-CN" sz="2200" dirty="0" err="1">
                <a:solidFill>
                  <a:prstClr val="black"/>
                </a:solidFill>
                <a:latin typeface="Microsoft YaHei UI" panose="020B0503020204020204" pitchFamily="34" charset="-122"/>
                <a:ea typeface="微软雅黑" panose="020B0503020204020204" pitchFamily="34" charset="-122"/>
              </a:rPr>
              <a:t>memset</a:t>
            </a:r>
            <a:r>
              <a:rPr lang="en-US" altLang="zh-CN" sz="2200" dirty="0">
                <a:solidFill>
                  <a:prstClr val="black"/>
                </a:solidFill>
                <a:latin typeface="Microsoft YaHei UI" panose="020B0503020204020204" pitchFamily="34" charset="-122"/>
                <a:ea typeface="微软雅黑" panose="020B0503020204020204" pitchFamily="34" charset="-122"/>
              </a:rPr>
              <a:t> ( char * str, char </a:t>
            </a:r>
            <a:r>
              <a:rPr lang="en-US" altLang="zh-CN" sz="2200" dirty="0" err="1">
                <a:solidFill>
                  <a:prstClr val="black"/>
                </a:solidFill>
                <a:latin typeface="Microsoft YaHei UI" panose="020B0503020204020204" pitchFamily="34" charset="-122"/>
                <a:ea typeface="微软雅黑" panose="020B0503020204020204" pitchFamily="34" charset="-122"/>
              </a:rPr>
              <a:t>ch</a:t>
            </a:r>
            <a:r>
              <a:rPr lang="en-US" altLang="zh-CN" sz="2200" dirty="0">
                <a:solidFill>
                  <a:prstClr val="black"/>
                </a:solidFill>
                <a:latin typeface="Microsoft YaHei UI" panose="020B0503020204020204" pitchFamily="34" charset="-122"/>
                <a:ea typeface="微软雅黑" panose="020B0503020204020204" pitchFamily="34" charset="-122"/>
              </a:rPr>
              <a:t>, int count ); </a:t>
            </a:r>
          </a:p>
          <a:p>
            <a:pPr eaLnBrk="0" fontAlgn="base" hangingPunct="0">
              <a:spcBef>
                <a:spcPct val="0"/>
              </a:spcBef>
              <a:spcAft>
                <a:spcPct val="0"/>
              </a:spcAft>
            </a:pP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将字符数组</a:t>
            </a: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str</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的前</a:t>
            </a: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count</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个字符设置为</a:t>
            </a:r>
            <a:r>
              <a:rPr lang="en-US" altLang="zh-CN" sz="2200" dirty="0" err="1">
                <a:solidFill>
                  <a:prstClr val="black"/>
                </a:solidFill>
                <a:highlight>
                  <a:srgbClr val="00FFFF"/>
                </a:highlight>
                <a:latin typeface="Microsoft YaHei UI" panose="020B0503020204020204" pitchFamily="34" charset="-122"/>
                <a:ea typeface="微软雅黑" panose="020B0503020204020204" pitchFamily="34" charset="-122"/>
              </a:rPr>
              <a:t>ch</a:t>
            </a: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a:t>
            </a:r>
          </a:p>
          <a:p>
            <a:pPr eaLnBrk="0" fontAlgn="base" hangingPunct="0">
              <a:spcBef>
                <a:spcPct val="0"/>
              </a:spcBef>
              <a:spcAft>
                <a:spcPct val="0"/>
              </a:spcAft>
            </a:pPr>
            <a:endPar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200" dirty="0">
                <a:solidFill>
                  <a:prstClr val="black"/>
                </a:solidFill>
                <a:latin typeface="Microsoft YaHei UI" panose="020B0503020204020204" pitchFamily="34" charset="-122"/>
                <a:ea typeface="微软雅黑" panose="020B0503020204020204" pitchFamily="34" charset="-122"/>
              </a:rPr>
              <a:t>char * </a:t>
            </a:r>
            <a:r>
              <a:rPr lang="en-US" altLang="zh-CN" sz="2200" dirty="0" err="1">
                <a:solidFill>
                  <a:prstClr val="black"/>
                </a:solidFill>
                <a:latin typeface="Microsoft YaHei UI" panose="020B0503020204020204" pitchFamily="34" charset="-122"/>
                <a:ea typeface="微软雅黑" panose="020B0503020204020204" pitchFamily="34" charset="-122"/>
              </a:rPr>
              <a:t>strstr</a:t>
            </a:r>
            <a:r>
              <a:rPr lang="en-US" altLang="zh-CN" sz="2200" dirty="0">
                <a:solidFill>
                  <a:prstClr val="black"/>
                </a:solidFill>
                <a:latin typeface="Microsoft YaHei UI" panose="020B0503020204020204" pitchFamily="34" charset="-122"/>
                <a:ea typeface="微软雅黑" panose="020B0503020204020204" pitchFamily="34" charset="-122"/>
              </a:rPr>
              <a:t> ( char * str1, char * str2 );</a:t>
            </a:r>
          </a:p>
          <a:p>
            <a:pPr eaLnBrk="0" fontAlgn="base" hangingPunct="0">
              <a:spcBef>
                <a:spcPct val="0"/>
              </a:spcBef>
              <a:spcAft>
                <a:spcPct val="0"/>
              </a:spcAft>
            </a:pP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寻找字符串</a:t>
            </a: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str2</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在</a:t>
            </a: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str1</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中首次出现的位置；</a:t>
            </a:r>
            <a:r>
              <a:rPr lang="en-US" altLang="zh-CN" sz="2200" dirty="0">
                <a:solidFill>
                  <a:prstClr val="black"/>
                </a:solidFill>
                <a:latin typeface="Microsoft YaHei UI" panose="020B0503020204020204" pitchFamily="34" charset="-122"/>
                <a:ea typeface="微软雅黑" panose="020B0503020204020204" pitchFamily="34" charset="-122"/>
              </a:rPr>
              <a:t>(</a:t>
            </a:r>
            <a:r>
              <a:rPr lang="zh-CN" altLang="en-US" sz="2200" dirty="0">
                <a:solidFill>
                  <a:prstClr val="black"/>
                </a:solidFill>
                <a:latin typeface="Microsoft YaHei UI" panose="020B0503020204020204" pitchFamily="34" charset="-122"/>
                <a:ea typeface="微软雅黑" panose="020B0503020204020204" pitchFamily="34" charset="-122"/>
              </a:rPr>
              <a:t>特别方便！</a:t>
            </a:r>
            <a:r>
              <a:rPr lang="en-US" altLang="zh-CN" sz="2200" dirty="0">
                <a:solidFill>
                  <a:prstClr val="black"/>
                </a:solidFill>
                <a:latin typeface="Microsoft YaHei UI" panose="020B0503020204020204" pitchFamily="34" charset="-122"/>
                <a:ea typeface="微软雅黑" panose="020B0503020204020204" pitchFamily="34" charset="-122"/>
              </a:rPr>
              <a:t>)</a:t>
            </a:r>
          </a:p>
          <a:p>
            <a:pPr eaLnBrk="0" fontAlgn="base" hangingPunct="0">
              <a:spcBef>
                <a:spcPct val="0"/>
              </a:spcBef>
              <a:spcAft>
                <a:spcPct val="0"/>
              </a:spcAft>
            </a:pPr>
            <a:endParaRPr lang="en-US" altLang="zh-CN" sz="22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200" dirty="0">
                <a:solidFill>
                  <a:prstClr val="black"/>
                </a:solidFill>
                <a:latin typeface="Microsoft YaHei UI" panose="020B0503020204020204" pitchFamily="34" charset="-122"/>
                <a:ea typeface="微软雅黑" panose="020B0503020204020204" pitchFamily="34" charset="-122"/>
              </a:rPr>
              <a:t>&lt;</a:t>
            </a:r>
            <a:r>
              <a:rPr lang="en-US" altLang="zh-CN" sz="2200" dirty="0" err="1">
                <a:solidFill>
                  <a:prstClr val="black"/>
                </a:solidFill>
                <a:latin typeface="Microsoft YaHei UI" panose="020B0503020204020204" pitchFamily="34" charset="-122"/>
                <a:ea typeface="微软雅黑" panose="020B0503020204020204" pitchFamily="34" charset="-122"/>
              </a:rPr>
              <a:t>stdlib.h</a:t>
            </a:r>
            <a:r>
              <a:rPr lang="en-US" altLang="zh-CN" sz="2200" dirty="0">
                <a:solidFill>
                  <a:prstClr val="black"/>
                </a:solidFill>
                <a:latin typeface="Microsoft YaHei UI" panose="020B0503020204020204" pitchFamily="34" charset="-122"/>
                <a:ea typeface="微软雅黑" panose="020B0503020204020204" pitchFamily="34" charset="-122"/>
              </a:rPr>
              <a:t>&gt;</a:t>
            </a:r>
          </a:p>
          <a:p>
            <a:pPr eaLnBrk="0" fontAlgn="base" hangingPunct="0">
              <a:spcBef>
                <a:spcPct val="0"/>
              </a:spcBef>
              <a:spcAft>
                <a:spcPct val="0"/>
              </a:spcAft>
            </a:pPr>
            <a:r>
              <a:rPr lang="en-US" altLang="zh-CN" sz="2200" dirty="0">
                <a:solidFill>
                  <a:prstClr val="black"/>
                </a:solidFill>
                <a:latin typeface="Microsoft YaHei UI" panose="020B0503020204020204" pitchFamily="34" charset="-122"/>
                <a:ea typeface="微软雅黑" panose="020B0503020204020204" pitchFamily="34" charset="-122"/>
              </a:rPr>
              <a:t>void *malloc ( unsigned int size );</a:t>
            </a:r>
          </a:p>
          <a:p>
            <a:pPr eaLnBrk="0" fontAlgn="base" hangingPunct="0">
              <a:spcBef>
                <a:spcPct val="0"/>
              </a:spcBef>
              <a:spcAft>
                <a:spcPct val="0"/>
              </a:spcAft>
            </a:pP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分配一块</a:t>
            </a:r>
            <a:r>
              <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rPr>
              <a:t>size</a:t>
            </a:r>
            <a:r>
              <a:rPr lang="zh-CN" altLang="en-US" sz="2200" dirty="0">
                <a:solidFill>
                  <a:prstClr val="black"/>
                </a:solidFill>
                <a:highlight>
                  <a:srgbClr val="00FFFF"/>
                </a:highlight>
                <a:latin typeface="Microsoft YaHei UI" panose="020B0503020204020204" pitchFamily="34" charset="-122"/>
                <a:ea typeface="微软雅黑" panose="020B0503020204020204" pitchFamily="34" charset="-122"/>
              </a:rPr>
              <a:t>大小的储存空间，返回值为该空间的首地址。</a:t>
            </a:r>
            <a:endParaRPr lang="en-US" altLang="zh-CN" sz="2200" dirty="0">
              <a:solidFill>
                <a:prstClr val="black"/>
              </a:solidFill>
              <a:highlight>
                <a:srgbClr val="00FFFF"/>
              </a:highlight>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dirty="0">
              <a:solidFill>
                <a:prstClr val="black"/>
              </a:solidFill>
              <a:latin typeface="Microsoft YaHei UI"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43953"/>
            <a:ext cx="5639603" cy="584775"/>
          </a:xfrm>
          <a:prstGeom prst="rect">
            <a:avLst/>
          </a:prstGeom>
          <a:noFill/>
        </p:spPr>
        <p:txBody>
          <a:bodyPr wrap="square" rtlCol="0">
            <a:spAutoFit/>
          </a:bodyPr>
          <a:lstStyle/>
          <a:p>
            <a:pPr eaLnBrk="0" fontAlgn="base" hangingPunct="0">
              <a:spcBef>
                <a:spcPct val="0"/>
              </a:spcBef>
              <a:spcAft>
                <a:spcPct val="0"/>
              </a:spcAft>
            </a:pPr>
            <a:r>
              <a:rPr lang="en-US" altLang="zh-CN" sz="3200" dirty="0" err="1">
                <a:solidFill>
                  <a:prstClr val="black"/>
                </a:solidFill>
                <a:latin typeface="Microsoft YaHei UI" panose="020B0503020204020204" pitchFamily="34" charset="-122"/>
                <a:ea typeface="微软雅黑" panose="020B0503020204020204" pitchFamily="34" charset="-122"/>
              </a:rPr>
              <a:t>qsort</a:t>
            </a:r>
            <a:r>
              <a:rPr lang="zh-CN" altLang="en-US" sz="3200" dirty="0">
                <a:solidFill>
                  <a:prstClr val="black"/>
                </a:solidFill>
                <a:latin typeface="Microsoft YaHei UI" panose="020B0503020204020204" pitchFamily="34" charset="-122"/>
                <a:ea typeface="微软雅黑" panose="020B0503020204020204" pitchFamily="34" charset="-122"/>
              </a:rPr>
              <a:t>函数（排序函数）</a:t>
            </a:r>
          </a:p>
        </p:txBody>
      </p:sp>
      <p:sp>
        <p:nvSpPr>
          <p:cNvPr id="3" name="文本框 2"/>
          <p:cNvSpPr txBox="1"/>
          <p:nvPr/>
        </p:nvSpPr>
        <p:spPr>
          <a:xfrm>
            <a:off x="1970695" y="1029639"/>
            <a:ext cx="8276895" cy="5281702"/>
          </a:xfrm>
          <a:prstGeom prst="rect">
            <a:avLst/>
          </a:prstGeom>
          <a:noFill/>
        </p:spPr>
        <p:txBody>
          <a:bodyPr wrap="square" rtlCol="0">
            <a:spAutoFit/>
          </a:bodyPr>
          <a:lstStyle/>
          <a:p>
            <a:pPr eaLnBrk="0" fontAlgn="base" hangingPunct="0">
              <a:lnSpc>
                <a:spcPct val="125000"/>
              </a:lnSpc>
              <a:spcAft>
                <a:spcPts val="600"/>
              </a:spcAft>
            </a:pPr>
            <a:r>
              <a:rPr lang="en-US" altLang="zh-CN" sz="2400" dirty="0">
                <a:solidFill>
                  <a:srgbClr val="333333"/>
                </a:solidFill>
                <a:latin typeface="Arial" panose="020B0604020202020204" pitchFamily="34" charset="0"/>
                <a:ea typeface="微软雅黑" panose="020B0503020204020204" pitchFamily="34" charset="-122"/>
              </a:rPr>
              <a:t>void </a:t>
            </a:r>
            <a:r>
              <a:rPr lang="en-US" altLang="zh-CN" sz="2400" dirty="0" err="1">
                <a:solidFill>
                  <a:srgbClr val="333333"/>
                </a:solidFill>
                <a:latin typeface="Arial" panose="020B0604020202020204" pitchFamily="34" charset="0"/>
                <a:ea typeface="微软雅黑" panose="020B0503020204020204" pitchFamily="34" charset="-122"/>
              </a:rPr>
              <a:t>qsort</a:t>
            </a:r>
            <a:r>
              <a:rPr lang="en-US" altLang="zh-CN" sz="2400" dirty="0">
                <a:solidFill>
                  <a:srgbClr val="333333"/>
                </a:solidFill>
                <a:latin typeface="Arial" panose="020B0604020202020204" pitchFamily="34" charset="0"/>
                <a:ea typeface="微软雅黑" panose="020B0503020204020204" pitchFamily="34" charset="-122"/>
              </a:rPr>
              <a:t> ( void *base, int n, int size,</a:t>
            </a:r>
          </a:p>
          <a:p>
            <a:pPr eaLnBrk="0" fontAlgn="base" hangingPunct="0">
              <a:lnSpc>
                <a:spcPct val="125000"/>
              </a:lnSpc>
              <a:spcAft>
                <a:spcPts val="600"/>
              </a:spcAft>
            </a:pPr>
            <a:r>
              <a:rPr lang="en-US" altLang="zh-CN" sz="2400" dirty="0">
                <a:solidFill>
                  <a:srgbClr val="333333"/>
                </a:solidFill>
                <a:latin typeface="Arial" panose="020B0604020202020204" pitchFamily="34" charset="0"/>
                <a:ea typeface="微软雅黑" panose="020B0503020204020204" pitchFamily="34" charset="-122"/>
              </a:rPr>
              <a:t> </a:t>
            </a:r>
            <a:r>
              <a:rPr lang="en-US" altLang="zh-CN" sz="2400" dirty="0">
                <a:solidFill>
                  <a:srgbClr val="002060"/>
                </a:solidFill>
                <a:latin typeface="Arial" panose="020B0604020202020204" pitchFamily="34" charset="0"/>
                <a:ea typeface="微软雅黑" panose="020B0503020204020204" pitchFamily="34" charset="-122"/>
              </a:rPr>
              <a:t>int (*compare)(const void *, const void*) )</a:t>
            </a:r>
          </a:p>
          <a:p>
            <a:pPr eaLnBrk="0" fontAlgn="base" hangingPunct="0">
              <a:lnSpc>
                <a:spcPct val="125000"/>
              </a:lnSpc>
              <a:spcAft>
                <a:spcPts val="600"/>
              </a:spcAft>
            </a:pPr>
            <a:endParaRPr lang="en-US" altLang="zh-CN" sz="2400" dirty="0">
              <a:solidFill>
                <a:srgbClr val="002060"/>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2400" dirty="0">
                <a:solidFill>
                  <a:prstClr val="black"/>
                </a:solidFill>
                <a:latin typeface="Arial" panose="020B0604020202020204" pitchFamily="34" charset="0"/>
                <a:ea typeface="微软雅黑" panose="020B0503020204020204" pitchFamily="34" charset="-122"/>
              </a:rPr>
              <a:t>base:</a:t>
            </a:r>
            <a:r>
              <a:rPr lang="zh-CN" altLang="en-US" sz="2400" dirty="0">
                <a:solidFill>
                  <a:prstClr val="black"/>
                </a:solidFill>
                <a:latin typeface="Arial" panose="020B0604020202020204" pitchFamily="34" charset="0"/>
                <a:ea typeface="微软雅黑" panose="020B0503020204020204" pitchFamily="34" charset="-122"/>
              </a:rPr>
              <a:t>数组名（数组指针）</a:t>
            </a:r>
            <a:endParaRPr lang="en-US" altLang="zh-CN" sz="24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2400" dirty="0">
                <a:solidFill>
                  <a:prstClr val="black"/>
                </a:solidFill>
                <a:latin typeface="Arial" panose="020B0604020202020204" pitchFamily="34" charset="0"/>
                <a:ea typeface="微软雅黑" panose="020B0503020204020204" pitchFamily="34" charset="-122"/>
              </a:rPr>
              <a:t>n:</a:t>
            </a:r>
            <a:r>
              <a:rPr lang="zh-CN" altLang="en-US" sz="2400" dirty="0">
                <a:solidFill>
                  <a:prstClr val="black"/>
                </a:solidFill>
                <a:latin typeface="Arial" panose="020B0604020202020204" pitchFamily="34" charset="0"/>
                <a:ea typeface="微软雅黑" panose="020B0503020204020204" pitchFamily="34" charset="-122"/>
              </a:rPr>
              <a:t>数组元素个数； </a:t>
            </a:r>
            <a:endParaRPr lang="en-US" altLang="zh-CN" sz="24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2400" dirty="0">
                <a:solidFill>
                  <a:prstClr val="black"/>
                </a:solidFill>
                <a:latin typeface="Arial" panose="020B0604020202020204" pitchFamily="34" charset="0"/>
                <a:ea typeface="微软雅黑" panose="020B0503020204020204" pitchFamily="34" charset="-122"/>
              </a:rPr>
              <a:t>size:</a:t>
            </a:r>
            <a:r>
              <a:rPr lang="zh-CN" altLang="en-US" sz="2400" dirty="0">
                <a:solidFill>
                  <a:prstClr val="black"/>
                </a:solidFill>
                <a:latin typeface="Arial" panose="020B0604020202020204" pitchFamily="34" charset="0"/>
                <a:ea typeface="微软雅黑" panose="020B0503020204020204" pitchFamily="34" charset="-122"/>
              </a:rPr>
              <a:t>每个元素大小</a:t>
            </a:r>
            <a:endParaRPr lang="en-US" altLang="zh-CN" sz="24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2400" dirty="0">
                <a:solidFill>
                  <a:prstClr val="black"/>
                </a:solidFill>
                <a:latin typeface="Arial" panose="020B0604020202020204" pitchFamily="34" charset="0"/>
                <a:ea typeface="微软雅黑" panose="020B0503020204020204" pitchFamily="34" charset="-122"/>
              </a:rPr>
              <a:t>compare:</a:t>
            </a:r>
            <a:r>
              <a:rPr lang="zh-CN" altLang="en-US" sz="2400" dirty="0">
                <a:solidFill>
                  <a:prstClr val="black"/>
                </a:solidFill>
                <a:latin typeface="Arial" panose="020B0604020202020204" pitchFamily="34" charset="0"/>
                <a:ea typeface="微软雅黑" panose="020B0503020204020204" pitchFamily="34" charset="-122"/>
              </a:rPr>
              <a:t>用来比较大小的函数</a:t>
            </a:r>
            <a:r>
              <a:rPr lang="en-US" altLang="zh-CN" sz="2400" dirty="0">
                <a:solidFill>
                  <a:prstClr val="black"/>
                </a:solidFill>
                <a:latin typeface="Arial" panose="020B0604020202020204" pitchFamily="34" charset="0"/>
                <a:ea typeface="微软雅黑" panose="020B0503020204020204" pitchFamily="34" charset="-122"/>
              </a:rPr>
              <a:t>, </a:t>
            </a:r>
            <a:r>
              <a:rPr lang="zh-CN" altLang="en-US" sz="2400" dirty="0">
                <a:solidFill>
                  <a:prstClr val="black"/>
                </a:solidFill>
                <a:latin typeface="Arial" panose="020B0604020202020204" pitchFamily="34" charset="0"/>
                <a:ea typeface="微软雅黑" panose="020B0503020204020204" pitchFamily="34" charset="-122"/>
              </a:rPr>
              <a:t>格式必须是</a:t>
            </a:r>
            <a:endParaRPr lang="en-US" altLang="zh-CN" sz="24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zh-CN" altLang="en-US" sz="2400" dirty="0">
                <a:solidFill>
                  <a:prstClr val="black"/>
                </a:solidFill>
                <a:latin typeface="Arial" panose="020B0604020202020204" pitchFamily="34" charset="0"/>
                <a:ea typeface="微软雅黑" panose="020B0503020204020204" pitchFamily="34" charset="-122"/>
              </a:rPr>
              <a:t>“</a:t>
            </a:r>
            <a:r>
              <a:rPr lang="en-US" altLang="zh-CN" sz="2400" dirty="0" err="1">
                <a:solidFill>
                  <a:prstClr val="black"/>
                </a:solidFill>
                <a:latin typeface="Arial" panose="020B0604020202020204" pitchFamily="34" charset="0"/>
                <a:ea typeface="微软雅黑" panose="020B0503020204020204" pitchFamily="34" charset="-122"/>
              </a:rPr>
              <a:t>compar</a:t>
            </a:r>
            <a:r>
              <a:rPr lang="zh-CN" altLang="en-US" sz="2400" dirty="0">
                <a:solidFill>
                  <a:prstClr val="black"/>
                </a:solidFill>
                <a:latin typeface="Arial" panose="020B0604020202020204" pitchFamily="34" charset="0"/>
                <a:ea typeface="微软雅黑" panose="020B0503020204020204" pitchFamily="34" charset="-122"/>
              </a:rPr>
              <a:t>（</a:t>
            </a:r>
            <a:r>
              <a:rPr lang="en-US" altLang="zh-CN" sz="2400" dirty="0">
                <a:solidFill>
                  <a:srgbClr val="002060"/>
                </a:solidFill>
                <a:latin typeface="Arial" panose="020B0604020202020204" pitchFamily="34" charset="0"/>
                <a:ea typeface="微软雅黑" panose="020B0503020204020204" pitchFamily="34" charset="-122"/>
              </a:rPr>
              <a:t>(const void *p1, const void*p2) </a:t>
            </a:r>
            <a:r>
              <a:rPr lang="zh-CN" altLang="en-US" sz="2400" dirty="0">
                <a:solidFill>
                  <a:prstClr val="black"/>
                </a:solidFill>
                <a:latin typeface="Arial" panose="020B0604020202020204" pitchFamily="34" charset="0"/>
                <a:ea typeface="微软雅黑" panose="020B0503020204020204" pitchFamily="34" charset="-122"/>
              </a:rPr>
              <a:t>）” （其实无所谓）</a:t>
            </a:r>
            <a:endParaRPr lang="en-US" altLang="zh-CN" sz="24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zh-CN" altLang="en-US" sz="2400" dirty="0">
                <a:solidFill>
                  <a:prstClr val="black"/>
                </a:solidFill>
                <a:latin typeface="Arial" panose="020B0604020202020204" pitchFamily="34" charset="0"/>
                <a:ea typeface="微软雅黑" panose="020B0503020204020204" pitchFamily="34" charset="-122"/>
              </a:rPr>
              <a:t>返回值</a:t>
            </a:r>
            <a:r>
              <a:rPr lang="en-US" altLang="zh-CN" sz="2400" dirty="0">
                <a:solidFill>
                  <a:prstClr val="black"/>
                </a:solidFill>
                <a:latin typeface="Arial" panose="020B0604020202020204" pitchFamily="34" charset="0"/>
                <a:ea typeface="微软雅黑" panose="020B0503020204020204" pitchFamily="34" charset="-122"/>
              </a:rPr>
              <a:t>&lt;0/&gt;0/=0,p1</a:t>
            </a:r>
            <a:r>
              <a:rPr lang="zh-CN" altLang="en-US" sz="2400" dirty="0">
                <a:solidFill>
                  <a:prstClr val="black"/>
                </a:solidFill>
                <a:latin typeface="Arial" panose="020B0604020202020204" pitchFamily="34" charset="0"/>
                <a:ea typeface="微软雅黑" panose="020B0503020204020204" pitchFamily="34" charset="-122"/>
              </a:rPr>
              <a:t>元素会被排在</a:t>
            </a:r>
            <a:r>
              <a:rPr lang="en-US" altLang="zh-CN" sz="2400" dirty="0">
                <a:solidFill>
                  <a:prstClr val="black"/>
                </a:solidFill>
                <a:latin typeface="Arial" panose="020B0604020202020204" pitchFamily="34" charset="0"/>
                <a:ea typeface="微软雅黑" panose="020B0503020204020204" pitchFamily="34" charset="-122"/>
              </a:rPr>
              <a:t>p2</a:t>
            </a:r>
            <a:r>
              <a:rPr lang="zh-CN" altLang="en-US" sz="2400" dirty="0">
                <a:solidFill>
                  <a:prstClr val="black"/>
                </a:solidFill>
                <a:latin typeface="Arial" panose="020B0604020202020204" pitchFamily="34" charset="0"/>
                <a:ea typeface="微软雅黑" panose="020B0503020204020204" pitchFamily="34" charset="-122"/>
              </a:rPr>
              <a:t>元素的前面</a:t>
            </a:r>
            <a:r>
              <a:rPr lang="en-US" altLang="zh-CN" sz="2400" dirty="0">
                <a:solidFill>
                  <a:prstClr val="black"/>
                </a:solidFill>
                <a:latin typeface="Arial" panose="020B0604020202020204" pitchFamily="34" charset="0"/>
                <a:ea typeface="微软雅黑" panose="020B0503020204020204" pitchFamily="34" charset="-122"/>
              </a:rPr>
              <a:t>/</a:t>
            </a:r>
            <a:r>
              <a:rPr lang="zh-CN" altLang="en-US" sz="2400" dirty="0">
                <a:solidFill>
                  <a:prstClr val="black"/>
                </a:solidFill>
                <a:latin typeface="Arial" panose="020B0604020202020204" pitchFamily="34" charset="0"/>
                <a:ea typeface="微软雅黑" panose="020B0503020204020204" pitchFamily="34" charset="-122"/>
              </a:rPr>
              <a:t>后面</a:t>
            </a:r>
            <a:r>
              <a:rPr lang="en-US" altLang="zh-CN" sz="2400" dirty="0">
                <a:solidFill>
                  <a:prstClr val="black"/>
                </a:solidFill>
                <a:latin typeface="Arial" panose="020B0604020202020204" pitchFamily="34" charset="0"/>
                <a:ea typeface="微软雅黑" panose="020B0503020204020204" pitchFamily="34" charset="-122"/>
              </a:rPr>
              <a:t>/</a:t>
            </a:r>
            <a:r>
              <a:rPr lang="zh-CN" altLang="en-US" sz="2400" dirty="0">
                <a:solidFill>
                  <a:prstClr val="black"/>
                </a:solidFill>
                <a:latin typeface="Arial" panose="020B0604020202020204" pitchFamily="34" charset="0"/>
                <a:ea typeface="微软雅黑" panose="020B0503020204020204" pitchFamily="34" charset="-122"/>
              </a:rPr>
              <a:t>不定</a:t>
            </a:r>
            <a:endParaRPr lang="en-US" altLang="zh-CN" sz="2400" dirty="0">
              <a:solidFill>
                <a:prstClr val="black"/>
              </a:solidFill>
              <a:latin typeface="Arial" panose="020B0604020202020204" pitchFamily="34" charset="0"/>
              <a:ea typeface="微软雅黑" panose="020B0503020204020204" pitchFamily="34" charset="-122"/>
            </a:endParaRPr>
          </a:p>
        </p:txBody>
      </p:sp>
    </p:spTree>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68771" y="6092695"/>
            <a:ext cx="6896041" cy="543036"/>
            <a:chOff x="945891" y="6407060"/>
            <a:chExt cx="6896041" cy="543036"/>
          </a:xfrm>
        </p:grpSpPr>
        <p:pic>
          <p:nvPicPr>
            <p:cNvPr id="7" name="图形 7"/>
            <p:cNvPicPr>
              <a:picLocks noChangeAspect="1"/>
            </p:cNvPicPr>
            <p:nvPr>
              <p:custDataLst>
                <p:tags r:id="rId1"/>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5891" y="6407060"/>
              <a:ext cx="2457450" cy="542925"/>
            </a:xfrm>
            <a:prstGeom prst="rect">
              <a:avLst/>
            </a:prstGeom>
          </p:spPr>
        </p:pic>
        <p:pic>
          <p:nvPicPr>
            <p:cNvPr id="9" name="图片 8" descr="314e251f95cad1c804ecc5fe753e6709c83d5197 (1)"/>
            <p:cNvPicPr>
              <a:picLocks noChangeAspect="1"/>
            </p:cNvPicPr>
            <p:nvPr>
              <p:custDataLst>
                <p:tags r:id="rId2"/>
              </p:custDataLst>
            </p:nvPr>
          </p:nvPicPr>
          <p:blipFill>
            <a:blip r:embed="rId7"/>
            <a:stretch>
              <a:fillRect/>
            </a:stretch>
          </p:blipFill>
          <p:spPr>
            <a:xfrm>
              <a:off x="3713162" y="6407171"/>
              <a:ext cx="542925" cy="542925"/>
            </a:xfrm>
            <a:prstGeom prst="rect">
              <a:avLst/>
            </a:prstGeom>
          </p:spPr>
        </p:pic>
        <p:sp>
          <p:nvSpPr>
            <p:cNvPr id="10" name="文本框 9"/>
            <p:cNvSpPr txBox="1"/>
            <p:nvPr>
              <p:custDataLst>
                <p:tags r:id="rId3"/>
              </p:custDataLst>
            </p:nvPr>
          </p:nvSpPr>
          <p:spPr>
            <a:xfrm>
              <a:off x="4350067" y="6510041"/>
              <a:ext cx="3491865" cy="398780"/>
            </a:xfrm>
            <a:prstGeom prst="rect">
              <a:avLst/>
            </a:prstGeom>
            <a:noFill/>
          </p:spPr>
          <p:txBody>
            <a:bodyPr wrap="square" rtlCol="0">
              <a:spAutoFit/>
            </a:bodyPr>
            <a:lstStyle/>
            <a:p>
              <a:r>
                <a:rPr lang="zh-CN" altLang="en-US" sz="2000" dirty="0">
                  <a:solidFill>
                    <a:prstClr val="black"/>
                  </a:solidFill>
                  <a:latin typeface="汉仪黑方简" panose="00020600040101010101" charset="-122"/>
                  <a:ea typeface="汉仪黑方简" panose="00020600040101010101" charset="-122"/>
                </a:rPr>
                <a:t>网络开拓者协会</a:t>
              </a:r>
            </a:p>
          </p:txBody>
        </p:sp>
      </p:grpSp>
      <p:sp>
        <p:nvSpPr>
          <p:cNvPr id="2" name="文本框 1"/>
          <p:cNvSpPr txBox="1"/>
          <p:nvPr/>
        </p:nvSpPr>
        <p:spPr>
          <a:xfrm>
            <a:off x="1986459" y="246995"/>
            <a:ext cx="5639603" cy="584775"/>
          </a:xfrm>
          <a:prstGeom prst="rect">
            <a:avLst/>
          </a:prstGeom>
          <a:noFill/>
        </p:spPr>
        <p:txBody>
          <a:bodyPr wrap="square" rtlCol="0">
            <a:spAutoFit/>
          </a:bodyPr>
          <a:lstStyle/>
          <a:p>
            <a:pPr eaLnBrk="0" fontAlgn="base" hangingPunct="0">
              <a:spcBef>
                <a:spcPct val="0"/>
              </a:spcBef>
              <a:spcAft>
                <a:spcPct val="0"/>
              </a:spcAft>
            </a:pPr>
            <a:r>
              <a:rPr lang="en-US" altLang="zh-CN" sz="3200" dirty="0" err="1">
                <a:solidFill>
                  <a:prstClr val="black"/>
                </a:solidFill>
                <a:latin typeface="Microsoft YaHei UI" panose="020B0503020204020204" pitchFamily="34" charset="-122"/>
                <a:ea typeface="微软雅黑" panose="020B0503020204020204" pitchFamily="34" charset="-122"/>
              </a:rPr>
              <a:t>qsort</a:t>
            </a:r>
            <a:r>
              <a:rPr lang="zh-CN" altLang="en-US" sz="3200" dirty="0">
                <a:solidFill>
                  <a:prstClr val="black"/>
                </a:solidFill>
                <a:latin typeface="Microsoft YaHei UI" panose="020B0503020204020204" pitchFamily="34" charset="-122"/>
                <a:ea typeface="微软雅黑" panose="020B0503020204020204" pitchFamily="34" charset="-122"/>
              </a:rPr>
              <a:t>函数（排序函数）</a:t>
            </a:r>
          </a:p>
        </p:txBody>
      </p:sp>
      <p:pic>
        <p:nvPicPr>
          <p:cNvPr id="5" name="图片 4"/>
          <p:cNvPicPr>
            <a:picLocks noChangeAspect="1"/>
          </p:cNvPicPr>
          <p:nvPr/>
        </p:nvPicPr>
        <p:blipFill>
          <a:blip r:embed="rId8"/>
          <a:stretch>
            <a:fillRect/>
          </a:stretch>
        </p:blipFill>
        <p:spPr>
          <a:xfrm>
            <a:off x="1713189" y="1259789"/>
            <a:ext cx="6175295" cy="5503621"/>
          </a:xfrm>
          <a:prstGeom prst="rect">
            <a:avLst/>
          </a:prstGeom>
        </p:spPr>
      </p:pic>
      <p:sp>
        <p:nvSpPr>
          <p:cNvPr id="6" name="文本框 5"/>
          <p:cNvSpPr txBox="1"/>
          <p:nvPr/>
        </p:nvSpPr>
        <p:spPr>
          <a:xfrm>
            <a:off x="6421825" y="4108088"/>
            <a:ext cx="4120055" cy="400110"/>
          </a:xfrm>
          <a:prstGeom prst="rect">
            <a:avLst/>
          </a:prstGeom>
          <a:noFill/>
        </p:spPr>
        <p:txBody>
          <a:bodyPr wrap="square" rtlCol="0">
            <a:spAutoFit/>
          </a:bodyPr>
          <a:lstStyle/>
          <a:p>
            <a:pPr eaLnBrk="0" fontAlgn="base" hangingPunct="0">
              <a:spcBef>
                <a:spcPct val="0"/>
              </a:spcBef>
              <a:spcAft>
                <a:spcPct val="0"/>
              </a:spcAft>
            </a:pPr>
            <a:r>
              <a:rPr lang="zh-CN" altLang="en-US" sz="2000" dirty="0">
                <a:solidFill>
                  <a:prstClr val="black"/>
                </a:solidFill>
                <a:latin typeface="Microsoft YaHei UI" panose="020B0503020204020204" pitchFamily="34" charset="-122"/>
                <a:ea typeface="微软雅黑" panose="020B0503020204020204" pitchFamily="34" charset="-122"/>
              </a:rPr>
              <a:t>改一改</a:t>
            </a:r>
            <a:r>
              <a:rPr lang="en-US" altLang="zh-CN" sz="2000" dirty="0" err="1">
                <a:solidFill>
                  <a:prstClr val="black"/>
                </a:solidFill>
                <a:latin typeface="Microsoft YaHei UI" panose="020B0503020204020204" pitchFamily="34" charset="-122"/>
                <a:ea typeface="微软雅黑" panose="020B0503020204020204" pitchFamily="34" charset="-122"/>
              </a:rPr>
              <a:t>cmp</a:t>
            </a:r>
            <a:r>
              <a:rPr lang="zh-CN" altLang="en-US" sz="2000" dirty="0">
                <a:solidFill>
                  <a:prstClr val="black"/>
                </a:solidFill>
                <a:latin typeface="Microsoft YaHei UI" panose="020B0503020204020204" pitchFamily="34" charset="-122"/>
                <a:ea typeface="微软雅黑" panose="020B0503020204020204" pitchFamily="34" charset="-122"/>
              </a:rPr>
              <a:t>函数，就有无限可能！</a:t>
            </a:r>
          </a:p>
        </p:txBody>
      </p:sp>
      <p:sp>
        <p:nvSpPr>
          <p:cNvPr id="8" name="文本框 7"/>
          <p:cNvSpPr txBox="1"/>
          <p:nvPr/>
        </p:nvSpPr>
        <p:spPr>
          <a:xfrm>
            <a:off x="7425560" y="987975"/>
            <a:ext cx="3116319" cy="2603341"/>
          </a:xfrm>
          <a:prstGeom prst="rect">
            <a:avLst/>
          </a:prstGeom>
          <a:noFill/>
        </p:spPr>
        <p:txBody>
          <a:bodyPr wrap="square" rtlCol="0">
            <a:spAutoFit/>
          </a:bodyPr>
          <a:lstStyle/>
          <a:p>
            <a:pPr eaLnBrk="0" fontAlgn="base" hangingPunct="0">
              <a:lnSpc>
                <a:spcPct val="125000"/>
              </a:lnSpc>
              <a:spcAft>
                <a:spcPts val="600"/>
              </a:spcAft>
            </a:pPr>
            <a:r>
              <a:rPr lang="en-US" altLang="zh-CN" sz="1600" dirty="0">
                <a:solidFill>
                  <a:srgbClr val="333333"/>
                </a:solidFill>
                <a:latin typeface="Arial" panose="020B0604020202020204" pitchFamily="34" charset="0"/>
                <a:ea typeface="微软雅黑" panose="020B0503020204020204" pitchFamily="34" charset="-122"/>
              </a:rPr>
              <a:t>void </a:t>
            </a:r>
            <a:r>
              <a:rPr lang="en-US" altLang="zh-CN" sz="1600" dirty="0" err="1">
                <a:solidFill>
                  <a:srgbClr val="333333"/>
                </a:solidFill>
                <a:latin typeface="Arial" panose="020B0604020202020204" pitchFamily="34" charset="0"/>
                <a:ea typeface="微软雅黑" panose="020B0503020204020204" pitchFamily="34" charset="-122"/>
              </a:rPr>
              <a:t>qsort</a:t>
            </a:r>
            <a:r>
              <a:rPr lang="en-US" altLang="zh-CN" sz="1600" dirty="0">
                <a:solidFill>
                  <a:srgbClr val="333333"/>
                </a:solidFill>
                <a:latin typeface="Arial" panose="020B0604020202020204" pitchFamily="34" charset="0"/>
                <a:ea typeface="微软雅黑" panose="020B0503020204020204" pitchFamily="34" charset="-122"/>
              </a:rPr>
              <a:t> ( void *base, int n, int size, </a:t>
            </a:r>
            <a:r>
              <a:rPr lang="en-US" altLang="zh-CN" sz="1600" dirty="0">
                <a:solidFill>
                  <a:srgbClr val="002060"/>
                </a:solidFill>
                <a:latin typeface="Arial" panose="020B0604020202020204" pitchFamily="34" charset="0"/>
                <a:ea typeface="微软雅黑" panose="020B0503020204020204" pitchFamily="34" charset="-122"/>
              </a:rPr>
              <a:t>int (*compare) )</a:t>
            </a:r>
          </a:p>
          <a:p>
            <a:pPr eaLnBrk="0" fontAlgn="base" hangingPunct="0">
              <a:lnSpc>
                <a:spcPct val="125000"/>
              </a:lnSpc>
              <a:spcAft>
                <a:spcPts val="600"/>
              </a:spcAft>
            </a:pPr>
            <a:endParaRPr lang="en-US" altLang="zh-CN" sz="1600" dirty="0">
              <a:solidFill>
                <a:srgbClr val="002060"/>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1600" dirty="0">
                <a:solidFill>
                  <a:prstClr val="black"/>
                </a:solidFill>
                <a:latin typeface="Arial" panose="020B0604020202020204" pitchFamily="34" charset="0"/>
                <a:ea typeface="微软雅黑" panose="020B0503020204020204" pitchFamily="34" charset="-122"/>
              </a:rPr>
              <a:t>base:</a:t>
            </a:r>
            <a:r>
              <a:rPr lang="zh-CN" altLang="en-US" sz="1600" dirty="0">
                <a:solidFill>
                  <a:prstClr val="black"/>
                </a:solidFill>
                <a:latin typeface="Arial" panose="020B0604020202020204" pitchFamily="34" charset="0"/>
                <a:ea typeface="微软雅黑" panose="020B0503020204020204" pitchFamily="34" charset="-122"/>
              </a:rPr>
              <a:t>数组名（数组指针）</a:t>
            </a:r>
            <a:endParaRPr lang="en-US" altLang="zh-CN" sz="16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1600" dirty="0">
                <a:solidFill>
                  <a:prstClr val="black"/>
                </a:solidFill>
                <a:latin typeface="Arial" panose="020B0604020202020204" pitchFamily="34" charset="0"/>
                <a:ea typeface="微软雅黑" panose="020B0503020204020204" pitchFamily="34" charset="-122"/>
              </a:rPr>
              <a:t>n:</a:t>
            </a:r>
            <a:r>
              <a:rPr lang="zh-CN" altLang="en-US" sz="1600" dirty="0">
                <a:solidFill>
                  <a:prstClr val="black"/>
                </a:solidFill>
                <a:latin typeface="Arial" panose="020B0604020202020204" pitchFamily="34" charset="0"/>
                <a:ea typeface="微软雅黑" panose="020B0503020204020204" pitchFamily="34" charset="-122"/>
              </a:rPr>
              <a:t>数组元素个数； </a:t>
            </a:r>
            <a:endParaRPr lang="en-US" altLang="zh-CN" sz="16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1600" dirty="0">
                <a:solidFill>
                  <a:prstClr val="black"/>
                </a:solidFill>
                <a:latin typeface="Arial" panose="020B0604020202020204" pitchFamily="34" charset="0"/>
                <a:ea typeface="微软雅黑" panose="020B0503020204020204" pitchFamily="34" charset="-122"/>
              </a:rPr>
              <a:t>size:</a:t>
            </a:r>
            <a:r>
              <a:rPr lang="zh-CN" altLang="en-US" sz="1600" dirty="0">
                <a:solidFill>
                  <a:prstClr val="black"/>
                </a:solidFill>
                <a:latin typeface="Arial" panose="020B0604020202020204" pitchFamily="34" charset="0"/>
                <a:ea typeface="微软雅黑" panose="020B0503020204020204" pitchFamily="34" charset="-122"/>
              </a:rPr>
              <a:t>每个元素大小</a:t>
            </a:r>
            <a:endParaRPr lang="en-US" altLang="zh-CN" sz="1600" dirty="0">
              <a:solidFill>
                <a:prstClr val="black"/>
              </a:solidFill>
              <a:latin typeface="Arial" panose="020B0604020202020204" pitchFamily="34" charset="0"/>
              <a:ea typeface="微软雅黑" panose="020B0503020204020204" pitchFamily="34" charset="-122"/>
            </a:endParaRPr>
          </a:p>
          <a:p>
            <a:pPr eaLnBrk="0" fontAlgn="base" hangingPunct="0">
              <a:lnSpc>
                <a:spcPct val="125000"/>
              </a:lnSpc>
              <a:spcAft>
                <a:spcPts val="600"/>
              </a:spcAft>
            </a:pPr>
            <a:r>
              <a:rPr lang="en-US" altLang="zh-CN" sz="1600" dirty="0">
                <a:solidFill>
                  <a:prstClr val="black"/>
                </a:solidFill>
                <a:latin typeface="Arial" panose="020B0604020202020204" pitchFamily="34" charset="0"/>
                <a:ea typeface="微软雅黑" panose="020B0503020204020204" pitchFamily="34" charset="-122"/>
              </a:rPr>
              <a:t>compare:</a:t>
            </a:r>
            <a:r>
              <a:rPr lang="zh-CN" altLang="en-US" sz="1600" dirty="0">
                <a:solidFill>
                  <a:prstClr val="black"/>
                </a:solidFill>
                <a:latin typeface="Arial" panose="020B0604020202020204" pitchFamily="34" charset="0"/>
                <a:ea typeface="微软雅黑" panose="020B0503020204020204" pitchFamily="34" charset="-122"/>
              </a:rPr>
              <a:t>用来比较大小的函数</a:t>
            </a:r>
            <a:endParaRPr lang="zh-CN" altLang="en-US" sz="1600" dirty="0">
              <a:solidFill>
                <a:prstClr val="black"/>
              </a:solidFill>
              <a:latin typeface="Microsoft YaHei UI"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9"/>
          <a:stretch>
            <a:fillRect/>
          </a:stretch>
        </p:blipFill>
        <p:spPr>
          <a:xfrm>
            <a:off x="6944326" y="4563683"/>
            <a:ext cx="2764940" cy="1972442"/>
          </a:xfrm>
          <a:prstGeom prst="rect">
            <a:avLst/>
          </a:prstGeom>
        </p:spPr>
      </p:pic>
    </p:spTree>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9"/>
            <a:ext cx="5639603"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递归：减少思维量</a:t>
            </a:r>
          </a:p>
        </p:txBody>
      </p:sp>
      <p:pic>
        <p:nvPicPr>
          <p:cNvPr id="5" name="图片 4"/>
          <p:cNvPicPr>
            <a:picLocks noChangeAspect="1"/>
          </p:cNvPicPr>
          <p:nvPr/>
        </p:nvPicPr>
        <p:blipFill>
          <a:blip r:embed="rId2"/>
          <a:stretch>
            <a:fillRect/>
          </a:stretch>
        </p:blipFill>
        <p:spPr>
          <a:xfrm>
            <a:off x="1607949" y="2133604"/>
            <a:ext cx="4956125" cy="1669999"/>
          </a:xfrm>
          <a:prstGeom prst="rect">
            <a:avLst/>
          </a:prstGeom>
          <a:ln>
            <a:noFill/>
          </a:ln>
          <a:effectLst>
            <a:outerShdw blurRad="190500" algn="tl" rotWithShape="0">
              <a:srgbClr val="000000">
                <a:alpha val="70000"/>
              </a:srgbClr>
            </a:outerShdw>
          </a:effectLst>
        </p:spPr>
      </p:pic>
      <p:sp>
        <p:nvSpPr>
          <p:cNvPr id="6" name="文本框 5"/>
          <p:cNvSpPr txBox="1"/>
          <p:nvPr/>
        </p:nvSpPr>
        <p:spPr>
          <a:xfrm>
            <a:off x="1770860" y="1366349"/>
            <a:ext cx="3373821" cy="461665"/>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经典款：斐波那契数列</a:t>
            </a:r>
          </a:p>
        </p:txBody>
      </p:sp>
      <p:sp>
        <p:nvSpPr>
          <p:cNvPr id="7" name="文本框 6"/>
          <p:cNvSpPr txBox="1"/>
          <p:nvPr/>
        </p:nvSpPr>
        <p:spPr>
          <a:xfrm>
            <a:off x="6648157" y="1366345"/>
            <a:ext cx="4019847" cy="1569660"/>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运用数学里“数学归纳法”的思想；</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重点是确定递归终止条件。</a:t>
            </a:r>
          </a:p>
        </p:txBody>
      </p:sp>
    </p:spTree>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9"/>
            <a:ext cx="5639603"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递归：减少思维量</a:t>
            </a:r>
          </a:p>
        </p:txBody>
      </p:sp>
      <p:sp>
        <p:nvSpPr>
          <p:cNvPr id="6" name="文本框 5"/>
          <p:cNvSpPr txBox="1"/>
          <p:nvPr/>
        </p:nvSpPr>
        <p:spPr>
          <a:xfrm>
            <a:off x="1770860" y="1366349"/>
            <a:ext cx="3373821" cy="461665"/>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经典款：斐波那契数列</a:t>
            </a:r>
          </a:p>
        </p:txBody>
      </p:sp>
      <p:pic>
        <p:nvPicPr>
          <p:cNvPr id="3" name="图片 2"/>
          <p:cNvPicPr>
            <a:picLocks noChangeAspect="1"/>
          </p:cNvPicPr>
          <p:nvPr/>
        </p:nvPicPr>
        <p:blipFill>
          <a:blip r:embed="rId2"/>
          <a:stretch>
            <a:fillRect/>
          </a:stretch>
        </p:blipFill>
        <p:spPr>
          <a:xfrm>
            <a:off x="3990515" y="2063510"/>
            <a:ext cx="4505459" cy="4505459"/>
          </a:xfrm>
          <a:prstGeom prst="rect">
            <a:avLst/>
          </a:prstGeom>
        </p:spPr>
      </p:pic>
    </p:spTree>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9"/>
            <a:ext cx="5639603"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递归：减少思维量</a:t>
            </a:r>
          </a:p>
        </p:txBody>
      </p:sp>
      <p:sp>
        <p:nvSpPr>
          <p:cNvPr id="6" name="文本框 5"/>
          <p:cNvSpPr txBox="1"/>
          <p:nvPr/>
        </p:nvSpPr>
        <p:spPr>
          <a:xfrm>
            <a:off x="1770860" y="1366350"/>
            <a:ext cx="3373821" cy="461665"/>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求解函数值</a:t>
            </a:r>
          </a:p>
        </p:txBody>
      </p:sp>
      <p:sp>
        <p:nvSpPr>
          <p:cNvPr id="7" name="文本框 6"/>
          <p:cNvSpPr txBox="1"/>
          <p:nvPr/>
        </p:nvSpPr>
        <p:spPr>
          <a:xfrm>
            <a:off x="6401301" y="289033"/>
            <a:ext cx="4019847" cy="1569660"/>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运用数学里“数学归纳法”的思想；</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重点是确定递归终止条件。</a:t>
            </a:r>
          </a:p>
        </p:txBody>
      </p:sp>
      <p:pic>
        <p:nvPicPr>
          <p:cNvPr id="8" name="图片 7"/>
          <p:cNvPicPr>
            <a:picLocks noChangeAspect="1"/>
          </p:cNvPicPr>
          <p:nvPr/>
        </p:nvPicPr>
        <p:blipFill>
          <a:blip r:embed="rId2"/>
          <a:stretch>
            <a:fillRect/>
          </a:stretch>
        </p:blipFill>
        <p:spPr>
          <a:xfrm>
            <a:off x="1707799" y="2263868"/>
            <a:ext cx="3962537" cy="2435639"/>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rotWithShape="1">
          <a:blip r:embed="rId3"/>
          <a:srcRect l="3212" r="-1"/>
          <a:stretch>
            <a:fillRect/>
          </a:stretch>
        </p:blipFill>
        <p:spPr>
          <a:xfrm>
            <a:off x="5996153" y="2410167"/>
            <a:ext cx="4424992" cy="186543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70694" y="289039"/>
            <a:ext cx="5639603" cy="584775"/>
          </a:xfrm>
          <a:prstGeom prst="rect">
            <a:avLst/>
          </a:prstGeom>
          <a:noFill/>
        </p:spPr>
        <p:txBody>
          <a:bodyPr wrap="square" rtlCol="0">
            <a:spAutoFit/>
          </a:bodyPr>
          <a:lstStyle/>
          <a:p>
            <a:pPr eaLnBrk="0" fontAlgn="base" hangingPunct="0">
              <a:spcBef>
                <a:spcPct val="0"/>
              </a:spcBef>
              <a:spcAft>
                <a:spcPct val="0"/>
              </a:spcAft>
            </a:pPr>
            <a:r>
              <a:rPr lang="zh-CN" altLang="en-US" sz="3200" dirty="0">
                <a:solidFill>
                  <a:prstClr val="black"/>
                </a:solidFill>
                <a:latin typeface="Microsoft YaHei UI" panose="020B0503020204020204" pitchFamily="34" charset="-122"/>
                <a:ea typeface="微软雅黑" panose="020B0503020204020204" pitchFamily="34" charset="-122"/>
              </a:rPr>
              <a:t>递归：减少思维量</a:t>
            </a:r>
          </a:p>
        </p:txBody>
      </p:sp>
      <p:sp>
        <p:nvSpPr>
          <p:cNvPr id="6" name="文本框 5"/>
          <p:cNvSpPr txBox="1"/>
          <p:nvPr/>
        </p:nvSpPr>
        <p:spPr>
          <a:xfrm>
            <a:off x="1891729" y="873809"/>
            <a:ext cx="3373821" cy="523220"/>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Microsoft YaHei UI" panose="020B0503020204020204" pitchFamily="34" charset="-122"/>
                <a:ea typeface="微软雅黑" panose="020B0503020204020204" pitchFamily="34" charset="-122"/>
              </a:rPr>
              <a:t> </a:t>
            </a:r>
            <a:r>
              <a:rPr lang="zh-CN" altLang="en-US" sz="2800" dirty="0">
                <a:solidFill>
                  <a:prstClr val="black"/>
                </a:solidFill>
                <a:latin typeface="Microsoft YaHei UI" panose="020B0503020204020204" pitchFamily="34" charset="-122"/>
                <a:ea typeface="微软雅黑" panose="020B0503020204020204" pitchFamily="34" charset="-122"/>
              </a:rPr>
              <a:t>汉诺塔</a:t>
            </a:r>
          </a:p>
        </p:txBody>
      </p:sp>
      <p:sp>
        <p:nvSpPr>
          <p:cNvPr id="7" name="文本框 6"/>
          <p:cNvSpPr txBox="1"/>
          <p:nvPr/>
        </p:nvSpPr>
        <p:spPr>
          <a:xfrm>
            <a:off x="7685933" y="448605"/>
            <a:ext cx="4019847" cy="830997"/>
          </a:xfrm>
          <a:prstGeom prst="rect">
            <a:avLst/>
          </a:prstGeom>
          <a:noFill/>
        </p:spPr>
        <p:txBody>
          <a:bodyPr wrap="square" rtlCol="0">
            <a:spAutoFit/>
          </a:bodyPr>
          <a:lstStyle/>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1.</a:t>
            </a:r>
            <a:r>
              <a:rPr lang="zh-CN" altLang="en-US" sz="2400" dirty="0">
                <a:solidFill>
                  <a:prstClr val="black"/>
                </a:solidFill>
                <a:latin typeface="Microsoft YaHei UI" panose="020B0503020204020204" pitchFamily="34" charset="-122"/>
                <a:ea typeface="微软雅黑" panose="020B0503020204020204" pitchFamily="34" charset="-122"/>
              </a:rPr>
              <a:t>注意终止条件</a:t>
            </a:r>
            <a:endParaRPr lang="en-US" altLang="zh-CN" sz="2400" dirty="0">
              <a:solidFill>
                <a:prstClr val="black"/>
              </a:solidFill>
              <a:latin typeface="Microsoft YaHei UI" panose="020B0503020204020204" pitchFamily="34" charset="-122"/>
              <a:ea typeface="微软雅黑" panose="020B0503020204020204" pitchFamily="34" charset="-122"/>
            </a:endParaRPr>
          </a:p>
          <a:p>
            <a:pPr eaLnBrk="0" fontAlgn="base" hangingPunct="0">
              <a:spcBef>
                <a:spcPct val="0"/>
              </a:spcBef>
              <a:spcAft>
                <a:spcPct val="0"/>
              </a:spcAft>
            </a:pPr>
            <a:r>
              <a:rPr lang="en-US" altLang="zh-CN" sz="2400" dirty="0">
                <a:solidFill>
                  <a:prstClr val="black"/>
                </a:solidFill>
                <a:latin typeface="Microsoft YaHei UI" panose="020B0503020204020204" pitchFamily="34" charset="-122"/>
                <a:ea typeface="微软雅黑" panose="020B0503020204020204" pitchFamily="34" charset="-122"/>
              </a:rPr>
              <a:t>2.</a:t>
            </a:r>
            <a:r>
              <a:rPr lang="zh-CN" altLang="en-US" sz="2400" dirty="0">
                <a:solidFill>
                  <a:prstClr val="black"/>
                </a:solidFill>
                <a:latin typeface="Microsoft YaHei UI" panose="020B0503020204020204" pitchFamily="34" charset="-122"/>
                <a:ea typeface="微软雅黑" panose="020B0503020204020204" pitchFamily="34" charset="-122"/>
              </a:rPr>
              <a:t>过程是“肉夹馍”</a:t>
            </a:r>
            <a:endParaRPr lang="en-US" altLang="zh-CN" sz="2400" dirty="0">
              <a:solidFill>
                <a:prstClr val="black"/>
              </a:solidFill>
              <a:latin typeface="Microsoft YaHei UI"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1662920" y="1408391"/>
            <a:ext cx="6023013" cy="5160579"/>
          </a:xfrm>
          <a:prstGeom prst="rect">
            <a:avLst/>
          </a:prstGeom>
          <a:ln>
            <a:noFill/>
          </a:ln>
          <a:effectLst>
            <a:outerShdw blurRad="292100" dist="139700" dir="2700000" algn="tl" rotWithShape="0">
              <a:srgbClr val="333333">
                <a:alpha val="65000"/>
              </a:srgbClr>
            </a:outerShdw>
          </a:effectLst>
        </p:spPr>
      </p:pic>
      <p:pic>
        <p:nvPicPr>
          <p:cNvPr id="4" name="图片 3"/>
          <p:cNvPicPr>
            <a:picLocks noChangeAspect="1"/>
          </p:cNvPicPr>
          <p:nvPr/>
        </p:nvPicPr>
        <p:blipFill>
          <a:blip r:embed="rId3"/>
          <a:stretch>
            <a:fillRect/>
          </a:stretch>
        </p:blipFill>
        <p:spPr>
          <a:xfrm>
            <a:off x="7849633" y="1866821"/>
            <a:ext cx="2624404" cy="4243717"/>
          </a:xfrm>
          <a:prstGeom prst="rect">
            <a:avLst/>
          </a:prstGeom>
        </p:spPr>
      </p:pic>
    </p:spTree>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6E73F-3F4D-FBFE-3095-71C54255BD55}"/>
              </a:ext>
            </a:extLst>
          </p:cNvPr>
          <p:cNvSpPr txBox="1">
            <a:spLocks/>
          </p:cNvSpPr>
          <p:nvPr/>
        </p:nvSpPr>
        <p:spPr>
          <a:xfrm>
            <a:off x="2026285" y="225426"/>
            <a:ext cx="8138160" cy="678815"/>
          </a:xfrm>
        </p:spPr>
        <p:txBody>
          <a:bodyPr/>
          <a:lstStyle>
            <a:lvl1pPr algn="ctr" defTabSz="913130" rtl="0" fontAlgn="base">
              <a:spcBef>
                <a:spcPct val="0"/>
              </a:spcBef>
              <a:spcAft>
                <a:spcPct val="0"/>
              </a:spcAft>
              <a:defRPr sz="4400" kern="1200">
                <a:solidFill>
                  <a:schemeClr val="tx1"/>
                </a:solidFill>
                <a:latin typeface="+mj-lt"/>
                <a:ea typeface="+mj-ea"/>
                <a:cs typeface="+mj-cs"/>
              </a:defRPr>
            </a:lvl1pPr>
            <a:lvl2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2pPr>
            <a:lvl3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3pPr>
            <a:lvl4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4pPr>
            <a:lvl5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5pPr>
            <a:lvl6pPr marL="4572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6pPr>
            <a:lvl7pPr marL="9144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7pPr>
            <a:lvl8pPr marL="13716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8pPr>
            <a:lvl9pPr marL="18288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9pPr>
          </a:lstStyle>
          <a:p>
            <a:pPr algn="l">
              <a:defRPr/>
            </a:pPr>
            <a:r>
              <a:rPr lang="zh-CN" altLang="en-US" sz="2800" dirty="0">
                <a:solidFill>
                  <a:prstClr val="black"/>
                </a:solidFill>
                <a:latin typeface="Microsoft YaHei UI"/>
                <a:ea typeface="微软雅黑"/>
              </a:rPr>
              <a:t>例题</a:t>
            </a:r>
          </a:p>
        </p:txBody>
      </p:sp>
      <p:sp>
        <p:nvSpPr>
          <p:cNvPr id="3" name="文本框 2">
            <a:extLst>
              <a:ext uri="{FF2B5EF4-FFF2-40B4-BE49-F238E27FC236}">
                <a16:creationId xmlns:a16="http://schemas.microsoft.com/office/drawing/2014/main" id="{00D940A3-B35F-E9F6-13F7-532BBE8320D3}"/>
              </a:ext>
            </a:extLst>
          </p:cNvPr>
          <p:cNvSpPr txBox="1"/>
          <p:nvPr/>
        </p:nvSpPr>
        <p:spPr>
          <a:xfrm>
            <a:off x="2590801" y="1295400"/>
            <a:ext cx="5007429" cy="4939814"/>
          </a:xfrm>
          <a:prstGeom prst="rect">
            <a:avLst/>
          </a:prstGeom>
          <a:noFill/>
        </p:spPr>
        <p:txBody>
          <a:bodyPr wrap="square" rtlCol="0">
            <a:spAutoFit/>
          </a:bodyPr>
          <a:lstStyle/>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1.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若有以下定义和语句，且0≤i&lt;10，则对数组元素的错误引用是（C）。</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algn="just">
              <a:lnSpc>
                <a:spcPct val="125000"/>
              </a:lnSpc>
            </a:pPr>
            <a:r>
              <a:rPr lang="en-US" altLang="zh-CN" b="1" kern="100" dirty="0">
                <a:solidFill>
                  <a:prstClr val="black"/>
                </a:solidFill>
                <a:latin typeface="宋体" panose="02010600030101010101" pitchFamily="2" charset="-122"/>
                <a:ea typeface="宋体" panose="02010600030101010101" pitchFamily="2" charset="-122"/>
                <a:cs typeface="宋体" panose="02010600030101010101" pitchFamily="2" charset="-122"/>
              </a:rPr>
              <a:t>int a[10]={1,2,3,4,5,6,7,8,9,10},*</a:t>
            </a:r>
            <a:r>
              <a:rPr lang="en-US" altLang="zh-CN" b="1" kern="100" dirty="0" err="1">
                <a:solidFill>
                  <a:prstClr val="black"/>
                </a:solidFill>
                <a:latin typeface="宋体" panose="02010600030101010101" pitchFamily="2" charset="-122"/>
                <a:ea typeface="宋体" panose="02010600030101010101" pitchFamily="2" charset="-122"/>
                <a:cs typeface="宋体" panose="02010600030101010101" pitchFamily="2" charset="-122"/>
              </a:rPr>
              <a:t>p,i</a:t>
            </a:r>
            <a:r>
              <a:rPr lang="en-US" altLang="zh-CN" b="1" kern="100" dirty="0">
                <a:solidFill>
                  <a:prstClr val="black"/>
                </a:solidFill>
                <a:latin typeface="宋体" panose="02010600030101010101" pitchFamily="2" charset="-122"/>
                <a:ea typeface="宋体" panose="02010600030101010101" pitchFamily="2" charset="-122"/>
                <a:cs typeface="宋体" panose="02010600030101010101" pitchFamily="2" charset="-122"/>
              </a:rPr>
              <a:t>;	p=a;</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 *(</a:t>
            </a:r>
            <a:r>
              <a:rPr lang="en-US" altLang="zh-CN" kern="100" dirty="0" err="1">
                <a:solidFill>
                  <a:prstClr val="black"/>
                </a:solidFill>
                <a:latin typeface="宋体" panose="02010600030101010101" pitchFamily="2" charset="-122"/>
                <a:ea typeface="宋体" panose="02010600030101010101" pitchFamily="2" charset="-122"/>
                <a:cs typeface="Times New Roman" panose="02020603050405020304" pitchFamily="18" charset="0"/>
              </a:rPr>
              <a:t>a+i</a:t>
            </a: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B. a[p-a]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C. </a:t>
            </a:r>
            <a:r>
              <a:rPr lang="en-US" altLang="zh-CN" kern="100" dirty="0" err="1">
                <a:solidFill>
                  <a:prstClr val="black"/>
                </a:solidFill>
                <a:latin typeface="宋体" panose="02010600030101010101" pitchFamily="2" charset="-122"/>
                <a:ea typeface="宋体" panose="02010600030101010101" pitchFamily="2" charset="-122"/>
                <a:cs typeface="Times New Roman" panose="02020603050405020304" pitchFamily="18" charset="0"/>
              </a:rPr>
              <a:t>p+i</a:t>
            </a: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88265"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D. *(&amp;a[</a:t>
            </a:r>
            <a:r>
              <a:rPr lang="en-US" altLang="zh-CN" kern="100" dirty="0" err="1">
                <a:solidFill>
                  <a:prstClr val="black"/>
                </a:solidFill>
                <a:latin typeface="宋体" panose="02010600030101010101" pitchFamily="2" charset="-122"/>
                <a:ea typeface="宋体" panose="02010600030101010101" pitchFamily="2" charset="-122"/>
                <a:cs typeface="Times New Roman" panose="02020603050405020304" pitchFamily="18" charset="0"/>
              </a:rPr>
              <a:t>i</a:t>
            </a:r>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2. </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关于指针下面说法错误的是（C）</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gn="just">
              <a:buFont typeface="+mj-lt"/>
              <a:buAutoNum type="alphaUcPeriod"/>
            </a:pP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每个变量都有地址（即指针），指针变量用于存放其他变量的地址。</a:t>
            </a:r>
          </a:p>
          <a:p>
            <a:pPr marL="342900" indent="-342900" algn="just">
              <a:buFont typeface="+mj-lt"/>
              <a:buAutoNum type="alphaUcPeriod"/>
            </a:pP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指针变量与普通变量一样，要先定义后使用。</a:t>
            </a:r>
          </a:p>
          <a:p>
            <a:pPr marL="342900" indent="-342900" algn="just">
              <a:buFont typeface="+mj-lt"/>
              <a:buAutoNum type="alphaUcPeriod"/>
            </a:pP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建立指针变量可以通过：指针变量</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变量；来完成。</a:t>
            </a:r>
          </a:p>
          <a:p>
            <a:pPr marL="342900" indent="-342900" algn="just">
              <a:buFont typeface="+mj-lt"/>
              <a:buAutoNum type="alphaUcPeriod"/>
            </a:pP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变量的访问，“</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指针变量”表示指针变量所指向的变量。</a:t>
            </a:r>
          </a:p>
          <a:p>
            <a:pPr marL="270510" indent="88265" algn="just"/>
            <a:endPar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57874932"/>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6E73F-3F4D-FBFE-3095-71C54255BD55}"/>
              </a:ext>
            </a:extLst>
          </p:cNvPr>
          <p:cNvSpPr txBox="1">
            <a:spLocks/>
          </p:cNvSpPr>
          <p:nvPr/>
        </p:nvSpPr>
        <p:spPr>
          <a:xfrm>
            <a:off x="2026285" y="225426"/>
            <a:ext cx="8138160" cy="678815"/>
          </a:xfrm>
        </p:spPr>
        <p:txBody>
          <a:bodyPr/>
          <a:lstStyle>
            <a:lvl1pPr algn="ctr" defTabSz="913130" rtl="0" fontAlgn="base">
              <a:spcBef>
                <a:spcPct val="0"/>
              </a:spcBef>
              <a:spcAft>
                <a:spcPct val="0"/>
              </a:spcAft>
              <a:defRPr sz="4400" kern="1200">
                <a:solidFill>
                  <a:schemeClr val="tx1"/>
                </a:solidFill>
                <a:latin typeface="+mj-lt"/>
                <a:ea typeface="+mj-ea"/>
                <a:cs typeface="+mj-cs"/>
              </a:defRPr>
            </a:lvl1pPr>
            <a:lvl2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2pPr>
            <a:lvl3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3pPr>
            <a:lvl4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4pPr>
            <a:lvl5pPr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5pPr>
            <a:lvl6pPr marL="4572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6pPr>
            <a:lvl7pPr marL="9144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7pPr>
            <a:lvl8pPr marL="13716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8pPr>
            <a:lvl9pPr marL="1828800" algn="ctr" defTabSz="913130" rtl="0" fontAlgn="base">
              <a:spcBef>
                <a:spcPct val="0"/>
              </a:spcBef>
              <a:spcAft>
                <a:spcPct val="0"/>
              </a:spcAft>
              <a:defRPr sz="4400">
                <a:solidFill>
                  <a:schemeClr val="tx1"/>
                </a:solidFill>
                <a:latin typeface="Microsoft YaHei UI" panose="020B0503020204020204" pitchFamily="34" charset="-122"/>
                <a:ea typeface="微软雅黑" panose="020B0503020204020204" pitchFamily="34" charset="-122"/>
              </a:defRPr>
            </a:lvl9pPr>
          </a:lstStyle>
          <a:p>
            <a:pPr algn="l">
              <a:defRPr/>
            </a:pPr>
            <a:r>
              <a:rPr lang="zh-CN" altLang="en-US" sz="2800" dirty="0">
                <a:solidFill>
                  <a:prstClr val="black"/>
                </a:solidFill>
                <a:latin typeface="Microsoft YaHei UI"/>
                <a:ea typeface="微软雅黑"/>
              </a:rPr>
              <a:t>例题</a:t>
            </a:r>
          </a:p>
        </p:txBody>
      </p:sp>
      <p:sp>
        <p:nvSpPr>
          <p:cNvPr id="3" name="文本框 2">
            <a:extLst>
              <a:ext uri="{FF2B5EF4-FFF2-40B4-BE49-F238E27FC236}">
                <a16:creationId xmlns:a16="http://schemas.microsoft.com/office/drawing/2014/main" id="{00D940A3-B35F-E9F6-13F7-532BBE8320D3}"/>
              </a:ext>
            </a:extLst>
          </p:cNvPr>
          <p:cNvSpPr txBox="1"/>
          <p:nvPr/>
        </p:nvSpPr>
        <p:spPr>
          <a:xfrm>
            <a:off x="2590801" y="1295401"/>
            <a:ext cx="5007429" cy="4524315"/>
          </a:xfrm>
          <a:prstGeom prst="rect">
            <a:avLst/>
          </a:prstGeom>
          <a:noFill/>
        </p:spPr>
        <p:txBody>
          <a:bodyPr wrap="square" rtlCol="0">
            <a:spAutoFit/>
          </a:bodyPr>
          <a:lstStyle/>
          <a:p>
            <a:pPr marL="342900" indent="-342900" algn="just">
              <a:buFont typeface="+mj-lt"/>
              <a:buAutoNum type="arabicPeriod"/>
            </a:pP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有以下程序片段，请问执行后的输出结果是( D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int </a:t>
            </a:r>
            <a:r>
              <a:rPr lang="en-US" altLang="zh-CN" kern="100" dirty="0" err="1">
                <a:solidFill>
                  <a:prstClr val="black"/>
                </a:solidFill>
                <a:latin typeface="宋体" panose="02010600030101010101" pitchFamily="2" charset="-122"/>
                <a:ea typeface="宋体" panose="02010600030101010101" pitchFamily="2" charset="-122"/>
                <a:cs typeface="宋体" panose="02010600030101010101" pitchFamily="2" charset="-122"/>
              </a:rPr>
              <a:t>i</a:t>
            </a:r>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for (</a:t>
            </a:r>
            <a:r>
              <a:rPr lang="en-US" altLang="zh-CN" kern="100" dirty="0" err="1">
                <a:solidFill>
                  <a:prstClr val="black"/>
                </a:solidFill>
                <a:latin typeface="宋体" panose="02010600030101010101" pitchFamily="2" charset="-122"/>
                <a:ea typeface="宋体" panose="02010600030101010101" pitchFamily="2" charset="-122"/>
                <a:cs typeface="宋体" panose="02010600030101010101" pitchFamily="2" charset="-122"/>
              </a:rPr>
              <a:t>i</a:t>
            </a:r>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=1;;</a:t>
            </a:r>
            <a:r>
              <a:rPr lang="en-US" altLang="zh-CN" kern="100" dirty="0" err="1">
                <a:solidFill>
                  <a:prstClr val="black"/>
                </a:solidFill>
                <a:latin typeface="宋体" panose="02010600030101010101" pitchFamily="2" charset="-122"/>
                <a:ea typeface="宋体" panose="02010600030101010101" pitchFamily="2" charset="-122"/>
                <a:cs typeface="宋体" panose="02010600030101010101" pitchFamily="2" charset="-122"/>
              </a:rPr>
              <a:t>i</a:t>
            </a:r>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err="1">
                <a:solidFill>
                  <a:prstClr val="black"/>
                </a:solidFill>
                <a:latin typeface="宋体" panose="02010600030101010101" pitchFamily="2" charset="-122"/>
                <a:ea typeface="宋体" panose="02010600030101010101" pitchFamily="2" charset="-122"/>
                <a:cs typeface="宋体" panose="02010600030101010101" pitchFamily="2" charset="-122"/>
              </a:rPr>
              <a:t>printf</a:t>
            </a:r>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(“%d”,</a:t>
            </a:r>
            <a:r>
              <a:rPr lang="en-US" altLang="zh-CN" kern="100" dirty="0" err="1">
                <a:solidFill>
                  <a:prstClr val="black"/>
                </a:solidFill>
                <a:latin typeface="宋体" panose="02010600030101010101" pitchFamily="2" charset="-122"/>
                <a:ea typeface="宋体" panose="02010600030101010101" pitchFamily="2" charset="-122"/>
                <a:cs typeface="宋体" panose="02010600030101010101" pitchFamily="2" charset="-122"/>
              </a:rPr>
              <a:t>i</a:t>
            </a:r>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A.1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B.2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C.3   </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marL="270510" indent="266700" algn="just"/>
            <a:r>
              <a:rPr lang="en-US" altLang="zh-CN" kern="100" dirty="0">
                <a:solidFill>
                  <a:prstClr val="black"/>
                </a:solidFill>
                <a:latin typeface="宋体" panose="02010600030101010101" pitchFamily="2" charset="-122"/>
                <a:ea typeface="宋体" panose="02010600030101010101" pitchFamily="2" charset="-122"/>
                <a:cs typeface="宋体" panose="02010600030101010101" pitchFamily="2" charset="-122"/>
              </a:rPr>
              <a:t>D.</a:t>
            </a:r>
            <a:r>
              <a:rPr lang="zh-CN" altLang="zh-CN" kern="100" dirty="0">
                <a:solidFill>
                  <a:prstClr val="black"/>
                </a:solidFill>
                <a:latin typeface="Calibri" panose="020F0502020204030204" pitchFamily="34" charset="0"/>
                <a:ea typeface="宋体" panose="02010600030101010101" pitchFamily="2" charset="-122"/>
                <a:cs typeface="宋体" panose="02010600030101010101" pitchFamily="2" charset="-122"/>
              </a:rPr>
              <a:t>陷入死循环，无输出结果</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b="1" kern="100">
                <a:solidFill>
                  <a:prstClr val="black"/>
                </a:solidFill>
                <a:latin typeface="Calibri" panose="020F0502020204030204" pitchFamily="34" charset="0"/>
                <a:ea typeface="宋体" panose="02010600030101010101" pitchFamily="2" charset="-122"/>
                <a:cs typeface="宋体" panose="02010600030101010101" pitchFamily="2" charset="-122"/>
              </a:rPr>
              <a:t>2.    </a:t>
            </a:r>
            <a:r>
              <a:rPr lang="zh-CN" altLang="zh-CN" b="1" kern="100">
                <a:solidFill>
                  <a:prstClr val="black"/>
                </a:solidFill>
                <a:latin typeface="Calibri" panose="020F0502020204030204" pitchFamily="34" charset="0"/>
                <a:ea typeface="宋体" panose="02010600030101010101" pitchFamily="2" charset="-122"/>
                <a:cs typeface="宋体" panose="02010600030101010101" pitchFamily="2" charset="-122"/>
              </a:rPr>
              <a:t>有</a:t>
            </a:r>
            <a:r>
              <a:rPr lang="zh-CN" altLang="zh-CN" b="1" kern="100" dirty="0">
                <a:solidFill>
                  <a:prstClr val="black"/>
                </a:solidFill>
                <a:latin typeface="Calibri" panose="020F0502020204030204" pitchFamily="34" charset="0"/>
                <a:ea typeface="宋体" panose="02010600030101010101" pitchFamily="2" charset="-122"/>
                <a:cs typeface="宋体" panose="02010600030101010101" pitchFamily="2" charset="-122"/>
              </a:rPr>
              <a:t>以下程序段 int k=0; while(k=1) k++; while循环执行的次数是（A）</a:t>
            </a:r>
            <a:endPar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A.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无限次</a:t>
            </a:r>
          </a:p>
          <a:p>
            <a:pPr indent="266700"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B.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有语法错，不能执行</a:t>
            </a:r>
          </a:p>
          <a:p>
            <a:pPr indent="266700"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C.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一次也不执行</a:t>
            </a:r>
          </a:p>
          <a:p>
            <a:pPr indent="266700" algn="just"/>
            <a:r>
              <a:rPr lang="en-US" altLang="zh-CN" kern="100" dirty="0">
                <a:solidFill>
                  <a:prstClr val="black"/>
                </a:solidFill>
                <a:latin typeface="宋体" panose="02010600030101010101" pitchFamily="2" charset="-122"/>
                <a:ea typeface="宋体" panose="02010600030101010101" pitchFamily="2" charset="-122"/>
                <a:cs typeface="Times New Roman" panose="02020603050405020304" pitchFamily="18" charset="0"/>
              </a:rPr>
              <a:t>D. </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执行</a:t>
            </a:r>
            <a:r>
              <a:rPr lang="en-US"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1</a:t>
            </a:r>
            <a:r>
              <a:rPr lang="zh-CN" altLang="zh-CN" kern="100" dirty="0">
                <a:solidFill>
                  <a:prstClr val="black"/>
                </a:solidFill>
                <a:latin typeface="Calibri" panose="020F0502020204030204" pitchFamily="34" charset="0"/>
                <a:ea typeface="宋体" panose="02010600030101010101" pitchFamily="2" charset="-122"/>
                <a:cs typeface="Times New Roman" panose="02020603050405020304" pitchFamily="18" charset="0"/>
              </a:rPr>
              <a:t>次</a:t>
            </a:r>
          </a:p>
          <a:p>
            <a:pPr>
              <a:defRPr/>
            </a:pPr>
            <a:endParaRPr lang="zh-CN" altLang="en-US" dirty="0">
              <a:solidFill>
                <a:prstClr val="black"/>
              </a:solidFill>
              <a:latin typeface="Microsoft YaHei UI"/>
              <a:ea typeface="微软雅黑"/>
            </a:endParaRPr>
          </a:p>
        </p:txBody>
      </p:sp>
    </p:spTree>
    <p:extLst>
      <p:ext uri="{BB962C8B-B14F-4D97-AF65-F5344CB8AC3E}">
        <p14:creationId xmlns:p14="http://schemas.microsoft.com/office/powerpoint/2010/main" val="2450459588"/>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矩形 5"/>
          <p:cNvSpPr/>
          <p:nvPr/>
        </p:nvSpPr>
        <p:spPr>
          <a:xfrm>
            <a:off x="613574" y="2281146"/>
            <a:ext cx="10964851" cy="725238"/>
          </a:xfrm>
          <a:prstGeom prst="rect">
            <a:avLst/>
          </a:prstGeom>
          <a:solidFill>
            <a:srgbClr val="F7A5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4" name="TextBox 3"/>
          <p:cNvSpPr txBox="1"/>
          <p:nvPr/>
        </p:nvSpPr>
        <p:spPr>
          <a:xfrm>
            <a:off x="7256482" y="-419535"/>
            <a:ext cx="4020652" cy="7940635"/>
          </a:xfrm>
          <a:prstGeom prst="rect">
            <a:avLst/>
          </a:prstGeom>
          <a:noFill/>
          <a:effectLst>
            <a:outerShdw blurRad="165100" dist="76200" dir="1200000" algn="tl" rotWithShape="0">
              <a:prstClr val="black">
                <a:alpha val="10000"/>
              </a:prstClr>
            </a:outerShdw>
          </a:effectLst>
        </p:spPr>
        <p:txBody>
          <a:bodyPr wrap="none">
            <a:spAutoFit/>
          </a:bodyPr>
          <a:lstStyle/>
          <a:p>
            <a:pPr>
              <a:defRPr/>
            </a:pPr>
            <a:r>
              <a:rPr lang="en-US" sz="51000" dirty="0">
                <a:solidFill>
                  <a:prstClr val="white"/>
                </a:solidFill>
                <a:latin typeface="Microsoft YaHei UI" panose="020B0503020204020204" pitchFamily="34" charset="-122"/>
                <a:ea typeface="微软雅黑" panose="020B0503020204020204" pitchFamily="34" charset="-122"/>
                <a:cs typeface="+mn-ea"/>
                <a:sym typeface="+mn-lt"/>
              </a:rPr>
              <a:t>4</a:t>
            </a:r>
          </a:p>
        </p:txBody>
      </p:sp>
      <p:sp>
        <p:nvSpPr>
          <p:cNvPr id="5" name="矩形 4"/>
          <p:cNvSpPr/>
          <p:nvPr/>
        </p:nvSpPr>
        <p:spPr>
          <a:xfrm>
            <a:off x="1137315" y="2200192"/>
            <a:ext cx="3798205" cy="769441"/>
          </a:xfrm>
          <a:prstGeom prst="rect">
            <a:avLst/>
          </a:prstGeom>
        </p:spPr>
        <p:txBody>
          <a:bodyPr wrap="square">
            <a:spAutoFit/>
          </a:bodyPr>
          <a:lstStyle/>
          <a:p>
            <a:pPr>
              <a:defRPr/>
            </a:pPr>
            <a:r>
              <a:rPr lang="zh-CN" altLang="en-US" sz="4400" dirty="0">
                <a:latin typeface="黑体" panose="02010609060101010101" pitchFamily="49" charset="-122"/>
                <a:ea typeface="黑体" panose="02010609060101010101" pitchFamily="49" charset="-122"/>
                <a:cs typeface="+mn-ea"/>
                <a:sym typeface="+mn-lt"/>
              </a:rPr>
              <a:t>数组</a:t>
            </a:r>
          </a:p>
        </p:txBody>
      </p:sp>
      <p:sp>
        <p:nvSpPr>
          <p:cNvPr id="3" name="矩形 2"/>
          <p:cNvSpPr/>
          <p:nvPr/>
        </p:nvSpPr>
        <p:spPr>
          <a:xfrm>
            <a:off x="781516" y="1511705"/>
            <a:ext cx="6199591" cy="769441"/>
          </a:xfrm>
          <a:prstGeom prst="rect">
            <a:avLst/>
          </a:prstGeom>
        </p:spPr>
        <p:txBody>
          <a:bodyPr wrap="square">
            <a:spAutoFit/>
          </a:bodyPr>
          <a:lstStyle/>
          <a:p>
            <a:pPr>
              <a:defRPr/>
            </a:pPr>
            <a:r>
              <a:rPr lang="en-US" altLang="zh-CN" sz="4400" dirty="0">
                <a:latin typeface="Microsoft YaHei UI" panose="020B0503020204020204" pitchFamily="34" charset="-122"/>
                <a:ea typeface="Microsoft YaHei UI" panose="020B0503020204020204" pitchFamily="34" charset="-122"/>
                <a:cs typeface="+mn-ea"/>
                <a:sym typeface="+mn-lt"/>
              </a:rPr>
              <a:t>PART FOUR</a:t>
            </a:r>
          </a:p>
        </p:txBody>
      </p:sp>
      <p:sp>
        <p:nvSpPr>
          <p:cNvPr id="2" name="文本框 1"/>
          <p:cNvSpPr txBox="1"/>
          <p:nvPr/>
        </p:nvSpPr>
        <p:spPr>
          <a:xfrm>
            <a:off x="1137315" y="3170917"/>
            <a:ext cx="320721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effectLst/>
                <a:uLnTx/>
                <a:uFillTx/>
                <a:latin typeface="Calibri"/>
                <a:ea typeface="等线" panose="02010600030101010101" pitchFamily="2" charset="-122"/>
                <a:cs typeface="+mn-cs"/>
              </a:rPr>
              <a:t>1.</a:t>
            </a:r>
            <a:r>
              <a:rPr kumimoji="0" lang="zh-CN" altLang="en-US" sz="2400" b="0" i="0" u="none" strike="noStrike" kern="1200" cap="none" spc="0" normalizeH="0" baseline="0" noProof="0" dirty="0">
                <a:ln>
                  <a:noFill/>
                </a:ln>
                <a:effectLst/>
                <a:uLnTx/>
                <a:uFillTx/>
                <a:latin typeface="Calibri"/>
                <a:ea typeface="等线" panose="02010600030101010101" pitchFamily="2" charset="-122"/>
                <a:cs typeface="+mn-cs"/>
              </a:rPr>
              <a:t>指针</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effectLst/>
                <a:uLnTx/>
                <a:uFillTx/>
                <a:latin typeface="Calibri"/>
                <a:ea typeface="等线" panose="02010600030101010101" pitchFamily="2" charset="-122"/>
                <a:cs typeface="+mn-cs"/>
              </a:rPr>
              <a:t>2.</a:t>
            </a:r>
            <a:r>
              <a:rPr kumimoji="0" lang="zh-CN" altLang="en-US" sz="2400" b="0" i="0" u="none" strike="noStrike" kern="1200" cap="none" spc="0" normalizeH="0" baseline="0" noProof="0" dirty="0">
                <a:ln>
                  <a:noFill/>
                </a:ln>
                <a:effectLst/>
                <a:uLnTx/>
                <a:uFillTx/>
                <a:latin typeface="Calibri"/>
                <a:ea typeface="等线" panose="02010600030101010101" pitchFamily="2" charset="-122"/>
                <a:cs typeface="+mn-cs"/>
              </a:rPr>
              <a:t>字符串</a:t>
            </a:r>
          </a:p>
        </p:txBody>
      </p:sp>
    </p:spTree>
    <p:extLst>
      <p:ext uri="{BB962C8B-B14F-4D97-AF65-F5344CB8AC3E}">
        <p14:creationId xmlns:p14="http://schemas.microsoft.com/office/powerpoint/2010/main" val="3745974399"/>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63167" y="1067218"/>
            <a:ext cx="7459690" cy="1138773"/>
          </a:xfrm>
          <a:prstGeom prst="rect">
            <a:avLst/>
          </a:prstGeom>
          <a:noFill/>
        </p:spPr>
        <p:txBody>
          <a:bodyPr wrap="square" rtlCol="0">
            <a:spAutoFit/>
          </a:bodyPr>
          <a:lstStyle/>
          <a:p>
            <a:r>
              <a:rPr lang="zh-CN" altLang="en-US" sz="3200" dirty="0">
                <a:solidFill>
                  <a:srgbClr val="333333"/>
                </a:solidFill>
                <a:latin typeface="宋体" panose="02010600030101010101" pitchFamily="2" charset="-122"/>
                <a:ea typeface="宋体" panose="02010600030101010101" pitchFamily="2" charset="-122"/>
              </a:rPr>
              <a:t>学习</a:t>
            </a:r>
            <a:r>
              <a:rPr lang="en-US" altLang="zh-CN" sz="3200" dirty="0">
                <a:solidFill>
                  <a:srgbClr val="333333"/>
                </a:solidFill>
                <a:latin typeface="宋体" panose="02010600030101010101" pitchFamily="2" charset="-122"/>
                <a:ea typeface="宋体" panose="02010600030101010101" pitchFamily="2" charset="-122"/>
              </a:rPr>
              <a:t>C</a:t>
            </a:r>
            <a:r>
              <a:rPr lang="zh-CN" altLang="en-US" sz="3200" dirty="0">
                <a:solidFill>
                  <a:srgbClr val="333333"/>
                </a:solidFill>
                <a:latin typeface="宋体" panose="02010600030101010101" pitchFamily="2" charset="-122"/>
                <a:ea typeface="宋体" panose="02010600030101010101" pitchFamily="2" charset="-122"/>
              </a:rPr>
              <a:t>语言的指针</a:t>
            </a:r>
            <a:endParaRPr lang="en-US" altLang="zh-CN" sz="3200" dirty="0">
              <a:solidFill>
                <a:srgbClr val="333333"/>
              </a:solidFill>
              <a:latin typeface="宋体" panose="02010600030101010101" pitchFamily="2" charset="-122"/>
              <a:ea typeface="宋体" panose="02010600030101010101" pitchFamily="2" charset="-122"/>
            </a:endParaRPr>
          </a:p>
          <a:p>
            <a:r>
              <a:rPr lang="en-US" altLang="zh-CN" sz="3200" dirty="0">
                <a:solidFill>
                  <a:srgbClr val="333333"/>
                </a:solidFill>
                <a:latin typeface="宋体" panose="02010600030101010101" pitchFamily="2" charset="-122"/>
                <a:ea typeface="宋体" panose="02010600030101010101" pitchFamily="2" charset="-122"/>
              </a:rPr>
              <a:t>				——《</a:t>
            </a:r>
            <a:r>
              <a:rPr lang="zh-CN" altLang="en-US" sz="3200" dirty="0">
                <a:solidFill>
                  <a:srgbClr val="333333"/>
                </a:solidFill>
                <a:latin typeface="宋体" panose="02010600030101010101" pitchFamily="2" charset="-122"/>
                <a:ea typeface="宋体" panose="02010600030101010101" pitchFamily="2" charset="-122"/>
              </a:rPr>
              <a:t>菜鸟教程</a:t>
            </a:r>
            <a:r>
              <a:rPr lang="en-US" altLang="zh-CN" sz="3600" dirty="0">
                <a:solidFill>
                  <a:srgbClr val="333333"/>
                </a:solidFill>
                <a:latin typeface="宋体" panose="02010600030101010101" pitchFamily="2" charset="-122"/>
                <a:ea typeface="宋体" panose="02010600030101010101" pitchFamily="2" charset="-122"/>
              </a:rPr>
              <a:t>》</a:t>
            </a:r>
            <a:endParaRPr lang="zh-CN" altLang="en-US" sz="3600" dirty="0">
              <a:solidFill>
                <a:prstClr val="black"/>
              </a:solidFill>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63166" y="2475295"/>
            <a:ext cx="5829300" cy="3525456"/>
          </a:xfrm>
          <a:prstGeom prst="rect">
            <a:avLst/>
          </a:prstGeom>
        </p:spPr>
      </p:pic>
      <p:cxnSp>
        <p:nvCxnSpPr>
          <p:cNvPr id="7" name="直线连接符 6"/>
          <p:cNvCxnSpPr/>
          <p:nvPr/>
        </p:nvCxnSpPr>
        <p:spPr>
          <a:xfrm>
            <a:off x="3187862" y="3044865"/>
            <a:ext cx="1562582" cy="0"/>
          </a:xfrm>
          <a:prstGeom prst="line">
            <a:avLst/>
          </a:prstGeom>
        </p:spPr>
        <p:style>
          <a:lnRef idx="3">
            <a:schemeClr val="accent2"/>
          </a:lnRef>
          <a:fillRef idx="0">
            <a:schemeClr val="accent2"/>
          </a:fillRef>
          <a:effectRef idx="2">
            <a:schemeClr val="accent2"/>
          </a:effectRef>
          <a:fontRef idx="minor">
            <a:schemeClr val="tx1"/>
          </a:fontRef>
        </p:style>
      </p:cxnSp>
      <p:sp>
        <p:nvSpPr>
          <p:cNvPr id="4" name="文本框 3">
            <a:extLst>
              <a:ext uri="{FF2B5EF4-FFF2-40B4-BE49-F238E27FC236}">
                <a16:creationId xmlns:a16="http://schemas.microsoft.com/office/drawing/2014/main" id="{28638319-2D89-B1D8-124E-325F08EBD7C1}"/>
              </a:ext>
            </a:extLst>
          </p:cNvPr>
          <p:cNvSpPr txBox="1"/>
          <p:nvPr/>
        </p:nvSpPr>
        <p:spPr>
          <a:xfrm>
            <a:off x="6793012" y="968920"/>
            <a:ext cx="3251200" cy="646331"/>
          </a:xfrm>
          <a:prstGeom prst="rect">
            <a:avLst/>
          </a:prstGeom>
          <a:noFill/>
        </p:spPr>
        <p:txBody>
          <a:bodyPr wrap="square">
            <a:spAutoFit/>
          </a:bodyPr>
          <a:lstStyle/>
          <a:p>
            <a:r>
              <a:rPr lang="zh-CN" altLang="en-US" sz="3600" dirty="0">
                <a:solidFill>
                  <a:srgbClr val="333333"/>
                </a:solidFill>
                <a:latin typeface="宋体" panose="02010600030101010101" pitchFamily="2" charset="-122"/>
                <a:ea typeface="宋体" panose="02010600030101010101" pitchFamily="2" charset="-122"/>
              </a:rPr>
              <a:t>既简单又有趣。</a:t>
            </a:r>
            <a:endParaRPr lang="en-US" altLang="zh-CN" sz="3600" dirty="0">
              <a:solidFill>
                <a:srgbClr val="333333"/>
              </a:solidFill>
              <a:latin typeface="宋体" panose="02010600030101010101" pitchFamily="2" charset="-122"/>
              <a:ea typeface="宋体" panose="02010600030101010101" pitchFamily="2" charset="-122"/>
            </a:endParaRPr>
          </a:p>
        </p:txBody>
      </p:sp>
      <p:sp>
        <p:nvSpPr>
          <p:cNvPr id="11" name="标题 4">
            <a:extLst>
              <a:ext uri="{FF2B5EF4-FFF2-40B4-BE49-F238E27FC236}">
                <a16:creationId xmlns:a16="http://schemas.microsoft.com/office/drawing/2014/main" id="{ED91C202-986B-F6FF-B939-794E0E74297B}"/>
              </a:ext>
            </a:extLst>
          </p:cNvPr>
          <p:cNvSpPr txBox="1">
            <a:spLocks/>
          </p:cNvSpPr>
          <p:nvPr/>
        </p:nvSpPr>
        <p:spPr>
          <a:xfrm>
            <a:off x="586334" y="214826"/>
            <a:ext cx="3881339"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333333"/>
                </a:solidFill>
                <a:latin typeface="黑体" panose="02010609060101010101" pitchFamily="49" charset="-122"/>
                <a:ea typeface="黑体" panose="02010609060101010101" pitchFamily="49" charset="-122"/>
              </a:rPr>
              <a:t>保留节目</a:t>
            </a:r>
            <a:endParaRPr lang="zh-CN" altLang="en-US" sz="3600" b="1"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cTn>
                              </p:par>
                              <p:par>
                                <p:cTn id="7" presetID="1" presetClass="emph" presetSubtype="2" fill="hold" nodeType="withEffect">
                                  <p:stCondLst>
                                    <p:cond delay="0"/>
                                  </p:stCondLst>
                                  <p:childTnLst>
                                    <p:animClr clrSpc="rgb" dir="cw">
                                      <p:cBhvr>
                                        <p:cTn id="8" dur="2000" fill="hold"/>
                                        <p:tgtEl>
                                          <p:spTgt spid="4"/>
                                        </p:tgtEl>
                                        <p:attrNameLst>
                                          <p:attrName>fillcolor</p:attrName>
                                        </p:attrNameLst>
                                      </p:cBhvr>
                                      <p:to>
                                        <a:schemeClr val="accent2"/>
                                      </p:to>
                                    </p:animClr>
                                    <p:set>
                                      <p:cBhvr>
                                        <p:cTn id="9" dur="2000" fill="hold"/>
                                        <p:tgtEl>
                                          <p:spTgt spid="4"/>
                                        </p:tgtEl>
                                        <p:attrNameLst>
                                          <p:attrName>fill.type</p:attrName>
                                        </p:attrNameLst>
                                      </p:cBhvr>
                                      <p:to>
                                        <p:strVal val="solid"/>
                                      </p:to>
                                    </p:set>
                                    <p:set>
                                      <p:cBhvr>
                                        <p:cTn id="10" dur="2000" fill="hold"/>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2537" y="330818"/>
            <a:ext cx="6265415" cy="5909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指针</a:t>
            </a:r>
            <a:r>
              <a:rPr lang="en-US" altLang="zh-CN" dirty="0"/>
              <a:t>–</a:t>
            </a:r>
            <a:r>
              <a:rPr lang="zh-CN" altLang="en-US" dirty="0"/>
              <a:t>简介、声明、赋值</a:t>
            </a:r>
          </a:p>
        </p:txBody>
      </p:sp>
      <p:sp>
        <p:nvSpPr>
          <p:cNvPr id="4" name="文本框 3"/>
          <p:cNvSpPr txBox="1"/>
          <p:nvPr/>
        </p:nvSpPr>
        <p:spPr>
          <a:xfrm>
            <a:off x="812800" y="921749"/>
            <a:ext cx="10900228" cy="5262979"/>
          </a:xfrm>
          <a:prstGeom prst="rect">
            <a:avLst/>
          </a:prstGeom>
          <a:noFill/>
        </p:spPr>
        <p:txBody>
          <a:bodyPr wrap="square" rtlCol="0">
            <a:spAutoFit/>
          </a:bodyPr>
          <a:lstStyle/>
          <a:p>
            <a:r>
              <a:rPr lang="zh-CN" altLang="en-US" sz="2400" dirty="0">
                <a:solidFill>
                  <a:srgbClr val="333333"/>
                </a:solidFill>
                <a:latin typeface="宋体" panose="02010600030101010101" pitchFamily="2" charset="-122"/>
                <a:ea typeface="宋体" panose="02010600030101010101" pitchFamily="2" charset="-122"/>
              </a:rPr>
              <a:t>每一个变量都储存在内存中，都有一个内存地址，</a:t>
            </a:r>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dirty="0">
                <a:solidFill>
                  <a:srgbClr val="333333"/>
                </a:solidFill>
                <a:latin typeface="宋体" panose="02010600030101010101" pitchFamily="2" charset="-122"/>
                <a:ea typeface="宋体" panose="02010600030101010101" pitchFamily="2" charset="-122"/>
              </a:rPr>
              <a:t>使用</a:t>
            </a:r>
            <a:r>
              <a:rPr lang="en-US" altLang="zh-CN" sz="2400" b="1" dirty="0">
                <a:solidFill>
                  <a:srgbClr val="333333"/>
                </a:solidFill>
                <a:latin typeface="宋体" panose="02010600030101010101" pitchFamily="2" charset="-122"/>
                <a:ea typeface="宋体" panose="02010600030101010101" pitchFamily="2" charset="-122"/>
              </a:rPr>
              <a:t>&amp;</a:t>
            </a:r>
            <a:r>
              <a:rPr lang="zh-CN" altLang="en-US" sz="2400" dirty="0">
                <a:solidFill>
                  <a:srgbClr val="333333"/>
                </a:solidFill>
                <a:latin typeface="宋体" panose="02010600030101010101" pitchFamily="2" charset="-122"/>
                <a:ea typeface="宋体" panose="02010600030101010101" pitchFamily="2" charset="-122"/>
              </a:rPr>
              <a:t>（寻址运算符）来获取一个变量的地址：</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int a = 233;</a:t>
            </a:r>
          </a:p>
          <a:p>
            <a:r>
              <a:rPr lang="en-US" altLang="zh-CN" sz="2400" dirty="0">
                <a:solidFill>
                  <a:srgbClr val="333333"/>
                </a:solidFill>
                <a:latin typeface="宋体" panose="02010600030101010101" pitchFamily="2" charset="-122"/>
                <a:ea typeface="宋体" panose="02010600030101010101" pitchFamily="2" charset="-122"/>
              </a:rPr>
              <a:t>&amp;a:</a:t>
            </a:r>
            <a:r>
              <a:rPr lang="en-GB" altLang="zh-CN" sz="2400" dirty="0">
                <a:solidFill>
                  <a:srgbClr val="333333"/>
                </a:solidFill>
                <a:latin typeface="宋体" panose="02010600030101010101" pitchFamily="2" charset="-122"/>
                <a:ea typeface="宋体" panose="02010600030101010101" pitchFamily="2" charset="-122"/>
              </a:rPr>
              <a:t>16fdff268</a:t>
            </a:r>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dirty="0">
                <a:solidFill>
                  <a:srgbClr val="333333"/>
                </a:solidFill>
                <a:latin typeface="宋体" panose="02010600030101010101" pitchFamily="2" charset="-122"/>
                <a:ea typeface="宋体" panose="02010600030101010101" pitchFamily="2" charset="-122"/>
              </a:rPr>
              <a:t>既然有地址，就有储存地址的变量，这就是指针。</a:t>
            </a:r>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b="1" dirty="0">
                <a:solidFill>
                  <a:srgbClr val="333333"/>
                </a:solidFill>
                <a:latin typeface="黑体" panose="02010609060101010101" pitchFamily="49" charset="-122"/>
                <a:ea typeface="黑体" panose="02010609060101010101" pitchFamily="49" charset="-122"/>
              </a:rPr>
              <a:t>声明</a:t>
            </a:r>
            <a:r>
              <a:rPr lang="en-US" altLang="zh-CN" sz="2400" b="1" dirty="0">
                <a:solidFill>
                  <a:srgbClr val="333333"/>
                </a:solidFill>
                <a:latin typeface="黑体" panose="02010609060101010101" pitchFamily="49" charset="-122"/>
                <a:ea typeface="黑体" panose="02010609060101010101" pitchFamily="49" charset="-122"/>
              </a:rPr>
              <a:t>:</a:t>
            </a:r>
          </a:p>
          <a:p>
            <a:r>
              <a:rPr lang="zh-CN" altLang="en-US" sz="2400" dirty="0">
                <a:solidFill>
                  <a:srgbClr val="333333"/>
                </a:solidFill>
                <a:latin typeface="宋体" panose="02010600030101010101" pitchFamily="2" charset="-122"/>
                <a:ea typeface="宋体" panose="02010600030101010101" pitchFamily="2" charset="-122"/>
              </a:rPr>
              <a:t>数据类型 </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指针变量名</a:t>
            </a:r>
            <a:r>
              <a:rPr lang="en-US" altLang="zh-CN" sz="2400" dirty="0">
                <a:solidFill>
                  <a:srgbClr val="333333"/>
                </a:solidFill>
                <a:latin typeface="宋体" panose="02010600030101010101" pitchFamily="2" charset="-122"/>
                <a:ea typeface="宋体" panose="02010600030101010101" pitchFamily="2" charset="-122"/>
              </a:rPr>
              <a:t>;</a:t>
            </a:r>
          </a:p>
          <a:p>
            <a:r>
              <a:rPr lang="en-US" altLang="zh-CN" sz="2400" dirty="0">
                <a:solidFill>
                  <a:srgbClr val="333333"/>
                </a:solidFill>
                <a:latin typeface="宋体" panose="02010600030101010101" pitchFamily="2" charset="-122"/>
                <a:ea typeface="宋体" panose="02010600030101010101" pitchFamily="2" charset="-122"/>
              </a:rPr>
              <a:t>int *p;</a:t>
            </a:r>
          </a:p>
          <a:p>
            <a:r>
              <a:rPr lang="zh-CN" altLang="en-US" sz="2400" dirty="0">
                <a:solidFill>
                  <a:srgbClr val="333333"/>
                </a:solidFill>
                <a:latin typeface="宋体" panose="02010600030101010101" pitchFamily="2" charset="-122"/>
                <a:ea typeface="宋体" panose="02010600030101010101" pitchFamily="2" charset="-122"/>
              </a:rPr>
              <a:t>这是一种新的数据类型，不是</a:t>
            </a:r>
            <a:r>
              <a:rPr lang="en-US" altLang="zh-CN" sz="2400" dirty="0">
                <a:solidFill>
                  <a:srgbClr val="333333"/>
                </a:solidFill>
                <a:latin typeface="宋体" panose="02010600030101010101" pitchFamily="2" charset="-122"/>
                <a:ea typeface="宋体" panose="02010600030101010101" pitchFamily="2" charset="-122"/>
              </a:rPr>
              <a:t>int</a:t>
            </a:r>
            <a:r>
              <a:rPr lang="zh-CN" altLang="en-US" sz="2400" dirty="0">
                <a:solidFill>
                  <a:srgbClr val="333333"/>
                </a:solidFill>
                <a:latin typeface="宋体" panose="02010600030101010101" pitchFamily="2" charset="-122"/>
                <a:ea typeface="宋体" panose="02010600030101010101" pitchFamily="2" charset="-122"/>
              </a:rPr>
              <a:t>，而是</a:t>
            </a:r>
            <a:r>
              <a:rPr lang="en-US" altLang="zh-CN" sz="2400" dirty="0">
                <a:solidFill>
                  <a:srgbClr val="333333"/>
                </a:solidFill>
                <a:latin typeface="宋体" panose="02010600030101010101" pitchFamily="2" charset="-122"/>
                <a:ea typeface="宋体" panose="02010600030101010101" pitchFamily="2" charset="-122"/>
              </a:rPr>
              <a:t>int* </a:t>
            </a:r>
          </a:p>
          <a:p>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由于习惯原因一般写成*</a:t>
            </a:r>
            <a:r>
              <a:rPr lang="en-US" altLang="zh-CN" sz="2400" dirty="0">
                <a:solidFill>
                  <a:srgbClr val="333333"/>
                </a:solidFill>
                <a:latin typeface="宋体" panose="02010600030101010101" pitchFamily="2" charset="-122"/>
                <a:ea typeface="宋体" panose="02010600030101010101" pitchFamily="2" charset="-122"/>
              </a:rPr>
              <a:t>p</a:t>
            </a:r>
          </a:p>
          <a:p>
            <a:r>
              <a:rPr lang="zh-CN" altLang="en-US" sz="2400" b="1" dirty="0">
                <a:solidFill>
                  <a:srgbClr val="333333"/>
                </a:solidFill>
                <a:latin typeface="黑体" panose="02010609060101010101" pitchFamily="49" charset="-122"/>
                <a:ea typeface="黑体" panose="02010609060101010101" pitchFamily="49" charset="-122"/>
              </a:rPr>
              <a:t>赋值</a:t>
            </a:r>
            <a:endParaRPr lang="en-US" altLang="zh-CN" sz="2400" b="1" dirty="0">
              <a:solidFill>
                <a:srgbClr val="333333"/>
              </a:solidFill>
              <a:latin typeface="黑体" panose="02010609060101010101" pitchFamily="49" charset="-122"/>
              <a:ea typeface="黑体" panose="02010609060101010101" pitchFamily="49" charset="-122"/>
            </a:endParaRPr>
          </a:p>
          <a:p>
            <a:r>
              <a:rPr lang="en-US" altLang="zh-CN" sz="2400" dirty="0">
                <a:solidFill>
                  <a:srgbClr val="333333"/>
                </a:solidFill>
                <a:latin typeface="宋体" panose="02010600030101010101" pitchFamily="2" charset="-122"/>
                <a:ea typeface="宋体" panose="02010600030101010101" pitchFamily="2" charset="-122"/>
              </a:rPr>
              <a:t>p = &amp;a;</a:t>
            </a:r>
          </a:p>
          <a:p>
            <a:r>
              <a:rPr lang="en-US" altLang="zh-CN" sz="2400" dirty="0">
                <a:solidFill>
                  <a:srgbClr val="333333"/>
                </a:solidFill>
                <a:latin typeface="宋体" panose="02010600030101010101" pitchFamily="2" charset="-122"/>
                <a:ea typeface="宋体" panose="02010600030101010101" pitchFamily="2" charset="-122"/>
              </a:rPr>
              <a:t>p = 0;</a:t>
            </a:r>
          </a:p>
          <a:p>
            <a:r>
              <a:rPr lang="en-US" altLang="zh-CN" sz="2400" dirty="0">
                <a:solidFill>
                  <a:srgbClr val="333333"/>
                </a:solidFill>
                <a:latin typeface="宋体" panose="02010600030101010101" pitchFamily="2" charset="-122"/>
                <a:ea typeface="宋体" panose="02010600030101010101" pitchFamily="2" charset="-122"/>
              </a:rPr>
              <a:t>p = NULL;</a:t>
            </a:r>
          </a:p>
        </p:txBody>
      </p:sp>
      <p:sp>
        <p:nvSpPr>
          <p:cNvPr id="3" name="右大括号 2"/>
          <p:cNvSpPr/>
          <p:nvPr/>
        </p:nvSpPr>
        <p:spPr>
          <a:xfrm>
            <a:off x="2619013" y="5538604"/>
            <a:ext cx="219723" cy="389464"/>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350">
              <a:solidFill>
                <a:prstClr val="black"/>
              </a:solidFill>
              <a:latin typeface="Calibri"/>
              <a:ea typeface="等线" panose="02010600030101010101" pitchFamily="2" charset="-122"/>
            </a:endParaRPr>
          </a:p>
        </p:txBody>
      </p:sp>
      <p:sp>
        <p:nvSpPr>
          <p:cNvPr id="6" name="文本框 5"/>
          <p:cNvSpPr txBox="1"/>
          <p:nvPr/>
        </p:nvSpPr>
        <p:spPr>
          <a:xfrm>
            <a:off x="2838734" y="5560694"/>
            <a:ext cx="3474979" cy="461665"/>
          </a:xfrm>
          <a:prstGeom prst="rect">
            <a:avLst/>
          </a:prstGeom>
          <a:noFill/>
        </p:spPr>
        <p:txBody>
          <a:bodyPr wrap="square" rtlCol="0">
            <a:spAutoFit/>
          </a:bodyPr>
          <a:lstStyle/>
          <a:p>
            <a:r>
              <a:rPr lang="zh-CN" altLang="en-US" sz="2400" dirty="0">
                <a:solidFill>
                  <a:srgbClr val="333333"/>
                </a:solidFill>
                <a:latin typeface="宋体" panose="02010600030101010101" pitchFamily="2" charset="-122"/>
                <a:ea typeface="宋体" panose="02010600030101010101" pitchFamily="2" charset="-122"/>
              </a:rPr>
              <a:t>让指针不指向任何位置</a:t>
            </a:r>
          </a:p>
        </p:txBody>
      </p:sp>
      <p:grpSp>
        <p:nvGrpSpPr>
          <p:cNvPr id="9" name="组合 8"/>
          <p:cNvGrpSpPr/>
          <p:nvPr/>
        </p:nvGrpSpPr>
        <p:grpSpPr>
          <a:xfrm>
            <a:off x="8248753" y="1143541"/>
            <a:ext cx="1918503" cy="772610"/>
            <a:chOff x="4305782" y="1759353"/>
            <a:chExt cx="2176041" cy="1157468"/>
          </a:xfrm>
        </p:grpSpPr>
        <p:sp>
          <p:nvSpPr>
            <p:cNvPr id="5" name="框架 4"/>
            <p:cNvSpPr/>
            <p:nvPr/>
          </p:nvSpPr>
          <p:spPr>
            <a:xfrm>
              <a:off x="4305782" y="1759353"/>
              <a:ext cx="2176041" cy="1157468"/>
            </a:xfrm>
            <a:prstGeom prst="frame">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prstClr val="black"/>
                  </a:solidFill>
                  <a:latin typeface="宋体" panose="02010600030101010101" pitchFamily="2" charset="-122"/>
                  <a:ea typeface="宋体" panose="02010600030101010101" pitchFamily="2" charset="-122"/>
                </a:rPr>
                <a:t>233</a:t>
              </a:r>
            </a:p>
            <a:p>
              <a:pPr algn="ctr"/>
              <a:r>
                <a:rPr kumimoji="1" lang="en-US" altLang="zh-CN" sz="2400" dirty="0">
                  <a:solidFill>
                    <a:prstClr val="black"/>
                  </a:solidFill>
                  <a:latin typeface="宋体" panose="02010600030101010101" pitchFamily="2" charset="-122"/>
                  <a:ea typeface="宋体" panose="02010600030101010101" pitchFamily="2" charset="-122"/>
                </a:rPr>
                <a:t>	</a:t>
              </a:r>
              <a:endParaRPr kumimoji="1" lang="zh-CN" altLang="en-US" sz="2400" dirty="0">
                <a:solidFill>
                  <a:prstClr val="black"/>
                </a:solidFill>
                <a:latin typeface="宋体" panose="02010600030101010101" pitchFamily="2" charset="-122"/>
                <a:ea typeface="宋体" panose="02010600030101010101" pitchFamily="2" charset="-122"/>
              </a:endParaRPr>
            </a:p>
          </p:txBody>
        </p:sp>
        <p:sp>
          <p:nvSpPr>
            <p:cNvPr id="8" name="框架 7"/>
            <p:cNvSpPr/>
            <p:nvPr/>
          </p:nvSpPr>
          <p:spPr>
            <a:xfrm>
              <a:off x="4305782" y="2322042"/>
              <a:ext cx="2176041" cy="594779"/>
            </a:xfrm>
            <a:prstGeom prst="frame">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zh-CN" sz="1350" b="1" dirty="0">
                <a:solidFill>
                  <a:srgbClr val="000000"/>
                </a:solidFill>
                <a:latin typeface="Menlo" panose="020B0609030804020204" pitchFamily="49" charset="0"/>
                <a:ea typeface="等线" panose="02010600030101010101" pitchFamily="2" charset="-122"/>
              </a:endParaRPr>
            </a:p>
            <a:p>
              <a:pPr algn="ctr"/>
              <a:r>
                <a:rPr lang="en-GB" altLang="zh-CN" sz="1350" b="1" dirty="0">
                  <a:solidFill>
                    <a:srgbClr val="000000"/>
                  </a:solidFill>
                  <a:latin typeface="Menlo" panose="020B0609030804020204" pitchFamily="49" charset="0"/>
                  <a:ea typeface="等线" panose="02010600030101010101" pitchFamily="2" charset="-122"/>
                </a:rPr>
                <a:t>16fdff268</a:t>
              </a:r>
              <a:endParaRPr lang="en-GB" altLang="zh-CN" sz="1350" dirty="0">
                <a:solidFill>
                  <a:srgbClr val="000000"/>
                </a:solidFill>
                <a:latin typeface="Menlo" panose="020B0609030804020204" pitchFamily="49" charset="0"/>
                <a:ea typeface="等线" panose="02010600030101010101" pitchFamily="2" charset="-122"/>
              </a:endParaRPr>
            </a:p>
            <a:p>
              <a:pPr algn="ctr"/>
              <a:endParaRPr kumimoji="1" lang="zh-CN" altLang="en-US" sz="1350" dirty="0">
                <a:solidFill>
                  <a:prstClr val="black"/>
                </a:solidFill>
                <a:latin typeface="Calibri"/>
                <a:ea typeface="等线" panose="02010600030101010101" pitchFamily="2" charset="-122"/>
              </a:endParaRPr>
            </a:p>
          </p:txBody>
        </p:sp>
      </p:grpSp>
      <p:pic>
        <p:nvPicPr>
          <p:cNvPr id="7" name="图片 6">
            <a:extLst>
              <a:ext uri="{FF2B5EF4-FFF2-40B4-BE49-F238E27FC236}">
                <a16:creationId xmlns:a16="http://schemas.microsoft.com/office/drawing/2014/main" id="{6B4FD904-3314-929A-3492-59B0F67D31F1}"/>
              </a:ext>
            </a:extLst>
          </p:cNvPr>
          <p:cNvPicPr>
            <a:picLocks noChangeAspect="1"/>
          </p:cNvPicPr>
          <p:nvPr/>
        </p:nvPicPr>
        <p:blipFill>
          <a:blip r:embed="rId3"/>
          <a:stretch>
            <a:fillRect/>
          </a:stretch>
        </p:blipFill>
        <p:spPr>
          <a:xfrm>
            <a:off x="7443059" y="3114760"/>
            <a:ext cx="3529890" cy="1402202"/>
          </a:xfrm>
          <a:prstGeom prst="rect">
            <a:avLst/>
          </a:prstGeom>
        </p:spPr>
      </p:pic>
    </p:spTree>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1744" y="2584651"/>
            <a:ext cx="2990850" cy="1549802"/>
          </a:xfrm>
          <a:prstGeom prst="rect">
            <a:avLst/>
          </a:prstGeom>
        </p:spPr>
      </p:pic>
      <p:sp>
        <p:nvSpPr>
          <p:cNvPr id="2" name="文本框 1"/>
          <p:cNvSpPr txBox="1"/>
          <p:nvPr/>
        </p:nvSpPr>
        <p:spPr>
          <a:xfrm>
            <a:off x="630500" y="299557"/>
            <a:ext cx="6265415" cy="5909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指针</a:t>
            </a:r>
            <a:r>
              <a:rPr lang="en-US" altLang="zh-CN" dirty="0"/>
              <a:t>–</a:t>
            </a:r>
            <a:r>
              <a:rPr lang="zh-CN" altLang="en-US" dirty="0"/>
              <a:t>值、内容</a:t>
            </a:r>
          </a:p>
        </p:txBody>
      </p:sp>
      <p:sp>
        <p:nvSpPr>
          <p:cNvPr id="4" name="文本框 3"/>
          <p:cNvSpPr txBox="1"/>
          <p:nvPr/>
        </p:nvSpPr>
        <p:spPr>
          <a:xfrm>
            <a:off x="2732013" y="1095920"/>
            <a:ext cx="8344799" cy="3539430"/>
          </a:xfrm>
          <a:prstGeom prst="rect">
            <a:avLst/>
          </a:prstGeom>
          <a:noFill/>
        </p:spPr>
        <p:txBody>
          <a:bodyPr wrap="square" rtlCol="0">
            <a:spAutoFit/>
          </a:bodyPr>
          <a:lstStyle/>
          <a:p>
            <a:r>
              <a:rPr lang="zh-CN" altLang="en-US" sz="2800" dirty="0">
                <a:solidFill>
                  <a:srgbClr val="333333"/>
                </a:solidFill>
                <a:latin typeface="宋体" panose="02010600030101010101" pitchFamily="2" charset="-122"/>
                <a:ea typeface="宋体" panose="02010600030101010101" pitchFamily="2" charset="-122"/>
              </a:rPr>
              <a:t>指针作为一个变量，储存的是变量的地址</a:t>
            </a:r>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要想获取指针储存的地址所在的变量的值，需要用</a:t>
            </a:r>
            <a:r>
              <a:rPr lang="en-US" altLang="zh-CN" sz="2800" b="1" dirty="0">
                <a:solidFill>
                  <a:srgbClr val="333333"/>
                </a:solidFill>
                <a:latin typeface="宋体" panose="02010600030101010101" pitchFamily="2" charset="-122"/>
                <a:ea typeface="宋体" panose="02010600030101010101" pitchFamily="2" charset="-122"/>
              </a:rPr>
              <a:t>*</a:t>
            </a:r>
            <a:r>
              <a:rPr lang="zh-CN" altLang="en-US" sz="2800" dirty="0">
                <a:solidFill>
                  <a:srgbClr val="333333"/>
                </a:solidFill>
                <a:latin typeface="宋体" panose="02010600030101010101" pitchFamily="2" charset="-122"/>
                <a:ea typeface="宋体" panose="02010600030101010101" pitchFamily="2" charset="-122"/>
              </a:rPr>
              <a:t>（取内容运算符）：</a:t>
            </a:r>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a:p>
            <a:r>
              <a:rPr lang="en-US" altLang="zh-CN" sz="2800" dirty="0">
                <a:solidFill>
                  <a:srgbClr val="333333"/>
                </a:solidFill>
                <a:latin typeface="宋体" panose="02010600030101010101" pitchFamily="2" charset="-122"/>
                <a:ea typeface="宋体" panose="02010600030101010101" pitchFamily="2" charset="-122"/>
              </a:rPr>
              <a:t> </a:t>
            </a:r>
            <a:r>
              <a:rPr lang="zh-CN" altLang="en-US" sz="2800" dirty="0">
                <a:solidFill>
                  <a:srgbClr val="333333"/>
                </a:solidFill>
                <a:latin typeface="宋体" panose="02010600030101010101" pitchFamily="2" charset="-122"/>
                <a:ea typeface="宋体" panose="02010600030101010101" pitchFamily="2" charset="-122"/>
              </a:rPr>
              <a:t>把</a:t>
            </a:r>
            <a:r>
              <a:rPr lang="en-US" altLang="zh-CN" sz="2800" dirty="0">
                <a:solidFill>
                  <a:srgbClr val="333333"/>
                </a:solidFill>
                <a:latin typeface="宋体" panose="02010600030101010101" pitchFamily="2" charset="-122"/>
                <a:ea typeface="宋体" panose="02010600030101010101" pitchFamily="2" charset="-122"/>
              </a:rPr>
              <a:t>p</a:t>
            </a:r>
            <a:r>
              <a:rPr lang="zh-CN" altLang="en-US" sz="2800" dirty="0">
                <a:solidFill>
                  <a:srgbClr val="333333"/>
                </a:solidFill>
                <a:latin typeface="宋体" panose="02010600030101010101" pitchFamily="2" charset="-122"/>
                <a:ea typeface="宋体" panose="02010600030101010101" pitchFamily="2" charset="-122"/>
              </a:rPr>
              <a:t>所指向的变量（也就是</a:t>
            </a:r>
            <a:r>
              <a:rPr lang="en-US" altLang="zh-CN" sz="2800" dirty="0">
                <a:solidFill>
                  <a:srgbClr val="333333"/>
                </a:solidFill>
                <a:latin typeface="宋体" panose="02010600030101010101" pitchFamily="2" charset="-122"/>
                <a:ea typeface="宋体" panose="02010600030101010101" pitchFamily="2" charset="-122"/>
              </a:rPr>
              <a:t>a</a:t>
            </a:r>
            <a:r>
              <a:rPr lang="zh-CN" altLang="en-US" sz="2800" dirty="0">
                <a:solidFill>
                  <a:srgbClr val="333333"/>
                </a:solidFill>
                <a:latin typeface="宋体" panose="02010600030101010101" pitchFamily="2" charset="-122"/>
                <a:ea typeface="宋体" panose="02010600030101010101" pitchFamily="2" charset="-122"/>
              </a:rPr>
              <a:t>）的值变为</a:t>
            </a:r>
            <a:r>
              <a:rPr lang="en-US" altLang="zh-CN" sz="2800" dirty="0">
                <a:solidFill>
                  <a:srgbClr val="333333"/>
                </a:solidFill>
                <a:latin typeface="宋体" panose="02010600030101010101" pitchFamily="2" charset="-122"/>
                <a:ea typeface="宋体" panose="02010600030101010101" pitchFamily="2" charset="-122"/>
              </a:rPr>
              <a:t>3</a:t>
            </a:r>
          </a:p>
        </p:txBody>
      </p:sp>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4687" y="4635350"/>
            <a:ext cx="5232120" cy="1196325"/>
          </a:xfrm>
          <a:prstGeom prst="rect">
            <a:avLst/>
          </a:prstGeom>
        </p:spPr>
      </p:pic>
      <p:pic>
        <p:nvPicPr>
          <p:cNvPr id="16" name="图片 15">
            <a:extLst>
              <a:ext uri="{FF2B5EF4-FFF2-40B4-BE49-F238E27FC236}">
                <a16:creationId xmlns:a16="http://schemas.microsoft.com/office/drawing/2014/main" id="{320DA14E-FA62-9F56-A695-F297687FC3AA}"/>
              </a:ext>
            </a:extLst>
          </p:cNvPr>
          <p:cNvPicPr>
            <a:picLocks noChangeAspect="1"/>
          </p:cNvPicPr>
          <p:nvPr/>
        </p:nvPicPr>
        <p:blipFill>
          <a:blip r:embed="rId5"/>
          <a:stretch>
            <a:fillRect/>
          </a:stretch>
        </p:blipFill>
        <p:spPr>
          <a:xfrm>
            <a:off x="7904249" y="2334004"/>
            <a:ext cx="3529890" cy="140220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8997" y="333815"/>
            <a:ext cx="6265415" cy="5909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指针</a:t>
            </a:r>
            <a:r>
              <a:rPr lang="en-US" altLang="zh-CN" dirty="0"/>
              <a:t>–</a:t>
            </a:r>
            <a:r>
              <a:rPr lang="zh-CN" altLang="en-US" dirty="0"/>
              <a:t>加减法</a:t>
            </a:r>
          </a:p>
        </p:txBody>
      </p:sp>
      <p:sp>
        <p:nvSpPr>
          <p:cNvPr id="4" name="文本框 3"/>
          <p:cNvSpPr txBox="1"/>
          <p:nvPr/>
        </p:nvSpPr>
        <p:spPr>
          <a:xfrm>
            <a:off x="2732013" y="1095920"/>
            <a:ext cx="8344799" cy="3539430"/>
          </a:xfrm>
          <a:prstGeom prst="rect">
            <a:avLst/>
          </a:prstGeom>
          <a:noFill/>
        </p:spPr>
        <p:txBody>
          <a:bodyPr wrap="square" rtlCol="0">
            <a:spAutoFit/>
          </a:bodyPr>
          <a:lstStyle/>
          <a:p>
            <a:r>
              <a:rPr lang="zh-CN" altLang="en-US" sz="2800" dirty="0">
                <a:solidFill>
                  <a:srgbClr val="333333"/>
                </a:solidFill>
                <a:latin typeface="宋体" panose="02010600030101010101" pitchFamily="2" charset="-122"/>
                <a:ea typeface="宋体" panose="02010600030101010101" pitchFamily="2" charset="-122"/>
              </a:rPr>
              <a:t>指针与指针相减</a:t>
            </a:r>
            <a:endParaRPr lang="en-US" altLang="zh-CN" sz="2800" dirty="0">
              <a:solidFill>
                <a:srgbClr val="333333"/>
              </a:solidFill>
              <a:latin typeface="宋体" panose="02010600030101010101" pitchFamily="2" charset="-122"/>
              <a:ea typeface="宋体" panose="02010600030101010101" pitchFamily="2" charset="-122"/>
            </a:endParaRPr>
          </a:p>
          <a:p>
            <a:r>
              <a:rPr lang="en-US" altLang="zh-CN" sz="2800" dirty="0">
                <a:solidFill>
                  <a:srgbClr val="333333"/>
                </a:solidFill>
                <a:latin typeface="宋体" panose="02010600030101010101" pitchFamily="2" charset="-122"/>
                <a:ea typeface="宋体" panose="02010600030101010101" pitchFamily="2" charset="-122"/>
              </a:rPr>
              <a:t>int a[5];</a:t>
            </a:r>
          </a:p>
          <a:p>
            <a:r>
              <a:rPr lang="en-US" altLang="zh-CN" sz="2800" dirty="0">
                <a:solidFill>
                  <a:srgbClr val="333333"/>
                </a:solidFill>
                <a:latin typeface="宋体" panose="02010600030101010101" pitchFamily="2" charset="-122"/>
                <a:ea typeface="宋体" panose="02010600030101010101" pitchFamily="2" charset="-122"/>
              </a:rPr>
              <a:t>int p=a;</a:t>
            </a:r>
          </a:p>
          <a:p>
            <a:r>
              <a:rPr lang="en-US" altLang="zh-CN" sz="2800" dirty="0">
                <a:solidFill>
                  <a:srgbClr val="333333"/>
                </a:solidFill>
                <a:latin typeface="宋体" panose="02010600030101010101" pitchFamily="2" charset="-122"/>
                <a:ea typeface="宋体" panose="02010600030101010101" pitchFamily="2" charset="-122"/>
              </a:rPr>
              <a:t>int p2=a+2;</a:t>
            </a:r>
          </a:p>
          <a:p>
            <a:r>
              <a:rPr lang="en-US" altLang="zh-CN" sz="2800" dirty="0">
                <a:solidFill>
                  <a:srgbClr val="333333"/>
                </a:solidFill>
                <a:latin typeface="宋体" panose="02010600030101010101" pitchFamily="2" charset="-122"/>
                <a:ea typeface="宋体" panose="02010600030101010101" pitchFamily="2" charset="-122"/>
              </a:rPr>
              <a:t>int t=p2-p;</a:t>
            </a:r>
          </a:p>
          <a:p>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指针与常数相加减</a:t>
            </a:r>
            <a:endParaRPr lang="en-US" altLang="zh-CN" sz="2800" dirty="0">
              <a:solidFill>
                <a:srgbClr val="333333"/>
              </a:solidFill>
              <a:latin typeface="宋体" panose="02010600030101010101" pitchFamily="2" charset="-122"/>
              <a:ea typeface="宋体" panose="02010600030101010101" pitchFamily="2" charset="-122"/>
            </a:endParaRPr>
          </a:p>
          <a:p>
            <a:r>
              <a:rPr lang="en-US" altLang="zh-CN" sz="2800" dirty="0">
                <a:solidFill>
                  <a:srgbClr val="333333"/>
                </a:solidFill>
                <a:latin typeface="宋体" panose="02010600030101010101" pitchFamily="2" charset="-122"/>
                <a:ea typeface="宋体" panose="02010600030101010101" pitchFamily="2" charset="-122"/>
              </a:rPr>
              <a:t>p++;</a:t>
            </a:r>
          </a:p>
        </p:txBody>
      </p:sp>
    </p:spTree>
    <p:extLst>
      <p:ext uri="{BB962C8B-B14F-4D97-AF65-F5344CB8AC3E}">
        <p14:creationId xmlns:p14="http://schemas.microsoft.com/office/powerpoint/2010/main" val="2680508387"/>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3" descr="正确"/>
          <p:cNvSpPr>
            <a:spLocks noChangeAspect="1" noChangeArrowheads="1"/>
          </p:cNvSpPr>
          <p:nvPr/>
        </p:nvSpPr>
        <p:spPr bwMode="auto">
          <a:xfrm>
            <a:off x="3024189" y="1709739"/>
            <a:ext cx="6066235" cy="481013"/>
          </a:xfrm>
          <a:prstGeom prst="rect">
            <a:avLst/>
          </a:prstGeom>
          <a:noFill/>
        </p:spPr>
        <p:txBody>
          <a:bodyPr/>
          <a:lstStyle/>
          <a:p>
            <a:pPr>
              <a:defRPr/>
            </a:pPr>
            <a:endParaRPr lang="zh-CN" altLang="en-US" sz="1500" dirty="0">
              <a:solidFill>
                <a:prstClr val="black"/>
              </a:solidFill>
              <a:latin typeface="Microsoft YaHei UI" panose="020B0503020204020204" pitchFamily="34" charset="-122"/>
              <a:ea typeface="微软雅黑" panose="020B0503020204020204" pitchFamily="34" charset="-122"/>
              <a:cs typeface="+mn-ea"/>
              <a:sym typeface="+mn-lt"/>
            </a:endParaRPr>
          </a:p>
        </p:txBody>
      </p:sp>
      <p:grpSp>
        <p:nvGrpSpPr>
          <p:cNvPr id="14" name="组合 13"/>
          <p:cNvGrpSpPr/>
          <p:nvPr/>
        </p:nvGrpSpPr>
        <p:grpSpPr>
          <a:xfrm>
            <a:off x="2995913" y="2237783"/>
            <a:ext cx="4156939" cy="897411"/>
            <a:chOff x="476250" y="1841778"/>
            <a:chExt cx="5542585" cy="1196548"/>
          </a:xfrm>
        </p:grpSpPr>
        <p:sp>
          <p:nvSpPr>
            <p:cNvPr id="2" name="文本框 1"/>
            <p:cNvSpPr txBox="1"/>
            <p:nvPr/>
          </p:nvSpPr>
          <p:spPr>
            <a:xfrm>
              <a:off x="476251" y="1841778"/>
              <a:ext cx="5542584" cy="779700"/>
            </a:xfrm>
            <a:prstGeom prst="rect">
              <a:avLst/>
            </a:prstGeom>
            <a:noFill/>
            <a:ln w="9525">
              <a:noFill/>
            </a:ln>
          </p:spPr>
          <p:txBody>
            <a:bodyPr wrap="square">
              <a:spAutoFit/>
            </a:bodyPr>
            <a:lstStyle/>
            <a:p>
              <a:endParaRPr lang="zh-CN" altLang="en-US" sz="3200"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p:txBody>
        </p:sp>
        <p:sp>
          <p:nvSpPr>
            <p:cNvPr id="3" name="文本框 2"/>
            <p:cNvSpPr txBox="1"/>
            <p:nvPr/>
          </p:nvSpPr>
          <p:spPr>
            <a:xfrm>
              <a:off x="476250" y="2547259"/>
              <a:ext cx="5080000" cy="491067"/>
            </a:xfrm>
            <a:prstGeom prst="rect">
              <a:avLst/>
            </a:prstGeom>
            <a:noFill/>
            <a:ln w="9525">
              <a:noFill/>
            </a:ln>
          </p:spPr>
          <p:txBody>
            <a:bodyPr>
              <a:spAutoFit/>
            </a:bodyPr>
            <a:lstStyle/>
            <a:p>
              <a:endParaRPr lang="zh-CN" altLang="en-US" dirty="0">
                <a:solidFill>
                  <a:prstClr val="black"/>
                </a:solidFill>
                <a:latin typeface="微软雅黑" panose="020B0503020204020204" pitchFamily="34" charset="-122"/>
                <a:ea typeface="等线" panose="02010600030101010101" pitchFamily="2" charset="-122"/>
              </a:endParaRPr>
            </a:p>
          </p:txBody>
        </p:sp>
      </p:grpSp>
      <p:sp>
        <p:nvSpPr>
          <p:cNvPr id="8" name="文本框 7"/>
          <p:cNvSpPr txBox="1"/>
          <p:nvPr/>
        </p:nvSpPr>
        <p:spPr>
          <a:xfrm>
            <a:off x="1753735" y="4882625"/>
            <a:ext cx="4547892" cy="368300"/>
          </a:xfrm>
          <a:prstGeom prst="rect">
            <a:avLst/>
          </a:prstGeom>
          <a:noFill/>
        </p:spPr>
        <p:txBody>
          <a:bodyPr wrap="square" rtlCol="0">
            <a:spAutoFit/>
          </a:bodyPr>
          <a:lstStyle/>
          <a:p>
            <a:r>
              <a:rPr lang="zh-CN" altLang="en-US"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初始化时 自动在末尾添 </a:t>
            </a:r>
            <a:r>
              <a:rPr lang="en-US" altLang="zh-CN"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\0</a:t>
            </a:r>
          </a:p>
        </p:txBody>
      </p:sp>
      <p:cxnSp>
        <p:nvCxnSpPr>
          <p:cNvPr id="15" name="直接连接符 14"/>
          <p:cNvCxnSpPr/>
          <p:nvPr/>
        </p:nvCxnSpPr>
        <p:spPr>
          <a:xfrm>
            <a:off x="3384711" y="4380548"/>
            <a:ext cx="1911191"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7" name="标题 6"/>
          <p:cNvSpPr>
            <a:spLocks noGrp="1"/>
          </p:cNvSpPr>
          <p:nvPr>
            <p:ph type="title" idx="4294967295"/>
          </p:nvPr>
        </p:nvSpPr>
        <p:spPr>
          <a:xfrm>
            <a:off x="606211" y="410803"/>
            <a:ext cx="2885535" cy="488156"/>
          </a:xfrm>
          <a:prstGeom prst="rect">
            <a:avLst/>
          </a:prstGeom>
        </p:spPr>
        <p:txBody>
          <a:bodyPr vert="horz" lIns="91440" tIns="45720" rIns="91440" bIns="45720" rtlCol="0" anchor="ctr" anchorCtr="0">
            <a:normAutofit fontScale="90000"/>
          </a:bodyPr>
          <a:lstStyle/>
          <a:p>
            <a:r>
              <a:rPr lang="zh-CN" altLang="en-US" sz="3600" dirty="0">
                <a:solidFill>
                  <a:srgbClr val="333333"/>
                </a:solidFill>
                <a:latin typeface="黑体" panose="02010609060101010101" pitchFamily="49" charset="-122"/>
                <a:ea typeface="黑体" panose="02010609060101010101" pitchFamily="49" charset="-122"/>
              </a:rPr>
              <a:t>字符串</a:t>
            </a:r>
            <a:r>
              <a:rPr lang="en-US" altLang="zh-CN" sz="3600" dirty="0">
                <a:solidFill>
                  <a:srgbClr val="333333"/>
                </a:solidFill>
                <a:latin typeface="黑体" panose="02010609060101010101" pitchFamily="49" charset="-122"/>
                <a:ea typeface="黑体" panose="02010609060101010101" pitchFamily="49" charset="-122"/>
              </a:rPr>
              <a:t>–</a:t>
            </a:r>
            <a:r>
              <a:rPr lang="zh-CN" altLang="en-US" sz="3600" dirty="0">
                <a:solidFill>
                  <a:srgbClr val="333333"/>
                </a:solidFill>
                <a:latin typeface="黑体" panose="02010609060101010101" pitchFamily="49" charset="-122"/>
                <a:ea typeface="黑体" panose="02010609060101010101" pitchFamily="49" charset="-122"/>
              </a:rPr>
              <a:t>定义</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97178" y="3005196"/>
            <a:ext cx="5829300" cy="1140515"/>
          </a:xfrm>
          <a:prstGeom prst="rect">
            <a:avLst/>
          </a:prstGeom>
        </p:spPr>
      </p:pic>
      <p:sp>
        <p:nvSpPr>
          <p:cNvPr id="4" name="文本框 3">
            <a:extLst>
              <a:ext uri="{FF2B5EF4-FFF2-40B4-BE49-F238E27FC236}">
                <a16:creationId xmlns:a16="http://schemas.microsoft.com/office/drawing/2014/main" id="{6F6A8A08-D09B-1770-9A45-582A4EB69341}"/>
              </a:ext>
            </a:extLst>
          </p:cNvPr>
          <p:cNvSpPr txBox="1"/>
          <p:nvPr/>
        </p:nvSpPr>
        <p:spPr>
          <a:xfrm>
            <a:off x="7999166" y="2605352"/>
            <a:ext cx="3036152" cy="1200329"/>
          </a:xfrm>
          <a:prstGeom prst="rect">
            <a:avLst/>
          </a:prstGeom>
          <a:noFill/>
        </p:spPr>
        <p:txBody>
          <a:bodyPr wrap="none" rtlCol="0">
            <a:spAutoFit/>
          </a:bodyPr>
          <a:lstStyle/>
          <a:p>
            <a:r>
              <a:rPr lang="zh-CN" altLang="en-US" sz="2400" dirty="0"/>
              <a:t>思考②：</a:t>
            </a:r>
            <a:endParaRPr lang="en-US" altLang="zh-CN" sz="2400" dirty="0"/>
          </a:p>
          <a:p>
            <a:r>
              <a:rPr lang="en-US" altLang="zh-CN" sz="2400" dirty="0"/>
              <a:t>‘\0’</a:t>
            </a:r>
            <a:r>
              <a:rPr lang="zh-CN" altLang="en-US" sz="2400" dirty="0"/>
              <a:t>的作用</a:t>
            </a:r>
            <a:endParaRPr lang="en-US" altLang="zh-CN" sz="2400" dirty="0"/>
          </a:p>
          <a:p>
            <a:r>
              <a:rPr lang="en-US" altLang="zh-CN" sz="2400" dirty="0"/>
              <a:t>char str2[5]=“China”; ?</a:t>
            </a:r>
          </a:p>
        </p:txBody>
      </p:sp>
      <p:sp>
        <p:nvSpPr>
          <p:cNvPr id="5" name="文本框 4">
            <a:extLst>
              <a:ext uri="{FF2B5EF4-FFF2-40B4-BE49-F238E27FC236}">
                <a16:creationId xmlns:a16="http://schemas.microsoft.com/office/drawing/2014/main" id="{DEA66021-5F2E-A49D-D3DC-B6230660E9DF}"/>
              </a:ext>
            </a:extLst>
          </p:cNvPr>
          <p:cNvSpPr txBox="1"/>
          <p:nvPr/>
        </p:nvSpPr>
        <p:spPr>
          <a:xfrm>
            <a:off x="7999166" y="3912613"/>
            <a:ext cx="2625783" cy="2308324"/>
          </a:xfrm>
          <a:prstGeom prst="rect">
            <a:avLst/>
          </a:prstGeom>
          <a:noFill/>
        </p:spPr>
        <p:txBody>
          <a:bodyPr wrap="none" rtlCol="0">
            <a:spAutoFit/>
          </a:bodyPr>
          <a:lstStyle/>
          <a:p>
            <a:r>
              <a:rPr lang="zh-CN" altLang="en-US" sz="2400" dirty="0"/>
              <a:t>思考③</a:t>
            </a:r>
            <a:r>
              <a:rPr lang="en-US" altLang="zh-CN" sz="2400" dirty="0"/>
              <a:t>:</a:t>
            </a:r>
          </a:p>
          <a:p>
            <a:r>
              <a:rPr lang="zh-CN" altLang="en-US" sz="2400" dirty="0"/>
              <a:t>下面代码有错吗</a:t>
            </a:r>
            <a:r>
              <a:rPr lang="en-US" altLang="zh-CN" sz="2400" dirty="0"/>
              <a:t>?</a:t>
            </a:r>
          </a:p>
          <a:p>
            <a:r>
              <a:rPr lang="en-US" altLang="zh-CN" sz="2400" dirty="0"/>
              <a:t>char str2[]="</a:t>
            </a:r>
            <a:r>
              <a:rPr lang="en-US" altLang="zh-CN" sz="2400" dirty="0" err="1"/>
              <a:t>china</a:t>
            </a:r>
            <a:r>
              <a:rPr lang="en-US" altLang="zh-CN" sz="2400" dirty="0"/>
              <a:t>";</a:t>
            </a:r>
          </a:p>
          <a:p>
            <a:r>
              <a:rPr lang="en-US" altLang="zh-CN" sz="2400" dirty="0"/>
              <a:t>char str3[100];</a:t>
            </a:r>
          </a:p>
          <a:p>
            <a:r>
              <a:rPr lang="en-US" altLang="zh-CN" sz="2400" dirty="0"/>
              <a:t>str3="</a:t>
            </a:r>
            <a:r>
              <a:rPr lang="en-US" altLang="zh-CN" sz="2400" dirty="0" err="1"/>
              <a:t>china</a:t>
            </a:r>
            <a:r>
              <a:rPr lang="en-US" altLang="zh-CN" sz="2400" dirty="0"/>
              <a:t>";</a:t>
            </a:r>
          </a:p>
          <a:p>
            <a:r>
              <a:rPr lang="en-US" altLang="zh-CN" sz="2400" dirty="0"/>
              <a:t>str=str2; </a:t>
            </a:r>
            <a:endParaRPr lang="zh-CN" altLang="en-US" sz="2400" dirty="0"/>
          </a:p>
        </p:txBody>
      </p:sp>
      <p:sp>
        <p:nvSpPr>
          <p:cNvPr id="6" name="文本框 5">
            <a:extLst>
              <a:ext uri="{FF2B5EF4-FFF2-40B4-BE49-F238E27FC236}">
                <a16:creationId xmlns:a16="http://schemas.microsoft.com/office/drawing/2014/main" id="{7471F678-4B83-3036-A249-96B8D30B0CA8}"/>
              </a:ext>
            </a:extLst>
          </p:cNvPr>
          <p:cNvSpPr txBox="1"/>
          <p:nvPr/>
        </p:nvSpPr>
        <p:spPr>
          <a:xfrm>
            <a:off x="1116953" y="990278"/>
            <a:ext cx="7105390" cy="1815882"/>
          </a:xfrm>
          <a:prstGeom prst="rect">
            <a:avLst/>
          </a:prstGeom>
          <a:noFill/>
          <a:ln w="9525">
            <a:noFill/>
          </a:ln>
        </p:spPr>
        <p:txBody>
          <a:bodyPr wrap="square">
            <a:spAutoFit/>
          </a:bodyPr>
          <a:lstStyle/>
          <a:p>
            <a:r>
              <a:rPr 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语言没有专门的字符串变量</a:t>
            </a:r>
            <a:endPar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800"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字符串变量的本质为一个</a:t>
            </a:r>
            <a:r>
              <a:rPr lang="en-US" altLang="zh-CN" sz="2800" dirty="0">
                <a:solidFill>
                  <a:prstClr val="black"/>
                </a:solidFill>
                <a:latin typeface="微软雅黑" panose="020B0503020204020204" pitchFamily="34" charset="-122"/>
                <a:cs typeface="微软雅黑" panose="020B0503020204020204" pitchFamily="34" charset="-122"/>
              </a:rPr>
              <a:t> char </a:t>
            </a:r>
            <a:r>
              <a:rPr lang="zh-CN" altLang="en-US" sz="2800"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型数组</a:t>
            </a:r>
            <a:endParaRPr lang="en-US" altLang="zh-CN" sz="2800"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r>
              <a:rPr lang="zh-CN" altLang="en-US" sz="2800" dirty="0">
                <a:solidFill>
                  <a:prstClr val="black"/>
                </a:solidFill>
                <a:latin typeface="微软雅黑" panose="020B0503020204020204" pitchFamily="34" charset="-122"/>
                <a:ea typeface="等线" panose="02010600030101010101" pitchFamily="2" charset="-122"/>
              </a:rPr>
              <a:t>字符串变量的四种初始化方式</a:t>
            </a:r>
            <a:endParaRPr lang="zh-CN" altLang="en-US" sz="2800"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endPar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a:extLst>
              <a:ext uri="{FF2B5EF4-FFF2-40B4-BE49-F238E27FC236}">
                <a16:creationId xmlns:a16="http://schemas.microsoft.com/office/drawing/2014/main" id="{BC3FFAF1-1BEB-6684-59FA-7F9A8138E45C}"/>
              </a:ext>
            </a:extLst>
          </p:cNvPr>
          <p:cNvSpPr txBox="1"/>
          <p:nvPr/>
        </p:nvSpPr>
        <p:spPr>
          <a:xfrm>
            <a:off x="8020938" y="1482241"/>
            <a:ext cx="3570208" cy="1200329"/>
          </a:xfrm>
          <a:prstGeom prst="rect">
            <a:avLst/>
          </a:prstGeom>
          <a:noFill/>
        </p:spPr>
        <p:txBody>
          <a:bodyPr wrap="none" rtlCol="0">
            <a:spAutoFit/>
          </a:bodyPr>
          <a:lstStyle/>
          <a:p>
            <a:r>
              <a:rPr lang="zh-CN" altLang="en-US" sz="2400" dirty="0"/>
              <a:t>思考①：</a:t>
            </a:r>
            <a:endParaRPr lang="en-US" altLang="zh-CN" sz="2400" dirty="0"/>
          </a:p>
          <a:p>
            <a:r>
              <a:rPr lang="zh-CN" altLang="en-US" sz="2400" dirty="0"/>
              <a:t>逐个字符初始化这行代码</a:t>
            </a:r>
            <a:endParaRPr lang="en-US" altLang="zh-CN" sz="2400" dirty="0"/>
          </a:p>
          <a:p>
            <a:r>
              <a:rPr lang="zh-CN" altLang="en-US" sz="2400" dirty="0"/>
              <a:t>运行的时候发生了什么？</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00" name="文本框 4"/>
          <p:cNvSpPr txBox="1">
            <a:spLocks noChangeArrowheads="1"/>
          </p:cNvSpPr>
          <p:nvPr/>
        </p:nvSpPr>
        <p:spPr bwMode="auto">
          <a:xfrm>
            <a:off x="649644" y="315780"/>
            <a:ext cx="4927997" cy="5909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字符串</a:t>
            </a:r>
            <a:r>
              <a:rPr lang="en-US" altLang="zh-CN" dirty="0"/>
              <a:t>——</a:t>
            </a:r>
            <a:r>
              <a:rPr lang="zh-CN" altLang="en-US" dirty="0"/>
              <a:t>输入输出</a:t>
            </a:r>
          </a:p>
        </p:txBody>
      </p:sp>
      <p:sp>
        <p:nvSpPr>
          <p:cNvPr id="100" name="文本框 99"/>
          <p:cNvSpPr txBox="1"/>
          <p:nvPr/>
        </p:nvSpPr>
        <p:spPr>
          <a:xfrm>
            <a:off x="5683753" y="856870"/>
            <a:ext cx="6196190" cy="3693319"/>
          </a:xfrm>
          <a:prstGeom prst="rect">
            <a:avLst/>
          </a:prstGeom>
          <a:noFill/>
          <a:ln w="9525">
            <a:noFill/>
          </a:ln>
        </p:spPr>
        <p:txBody>
          <a:bodyPr wrap="square">
            <a:spAutoFit/>
          </a:bodyPr>
          <a:lstStyle/>
          <a:p>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输入常用</a:t>
            </a:r>
            <a:r>
              <a:rPr lang="en-US" dirty="0">
                <a:solidFill>
                  <a:prstClr val="black"/>
                </a:solidFill>
                <a:latin typeface="微软雅黑" panose="020B0503020204020204" pitchFamily="34" charset="-122"/>
                <a:cs typeface="微软雅黑" panose="020B0503020204020204" pitchFamily="34" charset="-122"/>
              </a:rPr>
              <a:t> scanf </a:t>
            </a:r>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和 </a:t>
            </a:r>
            <a:r>
              <a:rPr lang="en-US" dirty="0">
                <a:solidFill>
                  <a:prstClr val="black"/>
                </a:solidFill>
                <a:latin typeface="微软雅黑" panose="020B0503020204020204" pitchFamily="34" charset="-122"/>
                <a:cs typeface="微软雅黑" panose="020B0503020204020204" pitchFamily="34" charset="-122"/>
              </a:rPr>
              <a:t>gets</a:t>
            </a:r>
            <a:endPar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输出常用</a:t>
            </a:r>
            <a:r>
              <a:rPr lang="en-US" dirty="0">
                <a:solidFill>
                  <a:prstClr val="black"/>
                </a:solidFill>
                <a:latin typeface="微软雅黑" panose="020B0503020204020204" pitchFamily="34" charset="-122"/>
                <a:cs typeface="微软雅黑" panose="020B0503020204020204" pitchFamily="34" charset="-122"/>
              </a:rPr>
              <a:t> printf </a:t>
            </a:r>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和 </a:t>
            </a:r>
            <a:r>
              <a:rPr lang="en-US" dirty="0">
                <a:solidFill>
                  <a:prstClr val="black"/>
                </a:solidFill>
                <a:latin typeface="微软雅黑" panose="020B0503020204020204" pitchFamily="34" charset="-122"/>
                <a:cs typeface="微软雅黑" panose="020B0503020204020204" pitchFamily="34" charset="-122"/>
              </a:rPr>
              <a:t>puts</a:t>
            </a:r>
          </a:p>
          <a:p>
            <a:endParaRPr lang="en-US" dirty="0">
              <a:solidFill>
                <a:prstClr val="black"/>
              </a:solidFill>
              <a:latin typeface="微软雅黑" panose="020B0503020204020204" pitchFamily="34" charset="-122"/>
              <a:cs typeface="微软雅黑" panose="020B0503020204020204" pitchFamily="34" charset="-122"/>
            </a:endParaRPr>
          </a:p>
          <a:p>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小知识：</a:t>
            </a:r>
            <a:r>
              <a:rPr lang="en-US"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puts</a:t>
            </a:r>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输出自带换行</a:t>
            </a:r>
            <a:endParaRPr lang="en-US"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endPar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r>
              <a:rPr lang="en-US"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scanf </a:t>
            </a:r>
            <a:r>
              <a:rPr lang="zh-CN"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在遇到空白符会结束，自动加上</a:t>
            </a:r>
            <a:r>
              <a:rPr lang="en-US"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\0</a:t>
            </a:r>
            <a:r>
              <a:rPr lang="zh-CN"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，并将</a:t>
            </a:r>
            <a:r>
              <a:rPr lang="zh-CN" altLang="zh-CN" b="1"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空白符留在缓冲区</a:t>
            </a:r>
            <a:r>
              <a:rPr lang="zh-CN"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a:t>
            </a:r>
          </a:p>
          <a:p>
            <a:r>
              <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rPr>
              <a:t>空白符：空格，制表符，换行符，回车符和换页符</a:t>
            </a:r>
            <a:endParaRPr lang="en-US"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endParaRPr lang="en-US" altLang="zh-CN"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r>
              <a:rPr lang="en-US" altLang="zh-CN" dirty="0">
                <a:solidFill>
                  <a:srgbClr val="000000"/>
                </a:solidFill>
                <a:latin typeface="Calibri"/>
                <a:ea typeface="等线" panose="02010600030101010101" pitchFamily="2" charset="-122"/>
                <a:sym typeface="+mn-ea"/>
              </a:rPr>
              <a:t>gets : </a:t>
            </a:r>
            <a:r>
              <a:rPr lang="zh-CN" altLang="en-US" dirty="0">
                <a:solidFill>
                  <a:srgbClr val="000000"/>
                </a:solidFill>
                <a:latin typeface="Calibri"/>
                <a:ea typeface="等线" panose="02010600030101010101" pitchFamily="2" charset="-122"/>
                <a:sym typeface="+mn-ea"/>
              </a:rPr>
              <a:t>只遇换行</a:t>
            </a:r>
            <a:r>
              <a:rPr lang="en-US" altLang="zh-CN" dirty="0">
                <a:solidFill>
                  <a:srgbClr val="000000"/>
                </a:solidFill>
                <a:latin typeface="Calibri"/>
                <a:ea typeface="等线" panose="02010600030101010101" pitchFamily="2" charset="-122"/>
                <a:sym typeface="+mn-ea"/>
              </a:rPr>
              <a:t>(\n)</a:t>
            </a:r>
            <a:r>
              <a:rPr lang="zh-CN" altLang="en-US" dirty="0">
                <a:solidFill>
                  <a:srgbClr val="000000"/>
                </a:solidFill>
                <a:latin typeface="Calibri"/>
                <a:ea typeface="等线" panose="02010600030101010101" pitchFamily="2" charset="-122"/>
                <a:sym typeface="+mn-ea"/>
              </a:rPr>
              <a:t>时终止输入，</a:t>
            </a:r>
            <a:r>
              <a:rPr lang="zh-CN" altLang="en-US" b="1" dirty="0">
                <a:solidFill>
                  <a:srgbClr val="000000"/>
                </a:solidFill>
                <a:latin typeface="Calibri"/>
                <a:ea typeface="等线" panose="02010600030101010101" pitchFamily="2" charset="-122"/>
                <a:sym typeface="+mn-ea"/>
              </a:rPr>
              <a:t>并用 </a:t>
            </a:r>
            <a:r>
              <a:rPr lang="en-US" altLang="zh-CN" b="1" dirty="0">
                <a:solidFill>
                  <a:srgbClr val="000000"/>
                </a:solidFill>
                <a:latin typeface="Calibri"/>
                <a:ea typeface="等线" panose="02010600030101010101" pitchFamily="2" charset="-122"/>
                <a:sym typeface="+mn-ea"/>
              </a:rPr>
              <a:t>’\0’ </a:t>
            </a:r>
            <a:r>
              <a:rPr lang="zh-CN" altLang="en-US" b="1" dirty="0">
                <a:solidFill>
                  <a:srgbClr val="000000"/>
                </a:solidFill>
                <a:latin typeface="Calibri"/>
                <a:ea typeface="等线" panose="02010600030101010101" pitchFamily="2" charset="-122"/>
                <a:sym typeface="+mn-ea"/>
              </a:rPr>
              <a:t>代替换行符</a:t>
            </a:r>
            <a:r>
              <a:rPr lang="zh-CN" altLang="en-US" dirty="0">
                <a:solidFill>
                  <a:srgbClr val="000000"/>
                </a:solidFill>
                <a:latin typeface="Calibri"/>
                <a:ea typeface="等线" panose="02010600030101010101" pitchFamily="2" charset="-122"/>
                <a:sym typeface="+mn-ea"/>
              </a:rPr>
              <a:t>读入字符串内。（不</a:t>
            </a:r>
            <a:r>
              <a:rPr lang="en-US" altLang="zh-CN" dirty="0">
                <a:solidFill>
                  <a:srgbClr val="000000"/>
                </a:solidFill>
                <a:latin typeface="Calibri"/>
                <a:ea typeface="等线" panose="02010600030101010101" pitchFamily="2" charset="-122"/>
                <a:sym typeface="+mn-ea"/>
              </a:rPr>
              <a:t> </a:t>
            </a:r>
            <a:r>
              <a:rPr lang="zh-CN" altLang="en-US" dirty="0">
                <a:solidFill>
                  <a:srgbClr val="000000"/>
                </a:solidFill>
                <a:latin typeface="Calibri"/>
                <a:ea typeface="等线" panose="02010600030101010101" pitchFamily="2" charset="-122"/>
                <a:sym typeface="+mn-ea"/>
              </a:rPr>
              <a:t>会将换行符留在缓冲区）</a:t>
            </a:r>
            <a:endParaRPr lang="zh-CN" altLang="en-US" dirty="0">
              <a:solidFill>
                <a:prstClr val="black"/>
              </a:solidFill>
              <a:latin typeface="Calibri"/>
              <a:ea typeface="等线" panose="02010600030101010101" pitchFamily="2" charset="-122"/>
            </a:endParaRPr>
          </a:p>
          <a:p>
            <a:endParaRPr lang="zh-CN" altLang="en-US" dirty="0">
              <a:solidFill>
                <a:prstClr val="black"/>
              </a:solidFill>
              <a:latin typeface="微软雅黑" panose="020B0503020204020204" pitchFamily="34" charset="-122"/>
              <a:ea typeface="等线" panose="02010600030101010101" pitchFamily="2" charset="-122"/>
              <a:cs typeface="微软雅黑" panose="020B0503020204020204" pitchFamily="34" charset="-122"/>
            </a:endParaRPr>
          </a:p>
          <a:p>
            <a:endParaRPr lang="en-US" dirty="0">
              <a:solidFill>
                <a:prstClr val="black"/>
              </a:solidFill>
              <a:latin typeface="微软雅黑" panose="020B0503020204020204" pitchFamily="34" charset="-122"/>
              <a:cs typeface="微软雅黑" panose="020B0503020204020204" pitchFamily="34" charset="-122"/>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7091" y="1333186"/>
            <a:ext cx="2658788" cy="1491172"/>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091" y="2936040"/>
            <a:ext cx="4467225" cy="1066800"/>
          </a:xfrm>
          <a:prstGeom prst="rect">
            <a:avLst/>
          </a:prstGeom>
        </p:spPr>
      </p:pic>
      <p:pic>
        <p:nvPicPr>
          <p:cNvPr id="16" name="图片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7091" y="3502558"/>
            <a:ext cx="4476750" cy="1009650"/>
          </a:xfrm>
          <a:prstGeom prst="rect">
            <a:avLst/>
          </a:prstGeom>
        </p:spPr>
      </p:pic>
      <p:pic>
        <p:nvPicPr>
          <p:cNvPr id="2" name="图片 1">
            <a:extLst>
              <a:ext uri="{FF2B5EF4-FFF2-40B4-BE49-F238E27FC236}">
                <a16:creationId xmlns:a16="http://schemas.microsoft.com/office/drawing/2014/main" id="{4C46A64A-69D4-B0AB-5DD7-A04923145EFE}"/>
              </a:ext>
            </a:extLst>
          </p:cNvPr>
          <p:cNvPicPr>
            <a:picLocks noChangeAspect="1"/>
          </p:cNvPicPr>
          <p:nvPr/>
        </p:nvPicPr>
        <p:blipFill>
          <a:blip r:embed="rId6"/>
          <a:stretch>
            <a:fillRect/>
          </a:stretch>
        </p:blipFill>
        <p:spPr>
          <a:xfrm>
            <a:off x="1815939" y="1970272"/>
            <a:ext cx="1933589" cy="609604"/>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B074B59-9688-324C-D273-BC341C7790B6}"/>
              </a:ext>
            </a:extLst>
          </p:cNvPr>
          <p:cNvPicPr>
            <a:picLocks noChangeAspect="1"/>
          </p:cNvPicPr>
          <p:nvPr/>
        </p:nvPicPr>
        <p:blipFill>
          <a:blip r:embed="rId3"/>
          <a:stretch>
            <a:fillRect/>
          </a:stretch>
        </p:blipFill>
        <p:spPr>
          <a:xfrm>
            <a:off x="1427617" y="1446671"/>
            <a:ext cx="4588798" cy="2742087"/>
          </a:xfrm>
          <a:prstGeom prst="rect">
            <a:avLst/>
          </a:prstGeom>
        </p:spPr>
      </p:pic>
      <p:pic>
        <p:nvPicPr>
          <p:cNvPr id="3" name="图片 2">
            <a:extLst>
              <a:ext uri="{FF2B5EF4-FFF2-40B4-BE49-F238E27FC236}">
                <a16:creationId xmlns:a16="http://schemas.microsoft.com/office/drawing/2014/main" id="{D5BE6185-E128-5E9B-A4CF-C103FCB7459A}"/>
              </a:ext>
            </a:extLst>
          </p:cNvPr>
          <p:cNvPicPr>
            <a:picLocks noChangeAspect="1"/>
          </p:cNvPicPr>
          <p:nvPr/>
        </p:nvPicPr>
        <p:blipFill>
          <a:blip r:embed="rId4"/>
          <a:stretch>
            <a:fillRect/>
          </a:stretch>
        </p:blipFill>
        <p:spPr>
          <a:xfrm>
            <a:off x="6606049" y="1357581"/>
            <a:ext cx="4287831" cy="2979096"/>
          </a:xfrm>
          <a:prstGeom prst="rect">
            <a:avLst/>
          </a:prstGeom>
        </p:spPr>
      </p:pic>
      <p:sp>
        <p:nvSpPr>
          <p:cNvPr id="4" name="文本框 3">
            <a:extLst>
              <a:ext uri="{FF2B5EF4-FFF2-40B4-BE49-F238E27FC236}">
                <a16:creationId xmlns:a16="http://schemas.microsoft.com/office/drawing/2014/main" id="{6B7996BB-9F56-987B-DB1E-FF077B951325}"/>
              </a:ext>
            </a:extLst>
          </p:cNvPr>
          <p:cNvSpPr txBox="1"/>
          <p:nvPr/>
        </p:nvSpPr>
        <p:spPr>
          <a:xfrm>
            <a:off x="1427617" y="988249"/>
            <a:ext cx="877163" cy="369332"/>
          </a:xfrm>
          <a:prstGeom prst="rect">
            <a:avLst/>
          </a:prstGeom>
          <a:noFill/>
        </p:spPr>
        <p:txBody>
          <a:bodyPr wrap="none" rtlCol="0">
            <a:spAutoFit/>
          </a:bodyPr>
          <a:lstStyle/>
          <a:p>
            <a:r>
              <a:rPr lang="zh-CN" altLang="en-US" dirty="0"/>
              <a:t>示例：</a:t>
            </a:r>
          </a:p>
        </p:txBody>
      </p:sp>
      <p:sp>
        <p:nvSpPr>
          <p:cNvPr id="5" name="文本框 4">
            <a:extLst>
              <a:ext uri="{FF2B5EF4-FFF2-40B4-BE49-F238E27FC236}">
                <a16:creationId xmlns:a16="http://schemas.microsoft.com/office/drawing/2014/main" id="{F8E8E225-1833-2D2E-692C-0E24F5D9EEBE}"/>
              </a:ext>
            </a:extLst>
          </p:cNvPr>
          <p:cNvSpPr txBox="1"/>
          <p:nvPr/>
        </p:nvSpPr>
        <p:spPr>
          <a:xfrm>
            <a:off x="701017" y="4839661"/>
            <a:ext cx="11670182" cy="830997"/>
          </a:xfrm>
          <a:prstGeom prst="rect">
            <a:avLst/>
          </a:prstGeom>
          <a:noFill/>
        </p:spPr>
        <p:txBody>
          <a:bodyPr wrap="none" rtlCol="0">
            <a:spAutoFit/>
          </a:bodyPr>
          <a:lstStyle/>
          <a:p>
            <a:r>
              <a:rPr lang="zh-CN" altLang="en-US" sz="2400" dirty="0"/>
              <a:t>思考</a:t>
            </a:r>
            <a:r>
              <a:rPr lang="en-US" altLang="zh-CN" sz="2400" dirty="0"/>
              <a:t>:</a:t>
            </a:r>
            <a:r>
              <a:rPr lang="zh-CN" altLang="en-US" sz="2400" dirty="0"/>
              <a:t>从上述代码中可以借鉴那些地方</a:t>
            </a:r>
            <a:r>
              <a:rPr lang="en-US" altLang="zh-CN" sz="2400" dirty="0"/>
              <a:t>(while((</a:t>
            </a:r>
            <a:r>
              <a:rPr lang="en-US" altLang="zh-CN" sz="2400" dirty="0" err="1"/>
              <a:t>ch</a:t>
            </a:r>
            <a:r>
              <a:rPr lang="en-US" altLang="zh-CN" sz="2400" dirty="0"/>
              <a:t>=</a:t>
            </a:r>
            <a:r>
              <a:rPr lang="en-US" altLang="zh-CN" sz="2400" dirty="0" err="1"/>
              <a:t>getchar</a:t>
            </a:r>
            <a:r>
              <a:rPr lang="en-US" altLang="zh-CN" sz="2400" dirty="0"/>
              <a:t>())!=‘\n’)</a:t>
            </a:r>
            <a:r>
              <a:rPr lang="zh-CN" altLang="en-US" sz="2400" dirty="0"/>
              <a:t>是不是可以借鉴下来，</a:t>
            </a:r>
            <a:endParaRPr lang="en-US" altLang="zh-CN" sz="2400" dirty="0"/>
          </a:p>
          <a:p>
            <a:r>
              <a:rPr lang="zh-CN" altLang="en-US" sz="2400" dirty="0"/>
              <a:t>改改就成快读和读取多余字符的代码</a:t>
            </a:r>
            <a:r>
              <a:rPr lang="en-US" altLang="zh-CN" sz="2400" dirty="0"/>
              <a:t>)</a:t>
            </a:r>
            <a:endParaRPr lang="zh-CN" altLang="en-US" sz="2400" dirty="0"/>
          </a:p>
        </p:txBody>
      </p:sp>
      <p:sp>
        <p:nvSpPr>
          <p:cNvPr id="10" name="文本框 4">
            <a:extLst>
              <a:ext uri="{FF2B5EF4-FFF2-40B4-BE49-F238E27FC236}">
                <a16:creationId xmlns:a16="http://schemas.microsoft.com/office/drawing/2014/main" id="{24BA277E-3E29-E1BF-9011-9B229BB6AE8E}"/>
              </a:ext>
            </a:extLst>
          </p:cNvPr>
          <p:cNvSpPr txBox="1">
            <a:spLocks noChangeArrowheads="1"/>
          </p:cNvSpPr>
          <p:nvPr/>
        </p:nvSpPr>
        <p:spPr bwMode="auto">
          <a:xfrm>
            <a:off x="649644" y="315780"/>
            <a:ext cx="4927997" cy="5909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字符串</a:t>
            </a:r>
            <a:r>
              <a:rPr lang="en-US" altLang="zh-CN" dirty="0"/>
              <a:t>——</a:t>
            </a:r>
            <a:r>
              <a:rPr lang="zh-CN" altLang="en-US" dirty="0"/>
              <a:t>输入输出</a:t>
            </a:r>
          </a:p>
        </p:txBody>
      </p:sp>
    </p:spTree>
    <p:extLst>
      <p:ext uri="{BB962C8B-B14F-4D97-AF65-F5344CB8AC3E}">
        <p14:creationId xmlns:p14="http://schemas.microsoft.com/office/powerpoint/2010/main" val="4167575121"/>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3" descr="正确"/>
          <p:cNvSpPr>
            <a:spLocks noChangeAspect="1" noChangeArrowheads="1"/>
          </p:cNvSpPr>
          <p:nvPr/>
        </p:nvSpPr>
        <p:spPr bwMode="auto">
          <a:xfrm>
            <a:off x="3024189" y="1709739"/>
            <a:ext cx="6066235" cy="481013"/>
          </a:xfrm>
          <a:prstGeom prst="rect">
            <a:avLst/>
          </a:prstGeom>
          <a:noFill/>
        </p:spPr>
        <p:txBody>
          <a:bodyPr/>
          <a:lstStyle/>
          <a:p>
            <a:pPr>
              <a:defRPr/>
            </a:pPr>
            <a:endParaRPr lang="zh-CN" altLang="en-US" sz="1500" dirty="0">
              <a:solidFill>
                <a:prstClr val="black"/>
              </a:solidFill>
              <a:latin typeface="Microsoft YaHei UI" panose="020B0503020204020204" pitchFamily="34" charset="-122"/>
              <a:ea typeface="微软雅黑" panose="020B0503020204020204" pitchFamily="34" charset="-122"/>
              <a:cs typeface="+mn-ea"/>
              <a:sym typeface="+mn-lt"/>
            </a:endParaRPr>
          </a:p>
        </p:txBody>
      </p:sp>
      <p:sp>
        <p:nvSpPr>
          <p:cNvPr id="110600" name="文本框 4"/>
          <p:cNvSpPr txBox="1">
            <a:spLocks noChangeArrowheads="1"/>
          </p:cNvSpPr>
          <p:nvPr/>
        </p:nvSpPr>
        <p:spPr bwMode="auto">
          <a:xfrm>
            <a:off x="568405" y="46305"/>
            <a:ext cx="5749267" cy="1089529"/>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字符串</a:t>
            </a:r>
            <a:r>
              <a:rPr lang="en-US" altLang="zh-CN" dirty="0"/>
              <a:t>——</a:t>
            </a:r>
            <a:r>
              <a:rPr lang="zh-CN" altLang="en-US" dirty="0"/>
              <a:t>输入输出的问题</a:t>
            </a:r>
          </a:p>
        </p:txBody>
      </p:sp>
      <p:pic>
        <p:nvPicPr>
          <p:cNvPr id="2" name="图片 1" descr="字符串输入（程序）1"/>
          <p:cNvPicPr>
            <a:picLocks noChangeAspect="1"/>
          </p:cNvPicPr>
          <p:nvPr/>
        </p:nvPicPr>
        <p:blipFill>
          <a:blip r:embed="rId2"/>
          <a:stretch>
            <a:fillRect/>
          </a:stretch>
        </p:blipFill>
        <p:spPr>
          <a:xfrm>
            <a:off x="672873" y="1223509"/>
            <a:ext cx="3504724" cy="2799398"/>
          </a:xfrm>
          <a:prstGeom prst="rect">
            <a:avLst/>
          </a:prstGeom>
          <a:ln w="12700">
            <a:solidFill>
              <a:schemeClr val="accent1"/>
            </a:solidFill>
          </a:ln>
        </p:spPr>
      </p:pic>
      <p:sp>
        <p:nvSpPr>
          <p:cNvPr id="5" name="文本框 4"/>
          <p:cNvSpPr txBox="1"/>
          <p:nvPr/>
        </p:nvSpPr>
        <p:spPr>
          <a:xfrm>
            <a:off x="4735085" y="1223509"/>
            <a:ext cx="1783080" cy="2999740"/>
          </a:xfrm>
          <a:prstGeom prst="rect">
            <a:avLst/>
          </a:prstGeom>
          <a:noFill/>
        </p:spPr>
        <p:txBody>
          <a:bodyPr wrap="none" rtlCol="0">
            <a:spAutoFit/>
          </a:bodyPr>
          <a:lstStyle/>
          <a:p>
            <a:pPr>
              <a:lnSpc>
                <a:spcPct val="150000"/>
              </a:lnSpc>
            </a:pPr>
            <a:r>
              <a:rPr kumimoji="1" lang="zh-CN" altLang="en-US" dirty="0"/>
              <a:t>输入：</a:t>
            </a:r>
            <a:endParaRPr kumimoji="1" lang="en-US" altLang="zh-CN" dirty="0"/>
          </a:p>
          <a:p>
            <a:pPr>
              <a:lnSpc>
                <a:spcPct val="150000"/>
              </a:lnSpc>
            </a:pPr>
            <a:r>
              <a:rPr kumimoji="1" lang="en-US" altLang="zh-CN" dirty="0"/>
              <a:t>Hello!</a:t>
            </a:r>
          </a:p>
          <a:p>
            <a:pPr>
              <a:lnSpc>
                <a:spcPct val="150000"/>
              </a:lnSpc>
            </a:pPr>
            <a:r>
              <a:rPr kumimoji="1" lang="en-US" altLang="zh-CN" dirty="0"/>
              <a:t>world!</a:t>
            </a:r>
          </a:p>
          <a:p>
            <a:pPr>
              <a:lnSpc>
                <a:spcPct val="150000"/>
              </a:lnSpc>
            </a:pPr>
            <a:r>
              <a:rPr kumimoji="1" lang="zh-CN" altLang="en-US" dirty="0"/>
              <a:t>能否正常输出：</a:t>
            </a:r>
            <a:endParaRPr kumimoji="1" lang="en-US" altLang="zh-CN" dirty="0"/>
          </a:p>
          <a:p>
            <a:pPr>
              <a:lnSpc>
                <a:spcPct val="150000"/>
              </a:lnSpc>
            </a:pPr>
            <a:r>
              <a:rPr kumimoji="1" lang="en-US" altLang="zh-CN" dirty="0"/>
              <a:t>Hello!</a:t>
            </a:r>
          </a:p>
          <a:p>
            <a:pPr>
              <a:lnSpc>
                <a:spcPct val="150000"/>
              </a:lnSpc>
            </a:pPr>
            <a:r>
              <a:rPr kumimoji="1" lang="en-US" altLang="zh-CN" dirty="0"/>
              <a:t>World!</a:t>
            </a:r>
          </a:p>
          <a:p>
            <a:pPr>
              <a:lnSpc>
                <a:spcPct val="150000"/>
              </a:lnSpc>
            </a:pPr>
            <a:r>
              <a:rPr kumimoji="1" lang="en-US" altLang="zh-CN" dirty="0"/>
              <a:t>?</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116" y="4398599"/>
            <a:ext cx="4804803" cy="981075"/>
          </a:xfrm>
          <a:prstGeom prst="rect">
            <a:avLst/>
          </a:prstGeom>
        </p:spPr>
      </p:pic>
      <p:sp>
        <p:nvSpPr>
          <p:cNvPr id="3" name="文本框 2"/>
          <p:cNvSpPr txBox="1"/>
          <p:nvPr/>
        </p:nvSpPr>
        <p:spPr>
          <a:xfrm>
            <a:off x="6528913" y="2190752"/>
            <a:ext cx="3791655" cy="3256084"/>
          </a:xfrm>
          <a:prstGeom prst="rect">
            <a:avLst/>
          </a:prstGeom>
          <a:noFill/>
        </p:spPr>
        <p:txBody>
          <a:bodyPr wrap="square" rtlCol="0">
            <a:spAutoFit/>
          </a:bodyPr>
          <a:lstStyle/>
          <a:p>
            <a:pPr>
              <a:lnSpc>
                <a:spcPct val="150000"/>
              </a:lnSpc>
            </a:pPr>
            <a:r>
              <a:rPr lang="zh-CN" altLang="en-US" sz="2800" dirty="0">
                <a:latin typeface="微软雅黑" panose="020B0503020204020204" pitchFamily="34" charset="-122"/>
                <a:cs typeface="微软雅黑" panose="020B0503020204020204" pitchFamily="34" charset="-122"/>
              </a:rPr>
              <a:t>原因：</a:t>
            </a:r>
          </a:p>
          <a:p>
            <a:pPr>
              <a:lnSpc>
                <a:spcPct val="150000"/>
              </a:lnSpc>
            </a:pPr>
            <a:r>
              <a:rPr lang="zh-CN" altLang="en-US" sz="2800" dirty="0">
                <a:latin typeface="微软雅黑" panose="020B0503020204020204" pitchFamily="34" charset="-122"/>
                <a:cs typeface="微软雅黑" panose="020B0503020204020204" pitchFamily="34" charset="-122"/>
              </a:rPr>
              <a:t>用</a:t>
            </a:r>
            <a:r>
              <a:rPr lang="en-US" altLang="zh-CN" sz="2800" dirty="0">
                <a:latin typeface="微软雅黑" panose="020B0503020204020204" pitchFamily="34" charset="-122"/>
                <a:cs typeface="微软雅黑" panose="020B0503020204020204" pitchFamily="34" charset="-122"/>
              </a:rPr>
              <a:t>scanf</a:t>
            </a:r>
            <a:r>
              <a:rPr lang="zh-CN" altLang="en-US" sz="2800" dirty="0">
                <a:latin typeface="微软雅黑" panose="020B0503020204020204" pitchFamily="34" charset="-122"/>
                <a:cs typeface="微软雅黑" panose="020B0503020204020204" pitchFamily="34" charset="-122"/>
              </a:rPr>
              <a:t>获取</a:t>
            </a:r>
            <a:r>
              <a:rPr lang="en-US" altLang="zh-CN" sz="2800" dirty="0">
                <a:latin typeface="微软雅黑" panose="020B0503020204020204" pitchFamily="34" charset="-122"/>
                <a:cs typeface="微软雅黑" panose="020B0503020204020204" pitchFamily="34" charset="-122"/>
              </a:rPr>
              <a:t>str1</a:t>
            </a:r>
            <a:r>
              <a:rPr lang="zh-CN" altLang="en-US" sz="2800" dirty="0">
                <a:latin typeface="微软雅黑" panose="020B0503020204020204" pitchFamily="34" charset="-122"/>
                <a:cs typeface="微软雅黑" panose="020B0503020204020204" pitchFamily="34" charset="-122"/>
              </a:rPr>
              <a:t>的内容后，换行符被留在</a:t>
            </a:r>
            <a:r>
              <a:rPr lang="zh-CN" altLang="en-US" sz="2800" b="1" dirty="0">
                <a:latin typeface="微软雅黑" panose="020B0503020204020204" pitchFamily="34" charset="-122"/>
                <a:cs typeface="微软雅黑" panose="020B0503020204020204" pitchFamily="34" charset="-122"/>
              </a:rPr>
              <a:t>缓冲区</a:t>
            </a:r>
            <a:r>
              <a:rPr lang="zh-CN" altLang="en-US" sz="2800" dirty="0">
                <a:latin typeface="微软雅黑" panose="020B0503020204020204" pitchFamily="34" charset="-122"/>
                <a:cs typeface="微软雅黑" panose="020B0503020204020204" pitchFamily="34" charset="-122"/>
              </a:rPr>
              <a:t>，导致</a:t>
            </a:r>
            <a:r>
              <a:rPr lang="en-US" altLang="zh-CN" sz="2800" dirty="0">
                <a:latin typeface="微软雅黑" panose="020B0503020204020204" pitchFamily="34" charset="-122"/>
                <a:cs typeface="微软雅黑" panose="020B0503020204020204" pitchFamily="34" charset="-122"/>
              </a:rPr>
              <a:t>gets</a:t>
            </a:r>
            <a:r>
              <a:rPr lang="zh-CN" altLang="en-US" sz="2800" dirty="0">
                <a:latin typeface="微软雅黑" panose="020B0503020204020204" pitchFamily="34" charset="-122"/>
                <a:cs typeface="微软雅黑" panose="020B0503020204020204" pitchFamily="34" charset="-122"/>
              </a:rPr>
              <a:t>读取到换行符后直接结束</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3" descr="正确"/>
          <p:cNvSpPr>
            <a:spLocks noChangeAspect="1" noChangeArrowheads="1"/>
          </p:cNvSpPr>
          <p:nvPr/>
        </p:nvSpPr>
        <p:spPr bwMode="auto">
          <a:xfrm>
            <a:off x="3024189" y="1709739"/>
            <a:ext cx="6066235" cy="481013"/>
          </a:xfrm>
          <a:prstGeom prst="rect">
            <a:avLst/>
          </a:prstGeom>
          <a:noFill/>
        </p:spPr>
        <p:txBody>
          <a:bodyPr/>
          <a:lstStyle/>
          <a:p>
            <a:pPr>
              <a:defRPr/>
            </a:pPr>
            <a:endParaRPr lang="zh-CN" altLang="en-US" sz="1500" dirty="0">
              <a:solidFill>
                <a:prstClr val="black"/>
              </a:solidFill>
              <a:latin typeface="Microsoft YaHei UI" panose="020B0503020204020204" pitchFamily="34" charset="-122"/>
              <a:ea typeface="微软雅黑" panose="020B0503020204020204" pitchFamily="34" charset="-122"/>
              <a:cs typeface="+mn-ea"/>
              <a:sym typeface="+mn-lt"/>
            </a:endParaRPr>
          </a:p>
        </p:txBody>
      </p:sp>
      <p:sp>
        <p:nvSpPr>
          <p:cNvPr id="110600" name="文本框 4"/>
          <p:cNvSpPr txBox="1">
            <a:spLocks noChangeArrowheads="1"/>
          </p:cNvSpPr>
          <p:nvPr/>
        </p:nvSpPr>
        <p:spPr bwMode="auto">
          <a:xfrm>
            <a:off x="543583" y="382107"/>
            <a:ext cx="4927997"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字符串</a:t>
            </a:r>
            <a:r>
              <a:rPr lang="en-US" altLang="zh-CN" dirty="0"/>
              <a:t>——</a:t>
            </a:r>
            <a:r>
              <a:rPr lang="zh-CN" altLang="en-US" dirty="0"/>
              <a:t>函数处理</a:t>
            </a:r>
          </a:p>
        </p:txBody>
      </p:sp>
      <p:sp>
        <p:nvSpPr>
          <p:cNvPr id="3" name="文本框 2"/>
          <p:cNvSpPr txBox="1"/>
          <p:nvPr/>
        </p:nvSpPr>
        <p:spPr>
          <a:xfrm>
            <a:off x="543583" y="4500504"/>
            <a:ext cx="3008948" cy="368300"/>
          </a:xfrm>
          <a:prstGeom prst="rect">
            <a:avLst/>
          </a:prstGeom>
          <a:noFill/>
        </p:spPr>
        <p:txBody>
          <a:bodyPr wrap="square" rtlCol="0">
            <a:spAutoFit/>
          </a:bodyPr>
          <a:lstStyle/>
          <a:p>
            <a:r>
              <a:rPr lang="en-US" altLang="zh-CN" dirty="0">
                <a:latin typeface="微软雅黑" panose="020B0503020204020204" pitchFamily="34" charset="-122"/>
              </a:rPr>
              <a:t>#include &lt;string.h&gt;</a:t>
            </a:r>
          </a:p>
        </p:txBody>
      </p:sp>
      <p:graphicFrame>
        <p:nvGraphicFramePr>
          <p:cNvPr id="5" name="表格 4"/>
          <p:cNvGraphicFramePr/>
          <p:nvPr/>
        </p:nvGraphicFramePr>
        <p:xfrm>
          <a:off x="591819" y="980374"/>
          <a:ext cx="7616010" cy="3547680"/>
        </p:xfrm>
        <a:graphic>
          <a:graphicData uri="http://schemas.openxmlformats.org/drawingml/2006/table">
            <a:tbl>
              <a:tblPr firstRow="1" bandRow="1">
                <a:tableStyleId>{5C22544A-7EE6-4342-B048-85BDC9FD1C3A}</a:tableStyleId>
              </a:tblPr>
              <a:tblGrid>
                <a:gridCol w="2538670">
                  <a:extLst>
                    <a:ext uri="{9D8B030D-6E8A-4147-A177-3AD203B41FA5}">
                      <a16:colId xmlns:a16="http://schemas.microsoft.com/office/drawing/2014/main" val="20000"/>
                    </a:ext>
                  </a:extLst>
                </a:gridCol>
                <a:gridCol w="2538670">
                  <a:extLst>
                    <a:ext uri="{9D8B030D-6E8A-4147-A177-3AD203B41FA5}">
                      <a16:colId xmlns:a16="http://schemas.microsoft.com/office/drawing/2014/main" val="20001"/>
                    </a:ext>
                  </a:extLst>
                </a:gridCol>
                <a:gridCol w="2538670">
                  <a:extLst>
                    <a:ext uri="{9D8B030D-6E8A-4147-A177-3AD203B41FA5}">
                      <a16:colId xmlns:a16="http://schemas.microsoft.com/office/drawing/2014/main" val="20002"/>
                    </a:ext>
                  </a:extLst>
                </a:gridCol>
              </a:tblGrid>
              <a:tr h="572972">
                <a:tc>
                  <a:txBody>
                    <a:bodyPr/>
                    <a:lstStyle/>
                    <a:p>
                      <a:pPr algn="ctr">
                        <a:buNone/>
                      </a:pPr>
                      <a:r>
                        <a:rPr lang="zh-CN" altLang="en-US" sz="2000" b="0">
                          <a:solidFill>
                            <a:schemeClr val="tx1"/>
                          </a:solidFill>
                        </a:rPr>
                        <a:t>函数</a:t>
                      </a:r>
                    </a:p>
                  </a:txBody>
                  <a:tcPr marL="68580" marR="68580" marT="34290" marB="34290" anchor="ctr"/>
                </a:tc>
                <a:tc>
                  <a:txBody>
                    <a:bodyPr/>
                    <a:lstStyle/>
                    <a:p>
                      <a:pPr algn="ctr">
                        <a:buNone/>
                      </a:pPr>
                      <a:r>
                        <a:rPr lang="zh-CN" altLang="en-US" sz="2000" b="0" dirty="0">
                          <a:solidFill>
                            <a:schemeClr val="tx1"/>
                          </a:solidFill>
                        </a:rPr>
                        <a:t>效果</a:t>
                      </a:r>
                    </a:p>
                  </a:txBody>
                  <a:tcPr marL="68580" marR="68580" marT="34290" marB="34290" anchor="ctr"/>
                </a:tc>
                <a:tc>
                  <a:txBody>
                    <a:bodyPr/>
                    <a:lstStyle/>
                    <a:p>
                      <a:pPr algn="ctr">
                        <a:buNone/>
                      </a:pPr>
                      <a:r>
                        <a:rPr lang="zh-CN" altLang="en-US" sz="2000" b="0">
                          <a:solidFill>
                            <a:schemeClr val="tx1"/>
                          </a:solidFill>
                        </a:rPr>
                        <a:t>返回值</a:t>
                      </a:r>
                    </a:p>
                  </a:txBody>
                  <a:tcPr marL="68580" marR="68580" marT="34290" marB="34290" anchor="ctr"/>
                </a:tc>
                <a:extLst>
                  <a:ext uri="{0D108BD9-81ED-4DB2-BD59-A6C34878D82A}">
                    <a16:rowId xmlns:a16="http://schemas.microsoft.com/office/drawing/2014/main" val="10000"/>
                  </a:ext>
                </a:extLst>
              </a:tr>
              <a:tr h="573639">
                <a:tc>
                  <a:txBody>
                    <a:bodyPr/>
                    <a:lstStyle/>
                    <a:p>
                      <a:pPr algn="ctr">
                        <a:buNone/>
                      </a:pPr>
                      <a:r>
                        <a:rPr lang="en-US" altLang="zh-CN" sz="2000" b="0" dirty="0">
                          <a:solidFill>
                            <a:schemeClr val="tx1"/>
                          </a:solidFill>
                        </a:rPr>
                        <a:t>strcat(str1, str2)</a:t>
                      </a:r>
                    </a:p>
                  </a:txBody>
                  <a:tcPr marL="68580" marR="68580" marT="34290" marB="34290" anchor="ctr">
                    <a:solidFill>
                      <a:schemeClr val="bg1">
                        <a:lumMod val="95000"/>
                      </a:schemeClr>
                    </a:solidFill>
                  </a:tcPr>
                </a:tc>
                <a:tc>
                  <a:txBody>
                    <a:bodyPr/>
                    <a:lstStyle/>
                    <a:p>
                      <a:pPr algn="ctr">
                        <a:buNone/>
                      </a:pPr>
                      <a:r>
                        <a:rPr lang="zh-CN" altLang="en-US" sz="2000" b="0" dirty="0">
                          <a:solidFill>
                            <a:schemeClr val="tx1"/>
                          </a:solidFill>
                        </a:rPr>
                        <a:t>将</a:t>
                      </a:r>
                      <a:r>
                        <a:rPr lang="en-US" altLang="zh-CN" sz="2000" b="0" dirty="0">
                          <a:solidFill>
                            <a:schemeClr val="tx1"/>
                          </a:solidFill>
                        </a:rPr>
                        <a:t>str2</a:t>
                      </a:r>
                      <a:r>
                        <a:rPr lang="zh-CN" altLang="en-US" sz="2000" b="0" dirty="0">
                          <a:solidFill>
                            <a:schemeClr val="tx1"/>
                          </a:solidFill>
                        </a:rPr>
                        <a:t>连接到</a:t>
                      </a:r>
                      <a:r>
                        <a:rPr lang="en-US" altLang="zh-CN" sz="2000" b="0" dirty="0">
                          <a:solidFill>
                            <a:schemeClr val="tx1"/>
                          </a:solidFill>
                        </a:rPr>
                        <a:t>str1</a:t>
                      </a:r>
                      <a:r>
                        <a:rPr lang="zh-CN" altLang="en-US" sz="2000" b="0" dirty="0">
                          <a:solidFill>
                            <a:schemeClr val="tx1"/>
                          </a:solidFill>
                        </a:rPr>
                        <a:t>后</a:t>
                      </a:r>
                    </a:p>
                  </a:txBody>
                  <a:tcPr marL="68580" marR="68580" marT="34290" marB="34290" anchor="ctr">
                    <a:solidFill>
                      <a:schemeClr val="bg1">
                        <a:lumMod val="95000"/>
                      </a:schemeClr>
                    </a:solidFill>
                  </a:tcPr>
                </a:tc>
                <a:tc>
                  <a:txBody>
                    <a:bodyPr/>
                    <a:lstStyle/>
                    <a:p>
                      <a:pPr algn="ctr">
                        <a:buNone/>
                      </a:pPr>
                      <a:r>
                        <a:rPr lang="en-US" altLang="zh-CN" sz="2000" b="0">
                          <a:solidFill>
                            <a:schemeClr val="tx1"/>
                          </a:solidFill>
                        </a:rPr>
                        <a:t>str1</a:t>
                      </a:r>
                    </a:p>
                  </a:txBody>
                  <a:tcPr marL="68580" marR="68580" marT="34290" marB="34290" anchor="ctr">
                    <a:solidFill>
                      <a:schemeClr val="bg1">
                        <a:lumMod val="95000"/>
                      </a:schemeClr>
                    </a:solidFill>
                  </a:tcPr>
                </a:tc>
                <a:extLst>
                  <a:ext uri="{0D108BD9-81ED-4DB2-BD59-A6C34878D82A}">
                    <a16:rowId xmlns:a16="http://schemas.microsoft.com/office/drawing/2014/main" val="10001"/>
                  </a:ext>
                </a:extLst>
              </a:tr>
              <a:tr h="792422">
                <a:tc>
                  <a:txBody>
                    <a:bodyPr/>
                    <a:lstStyle/>
                    <a:p>
                      <a:pPr algn="ctr">
                        <a:buNone/>
                      </a:pPr>
                      <a:r>
                        <a:rPr lang="en-US" altLang="zh-CN" sz="2000" b="0" dirty="0" err="1">
                          <a:solidFill>
                            <a:schemeClr val="tx1"/>
                          </a:solidFill>
                        </a:rPr>
                        <a:t>strcmp</a:t>
                      </a:r>
                      <a:r>
                        <a:rPr lang="en-US" altLang="zh-CN" sz="2000" b="0" dirty="0">
                          <a:solidFill>
                            <a:schemeClr val="tx1"/>
                          </a:solidFill>
                        </a:rPr>
                        <a:t>(str1, str2)</a:t>
                      </a:r>
                    </a:p>
                  </a:txBody>
                  <a:tcPr marL="68580" marR="68580" marT="34290" marB="34290" anchor="ctr">
                    <a:solidFill>
                      <a:schemeClr val="tx2">
                        <a:lumMod val="20000"/>
                        <a:lumOff val="80000"/>
                      </a:schemeClr>
                    </a:solidFill>
                  </a:tcPr>
                </a:tc>
                <a:tc>
                  <a:txBody>
                    <a:bodyPr/>
                    <a:lstStyle/>
                    <a:p>
                      <a:pPr algn="ctr">
                        <a:buNone/>
                      </a:pPr>
                      <a:r>
                        <a:rPr lang="zh-CN" altLang="en-US" sz="2000" b="0" dirty="0">
                          <a:solidFill>
                            <a:schemeClr val="tx1"/>
                          </a:solidFill>
                        </a:rPr>
                        <a:t>比较</a:t>
                      </a:r>
                      <a:r>
                        <a:rPr lang="en-US" altLang="zh-CN" sz="2000" b="0" dirty="0">
                          <a:solidFill>
                            <a:schemeClr val="tx1"/>
                          </a:solidFill>
                        </a:rPr>
                        <a:t>str1</a:t>
                      </a:r>
                      <a:r>
                        <a:rPr lang="zh-CN" altLang="en-US" sz="2000" b="0" dirty="0">
                          <a:solidFill>
                            <a:schemeClr val="tx1"/>
                          </a:solidFill>
                        </a:rPr>
                        <a:t>与</a:t>
                      </a:r>
                      <a:r>
                        <a:rPr lang="en-US" altLang="zh-CN" sz="2000" b="0" dirty="0">
                          <a:solidFill>
                            <a:schemeClr val="tx1"/>
                          </a:solidFill>
                        </a:rPr>
                        <a:t>str2</a:t>
                      </a:r>
                    </a:p>
                  </a:txBody>
                  <a:tcPr marL="68580" marR="68580" marT="34290" marB="34290" anchor="ctr">
                    <a:solidFill>
                      <a:schemeClr val="tx2">
                        <a:lumMod val="20000"/>
                        <a:lumOff val="80000"/>
                      </a:schemeClr>
                    </a:solidFill>
                  </a:tcPr>
                </a:tc>
                <a:tc>
                  <a:txBody>
                    <a:bodyPr/>
                    <a:lstStyle/>
                    <a:p>
                      <a:pPr algn="ctr">
                        <a:buNone/>
                      </a:pPr>
                      <a:r>
                        <a:rPr lang="en-US" altLang="zh-CN" sz="2000" b="0" dirty="0">
                          <a:solidFill>
                            <a:schemeClr val="tx1"/>
                          </a:solidFill>
                        </a:rPr>
                        <a:t>str1&lt;str2, </a:t>
                      </a:r>
                      <a:r>
                        <a:rPr lang="zh-CN" altLang="en-US" sz="2000" b="0" dirty="0">
                          <a:solidFill>
                            <a:schemeClr val="tx1"/>
                          </a:solidFill>
                        </a:rPr>
                        <a:t>返回负数</a:t>
                      </a:r>
                    </a:p>
                    <a:p>
                      <a:pPr algn="ctr">
                        <a:buNone/>
                      </a:pPr>
                      <a:r>
                        <a:rPr lang="en-US" altLang="zh-CN" sz="2000" dirty="0">
                          <a:solidFill>
                            <a:schemeClr val="tx1"/>
                          </a:solidFill>
                          <a:sym typeface="+mn-ea"/>
                        </a:rPr>
                        <a:t>str1==str2, </a:t>
                      </a:r>
                      <a:r>
                        <a:rPr lang="zh-CN" altLang="en-US" sz="2000" dirty="0">
                          <a:solidFill>
                            <a:schemeClr val="tx1"/>
                          </a:solidFill>
                          <a:sym typeface="+mn-ea"/>
                        </a:rPr>
                        <a:t>返回</a:t>
                      </a:r>
                      <a:r>
                        <a:rPr lang="en-US" altLang="zh-CN" sz="2000" dirty="0">
                          <a:solidFill>
                            <a:schemeClr val="tx1"/>
                          </a:solidFill>
                          <a:sym typeface="+mn-ea"/>
                        </a:rPr>
                        <a:t>0</a:t>
                      </a:r>
                      <a:endParaRPr lang="zh-CN" altLang="en-US" sz="2000" b="0" dirty="0">
                        <a:solidFill>
                          <a:schemeClr val="tx1"/>
                        </a:solidFill>
                        <a:sym typeface="+mn-ea"/>
                      </a:endParaRPr>
                    </a:p>
                    <a:p>
                      <a:pPr algn="ctr">
                        <a:buNone/>
                      </a:pPr>
                      <a:r>
                        <a:rPr lang="en-US" altLang="zh-CN" sz="2000" dirty="0">
                          <a:solidFill>
                            <a:schemeClr val="tx1"/>
                          </a:solidFill>
                          <a:sym typeface="+mn-ea"/>
                        </a:rPr>
                        <a:t>str1&gt;str2, </a:t>
                      </a:r>
                      <a:r>
                        <a:rPr lang="zh-CN" altLang="en-US" sz="2000" dirty="0">
                          <a:solidFill>
                            <a:schemeClr val="tx1"/>
                          </a:solidFill>
                          <a:sym typeface="+mn-ea"/>
                        </a:rPr>
                        <a:t>返回正数</a:t>
                      </a:r>
                      <a:endParaRPr lang="zh-CN" altLang="en-US" sz="2000" b="0" dirty="0">
                        <a:solidFill>
                          <a:schemeClr val="tx1"/>
                        </a:solidFill>
                      </a:endParaRPr>
                    </a:p>
                  </a:txBody>
                  <a:tcPr marL="68580" marR="68580" marT="34290" marB="34290" anchor="ctr">
                    <a:solidFill>
                      <a:schemeClr val="tx2">
                        <a:lumMod val="20000"/>
                        <a:lumOff val="80000"/>
                      </a:schemeClr>
                    </a:solidFill>
                  </a:tcPr>
                </a:tc>
                <a:extLst>
                  <a:ext uri="{0D108BD9-81ED-4DB2-BD59-A6C34878D82A}">
                    <a16:rowId xmlns:a16="http://schemas.microsoft.com/office/drawing/2014/main" val="10002"/>
                  </a:ext>
                </a:extLst>
              </a:tr>
              <a:tr h="573639">
                <a:tc>
                  <a:txBody>
                    <a:bodyPr/>
                    <a:lstStyle/>
                    <a:p>
                      <a:pPr algn="ctr">
                        <a:buNone/>
                      </a:pPr>
                      <a:r>
                        <a:rPr lang="en-US" altLang="zh-CN" sz="2000" b="0" dirty="0" err="1">
                          <a:solidFill>
                            <a:schemeClr val="tx1"/>
                          </a:solidFill>
                        </a:rPr>
                        <a:t>strcpy</a:t>
                      </a:r>
                      <a:r>
                        <a:rPr lang="en-US" altLang="zh-CN" sz="2000" b="0" dirty="0">
                          <a:solidFill>
                            <a:schemeClr val="tx1"/>
                          </a:solidFill>
                        </a:rPr>
                        <a:t>(str1, str2)</a:t>
                      </a:r>
                    </a:p>
                  </a:txBody>
                  <a:tcPr marL="68580" marR="68580" marT="34290" marB="34290" anchor="ctr">
                    <a:solidFill>
                      <a:schemeClr val="bg1">
                        <a:lumMod val="95000"/>
                      </a:schemeClr>
                    </a:solidFill>
                  </a:tcPr>
                </a:tc>
                <a:tc>
                  <a:txBody>
                    <a:bodyPr/>
                    <a:lstStyle/>
                    <a:p>
                      <a:pPr algn="ctr">
                        <a:buNone/>
                      </a:pPr>
                      <a:r>
                        <a:rPr lang="zh-CN" altLang="en-US" sz="2000" b="0" dirty="0">
                          <a:solidFill>
                            <a:schemeClr val="tx1"/>
                          </a:solidFill>
                        </a:rPr>
                        <a:t>将</a:t>
                      </a:r>
                      <a:r>
                        <a:rPr lang="en-US" altLang="zh-CN" sz="2000" b="0" dirty="0">
                          <a:solidFill>
                            <a:schemeClr val="tx1"/>
                          </a:solidFill>
                        </a:rPr>
                        <a:t>str2</a:t>
                      </a:r>
                      <a:r>
                        <a:rPr lang="zh-CN" altLang="en-US" sz="2000" b="0" dirty="0">
                          <a:solidFill>
                            <a:schemeClr val="tx1"/>
                          </a:solidFill>
                        </a:rPr>
                        <a:t>拷贝到</a:t>
                      </a:r>
                      <a:r>
                        <a:rPr lang="en-US" altLang="zh-CN" sz="2000" b="0" dirty="0">
                          <a:solidFill>
                            <a:schemeClr val="tx1"/>
                          </a:solidFill>
                        </a:rPr>
                        <a:t>str1</a:t>
                      </a:r>
                      <a:r>
                        <a:rPr lang="zh-CN" altLang="en-US" sz="2000" b="0" dirty="0">
                          <a:solidFill>
                            <a:schemeClr val="tx1"/>
                          </a:solidFill>
                        </a:rPr>
                        <a:t>中</a:t>
                      </a:r>
                    </a:p>
                  </a:txBody>
                  <a:tcPr marL="68580" marR="68580" marT="34290" marB="34290" anchor="ctr">
                    <a:solidFill>
                      <a:schemeClr val="bg1">
                        <a:lumMod val="95000"/>
                      </a:schemeClr>
                    </a:solidFill>
                  </a:tcPr>
                </a:tc>
                <a:tc>
                  <a:txBody>
                    <a:bodyPr/>
                    <a:lstStyle/>
                    <a:p>
                      <a:pPr algn="ctr">
                        <a:buNone/>
                      </a:pPr>
                      <a:r>
                        <a:rPr lang="en-US" altLang="zh-CN" sz="2000" b="0" dirty="0">
                          <a:solidFill>
                            <a:schemeClr val="tx1"/>
                          </a:solidFill>
                        </a:rPr>
                        <a:t>str1</a:t>
                      </a:r>
                    </a:p>
                  </a:txBody>
                  <a:tcPr marL="68580" marR="68580" marT="34290" marB="34290" anchor="ctr">
                    <a:solidFill>
                      <a:schemeClr val="bg1">
                        <a:lumMod val="95000"/>
                      </a:schemeClr>
                    </a:solidFill>
                  </a:tcPr>
                </a:tc>
                <a:extLst>
                  <a:ext uri="{0D108BD9-81ED-4DB2-BD59-A6C34878D82A}">
                    <a16:rowId xmlns:a16="http://schemas.microsoft.com/office/drawing/2014/main" val="10003"/>
                  </a:ext>
                </a:extLst>
              </a:tr>
              <a:tr h="844450">
                <a:tc>
                  <a:txBody>
                    <a:bodyPr/>
                    <a:lstStyle/>
                    <a:p>
                      <a:pPr algn="ctr">
                        <a:buNone/>
                      </a:pPr>
                      <a:r>
                        <a:rPr lang="en-US" altLang="zh-CN" sz="2000" b="0" dirty="0" err="1">
                          <a:solidFill>
                            <a:schemeClr val="tx1"/>
                          </a:solidFill>
                        </a:rPr>
                        <a:t>strlen</a:t>
                      </a:r>
                      <a:r>
                        <a:rPr lang="en-US" altLang="zh-CN" sz="2000" b="0" dirty="0">
                          <a:solidFill>
                            <a:schemeClr val="tx1"/>
                          </a:solidFill>
                        </a:rPr>
                        <a:t>(str)</a:t>
                      </a:r>
                    </a:p>
                  </a:txBody>
                  <a:tcPr marL="68580" marR="68580" marT="34290" marB="34290" anchor="ctr">
                    <a:solidFill>
                      <a:schemeClr val="tx2">
                        <a:lumMod val="20000"/>
                        <a:lumOff val="80000"/>
                      </a:schemeClr>
                    </a:solidFill>
                  </a:tcPr>
                </a:tc>
                <a:tc>
                  <a:txBody>
                    <a:bodyPr/>
                    <a:lstStyle/>
                    <a:p>
                      <a:pPr algn="ctr">
                        <a:buNone/>
                      </a:pPr>
                      <a:r>
                        <a:rPr lang="zh-CN" altLang="en-US" sz="2000" b="0" dirty="0">
                          <a:solidFill>
                            <a:schemeClr val="tx1"/>
                          </a:solidFill>
                        </a:rPr>
                        <a:t>求</a:t>
                      </a:r>
                      <a:r>
                        <a:rPr lang="en-US" altLang="zh-CN" sz="2000" b="0" dirty="0">
                          <a:solidFill>
                            <a:schemeClr val="tx1"/>
                          </a:solidFill>
                        </a:rPr>
                        <a:t>str</a:t>
                      </a:r>
                      <a:r>
                        <a:rPr lang="zh-CN" altLang="en-US" sz="2000" b="0" dirty="0">
                          <a:solidFill>
                            <a:schemeClr val="tx1"/>
                          </a:solidFill>
                        </a:rPr>
                        <a:t>中字符长度</a:t>
                      </a:r>
                    </a:p>
                  </a:txBody>
                  <a:tcPr marL="68580" marR="68580" marT="34290" marB="34290" anchor="ctr">
                    <a:solidFill>
                      <a:schemeClr val="tx2">
                        <a:lumMod val="20000"/>
                        <a:lumOff val="80000"/>
                      </a:schemeClr>
                    </a:solidFill>
                  </a:tcPr>
                </a:tc>
                <a:tc>
                  <a:txBody>
                    <a:bodyPr/>
                    <a:lstStyle/>
                    <a:p>
                      <a:pPr algn="ctr">
                        <a:buNone/>
                      </a:pPr>
                      <a:r>
                        <a:rPr lang="zh-CN" altLang="en-US" sz="2000" b="0" dirty="0">
                          <a:solidFill>
                            <a:schemeClr val="tx1"/>
                          </a:solidFill>
                        </a:rPr>
                        <a:t>字符个数</a:t>
                      </a:r>
                    </a:p>
                  </a:txBody>
                  <a:tcPr marL="68580" marR="68580" marT="34290" marB="34290" anchor="ctr">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2" name="文本框 1">
            <a:extLst>
              <a:ext uri="{FF2B5EF4-FFF2-40B4-BE49-F238E27FC236}">
                <a16:creationId xmlns:a16="http://schemas.microsoft.com/office/drawing/2014/main" id="{10461D8E-C31C-B4DD-3D9D-D859A4904823}"/>
              </a:ext>
            </a:extLst>
          </p:cNvPr>
          <p:cNvSpPr txBox="1"/>
          <p:nvPr/>
        </p:nvSpPr>
        <p:spPr>
          <a:xfrm>
            <a:off x="8416505" y="3825880"/>
            <a:ext cx="3570208" cy="461665"/>
          </a:xfrm>
          <a:prstGeom prst="rect">
            <a:avLst/>
          </a:prstGeom>
          <a:noFill/>
        </p:spPr>
        <p:txBody>
          <a:bodyPr wrap="none" rtlCol="0">
            <a:spAutoFit/>
          </a:bodyPr>
          <a:lstStyle/>
          <a:p>
            <a:r>
              <a:rPr lang="zh-CN" altLang="en-US" sz="2400" dirty="0"/>
              <a:t>思考④：如何自己实现？</a:t>
            </a:r>
            <a:endParaRPr lang="en-US" altLang="zh-CN" sz="2400" dirty="0"/>
          </a:p>
        </p:txBody>
      </p:sp>
      <p:sp>
        <p:nvSpPr>
          <p:cNvPr id="4" name="文本框 3">
            <a:extLst>
              <a:ext uri="{FF2B5EF4-FFF2-40B4-BE49-F238E27FC236}">
                <a16:creationId xmlns:a16="http://schemas.microsoft.com/office/drawing/2014/main" id="{144EC713-A007-9F6F-19B0-8DF550433EF0}"/>
              </a:ext>
            </a:extLst>
          </p:cNvPr>
          <p:cNvSpPr txBox="1"/>
          <p:nvPr/>
        </p:nvSpPr>
        <p:spPr>
          <a:xfrm>
            <a:off x="8549811" y="886370"/>
            <a:ext cx="3303597" cy="1200329"/>
          </a:xfrm>
          <a:prstGeom prst="rect">
            <a:avLst/>
          </a:prstGeom>
          <a:noFill/>
        </p:spPr>
        <p:txBody>
          <a:bodyPr wrap="none" rtlCol="0">
            <a:spAutoFit/>
          </a:bodyPr>
          <a:lstStyle/>
          <a:p>
            <a:r>
              <a:rPr lang="zh-CN" altLang="en-US" sz="2400" dirty="0"/>
              <a:t>思考①</a:t>
            </a:r>
            <a:r>
              <a:rPr lang="en-US" altLang="zh-CN" sz="2400" dirty="0"/>
              <a:t>:</a:t>
            </a:r>
          </a:p>
          <a:p>
            <a:r>
              <a:rPr lang="zh-CN" altLang="en-US" sz="2400" dirty="0"/>
              <a:t>为什么要</a:t>
            </a:r>
            <a:r>
              <a:rPr lang="en-US" altLang="zh-CN" sz="2400" dirty="0" err="1"/>
              <a:t>strcmp</a:t>
            </a:r>
            <a:endParaRPr lang="en-US" altLang="zh-CN" sz="2400" dirty="0"/>
          </a:p>
          <a:p>
            <a:r>
              <a:rPr lang="zh-CN" altLang="en-US" sz="2400" dirty="0"/>
              <a:t>直接</a:t>
            </a:r>
            <a:r>
              <a:rPr lang="en-US" altLang="zh-CN" sz="2400" dirty="0"/>
              <a:t>str1==str2</a:t>
            </a:r>
            <a:r>
              <a:rPr lang="zh-CN" altLang="en-US" sz="2400" dirty="0"/>
              <a:t>不香吗？</a:t>
            </a:r>
            <a:endParaRPr lang="en-US" altLang="zh-CN" sz="2400" dirty="0"/>
          </a:p>
        </p:txBody>
      </p:sp>
      <p:sp>
        <p:nvSpPr>
          <p:cNvPr id="6" name="文本框 5">
            <a:extLst>
              <a:ext uri="{FF2B5EF4-FFF2-40B4-BE49-F238E27FC236}">
                <a16:creationId xmlns:a16="http://schemas.microsoft.com/office/drawing/2014/main" id="{CA42E017-FE09-B7A4-52B9-1FE8227E96BA}"/>
              </a:ext>
            </a:extLst>
          </p:cNvPr>
          <p:cNvSpPr txBox="1"/>
          <p:nvPr/>
        </p:nvSpPr>
        <p:spPr>
          <a:xfrm>
            <a:off x="8760393" y="2249708"/>
            <a:ext cx="2995820" cy="1200329"/>
          </a:xfrm>
          <a:prstGeom prst="rect">
            <a:avLst/>
          </a:prstGeom>
          <a:noFill/>
        </p:spPr>
        <p:txBody>
          <a:bodyPr wrap="none" rtlCol="0">
            <a:spAutoFit/>
          </a:bodyPr>
          <a:lstStyle/>
          <a:p>
            <a:r>
              <a:rPr lang="zh-CN" altLang="en-US" sz="2400" dirty="0"/>
              <a:t>思考②</a:t>
            </a:r>
            <a:r>
              <a:rPr lang="en-US" altLang="zh-CN" sz="2400" dirty="0"/>
              <a:t>:</a:t>
            </a:r>
          </a:p>
          <a:p>
            <a:r>
              <a:rPr lang="zh-CN" altLang="en-US" sz="2400" dirty="0"/>
              <a:t>既然比较的是地址</a:t>
            </a:r>
            <a:endParaRPr lang="en-US" altLang="zh-CN" sz="2400" dirty="0"/>
          </a:p>
          <a:p>
            <a:r>
              <a:rPr lang="zh-CN" altLang="en-US" sz="2400" dirty="0"/>
              <a:t>那我</a:t>
            </a:r>
            <a:r>
              <a:rPr lang="en-US" altLang="zh-CN" sz="2400" dirty="0"/>
              <a:t>*str1==*str2</a:t>
            </a:r>
            <a:r>
              <a:rPr lang="zh-CN" altLang="en-US" sz="2400" dirty="0"/>
              <a:t>呢？</a:t>
            </a:r>
          </a:p>
        </p:txBody>
      </p:sp>
      <p:pic>
        <p:nvPicPr>
          <p:cNvPr id="7" name="图片 6">
            <a:extLst>
              <a:ext uri="{FF2B5EF4-FFF2-40B4-BE49-F238E27FC236}">
                <a16:creationId xmlns:a16="http://schemas.microsoft.com/office/drawing/2014/main" id="{EE00D62E-6C67-F34F-2CF9-F306FEA31454}"/>
              </a:ext>
            </a:extLst>
          </p:cNvPr>
          <p:cNvPicPr>
            <a:picLocks noChangeAspect="1"/>
          </p:cNvPicPr>
          <p:nvPr/>
        </p:nvPicPr>
        <p:blipFill>
          <a:blip r:embed="rId2"/>
          <a:stretch>
            <a:fillRect/>
          </a:stretch>
        </p:blipFill>
        <p:spPr>
          <a:xfrm>
            <a:off x="591819" y="4876140"/>
            <a:ext cx="3352825" cy="895357"/>
          </a:xfrm>
          <a:prstGeom prst="rect">
            <a:avLst/>
          </a:prstGeom>
        </p:spPr>
      </p:pic>
      <p:sp>
        <p:nvSpPr>
          <p:cNvPr id="8" name="文本框 7">
            <a:extLst>
              <a:ext uri="{FF2B5EF4-FFF2-40B4-BE49-F238E27FC236}">
                <a16:creationId xmlns:a16="http://schemas.microsoft.com/office/drawing/2014/main" id="{78EC9EEC-5989-69E6-2E6F-0D29FF49A1B6}"/>
              </a:ext>
            </a:extLst>
          </p:cNvPr>
          <p:cNvSpPr txBox="1"/>
          <p:nvPr/>
        </p:nvSpPr>
        <p:spPr>
          <a:xfrm>
            <a:off x="6623497" y="4598817"/>
            <a:ext cx="5616730" cy="830997"/>
          </a:xfrm>
          <a:prstGeom prst="rect">
            <a:avLst/>
          </a:prstGeom>
          <a:noFill/>
        </p:spPr>
        <p:txBody>
          <a:bodyPr wrap="none" rtlCol="0">
            <a:spAutoFit/>
          </a:bodyPr>
          <a:lstStyle/>
          <a:p>
            <a:r>
              <a:rPr lang="zh-CN" altLang="en-US" sz="2400" dirty="0"/>
              <a:t>提示③</a:t>
            </a:r>
            <a:r>
              <a:rPr lang="en-US" altLang="zh-CN" sz="2400" dirty="0"/>
              <a:t>:str1,str2</a:t>
            </a:r>
            <a:r>
              <a:rPr lang="zh-CN" altLang="en-US" sz="2400" dirty="0"/>
              <a:t>都什么含义啊，记不住！</a:t>
            </a:r>
            <a:endParaRPr lang="en-US" altLang="zh-CN" sz="2400" dirty="0"/>
          </a:p>
          <a:p>
            <a:r>
              <a:rPr lang="zh-CN" altLang="en-US" sz="2400" dirty="0"/>
              <a:t>没关系，编译器有提示</a:t>
            </a:r>
          </a:p>
        </p:txBody>
      </p:sp>
      <p:pic>
        <p:nvPicPr>
          <p:cNvPr id="10" name="图片 9">
            <a:extLst>
              <a:ext uri="{FF2B5EF4-FFF2-40B4-BE49-F238E27FC236}">
                <a16:creationId xmlns:a16="http://schemas.microsoft.com/office/drawing/2014/main" id="{CF1F5D64-089B-06AF-D853-70EC8515C9E6}"/>
              </a:ext>
            </a:extLst>
          </p:cNvPr>
          <p:cNvPicPr>
            <a:picLocks noChangeAspect="1"/>
          </p:cNvPicPr>
          <p:nvPr/>
        </p:nvPicPr>
        <p:blipFill>
          <a:blip r:embed="rId3"/>
          <a:stretch>
            <a:fillRect/>
          </a:stretch>
        </p:blipFill>
        <p:spPr>
          <a:xfrm>
            <a:off x="7625825" y="5520880"/>
            <a:ext cx="2686070" cy="419103"/>
          </a:xfrm>
          <a:prstGeom prst="rect">
            <a:avLst/>
          </a:prstGeom>
        </p:spPr>
      </p:pic>
      <p:pic>
        <p:nvPicPr>
          <p:cNvPr id="11" name="图片 10">
            <a:extLst>
              <a:ext uri="{FF2B5EF4-FFF2-40B4-BE49-F238E27FC236}">
                <a16:creationId xmlns:a16="http://schemas.microsoft.com/office/drawing/2014/main" id="{B1200704-F3A6-51E1-410D-B9FBBB42313C}"/>
              </a:ext>
            </a:extLst>
          </p:cNvPr>
          <p:cNvPicPr>
            <a:picLocks noChangeAspect="1"/>
          </p:cNvPicPr>
          <p:nvPr/>
        </p:nvPicPr>
        <p:blipFill>
          <a:blip r:embed="rId4"/>
          <a:stretch>
            <a:fillRect/>
          </a:stretch>
        </p:blipFill>
        <p:spPr>
          <a:xfrm>
            <a:off x="7648891" y="6102992"/>
            <a:ext cx="2552719" cy="42862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par>
                                <p:cTn id="23" presetID="16" presetClass="entr" presetSubtype="21"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randombar(horizont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7BD69D1-D489-2626-23C5-FE6DC4C82F6A}"/>
              </a:ext>
            </a:extLst>
          </p:cNvPr>
          <p:cNvPicPr>
            <a:picLocks noChangeAspect="1"/>
          </p:cNvPicPr>
          <p:nvPr/>
        </p:nvPicPr>
        <p:blipFill>
          <a:blip r:embed="rId3"/>
          <a:stretch>
            <a:fillRect/>
          </a:stretch>
        </p:blipFill>
        <p:spPr>
          <a:xfrm>
            <a:off x="1120060" y="1028214"/>
            <a:ext cx="3990960" cy="1664185"/>
          </a:xfrm>
          <a:prstGeom prst="rect">
            <a:avLst/>
          </a:prstGeom>
        </p:spPr>
      </p:pic>
      <p:pic>
        <p:nvPicPr>
          <p:cNvPr id="3" name="图片 2">
            <a:extLst>
              <a:ext uri="{FF2B5EF4-FFF2-40B4-BE49-F238E27FC236}">
                <a16:creationId xmlns:a16="http://schemas.microsoft.com/office/drawing/2014/main" id="{7BB0430E-7940-59A8-6969-788B4C79C21B}"/>
              </a:ext>
            </a:extLst>
          </p:cNvPr>
          <p:cNvPicPr>
            <a:picLocks noChangeAspect="1"/>
          </p:cNvPicPr>
          <p:nvPr/>
        </p:nvPicPr>
        <p:blipFill>
          <a:blip r:embed="rId4"/>
          <a:stretch>
            <a:fillRect/>
          </a:stretch>
        </p:blipFill>
        <p:spPr>
          <a:xfrm>
            <a:off x="5671805" y="863586"/>
            <a:ext cx="4887337" cy="2509007"/>
          </a:xfrm>
          <a:prstGeom prst="rect">
            <a:avLst/>
          </a:prstGeom>
        </p:spPr>
      </p:pic>
      <p:pic>
        <p:nvPicPr>
          <p:cNvPr id="4" name="图片 3">
            <a:extLst>
              <a:ext uri="{FF2B5EF4-FFF2-40B4-BE49-F238E27FC236}">
                <a16:creationId xmlns:a16="http://schemas.microsoft.com/office/drawing/2014/main" id="{0555C15B-2D29-93F5-3D4C-98307F4C3F0F}"/>
              </a:ext>
            </a:extLst>
          </p:cNvPr>
          <p:cNvPicPr>
            <a:picLocks noChangeAspect="1"/>
          </p:cNvPicPr>
          <p:nvPr/>
        </p:nvPicPr>
        <p:blipFill>
          <a:blip r:embed="rId5"/>
          <a:stretch>
            <a:fillRect/>
          </a:stretch>
        </p:blipFill>
        <p:spPr>
          <a:xfrm>
            <a:off x="652352" y="3790102"/>
            <a:ext cx="5040529" cy="2204312"/>
          </a:xfrm>
          <a:prstGeom prst="rect">
            <a:avLst/>
          </a:prstGeom>
        </p:spPr>
      </p:pic>
      <p:pic>
        <p:nvPicPr>
          <p:cNvPr id="5" name="图片 4">
            <a:extLst>
              <a:ext uri="{FF2B5EF4-FFF2-40B4-BE49-F238E27FC236}">
                <a16:creationId xmlns:a16="http://schemas.microsoft.com/office/drawing/2014/main" id="{7614D164-96A0-B4C3-2D83-20021DA895CA}"/>
              </a:ext>
            </a:extLst>
          </p:cNvPr>
          <p:cNvPicPr>
            <a:picLocks noChangeAspect="1"/>
          </p:cNvPicPr>
          <p:nvPr/>
        </p:nvPicPr>
        <p:blipFill>
          <a:blip r:embed="rId6"/>
          <a:stretch>
            <a:fillRect/>
          </a:stretch>
        </p:blipFill>
        <p:spPr>
          <a:xfrm>
            <a:off x="5925806" y="3555902"/>
            <a:ext cx="4197882" cy="2743297"/>
          </a:xfrm>
          <a:prstGeom prst="rect">
            <a:avLst/>
          </a:prstGeom>
        </p:spPr>
      </p:pic>
      <p:sp>
        <p:nvSpPr>
          <p:cNvPr id="6" name="文本框 5">
            <a:extLst>
              <a:ext uri="{FF2B5EF4-FFF2-40B4-BE49-F238E27FC236}">
                <a16:creationId xmlns:a16="http://schemas.microsoft.com/office/drawing/2014/main" id="{F8418B32-2853-04D6-82B8-8E5BD2982C06}"/>
              </a:ext>
            </a:extLst>
          </p:cNvPr>
          <p:cNvSpPr txBox="1"/>
          <p:nvPr/>
        </p:nvSpPr>
        <p:spPr>
          <a:xfrm>
            <a:off x="9632868" y="2198829"/>
            <a:ext cx="1569660" cy="369332"/>
          </a:xfrm>
          <a:prstGeom prst="rect">
            <a:avLst/>
          </a:prstGeom>
          <a:noFill/>
        </p:spPr>
        <p:txBody>
          <a:bodyPr wrap="none" rtlCol="0">
            <a:spAutoFit/>
          </a:bodyPr>
          <a:lstStyle/>
          <a:p>
            <a:r>
              <a:rPr lang="zh-CN" altLang="en-US" dirty="0"/>
              <a:t>数组下标访问</a:t>
            </a:r>
          </a:p>
        </p:txBody>
      </p:sp>
      <p:sp>
        <p:nvSpPr>
          <p:cNvPr id="7" name="文本框 6">
            <a:extLst>
              <a:ext uri="{FF2B5EF4-FFF2-40B4-BE49-F238E27FC236}">
                <a16:creationId xmlns:a16="http://schemas.microsoft.com/office/drawing/2014/main" id="{45C4EFCF-9468-BD0F-B0C8-B8C47F64C497}"/>
              </a:ext>
            </a:extLst>
          </p:cNvPr>
          <p:cNvSpPr txBox="1"/>
          <p:nvPr/>
        </p:nvSpPr>
        <p:spPr>
          <a:xfrm>
            <a:off x="9632868" y="4395182"/>
            <a:ext cx="1107996" cy="369332"/>
          </a:xfrm>
          <a:prstGeom prst="rect">
            <a:avLst/>
          </a:prstGeom>
          <a:noFill/>
        </p:spPr>
        <p:txBody>
          <a:bodyPr wrap="none" rtlCol="0">
            <a:spAutoFit/>
          </a:bodyPr>
          <a:lstStyle/>
          <a:p>
            <a:r>
              <a:rPr lang="zh-CN" altLang="en-US" dirty="0"/>
              <a:t>指针访问</a:t>
            </a:r>
          </a:p>
        </p:txBody>
      </p:sp>
      <p:sp>
        <p:nvSpPr>
          <p:cNvPr id="8" name="文本框 7">
            <a:extLst>
              <a:ext uri="{FF2B5EF4-FFF2-40B4-BE49-F238E27FC236}">
                <a16:creationId xmlns:a16="http://schemas.microsoft.com/office/drawing/2014/main" id="{38BE88D8-E0FE-8FF7-9FC3-65C4C525F0C9}"/>
              </a:ext>
            </a:extLst>
          </p:cNvPr>
          <p:cNvSpPr txBox="1"/>
          <p:nvPr/>
        </p:nvSpPr>
        <p:spPr>
          <a:xfrm>
            <a:off x="7718611" y="6073740"/>
            <a:ext cx="3416320" cy="369332"/>
          </a:xfrm>
          <a:prstGeom prst="rect">
            <a:avLst/>
          </a:prstGeom>
          <a:noFill/>
        </p:spPr>
        <p:txBody>
          <a:bodyPr wrap="none" rtlCol="0">
            <a:spAutoFit/>
          </a:bodyPr>
          <a:lstStyle/>
          <a:p>
            <a:r>
              <a:rPr lang="zh-CN" altLang="en-US" dirty="0"/>
              <a:t>当然还有递归的形式，这里省略</a:t>
            </a:r>
          </a:p>
        </p:txBody>
      </p:sp>
      <p:sp>
        <p:nvSpPr>
          <p:cNvPr id="13" name="文本框 4">
            <a:extLst>
              <a:ext uri="{FF2B5EF4-FFF2-40B4-BE49-F238E27FC236}">
                <a16:creationId xmlns:a16="http://schemas.microsoft.com/office/drawing/2014/main" id="{057B473D-9AE1-995A-11E8-301A110F0312}"/>
              </a:ext>
            </a:extLst>
          </p:cNvPr>
          <p:cNvSpPr txBox="1">
            <a:spLocks noChangeArrowheads="1"/>
          </p:cNvSpPr>
          <p:nvPr/>
        </p:nvSpPr>
        <p:spPr bwMode="auto">
          <a:xfrm>
            <a:off x="543583" y="382107"/>
            <a:ext cx="4927997"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字符串</a:t>
            </a:r>
            <a:r>
              <a:rPr lang="en-US" altLang="zh-CN" dirty="0"/>
              <a:t>——</a:t>
            </a:r>
            <a:r>
              <a:rPr lang="zh-CN" altLang="en-US" dirty="0"/>
              <a:t>函数处理</a:t>
            </a:r>
          </a:p>
        </p:txBody>
      </p:sp>
    </p:spTree>
    <p:extLst>
      <p:ext uri="{BB962C8B-B14F-4D97-AF65-F5344CB8AC3E}">
        <p14:creationId xmlns:p14="http://schemas.microsoft.com/office/powerpoint/2010/main" val="2250656643"/>
      </p:ext>
    </p:ext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DE84D1-590B-DD88-04F8-2A0CCB6DC7E4}"/>
              </a:ext>
            </a:extLst>
          </p:cNvPr>
          <p:cNvSpPr txBox="1"/>
          <p:nvPr/>
        </p:nvSpPr>
        <p:spPr>
          <a:xfrm>
            <a:off x="724475" y="331025"/>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历年真题</a:t>
            </a:r>
          </a:p>
        </p:txBody>
      </p:sp>
      <p:sp>
        <p:nvSpPr>
          <p:cNvPr id="3" name="文本框 2">
            <a:extLst>
              <a:ext uri="{FF2B5EF4-FFF2-40B4-BE49-F238E27FC236}">
                <a16:creationId xmlns:a16="http://schemas.microsoft.com/office/drawing/2014/main" id="{1A1D758F-03A4-8E05-9AC5-66ADFFB8CF48}"/>
              </a:ext>
            </a:extLst>
          </p:cNvPr>
          <p:cNvSpPr txBox="1"/>
          <p:nvPr/>
        </p:nvSpPr>
        <p:spPr>
          <a:xfrm>
            <a:off x="563975" y="1288869"/>
            <a:ext cx="4753224" cy="17543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Calibri"/>
                <a:ea typeface="等线" panose="02010600030101010101" pitchFamily="2" charset="-122"/>
                <a:cs typeface="+mn-cs"/>
              </a:rPr>
              <a:t>abcd</a:t>
            </a:r>
            <a:r>
              <a:rPr kumimoji="0" lang="en-US" altLang="zh-CN"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(char*s1,char*s2)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prstClr val="black"/>
                </a:solidFill>
                <a:latin typeface="Calibri"/>
                <a:ea typeface="等线" panose="02010600030101010101" pitchFamily="2"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prstClr val="black"/>
                </a:solidFill>
                <a:latin typeface="Calibri"/>
                <a:ea typeface="等线" panose="02010600030101010101" pitchFamily="2" charset="-122"/>
              </a:rPr>
              <a:t>    while(*s2++=*s1++);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函数</a:t>
            </a:r>
            <a:r>
              <a:rPr kumimoji="0" lang="en-US" altLang="zh-CN" sz="1800" b="0" i="0" u="none" strike="noStrike" kern="1200" cap="none" spc="0" normalizeH="0" baseline="0" noProof="0" dirty="0" err="1">
                <a:ln>
                  <a:noFill/>
                </a:ln>
                <a:solidFill>
                  <a:prstClr val="black"/>
                </a:solidFill>
                <a:effectLst/>
                <a:uLnTx/>
                <a:uFillTx/>
                <a:latin typeface="Calibri"/>
                <a:ea typeface="等线" panose="02010600030101010101" pitchFamily="2" charset="-122"/>
                <a:cs typeface="+mn-cs"/>
              </a:rPr>
              <a:t>abcd</a:t>
            </a: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的功能是</a:t>
            </a:r>
            <a:endParaRPr kumimoji="0" lang="en-US" altLang="zh-CN"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prstClr val="black"/>
                </a:solidFill>
                <a:latin typeface="Calibri"/>
                <a:ea typeface="等线" panose="02010600030101010101" pitchFamily="2" charset="-122"/>
              </a:rPr>
              <a:t>A)</a:t>
            </a:r>
            <a:r>
              <a:rPr lang="zh-CN" altLang="en-US" dirty="0">
                <a:solidFill>
                  <a:prstClr val="black"/>
                </a:solidFill>
                <a:latin typeface="Calibri"/>
                <a:ea typeface="等线" panose="02010600030101010101" pitchFamily="2" charset="-122"/>
              </a:rPr>
              <a:t>串复制 </a:t>
            </a:r>
            <a:r>
              <a:rPr lang="en-US" altLang="zh-CN" dirty="0">
                <a:solidFill>
                  <a:prstClr val="black"/>
                </a:solidFill>
                <a:latin typeface="Calibri"/>
                <a:ea typeface="等线" panose="02010600030101010101" pitchFamily="2" charset="-122"/>
              </a:rPr>
              <a:t>B)</a:t>
            </a:r>
            <a:r>
              <a:rPr lang="zh-CN" altLang="en-US" dirty="0">
                <a:solidFill>
                  <a:prstClr val="black"/>
                </a:solidFill>
                <a:latin typeface="Calibri"/>
                <a:ea typeface="等线" panose="02010600030101010101" pitchFamily="2" charset="-122"/>
              </a:rPr>
              <a:t>串比较 </a:t>
            </a:r>
            <a:r>
              <a:rPr lang="en-US" altLang="zh-CN" dirty="0">
                <a:solidFill>
                  <a:prstClr val="black"/>
                </a:solidFill>
                <a:latin typeface="Calibri"/>
                <a:ea typeface="等线" panose="02010600030101010101" pitchFamily="2" charset="-122"/>
              </a:rPr>
              <a:t>C)</a:t>
            </a:r>
            <a:r>
              <a:rPr lang="zh-CN" altLang="en-US" dirty="0">
                <a:solidFill>
                  <a:prstClr val="black"/>
                </a:solidFill>
                <a:latin typeface="Calibri"/>
                <a:ea typeface="等线" panose="02010600030101010101" pitchFamily="2" charset="-122"/>
              </a:rPr>
              <a:t>病毒</a:t>
            </a:r>
            <a:r>
              <a:rPr lang="en-US" altLang="zh-CN" dirty="0">
                <a:solidFill>
                  <a:prstClr val="black"/>
                </a:solidFill>
                <a:latin typeface="Calibri"/>
                <a:ea typeface="等线" panose="02010600030101010101" pitchFamily="2" charset="-122"/>
              </a:rPr>
              <a:t>(</a:t>
            </a:r>
            <a:r>
              <a:rPr lang="zh-CN" altLang="en-US" dirty="0">
                <a:solidFill>
                  <a:prstClr val="black"/>
                </a:solidFill>
                <a:latin typeface="Calibri"/>
                <a:ea typeface="等线" panose="02010600030101010101" pitchFamily="2" charset="-122"/>
              </a:rPr>
              <a:t>死循环</a:t>
            </a:r>
            <a:r>
              <a:rPr lang="en-US" altLang="zh-CN" dirty="0">
                <a:solidFill>
                  <a:prstClr val="black"/>
                </a:solidFill>
                <a:latin typeface="Calibri"/>
                <a:ea typeface="等线" panose="02010600030101010101" pitchFamily="2" charset="-122"/>
              </a:rPr>
              <a:t>) D)</a:t>
            </a:r>
            <a:r>
              <a:rPr lang="zh-CN" altLang="en-US" dirty="0">
                <a:solidFill>
                  <a:prstClr val="black"/>
                </a:solidFill>
                <a:latin typeface="Calibri"/>
                <a:ea typeface="等线" panose="02010600030101010101" pitchFamily="2" charset="-122"/>
              </a:rPr>
              <a:t>编译错误</a:t>
            </a:r>
            <a:endPar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
        <p:nvSpPr>
          <p:cNvPr id="4" name="文本框 3">
            <a:extLst>
              <a:ext uri="{FF2B5EF4-FFF2-40B4-BE49-F238E27FC236}">
                <a16:creationId xmlns:a16="http://schemas.microsoft.com/office/drawing/2014/main" id="{35EFF472-7BE0-07A1-3FC4-25AB63144BAB}"/>
              </a:ext>
            </a:extLst>
          </p:cNvPr>
          <p:cNvSpPr txBox="1"/>
          <p:nvPr/>
        </p:nvSpPr>
        <p:spPr>
          <a:xfrm>
            <a:off x="563975" y="3500089"/>
            <a:ext cx="3972626" cy="1200329"/>
          </a:xfrm>
          <a:prstGeom prst="rect">
            <a:avLst/>
          </a:prstGeom>
          <a:noFill/>
        </p:spPr>
        <p:txBody>
          <a:bodyPr wrap="none" rtlCol="0">
            <a:spAutoFit/>
          </a:bodyPr>
          <a:lstStyle/>
          <a:p>
            <a:r>
              <a:rPr lang="zh-CN" altLang="en-US" dirty="0"/>
              <a:t>已知</a:t>
            </a:r>
            <a:r>
              <a:rPr lang="en-US" altLang="zh-CN" dirty="0"/>
              <a:t>: int </a:t>
            </a:r>
            <a:r>
              <a:rPr lang="en-US" altLang="zh-CN" dirty="0" err="1"/>
              <a:t>a,b</a:t>
            </a:r>
            <a:r>
              <a:rPr lang="en-US" altLang="zh-CN" dirty="0"/>
              <a:t>; </a:t>
            </a:r>
            <a:r>
              <a:rPr lang="zh-CN" altLang="en-US" dirty="0"/>
              <a:t>使用语句</a:t>
            </a:r>
            <a:r>
              <a:rPr lang="en-US" altLang="zh-CN" dirty="0"/>
              <a:t>:</a:t>
            </a:r>
          </a:p>
          <a:p>
            <a:r>
              <a:rPr lang="en-US" altLang="zh-CN" dirty="0" err="1"/>
              <a:t>scanf</a:t>
            </a:r>
            <a:r>
              <a:rPr lang="en-US" altLang="zh-CN" dirty="0"/>
              <a:t>(“%</a:t>
            </a:r>
            <a:r>
              <a:rPr lang="en-US" altLang="zh-CN" dirty="0" err="1"/>
              <a:t>d%d</a:t>
            </a:r>
            <a:r>
              <a:rPr lang="en-US" altLang="zh-CN" dirty="0"/>
              <a:t>”,&amp;</a:t>
            </a:r>
            <a:r>
              <a:rPr lang="en-US" altLang="zh-CN" dirty="0" err="1"/>
              <a:t>a,&amp;b</a:t>
            </a:r>
            <a:r>
              <a:rPr lang="en-US" altLang="zh-CN" dirty="0"/>
              <a:t>);</a:t>
            </a:r>
            <a:r>
              <a:rPr lang="zh-CN" altLang="en-US" dirty="0"/>
              <a:t>输入</a:t>
            </a:r>
            <a:r>
              <a:rPr lang="en-US" altLang="zh-CN" dirty="0"/>
              <a:t>a</a:t>
            </a:r>
            <a:r>
              <a:rPr lang="zh-CN" altLang="en-US" dirty="0"/>
              <a:t>、</a:t>
            </a:r>
            <a:r>
              <a:rPr lang="en-US" altLang="zh-CN" dirty="0"/>
              <a:t>b</a:t>
            </a:r>
            <a:r>
              <a:rPr lang="zh-CN" altLang="en-US" dirty="0"/>
              <a:t>的值时</a:t>
            </a:r>
            <a:r>
              <a:rPr lang="en-US" altLang="zh-CN" dirty="0"/>
              <a:t>,</a:t>
            </a:r>
          </a:p>
          <a:p>
            <a:r>
              <a:rPr lang="zh-CN" altLang="en-US" dirty="0"/>
              <a:t>不能用来作为输入分隔符的是</a:t>
            </a:r>
            <a:endParaRPr lang="en-US" altLang="zh-CN" dirty="0"/>
          </a:p>
          <a:p>
            <a:r>
              <a:rPr lang="en-US" altLang="zh-CN" dirty="0"/>
              <a:t>A), B)</a:t>
            </a:r>
            <a:r>
              <a:rPr lang="zh-CN" altLang="en-US" dirty="0"/>
              <a:t>空格 </a:t>
            </a:r>
            <a:r>
              <a:rPr lang="en-US" altLang="zh-CN" dirty="0"/>
              <a:t>C)</a:t>
            </a:r>
            <a:r>
              <a:rPr lang="zh-CN" altLang="en-US" dirty="0"/>
              <a:t>回车 </a:t>
            </a:r>
            <a:r>
              <a:rPr lang="en-US" altLang="zh-CN" dirty="0"/>
              <a:t>D)Tab</a:t>
            </a:r>
          </a:p>
        </p:txBody>
      </p:sp>
      <p:sp>
        <p:nvSpPr>
          <p:cNvPr id="5" name="文本框 4">
            <a:extLst>
              <a:ext uri="{FF2B5EF4-FFF2-40B4-BE49-F238E27FC236}">
                <a16:creationId xmlns:a16="http://schemas.microsoft.com/office/drawing/2014/main" id="{37AE0EE5-C2C5-742D-8814-CFCD0E7C0630}"/>
              </a:ext>
            </a:extLst>
          </p:cNvPr>
          <p:cNvSpPr txBox="1"/>
          <p:nvPr/>
        </p:nvSpPr>
        <p:spPr>
          <a:xfrm>
            <a:off x="563975" y="5157312"/>
            <a:ext cx="3647152" cy="646331"/>
          </a:xfrm>
          <a:prstGeom prst="rect">
            <a:avLst/>
          </a:prstGeom>
          <a:noFill/>
        </p:spPr>
        <p:txBody>
          <a:bodyPr wrap="none" rtlCol="0">
            <a:spAutoFit/>
          </a:bodyPr>
          <a:lstStyle/>
          <a:p>
            <a:r>
              <a:rPr lang="zh-CN" altLang="en-US" dirty="0"/>
              <a:t>下列可以正确表示字符型常数的是</a:t>
            </a:r>
            <a:endParaRPr lang="en-US" altLang="zh-CN" dirty="0"/>
          </a:p>
          <a:p>
            <a:r>
              <a:rPr lang="en-US" altLang="zh-CN" dirty="0"/>
              <a:t>A) “a”  B)’\t’  C)”\n” D)297</a:t>
            </a:r>
            <a:endParaRPr lang="zh-CN" altLang="en-US" dirty="0"/>
          </a:p>
        </p:txBody>
      </p:sp>
      <p:sp>
        <p:nvSpPr>
          <p:cNvPr id="6" name="文本框 5">
            <a:extLst>
              <a:ext uri="{FF2B5EF4-FFF2-40B4-BE49-F238E27FC236}">
                <a16:creationId xmlns:a16="http://schemas.microsoft.com/office/drawing/2014/main" id="{A6C8A5FC-F4C7-5376-1DE6-B8B5895706A2}"/>
              </a:ext>
            </a:extLst>
          </p:cNvPr>
          <p:cNvSpPr txBox="1"/>
          <p:nvPr/>
        </p:nvSpPr>
        <p:spPr>
          <a:xfrm>
            <a:off x="5791200" y="1489166"/>
            <a:ext cx="3799630" cy="923330"/>
          </a:xfrm>
          <a:prstGeom prst="rect">
            <a:avLst/>
          </a:prstGeom>
          <a:noFill/>
        </p:spPr>
        <p:txBody>
          <a:bodyPr wrap="none" rtlCol="0">
            <a:spAutoFit/>
          </a:bodyPr>
          <a:lstStyle/>
          <a:p>
            <a:r>
              <a:rPr lang="zh-CN" altLang="en-US" dirty="0"/>
              <a:t>已知</a:t>
            </a:r>
            <a:r>
              <a:rPr lang="en-US" altLang="zh-CN" dirty="0"/>
              <a:t>:char *s=“\t\”Name\\Address\n”;</a:t>
            </a:r>
          </a:p>
          <a:p>
            <a:r>
              <a:rPr lang="zh-CN" altLang="en-US" dirty="0"/>
              <a:t>则</a:t>
            </a:r>
            <a:r>
              <a:rPr lang="en-US" altLang="zh-CN" dirty="0"/>
              <a:t>s</a:t>
            </a:r>
            <a:r>
              <a:rPr lang="zh-CN" altLang="en-US" dirty="0"/>
              <a:t>所指的字符串的长度为</a:t>
            </a:r>
            <a:endParaRPr lang="en-US" altLang="zh-CN" dirty="0"/>
          </a:p>
          <a:p>
            <a:r>
              <a:rPr lang="en-US" altLang="zh-CN" dirty="0"/>
              <a:t>A)19 B)15 C)18 D)</a:t>
            </a:r>
            <a:r>
              <a:rPr lang="zh-CN" altLang="en-US" dirty="0"/>
              <a:t>说明不合法</a:t>
            </a:r>
            <a:endParaRPr lang="en-US" altLang="zh-CN" dirty="0"/>
          </a:p>
        </p:txBody>
      </p:sp>
      <p:sp>
        <p:nvSpPr>
          <p:cNvPr id="7" name="文本框 6">
            <a:extLst>
              <a:ext uri="{FF2B5EF4-FFF2-40B4-BE49-F238E27FC236}">
                <a16:creationId xmlns:a16="http://schemas.microsoft.com/office/drawing/2014/main" id="{36623F64-1265-681A-C848-07138A73434F}"/>
              </a:ext>
            </a:extLst>
          </p:cNvPr>
          <p:cNvSpPr txBox="1"/>
          <p:nvPr/>
        </p:nvSpPr>
        <p:spPr>
          <a:xfrm>
            <a:off x="5791200" y="2699658"/>
            <a:ext cx="6115777" cy="923330"/>
          </a:xfrm>
          <a:prstGeom prst="rect">
            <a:avLst/>
          </a:prstGeom>
          <a:noFill/>
        </p:spPr>
        <p:txBody>
          <a:bodyPr wrap="none" rtlCol="0">
            <a:spAutoFit/>
          </a:bodyPr>
          <a:lstStyle/>
          <a:p>
            <a:r>
              <a:rPr lang="zh-CN" altLang="en-US" dirty="0"/>
              <a:t>若有说明语句</a:t>
            </a:r>
            <a:r>
              <a:rPr lang="en-US" altLang="zh-CN" dirty="0"/>
              <a:t>char s=’\092’</a:t>
            </a:r>
            <a:r>
              <a:rPr lang="zh-CN" altLang="en-US" dirty="0"/>
              <a:t>；则该语句使变量</a:t>
            </a:r>
            <a:r>
              <a:rPr lang="en-US" altLang="zh-CN" dirty="0"/>
              <a:t>s</a:t>
            </a:r>
            <a:r>
              <a:rPr lang="zh-CN" altLang="en-US" dirty="0"/>
              <a:t>的值</a:t>
            </a:r>
            <a:r>
              <a:rPr lang="en-US" altLang="zh-CN" dirty="0"/>
              <a:t>______</a:t>
            </a:r>
            <a:r>
              <a:rPr lang="zh-CN" altLang="en-US" dirty="0"/>
              <a:t>。</a:t>
            </a:r>
            <a:endParaRPr lang="en-US" altLang="zh-CN" dirty="0"/>
          </a:p>
          <a:p>
            <a:pPr marL="342900" indent="-342900">
              <a:buAutoNum type="alphaUcParenR"/>
            </a:pPr>
            <a:r>
              <a:rPr lang="zh-CN" altLang="en-US" dirty="0"/>
              <a:t>包含</a:t>
            </a:r>
            <a:r>
              <a:rPr lang="en-US" altLang="zh-CN" dirty="0"/>
              <a:t>1</a:t>
            </a:r>
            <a:r>
              <a:rPr lang="zh-CN" altLang="en-US" dirty="0"/>
              <a:t>个字符   </a:t>
            </a:r>
            <a:r>
              <a:rPr lang="en-US" altLang="zh-CN" dirty="0"/>
              <a:t>B</a:t>
            </a:r>
            <a:r>
              <a:rPr lang="zh-CN" altLang="en-US" dirty="0"/>
              <a:t>）包含</a:t>
            </a:r>
            <a:r>
              <a:rPr lang="en-US" altLang="zh-CN" dirty="0"/>
              <a:t>3</a:t>
            </a:r>
            <a:r>
              <a:rPr lang="zh-CN" altLang="en-US" dirty="0"/>
              <a:t>个字符</a:t>
            </a:r>
            <a:endParaRPr lang="en-US" altLang="zh-CN" dirty="0"/>
          </a:p>
          <a:p>
            <a:r>
              <a:rPr lang="en-US" altLang="zh-CN" dirty="0"/>
              <a:t>C) </a:t>
            </a:r>
            <a:r>
              <a:rPr lang="zh-CN" altLang="en-US" dirty="0"/>
              <a:t>包含</a:t>
            </a:r>
            <a:r>
              <a:rPr lang="en-US" altLang="zh-CN" dirty="0"/>
              <a:t>4</a:t>
            </a:r>
            <a:r>
              <a:rPr lang="zh-CN" altLang="en-US" dirty="0"/>
              <a:t>个字符   </a:t>
            </a:r>
            <a:r>
              <a:rPr lang="en-US" altLang="zh-CN" dirty="0"/>
              <a:t>D</a:t>
            </a:r>
            <a:r>
              <a:rPr lang="zh-CN" altLang="en-US" dirty="0"/>
              <a:t>）说明不合法，</a:t>
            </a:r>
            <a:r>
              <a:rPr lang="en-US" altLang="zh-CN" dirty="0"/>
              <a:t>s</a:t>
            </a:r>
            <a:r>
              <a:rPr lang="zh-CN" altLang="en-US" dirty="0"/>
              <a:t>值不定</a:t>
            </a:r>
            <a:endParaRPr lang="en-US" altLang="zh-CN" dirty="0"/>
          </a:p>
        </p:txBody>
      </p:sp>
      <p:sp>
        <p:nvSpPr>
          <p:cNvPr id="9" name="文本框 8">
            <a:extLst>
              <a:ext uri="{FF2B5EF4-FFF2-40B4-BE49-F238E27FC236}">
                <a16:creationId xmlns:a16="http://schemas.microsoft.com/office/drawing/2014/main" id="{294CE125-1013-9ADB-F7F0-770207B66F3B}"/>
              </a:ext>
            </a:extLst>
          </p:cNvPr>
          <p:cNvSpPr txBox="1"/>
          <p:nvPr/>
        </p:nvSpPr>
        <p:spPr>
          <a:xfrm>
            <a:off x="5711932" y="3798190"/>
            <a:ext cx="2867472" cy="369332"/>
          </a:xfrm>
          <a:prstGeom prst="rect">
            <a:avLst/>
          </a:prstGeom>
          <a:noFill/>
        </p:spPr>
        <p:txBody>
          <a:bodyPr wrap="square">
            <a:spAutoFit/>
          </a:bodyPr>
          <a:lstStyle/>
          <a:p>
            <a:r>
              <a:rPr lang="zh-CN" altLang="en-US" dirty="0"/>
              <a:t>思考</a:t>
            </a:r>
            <a:r>
              <a:rPr lang="en-US" altLang="zh-CN" dirty="0"/>
              <a:t>char s=‘\134’</a:t>
            </a:r>
            <a:r>
              <a:rPr lang="zh-CN" altLang="en-US" dirty="0"/>
              <a:t>呢？</a:t>
            </a:r>
          </a:p>
        </p:txBody>
      </p:sp>
      <p:sp>
        <p:nvSpPr>
          <p:cNvPr id="11" name="文本框 10">
            <a:extLst>
              <a:ext uri="{FF2B5EF4-FFF2-40B4-BE49-F238E27FC236}">
                <a16:creationId xmlns:a16="http://schemas.microsoft.com/office/drawing/2014/main" id="{BE5F0638-B30C-D978-8B7D-7E262D70F25A}"/>
              </a:ext>
            </a:extLst>
          </p:cNvPr>
          <p:cNvSpPr txBox="1"/>
          <p:nvPr/>
        </p:nvSpPr>
        <p:spPr>
          <a:xfrm>
            <a:off x="5711932" y="4342724"/>
            <a:ext cx="6366615" cy="1200329"/>
          </a:xfrm>
          <a:prstGeom prst="rect">
            <a:avLst/>
          </a:prstGeom>
          <a:noFill/>
        </p:spPr>
        <p:txBody>
          <a:bodyPr wrap="none" rtlCol="0">
            <a:spAutoFit/>
          </a:bodyPr>
          <a:lstStyle/>
          <a:p>
            <a:r>
              <a:rPr lang="zh-CN" altLang="en-US" dirty="0"/>
              <a:t>已知</a:t>
            </a:r>
            <a:r>
              <a:rPr lang="en-US" altLang="zh-CN" dirty="0"/>
              <a:t>: char str1[10],str2[10]={“books”};</a:t>
            </a:r>
            <a:r>
              <a:rPr lang="zh-CN" altLang="en-US" dirty="0"/>
              <a:t>则在程序中能够将字符串</a:t>
            </a:r>
            <a:endParaRPr lang="en-US" altLang="zh-CN" dirty="0"/>
          </a:p>
          <a:p>
            <a:r>
              <a:rPr lang="en-US" altLang="zh-CN" dirty="0"/>
              <a:t>“books”</a:t>
            </a:r>
            <a:r>
              <a:rPr lang="zh-CN" altLang="en-US" dirty="0"/>
              <a:t>赋给数组</a:t>
            </a:r>
            <a:r>
              <a:rPr lang="en-US" altLang="zh-CN" dirty="0"/>
              <a:t>str1</a:t>
            </a:r>
            <a:r>
              <a:rPr lang="zh-CN" altLang="en-US" dirty="0"/>
              <a:t>的正确语句是</a:t>
            </a:r>
            <a:endParaRPr lang="en-US" altLang="zh-CN" dirty="0"/>
          </a:p>
          <a:p>
            <a:r>
              <a:rPr lang="en-US" altLang="zh-CN" dirty="0"/>
              <a:t>A)str1={“books”};  B)</a:t>
            </a:r>
            <a:r>
              <a:rPr lang="en-US" altLang="zh-CN" dirty="0" err="1"/>
              <a:t>strcpy</a:t>
            </a:r>
            <a:r>
              <a:rPr lang="en-US" altLang="zh-CN" dirty="0"/>
              <a:t>(str1,str2);</a:t>
            </a:r>
          </a:p>
          <a:p>
            <a:r>
              <a:rPr lang="en-US" altLang="zh-CN" dirty="0"/>
              <a:t>C)str1=str2;  D)str1=“books”</a:t>
            </a:r>
            <a:endParaRPr lang="zh-CN" altLang="en-US" dirty="0"/>
          </a:p>
        </p:txBody>
      </p:sp>
      <p:sp>
        <p:nvSpPr>
          <p:cNvPr id="12" name="文本框 11">
            <a:extLst>
              <a:ext uri="{FF2B5EF4-FFF2-40B4-BE49-F238E27FC236}">
                <a16:creationId xmlns:a16="http://schemas.microsoft.com/office/drawing/2014/main" id="{2D2E5CE7-5F89-18E4-4EDB-03023C80E3C7}"/>
              </a:ext>
            </a:extLst>
          </p:cNvPr>
          <p:cNvSpPr txBox="1"/>
          <p:nvPr/>
        </p:nvSpPr>
        <p:spPr>
          <a:xfrm>
            <a:off x="5553613" y="5480477"/>
            <a:ext cx="2867472" cy="369332"/>
          </a:xfrm>
          <a:prstGeom prst="rect">
            <a:avLst/>
          </a:prstGeom>
          <a:noFill/>
        </p:spPr>
        <p:txBody>
          <a:bodyPr wrap="square">
            <a:spAutoFit/>
          </a:bodyPr>
          <a:lstStyle/>
          <a:p>
            <a:r>
              <a:rPr lang="zh-CN" altLang="en-US" dirty="0"/>
              <a:t>思考</a:t>
            </a:r>
            <a:r>
              <a:rPr lang="en-US" altLang="zh-CN" dirty="0"/>
              <a:t>: str2[10]={‘</a:t>
            </a:r>
            <a:r>
              <a:rPr lang="en-US" altLang="zh-CN" dirty="0" err="1"/>
              <a:t>a’,”books</a:t>
            </a:r>
            <a:r>
              <a:rPr lang="en-US" altLang="zh-CN" dirty="0"/>
              <a:t>”};</a:t>
            </a:r>
            <a:endParaRPr lang="zh-CN" altLang="en-US" dirty="0"/>
          </a:p>
        </p:txBody>
      </p:sp>
    </p:spTree>
    <p:extLst>
      <p:ext uri="{BB962C8B-B14F-4D97-AF65-F5344CB8AC3E}">
        <p14:creationId xmlns:p14="http://schemas.microsoft.com/office/powerpoint/2010/main" val="27903994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DE84D1-590B-DD88-04F8-2A0CCB6DC7E4}"/>
              </a:ext>
            </a:extLst>
          </p:cNvPr>
          <p:cNvSpPr txBox="1"/>
          <p:nvPr/>
        </p:nvSpPr>
        <p:spPr>
          <a:xfrm>
            <a:off x="627112" y="303316"/>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历年真题</a:t>
            </a:r>
          </a:p>
        </p:txBody>
      </p:sp>
      <p:sp>
        <p:nvSpPr>
          <p:cNvPr id="3" name="文本框 2">
            <a:extLst>
              <a:ext uri="{FF2B5EF4-FFF2-40B4-BE49-F238E27FC236}">
                <a16:creationId xmlns:a16="http://schemas.microsoft.com/office/drawing/2014/main" id="{1A1D758F-03A4-8E05-9AC5-66ADFFB8CF48}"/>
              </a:ext>
            </a:extLst>
          </p:cNvPr>
          <p:cNvSpPr txBox="1"/>
          <p:nvPr/>
        </p:nvSpPr>
        <p:spPr>
          <a:xfrm>
            <a:off x="563975" y="1288869"/>
            <a:ext cx="4753224" cy="17543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Calibri"/>
                <a:ea typeface="等线" panose="02010600030101010101" pitchFamily="2" charset="-122"/>
                <a:cs typeface="+mn-cs"/>
              </a:rPr>
              <a:t>abcd</a:t>
            </a:r>
            <a:r>
              <a:rPr kumimoji="0" lang="en-US" altLang="zh-CN"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(char*s1,char*s2)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prstClr val="black"/>
                </a:solidFill>
                <a:latin typeface="Calibri"/>
                <a:ea typeface="等线" panose="02010600030101010101" pitchFamily="2"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prstClr val="black"/>
                </a:solidFill>
                <a:latin typeface="Calibri"/>
                <a:ea typeface="等线" panose="02010600030101010101" pitchFamily="2" charset="-122"/>
              </a:rPr>
              <a:t>    while(*s2++=*s1++);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函数</a:t>
            </a:r>
            <a:r>
              <a:rPr kumimoji="0" lang="en-US" altLang="zh-CN" sz="1800" b="0" i="0" u="none" strike="noStrike" kern="1200" cap="none" spc="0" normalizeH="0" baseline="0" noProof="0" dirty="0" err="1">
                <a:ln>
                  <a:noFill/>
                </a:ln>
                <a:solidFill>
                  <a:prstClr val="black"/>
                </a:solidFill>
                <a:effectLst/>
                <a:uLnTx/>
                <a:uFillTx/>
                <a:latin typeface="Calibri"/>
                <a:ea typeface="等线" panose="02010600030101010101" pitchFamily="2" charset="-122"/>
                <a:cs typeface="+mn-cs"/>
              </a:rPr>
              <a:t>abcd</a:t>
            </a: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的功能是</a:t>
            </a:r>
            <a:endParaRPr kumimoji="0" lang="en-US" altLang="zh-CN"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FF0000"/>
                </a:solidFill>
                <a:latin typeface="Calibri"/>
                <a:ea typeface="等线" panose="02010600030101010101" pitchFamily="2" charset="-122"/>
              </a:rPr>
              <a:t>A)</a:t>
            </a:r>
            <a:r>
              <a:rPr lang="zh-CN" altLang="en-US" dirty="0">
                <a:solidFill>
                  <a:srgbClr val="FF0000"/>
                </a:solidFill>
                <a:latin typeface="Calibri"/>
                <a:ea typeface="等线" panose="02010600030101010101" pitchFamily="2" charset="-122"/>
              </a:rPr>
              <a:t>串复制 </a:t>
            </a:r>
            <a:r>
              <a:rPr lang="en-US" altLang="zh-CN" dirty="0">
                <a:solidFill>
                  <a:prstClr val="black"/>
                </a:solidFill>
                <a:latin typeface="Calibri"/>
                <a:ea typeface="等线" panose="02010600030101010101" pitchFamily="2" charset="-122"/>
              </a:rPr>
              <a:t>B)</a:t>
            </a:r>
            <a:r>
              <a:rPr lang="zh-CN" altLang="en-US" dirty="0">
                <a:solidFill>
                  <a:prstClr val="black"/>
                </a:solidFill>
                <a:latin typeface="Calibri"/>
                <a:ea typeface="等线" panose="02010600030101010101" pitchFamily="2" charset="-122"/>
              </a:rPr>
              <a:t>串比较 </a:t>
            </a:r>
            <a:r>
              <a:rPr lang="en-US" altLang="zh-CN" dirty="0">
                <a:solidFill>
                  <a:prstClr val="black"/>
                </a:solidFill>
                <a:latin typeface="Calibri"/>
                <a:ea typeface="等线" panose="02010600030101010101" pitchFamily="2" charset="-122"/>
              </a:rPr>
              <a:t>C)</a:t>
            </a:r>
            <a:r>
              <a:rPr lang="zh-CN" altLang="en-US" dirty="0">
                <a:solidFill>
                  <a:prstClr val="black"/>
                </a:solidFill>
                <a:latin typeface="Calibri"/>
                <a:ea typeface="等线" panose="02010600030101010101" pitchFamily="2" charset="-122"/>
              </a:rPr>
              <a:t>病毒</a:t>
            </a:r>
            <a:r>
              <a:rPr lang="en-US" altLang="zh-CN" dirty="0">
                <a:solidFill>
                  <a:prstClr val="black"/>
                </a:solidFill>
                <a:latin typeface="Calibri"/>
                <a:ea typeface="等线" panose="02010600030101010101" pitchFamily="2" charset="-122"/>
              </a:rPr>
              <a:t>(</a:t>
            </a:r>
            <a:r>
              <a:rPr lang="zh-CN" altLang="en-US" dirty="0">
                <a:solidFill>
                  <a:prstClr val="black"/>
                </a:solidFill>
                <a:latin typeface="Calibri"/>
                <a:ea typeface="等线" panose="02010600030101010101" pitchFamily="2" charset="-122"/>
              </a:rPr>
              <a:t>死循环</a:t>
            </a:r>
            <a:r>
              <a:rPr lang="en-US" altLang="zh-CN" dirty="0">
                <a:solidFill>
                  <a:prstClr val="black"/>
                </a:solidFill>
                <a:latin typeface="Calibri"/>
                <a:ea typeface="等线" panose="02010600030101010101" pitchFamily="2" charset="-122"/>
              </a:rPr>
              <a:t>) D)</a:t>
            </a:r>
            <a:r>
              <a:rPr lang="zh-CN" altLang="en-US" dirty="0">
                <a:solidFill>
                  <a:prstClr val="black"/>
                </a:solidFill>
                <a:latin typeface="Calibri"/>
                <a:ea typeface="等线" panose="02010600030101010101" pitchFamily="2" charset="-122"/>
              </a:rPr>
              <a:t>编译错误</a:t>
            </a:r>
            <a:endPar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
        <p:nvSpPr>
          <p:cNvPr id="4" name="文本框 3">
            <a:extLst>
              <a:ext uri="{FF2B5EF4-FFF2-40B4-BE49-F238E27FC236}">
                <a16:creationId xmlns:a16="http://schemas.microsoft.com/office/drawing/2014/main" id="{35EFF472-7BE0-07A1-3FC4-25AB63144BAB}"/>
              </a:ext>
            </a:extLst>
          </p:cNvPr>
          <p:cNvSpPr txBox="1"/>
          <p:nvPr/>
        </p:nvSpPr>
        <p:spPr>
          <a:xfrm>
            <a:off x="563975" y="3500089"/>
            <a:ext cx="3972626" cy="1200329"/>
          </a:xfrm>
          <a:prstGeom prst="rect">
            <a:avLst/>
          </a:prstGeom>
          <a:noFill/>
        </p:spPr>
        <p:txBody>
          <a:bodyPr wrap="none" rtlCol="0">
            <a:spAutoFit/>
          </a:bodyPr>
          <a:lstStyle/>
          <a:p>
            <a:r>
              <a:rPr lang="zh-CN" altLang="en-US" dirty="0"/>
              <a:t>已知</a:t>
            </a:r>
            <a:r>
              <a:rPr lang="en-US" altLang="zh-CN" dirty="0"/>
              <a:t>: int </a:t>
            </a:r>
            <a:r>
              <a:rPr lang="en-US" altLang="zh-CN" dirty="0" err="1"/>
              <a:t>a,b</a:t>
            </a:r>
            <a:r>
              <a:rPr lang="en-US" altLang="zh-CN" dirty="0"/>
              <a:t>; </a:t>
            </a:r>
            <a:r>
              <a:rPr lang="zh-CN" altLang="en-US" dirty="0"/>
              <a:t>使用语句</a:t>
            </a:r>
            <a:r>
              <a:rPr lang="en-US" altLang="zh-CN" dirty="0"/>
              <a:t>:</a:t>
            </a:r>
          </a:p>
          <a:p>
            <a:r>
              <a:rPr lang="en-US" altLang="zh-CN" dirty="0" err="1"/>
              <a:t>scanf</a:t>
            </a:r>
            <a:r>
              <a:rPr lang="en-US" altLang="zh-CN" dirty="0"/>
              <a:t>(“%</a:t>
            </a:r>
            <a:r>
              <a:rPr lang="en-US" altLang="zh-CN" dirty="0" err="1"/>
              <a:t>d%d</a:t>
            </a:r>
            <a:r>
              <a:rPr lang="en-US" altLang="zh-CN" dirty="0"/>
              <a:t>”,&amp;</a:t>
            </a:r>
            <a:r>
              <a:rPr lang="en-US" altLang="zh-CN" dirty="0" err="1"/>
              <a:t>a,&amp;b</a:t>
            </a:r>
            <a:r>
              <a:rPr lang="en-US" altLang="zh-CN" dirty="0"/>
              <a:t>);</a:t>
            </a:r>
            <a:r>
              <a:rPr lang="zh-CN" altLang="en-US" dirty="0"/>
              <a:t>输入</a:t>
            </a:r>
            <a:r>
              <a:rPr lang="en-US" altLang="zh-CN" dirty="0"/>
              <a:t>a</a:t>
            </a:r>
            <a:r>
              <a:rPr lang="zh-CN" altLang="en-US" dirty="0"/>
              <a:t>、</a:t>
            </a:r>
            <a:r>
              <a:rPr lang="en-US" altLang="zh-CN" dirty="0"/>
              <a:t>b</a:t>
            </a:r>
            <a:r>
              <a:rPr lang="zh-CN" altLang="en-US" dirty="0"/>
              <a:t>的值时</a:t>
            </a:r>
            <a:r>
              <a:rPr lang="en-US" altLang="zh-CN" dirty="0"/>
              <a:t>,</a:t>
            </a:r>
          </a:p>
          <a:p>
            <a:r>
              <a:rPr lang="zh-CN" altLang="en-US" dirty="0"/>
              <a:t>不能用来作为输入分隔符的是</a:t>
            </a:r>
            <a:endParaRPr lang="en-US" altLang="zh-CN" dirty="0"/>
          </a:p>
          <a:p>
            <a:r>
              <a:rPr lang="en-US" altLang="zh-CN" dirty="0">
                <a:solidFill>
                  <a:srgbClr val="FF0000"/>
                </a:solidFill>
              </a:rPr>
              <a:t>A), </a:t>
            </a:r>
            <a:r>
              <a:rPr lang="en-US" altLang="zh-CN" dirty="0"/>
              <a:t>B)</a:t>
            </a:r>
            <a:r>
              <a:rPr lang="zh-CN" altLang="en-US" dirty="0"/>
              <a:t>空格 </a:t>
            </a:r>
            <a:r>
              <a:rPr lang="en-US" altLang="zh-CN" dirty="0"/>
              <a:t>C)</a:t>
            </a:r>
            <a:r>
              <a:rPr lang="zh-CN" altLang="en-US" dirty="0"/>
              <a:t>回车 </a:t>
            </a:r>
            <a:r>
              <a:rPr lang="en-US" altLang="zh-CN" dirty="0"/>
              <a:t>D)Tab</a:t>
            </a:r>
          </a:p>
        </p:txBody>
      </p:sp>
      <p:sp>
        <p:nvSpPr>
          <p:cNvPr id="5" name="文本框 4">
            <a:extLst>
              <a:ext uri="{FF2B5EF4-FFF2-40B4-BE49-F238E27FC236}">
                <a16:creationId xmlns:a16="http://schemas.microsoft.com/office/drawing/2014/main" id="{37AE0EE5-C2C5-742D-8814-CFCD0E7C0630}"/>
              </a:ext>
            </a:extLst>
          </p:cNvPr>
          <p:cNvSpPr txBox="1"/>
          <p:nvPr/>
        </p:nvSpPr>
        <p:spPr>
          <a:xfrm>
            <a:off x="563975" y="5157312"/>
            <a:ext cx="3647152" cy="646331"/>
          </a:xfrm>
          <a:prstGeom prst="rect">
            <a:avLst/>
          </a:prstGeom>
          <a:noFill/>
        </p:spPr>
        <p:txBody>
          <a:bodyPr wrap="none" rtlCol="0">
            <a:spAutoFit/>
          </a:bodyPr>
          <a:lstStyle/>
          <a:p>
            <a:r>
              <a:rPr lang="zh-CN" altLang="en-US" dirty="0"/>
              <a:t>下列可以正确表示字符型常数的是</a:t>
            </a:r>
            <a:endParaRPr lang="en-US" altLang="zh-CN" dirty="0"/>
          </a:p>
          <a:p>
            <a:r>
              <a:rPr lang="en-US" altLang="zh-CN" dirty="0"/>
              <a:t>A) “a”  </a:t>
            </a:r>
            <a:r>
              <a:rPr lang="en-US" altLang="zh-CN" dirty="0">
                <a:solidFill>
                  <a:srgbClr val="FF0000"/>
                </a:solidFill>
              </a:rPr>
              <a:t>B)’\t’  </a:t>
            </a:r>
            <a:r>
              <a:rPr lang="en-US" altLang="zh-CN" dirty="0"/>
              <a:t>C)”\n” D)297</a:t>
            </a:r>
            <a:endParaRPr lang="zh-CN" altLang="en-US" dirty="0"/>
          </a:p>
        </p:txBody>
      </p:sp>
      <p:sp>
        <p:nvSpPr>
          <p:cNvPr id="6" name="文本框 5">
            <a:extLst>
              <a:ext uri="{FF2B5EF4-FFF2-40B4-BE49-F238E27FC236}">
                <a16:creationId xmlns:a16="http://schemas.microsoft.com/office/drawing/2014/main" id="{A6C8A5FC-F4C7-5376-1DE6-B8B5895706A2}"/>
              </a:ext>
            </a:extLst>
          </p:cNvPr>
          <p:cNvSpPr txBox="1"/>
          <p:nvPr/>
        </p:nvSpPr>
        <p:spPr>
          <a:xfrm>
            <a:off x="5791200" y="1489166"/>
            <a:ext cx="3799630" cy="923330"/>
          </a:xfrm>
          <a:prstGeom prst="rect">
            <a:avLst/>
          </a:prstGeom>
          <a:noFill/>
        </p:spPr>
        <p:txBody>
          <a:bodyPr wrap="none" rtlCol="0">
            <a:spAutoFit/>
          </a:bodyPr>
          <a:lstStyle/>
          <a:p>
            <a:r>
              <a:rPr lang="zh-CN" altLang="en-US" dirty="0"/>
              <a:t>已知</a:t>
            </a:r>
            <a:r>
              <a:rPr lang="en-US" altLang="zh-CN" dirty="0"/>
              <a:t>:char *s=“\t\”Name\\Address\n”;</a:t>
            </a:r>
          </a:p>
          <a:p>
            <a:r>
              <a:rPr lang="zh-CN" altLang="en-US" dirty="0"/>
              <a:t>则</a:t>
            </a:r>
            <a:r>
              <a:rPr lang="en-US" altLang="zh-CN" dirty="0"/>
              <a:t>s</a:t>
            </a:r>
            <a:r>
              <a:rPr lang="zh-CN" altLang="en-US" dirty="0"/>
              <a:t>所指的字符串的长度为</a:t>
            </a:r>
            <a:endParaRPr lang="en-US" altLang="zh-CN" dirty="0"/>
          </a:p>
          <a:p>
            <a:r>
              <a:rPr lang="en-US" altLang="zh-CN" dirty="0"/>
              <a:t>A)19 </a:t>
            </a:r>
            <a:r>
              <a:rPr lang="en-US" altLang="zh-CN" dirty="0">
                <a:solidFill>
                  <a:srgbClr val="FF0000"/>
                </a:solidFill>
              </a:rPr>
              <a:t>B)15 </a:t>
            </a:r>
            <a:r>
              <a:rPr lang="en-US" altLang="zh-CN" dirty="0"/>
              <a:t>C)18 D)</a:t>
            </a:r>
            <a:r>
              <a:rPr lang="zh-CN" altLang="en-US" dirty="0"/>
              <a:t>说明不合法</a:t>
            </a:r>
            <a:endParaRPr lang="en-US" altLang="zh-CN" dirty="0"/>
          </a:p>
        </p:txBody>
      </p:sp>
      <p:sp>
        <p:nvSpPr>
          <p:cNvPr id="7" name="文本框 6">
            <a:extLst>
              <a:ext uri="{FF2B5EF4-FFF2-40B4-BE49-F238E27FC236}">
                <a16:creationId xmlns:a16="http://schemas.microsoft.com/office/drawing/2014/main" id="{36623F64-1265-681A-C848-07138A73434F}"/>
              </a:ext>
            </a:extLst>
          </p:cNvPr>
          <p:cNvSpPr txBox="1"/>
          <p:nvPr/>
        </p:nvSpPr>
        <p:spPr>
          <a:xfrm>
            <a:off x="5791200" y="2699658"/>
            <a:ext cx="6115777" cy="923330"/>
          </a:xfrm>
          <a:prstGeom prst="rect">
            <a:avLst/>
          </a:prstGeom>
          <a:noFill/>
        </p:spPr>
        <p:txBody>
          <a:bodyPr wrap="none" rtlCol="0">
            <a:spAutoFit/>
          </a:bodyPr>
          <a:lstStyle/>
          <a:p>
            <a:r>
              <a:rPr lang="zh-CN" altLang="en-US" dirty="0"/>
              <a:t>若有说明语句</a:t>
            </a:r>
            <a:r>
              <a:rPr lang="en-US" altLang="zh-CN" dirty="0"/>
              <a:t>char s=’\092’</a:t>
            </a:r>
            <a:r>
              <a:rPr lang="zh-CN" altLang="en-US" dirty="0"/>
              <a:t>；则该语句使变量</a:t>
            </a:r>
            <a:r>
              <a:rPr lang="en-US" altLang="zh-CN" dirty="0"/>
              <a:t>s</a:t>
            </a:r>
            <a:r>
              <a:rPr lang="zh-CN" altLang="en-US" dirty="0"/>
              <a:t>的值</a:t>
            </a:r>
            <a:r>
              <a:rPr lang="en-US" altLang="zh-CN" dirty="0"/>
              <a:t>______</a:t>
            </a:r>
            <a:r>
              <a:rPr lang="zh-CN" altLang="en-US" dirty="0"/>
              <a:t>。</a:t>
            </a:r>
            <a:endParaRPr lang="en-US" altLang="zh-CN" dirty="0"/>
          </a:p>
          <a:p>
            <a:pPr marL="342900" indent="-342900">
              <a:buAutoNum type="alphaUcParenR"/>
            </a:pPr>
            <a:r>
              <a:rPr lang="zh-CN" altLang="en-US" dirty="0"/>
              <a:t>包含</a:t>
            </a:r>
            <a:r>
              <a:rPr lang="en-US" altLang="zh-CN" dirty="0"/>
              <a:t>1</a:t>
            </a:r>
            <a:r>
              <a:rPr lang="zh-CN" altLang="en-US" dirty="0"/>
              <a:t>个字符   </a:t>
            </a:r>
            <a:r>
              <a:rPr lang="en-US" altLang="zh-CN" dirty="0"/>
              <a:t>B</a:t>
            </a:r>
            <a:r>
              <a:rPr lang="zh-CN" altLang="en-US" dirty="0"/>
              <a:t>）包含</a:t>
            </a:r>
            <a:r>
              <a:rPr lang="en-US" altLang="zh-CN" dirty="0"/>
              <a:t>3</a:t>
            </a:r>
            <a:r>
              <a:rPr lang="zh-CN" altLang="en-US" dirty="0"/>
              <a:t>个字符</a:t>
            </a:r>
            <a:endParaRPr lang="en-US" altLang="zh-CN" dirty="0"/>
          </a:p>
          <a:p>
            <a:r>
              <a:rPr lang="en-US" altLang="zh-CN" dirty="0"/>
              <a:t>C) </a:t>
            </a:r>
            <a:r>
              <a:rPr lang="zh-CN" altLang="en-US" dirty="0"/>
              <a:t>包含</a:t>
            </a:r>
            <a:r>
              <a:rPr lang="en-US" altLang="zh-CN" dirty="0"/>
              <a:t>4</a:t>
            </a:r>
            <a:r>
              <a:rPr lang="zh-CN" altLang="en-US" dirty="0"/>
              <a:t>个字符   </a:t>
            </a:r>
            <a:r>
              <a:rPr lang="en-US" altLang="zh-CN" dirty="0">
                <a:solidFill>
                  <a:srgbClr val="FF0000"/>
                </a:solidFill>
              </a:rPr>
              <a:t>D</a:t>
            </a:r>
            <a:r>
              <a:rPr lang="zh-CN" altLang="en-US" dirty="0">
                <a:solidFill>
                  <a:srgbClr val="FF0000"/>
                </a:solidFill>
              </a:rPr>
              <a:t>）说明不合法，</a:t>
            </a:r>
            <a:r>
              <a:rPr lang="en-US" altLang="zh-CN" dirty="0">
                <a:solidFill>
                  <a:srgbClr val="FF0000"/>
                </a:solidFill>
              </a:rPr>
              <a:t>s</a:t>
            </a:r>
            <a:r>
              <a:rPr lang="zh-CN" altLang="en-US" dirty="0">
                <a:solidFill>
                  <a:srgbClr val="FF0000"/>
                </a:solidFill>
              </a:rPr>
              <a:t>值不定</a:t>
            </a:r>
            <a:endParaRPr lang="en-US" altLang="zh-CN" dirty="0">
              <a:solidFill>
                <a:srgbClr val="FF0000"/>
              </a:solidFill>
            </a:endParaRPr>
          </a:p>
        </p:txBody>
      </p:sp>
      <p:sp>
        <p:nvSpPr>
          <p:cNvPr id="9" name="文本框 8">
            <a:extLst>
              <a:ext uri="{FF2B5EF4-FFF2-40B4-BE49-F238E27FC236}">
                <a16:creationId xmlns:a16="http://schemas.microsoft.com/office/drawing/2014/main" id="{294CE125-1013-9ADB-F7F0-770207B66F3B}"/>
              </a:ext>
            </a:extLst>
          </p:cNvPr>
          <p:cNvSpPr txBox="1"/>
          <p:nvPr/>
        </p:nvSpPr>
        <p:spPr>
          <a:xfrm>
            <a:off x="5711932" y="3798190"/>
            <a:ext cx="2867472" cy="369332"/>
          </a:xfrm>
          <a:prstGeom prst="rect">
            <a:avLst/>
          </a:prstGeom>
          <a:noFill/>
        </p:spPr>
        <p:txBody>
          <a:bodyPr wrap="square">
            <a:spAutoFit/>
          </a:bodyPr>
          <a:lstStyle/>
          <a:p>
            <a:r>
              <a:rPr lang="zh-CN" altLang="en-US" dirty="0"/>
              <a:t>思考</a:t>
            </a:r>
            <a:r>
              <a:rPr lang="en-US" altLang="zh-CN" dirty="0"/>
              <a:t>char s=‘\134’</a:t>
            </a:r>
            <a:r>
              <a:rPr lang="zh-CN" altLang="en-US" dirty="0"/>
              <a:t>呢？</a:t>
            </a:r>
          </a:p>
        </p:txBody>
      </p:sp>
      <p:sp>
        <p:nvSpPr>
          <p:cNvPr id="11" name="文本框 10">
            <a:extLst>
              <a:ext uri="{FF2B5EF4-FFF2-40B4-BE49-F238E27FC236}">
                <a16:creationId xmlns:a16="http://schemas.microsoft.com/office/drawing/2014/main" id="{BE5F0638-B30C-D978-8B7D-7E262D70F25A}"/>
              </a:ext>
            </a:extLst>
          </p:cNvPr>
          <p:cNvSpPr txBox="1"/>
          <p:nvPr/>
        </p:nvSpPr>
        <p:spPr>
          <a:xfrm>
            <a:off x="5711932" y="4342724"/>
            <a:ext cx="6366615" cy="1200329"/>
          </a:xfrm>
          <a:prstGeom prst="rect">
            <a:avLst/>
          </a:prstGeom>
          <a:noFill/>
        </p:spPr>
        <p:txBody>
          <a:bodyPr wrap="none" rtlCol="0">
            <a:spAutoFit/>
          </a:bodyPr>
          <a:lstStyle/>
          <a:p>
            <a:r>
              <a:rPr lang="zh-CN" altLang="en-US" dirty="0"/>
              <a:t>已知</a:t>
            </a:r>
            <a:r>
              <a:rPr lang="en-US" altLang="zh-CN" dirty="0"/>
              <a:t>: char str1[10],str2[10]={“books”};</a:t>
            </a:r>
            <a:r>
              <a:rPr lang="zh-CN" altLang="en-US" dirty="0"/>
              <a:t>则在程序中能够将字符串</a:t>
            </a:r>
            <a:endParaRPr lang="en-US" altLang="zh-CN" dirty="0"/>
          </a:p>
          <a:p>
            <a:r>
              <a:rPr lang="en-US" altLang="zh-CN" dirty="0"/>
              <a:t>“books”</a:t>
            </a:r>
            <a:r>
              <a:rPr lang="zh-CN" altLang="en-US" dirty="0"/>
              <a:t>赋给数组</a:t>
            </a:r>
            <a:r>
              <a:rPr lang="en-US" altLang="zh-CN" dirty="0"/>
              <a:t>str1</a:t>
            </a:r>
            <a:r>
              <a:rPr lang="zh-CN" altLang="en-US" dirty="0"/>
              <a:t>的正确语句是</a:t>
            </a:r>
            <a:endParaRPr lang="en-US" altLang="zh-CN" dirty="0"/>
          </a:p>
          <a:p>
            <a:r>
              <a:rPr lang="en-US" altLang="zh-CN" dirty="0"/>
              <a:t>A)str1={“books”};  </a:t>
            </a:r>
            <a:r>
              <a:rPr lang="en-US" altLang="zh-CN" dirty="0">
                <a:solidFill>
                  <a:srgbClr val="FF0000"/>
                </a:solidFill>
              </a:rPr>
              <a:t>B)</a:t>
            </a:r>
            <a:r>
              <a:rPr lang="en-US" altLang="zh-CN" dirty="0" err="1">
                <a:solidFill>
                  <a:srgbClr val="FF0000"/>
                </a:solidFill>
              </a:rPr>
              <a:t>strcpy</a:t>
            </a:r>
            <a:r>
              <a:rPr lang="en-US" altLang="zh-CN" dirty="0">
                <a:solidFill>
                  <a:srgbClr val="FF0000"/>
                </a:solidFill>
              </a:rPr>
              <a:t>(str1,str2);</a:t>
            </a:r>
          </a:p>
          <a:p>
            <a:r>
              <a:rPr lang="en-US" altLang="zh-CN" dirty="0"/>
              <a:t>C)str1=str2;  D)str1=“books”</a:t>
            </a:r>
            <a:endParaRPr lang="zh-CN" altLang="en-US" dirty="0"/>
          </a:p>
        </p:txBody>
      </p:sp>
      <p:sp>
        <p:nvSpPr>
          <p:cNvPr id="12" name="文本框 11">
            <a:extLst>
              <a:ext uri="{FF2B5EF4-FFF2-40B4-BE49-F238E27FC236}">
                <a16:creationId xmlns:a16="http://schemas.microsoft.com/office/drawing/2014/main" id="{2D2E5CE7-5F89-18E4-4EDB-03023C80E3C7}"/>
              </a:ext>
            </a:extLst>
          </p:cNvPr>
          <p:cNvSpPr txBox="1"/>
          <p:nvPr/>
        </p:nvSpPr>
        <p:spPr>
          <a:xfrm>
            <a:off x="5553613" y="5480477"/>
            <a:ext cx="2867472" cy="369332"/>
          </a:xfrm>
          <a:prstGeom prst="rect">
            <a:avLst/>
          </a:prstGeom>
          <a:noFill/>
        </p:spPr>
        <p:txBody>
          <a:bodyPr wrap="square">
            <a:spAutoFit/>
          </a:bodyPr>
          <a:lstStyle/>
          <a:p>
            <a:r>
              <a:rPr lang="zh-CN" altLang="en-US" dirty="0"/>
              <a:t>思考</a:t>
            </a:r>
            <a:r>
              <a:rPr lang="en-US" altLang="zh-CN" dirty="0"/>
              <a:t>: str2[10]={‘</a:t>
            </a:r>
            <a:r>
              <a:rPr lang="en-US" altLang="zh-CN" dirty="0" err="1"/>
              <a:t>a’,”books</a:t>
            </a:r>
            <a:r>
              <a:rPr lang="en-US" altLang="zh-CN" dirty="0"/>
              <a:t>”};</a:t>
            </a:r>
            <a:endParaRPr lang="zh-CN" altLang="en-US" dirty="0"/>
          </a:p>
        </p:txBody>
      </p:sp>
    </p:spTree>
    <p:extLst>
      <p:ext uri="{BB962C8B-B14F-4D97-AF65-F5344CB8AC3E}">
        <p14:creationId xmlns:p14="http://schemas.microsoft.com/office/powerpoint/2010/main" val="23004678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E0000"/>
        </a:solidFill>
        <a:effectLst/>
      </p:bgPr>
    </p:bg>
    <p:spTree>
      <p:nvGrpSpPr>
        <p:cNvPr id="1" name=""/>
        <p:cNvGrpSpPr/>
        <p:nvPr/>
      </p:nvGrpSpPr>
      <p:grpSpPr>
        <a:xfrm>
          <a:off x="0" y="0"/>
          <a:ext cx="0" cy="0"/>
          <a:chOff x="0" y="0"/>
          <a:chExt cx="0" cy="0"/>
        </a:xfrm>
      </p:grpSpPr>
      <p:sp>
        <p:nvSpPr>
          <p:cNvPr id="6" name="矩形 5"/>
          <p:cNvSpPr/>
          <p:nvPr/>
        </p:nvSpPr>
        <p:spPr>
          <a:xfrm>
            <a:off x="613574" y="2281146"/>
            <a:ext cx="10964851" cy="725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4" name="TextBox 3"/>
          <p:cNvSpPr txBox="1"/>
          <p:nvPr/>
        </p:nvSpPr>
        <p:spPr>
          <a:xfrm>
            <a:off x="7256482" y="-419535"/>
            <a:ext cx="4020652" cy="7940635"/>
          </a:xfrm>
          <a:prstGeom prst="rect">
            <a:avLst/>
          </a:prstGeom>
          <a:noFill/>
          <a:effectLst>
            <a:outerShdw blurRad="165100" dist="76200" dir="1200000" algn="tl" rotWithShape="0">
              <a:prstClr val="black">
                <a:alpha val="10000"/>
              </a:prstClr>
            </a:outerShdw>
          </a:effectLst>
        </p:spPr>
        <p:txBody>
          <a:bodyPr wrap="none">
            <a:spAutoFit/>
          </a:bodyPr>
          <a:lstStyle/>
          <a:p>
            <a:pPr>
              <a:defRPr/>
            </a:pPr>
            <a:r>
              <a:rPr lang="en-US" sz="51000" dirty="0">
                <a:solidFill>
                  <a:prstClr val="white"/>
                </a:solidFill>
                <a:latin typeface="Microsoft YaHei UI" panose="020B0503020204020204" pitchFamily="34" charset="-122"/>
                <a:ea typeface="微软雅黑" panose="020B0503020204020204" pitchFamily="34" charset="-122"/>
                <a:cs typeface="+mn-ea"/>
                <a:sym typeface="+mn-lt"/>
              </a:rPr>
              <a:t>5</a:t>
            </a:r>
          </a:p>
        </p:txBody>
      </p:sp>
      <p:sp>
        <p:nvSpPr>
          <p:cNvPr id="5" name="矩形 4"/>
          <p:cNvSpPr/>
          <p:nvPr/>
        </p:nvSpPr>
        <p:spPr>
          <a:xfrm>
            <a:off x="1137315" y="2200192"/>
            <a:ext cx="3798205" cy="769441"/>
          </a:xfrm>
          <a:prstGeom prst="rect">
            <a:avLst/>
          </a:prstGeom>
        </p:spPr>
        <p:txBody>
          <a:bodyPr wrap="square">
            <a:spAutoFit/>
          </a:bodyPr>
          <a:lstStyle/>
          <a:p>
            <a:pPr>
              <a:defRPr/>
            </a:pPr>
            <a:r>
              <a:rPr lang="zh-CN" altLang="en-US" sz="4400" dirty="0">
                <a:solidFill>
                  <a:schemeClr val="bg1"/>
                </a:solidFill>
                <a:latin typeface="黑体" panose="02010609060101010101" pitchFamily="49" charset="-122"/>
                <a:ea typeface="黑体" panose="02010609060101010101" pitchFamily="49" charset="-122"/>
                <a:cs typeface="+mn-ea"/>
                <a:sym typeface="+mn-lt"/>
              </a:rPr>
              <a:t>数组</a:t>
            </a:r>
          </a:p>
        </p:txBody>
      </p:sp>
      <p:sp>
        <p:nvSpPr>
          <p:cNvPr id="3" name="矩形 2"/>
          <p:cNvSpPr/>
          <p:nvPr/>
        </p:nvSpPr>
        <p:spPr>
          <a:xfrm>
            <a:off x="781516" y="1511705"/>
            <a:ext cx="6199591" cy="769441"/>
          </a:xfrm>
          <a:prstGeom prst="rect">
            <a:avLst/>
          </a:prstGeom>
        </p:spPr>
        <p:txBody>
          <a:bodyPr wrap="square">
            <a:spAutoFit/>
          </a:bodyPr>
          <a:lstStyle/>
          <a:p>
            <a:pPr>
              <a:defRPr/>
            </a:pPr>
            <a:r>
              <a:rPr lang="en-US" altLang="zh-CN" sz="4400" dirty="0">
                <a:solidFill>
                  <a:prstClr val="white"/>
                </a:solidFill>
                <a:latin typeface="Microsoft YaHei UI" panose="020B0503020204020204" pitchFamily="34" charset="-122"/>
                <a:ea typeface="Microsoft YaHei UI" panose="020B0503020204020204" pitchFamily="34" charset="-122"/>
                <a:cs typeface="+mn-ea"/>
                <a:sym typeface="+mn-lt"/>
              </a:rPr>
              <a:t>PART FIVE</a:t>
            </a:r>
          </a:p>
        </p:txBody>
      </p:sp>
      <p:sp>
        <p:nvSpPr>
          <p:cNvPr id="2" name="文本框 1"/>
          <p:cNvSpPr txBox="1"/>
          <p:nvPr/>
        </p:nvSpPr>
        <p:spPr>
          <a:xfrm>
            <a:off x="1137315" y="3170917"/>
            <a:ext cx="3207219"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1.</a:t>
            </a:r>
            <a:r>
              <a:rPr kumimoji="0" lang="zh-CN" altLang="en-US"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一维数组</a:t>
            </a:r>
            <a:endPar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2.</a:t>
            </a:r>
            <a:r>
              <a:rPr kumimoji="0" lang="zh-CN" altLang="en-US"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多维数组</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3.</a:t>
            </a:r>
            <a:r>
              <a:rPr kumimoji="0" lang="zh-CN" altLang="en-US"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数组指针</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4.</a:t>
            </a:r>
            <a:r>
              <a:rPr kumimoji="0" lang="zh-CN" altLang="en-US"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指针数组</a:t>
            </a:r>
            <a:endPar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5.</a:t>
            </a:r>
            <a:r>
              <a:rPr kumimoji="0" lang="zh-CN" altLang="en-US"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排序算法</a:t>
            </a:r>
            <a:endParaRPr kumimoji="0" lang="zh-CN" altLang="zh-CN" sz="24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099744669"/>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500" y="317618"/>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数组</a:t>
            </a:r>
            <a:r>
              <a:rPr lang="en-US" altLang="zh-CN" dirty="0"/>
              <a:t> - </a:t>
            </a:r>
            <a:r>
              <a:rPr lang="zh-CN" altLang="en-US" dirty="0"/>
              <a:t>概念</a:t>
            </a:r>
          </a:p>
        </p:txBody>
      </p:sp>
      <p:sp>
        <p:nvSpPr>
          <p:cNvPr id="4" name="文本框 3"/>
          <p:cNvSpPr txBox="1"/>
          <p:nvPr/>
        </p:nvSpPr>
        <p:spPr>
          <a:xfrm>
            <a:off x="2846774" y="1553120"/>
            <a:ext cx="6571695" cy="737235"/>
          </a:xfrm>
          <a:prstGeom prst="rect">
            <a:avLst/>
          </a:prstGeom>
          <a:noFill/>
        </p:spPr>
        <p:txBody>
          <a:bodyPr wrap="square" rtlCol="0">
            <a:spAutoFit/>
          </a:bodyPr>
          <a:lstStyle/>
          <a:p>
            <a:r>
              <a:rPr lang="zh-CN" altLang="en-US" sz="2100" spc="300" dirty="0">
                <a:solidFill>
                  <a:prstClr val="black"/>
                </a:solidFill>
                <a:latin typeface="微软雅黑" panose="020B0503020204020204" pitchFamily="34" charset="-122"/>
                <a:ea typeface="微软雅黑" panose="020B0503020204020204" pitchFamily="34" charset="-122"/>
              </a:rPr>
              <a:t>数组是一种</a:t>
            </a:r>
            <a:r>
              <a:rPr lang="zh-CN" altLang="en-US" sz="2100" spc="300" dirty="0">
                <a:solidFill>
                  <a:srgbClr val="333333"/>
                </a:solidFill>
                <a:latin typeface="微软雅黑" panose="020B0503020204020204" pitchFamily="34" charset="-122"/>
                <a:ea typeface="微软雅黑" panose="020B0503020204020204" pitchFamily="34" charset="-122"/>
              </a:rPr>
              <a:t>存储</a:t>
            </a:r>
            <a:r>
              <a:rPr lang="zh-CN" altLang="en-US" sz="2100" b="1" spc="300" dirty="0">
                <a:solidFill>
                  <a:srgbClr val="333333"/>
                </a:solidFill>
                <a:latin typeface="微软雅黑" panose="020B0503020204020204" pitchFamily="34" charset="-122"/>
                <a:ea typeface="微软雅黑" panose="020B0503020204020204" pitchFamily="34" charset="-122"/>
              </a:rPr>
              <a:t>固定长度</a:t>
            </a:r>
            <a:r>
              <a:rPr lang="zh-CN" altLang="en-US" sz="2100" spc="300" dirty="0">
                <a:solidFill>
                  <a:srgbClr val="333333"/>
                </a:solidFill>
                <a:latin typeface="微软雅黑" panose="020B0503020204020204" pitchFamily="34" charset="-122"/>
                <a:ea typeface="微软雅黑" panose="020B0503020204020204" pitchFamily="34" charset="-122"/>
              </a:rPr>
              <a:t>的</a:t>
            </a:r>
            <a:r>
              <a:rPr lang="zh-CN" altLang="en-US" sz="2100" b="1" spc="300" dirty="0">
                <a:solidFill>
                  <a:srgbClr val="333333"/>
                </a:solidFill>
                <a:latin typeface="微软雅黑" panose="020B0503020204020204" pitchFamily="34" charset="-122"/>
                <a:ea typeface="微软雅黑" panose="020B0503020204020204" pitchFamily="34" charset="-122"/>
              </a:rPr>
              <a:t>相同类型</a:t>
            </a:r>
            <a:r>
              <a:rPr lang="zh-CN" altLang="en-US" sz="2100" spc="300" dirty="0">
                <a:solidFill>
                  <a:srgbClr val="333333"/>
                </a:solidFill>
                <a:latin typeface="微软雅黑" panose="020B0503020204020204" pitchFamily="34" charset="-122"/>
                <a:ea typeface="微软雅黑" panose="020B0503020204020204" pitchFamily="34" charset="-122"/>
              </a:rPr>
              <a:t>元素的</a:t>
            </a:r>
            <a:r>
              <a:rPr lang="zh-CN" altLang="en-US" sz="2100" b="1" spc="300" dirty="0">
                <a:solidFill>
                  <a:srgbClr val="333333"/>
                </a:solidFill>
                <a:latin typeface="微软雅黑" panose="020B0503020204020204" pitchFamily="34" charset="-122"/>
                <a:ea typeface="微软雅黑" panose="020B0503020204020204" pitchFamily="34" charset="-122"/>
              </a:rPr>
              <a:t>有序</a:t>
            </a:r>
            <a:r>
              <a:rPr lang="zh-CN" altLang="en-US" sz="2100" spc="300" dirty="0">
                <a:solidFill>
                  <a:srgbClr val="333333"/>
                </a:solidFill>
                <a:latin typeface="微软雅黑" panose="020B0503020204020204" pitchFamily="34" charset="-122"/>
                <a:ea typeface="微软雅黑" panose="020B0503020204020204" pitchFamily="34" charset="-122"/>
              </a:rPr>
              <a:t>集合</a:t>
            </a:r>
            <a:r>
              <a:rPr lang="zh-CN" altLang="en-US" sz="2100" dirty="0">
                <a:solidFill>
                  <a:srgbClr val="333333"/>
                </a:solidFill>
                <a:latin typeface="微软雅黑" panose="020B0503020204020204" pitchFamily="34" charset="-122"/>
                <a:ea typeface="微软雅黑" panose="020B0503020204020204" pitchFamily="34" charset="-122"/>
              </a:rPr>
              <a:t>。</a:t>
            </a:r>
            <a:endParaRPr lang="en-US" altLang="zh-CN" sz="2100" dirty="0">
              <a:solidFill>
                <a:srgbClr val="333333"/>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59206" y="2541788"/>
            <a:ext cx="1850995" cy="1060450"/>
          </a:xfrm>
          <a:prstGeom prst="rect">
            <a:avLst/>
          </a:prstGeom>
          <a:noFill/>
        </p:spPr>
        <p:txBody>
          <a:bodyPr wrap="square" rtlCol="0">
            <a:spAutoFit/>
          </a:bodyPr>
          <a:lstStyle/>
          <a:p>
            <a:pPr algn="ctr"/>
            <a:r>
              <a:rPr lang="zh-CN" altLang="en-US" sz="2100" dirty="0">
                <a:solidFill>
                  <a:prstClr val="black"/>
                </a:solidFill>
                <a:latin typeface="微软雅黑" panose="020B0503020204020204" pitchFamily="34" charset="-122"/>
                <a:ea typeface="微软雅黑" panose="020B0503020204020204" pitchFamily="34" charset="-122"/>
              </a:rPr>
              <a:t>固定长度</a:t>
            </a:r>
            <a:endParaRPr lang="en-US" altLang="zh-CN" sz="2100" dirty="0">
              <a:solidFill>
                <a:prstClr val="black"/>
              </a:solidFill>
              <a:latin typeface="微软雅黑" panose="020B0503020204020204" pitchFamily="34" charset="-122"/>
              <a:ea typeface="微软雅黑" panose="020B0503020204020204" pitchFamily="34" charset="-122"/>
            </a:endParaRPr>
          </a:p>
          <a:p>
            <a:r>
              <a:rPr lang="zh-CN" altLang="en-US" sz="2100" dirty="0">
                <a:solidFill>
                  <a:prstClr val="black"/>
                </a:solidFill>
                <a:latin typeface="微软雅黑" panose="020B0503020204020204" pitchFamily="34" charset="-122"/>
                <a:ea typeface="微软雅黑" panose="020B0503020204020204" pitchFamily="34" charset="-122"/>
              </a:rPr>
              <a:t>声明之后长度不可变</a:t>
            </a:r>
          </a:p>
        </p:txBody>
      </p:sp>
      <p:sp>
        <p:nvSpPr>
          <p:cNvPr id="7" name="文本框 6"/>
          <p:cNvSpPr txBox="1"/>
          <p:nvPr/>
        </p:nvSpPr>
        <p:spPr>
          <a:xfrm>
            <a:off x="5526720" y="2607224"/>
            <a:ext cx="1850995" cy="2030095"/>
          </a:xfrm>
          <a:prstGeom prst="rect">
            <a:avLst/>
          </a:prstGeom>
          <a:noFill/>
        </p:spPr>
        <p:txBody>
          <a:bodyPr wrap="square" rtlCol="0">
            <a:spAutoFit/>
          </a:bodyPr>
          <a:lstStyle/>
          <a:p>
            <a:pPr algn="ctr"/>
            <a:r>
              <a:rPr lang="zh-CN" altLang="en-US" sz="2100" dirty="0">
                <a:solidFill>
                  <a:prstClr val="black"/>
                </a:solidFill>
                <a:latin typeface="微软雅黑" panose="020B0503020204020204" pitchFamily="34" charset="-122"/>
                <a:ea typeface="微软雅黑" panose="020B0503020204020204" pitchFamily="34" charset="-122"/>
              </a:rPr>
              <a:t>相同类型</a:t>
            </a:r>
            <a:endParaRPr lang="en-US" altLang="zh-CN" sz="2100" dirty="0">
              <a:solidFill>
                <a:prstClr val="black"/>
              </a:solidFill>
              <a:latin typeface="微软雅黑" panose="020B0503020204020204" pitchFamily="34" charset="-122"/>
              <a:ea typeface="微软雅黑" panose="020B0503020204020204" pitchFamily="34" charset="-122"/>
            </a:endParaRPr>
          </a:p>
          <a:p>
            <a:r>
              <a:rPr lang="zh-CN" altLang="en-US" sz="2100" dirty="0">
                <a:solidFill>
                  <a:prstClr val="black"/>
                </a:solidFill>
                <a:latin typeface="微软雅黑" panose="020B0503020204020204" pitchFamily="34" charset="-122"/>
                <a:ea typeface="微软雅黑" panose="020B0503020204020204" pitchFamily="34" charset="-122"/>
              </a:rPr>
              <a:t>只能存同一种类型，声明为</a:t>
            </a:r>
            <a:r>
              <a:rPr lang="en-US" altLang="zh-CN" sz="2100" dirty="0">
                <a:solidFill>
                  <a:prstClr val="black"/>
                </a:solidFill>
                <a:latin typeface="微软雅黑" panose="020B0503020204020204" pitchFamily="34" charset="-122"/>
                <a:ea typeface="微软雅黑" panose="020B0503020204020204" pitchFamily="34" charset="-122"/>
              </a:rPr>
              <a:t>int</a:t>
            </a:r>
            <a:r>
              <a:rPr lang="zh-CN" altLang="en-US" sz="2100" dirty="0">
                <a:solidFill>
                  <a:prstClr val="black"/>
                </a:solidFill>
                <a:latin typeface="微软雅黑" panose="020B0503020204020204" pitchFamily="34" charset="-122"/>
                <a:ea typeface="微软雅黑" panose="020B0503020204020204" pitchFamily="34" charset="-122"/>
              </a:rPr>
              <a:t>就不能存</a:t>
            </a:r>
            <a:r>
              <a:rPr lang="en-US" altLang="zh-CN" sz="2100" dirty="0">
                <a:solidFill>
                  <a:prstClr val="black"/>
                </a:solidFill>
                <a:latin typeface="微软雅黑" panose="020B0503020204020204" pitchFamily="34" charset="-122"/>
                <a:ea typeface="微软雅黑" panose="020B0503020204020204" pitchFamily="34" charset="-122"/>
              </a:rPr>
              <a:t>double</a:t>
            </a:r>
            <a:r>
              <a:rPr lang="zh-CN" altLang="en-US" sz="2100" dirty="0">
                <a:solidFill>
                  <a:prstClr val="black"/>
                </a:solidFill>
                <a:latin typeface="微软雅黑" panose="020B0503020204020204" pitchFamily="34" charset="-122"/>
                <a:ea typeface="微软雅黑" panose="020B0503020204020204" pitchFamily="34" charset="-122"/>
              </a:rPr>
              <a:t>或</a:t>
            </a:r>
            <a:r>
              <a:rPr lang="en-US" altLang="zh-CN" sz="2100" dirty="0">
                <a:solidFill>
                  <a:prstClr val="black"/>
                </a:solidFill>
                <a:latin typeface="微软雅黑" panose="020B0503020204020204" pitchFamily="34" charset="-122"/>
                <a:ea typeface="微软雅黑" panose="020B0503020204020204" pitchFamily="34" charset="-122"/>
              </a:rPr>
              <a:t>char</a:t>
            </a:r>
            <a:endParaRPr lang="zh-CN" altLang="en-US" sz="2100"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7494233" y="2541789"/>
            <a:ext cx="1511423" cy="1383665"/>
          </a:xfrm>
          <a:prstGeom prst="rect">
            <a:avLst/>
          </a:prstGeom>
          <a:noFill/>
        </p:spPr>
        <p:txBody>
          <a:bodyPr wrap="square" rtlCol="0">
            <a:spAutoFit/>
          </a:bodyPr>
          <a:lstStyle/>
          <a:p>
            <a:pPr algn="ctr"/>
            <a:r>
              <a:rPr lang="zh-CN" altLang="en-US" sz="2100" dirty="0">
                <a:solidFill>
                  <a:prstClr val="black"/>
                </a:solidFill>
                <a:latin typeface="微软雅黑" panose="020B0503020204020204" pitchFamily="34" charset="-122"/>
                <a:ea typeface="微软雅黑" panose="020B0503020204020204" pitchFamily="34" charset="-122"/>
              </a:rPr>
              <a:t>有序</a:t>
            </a:r>
            <a:endParaRPr lang="en-US" altLang="zh-CN" sz="2100" dirty="0">
              <a:solidFill>
                <a:prstClr val="black"/>
              </a:solidFill>
              <a:latin typeface="微软雅黑" panose="020B0503020204020204" pitchFamily="34" charset="-122"/>
              <a:ea typeface="微软雅黑" panose="020B0503020204020204" pitchFamily="34" charset="-122"/>
            </a:endParaRPr>
          </a:p>
          <a:p>
            <a:r>
              <a:rPr lang="zh-CN" altLang="en-US" sz="2100" dirty="0">
                <a:solidFill>
                  <a:prstClr val="black"/>
                </a:solidFill>
                <a:latin typeface="微软雅黑" panose="020B0503020204020204" pitchFamily="34" charset="-122"/>
                <a:ea typeface="微软雅黑" panose="020B0503020204020204" pitchFamily="34" charset="-122"/>
              </a:rPr>
              <a:t>元素按索引顺序排列</a:t>
            </a:r>
          </a:p>
        </p:txBody>
      </p:sp>
      <p:cxnSp>
        <p:nvCxnSpPr>
          <p:cNvPr id="10" name="直接箭头连接符 9"/>
          <p:cNvCxnSpPr>
            <a:cxnSpLocks/>
            <a:endCxn id="6" idx="0"/>
          </p:cNvCxnSpPr>
          <p:nvPr/>
        </p:nvCxnSpPr>
        <p:spPr>
          <a:xfrm flipH="1">
            <a:off x="4484704" y="1942640"/>
            <a:ext cx="1169863" cy="59914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p:cNvCxnSpPr>
            <a:cxnSpLocks/>
            <a:endCxn id="7" idx="0"/>
          </p:cNvCxnSpPr>
          <p:nvPr/>
        </p:nvCxnSpPr>
        <p:spPr>
          <a:xfrm flipH="1">
            <a:off x="6452218" y="1958062"/>
            <a:ext cx="664159" cy="64916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a:cxnSpLocks/>
            <a:endCxn id="8" idx="0"/>
          </p:cNvCxnSpPr>
          <p:nvPr/>
        </p:nvCxnSpPr>
        <p:spPr>
          <a:xfrm flipH="1">
            <a:off x="8249944" y="1942640"/>
            <a:ext cx="515684" cy="59914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8187" y="2120409"/>
            <a:ext cx="3933190" cy="817286"/>
          </a:xfrm>
          <a:prstGeom prst="rect">
            <a:avLst/>
          </a:prstGeom>
        </p:spPr>
      </p:pic>
      <p:sp>
        <p:nvSpPr>
          <p:cNvPr id="2" name="文本框 1"/>
          <p:cNvSpPr txBox="1"/>
          <p:nvPr/>
        </p:nvSpPr>
        <p:spPr>
          <a:xfrm>
            <a:off x="630500" y="325031"/>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数组</a:t>
            </a:r>
            <a:r>
              <a:rPr lang="en-US" altLang="zh-CN" dirty="0"/>
              <a:t>–</a:t>
            </a:r>
            <a:r>
              <a:rPr lang="zh-CN" altLang="en-US" dirty="0"/>
              <a:t>定义</a:t>
            </a:r>
          </a:p>
        </p:txBody>
      </p:sp>
      <p:sp>
        <p:nvSpPr>
          <p:cNvPr id="4" name="文本框 3"/>
          <p:cNvSpPr txBox="1"/>
          <p:nvPr/>
        </p:nvSpPr>
        <p:spPr>
          <a:xfrm>
            <a:off x="557985" y="1237422"/>
            <a:ext cx="6438530" cy="830997"/>
          </a:xfrm>
          <a:prstGeom prst="rect">
            <a:avLst/>
          </a:prstGeom>
          <a:noFill/>
        </p:spPr>
        <p:txBody>
          <a:bodyPr wrap="square" rtlCol="0">
            <a:spAutoFit/>
          </a:bodyPr>
          <a:lstStyle/>
          <a:p>
            <a:r>
              <a:rPr lang="zh-CN" altLang="en-US" sz="2400" dirty="0">
                <a:solidFill>
                  <a:prstClr val="black"/>
                </a:solidFill>
                <a:latin typeface="宋体" panose="02010600030101010101" pitchFamily="2" charset="-122"/>
                <a:ea typeface="宋体" panose="02010600030101010101" pitchFamily="2" charset="-122"/>
              </a:rPr>
              <a:t>数据类型 数组名</a:t>
            </a:r>
            <a:r>
              <a:rPr lang="en-US" altLang="zh-CN" sz="2400" dirty="0">
                <a:solidFill>
                  <a:prstClr val="black"/>
                </a:solidFill>
                <a:latin typeface="宋体" panose="02010600030101010101" pitchFamily="2" charset="-122"/>
                <a:ea typeface="宋体" panose="02010600030101010101" pitchFamily="2" charset="-122"/>
              </a:rPr>
              <a:t>[</a:t>
            </a:r>
            <a:r>
              <a:rPr lang="zh-CN" altLang="en-US" sz="2400" dirty="0">
                <a:solidFill>
                  <a:prstClr val="black"/>
                </a:solidFill>
                <a:latin typeface="宋体" panose="02010600030101010101" pitchFamily="2" charset="-122"/>
                <a:ea typeface="宋体" panose="02010600030101010101" pitchFamily="2" charset="-122"/>
              </a:rPr>
              <a:t>数组长度</a:t>
            </a:r>
            <a:r>
              <a:rPr lang="en-US" altLang="zh-CN" sz="2400" dirty="0">
                <a:solidFill>
                  <a:prstClr val="black"/>
                </a:solidFill>
                <a:latin typeface="宋体" panose="02010600030101010101" pitchFamily="2" charset="-122"/>
                <a:ea typeface="宋体" panose="02010600030101010101" pitchFamily="2" charset="-122"/>
              </a:rPr>
              <a:t>];</a:t>
            </a:r>
          </a:p>
          <a:p>
            <a:r>
              <a:rPr lang="en-US" altLang="zh-CN" sz="2400" dirty="0">
                <a:solidFill>
                  <a:srgbClr val="333333"/>
                </a:solidFill>
                <a:latin typeface="宋体" panose="02010600030101010101" pitchFamily="2" charset="-122"/>
                <a:ea typeface="宋体" panose="02010600030101010101" pitchFamily="2" charset="-122"/>
              </a:rPr>
              <a:t>int a[114];</a:t>
            </a:r>
          </a:p>
        </p:txBody>
      </p:sp>
      <p:pic>
        <p:nvPicPr>
          <p:cNvPr id="3" name="图片 2">
            <a:extLst>
              <a:ext uri="{FF2B5EF4-FFF2-40B4-BE49-F238E27FC236}">
                <a16:creationId xmlns:a16="http://schemas.microsoft.com/office/drawing/2014/main" id="{754C770F-82F7-5BA0-E077-5E41CF99F08E}"/>
              </a:ext>
            </a:extLst>
          </p:cNvPr>
          <p:cNvPicPr>
            <a:picLocks noChangeAspect="1"/>
          </p:cNvPicPr>
          <p:nvPr/>
        </p:nvPicPr>
        <p:blipFill>
          <a:blip r:embed="rId4"/>
          <a:stretch>
            <a:fillRect/>
          </a:stretch>
        </p:blipFill>
        <p:spPr>
          <a:xfrm>
            <a:off x="352271" y="2757482"/>
            <a:ext cx="2324117" cy="1343035"/>
          </a:xfrm>
          <a:prstGeom prst="rect">
            <a:avLst/>
          </a:prstGeom>
        </p:spPr>
      </p:pic>
      <p:sp>
        <p:nvSpPr>
          <p:cNvPr id="10" name="文本框 9">
            <a:extLst>
              <a:ext uri="{FF2B5EF4-FFF2-40B4-BE49-F238E27FC236}">
                <a16:creationId xmlns:a16="http://schemas.microsoft.com/office/drawing/2014/main" id="{CD057C89-BF7D-B27E-2F23-E3D98CF636FB}"/>
              </a:ext>
            </a:extLst>
          </p:cNvPr>
          <p:cNvSpPr txBox="1"/>
          <p:nvPr/>
        </p:nvSpPr>
        <p:spPr>
          <a:xfrm>
            <a:off x="4451592" y="3998928"/>
            <a:ext cx="6494085" cy="1938992"/>
          </a:xfrm>
          <a:prstGeom prst="rect">
            <a:avLst/>
          </a:prstGeom>
          <a:noFill/>
        </p:spPr>
        <p:txBody>
          <a:bodyPr wrap="none" rtlCol="0">
            <a:spAutoFit/>
          </a:bodyPr>
          <a:lstStyle/>
          <a:p>
            <a:r>
              <a:rPr lang="zh-CN" altLang="en-US" sz="2400" dirty="0"/>
              <a:t>思考①</a:t>
            </a:r>
            <a:r>
              <a:rPr lang="en-US" altLang="zh-CN" sz="2400" dirty="0"/>
              <a:t>:</a:t>
            </a:r>
            <a:r>
              <a:rPr lang="zh-CN" altLang="en-US" sz="2400" dirty="0"/>
              <a:t>哪些定义是错的</a:t>
            </a:r>
            <a:r>
              <a:rPr lang="en-US" altLang="zh-CN" sz="2400" dirty="0"/>
              <a:t>?</a:t>
            </a:r>
          </a:p>
          <a:p>
            <a:r>
              <a:rPr lang="zh-CN" altLang="en-US" sz="2400" dirty="0"/>
              <a:t>思考②</a:t>
            </a:r>
            <a:r>
              <a:rPr lang="en-US" altLang="zh-CN" sz="2400" dirty="0"/>
              <a:t>:</a:t>
            </a:r>
            <a:r>
              <a:rPr lang="zh-CN" altLang="en-US" sz="2400" dirty="0"/>
              <a:t>这些定义方式有什么不同</a:t>
            </a:r>
            <a:r>
              <a:rPr lang="en-US" altLang="zh-CN" sz="2400" dirty="0"/>
              <a:t>?</a:t>
            </a:r>
          </a:p>
          <a:p>
            <a:r>
              <a:rPr lang="zh-CN" altLang="en-US" sz="2400" dirty="0"/>
              <a:t>直接输出未初始化的数组结果如何</a:t>
            </a:r>
            <a:r>
              <a:rPr lang="en-US" altLang="zh-CN" sz="2400" dirty="0"/>
              <a:t>?</a:t>
            </a:r>
          </a:p>
          <a:p>
            <a:r>
              <a:rPr lang="zh-CN" altLang="en-US" sz="2400" dirty="0"/>
              <a:t>全局数组、静态分配的数组、动态分配的数组</a:t>
            </a:r>
            <a:r>
              <a:rPr lang="en-US" altLang="zh-CN" sz="2400" dirty="0"/>
              <a:t>~</a:t>
            </a:r>
          </a:p>
          <a:p>
            <a:r>
              <a:rPr lang="en-US" altLang="zh-CN" sz="2400" dirty="0"/>
              <a:t>c1</a:t>
            </a:r>
            <a:r>
              <a:rPr lang="zh-CN" altLang="en-US" sz="2400" dirty="0"/>
              <a:t>、</a:t>
            </a:r>
            <a:r>
              <a:rPr lang="en-US" altLang="zh-CN" sz="2400" dirty="0"/>
              <a:t>a1</a:t>
            </a:r>
            <a:r>
              <a:rPr lang="zh-CN" altLang="en-US" sz="2400" dirty="0"/>
              <a:t>、</a:t>
            </a:r>
            <a:r>
              <a:rPr lang="en-US" altLang="zh-CN" sz="2400" dirty="0"/>
              <a:t>a2</a:t>
            </a:r>
          </a:p>
        </p:txBody>
      </p:sp>
      <p:pic>
        <p:nvPicPr>
          <p:cNvPr id="12" name="图片 11">
            <a:extLst>
              <a:ext uri="{FF2B5EF4-FFF2-40B4-BE49-F238E27FC236}">
                <a16:creationId xmlns:a16="http://schemas.microsoft.com/office/drawing/2014/main" id="{62E92497-D830-3272-BF7C-49EC056A8A16}"/>
              </a:ext>
            </a:extLst>
          </p:cNvPr>
          <p:cNvPicPr>
            <a:picLocks noChangeAspect="1"/>
          </p:cNvPicPr>
          <p:nvPr/>
        </p:nvPicPr>
        <p:blipFill>
          <a:blip r:embed="rId5"/>
          <a:stretch>
            <a:fillRect/>
          </a:stretch>
        </p:blipFill>
        <p:spPr>
          <a:xfrm>
            <a:off x="388561" y="4274500"/>
            <a:ext cx="3676677" cy="1762138"/>
          </a:xfrm>
          <a:prstGeom prst="rect">
            <a:avLst/>
          </a:prstGeom>
        </p:spPr>
      </p:pic>
      <p:pic>
        <p:nvPicPr>
          <p:cNvPr id="13" name="图片 12">
            <a:extLst>
              <a:ext uri="{FF2B5EF4-FFF2-40B4-BE49-F238E27FC236}">
                <a16:creationId xmlns:a16="http://schemas.microsoft.com/office/drawing/2014/main" id="{E6E74E17-7A9E-0355-88F7-3431E5F8AD91}"/>
              </a:ext>
            </a:extLst>
          </p:cNvPr>
          <p:cNvPicPr>
            <a:picLocks noChangeAspect="1"/>
          </p:cNvPicPr>
          <p:nvPr/>
        </p:nvPicPr>
        <p:blipFill>
          <a:blip r:embed="rId6"/>
          <a:stretch>
            <a:fillRect/>
          </a:stretch>
        </p:blipFill>
        <p:spPr>
          <a:xfrm>
            <a:off x="8520399" y="2087296"/>
            <a:ext cx="2114565" cy="1047758"/>
          </a:xfrm>
          <a:prstGeom prst="rect">
            <a:avLst/>
          </a:prstGeom>
        </p:spPr>
      </p:pic>
      <p:sp>
        <p:nvSpPr>
          <p:cNvPr id="14" name="文本框 13">
            <a:extLst>
              <a:ext uri="{FF2B5EF4-FFF2-40B4-BE49-F238E27FC236}">
                <a16:creationId xmlns:a16="http://schemas.microsoft.com/office/drawing/2014/main" id="{675A11F5-F64D-C66A-1345-19E908F421EE}"/>
              </a:ext>
            </a:extLst>
          </p:cNvPr>
          <p:cNvSpPr txBox="1"/>
          <p:nvPr/>
        </p:nvSpPr>
        <p:spPr>
          <a:xfrm>
            <a:off x="7366500" y="400743"/>
            <a:ext cx="4267515" cy="1569660"/>
          </a:xfrm>
          <a:prstGeom prst="rect">
            <a:avLst/>
          </a:prstGeom>
          <a:noFill/>
        </p:spPr>
        <p:txBody>
          <a:bodyPr wrap="none" rtlCol="0">
            <a:spAutoFit/>
          </a:bodyPr>
          <a:lstStyle/>
          <a:p>
            <a:r>
              <a:rPr lang="zh-CN" altLang="en-US" sz="2400" dirty="0"/>
              <a:t>提示③</a:t>
            </a:r>
            <a:r>
              <a:rPr lang="en-US" altLang="zh-CN" sz="2400" dirty="0"/>
              <a:t>:</a:t>
            </a:r>
            <a:r>
              <a:rPr lang="zh-CN" altLang="en-US" sz="2400" dirty="0"/>
              <a:t>乐学数据都不给范围，</a:t>
            </a:r>
            <a:endParaRPr lang="en-US" altLang="zh-CN" sz="2400" dirty="0"/>
          </a:p>
          <a:p>
            <a:r>
              <a:rPr lang="zh-CN" altLang="en-US" sz="2400" dirty="0"/>
              <a:t>我咋知道数组开多大？</a:t>
            </a:r>
            <a:endParaRPr lang="en-US" altLang="zh-CN" sz="2400" dirty="0"/>
          </a:p>
          <a:p>
            <a:r>
              <a:rPr lang="zh-CN" altLang="en-US" sz="2400" dirty="0"/>
              <a:t>诶，我数组开大点就过了</a:t>
            </a:r>
            <a:r>
              <a:rPr lang="en-US" altLang="zh-CN" sz="2400" dirty="0"/>
              <a:t>~~~</a:t>
            </a:r>
          </a:p>
          <a:p>
            <a:r>
              <a:rPr lang="zh-CN" altLang="en-US" sz="2400" dirty="0"/>
              <a:t>如何按需定义数组大小呢</a:t>
            </a:r>
            <a:r>
              <a:rPr lang="en-US" altLang="zh-CN" sz="2400" dirty="0"/>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AE113F-1A52-32EB-F9F4-43853094913D}"/>
              </a:ext>
            </a:extLst>
          </p:cNvPr>
          <p:cNvSpPr txBox="1"/>
          <p:nvPr/>
        </p:nvSpPr>
        <p:spPr>
          <a:xfrm>
            <a:off x="588542" y="561047"/>
            <a:ext cx="4532459" cy="369332"/>
          </a:xfrm>
          <a:prstGeom prst="rect">
            <a:avLst/>
          </a:prstGeom>
          <a:noFill/>
        </p:spPr>
        <p:txBody>
          <a:bodyPr wrap="none" rtlCol="0">
            <a:spAutoFit/>
          </a:bodyPr>
          <a:lstStyle/>
          <a:p>
            <a:r>
              <a:rPr lang="zh-CN" altLang="en-US" dirty="0"/>
              <a:t>提示①</a:t>
            </a:r>
            <a:r>
              <a:rPr lang="en-US" altLang="zh-CN" dirty="0"/>
              <a:t>:</a:t>
            </a:r>
            <a:r>
              <a:rPr lang="zh-CN" altLang="en-US" dirty="0"/>
              <a:t>我的</a:t>
            </a:r>
            <a:r>
              <a:rPr lang="en-US" altLang="zh-CN" dirty="0"/>
              <a:t>Dev</a:t>
            </a:r>
            <a:r>
              <a:rPr lang="zh-CN" altLang="en-US" dirty="0"/>
              <a:t>坏了，本地运行的好好的！</a:t>
            </a:r>
            <a:endParaRPr lang="en-US" altLang="zh-CN" dirty="0"/>
          </a:p>
        </p:txBody>
      </p:sp>
      <p:sp>
        <p:nvSpPr>
          <p:cNvPr id="4" name="文本框 3">
            <a:extLst>
              <a:ext uri="{FF2B5EF4-FFF2-40B4-BE49-F238E27FC236}">
                <a16:creationId xmlns:a16="http://schemas.microsoft.com/office/drawing/2014/main" id="{2F42C452-17AB-6213-4108-1F1F637740FF}"/>
              </a:ext>
            </a:extLst>
          </p:cNvPr>
          <p:cNvSpPr txBox="1"/>
          <p:nvPr/>
        </p:nvSpPr>
        <p:spPr>
          <a:xfrm>
            <a:off x="439375" y="2038212"/>
            <a:ext cx="4185761" cy="461665"/>
          </a:xfrm>
          <a:prstGeom prst="rect">
            <a:avLst/>
          </a:prstGeom>
          <a:noFill/>
        </p:spPr>
        <p:txBody>
          <a:bodyPr wrap="none" rtlCol="0">
            <a:spAutoFit/>
          </a:bodyPr>
          <a:lstStyle/>
          <a:p>
            <a:r>
              <a:rPr lang="zh-CN" altLang="en-US" sz="2400" dirty="0"/>
              <a:t>检查下列代码，能否正常运行</a:t>
            </a:r>
          </a:p>
        </p:txBody>
      </p:sp>
      <p:sp>
        <p:nvSpPr>
          <p:cNvPr id="5" name="文本框 4">
            <a:extLst>
              <a:ext uri="{FF2B5EF4-FFF2-40B4-BE49-F238E27FC236}">
                <a16:creationId xmlns:a16="http://schemas.microsoft.com/office/drawing/2014/main" id="{DC57A247-3EF4-B54A-2C88-35C2B08CD998}"/>
              </a:ext>
            </a:extLst>
          </p:cNvPr>
          <p:cNvSpPr txBox="1"/>
          <p:nvPr/>
        </p:nvSpPr>
        <p:spPr>
          <a:xfrm>
            <a:off x="588542" y="2880633"/>
            <a:ext cx="1747210" cy="1754326"/>
          </a:xfrm>
          <a:prstGeom prst="rect">
            <a:avLst/>
          </a:prstGeom>
          <a:noFill/>
        </p:spPr>
        <p:txBody>
          <a:bodyPr wrap="none" rtlCol="0">
            <a:spAutoFit/>
          </a:bodyPr>
          <a:lstStyle/>
          <a:p>
            <a:r>
              <a:rPr lang="en-US" altLang="zh-CN" dirty="0"/>
              <a:t>int main()</a:t>
            </a:r>
          </a:p>
          <a:p>
            <a:r>
              <a:rPr lang="en-US" altLang="zh-CN" dirty="0"/>
              <a:t>{</a:t>
            </a:r>
          </a:p>
          <a:p>
            <a:r>
              <a:rPr lang="en-US" altLang="zh-CN" dirty="0"/>
              <a:t>    int a;</a:t>
            </a:r>
          </a:p>
          <a:p>
            <a:r>
              <a:rPr lang="en-US" altLang="zh-CN" dirty="0"/>
              <a:t>    </a:t>
            </a:r>
            <a:r>
              <a:rPr lang="en-US" altLang="zh-CN" dirty="0" err="1"/>
              <a:t>printf</a:t>
            </a:r>
            <a:r>
              <a:rPr lang="en-US" altLang="zh-CN" dirty="0"/>
              <a:t>(“%</a:t>
            </a:r>
            <a:r>
              <a:rPr lang="en-US" altLang="zh-CN" dirty="0" err="1"/>
              <a:t>d”,a</a:t>
            </a:r>
            <a:r>
              <a:rPr lang="en-US" altLang="zh-CN" dirty="0"/>
              <a:t>);</a:t>
            </a:r>
          </a:p>
          <a:p>
            <a:r>
              <a:rPr lang="en-US" altLang="zh-CN" dirty="0"/>
              <a:t>    return 0;</a:t>
            </a:r>
          </a:p>
          <a:p>
            <a:r>
              <a:rPr lang="en-US" altLang="zh-CN" dirty="0"/>
              <a:t>}</a:t>
            </a:r>
            <a:endParaRPr lang="zh-CN" altLang="en-US" dirty="0"/>
          </a:p>
        </p:txBody>
      </p:sp>
      <p:sp>
        <p:nvSpPr>
          <p:cNvPr id="10" name="文本框 9">
            <a:extLst>
              <a:ext uri="{FF2B5EF4-FFF2-40B4-BE49-F238E27FC236}">
                <a16:creationId xmlns:a16="http://schemas.microsoft.com/office/drawing/2014/main" id="{116C27EF-34F0-4BD9-9679-710DEFE0D33B}"/>
              </a:ext>
            </a:extLst>
          </p:cNvPr>
          <p:cNvSpPr txBox="1"/>
          <p:nvPr/>
        </p:nvSpPr>
        <p:spPr>
          <a:xfrm>
            <a:off x="439375" y="1253463"/>
            <a:ext cx="3552054" cy="461665"/>
          </a:xfrm>
          <a:prstGeom prst="rect">
            <a:avLst/>
          </a:prstGeom>
          <a:noFill/>
        </p:spPr>
        <p:txBody>
          <a:bodyPr wrap="square">
            <a:spAutoFit/>
          </a:bodyPr>
          <a:lstStyle/>
          <a:p>
            <a:r>
              <a:rPr lang="zh-CN" altLang="en-US" sz="2400" dirty="0"/>
              <a:t>你初始化数组了吗？</a:t>
            </a:r>
            <a:endParaRPr lang="en-US" altLang="zh-CN" sz="2400" dirty="0"/>
          </a:p>
        </p:txBody>
      </p:sp>
      <p:sp>
        <p:nvSpPr>
          <p:cNvPr id="6" name="文本框 5">
            <a:extLst>
              <a:ext uri="{FF2B5EF4-FFF2-40B4-BE49-F238E27FC236}">
                <a16:creationId xmlns:a16="http://schemas.microsoft.com/office/drawing/2014/main" id="{9C113C78-887B-305A-2B31-063AC542C4FB}"/>
              </a:ext>
            </a:extLst>
          </p:cNvPr>
          <p:cNvSpPr txBox="1"/>
          <p:nvPr/>
        </p:nvSpPr>
        <p:spPr>
          <a:xfrm>
            <a:off x="2854771" y="2880633"/>
            <a:ext cx="1747210" cy="1754326"/>
          </a:xfrm>
          <a:prstGeom prst="rect">
            <a:avLst/>
          </a:prstGeom>
          <a:noFill/>
        </p:spPr>
        <p:txBody>
          <a:bodyPr wrap="none" rtlCol="0">
            <a:spAutoFit/>
          </a:bodyPr>
          <a:lstStyle/>
          <a:p>
            <a:r>
              <a:rPr lang="en-US" altLang="zh-CN" dirty="0"/>
              <a:t>int main()</a:t>
            </a:r>
          </a:p>
          <a:p>
            <a:r>
              <a:rPr lang="en-US" altLang="zh-CN" dirty="0"/>
              <a:t>{</a:t>
            </a:r>
          </a:p>
          <a:p>
            <a:r>
              <a:rPr lang="en-US" altLang="zh-CN" dirty="0"/>
              <a:t>    int a</a:t>
            </a:r>
            <a:r>
              <a:rPr lang="en-US" altLang="zh-CN" dirty="0">
                <a:solidFill>
                  <a:srgbClr val="FF0000"/>
                </a:solidFill>
              </a:rPr>
              <a:t>=0</a:t>
            </a:r>
            <a:r>
              <a:rPr lang="en-US" altLang="zh-CN" dirty="0"/>
              <a:t>;</a:t>
            </a:r>
          </a:p>
          <a:p>
            <a:r>
              <a:rPr lang="en-US" altLang="zh-CN" dirty="0"/>
              <a:t>    </a:t>
            </a:r>
            <a:r>
              <a:rPr lang="en-US" altLang="zh-CN" dirty="0" err="1"/>
              <a:t>printf</a:t>
            </a:r>
            <a:r>
              <a:rPr lang="en-US" altLang="zh-CN" dirty="0"/>
              <a:t>(“%</a:t>
            </a:r>
            <a:r>
              <a:rPr lang="en-US" altLang="zh-CN" dirty="0" err="1"/>
              <a:t>d”,a</a:t>
            </a:r>
            <a:r>
              <a:rPr lang="en-US" altLang="zh-CN" dirty="0"/>
              <a:t>);</a:t>
            </a:r>
          </a:p>
          <a:p>
            <a:r>
              <a:rPr lang="en-US" altLang="zh-CN" dirty="0"/>
              <a:t>    return 0;</a:t>
            </a:r>
          </a:p>
          <a:p>
            <a:r>
              <a:rPr lang="en-US" altLang="zh-CN" dirty="0"/>
              <a:t>}</a:t>
            </a:r>
            <a:endParaRPr lang="zh-CN" altLang="en-US" dirty="0"/>
          </a:p>
        </p:txBody>
      </p:sp>
      <p:sp>
        <p:nvSpPr>
          <p:cNvPr id="3" name="文本框 2">
            <a:extLst>
              <a:ext uri="{FF2B5EF4-FFF2-40B4-BE49-F238E27FC236}">
                <a16:creationId xmlns:a16="http://schemas.microsoft.com/office/drawing/2014/main" id="{DD696255-0CE9-7DA3-8170-636B81CEFF8B}"/>
              </a:ext>
            </a:extLst>
          </p:cNvPr>
          <p:cNvSpPr txBox="1"/>
          <p:nvPr/>
        </p:nvSpPr>
        <p:spPr>
          <a:xfrm>
            <a:off x="5906219" y="2398143"/>
            <a:ext cx="6032421" cy="1569660"/>
          </a:xfrm>
          <a:prstGeom prst="rect">
            <a:avLst/>
          </a:prstGeom>
          <a:noFill/>
        </p:spPr>
        <p:txBody>
          <a:bodyPr wrap="none" rtlCol="0">
            <a:spAutoFit/>
          </a:bodyPr>
          <a:lstStyle/>
          <a:p>
            <a:r>
              <a:rPr lang="zh-CN" altLang="en-US" sz="2400" dirty="0"/>
              <a:t>有时候编译器会优化内存结构，</a:t>
            </a:r>
            <a:endParaRPr lang="en-US" altLang="zh-CN" sz="2400" dirty="0"/>
          </a:p>
          <a:p>
            <a:r>
              <a:rPr lang="zh-CN" altLang="en-US" sz="2400" dirty="0"/>
              <a:t>可能让你未赋值的指针指向你想要的位置，</a:t>
            </a:r>
            <a:endParaRPr lang="en-US" altLang="zh-CN" sz="2400" dirty="0"/>
          </a:p>
          <a:p>
            <a:r>
              <a:rPr lang="zh-CN" altLang="en-US" sz="2400" dirty="0"/>
              <a:t>但这是未定义的错误，</a:t>
            </a:r>
            <a:endParaRPr lang="en-US" altLang="zh-CN" sz="2400" dirty="0"/>
          </a:p>
          <a:p>
            <a:r>
              <a:rPr lang="zh-CN" altLang="en-US" sz="2400" dirty="0"/>
              <a:t>就算你本地一切正常，乐学铁定报错</a:t>
            </a:r>
          </a:p>
        </p:txBody>
      </p:sp>
    </p:spTree>
    <p:extLst>
      <p:ext uri="{BB962C8B-B14F-4D97-AF65-F5344CB8AC3E}">
        <p14:creationId xmlns:p14="http://schemas.microsoft.com/office/powerpoint/2010/main" val="6929331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2EDCD15-8D9B-4A5A-B209-E26D21E36DE8}"/>
              </a:ext>
            </a:extLst>
          </p:cNvPr>
          <p:cNvSpPr txBox="1"/>
          <p:nvPr/>
        </p:nvSpPr>
        <p:spPr>
          <a:xfrm>
            <a:off x="573831" y="294386"/>
            <a:ext cx="7109639"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未初始化而成功运行的可复现示例</a:t>
            </a:r>
          </a:p>
        </p:txBody>
      </p:sp>
      <p:sp>
        <p:nvSpPr>
          <p:cNvPr id="3" name="文本框 2">
            <a:extLst>
              <a:ext uri="{FF2B5EF4-FFF2-40B4-BE49-F238E27FC236}">
                <a16:creationId xmlns:a16="http://schemas.microsoft.com/office/drawing/2014/main" id="{77983A86-4346-2909-4CBE-BD6E7D993A79}"/>
              </a:ext>
            </a:extLst>
          </p:cNvPr>
          <p:cNvSpPr txBox="1"/>
          <p:nvPr/>
        </p:nvSpPr>
        <p:spPr>
          <a:xfrm>
            <a:off x="912843" y="1441938"/>
            <a:ext cx="3697359" cy="3693319"/>
          </a:xfrm>
          <a:prstGeom prst="rect">
            <a:avLst/>
          </a:prstGeom>
          <a:noFill/>
        </p:spPr>
        <p:txBody>
          <a:bodyPr wrap="none" rtlCol="0">
            <a:spAutoFit/>
          </a:bodyPr>
          <a:lstStyle/>
          <a:p>
            <a:r>
              <a:rPr lang="en-US" altLang="zh-CN" dirty="0"/>
              <a:t>int main( )  </a:t>
            </a:r>
          </a:p>
          <a:p>
            <a:r>
              <a:rPr lang="en-US" altLang="zh-CN" dirty="0"/>
              <a:t>{   int n, m;  </a:t>
            </a:r>
          </a:p>
          <a:p>
            <a:r>
              <a:rPr lang="en-US" altLang="zh-CN" dirty="0"/>
              <a:t>    SNODE * head = NULL;  	</a:t>
            </a:r>
          </a:p>
          <a:p>
            <a:r>
              <a:rPr lang="en-US" altLang="zh-CN" dirty="0"/>
              <a:t>    </a:t>
            </a:r>
            <a:r>
              <a:rPr lang="en-US" altLang="zh-CN" dirty="0" err="1"/>
              <a:t>scanf</a:t>
            </a:r>
            <a:r>
              <a:rPr lang="en-US" altLang="zh-CN" dirty="0"/>
              <a:t>("%</a:t>
            </a:r>
            <a:r>
              <a:rPr lang="en-US" altLang="zh-CN" dirty="0" err="1"/>
              <a:t>d%d</a:t>
            </a:r>
            <a:r>
              <a:rPr lang="en-US" altLang="zh-CN" dirty="0"/>
              <a:t>", &amp;n, &amp;m );  </a:t>
            </a:r>
          </a:p>
          <a:p>
            <a:r>
              <a:rPr lang="en-US" altLang="zh-CN" dirty="0"/>
              <a:t>    </a:t>
            </a:r>
            <a:r>
              <a:rPr lang="en-US" altLang="zh-CN" dirty="0" err="1"/>
              <a:t>movenode</a:t>
            </a:r>
            <a:r>
              <a:rPr lang="en-US" altLang="zh-CN" dirty="0"/>
              <a:t>( </a:t>
            </a:r>
            <a:r>
              <a:rPr lang="en-US" altLang="zh-CN" dirty="0" err="1"/>
              <a:t>head,m</a:t>
            </a:r>
            <a:r>
              <a:rPr lang="en-US" altLang="zh-CN" dirty="0"/>
              <a:t> );  </a:t>
            </a:r>
          </a:p>
          <a:p>
            <a:r>
              <a:rPr lang="en-US" altLang="zh-CN" dirty="0"/>
              <a:t>    return 0;  </a:t>
            </a:r>
          </a:p>
          <a:p>
            <a:r>
              <a:rPr lang="en-US" altLang="zh-CN" dirty="0"/>
              <a:t>}</a:t>
            </a:r>
          </a:p>
          <a:p>
            <a:r>
              <a:rPr lang="en-US" altLang="zh-CN" dirty="0"/>
              <a:t>void </a:t>
            </a:r>
            <a:r>
              <a:rPr lang="en-US" altLang="zh-CN" dirty="0" err="1"/>
              <a:t>movenode</a:t>
            </a:r>
            <a:r>
              <a:rPr lang="en-US" altLang="zh-CN" dirty="0"/>
              <a:t>(SNODE*</a:t>
            </a:r>
            <a:r>
              <a:rPr lang="en-US" altLang="zh-CN" dirty="0" err="1"/>
              <a:t>head,int</a:t>
            </a:r>
            <a:r>
              <a:rPr lang="en-US" altLang="zh-CN" dirty="0"/>
              <a:t> m){ </a:t>
            </a:r>
          </a:p>
          <a:p>
            <a:r>
              <a:rPr lang="en-US" altLang="zh-CN" dirty="0"/>
              <a:t>   </a:t>
            </a:r>
            <a:r>
              <a:rPr lang="en-US" altLang="zh-CN" dirty="0">
                <a:solidFill>
                  <a:srgbClr val="FF0000"/>
                </a:solidFill>
              </a:rPr>
              <a:t>SNODE* p; </a:t>
            </a:r>
          </a:p>
          <a:p>
            <a:r>
              <a:rPr lang="en-US" altLang="zh-CN" dirty="0"/>
              <a:t>   </a:t>
            </a:r>
            <a:r>
              <a:rPr lang="en-US" altLang="zh-CN" dirty="0" err="1"/>
              <a:t>printf</a:t>
            </a:r>
            <a:r>
              <a:rPr lang="en-US" altLang="zh-CN" dirty="0"/>
              <a:t>("%p\</a:t>
            </a:r>
            <a:r>
              <a:rPr lang="en-US" altLang="zh-CN" dirty="0" err="1"/>
              <a:t>n",p</a:t>
            </a:r>
            <a:r>
              <a:rPr lang="en-US" altLang="zh-CN" dirty="0"/>
              <a:t>-&gt;num); </a:t>
            </a:r>
          </a:p>
          <a:p>
            <a:r>
              <a:rPr lang="en-US" altLang="zh-CN" dirty="0"/>
              <a:t>……</a:t>
            </a:r>
          </a:p>
          <a:p>
            <a:r>
              <a:rPr lang="en-US" altLang="zh-CN" dirty="0"/>
              <a:t>   return; </a:t>
            </a:r>
          </a:p>
          <a:p>
            <a:r>
              <a:rPr lang="en-US" altLang="zh-CN" dirty="0"/>
              <a:t>} </a:t>
            </a:r>
            <a:endParaRPr lang="zh-CN" altLang="en-US" dirty="0"/>
          </a:p>
        </p:txBody>
      </p:sp>
      <p:sp>
        <p:nvSpPr>
          <p:cNvPr id="4" name="文本框 3">
            <a:extLst>
              <a:ext uri="{FF2B5EF4-FFF2-40B4-BE49-F238E27FC236}">
                <a16:creationId xmlns:a16="http://schemas.microsoft.com/office/drawing/2014/main" id="{E98753AA-0829-CB0C-55F6-A8B768761CEC}"/>
              </a:ext>
            </a:extLst>
          </p:cNvPr>
          <p:cNvSpPr txBox="1"/>
          <p:nvPr/>
        </p:nvSpPr>
        <p:spPr>
          <a:xfrm>
            <a:off x="7294098" y="1378634"/>
            <a:ext cx="3704860" cy="1200329"/>
          </a:xfrm>
          <a:prstGeom prst="rect">
            <a:avLst/>
          </a:prstGeom>
          <a:noFill/>
        </p:spPr>
        <p:txBody>
          <a:bodyPr wrap="none" rtlCol="0">
            <a:spAutoFit/>
          </a:bodyPr>
          <a:lstStyle/>
          <a:p>
            <a:r>
              <a:rPr lang="zh-CN" altLang="en-US" dirty="0"/>
              <a:t>你可以发现你并没有给指针</a:t>
            </a:r>
            <a:r>
              <a:rPr lang="en-US" altLang="zh-CN" dirty="0"/>
              <a:t>p</a:t>
            </a:r>
            <a:r>
              <a:rPr lang="zh-CN" altLang="en-US" dirty="0"/>
              <a:t>赋值</a:t>
            </a:r>
            <a:endParaRPr lang="en-US" altLang="zh-CN" dirty="0"/>
          </a:p>
          <a:p>
            <a:r>
              <a:rPr lang="zh-CN" altLang="en-US" dirty="0"/>
              <a:t>但</a:t>
            </a:r>
            <a:r>
              <a:rPr lang="en-US" altLang="zh-CN" dirty="0"/>
              <a:t>p</a:t>
            </a:r>
            <a:r>
              <a:rPr lang="zh-CN" altLang="en-US" dirty="0"/>
              <a:t>确实指向了头节点</a:t>
            </a:r>
            <a:r>
              <a:rPr lang="en-US" altLang="zh-CN" dirty="0"/>
              <a:t>……</a:t>
            </a:r>
          </a:p>
          <a:p>
            <a:r>
              <a:rPr lang="zh-CN" altLang="en-US" dirty="0"/>
              <a:t>而且神奇的是你把输出语句注释掉</a:t>
            </a:r>
            <a:r>
              <a:rPr lang="en-US" altLang="zh-CN" dirty="0"/>
              <a:t>,</a:t>
            </a:r>
          </a:p>
          <a:p>
            <a:r>
              <a:rPr lang="zh-CN" altLang="en-US" dirty="0"/>
              <a:t>效果就没有了。</a:t>
            </a:r>
          </a:p>
        </p:txBody>
      </p:sp>
      <p:sp>
        <p:nvSpPr>
          <p:cNvPr id="5" name="文本框 4">
            <a:extLst>
              <a:ext uri="{FF2B5EF4-FFF2-40B4-BE49-F238E27FC236}">
                <a16:creationId xmlns:a16="http://schemas.microsoft.com/office/drawing/2014/main" id="{3B506A87-FF07-C033-5CB5-D3D47580604D}"/>
              </a:ext>
            </a:extLst>
          </p:cNvPr>
          <p:cNvSpPr txBox="1"/>
          <p:nvPr/>
        </p:nvSpPr>
        <p:spPr>
          <a:xfrm>
            <a:off x="6096000" y="3565597"/>
            <a:ext cx="5416868" cy="1569660"/>
          </a:xfrm>
          <a:prstGeom prst="rect">
            <a:avLst/>
          </a:prstGeom>
          <a:noFill/>
        </p:spPr>
        <p:txBody>
          <a:bodyPr wrap="none" rtlCol="0">
            <a:spAutoFit/>
          </a:bodyPr>
          <a:lstStyle/>
          <a:p>
            <a:r>
              <a:rPr lang="zh-CN" altLang="en-US" sz="2400" dirty="0"/>
              <a:t>访问为赋值的指针是一种</a:t>
            </a:r>
            <a:r>
              <a:rPr lang="zh-CN" altLang="en-US" sz="2400" b="1" dirty="0"/>
              <a:t>未定义行为</a:t>
            </a:r>
            <a:r>
              <a:rPr lang="zh-CN" altLang="en-US" sz="2400" dirty="0"/>
              <a:t>，</a:t>
            </a:r>
            <a:endParaRPr lang="en-US" altLang="zh-CN" sz="2400" dirty="0"/>
          </a:p>
          <a:p>
            <a:r>
              <a:rPr lang="zh-CN" altLang="en-US" sz="2400" dirty="0"/>
              <a:t>严重时会导致程序崩溃，</a:t>
            </a:r>
            <a:endParaRPr lang="en-US" altLang="zh-CN" sz="2400" dirty="0"/>
          </a:p>
          <a:p>
            <a:r>
              <a:rPr lang="zh-CN" altLang="en-US" sz="2400" dirty="0"/>
              <a:t>但有时候能起到它本来的效果。</a:t>
            </a:r>
            <a:endParaRPr lang="en-US" altLang="zh-CN" sz="2400" dirty="0"/>
          </a:p>
          <a:p>
            <a:r>
              <a:rPr lang="zh-CN" altLang="en-US" sz="2400" dirty="0"/>
              <a:t>解决这一切的根本方法就是给它赋值！</a:t>
            </a:r>
          </a:p>
        </p:txBody>
      </p:sp>
    </p:spTree>
    <p:extLst>
      <p:ext uri="{BB962C8B-B14F-4D97-AF65-F5344CB8AC3E}">
        <p14:creationId xmlns:p14="http://schemas.microsoft.com/office/powerpoint/2010/main" val="1869960388"/>
      </p:ext>
    </p:ext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468" y="1408876"/>
            <a:ext cx="5029200" cy="2819400"/>
          </a:xfrm>
          <a:prstGeom prst="rect">
            <a:avLst/>
          </a:prstGeom>
        </p:spPr>
      </p:pic>
      <p:sp>
        <p:nvSpPr>
          <p:cNvPr id="9" name="AutoShape 3" descr="正确"/>
          <p:cNvSpPr>
            <a:spLocks noChangeAspect="1" noChangeArrowheads="1"/>
          </p:cNvSpPr>
          <p:nvPr/>
        </p:nvSpPr>
        <p:spPr bwMode="auto">
          <a:xfrm>
            <a:off x="3024189" y="1709739"/>
            <a:ext cx="6066235" cy="481013"/>
          </a:xfrm>
          <a:prstGeom prst="rect">
            <a:avLst/>
          </a:prstGeom>
          <a:noFill/>
        </p:spPr>
        <p:txBody>
          <a:bodyPr/>
          <a:lstStyle/>
          <a:p>
            <a:pPr>
              <a:defRPr/>
            </a:pPr>
            <a:endParaRPr lang="zh-CN" altLang="en-US" sz="1500" dirty="0">
              <a:solidFill>
                <a:prstClr val="black"/>
              </a:solidFill>
              <a:latin typeface="Microsoft YaHei UI" panose="020B0503020204020204" pitchFamily="34" charset="-122"/>
              <a:ea typeface="微软雅黑" panose="020B0503020204020204" pitchFamily="34" charset="-122"/>
              <a:cs typeface="+mn-ea"/>
              <a:sym typeface="+mn-lt"/>
            </a:endParaRPr>
          </a:p>
        </p:txBody>
      </p:sp>
      <p:sp>
        <p:nvSpPr>
          <p:cNvPr id="16" name="文本框 15"/>
          <p:cNvSpPr txBox="1"/>
          <p:nvPr/>
        </p:nvSpPr>
        <p:spPr>
          <a:xfrm>
            <a:off x="6057306" y="1581945"/>
            <a:ext cx="4134465" cy="523220"/>
          </a:xfrm>
          <a:prstGeom prst="rect">
            <a:avLst/>
          </a:prstGeom>
          <a:noFill/>
        </p:spPr>
        <p:txBody>
          <a:bodyPr wrap="none" rtlCol="0">
            <a:spAutoFit/>
          </a:bodyPr>
          <a:lstStyle/>
          <a:p>
            <a:r>
              <a:rPr kumimoji="1" lang="zh-CN" altLang="en-US" sz="2800" dirty="0"/>
              <a:t>这个程序能正常运行吗？</a:t>
            </a:r>
            <a:endParaRPr kumimoji="1" lang="en-US" altLang="zh-CN" sz="2800" dirty="0"/>
          </a:p>
        </p:txBody>
      </p:sp>
      <p:sp>
        <p:nvSpPr>
          <p:cNvPr id="19" name="文本框 18"/>
          <p:cNvSpPr txBox="1"/>
          <p:nvPr/>
        </p:nvSpPr>
        <p:spPr>
          <a:xfrm>
            <a:off x="6035017" y="2609349"/>
            <a:ext cx="5088438" cy="1200329"/>
          </a:xfrm>
          <a:prstGeom prst="rect">
            <a:avLst/>
          </a:prstGeom>
          <a:noFill/>
        </p:spPr>
        <p:txBody>
          <a:bodyPr wrap="square" rtlCol="0">
            <a:spAutoFit/>
          </a:bodyPr>
          <a:lstStyle/>
          <a:p>
            <a:r>
              <a:rPr kumimoji="1" lang="zh-CN" altLang="en-US" sz="2400" dirty="0"/>
              <a:t>不能：</a:t>
            </a:r>
            <a:r>
              <a:rPr kumimoji="1" lang="en-US" altLang="zh-CN" sz="2400" dirty="0"/>
              <a:t>a</a:t>
            </a:r>
            <a:r>
              <a:rPr kumimoji="1" lang="zh-CN" altLang="en-US" sz="2400" dirty="0"/>
              <a:t>字符串数组的大小只有</a:t>
            </a:r>
            <a:r>
              <a:rPr kumimoji="1" lang="en-US" altLang="zh-CN" sz="2400" dirty="0"/>
              <a:t>6</a:t>
            </a:r>
            <a:r>
              <a:rPr kumimoji="1" lang="zh-CN" altLang="en-US" sz="2400" dirty="0"/>
              <a:t>，连接后会导致数据溢出。</a:t>
            </a:r>
            <a:endParaRPr kumimoji="1" lang="en-US" altLang="zh-CN" sz="2400" dirty="0"/>
          </a:p>
          <a:p>
            <a:r>
              <a:rPr kumimoji="1" lang="zh-CN" altLang="en-US" sz="2400" dirty="0"/>
              <a:t>报错： </a:t>
            </a:r>
            <a:r>
              <a:rPr lang="en-GB" altLang="zh-CN" sz="2400" dirty="0">
                <a:solidFill>
                  <a:srgbClr val="E41E1A"/>
                </a:solidFill>
              </a:rPr>
              <a:t>RE: </a:t>
            </a:r>
            <a:r>
              <a:rPr lang="zh-CN" altLang="en-US" sz="2400" dirty="0">
                <a:solidFill>
                  <a:srgbClr val="E41E1A"/>
                </a:solidFill>
              </a:rPr>
              <a:t>无效内存引用</a:t>
            </a:r>
            <a:endParaRPr kumimoji="1" lang="zh-CN" altLang="en-US" sz="2400" dirty="0">
              <a:solidFill>
                <a:srgbClr val="E41E1A"/>
              </a:solidFill>
            </a:endParaRPr>
          </a:p>
        </p:txBody>
      </p:sp>
      <p:sp>
        <p:nvSpPr>
          <p:cNvPr id="2" name="文本框 1">
            <a:extLst>
              <a:ext uri="{FF2B5EF4-FFF2-40B4-BE49-F238E27FC236}">
                <a16:creationId xmlns:a16="http://schemas.microsoft.com/office/drawing/2014/main" id="{5ED71FFF-1FEA-4BF3-DC86-40D698A7F87E}"/>
              </a:ext>
            </a:extLst>
          </p:cNvPr>
          <p:cNvSpPr txBox="1"/>
          <p:nvPr/>
        </p:nvSpPr>
        <p:spPr>
          <a:xfrm>
            <a:off x="611604" y="330879"/>
            <a:ext cx="5262979"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访问未知内存有多危险？</a:t>
            </a:r>
          </a:p>
        </p:txBody>
      </p:sp>
      <p:sp>
        <p:nvSpPr>
          <p:cNvPr id="5" name="文本框 4">
            <a:extLst>
              <a:ext uri="{FF2B5EF4-FFF2-40B4-BE49-F238E27FC236}">
                <a16:creationId xmlns:a16="http://schemas.microsoft.com/office/drawing/2014/main" id="{82A04B95-1B48-371A-AC06-335A3FBF6DBB}"/>
              </a:ext>
            </a:extLst>
          </p:cNvPr>
          <p:cNvSpPr txBox="1"/>
          <p:nvPr/>
        </p:nvSpPr>
        <p:spPr>
          <a:xfrm>
            <a:off x="5860476" y="4569558"/>
            <a:ext cx="5262979" cy="923330"/>
          </a:xfrm>
          <a:prstGeom prst="rect">
            <a:avLst/>
          </a:prstGeom>
          <a:noFill/>
        </p:spPr>
        <p:txBody>
          <a:bodyPr wrap="none" rtlCol="0">
            <a:spAutoFit/>
          </a:bodyPr>
          <a:lstStyle/>
          <a:p>
            <a:r>
              <a:rPr lang="zh-CN" altLang="en-US" dirty="0"/>
              <a:t>注意只是乐学报错，你本地的编译器是不会报错的</a:t>
            </a:r>
            <a:endParaRPr lang="en-US" altLang="zh-CN" dirty="0"/>
          </a:p>
          <a:p>
            <a:r>
              <a:rPr lang="zh-CN" altLang="en-US" dirty="0"/>
              <a:t>要本地都报错了病毒怎么写？</a:t>
            </a:r>
            <a:endParaRPr lang="en-US" altLang="zh-CN" dirty="0"/>
          </a:p>
          <a:p>
            <a:r>
              <a:rPr lang="zh-CN" altLang="en-US" dirty="0"/>
              <a:t>病毒说白了就是访问你不该访问的内存！！！</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50A36CF-9024-B7CE-C51B-20B0EE691933}"/>
              </a:ext>
            </a:extLst>
          </p:cNvPr>
          <p:cNvSpPr txBox="1"/>
          <p:nvPr/>
        </p:nvSpPr>
        <p:spPr>
          <a:xfrm>
            <a:off x="597540" y="315054"/>
            <a:ext cx="4339650"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访问未知内存的实例</a:t>
            </a:r>
          </a:p>
        </p:txBody>
      </p:sp>
      <p:pic>
        <p:nvPicPr>
          <p:cNvPr id="3" name="图片 2">
            <a:extLst>
              <a:ext uri="{FF2B5EF4-FFF2-40B4-BE49-F238E27FC236}">
                <a16:creationId xmlns:a16="http://schemas.microsoft.com/office/drawing/2014/main" id="{D301A5CA-7847-3A17-A62D-19736A67AB56}"/>
              </a:ext>
            </a:extLst>
          </p:cNvPr>
          <p:cNvPicPr>
            <a:picLocks noChangeAspect="1"/>
          </p:cNvPicPr>
          <p:nvPr/>
        </p:nvPicPr>
        <p:blipFill rotWithShape="1">
          <a:blip r:embed="rId3"/>
          <a:srcRect b="54310"/>
          <a:stretch/>
        </p:blipFill>
        <p:spPr>
          <a:xfrm>
            <a:off x="76464" y="1095730"/>
            <a:ext cx="5861388" cy="3778725"/>
          </a:xfrm>
          <a:prstGeom prst="rect">
            <a:avLst/>
          </a:prstGeom>
        </p:spPr>
      </p:pic>
      <p:pic>
        <p:nvPicPr>
          <p:cNvPr id="4" name="图片 3">
            <a:extLst>
              <a:ext uri="{FF2B5EF4-FFF2-40B4-BE49-F238E27FC236}">
                <a16:creationId xmlns:a16="http://schemas.microsoft.com/office/drawing/2014/main" id="{82CBED45-2F35-C588-4D6E-D8D5AA723B89}"/>
              </a:ext>
            </a:extLst>
          </p:cNvPr>
          <p:cNvPicPr>
            <a:picLocks noChangeAspect="1"/>
          </p:cNvPicPr>
          <p:nvPr/>
        </p:nvPicPr>
        <p:blipFill rotWithShape="1">
          <a:blip r:embed="rId3"/>
          <a:srcRect t="45453"/>
          <a:stretch/>
        </p:blipFill>
        <p:spPr>
          <a:xfrm>
            <a:off x="5458265" y="371950"/>
            <a:ext cx="6564923" cy="5052694"/>
          </a:xfrm>
          <a:prstGeom prst="rect">
            <a:avLst/>
          </a:prstGeom>
        </p:spPr>
      </p:pic>
      <p:pic>
        <p:nvPicPr>
          <p:cNvPr id="5" name="图片 4">
            <a:extLst>
              <a:ext uri="{FF2B5EF4-FFF2-40B4-BE49-F238E27FC236}">
                <a16:creationId xmlns:a16="http://schemas.microsoft.com/office/drawing/2014/main" id="{5D7DD0F9-171A-484D-9499-BDC7752858F4}"/>
              </a:ext>
            </a:extLst>
          </p:cNvPr>
          <p:cNvPicPr>
            <a:picLocks noChangeAspect="1"/>
          </p:cNvPicPr>
          <p:nvPr/>
        </p:nvPicPr>
        <p:blipFill rotWithShape="1">
          <a:blip r:embed="rId4"/>
          <a:srcRect t="30685"/>
          <a:stretch/>
        </p:blipFill>
        <p:spPr>
          <a:xfrm>
            <a:off x="10533232" y="1631852"/>
            <a:ext cx="1227359" cy="5104457"/>
          </a:xfrm>
          <a:prstGeom prst="rect">
            <a:avLst/>
          </a:prstGeom>
        </p:spPr>
      </p:pic>
      <p:sp>
        <p:nvSpPr>
          <p:cNvPr id="6" name="文本框 5">
            <a:extLst>
              <a:ext uri="{FF2B5EF4-FFF2-40B4-BE49-F238E27FC236}">
                <a16:creationId xmlns:a16="http://schemas.microsoft.com/office/drawing/2014/main" id="{8AF6D7E3-0617-2DC5-B8B6-1E99D92946FF}"/>
              </a:ext>
            </a:extLst>
          </p:cNvPr>
          <p:cNvSpPr txBox="1"/>
          <p:nvPr/>
        </p:nvSpPr>
        <p:spPr>
          <a:xfrm>
            <a:off x="11552040" y="1498209"/>
            <a:ext cx="417102" cy="523220"/>
          </a:xfrm>
          <a:prstGeom prst="rect">
            <a:avLst/>
          </a:prstGeom>
          <a:noFill/>
        </p:spPr>
        <p:txBody>
          <a:bodyPr wrap="none" rtlCol="0">
            <a:spAutoFit/>
          </a:bodyPr>
          <a:lstStyle/>
          <a:p>
            <a:r>
              <a:rPr lang="en-US" altLang="zh-CN" sz="2800" dirty="0"/>
              <a:t>N</a:t>
            </a:r>
            <a:endParaRPr lang="zh-CN" altLang="en-US" dirty="0"/>
          </a:p>
        </p:txBody>
      </p:sp>
    </p:spTree>
    <p:extLst>
      <p:ext uri="{BB962C8B-B14F-4D97-AF65-F5344CB8AC3E}">
        <p14:creationId xmlns:p14="http://schemas.microsoft.com/office/powerpoint/2010/main" val="3698413932"/>
      </p:ext>
    </p:ext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45031B-176B-69F5-F810-4C89BE003998}"/>
              </a:ext>
            </a:extLst>
          </p:cNvPr>
          <p:cNvSpPr txBox="1"/>
          <p:nvPr/>
        </p:nvSpPr>
        <p:spPr>
          <a:xfrm>
            <a:off x="840441" y="524436"/>
            <a:ext cx="517000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访问未知内存有多危险？</a:t>
            </a:r>
            <a:r>
              <a:rPr kumimoji="0" lang="en-US" altLang="zh-CN" sz="2000" b="1" i="0" u="none" strike="noStrike" kern="1200" cap="none" spc="0" normalizeH="0" baseline="0" noProof="0">
                <a:ln>
                  <a:noFill/>
                </a:ln>
                <a:solidFill>
                  <a:prstClr val="black"/>
                </a:solidFill>
                <a:effectLst/>
                <a:uLnTx/>
                <a:uFillTx/>
                <a:latin typeface="Calibri"/>
                <a:ea typeface="等线" panose="02010600030101010101" pitchFamily="2" charset="-122"/>
                <a:cs typeface="+mn-cs"/>
              </a:rPr>
              <a:t>——</a:t>
            </a:r>
            <a:r>
              <a:rPr kumimoji="0" lang="zh-CN" altLang="en-US" sz="2000" b="1" i="0" u="none" strike="noStrike" kern="1200" cap="none" spc="0" normalizeH="0" baseline="0" noProof="0">
                <a:ln>
                  <a:noFill/>
                </a:ln>
                <a:solidFill>
                  <a:prstClr val="black"/>
                </a:solidFill>
                <a:effectLst/>
                <a:uLnTx/>
                <a:uFillTx/>
                <a:latin typeface="Calibri"/>
                <a:ea typeface="等线" panose="02010600030101010101" pitchFamily="2" charset="-122"/>
                <a:cs typeface="+mn-cs"/>
              </a:rPr>
              <a:t>实际</a:t>
            </a:r>
            <a:r>
              <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例子</a:t>
            </a:r>
            <a:r>
              <a:rPr kumimoji="0" lang="en-US" altLang="zh-CN" sz="2000" b="1" i="0" u="none" strike="noStrike" kern="1200" cap="none" spc="0" normalizeH="0" baseline="0" noProof="0">
                <a:ln>
                  <a:noFill/>
                </a:ln>
                <a:solidFill>
                  <a:prstClr val="black"/>
                </a:solidFill>
                <a:effectLst/>
                <a:uLnTx/>
                <a:uFillTx/>
                <a:latin typeface="Calibri"/>
                <a:ea typeface="等线" panose="02010600030101010101" pitchFamily="2" charset="-122"/>
                <a:cs typeface="+mn-cs"/>
              </a:rPr>
              <a:t>(</a:t>
            </a:r>
            <a:r>
              <a:rPr kumimoji="0" lang="zh-CN" altLang="en-US" sz="2000" b="1" i="0" u="none" strike="noStrike" kern="1200" cap="none" spc="0" normalizeH="0" baseline="0" noProof="0">
                <a:ln>
                  <a:noFill/>
                </a:ln>
                <a:solidFill>
                  <a:prstClr val="black"/>
                </a:solidFill>
                <a:effectLst/>
                <a:uLnTx/>
                <a:uFillTx/>
                <a:latin typeface="Calibri"/>
                <a:ea typeface="等线" panose="02010600030101010101" pitchFamily="2" charset="-122"/>
                <a:cs typeface="+mn-cs"/>
              </a:rPr>
              <a:t>调试</a:t>
            </a:r>
            <a:r>
              <a:rPr kumimoji="0" lang="en-US" altLang="zh-CN" sz="2000" b="1" i="0" u="none" strike="noStrike" kern="1200" cap="none" spc="0" normalizeH="0" baseline="0" noProof="0">
                <a:ln>
                  <a:noFill/>
                </a:ln>
                <a:solidFill>
                  <a:prstClr val="black"/>
                </a:solidFill>
                <a:effectLst/>
                <a:uLnTx/>
                <a:uFillTx/>
                <a:latin typeface="Calibri"/>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pic>
        <p:nvPicPr>
          <p:cNvPr id="14" name="图片 13">
            <a:extLst>
              <a:ext uri="{FF2B5EF4-FFF2-40B4-BE49-F238E27FC236}">
                <a16:creationId xmlns:a16="http://schemas.microsoft.com/office/drawing/2014/main" id="{1C087EEE-B711-C8DB-DE8F-E4A20B00A06B}"/>
              </a:ext>
            </a:extLst>
          </p:cNvPr>
          <p:cNvPicPr>
            <a:picLocks noChangeAspect="1"/>
          </p:cNvPicPr>
          <p:nvPr/>
        </p:nvPicPr>
        <p:blipFill>
          <a:blip r:embed="rId2"/>
          <a:stretch>
            <a:fillRect/>
          </a:stretch>
        </p:blipFill>
        <p:spPr>
          <a:xfrm>
            <a:off x="1241113" y="2574577"/>
            <a:ext cx="952507" cy="219077"/>
          </a:xfrm>
          <a:prstGeom prst="rect">
            <a:avLst/>
          </a:prstGeom>
        </p:spPr>
      </p:pic>
      <p:pic>
        <p:nvPicPr>
          <p:cNvPr id="15" name="图片 14">
            <a:extLst>
              <a:ext uri="{FF2B5EF4-FFF2-40B4-BE49-F238E27FC236}">
                <a16:creationId xmlns:a16="http://schemas.microsoft.com/office/drawing/2014/main" id="{3F3403EB-BB89-DF3B-6B2B-3CCF43D20814}"/>
              </a:ext>
            </a:extLst>
          </p:cNvPr>
          <p:cNvPicPr>
            <a:picLocks noChangeAspect="1"/>
          </p:cNvPicPr>
          <p:nvPr/>
        </p:nvPicPr>
        <p:blipFill>
          <a:blip r:embed="rId3"/>
          <a:stretch>
            <a:fillRect/>
          </a:stretch>
        </p:blipFill>
        <p:spPr>
          <a:xfrm>
            <a:off x="1015278" y="4173885"/>
            <a:ext cx="2257442" cy="1028708"/>
          </a:xfrm>
          <a:prstGeom prst="rect">
            <a:avLst/>
          </a:prstGeom>
        </p:spPr>
      </p:pic>
      <p:pic>
        <p:nvPicPr>
          <p:cNvPr id="9" name="图片 8">
            <a:extLst>
              <a:ext uri="{FF2B5EF4-FFF2-40B4-BE49-F238E27FC236}">
                <a16:creationId xmlns:a16="http://schemas.microsoft.com/office/drawing/2014/main" id="{57D886F4-645F-CD80-D55C-AF4BFB7634AA}"/>
              </a:ext>
            </a:extLst>
          </p:cNvPr>
          <p:cNvPicPr>
            <a:picLocks noChangeAspect="1"/>
          </p:cNvPicPr>
          <p:nvPr/>
        </p:nvPicPr>
        <p:blipFill>
          <a:blip r:embed="rId4"/>
          <a:stretch>
            <a:fillRect/>
          </a:stretch>
        </p:blipFill>
        <p:spPr>
          <a:xfrm>
            <a:off x="7054090" y="304195"/>
            <a:ext cx="3543326" cy="6029369"/>
          </a:xfrm>
          <a:prstGeom prst="rect">
            <a:avLst/>
          </a:prstGeom>
        </p:spPr>
      </p:pic>
      <p:cxnSp>
        <p:nvCxnSpPr>
          <p:cNvPr id="16" name="直接箭头连接符 15">
            <a:extLst>
              <a:ext uri="{FF2B5EF4-FFF2-40B4-BE49-F238E27FC236}">
                <a16:creationId xmlns:a16="http://schemas.microsoft.com/office/drawing/2014/main" id="{84E515FF-91CB-B33B-76EA-B2944B4E213D}"/>
              </a:ext>
            </a:extLst>
          </p:cNvPr>
          <p:cNvCxnSpPr>
            <a:endCxn id="14" idx="3"/>
          </p:cNvCxnSpPr>
          <p:nvPr/>
        </p:nvCxnSpPr>
        <p:spPr>
          <a:xfrm flipH="1">
            <a:off x="2193620" y="2259106"/>
            <a:ext cx="5410692" cy="42501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7B92D699-A5A5-5CE7-1193-C0102FEE228C}"/>
              </a:ext>
            </a:extLst>
          </p:cNvPr>
          <p:cNvCxnSpPr/>
          <p:nvPr/>
        </p:nvCxnSpPr>
        <p:spPr>
          <a:xfrm flipH="1">
            <a:off x="3254188" y="4064347"/>
            <a:ext cx="5042647" cy="26980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00D25A85-C149-DCFD-A9B6-B9A686AADBDE}"/>
              </a:ext>
            </a:extLst>
          </p:cNvPr>
          <p:cNvCxnSpPr/>
          <p:nvPr/>
        </p:nvCxnSpPr>
        <p:spPr>
          <a:xfrm flipH="1" flipV="1">
            <a:off x="1183341" y="4820771"/>
            <a:ext cx="7642412" cy="100852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613471A1-3AEA-E9CE-DC64-90117DB0839D}"/>
              </a:ext>
            </a:extLst>
          </p:cNvPr>
          <p:cNvCxnSpPr/>
          <p:nvPr/>
        </p:nvCxnSpPr>
        <p:spPr>
          <a:xfrm flipH="1">
            <a:off x="2138082" y="2306171"/>
            <a:ext cx="6831106" cy="272302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BC881FC8-B6F7-E9F9-ED1E-4695B86EDBE2}"/>
              </a:ext>
            </a:extLst>
          </p:cNvPr>
          <p:cNvSpPr txBox="1"/>
          <p:nvPr/>
        </p:nvSpPr>
        <p:spPr>
          <a:xfrm>
            <a:off x="3039747" y="2613590"/>
            <a:ext cx="1415772"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600" b="1" i="0" u="none" strike="noStrike" kern="1200" cap="none" spc="0" normalizeH="0" baseline="0" noProof="0" dirty="0">
                <a:ln>
                  <a:noFill/>
                </a:ln>
                <a:solidFill>
                  <a:srgbClr val="FF0000"/>
                </a:solidFill>
                <a:effectLst/>
                <a:uLnTx/>
                <a:uFillTx/>
                <a:latin typeface="Calibri"/>
                <a:ea typeface="等线" panose="02010600030101010101" pitchFamily="2" charset="-122"/>
                <a:cs typeface="+mn-cs"/>
              </a:rPr>
              <a:t>？</a:t>
            </a:r>
          </a:p>
        </p:txBody>
      </p:sp>
      <p:sp>
        <p:nvSpPr>
          <p:cNvPr id="26" name="文本框 25">
            <a:extLst>
              <a:ext uri="{FF2B5EF4-FFF2-40B4-BE49-F238E27FC236}">
                <a16:creationId xmlns:a16="http://schemas.microsoft.com/office/drawing/2014/main" id="{8656BF5F-4936-737E-9B53-F67CB6D0751D}"/>
              </a:ext>
            </a:extLst>
          </p:cNvPr>
          <p:cNvSpPr txBox="1"/>
          <p:nvPr/>
        </p:nvSpPr>
        <p:spPr>
          <a:xfrm>
            <a:off x="2666755" y="1928901"/>
            <a:ext cx="410881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我代码运行着运行着，咋值自己改了？</a:t>
            </a:r>
          </a:p>
        </p:txBody>
      </p:sp>
    </p:spTree>
    <p:extLst>
      <p:ext uri="{BB962C8B-B14F-4D97-AF65-F5344CB8AC3E}">
        <p14:creationId xmlns:p14="http://schemas.microsoft.com/office/powerpoint/2010/main" val="1955257815"/>
      </p:ext>
    </p:extLst>
  </p:cSld>
  <p:clrMapOvr>
    <a:masterClrMapping/>
  </p:clrMapOvr>
  <p:transition spd="slow">
    <p:push di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45031B-176B-69F5-F810-4C89BE003998}"/>
              </a:ext>
            </a:extLst>
          </p:cNvPr>
          <p:cNvSpPr txBox="1"/>
          <p:nvPr/>
        </p:nvSpPr>
        <p:spPr>
          <a:xfrm>
            <a:off x="840441" y="524436"/>
            <a:ext cx="517000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访问未知内存有多危险？</a:t>
            </a:r>
            <a:r>
              <a:rPr kumimoji="0" lang="en-US" altLang="zh-CN"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a:t>
            </a:r>
            <a:r>
              <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实际例子</a:t>
            </a:r>
            <a:r>
              <a:rPr kumimoji="0" lang="en-US" altLang="zh-CN"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a:t>
            </a:r>
            <a:r>
              <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揭秘</a:t>
            </a:r>
            <a:r>
              <a:rPr kumimoji="0" lang="en-US" altLang="zh-CN"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a:t>
            </a:r>
            <a:endParaRPr kumimoji="0" lang="zh-CN" altLang="en-US" sz="20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pic>
        <p:nvPicPr>
          <p:cNvPr id="3" name="图片 2">
            <a:extLst>
              <a:ext uri="{FF2B5EF4-FFF2-40B4-BE49-F238E27FC236}">
                <a16:creationId xmlns:a16="http://schemas.microsoft.com/office/drawing/2014/main" id="{EAB2FA38-6D0F-0329-4C2B-6F9508E8F68C}"/>
              </a:ext>
            </a:extLst>
          </p:cNvPr>
          <p:cNvPicPr>
            <a:picLocks noChangeAspect="1"/>
          </p:cNvPicPr>
          <p:nvPr/>
        </p:nvPicPr>
        <p:blipFill>
          <a:blip r:embed="rId2"/>
          <a:stretch>
            <a:fillRect/>
          </a:stretch>
        </p:blipFill>
        <p:spPr>
          <a:xfrm>
            <a:off x="6934463" y="223534"/>
            <a:ext cx="4333907" cy="6115095"/>
          </a:xfrm>
          <a:prstGeom prst="rect">
            <a:avLst/>
          </a:prstGeom>
        </p:spPr>
      </p:pic>
      <p:pic>
        <p:nvPicPr>
          <p:cNvPr id="4" name="图片 3">
            <a:extLst>
              <a:ext uri="{FF2B5EF4-FFF2-40B4-BE49-F238E27FC236}">
                <a16:creationId xmlns:a16="http://schemas.microsoft.com/office/drawing/2014/main" id="{3E99AE88-0733-89B8-1487-151A43A9FF25}"/>
              </a:ext>
            </a:extLst>
          </p:cNvPr>
          <p:cNvPicPr>
            <a:picLocks noChangeAspect="1"/>
          </p:cNvPicPr>
          <p:nvPr/>
        </p:nvPicPr>
        <p:blipFill>
          <a:blip r:embed="rId3"/>
          <a:stretch>
            <a:fillRect/>
          </a:stretch>
        </p:blipFill>
        <p:spPr>
          <a:xfrm>
            <a:off x="5532167" y="1216951"/>
            <a:ext cx="758815" cy="4552883"/>
          </a:xfrm>
          <a:prstGeom prst="rect">
            <a:avLst/>
          </a:prstGeom>
        </p:spPr>
      </p:pic>
      <p:sp>
        <p:nvSpPr>
          <p:cNvPr id="5" name="矩形 4">
            <a:extLst>
              <a:ext uri="{FF2B5EF4-FFF2-40B4-BE49-F238E27FC236}">
                <a16:creationId xmlns:a16="http://schemas.microsoft.com/office/drawing/2014/main" id="{593C10D4-7BF4-B8C8-A174-56CC5800AE4F}"/>
              </a:ext>
            </a:extLst>
          </p:cNvPr>
          <p:cNvSpPr/>
          <p:nvPr/>
        </p:nvSpPr>
        <p:spPr>
          <a:xfrm>
            <a:off x="5337185" y="2615453"/>
            <a:ext cx="1097233" cy="1411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6" name="矩形 5">
            <a:extLst>
              <a:ext uri="{FF2B5EF4-FFF2-40B4-BE49-F238E27FC236}">
                <a16:creationId xmlns:a16="http://schemas.microsoft.com/office/drawing/2014/main" id="{06E05A02-305B-37FC-6EA5-C7A9ACF74715}"/>
              </a:ext>
            </a:extLst>
          </p:cNvPr>
          <p:cNvSpPr/>
          <p:nvPr/>
        </p:nvSpPr>
        <p:spPr>
          <a:xfrm>
            <a:off x="7130126" y="3139887"/>
            <a:ext cx="2484521" cy="4975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7" name="矩形 6">
            <a:extLst>
              <a:ext uri="{FF2B5EF4-FFF2-40B4-BE49-F238E27FC236}">
                <a16:creationId xmlns:a16="http://schemas.microsoft.com/office/drawing/2014/main" id="{8BB4C58E-4EA3-9B36-F2E5-45ECF5042165}"/>
              </a:ext>
            </a:extLst>
          </p:cNvPr>
          <p:cNvSpPr/>
          <p:nvPr/>
        </p:nvSpPr>
        <p:spPr>
          <a:xfrm>
            <a:off x="8024355" y="1611113"/>
            <a:ext cx="776746" cy="170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pic>
        <p:nvPicPr>
          <p:cNvPr id="8" name="图片 7">
            <a:extLst>
              <a:ext uri="{FF2B5EF4-FFF2-40B4-BE49-F238E27FC236}">
                <a16:creationId xmlns:a16="http://schemas.microsoft.com/office/drawing/2014/main" id="{BC33C530-2185-E0BF-2FB2-351C1555887F}"/>
              </a:ext>
            </a:extLst>
          </p:cNvPr>
          <p:cNvPicPr>
            <a:picLocks noChangeAspect="1"/>
          </p:cNvPicPr>
          <p:nvPr/>
        </p:nvPicPr>
        <p:blipFill>
          <a:blip r:embed="rId4"/>
          <a:stretch>
            <a:fillRect/>
          </a:stretch>
        </p:blipFill>
        <p:spPr>
          <a:xfrm>
            <a:off x="77745" y="1558045"/>
            <a:ext cx="5204399" cy="963493"/>
          </a:xfrm>
          <a:prstGeom prst="rect">
            <a:avLst/>
          </a:prstGeom>
        </p:spPr>
      </p:pic>
      <p:pic>
        <p:nvPicPr>
          <p:cNvPr id="11" name="图片 10">
            <a:extLst>
              <a:ext uri="{FF2B5EF4-FFF2-40B4-BE49-F238E27FC236}">
                <a16:creationId xmlns:a16="http://schemas.microsoft.com/office/drawing/2014/main" id="{BD41C831-83F5-2CC7-77F6-8FC7D9D02726}"/>
              </a:ext>
            </a:extLst>
          </p:cNvPr>
          <p:cNvPicPr>
            <a:picLocks noChangeAspect="1"/>
          </p:cNvPicPr>
          <p:nvPr/>
        </p:nvPicPr>
        <p:blipFill rotWithShape="1">
          <a:blip r:embed="rId4"/>
          <a:srcRect l="48792" r="43718" b="64705"/>
          <a:stretch/>
        </p:blipFill>
        <p:spPr>
          <a:xfrm>
            <a:off x="174810" y="2587653"/>
            <a:ext cx="1405219" cy="1225923"/>
          </a:xfrm>
          <a:prstGeom prst="rect">
            <a:avLst/>
          </a:prstGeom>
        </p:spPr>
      </p:pic>
      <p:pic>
        <p:nvPicPr>
          <p:cNvPr id="12" name="图片 11">
            <a:extLst>
              <a:ext uri="{FF2B5EF4-FFF2-40B4-BE49-F238E27FC236}">
                <a16:creationId xmlns:a16="http://schemas.microsoft.com/office/drawing/2014/main" id="{E90EDC9D-C9F5-30A5-BFC0-745028F5494E}"/>
              </a:ext>
            </a:extLst>
          </p:cNvPr>
          <p:cNvPicPr>
            <a:picLocks noChangeAspect="1"/>
          </p:cNvPicPr>
          <p:nvPr/>
        </p:nvPicPr>
        <p:blipFill rotWithShape="1">
          <a:blip r:embed="rId4"/>
          <a:srcRect l="78787" r="16749" b="64705"/>
          <a:stretch/>
        </p:blipFill>
        <p:spPr>
          <a:xfrm>
            <a:off x="1663579" y="2582049"/>
            <a:ext cx="837574" cy="1225923"/>
          </a:xfrm>
          <a:prstGeom prst="rect">
            <a:avLst/>
          </a:prstGeom>
        </p:spPr>
      </p:pic>
      <p:pic>
        <p:nvPicPr>
          <p:cNvPr id="13" name="图片 12">
            <a:extLst>
              <a:ext uri="{FF2B5EF4-FFF2-40B4-BE49-F238E27FC236}">
                <a16:creationId xmlns:a16="http://schemas.microsoft.com/office/drawing/2014/main" id="{C23F1ADF-DEAB-F1C0-4820-1B61BCA56A76}"/>
              </a:ext>
            </a:extLst>
          </p:cNvPr>
          <p:cNvPicPr>
            <a:picLocks noChangeAspect="1"/>
          </p:cNvPicPr>
          <p:nvPr/>
        </p:nvPicPr>
        <p:blipFill rotWithShape="1">
          <a:blip r:embed="rId4"/>
          <a:srcRect l="89499" b="64705"/>
          <a:stretch/>
        </p:blipFill>
        <p:spPr>
          <a:xfrm>
            <a:off x="3084984" y="2542075"/>
            <a:ext cx="1970311" cy="1225923"/>
          </a:xfrm>
          <a:prstGeom prst="rect">
            <a:avLst/>
          </a:prstGeom>
        </p:spPr>
      </p:pic>
    </p:spTree>
    <p:extLst>
      <p:ext uri="{BB962C8B-B14F-4D97-AF65-F5344CB8AC3E}">
        <p14:creationId xmlns:p14="http://schemas.microsoft.com/office/powerpoint/2010/main" val="3473497605"/>
      </p:ext>
    </p:extLst>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927" y="1471937"/>
            <a:ext cx="3376866" cy="634234"/>
          </a:xfrm>
          <a:prstGeom prst="rect">
            <a:avLst/>
          </a:prstGeom>
        </p:spPr>
      </p:pic>
      <p:sp>
        <p:nvSpPr>
          <p:cNvPr id="2" name="文本框 1"/>
          <p:cNvSpPr txBox="1"/>
          <p:nvPr/>
        </p:nvSpPr>
        <p:spPr>
          <a:xfrm>
            <a:off x="573442" y="364661"/>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sz="3200" dirty="0"/>
              <a:t>数组</a:t>
            </a:r>
            <a:r>
              <a:rPr lang="en-US" altLang="zh-CN" sz="3200" dirty="0"/>
              <a:t>–</a:t>
            </a:r>
            <a:r>
              <a:rPr lang="zh-CN" altLang="en-US" sz="3200" dirty="0"/>
              <a:t>静态初始化</a:t>
            </a:r>
          </a:p>
        </p:txBody>
      </p:sp>
      <p:sp>
        <p:nvSpPr>
          <p:cNvPr id="4" name="文本框 3"/>
          <p:cNvSpPr txBox="1"/>
          <p:nvPr/>
        </p:nvSpPr>
        <p:spPr>
          <a:xfrm>
            <a:off x="3963650" y="514367"/>
            <a:ext cx="8081852" cy="5632311"/>
          </a:xfrm>
          <a:prstGeom prst="rect">
            <a:avLst/>
          </a:prstGeom>
          <a:noFill/>
        </p:spPr>
        <p:txBody>
          <a:bodyPr wrap="square" rtlCol="0">
            <a:spAutoFit/>
          </a:bodyPr>
          <a:lstStyle/>
          <a:p>
            <a:r>
              <a:rPr lang="zh-CN" altLang="en-US" sz="2400" dirty="0">
                <a:solidFill>
                  <a:prstClr val="black"/>
                </a:solidFill>
                <a:latin typeface="宋体" panose="02010600030101010101" pitchFamily="2" charset="-122"/>
                <a:ea typeface="宋体" panose="02010600030101010101" pitchFamily="2" charset="-122"/>
              </a:rPr>
              <a:t>数据类型 数组名</a:t>
            </a:r>
            <a:r>
              <a:rPr lang="en-US" altLang="zh-CN" sz="2400" dirty="0">
                <a:solidFill>
                  <a:prstClr val="black"/>
                </a:solidFill>
                <a:latin typeface="宋体" panose="02010600030101010101" pitchFamily="2" charset="-122"/>
                <a:ea typeface="宋体" panose="02010600030101010101" pitchFamily="2" charset="-122"/>
              </a:rPr>
              <a:t>[</a:t>
            </a:r>
            <a:r>
              <a:rPr lang="zh-CN" altLang="en-US" sz="2400" dirty="0">
                <a:solidFill>
                  <a:prstClr val="black"/>
                </a:solidFill>
                <a:latin typeface="宋体" panose="02010600030101010101" pitchFamily="2" charset="-122"/>
                <a:ea typeface="宋体" panose="02010600030101010101" pitchFamily="2" charset="-122"/>
              </a:rPr>
              <a:t>数组长度</a:t>
            </a:r>
            <a:r>
              <a:rPr lang="en-US" altLang="zh-CN" sz="2400" dirty="0">
                <a:solidFill>
                  <a:prstClr val="black"/>
                </a:solidFill>
                <a:latin typeface="宋体" panose="02010600030101010101" pitchFamily="2" charset="-122"/>
                <a:ea typeface="宋体" panose="02010600030101010101" pitchFamily="2" charset="-122"/>
              </a:rPr>
              <a:t>]={</a:t>
            </a:r>
            <a:r>
              <a:rPr lang="zh-CN" altLang="en-US" sz="2400" dirty="0">
                <a:solidFill>
                  <a:prstClr val="black"/>
                </a:solidFill>
                <a:latin typeface="宋体" panose="02010600030101010101" pitchFamily="2" charset="-122"/>
                <a:ea typeface="宋体" panose="02010600030101010101" pitchFamily="2" charset="-122"/>
              </a:rPr>
              <a:t>元素一</a:t>
            </a:r>
            <a:r>
              <a:rPr lang="en-US" altLang="zh-CN" sz="2400" dirty="0">
                <a:solidFill>
                  <a:prstClr val="black"/>
                </a:solidFill>
                <a:latin typeface="宋体" panose="02010600030101010101" pitchFamily="2" charset="-122"/>
                <a:ea typeface="宋体" panose="02010600030101010101" pitchFamily="2" charset="-122"/>
              </a:rPr>
              <a:t>,</a:t>
            </a:r>
            <a:r>
              <a:rPr lang="zh-CN" altLang="en-US" sz="2400" dirty="0">
                <a:solidFill>
                  <a:prstClr val="black"/>
                </a:solidFill>
                <a:latin typeface="宋体" panose="02010600030101010101" pitchFamily="2" charset="-122"/>
                <a:ea typeface="宋体" panose="02010600030101010101" pitchFamily="2" charset="-122"/>
              </a:rPr>
              <a:t>元素二</a:t>
            </a:r>
            <a:r>
              <a:rPr lang="en-US" altLang="zh-CN" sz="2400" dirty="0">
                <a:solidFill>
                  <a:prstClr val="black"/>
                </a:solidFill>
                <a:latin typeface="宋体" panose="02010600030101010101" pitchFamily="2" charset="-122"/>
                <a:ea typeface="宋体" panose="02010600030101010101" pitchFamily="2" charset="-122"/>
              </a:rPr>
              <a:t>,…,</a:t>
            </a:r>
            <a:r>
              <a:rPr lang="zh-CN" altLang="en-US" sz="2400" dirty="0">
                <a:solidFill>
                  <a:prstClr val="black"/>
                </a:solidFill>
                <a:latin typeface="宋体" panose="02010600030101010101" pitchFamily="2" charset="-122"/>
                <a:ea typeface="宋体" panose="02010600030101010101" pitchFamily="2" charset="-122"/>
              </a:rPr>
              <a:t>元素</a:t>
            </a:r>
            <a:r>
              <a:rPr lang="en-US" altLang="zh-CN" sz="2400" dirty="0">
                <a:solidFill>
                  <a:prstClr val="black"/>
                </a:solidFill>
                <a:latin typeface="宋体" panose="02010600030101010101" pitchFamily="2" charset="-122"/>
                <a:ea typeface="宋体" panose="02010600030101010101" pitchFamily="2" charset="-122"/>
              </a:rPr>
              <a:t>n};</a:t>
            </a:r>
          </a:p>
          <a:p>
            <a:r>
              <a:rPr lang="zh-CN" altLang="en-US" sz="2400" dirty="0">
                <a:solidFill>
                  <a:srgbClr val="333333"/>
                </a:solidFill>
                <a:latin typeface="宋体" panose="02010600030101010101" pitchFamily="2" charset="-122"/>
                <a:ea typeface="宋体" panose="02010600030101010101" pitchFamily="2" charset="-122"/>
              </a:rPr>
              <a:t>在声明的同时填入数据</a:t>
            </a:r>
            <a:r>
              <a:rPr lang="en-US" altLang="zh-CN" sz="2400" dirty="0">
                <a:solidFill>
                  <a:srgbClr val="333333"/>
                </a:solidFill>
                <a:latin typeface="宋体" panose="02010600030101010101" pitchFamily="2" charset="-122"/>
                <a:ea typeface="宋体" panose="02010600030101010101" pitchFamily="2" charset="-122"/>
              </a:rPr>
              <a:t>:</a:t>
            </a:r>
          </a:p>
          <a:p>
            <a:r>
              <a:rPr lang="en-US" altLang="zh-CN" sz="2400" dirty="0">
                <a:solidFill>
                  <a:srgbClr val="333333"/>
                </a:solidFill>
                <a:latin typeface="宋体" panose="02010600030101010101" pitchFamily="2" charset="-122"/>
                <a:ea typeface="宋体" panose="02010600030101010101" pitchFamily="2" charset="-122"/>
              </a:rPr>
              <a:t>int a[5]={11,22,33,44,55};</a:t>
            </a:r>
          </a:p>
          <a:p>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dirty="0">
                <a:solidFill>
                  <a:srgbClr val="333333"/>
                </a:solidFill>
                <a:latin typeface="宋体" panose="02010600030101010101" pitchFamily="2" charset="-122"/>
                <a:ea typeface="宋体" panose="02010600030101010101" pitchFamily="2" charset="-122"/>
              </a:rPr>
              <a:t>如果初始化的元素少于数组长度，其余的自动赋</a:t>
            </a:r>
            <a:r>
              <a:rPr lang="en-US" altLang="zh-CN" sz="2400" dirty="0">
                <a:solidFill>
                  <a:srgbClr val="333333"/>
                </a:solidFill>
                <a:latin typeface="宋体" panose="02010600030101010101" pitchFamily="2" charset="-122"/>
                <a:ea typeface="宋体" panose="02010600030101010101" pitchFamily="2" charset="-122"/>
              </a:rPr>
              <a:t>0</a:t>
            </a:r>
            <a:r>
              <a:rPr lang="zh-CN" altLang="en-US" sz="2400" dirty="0">
                <a:solidFill>
                  <a:srgbClr val="333333"/>
                </a:solidFill>
                <a:latin typeface="宋体" panose="02010600030101010101" pitchFamily="2" charset="-122"/>
                <a:ea typeface="宋体" panose="02010600030101010101" pitchFamily="2" charset="-122"/>
              </a:rPr>
              <a:t>：</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int array[5]={0,1};</a:t>
            </a:r>
          </a:p>
          <a:p>
            <a:r>
              <a:rPr lang="zh-CN" altLang="en-US" sz="2400" dirty="0">
                <a:solidFill>
                  <a:srgbClr val="333333"/>
                </a:solidFill>
                <a:latin typeface="宋体" panose="02010600030101010101" pitchFamily="2" charset="-122"/>
                <a:ea typeface="宋体" panose="02010600030101010101" pitchFamily="2" charset="-122"/>
              </a:rPr>
              <a:t>相当于：</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int array[5]={0,1,0,0,0};</a:t>
            </a:r>
          </a:p>
          <a:p>
            <a:r>
              <a:rPr lang="zh-CN" altLang="en-US" sz="2400" dirty="0">
                <a:solidFill>
                  <a:srgbClr val="333333"/>
                </a:solidFill>
                <a:latin typeface="宋体" panose="02010600030101010101" pitchFamily="2" charset="-122"/>
                <a:ea typeface="宋体" panose="02010600030101010101" pitchFamily="2" charset="-122"/>
              </a:rPr>
              <a:t>小技巧：</a:t>
            </a:r>
            <a:r>
              <a:rPr lang="en-US" altLang="zh-CN" sz="2400" dirty="0">
                <a:solidFill>
                  <a:srgbClr val="333333"/>
                </a:solidFill>
                <a:latin typeface="宋体" panose="02010600030101010101" pitchFamily="2" charset="-122"/>
                <a:ea typeface="宋体" panose="02010600030101010101" pitchFamily="2" charset="-122"/>
              </a:rPr>
              <a:t>int a[5]={0};</a:t>
            </a:r>
            <a:r>
              <a:rPr lang="zh-CN" altLang="en-US" sz="2400" dirty="0">
                <a:solidFill>
                  <a:srgbClr val="333333"/>
                </a:solidFill>
                <a:latin typeface="宋体" panose="02010600030101010101" pitchFamily="2" charset="-122"/>
                <a:ea typeface="宋体" panose="02010600030101010101" pitchFamily="2" charset="-122"/>
              </a:rPr>
              <a:t>可以自动将数组中元素填零</a:t>
            </a:r>
            <a:endParaRPr lang="en-US" altLang="zh-CN" sz="2400" dirty="0">
              <a:solidFill>
                <a:srgbClr val="333333"/>
              </a:solidFill>
              <a:latin typeface="宋体" panose="02010600030101010101" pitchFamily="2" charset="-122"/>
              <a:ea typeface="宋体" panose="02010600030101010101" pitchFamily="2" charset="-122"/>
            </a:endParaRPr>
          </a:p>
          <a:p>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dirty="0">
                <a:solidFill>
                  <a:srgbClr val="333333"/>
                </a:solidFill>
                <a:latin typeface="宋体" panose="02010600030101010101" pitchFamily="2" charset="-122"/>
                <a:ea typeface="宋体" panose="02010600030101010101" pitchFamily="2" charset="-122"/>
              </a:rPr>
              <a:t>有静态初始化时，数组长度可以省略不写，编译器会自动推断：</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int array[</a:t>
            </a:r>
            <a:r>
              <a:rPr lang="zh-CN" altLang="en-US" sz="2400" dirty="0">
                <a:solidFill>
                  <a:srgbClr val="333333"/>
                </a:solidFill>
                <a:latin typeface="宋体" panose="02010600030101010101" pitchFamily="2" charset="-122"/>
                <a:ea typeface="宋体" panose="02010600030101010101" pitchFamily="2" charset="-122"/>
              </a:rPr>
              <a:t> </a:t>
            </a:r>
            <a:r>
              <a:rPr lang="en-US" altLang="zh-CN" sz="2400" dirty="0">
                <a:solidFill>
                  <a:srgbClr val="333333"/>
                </a:solidFill>
                <a:latin typeface="宋体" panose="02010600030101010101" pitchFamily="2" charset="-122"/>
                <a:ea typeface="宋体" panose="02010600030101010101" pitchFamily="2" charset="-122"/>
              </a:rPr>
              <a:t>]={0,1,2,3,4,5};</a:t>
            </a:r>
          </a:p>
          <a:p>
            <a:r>
              <a:rPr lang="zh-CN" altLang="en-US" sz="2400" dirty="0">
                <a:solidFill>
                  <a:srgbClr val="333333"/>
                </a:solidFill>
                <a:latin typeface="宋体" panose="02010600030101010101" pitchFamily="2" charset="-122"/>
                <a:ea typeface="宋体" panose="02010600030101010101" pitchFamily="2" charset="-122"/>
              </a:rPr>
              <a:t>相当于：</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int array[6]={0,1,2,3,4,5};</a:t>
            </a:r>
          </a:p>
        </p:txBody>
      </p:sp>
      <p:pic>
        <p:nvPicPr>
          <p:cNvPr id="3" name="图片 2">
            <a:extLst>
              <a:ext uri="{FF2B5EF4-FFF2-40B4-BE49-F238E27FC236}">
                <a16:creationId xmlns:a16="http://schemas.microsoft.com/office/drawing/2014/main" id="{27DF6662-3777-23D4-F49E-1FD9CF78214D}"/>
              </a:ext>
            </a:extLst>
          </p:cNvPr>
          <p:cNvPicPr>
            <a:picLocks noChangeAspect="1"/>
          </p:cNvPicPr>
          <p:nvPr/>
        </p:nvPicPr>
        <p:blipFill>
          <a:blip r:embed="rId4"/>
          <a:stretch>
            <a:fillRect/>
          </a:stretch>
        </p:blipFill>
        <p:spPr>
          <a:xfrm>
            <a:off x="146498" y="2547931"/>
            <a:ext cx="3676677" cy="1762138"/>
          </a:xfrm>
          <a:prstGeom prst="rect">
            <a:avLst/>
          </a:prstGeom>
        </p:spPr>
      </p:pic>
    </p:spTree>
  </p:cSld>
  <p:clrMapOvr>
    <a:masterClrMapping/>
  </p:clrMapOvr>
  <p:transition spd="slow">
    <p:push di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93B2B23-10AD-D8CD-95EF-B5BA77311F04}"/>
              </a:ext>
            </a:extLst>
          </p:cNvPr>
          <p:cNvPicPr>
            <a:picLocks noChangeAspect="1"/>
          </p:cNvPicPr>
          <p:nvPr/>
        </p:nvPicPr>
        <p:blipFill>
          <a:blip r:embed="rId3"/>
          <a:stretch>
            <a:fillRect/>
          </a:stretch>
        </p:blipFill>
        <p:spPr>
          <a:xfrm>
            <a:off x="1012784" y="1306059"/>
            <a:ext cx="4622964" cy="2290659"/>
          </a:xfrm>
          <a:prstGeom prst="rect">
            <a:avLst/>
          </a:prstGeom>
        </p:spPr>
      </p:pic>
      <p:sp>
        <p:nvSpPr>
          <p:cNvPr id="3" name="文本框 2">
            <a:extLst>
              <a:ext uri="{FF2B5EF4-FFF2-40B4-BE49-F238E27FC236}">
                <a16:creationId xmlns:a16="http://schemas.microsoft.com/office/drawing/2014/main" id="{9C3026CA-16F1-CE9E-37CB-FE766EB8A424}"/>
              </a:ext>
            </a:extLst>
          </p:cNvPr>
          <p:cNvSpPr txBox="1"/>
          <p:nvPr/>
        </p:nvSpPr>
        <p:spPr>
          <a:xfrm>
            <a:off x="5712801" y="2051978"/>
            <a:ext cx="3401957" cy="707886"/>
          </a:xfrm>
          <a:prstGeom prst="rect">
            <a:avLst/>
          </a:prstGeom>
          <a:noFill/>
        </p:spPr>
        <p:txBody>
          <a:bodyPr wrap="none" rtlCol="0">
            <a:spAutoFit/>
          </a:bodyPr>
          <a:lstStyle/>
          <a:p>
            <a:r>
              <a:rPr lang="en-US" altLang="zh-CN" sz="4000" dirty="0"/>
              <a:t>int a[n]={0};  </a:t>
            </a:r>
            <a:r>
              <a:rPr lang="zh-CN" altLang="en-US" sz="4000" dirty="0"/>
              <a:t>？</a:t>
            </a:r>
            <a:endParaRPr lang="en-US" altLang="zh-CN" dirty="0"/>
          </a:p>
        </p:txBody>
      </p:sp>
      <p:sp>
        <p:nvSpPr>
          <p:cNvPr id="4" name="文本框 3">
            <a:extLst>
              <a:ext uri="{FF2B5EF4-FFF2-40B4-BE49-F238E27FC236}">
                <a16:creationId xmlns:a16="http://schemas.microsoft.com/office/drawing/2014/main" id="{F1CB7E7B-BDD7-C2C6-BB0A-F262F7609802}"/>
              </a:ext>
            </a:extLst>
          </p:cNvPr>
          <p:cNvSpPr txBox="1"/>
          <p:nvPr/>
        </p:nvSpPr>
        <p:spPr>
          <a:xfrm>
            <a:off x="580369" y="108040"/>
            <a:ext cx="6265415" cy="1089529"/>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数组</a:t>
            </a:r>
            <a:r>
              <a:rPr lang="en-US" altLang="zh-CN" dirty="0"/>
              <a:t>–</a:t>
            </a:r>
            <a:r>
              <a:rPr lang="zh-CN" altLang="en-US"/>
              <a:t>静态初始化</a:t>
            </a:r>
            <a:r>
              <a:rPr lang="en-US" altLang="zh-CN" dirty="0"/>
              <a:t>(</a:t>
            </a:r>
            <a:r>
              <a:rPr lang="zh-CN" altLang="en-US" dirty="0"/>
              <a:t>何为</a:t>
            </a:r>
            <a:r>
              <a:rPr lang="zh-CN" altLang="en-US"/>
              <a:t>静态？</a:t>
            </a:r>
            <a:r>
              <a:rPr lang="en-US" altLang="zh-CN" dirty="0"/>
              <a:t>)</a:t>
            </a:r>
            <a:endParaRPr lang="zh-CN" altLang="en-US" dirty="0"/>
          </a:p>
        </p:txBody>
      </p:sp>
    </p:spTree>
    <p:extLst>
      <p:ext uri="{BB962C8B-B14F-4D97-AF65-F5344CB8AC3E}">
        <p14:creationId xmlns:p14="http://schemas.microsoft.com/office/powerpoint/2010/main" val="3215729284"/>
      </p:ext>
    </p:ext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500" y="362434"/>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指针</a:t>
            </a:r>
            <a:r>
              <a:rPr lang="en-US" altLang="zh-CN" dirty="0"/>
              <a:t>–</a:t>
            </a:r>
            <a:r>
              <a:rPr lang="zh-CN" altLang="en-US" dirty="0"/>
              <a:t>一维数组及地址</a:t>
            </a:r>
          </a:p>
        </p:txBody>
      </p:sp>
      <p:sp>
        <p:nvSpPr>
          <p:cNvPr id="4" name="文本框 3"/>
          <p:cNvSpPr txBox="1"/>
          <p:nvPr/>
        </p:nvSpPr>
        <p:spPr>
          <a:xfrm>
            <a:off x="2624377" y="912085"/>
            <a:ext cx="6585012" cy="3785652"/>
          </a:xfrm>
          <a:prstGeom prst="rect">
            <a:avLst/>
          </a:prstGeom>
          <a:noFill/>
        </p:spPr>
        <p:txBody>
          <a:bodyPr wrap="square" rtlCol="0">
            <a:spAutoFit/>
          </a:bodyPr>
          <a:lstStyle/>
          <a:p>
            <a:r>
              <a:rPr lang="zh-CN" altLang="en-US" sz="2400" dirty="0">
                <a:solidFill>
                  <a:srgbClr val="333333"/>
                </a:solidFill>
                <a:latin typeface="宋体" panose="02010600030101010101" pitchFamily="2" charset="-122"/>
                <a:ea typeface="宋体" panose="02010600030101010101" pitchFamily="2" charset="-122"/>
              </a:rPr>
              <a:t>数组名其实</a:t>
            </a:r>
            <a:r>
              <a:rPr lang="zh-CN" altLang="en-US" sz="2400" b="1" dirty="0">
                <a:solidFill>
                  <a:srgbClr val="333333"/>
                </a:solidFill>
                <a:latin typeface="宋体" panose="02010600030101010101" pitchFamily="2" charset="-122"/>
                <a:ea typeface="宋体" panose="02010600030101010101" pitchFamily="2" charset="-122"/>
              </a:rPr>
              <a:t>代表着</a:t>
            </a:r>
            <a:r>
              <a:rPr lang="zh-CN" altLang="en-US" sz="2400" dirty="0">
                <a:solidFill>
                  <a:srgbClr val="333333"/>
                </a:solidFill>
                <a:latin typeface="宋体" panose="02010600030101010101" pitchFamily="2" charset="-122"/>
                <a:ea typeface="宋体" panose="02010600030101010101" pitchFamily="2" charset="-122"/>
              </a:rPr>
              <a:t>数组的</a:t>
            </a:r>
            <a:r>
              <a:rPr lang="zh-CN" altLang="en-US" sz="2400" b="1" dirty="0">
                <a:solidFill>
                  <a:srgbClr val="333333"/>
                </a:solidFill>
                <a:latin typeface="宋体" panose="02010600030101010101" pitchFamily="2" charset="-122"/>
                <a:ea typeface="宋体" panose="02010600030101010101" pitchFamily="2" charset="-122"/>
              </a:rPr>
              <a:t>首地址</a:t>
            </a:r>
            <a:r>
              <a:rPr lang="zh-CN" altLang="en-US" sz="2400" dirty="0">
                <a:solidFill>
                  <a:srgbClr val="333333"/>
                </a:solidFill>
                <a:latin typeface="宋体" panose="02010600030101010101" pitchFamily="2" charset="-122"/>
                <a:ea typeface="宋体" panose="02010600030101010101" pitchFamily="2" charset="-122"/>
              </a:rPr>
              <a:t>，可以把它赋值给指针：</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int a[5], *p = a;</a:t>
            </a:r>
          </a:p>
          <a:p>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dirty="0">
                <a:solidFill>
                  <a:srgbClr val="333333"/>
                </a:solidFill>
                <a:latin typeface="宋体" panose="02010600030101010101" pitchFamily="2" charset="-122"/>
                <a:ea typeface="宋体" panose="02010600030101010101" pitchFamily="2" charset="-122"/>
              </a:rPr>
              <a:t>指针可以像数组一样使用：</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p[3] = 3;</a:t>
            </a:r>
          </a:p>
          <a:p>
            <a:r>
              <a:rPr lang="zh-CN" altLang="en-US" sz="2400" dirty="0">
                <a:solidFill>
                  <a:srgbClr val="333333"/>
                </a:solidFill>
                <a:latin typeface="宋体" panose="02010600030101010101" pitchFamily="2" charset="-122"/>
                <a:ea typeface="宋体" panose="02010600030101010101" pitchFamily="2" charset="-122"/>
              </a:rPr>
              <a:t>相当于</a:t>
            </a:r>
            <a:r>
              <a:rPr lang="en-US" altLang="zh-CN" sz="2400" dirty="0">
                <a:solidFill>
                  <a:srgbClr val="333333"/>
                </a:solidFill>
                <a:latin typeface="宋体" panose="02010600030101010101" pitchFamily="2" charset="-122"/>
                <a:ea typeface="宋体" panose="02010600030101010101" pitchFamily="2" charset="-122"/>
              </a:rPr>
              <a:t>*(p</a:t>
            </a:r>
            <a:r>
              <a:rPr lang="zh-CN" altLang="en-US" sz="2400" dirty="0">
                <a:solidFill>
                  <a:srgbClr val="333333"/>
                </a:solidFill>
                <a:latin typeface="宋体" panose="02010600030101010101" pitchFamily="2" charset="-122"/>
                <a:ea typeface="宋体" panose="02010600030101010101" pitchFamily="2" charset="-122"/>
              </a:rPr>
              <a:t> </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 </a:t>
            </a:r>
            <a:r>
              <a:rPr lang="en-US" altLang="zh-CN" sz="2400" dirty="0">
                <a:solidFill>
                  <a:srgbClr val="333333"/>
                </a:solidFill>
                <a:latin typeface="宋体" panose="02010600030101010101" pitchFamily="2" charset="-122"/>
                <a:ea typeface="宋体" panose="02010600030101010101" pitchFamily="2" charset="-122"/>
              </a:rPr>
              <a:t>3)</a:t>
            </a:r>
            <a:r>
              <a:rPr lang="zh-CN" altLang="en-US" sz="2400" dirty="0">
                <a:solidFill>
                  <a:srgbClr val="333333"/>
                </a:solidFill>
                <a:latin typeface="宋体" panose="02010600030101010101" pitchFamily="2" charset="-122"/>
                <a:ea typeface="宋体" panose="02010600030101010101" pitchFamily="2" charset="-122"/>
              </a:rPr>
              <a:t> </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 </a:t>
            </a:r>
            <a:r>
              <a:rPr lang="en-US" altLang="zh-CN" sz="2400" dirty="0">
                <a:solidFill>
                  <a:srgbClr val="333333"/>
                </a:solidFill>
                <a:latin typeface="宋体" panose="02010600030101010101" pitchFamily="2" charset="-122"/>
                <a:ea typeface="宋体" panose="02010600030101010101" pitchFamily="2" charset="-122"/>
              </a:rPr>
              <a:t>3;</a:t>
            </a:r>
          </a:p>
          <a:p>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dirty="0">
                <a:solidFill>
                  <a:srgbClr val="333333"/>
                </a:solidFill>
                <a:latin typeface="宋体" panose="02010600030101010101" pitchFamily="2" charset="-122"/>
                <a:ea typeface="宋体" panose="02010600030101010101" pitchFamily="2" charset="-122"/>
              </a:rPr>
              <a:t>数组元素的地址是连续的：</a:t>
            </a:r>
            <a:endParaRPr lang="en-US" altLang="zh-CN" sz="2400" dirty="0">
              <a:solidFill>
                <a:srgbClr val="333333"/>
              </a:solidFill>
              <a:latin typeface="宋体" panose="02010600030101010101" pitchFamily="2" charset="-122"/>
              <a:ea typeface="宋体" panose="02010600030101010101" pitchFamily="2" charset="-122"/>
            </a:endParaRPr>
          </a:p>
          <a:p>
            <a:endParaRPr lang="en-US" altLang="zh-CN" sz="2400" dirty="0">
              <a:solidFill>
                <a:srgbClr val="333333"/>
              </a:solidFill>
              <a:latin typeface="宋体" panose="02010600030101010101" pitchFamily="2" charset="-122"/>
              <a:ea typeface="宋体" panose="02010600030101010101" pitchFamily="2" charset="-122"/>
            </a:endParaRPr>
          </a:p>
        </p:txBody>
      </p:sp>
      <p:graphicFrame>
        <p:nvGraphicFramePr>
          <p:cNvPr id="5" name="表格 5"/>
          <p:cNvGraphicFramePr>
            <a:graphicFrameLocks noGrp="1"/>
          </p:cNvGraphicFramePr>
          <p:nvPr/>
        </p:nvGraphicFramePr>
        <p:xfrm>
          <a:off x="3640685" y="4466945"/>
          <a:ext cx="4572000" cy="111252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tblGrid>
              <a:tr h="278130">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8130">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0</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1</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2</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3</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4</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dirty="0">
                          <a:solidFill>
                            <a:srgbClr val="333333"/>
                          </a:solidFill>
                          <a:latin typeface="宋体" panose="02010600030101010101" pitchFamily="2" charset="-122"/>
                          <a:ea typeface="宋体" panose="02010600030101010101" pitchFamily="2" charset="-122"/>
                          <a:cs typeface="+mn-cs"/>
                        </a:rPr>
                        <a:t>...</a:t>
                      </a:r>
                      <a:endParaRPr lang="zh-CN" altLang="en-US" sz="1800" b="0" i="0" kern="1200" dirty="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8130">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8130">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dirty="0">
                          <a:solidFill>
                            <a:srgbClr val="333333"/>
                          </a:solidFill>
                          <a:latin typeface="宋体" panose="02010600030101010101" pitchFamily="2" charset="-122"/>
                          <a:ea typeface="宋体" panose="02010600030101010101" pitchFamily="2" charset="-122"/>
                          <a:cs typeface="+mn-cs"/>
                        </a:rPr>
                        <a:t>...</a:t>
                      </a:r>
                      <a:endParaRPr lang="zh-CN" altLang="en-US" sz="1800" b="0" i="0" kern="1200" dirty="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a:solidFill>
                            <a:srgbClr val="333333"/>
                          </a:solidFill>
                          <a:latin typeface="宋体" panose="02010600030101010101" pitchFamily="2" charset="-122"/>
                          <a:ea typeface="宋体" panose="02010600030101010101" pitchFamily="2" charset="-122"/>
                          <a:cs typeface="+mn-cs"/>
                        </a:rPr>
                        <a:t>...</a:t>
                      </a:r>
                      <a:endParaRPr lang="zh-CN" altLang="en-US" sz="1800" b="0" i="0" kern="120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0" i="0" kern="1200" dirty="0">
                          <a:solidFill>
                            <a:srgbClr val="333333"/>
                          </a:solidFill>
                          <a:latin typeface="宋体" panose="02010600030101010101" pitchFamily="2" charset="-122"/>
                          <a:ea typeface="宋体" panose="02010600030101010101" pitchFamily="2" charset="-122"/>
                          <a:cs typeface="+mn-cs"/>
                        </a:rPr>
                        <a:t>...</a:t>
                      </a:r>
                      <a:endParaRPr lang="zh-CN" altLang="en-US" sz="1800" b="0" i="0" kern="1200" dirty="0">
                        <a:solidFill>
                          <a:srgbClr val="333333"/>
                        </a:solidFill>
                        <a:latin typeface="宋体" panose="02010600030101010101" pitchFamily="2" charset="-122"/>
                        <a:ea typeface="宋体" panose="02010600030101010101" pitchFamily="2" charset="-122"/>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文本框 5"/>
          <p:cNvSpPr txBox="1"/>
          <p:nvPr/>
        </p:nvSpPr>
        <p:spPr>
          <a:xfrm>
            <a:off x="8434038" y="4321179"/>
            <a:ext cx="553998" cy="1581156"/>
          </a:xfrm>
          <a:prstGeom prst="rect">
            <a:avLst/>
          </a:prstGeom>
          <a:noFill/>
        </p:spPr>
        <p:txBody>
          <a:bodyPr vert="eaVert" wrap="square" rtlCol="0">
            <a:spAutoFit/>
          </a:bodyPr>
          <a:lstStyle/>
          <a:p>
            <a:r>
              <a:rPr lang="zh-CN" altLang="en-US" sz="2400" b="1" dirty="0">
                <a:solidFill>
                  <a:srgbClr val="333333"/>
                </a:solidFill>
                <a:latin typeface="宋体" panose="02010600030101010101" pitchFamily="2" charset="-122"/>
                <a:ea typeface="宋体" panose="02010600030101010101" pitchFamily="2" charset="-122"/>
              </a:rPr>
              <a:t>内存空间</a:t>
            </a:r>
          </a:p>
        </p:txBody>
      </p:sp>
      <p:cxnSp>
        <p:nvCxnSpPr>
          <p:cNvPr id="10" name="直接箭头连接符 9"/>
          <p:cNvCxnSpPr>
            <a:cxnSpLocks/>
            <a:stCxn id="11" idx="2"/>
          </p:cNvCxnSpPr>
          <p:nvPr/>
        </p:nvCxnSpPr>
        <p:spPr>
          <a:xfrm>
            <a:off x="3378200" y="2177008"/>
            <a:ext cx="1409783" cy="206263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 name="矩形 10"/>
          <p:cNvSpPr/>
          <p:nvPr/>
        </p:nvSpPr>
        <p:spPr>
          <a:xfrm>
            <a:off x="3272971" y="1799771"/>
            <a:ext cx="210458" cy="377237"/>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Calibri"/>
              <a:ea typeface="等线" panose="02010600030101010101" pitchFamily="2" charset="-122"/>
            </a:endParaRPr>
          </a:p>
        </p:txBody>
      </p:sp>
      <p:sp>
        <p:nvSpPr>
          <p:cNvPr id="15" name="矩形 14"/>
          <p:cNvSpPr/>
          <p:nvPr/>
        </p:nvSpPr>
        <p:spPr>
          <a:xfrm>
            <a:off x="2624377" y="2853161"/>
            <a:ext cx="242194" cy="32546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Calibri"/>
              <a:ea typeface="等线" panose="02010600030101010101" pitchFamily="2" charset="-122"/>
            </a:endParaRPr>
          </a:p>
        </p:txBody>
      </p:sp>
      <p:cxnSp>
        <p:nvCxnSpPr>
          <p:cNvPr id="16" name="直接箭头连接符 15"/>
          <p:cNvCxnSpPr>
            <a:cxnSpLocks/>
            <a:stCxn id="15" idx="2"/>
          </p:cNvCxnSpPr>
          <p:nvPr/>
        </p:nvCxnSpPr>
        <p:spPr>
          <a:xfrm>
            <a:off x="2745474" y="3178629"/>
            <a:ext cx="3132115" cy="121843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 name="图片 2">
            <a:extLst>
              <a:ext uri="{FF2B5EF4-FFF2-40B4-BE49-F238E27FC236}">
                <a16:creationId xmlns:a16="http://schemas.microsoft.com/office/drawing/2014/main" id="{06A91E00-9FE7-7671-2AB0-CD8D4C69D730}"/>
              </a:ext>
            </a:extLst>
          </p:cNvPr>
          <p:cNvPicPr>
            <a:picLocks noChangeAspect="1"/>
          </p:cNvPicPr>
          <p:nvPr/>
        </p:nvPicPr>
        <p:blipFill>
          <a:blip r:embed="rId3"/>
          <a:stretch>
            <a:fillRect/>
          </a:stretch>
        </p:blipFill>
        <p:spPr>
          <a:xfrm>
            <a:off x="7005759" y="1446778"/>
            <a:ext cx="4285859" cy="2341067"/>
          </a:xfrm>
          <a:prstGeom prst="rect">
            <a:avLst/>
          </a:prstGeom>
        </p:spPr>
      </p:pic>
    </p:spTree>
  </p:cSld>
  <p:clrMapOvr>
    <a:masterClrMapping/>
  </p:clrMapOvr>
  <p:transition spd="slow">
    <p:push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500" y="330634"/>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数组</a:t>
            </a:r>
            <a:r>
              <a:rPr lang="en-US" altLang="zh-CN" dirty="0"/>
              <a:t>–</a:t>
            </a:r>
            <a:r>
              <a:rPr lang="zh-CN" altLang="en-US" dirty="0"/>
              <a:t>动态初始化和输出</a:t>
            </a:r>
          </a:p>
        </p:txBody>
      </p:sp>
      <p:sp>
        <p:nvSpPr>
          <p:cNvPr id="4" name="文本框 3"/>
          <p:cNvSpPr txBox="1"/>
          <p:nvPr/>
        </p:nvSpPr>
        <p:spPr>
          <a:xfrm>
            <a:off x="2646154" y="1172313"/>
            <a:ext cx="6438530" cy="954107"/>
          </a:xfrm>
          <a:prstGeom prst="rect">
            <a:avLst/>
          </a:prstGeom>
          <a:noFill/>
        </p:spPr>
        <p:txBody>
          <a:bodyPr wrap="square" rtlCol="0">
            <a:spAutoFit/>
          </a:bodyPr>
          <a:lstStyle/>
          <a:p>
            <a:r>
              <a:rPr lang="zh-CN" altLang="en-US" sz="2800" dirty="0">
                <a:solidFill>
                  <a:srgbClr val="333333"/>
                </a:solidFill>
                <a:latin typeface="宋体" panose="02010600030101010101" pitchFamily="2" charset="-122"/>
                <a:ea typeface="宋体" panose="02010600030101010101" pitchFamily="2" charset="-122"/>
              </a:rPr>
              <a:t>除了在声明时直接初始化之外，还可以使用循环等方式依次给数组元素赋值：</a:t>
            </a:r>
            <a:endParaRPr lang="en-US" altLang="zh-CN" sz="2800" dirty="0">
              <a:solidFill>
                <a:srgbClr val="333333"/>
              </a:solidFill>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A044440A-B252-26EE-82AA-335A30A431E4}"/>
              </a:ext>
            </a:extLst>
          </p:cNvPr>
          <p:cNvPicPr>
            <a:picLocks noChangeAspect="1"/>
          </p:cNvPicPr>
          <p:nvPr/>
        </p:nvPicPr>
        <p:blipFill>
          <a:blip r:embed="rId3"/>
          <a:stretch>
            <a:fillRect/>
          </a:stretch>
        </p:blipFill>
        <p:spPr>
          <a:xfrm>
            <a:off x="123389" y="2597235"/>
            <a:ext cx="5807623" cy="2558752"/>
          </a:xfrm>
          <a:prstGeom prst="rect">
            <a:avLst/>
          </a:prstGeom>
        </p:spPr>
      </p:pic>
      <p:pic>
        <p:nvPicPr>
          <p:cNvPr id="6" name="图片 5">
            <a:extLst>
              <a:ext uri="{FF2B5EF4-FFF2-40B4-BE49-F238E27FC236}">
                <a16:creationId xmlns:a16="http://schemas.microsoft.com/office/drawing/2014/main" id="{0BF13A0C-CB3F-8E78-C767-9F24EF40B381}"/>
              </a:ext>
            </a:extLst>
          </p:cNvPr>
          <p:cNvPicPr>
            <a:picLocks noChangeAspect="1"/>
          </p:cNvPicPr>
          <p:nvPr/>
        </p:nvPicPr>
        <p:blipFill>
          <a:blip r:embed="rId4"/>
          <a:stretch>
            <a:fillRect/>
          </a:stretch>
        </p:blipFill>
        <p:spPr>
          <a:xfrm>
            <a:off x="6066038" y="2443437"/>
            <a:ext cx="6047694" cy="1525351"/>
          </a:xfrm>
          <a:prstGeom prst="rect">
            <a:avLst/>
          </a:prstGeom>
        </p:spPr>
      </p:pic>
      <p:pic>
        <p:nvPicPr>
          <p:cNvPr id="7" name="图片 6">
            <a:extLst>
              <a:ext uri="{FF2B5EF4-FFF2-40B4-BE49-F238E27FC236}">
                <a16:creationId xmlns:a16="http://schemas.microsoft.com/office/drawing/2014/main" id="{FF23A91A-79D9-7F53-BC2C-BFBBC52E4C35}"/>
              </a:ext>
            </a:extLst>
          </p:cNvPr>
          <p:cNvPicPr>
            <a:picLocks noChangeAspect="1"/>
          </p:cNvPicPr>
          <p:nvPr/>
        </p:nvPicPr>
        <p:blipFill>
          <a:blip r:embed="rId5"/>
          <a:stretch>
            <a:fillRect/>
          </a:stretch>
        </p:blipFill>
        <p:spPr>
          <a:xfrm>
            <a:off x="5848205" y="4470284"/>
            <a:ext cx="6220406" cy="1525352"/>
          </a:xfrm>
          <a:prstGeom prst="rect">
            <a:avLst/>
          </a:prstGeom>
        </p:spPr>
      </p:pic>
    </p:spTree>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641436" y="2492752"/>
            <a:ext cx="4209948" cy="2915964"/>
            <a:chOff x="1385833" y="2449786"/>
            <a:chExt cx="5613264" cy="3887952"/>
          </a:xfrm>
        </p:grpSpPr>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2097" y="2449786"/>
              <a:ext cx="5207000" cy="116840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5833" y="3618186"/>
              <a:ext cx="5613264" cy="2719552"/>
            </a:xfrm>
            <a:prstGeom prst="rect">
              <a:avLst/>
            </a:prstGeom>
          </p:spPr>
        </p:pic>
      </p:grpSp>
      <p:sp>
        <p:nvSpPr>
          <p:cNvPr id="3" name="文本框 2">
            <a:extLst>
              <a:ext uri="{FF2B5EF4-FFF2-40B4-BE49-F238E27FC236}">
                <a16:creationId xmlns:a16="http://schemas.microsoft.com/office/drawing/2014/main" id="{7A185D87-30D0-636E-FB5F-3DC469152680}"/>
              </a:ext>
            </a:extLst>
          </p:cNvPr>
          <p:cNvSpPr txBox="1"/>
          <p:nvPr/>
        </p:nvSpPr>
        <p:spPr>
          <a:xfrm>
            <a:off x="668974" y="1012954"/>
            <a:ext cx="8510656" cy="4832092"/>
          </a:xfrm>
          <a:prstGeom prst="rect">
            <a:avLst/>
          </a:prstGeom>
          <a:noFill/>
        </p:spPr>
        <p:txBody>
          <a:bodyPr wrap="square" rtlCol="0">
            <a:spAutoFit/>
          </a:bodyPr>
          <a:lstStyle/>
          <a:p>
            <a:r>
              <a:rPr lang="zh-CN" altLang="en-US" sz="2800" dirty="0">
                <a:solidFill>
                  <a:srgbClr val="333333"/>
                </a:solidFill>
                <a:latin typeface="宋体" panose="02010600030101010101" pitchFamily="2" charset="-122"/>
                <a:ea typeface="宋体" panose="02010600030101010101" pitchFamily="2" charset="-122"/>
              </a:rPr>
              <a:t>除了形如：</a:t>
            </a:r>
            <a:r>
              <a:rPr lang="en-US" altLang="zh-CN" sz="2800" dirty="0">
                <a:solidFill>
                  <a:srgbClr val="333333"/>
                </a:solidFill>
                <a:latin typeface="宋体" panose="02010600030101010101" pitchFamily="2" charset="-122"/>
                <a:ea typeface="宋体" panose="02010600030101010101" pitchFamily="2" charset="-122"/>
              </a:rPr>
              <a:t>char games[101];</a:t>
            </a:r>
            <a:r>
              <a:rPr lang="zh-CN" altLang="en-US" sz="2800" dirty="0">
                <a:solidFill>
                  <a:srgbClr val="333333"/>
                </a:solidFill>
                <a:latin typeface="宋体" panose="02010600030101010101" pitchFamily="2" charset="-122"/>
                <a:ea typeface="宋体" panose="02010600030101010101" pitchFamily="2" charset="-122"/>
              </a:rPr>
              <a:t>的一维数组，</a:t>
            </a:r>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还存在像二维数组、三维数组之类的多维数组。</a:t>
            </a:r>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如果把一维数组比喻成一个列表：</a:t>
            </a:r>
            <a:endParaRPr lang="en-US" altLang="zh-CN" sz="2800" dirty="0">
              <a:solidFill>
                <a:srgbClr val="333333"/>
              </a:solidFill>
              <a:latin typeface="宋体" panose="02010600030101010101" pitchFamily="2" charset="-122"/>
              <a:ea typeface="宋体" panose="02010600030101010101" pitchFamily="2" charset="-122"/>
            </a:endParaRPr>
          </a:p>
          <a:p>
            <a:r>
              <a:rPr lang="en-US" altLang="zh-CN" sz="2800" dirty="0">
                <a:solidFill>
                  <a:srgbClr val="333333"/>
                </a:solidFill>
                <a:latin typeface="宋体" panose="02010600030101010101" pitchFamily="2" charset="-122"/>
                <a:ea typeface="宋体" panose="02010600030101010101" pitchFamily="2" charset="-122"/>
              </a:rPr>
              <a:t>a[5]:</a:t>
            </a:r>
          </a:p>
          <a:p>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那么二维数组就是一张表格：</a:t>
            </a:r>
            <a:endParaRPr lang="en-US" altLang="zh-CN" sz="2800" dirty="0">
              <a:solidFill>
                <a:srgbClr val="333333"/>
              </a:solidFill>
              <a:latin typeface="宋体" panose="02010600030101010101" pitchFamily="2" charset="-122"/>
              <a:ea typeface="宋体" panose="02010600030101010101" pitchFamily="2" charset="-122"/>
            </a:endParaRPr>
          </a:p>
          <a:p>
            <a:r>
              <a:rPr lang="en-US" altLang="zh-CN" sz="2800" dirty="0">
                <a:solidFill>
                  <a:srgbClr val="333333"/>
                </a:solidFill>
                <a:latin typeface="宋体" panose="02010600030101010101" pitchFamily="2" charset="-122"/>
                <a:ea typeface="宋体" panose="02010600030101010101" pitchFamily="2" charset="-122"/>
              </a:rPr>
              <a:t>a[5][5]:</a:t>
            </a:r>
          </a:p>
          <a:p>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更高维数以此类推。</a:t>
            </a:r>
            <a:endParaRPr lang="en-US" altLang="zh-CN" sz="2800" dirty="0">
              <a:solidFill>
                <a:srgbClr val="333333"/>
              </a:solidFill>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D4203F1F-F953-E25A-ABD6-0989871F530C}"/>
              </a:ext>
            </a:extLst>
          </p:cNvPr>
          <p:cNvSpPr txBox="1"/>
          <p:nvPr/>
        </p:nvSpPr>
        <p:spPr>
          <a:xfrm>
            <a:off x="630500" y="281158"/>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多维数组</a:t>
            </a:r>
          </a:p>
        </p:txBody>
      </p:sp>
      <p:sp>
        <p:nvSpPr>
          <p:cNvPr id="2" name="文本框 1">
            <a:extLst>
              <a:ext uri="{FF2B5EF4-FFF2-40B4-BE49-F238E27FC236}">
                <a16:creationId xmlns:a16="http://schemas.microsoft.com/office/drawing/2014/main" id="{A1E35308-9679-BB12-874E-DFB43063AB95}"/>
              </a:ext>
            </a:extLst>
          </p:cNvPr>
          <p:cNvSpPr txBox="1"/>
          <p:nvPr/>
        </p:nvSpPr>
        <p:spPr>
          <a:xfrm>
            <a:off x="7169696" y="5725150"/>
            <a:ext cx="3153427" cy="954107"/>
          </a:xfrm>
          <a:prstGeom prst="rect">
            <a:avLst/>
          </a:prstGeom>
          <a:noFill/>
        </p:spPr>
        <p:txBody>
          <a:bodyPr wrap="none" rtlCol="0">
            <a:spAutoFit/>
          </a:bodyPr>
          <a:lstStyle/>
          <a:p>
            <a:r>
              <a:rPr lang="zh-CN" altLang="en-US" sz="2800" dirty="0"/>
              <a:t>思考①</a:t>
            </a:r>
            <a:r>
              <a:rPr lang="en-US" altLang="zh-CN" sz="2800" dirty="0"/>
              <a:t>:a[0][5]?</a:t>
            </a:r>
          </a:p>
          <a:p>
            <a:r>
              <a:rPr lang="zh-CN" altLang="en-US" sz="2800" dirty="0"/>
              <a:t>思考②</a:t>
            </a:r>
            <a:r>
              <a:rPr lang="en-US" altLang="zh-CN" sz="2800" dirty="0"/>
              <a:t>:</a:t>
            </a:r>
            <a:r>
              <a:rPr lang="zh-CN" altLang="en-US" sz="2800" dirty="0"/>
              <a:t>真的分行？</a:t>
            </a:r>
            <a:endParaRPr lang="zh-CN" altLang="en-US" dirty="0"/>
          </a:p>
        </p:txBody>
      </p:sp>
    </p:spTree>
  </p:cSld>
  <p:clrMapOvr>
    <a:masterClrMapping/>
  </p:clrMapOvr>
  <p:transition spd="slow">
    <p:push di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6736" y="328225"/>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多维数组</a:t>
            </a:r>
            <a:r>
              <a:rPr lang="en-US" altLang="zh-CN" dirty="0"/>
              <a:t>–</a:t>
            </a:r>
            <a:r>
              <a:rPr lang="zh-CN" altLang="en-US" dirty="0"/>
              <a:t>静态初始化</a:t>
            </a:r>
          </a:p>
        </p:txBody>
      </p:sp>
      <p:sp>
        <p:nvSpPr>
          <p:cNvPr id="4" name="文本框 3"/>
          <p:cNvSpPr txBox="1"/>
          <p:nvPr/>
        </p:nvSpPr>
        <p:spPr>
          <a:xfrm>
            <a:off x="1351801" y="1299129"/>
            <a:ext cx="6438530" cy="1815882"/>
          </a:xfrm>
          <a:prstGeom prst="rect">
            <a:avLst/>
          </a:prstGeom>
          <a:noFill/>
        </p:spPr>
        <p:txBody>
          <a:bodyPr wrap="square" rtlCol="0">
            <a:spAutoFit/>
          </a:bodyPr>
          <a:lstStyle/>
          <a:p>
            <a:r>
              <a:rPr lang="zh-CN" altLang="en-US" sz="2800" dirty="0">
                <a:solidFill>
                  <a:srgbClr val="333333"/>
                </a:solidFill>
                <a:latin typeface="宋体" panose="02010600030101010101" pitchFamily="2" charset="-122"/>
                <a:ea typeface="宋体" panose="02010600030101010101" pitchFamily="2" charset="-122"/>
              </a:rPr>
              <a:t>可以用数组套数组的方式来初始化：</a:t>
            </a:r>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也可以直接展开：</a:t>
            </a:r>
            <a:endParaRPr lang="en-US" altLang="zh-CN" sz="2800" dirty="0">
              <a:solidFill>
                <a:srgbClr val="333333"/>
              </a:solidFill>
              <a:latin typeface="宋体" panose="02010600030101010101" pitchFamily="2" charset="-122"/>
              <a:ea typeface="宋体" panose="02010600030101010101" pitchFamily="2" charset="-122"/>
            </a:endParaRPr>
          </a:p>
          <a:p>
            <a:r>
              <a:rPr lang="zh-CN" altLang="en-US" sz="2800" dirty="0">
                <a:solidFill>
                  <a:srgbClr val="333333"/>
                </a:solidFill>
                <a:latin typeface="宋体" panose="02010600030101010101" pitchFamily="2" charset="-122"/>
                <a:ea typeface="宋体" panose="02010600030101010101" pitchFamily="2" charset="-122"/>
              </a:rPr>
              <a:t>或者省略第一维度的大小：</a:t>
            </a:r>
            <a:endParaRPr lang="en-US" altLang="zh-CN" sz="2800" dirty="0">
              <a:solidFill>
                <a:srgbClr val="333333"/>
              </a:solidFill>
              <a:latin typeface="宋体" panose="02010600030101010101" pitchFamily="2" charset="-122"/>
              <a:ea typeface="宋体" panose="02010600030101010101" pitchFamily="2" charset="-122"/>
            </a:endParaRPr>
          </a:p>
          <a:p>
            <a:endParaRPr lang="en-US" altLang="zh-CN" sz="2800" dirty="0">
              <a:solidFill>
                <a:srgbClr val="333333"/>
              </a:solidFill>
              <a:latin typeface="宋体" panose="02010600030101010101" pitchFamily="2" charset="-122"/>
              <a:ea typeface="宋体" panose="02010600030101010101" pitchFamily="2" charset="-122"/>
            </a:endParaRP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6697" y="4126017"/>
            <a:ext cx="4993823" cy="1812827"/>
          </a:xfrm>
          <a:prstGeom prst="rect">
            <a:avLst/>
          </a:prstGeom>
        </p:spPr>
      </p:pic>
      <p:pic>
        <p:nvPicPr>
          <p:cNvPr id="5" name="图片 4">
            <a:extLst>
              <a:ext uri="{FF2B5EF4-FFF2-40B4-BE49-F238E27FC236}">
                <a16:creationId xmlns:a16="http://schemas.microsoft.com/office/drawing/2014/main" id="{A70B119F-847E-59E8-9789-275DAA68573C}"/>
              </a:ext>
            </a:extLst>
          </p:cNvPr>
          <p:cNvPicPr>
            <a:picLocks noChangeAspect="1"/>
          </p:cNvPicPr>
          <p:nvPr/>
        </p:nvPicPr>
        <p:blipFill>
          <a:blip r:embed="rId4"/>
          <a:stretch>
            <a:fillRect/>
          </a:stretch>
        </p:blipFill>
        <p:spPr>
          <a:xfrm>
            <a:off x="4254659" y="2731983"/>
            <a:ext cx="4824027" cy="1391773"/>
          </a:xfrm>
          <a:prstGeom prst="rect">
            <a:avLst/>
          </a:prstGeom>
        </p:spPr>
      </p:pic>
    </p:spTree>
  </p:cSld>
  <p:clrMapOvr>
    <a:masterClrMapping/>
  </p:clrMapOvr>
  <p:transition spd="slow">
    <p:push di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24475" y="349603"/>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多维数组</a:t>
            </a:r>
            <a:r>
              <a:rPr lang="en-US" altLang="zh-CN" dirty="0"/>
              <a:t>–</a:t>
            </a:r>
            <a:r>
              <a:rPr lang="zh-CN" altLang="en-US" dirty="0"/>
              <a:t>动态初始化</a:t>
            </a:r>
          </a:p>
        </p:txBody>
      </p:sp>
      <p:pic>
        <p:nvPicPr>
          <p:cNvPr id="6" name="图片 5">
            <a:extLst>
              <a:ext uri="{FF2B5EF4-FFF2-40B4-BE49-F238E27FC236}">
                <a16:creationId xmlns:a16="http://schemas.microsoft.com/office/drawing/2014/main" id="{BD790BDB-10E2-BE8F-1F6D-76B3AF64D7A0}"/>
              </a:ext>
            </a:extLst>
          </p:cNvPr>
          <p:cNvPicPr>
            <a:picLocks noChangeAspect="1"/>
          </p:cNvPicPr>
          <p:nvPr/>
        </p:nvPicPr>
        <p:blipFill>
          <a:blip r:embed="rId3"/>
          <a:stretch>
            <a:fillRect/>
          </a:stretch>
        </p:blipFill>
        <p:spPr>
          <a:xfrm>
            <a:off x="516220" y="1509430"/>
            <a:ext cx="7080507" cy="3156913"/>
          </a:xfrm>
          <a:prstGeom prst="rect">
            <a:avLst/>
          </a:prstGeom>
        </p:spPr>
      </p:pic>
      <p:pic>
        <p:nvPicPr>
          <p:cNvPr id="7" name="图片 6">
            <a:extLst>
              <a:ext uri="{FF2B5EF4-FFF2-40B4-BE49-F238E27FC236}">
                <a16:creationId xmlns:a16="http://schemas.microsoft.com/office/drawing/2014/main" id="{2C4DE988-380E-18A3-2110-CCBDFD98A809}"/>
              </a:ext>
            </a:extLst>
          </p:cNvPr>
          <p:cNvPicPr>
            <a:picLocks noChangeAspect="1"/>
          </p:cNvPicPr>
          <p:nvPr/>
        </p:nvPicPr>
        <p:blipFill>
          <a:blip r:embed="rId4"/>
          <a:stretch>
            <a:fillRect/>
          </a:stretch>
        </p:blipFill>
        <p:spPr>
          <a:xfrm>
            <a:off x="7832731" y="2366686"/>
            <a:ext cx="2905146" cy="1809763"/>
          </a:xfrm>
          <a:prstGeom prst="rect">
            <a:avLst/>
          </a:prstGeom>
        </p:spPr>
      </p:pic>
      <p:pic>
        <p:nvPicPr>
          <p:cNvPr id="3" name="图片 2">
            <a:extLst>
              <a:ext uri="{FF2B5EF4-FFF2-40B4-BE49-F238E27FC236}">
                <a16:creationId xmlns:a16="http://schemas.microsoft.com/office/drawing/2014/main" id="{431BD72B-8ADF-9DBA-7076-B7F84E9E09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7000" y="4176449"/>
            <a:ext cx="4993823" cy="1812827"/>
          </a:xfrm>
          <a:prstGeom prst="rect">
            <a:avLst/>
          </a:prstGeom>
        </p:spPr>
      </p:pic>
    </p:spTree>
  </p:cSld>
  <p:clrMapOvr>
    <a:masterClrMapping/>
  </p:clrMapOvr>
  <p:transition spd="slow">
    <p:push di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500" y="357969"/>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数组指针</a:t>
            </a:r>
          </a:p>
        </p:txBody>
      </p:sp>
      <p:sp>
        <p:nvSpPr>
          <p:cNvPr id="4" name="文本框 3"/>
          <p:cNvSpPr txBox="1"/>
          <p:nvPr/>
        </p:nvSpPr>
        <p:spPr>
          <a:xfrm>
            <a:off x="133999" y="1152003"/>
            <a:ext cx="6265415" cy="2677656"/>
          </a:xfrm>
          <a:prstGeom prst="rect">
            <a:avLst/>
          </a:prstGeom>
          <a:noFill/>
        </p:spPr>
        <p:txBody>
          <a:bodyPr wrap="square" rtlCol="0">
            <a:spAutoFit/>
          </a:bodyPr>
          <a:lstStyle/>
          <a:p>
            <a:r>
              <a:rPr lang="zh-CN" altLang="en-US" sz="2400" dirty="0">
                <a:solidFill>
                  <a:srgbClr val="333333"/>
                </a:solidFill>
                <a:latin typeface="宋体" panose="02010600030101010101" pitchFamily="2" charset="-122"/>
                <a:ea typeface="宋体" panose="02010600030101010101" pitchFamily="2" charset="-122"/>
              </a:rPr>
              <a:t>数组指针就是</a:t>
            </a:r>
            <a:r>
              <a:rPr lang="zh-CN" altLang="en-US" sz="2400" b="1" dirty="0">
                <a:solidFill>
                  <a:srgbClr val="333333"/>
                </a:solidFill>
                <a:latin typeface="宋体" panose="02010600030101010101" pitchFamily="2" charset="-122"/>
                <a:ea typeface="宋体" panose="02010600030101010101" pitchFamily="2" charset="-122"/>
              </a:rPr>
              <a:t>指向整个数组</a:t>
            </a:r>
            <a:r>
              <a:rPr lang="zh-CN" altLang="en-US" sz="2400" dirty="0">
                <a:solidFill>
                  <a:srgbClr val="333333"/>
                </a:solidFill>
                <a:latin typeface="宋体" panose="02010600030101010101" pitchFamily="2" charset="-122"/>
                <a:ea typeface="宋体" panose="02010600030101010101" pitchFamily="2" charset="-122"/>
              </a:rPr>
              <a:t>的</a:t>
            </a:r>
            <a:r>
              <a:rPr lang="zh-CN" altLang="en-US" sz="2400" b="1" dirty="0">
                <a:solidFill>
                  <a:srgbClr val="333333"/>
                </a:solidFill>
                <a:latin typeface="宋体" panose="02010600030101010101" pitchFamily="2" charset="-122"/>
                <a:ea typeface="宋体" panose="02010600030101010101" pitchFamily="2" charset="-122"/>
              </a:rPr>
              <a:t>指针</a:t>
            </a:r>
            <a:r>
              <a:rPr lang="zh-CN" altLang="en-US" sz="2400" dirty="0">
                <a:solidFill>
                  <a:srgbClr val="333333"/>
                </a:solidFill>
                <a:latin typeface="宋体" panose="02010600030101010101" pitchFamily="2" charset="-122"/>
                <a:ea typeface="宋体" panose="02010600030101010101" pitchFamily="2" charset="-122"/>
              </a:rPr>
              <a:t>。</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 区分于</a:t>
            </a:r>
            <a:r>
              <a:rPr lang="zh-CN" altLang="en-US" sz="2400" b="1" dirty="0">
                <a:solidFill>
                  <a:srgbClr val="333333"/>
                </a:solidFill>
                <a:latin typeface="宋体" panose="02010600030101010101" pitchFamily="2" charset="-122"/>
                <a:ea typeface="宋体" panose="02010600030101010101" pitchFamily="2" charset="-122"/>
              </a:rPr>
              <a:t>指向数组首项</a:t>
            </a:r>
            <a:r>
              <a:rPr lang="zh-CN" altLang="en-US" sz="2400" dirty="0">
                <a:solidFill>
                  <a:srgbClr val="333333"/>
                </a:solidFill>
                <a:latin typeface="宋体" panose="02010600030101010101" pitchFamily="2" charset="-122"/>
                <a:ea typeface="宋体" panose="02010600030101010101" pitchFamily="2" charset="-122"/>
              </a:rPr>
              <a:t>的指针！</a:t>
            </a:r>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b="1" dirty="0">
                <a:solidFill>
                  <a:srgbClr val="333333"/>
                </a:solidFill>
                <a:latin typeface="黑体" panose="02010609060101010101" pitchFamily="49" charset="-122"/>
                <a:ea typeface="黑体" panose="02010609060101010101" pitchFamily="49" charset="-122"/>
              </a:rPr>
              <a:t>声明</a:t>
            </a:r>
            <a:endParaRPr lang="en-US" altLang="zh-CN" sz="2400" b="1" dirty="0">
              <a:solidFill>
                <a:srgbClr val="333333"/>
              </a:solidFill>
              <a:latin typeface="黑体" panose="02010609060101010101" pitchFamily="49" charset="-122"/>
              <a:ea typeface="黑体" panose="02010609060101010101" pitchFamily="49" charset="-122"/>
            </a:endParaRPr>
          </a:p>
          <a:p>
            <a:r>
              <a:rPr lang="zh-CN" altLang="en-US" sz="2400" dirty="0">
                <a:solidFill>
                  <a:srgbClr val="333333"/>
                </a:solidFill>
                <a:latin typeface="宋体" panose="02010600030101010101" pitchFamily="2" charset="-122"/>
                <a:ea typeface="宋体" panose="02010600030101010101" pitchFamily="2" charset="-122"/>
              </a:rPr>
              <a:t>数据类型 </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数组名</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数组长度</a:t>
            </a:r>
            <a:r>
              <a:rPr lang="en-US" altLang="zh-CN" sz="2400" dirty="0">
                <a:solidFill>
                  <a:srgbClr val="333333"/>
                </a:solidFill>
                <a:latin typeface="宋体" panose="02010600030101010101" pitchFamily="2" charset="-122"/>
                <a:ea typeface="宋体" panose="02010600030101010101" pitchFamily="2" charset="-122"/>
              </a:rPr>
              <a:t>];</a:t>
            </a:r>
          </a:p>
          <a:p>
            <a:r>
              <a:rPr lang="en-US" altLang="zh-CN" sz="2400" dirty="0">
                <a:solidFill>
                  <a:srgbClr val="333333"/>
                </a:solidFill>
                <a:latin typeface="宋体" panose="02010600030101010101" pitchFamily="2" charset="-122"/>
                <a:ea typeface="宋体" panose="02010600030101010101" pitchFamily="2" charset="-122"/>
              </a:rPr>
              <a:t>double (*</a:t>
            </a:r>
            <a:r>
              <a:rPr lang="en-US" altLang="zh-CN" sz="2400" dirty="0" err="1">
                <a:solidFill>
                  <a:srgbClr val="333333"/>
                </a:solidFill>
                <a:latin typeface="宋体" panose="02010600030101010101" pitchFamily="2" charset="-122"/>
                <a:ea typeface="宋体" panose="02010600030101010101" pitchFamily="2" charset="-122"/>
              </a:rPr>
              <a:t>arp</a:t>
            </a:r>
            <a:r>
              <a:rPr lang="en-US" altLang="zh-CN" sz="2400" dirty="0">
                <a:solidFill>
                  <a:srgbClr val="333333"/>
                </a:solidFill>
                <a:latin typeface="宋体" panose="02010600030101010101" pitchFamily="2" charset="-122"/>
                <a:ea typeface="宋体" panose="02010600030101010101" pitchFamily="2" charset="-122"/>
              </a:rPr>
              <a:t>)[3];</a:t>
            </a:r>
          </a:p>
          <a:p>
            <a:r>
              <a:rPr lang="zh-CN" altLang="en-US" sz="2400" dirty="0">
                <a:solidFill>
                  <a:srgbClr val="333333"/>
                </a:solidFill>
                <a:latin typeface="宋体" panose="02010600030101010101" pitchFamily="2" charset="-122"/>
                <a:ea typeface="宋体" panose="02010600030101010101" pitchFamily="2" charset="-122"/>
              </a:rPr>
              <a:t>它指向一个长度为</a:t>
            </a:r>
            <a:r>
              <a:rPr lang="en-US" altLang="zh-CN" sz="2400" dirty="0">
                <a:solidFill>
                  <a:srgbClr val="333333"/>
                </a:solidFill>
                <a:latin typeface="宋体" panose="02010600030101010101" pitchFamily="2" charset="-122"/>
                <a:ea typeface="宋体" panose="02010600030101010101" pitchFamily="2" charset="-122"/>
              </a:rPr>
              <a:t>3</a:t>
            </a:r>
            <a:r>
              <a:rPr lang="zh-CN" altLang="en-US" sz="2400" dirty="0">
                <a:solidFill>
                  <a:srgbClr val="333333"/>
                </a:solidFill>
                <a:latin typeface="宋体" panose="02010600030101010101" pitchFamily="2" charset="-122"/>
                <a:ea typeface="宋体" panose="02010600030101010101" pitchFamily="2" charset="-122"/>
              </a:rPr>
              <a:t>的</a:t>
            </a:r>
            <a:r>
              <a:rPr lang="en-US" altLang="zh-CN" sz="2400" dirty="0">
                <a:solidFill>
                  <a:srgbClr val="333333"/>
                </a:solidFill>
                <a:latin typeface="宋体" panose="02010600030101010101" pitchFamily="2" charset="-122"/>
                <a:ea typeface="宋体" panose="02010600030101010101" pitchFamily="2" charset="-122"/>
              </a:rPr>
              <a:t>double</a:t>
            </a:r>
            <a:r>
              <a:rPr lang="zh-CN" altLang="en-US" sz="2400" dirty="0">
                <a:solidFill>
                  <a:srgbClr val="333333"/>
                </a:solidFill>
                <a:latin typeface="宋体" panose="02010600030101010101" pitchFamily="2" charset="-122"/>
                <a:ea typeface="宋体" panose="02010600030101010101" pitchFamily="2" charset="-122"/>
              </a:rPr>
              <a:t>类型的数组。</a:t>
            </a:r>
            <a:endParaRPr lang="en-US" altLang="zh-CN" sz="2400" dirty="0">
              <a:solidFill>
                <a:srgbClr val="333333"/>
              </a:solidFill>
              <a:latin typeface="宋体" panose="02010600030101010101" pitchFamily="2" charset="-122"/>
              <a:ea typeface="宋体" panose="02010600030101010101" pitchFamily="2" charset="-122"/>
            </a:endParaRPr>
          </a:p>
          <a:p>
            <a:endParaRPr lang="en-US" altLang="zh-CN" sz="2400" dirty="0">
              <a:solidFill>
                <a:srgbClr val="333333"/>
              </a:solidFill>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CFB6BEF5-CC34-EBF5-957C-C81165C74380}"/>
              </a:ext>
            </a:extLst>
          </p:cNvPr>
          <p:cNvSpPr txBox="1"/>
          <p:nvPr/>
        </p:nvSpPr>
        <p:spPr>
          <a:xfrm>
            <a:off x="5881656" y="2941873"/>
            <a:ext cx="7362630" cy="3046988"/>
          </a:xfrm>
          <a:prstGeom prst="rect">
            <a:avLst/>
          </a:prstGeom>
          <a:noFill/>
        </p:spPr>
        <p:txBody>
          <a:bodyPr wrap="square">
            <a:spAutoFit/>
          </a:bodyPr>
          <a:lstStyle/>
          <a:p>
            <a:r>
              <a:rPr lang="zh-CN" altLang="en-US" sz="2400" b="1" dirty="0">
                <a:solidFill>
                  <a:srgbClr val="333333"/>
                </a:solidFill>
                <a:latin typeface="黑体" panose="02010609060101010101" pitchFamily="49" charset="-122"/>
                <a:ea typeface="黑体" panose="02010609060101010101" pitchFamily="49" charset="-122"/>
              </a:rPr>
              <a:t>初始化和赋值</a:t>
            </a:r>
            <a:endParaRPr lang="en-US" altLang="zh-CN" sz="2400" b="1" dirty="0">
              <a:solidFill>
                <a:srgbClr val="333333"/>
              </a:solidFill>
              <a:latin typeface="黑体" panose="02010609060101010101" pitchFamily="49" charset="-122"/>
              <a:ea typeface="黑体" panose="02010609060101010101" pitchFamily="49" charset="-122"/>
            </a:endParaRPr>
          </a:p>
          <a:p>
            <a:r>
              <a:rPr lang="zh-CN" altLang="en-US" sz="2400" dirty="0">
                <a:solidFill>
                  <a:srgbClr val="333333"/>
                </a:solidFill>
                <a:latin typeface="宋体" panose="02010600030101010101" pitchFamily="2" charset="-122"/>
                <a:ea typeface="宋体" panose="02010600030101010101" pitchFamily="2" charset="-122"/>
              </a:rPr>
              <a:t>指针名</a:t>
            </a:r>
            <a:r>
              <a:rPr lang="en-US" altLang="zh-CN" sz="2400" dirty="0">
                <a:solidFill>
                  <a:srgbClr val="333333"/>
                </a:solidFill>
                <a:latin typeface="宋体" panose="02010600030101010101" pitchFamily="2" charset="-122"/>
                <a:ea typeface="宋体" panose="02010600030101010101" pitchFamily="2" charset="-122"/>
              </a:rPr>
              <a:t> = &amp;</a:t>
            </a:r>
            <a:r>
              <a:rPr lang="zh-CN" altLang="en-US" sz="2400" dirty="0">
                <a:solidFill>
                  <a:srgbClr val="333333"/>
                </a:solidFill>
                <a:latin typeface="宋体" panose="02010600030101010101" pitchFamily="2" charset="-122"/>
                <a:ea typeface="宋体" panose="02010600030101010101" pitchFamily="2" charset="-122"/>
              </a:rPr>
              <a:t>数组名</a:t>
            </a:r>
            <a:r>
              <a:rPr lang="en-US" altLang="zh-CN" sz="2400" dirty="0">
                <a:solidFill>
                  <a:srgbClr val="333333"/>
                </a:solidFill>
                <a:latin typeface="宋体" panose="02010600030101010101" pitchFamily="2" charset="-122"/>
                <a:ea typeface="宋体" panose="02010600030101010101" pitchFamily="2" charset="-122"/>
              </a:rPr>
              <a:t>;</a:t>
            </a:r>
          </a:p>
          <a:p>
            <a:r>
              <a:rPr lang="en-US" altLang="zh-CN" sz="2400" dirty="0" err="1">
                <a:solidFill>
                  <a:srgbClr val="333333"/>
                </a:solidFill>
                <a:latin typeface="宋体" panose="02010600030101010101" pitchFamily="2" charset="-122"/>
                <a:ea typeface="宋体" panose="02010600030101010101" pitchFamily="2" charset="-122"/>
              </a:rPr>
              <a:t>arp</a:t>
            </a:r>
            <a:r>
              <a:rPr lang="en-US" altLang="zh-CN" sz="2400" dirty="0">
                <a:solidFill>
                  <a:srgbClr val="333333"/>
                </a:solidFill>
                <a:latin typeface="宋体" panose="02010600030101010101" pitchFamily="2" charset="-122"/>
                <a:ea typeface="宋体" panose="02010600030101010101" pitchFamily="2" charset="-122"/>
              </a:rPr>
              <a:t> = &amp;</a:t>
            </a:r>
            <a:r>
              <a:rPr lang="en-US" altLang="zh-CN" sz="2400" dirty="0" err="1">
                <a:solidFill>
                  <a:srgbClr val="333333"/>
                </a:solidFill>
                <a:latin typeface="宋体" panose="02010600030101010101" pitchFamily="2" charset="-122"/>
                <a:ea typeface="宋体" panose="02010600030101010101" pitchFamily="2" charset="-122"/>
              </a:rPr>
              <a:t>dar</a:t>
            </a:r>
            <a:r>
              <a:rPr lang="en-US" altLang="zh-CN" sz="2400" dirty="0">
                <a:solidFill>
                  <a:srgbClr val="333333"/>
                </a:solidFill>
                <a:latin typeface="宋体" panose="02010600030101010101" pitchFamily="2" charset="-122"/>
                <a:ea typeface="宋体" panose="02010600030101010101" pitchFamily="2" charset="-122"/>
              </a:rPr>
              <a:t>;</a:t>
            </a:r>
          </a:p>
          <a:p>
            <a:endParaRPr lang="en-US" altLang="zh-CN" sz="2400" dirty="0">
              <a:solidFill>
                <a:srgbClr val="333333"/>
              </a:solidFill>
              <a:latin typeface="宋体" panose="02010600030101010101" pitchFamily="2" charset="-122"/>
              <a:ea typeface="宋体" panose="02010600030101010101" pitchFamily="2" charset="-122"/>
            </a:endParaRPr>
          </a:p>
          <a:p>
            <a:r>
              <a:rPr lang="zh-CN" altLang="en-US" sz="2400" b="1" dirty="0">
                <a:solidFill>
                  <a:srgbClr val="333333"/>
                </a:solidFill>
                <a:latin typeface="黑体" panose="02010609060101010101" pitchFamily="49" charset="-122"/>
                <a:ea typeface="黑体" panose="02010609060101010101" pitchFamily="49" charset="-122"/>
              </a:rPr>
              <a:t>访问和赋值</a:t>
            </a:r>
            <a:endParaRPr lang="en-US" altLang="zh-CN" sz="2400" b="1" dirty="0">
              <a:solidFill>
                <a:srgbClr val="333333"/>
              </a:solidFill>
              <a:latin typeface="黑体" panose="02010609060101010101" pitchFamily="49" charset="-122"/>
              <a:ea typeface="黑体" panose="02010609060101010101" pitchFamily="49" charset="-122"/>
            </a:endParaRPr>
          </a:p>
          <a:p>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指针名</a:t>
            </a:r>
            <a:r>
              <a:rPr lang="en-US" altLang="zh-CN" sz="2400" dirty="0">
                <a:solidFill>
                  <a:srgbClr val="333333"/>
                </a:solidFill>
                <a:latin typeface="宋体" panose="02010600030101010101" pitchFamily="2" charset="-122"/>
                <a:ea typeface="宋体" panose="02010600030101010101" pitchFamily="2" charset="-122"/>
              </a:rPr>
              <a:t>)[</a:t>
            </a:r>
            <a:r>
              <a:rPr lang="zh-CN" altLang="en-US" sz="2400" dirty="0">
                <a:solidFill>
                  <a:srgbClr val="333333"/>
                </a:solidFill>
                <a:latin typeface="宋体" panose="02010600030101010101" pitchFamily="2" charset="-122"/>
                <a:ea typeface="宋体" panose="02010600030101010101" pitchFamily="2" charset="-122"/>
              </a:rPr>
              <a:t>索引</a:t>
            </a:r>
            <a:r>
              <a:rPr lang="en-US" altLang="zh-CN" sz="2400" dirty="0">
                <a:solidFill>
                  <a:srgbClr val="333333"/>
                </a:solidFill>
                <a:latin typeface="宋体" panose="02010600030101010101" pitchFamily="2" charset="-122"/>
                <a:ea typeface="宋体" panose="02010600030101010101" pitchFamily="2" charset="-122"/>
              </a:rPr>
              <a:t>] = </a:t>
            </a:r>
            <a:r>
              <a:rPr lang="zh-CN" altLang="en-US" sz="2400" dirty="0">
                <a:solidFill>
                  <a:srgbClr val="333333"/>
                </a:solidFill>
                <a:latin typeface="宋体" panose="02010600030101010101" pitchFamily="2" charset="-122"/>
                <a:ea typeface="宋体" panose="02010600030101010101" pitchFamily="2" charset="-122"/>
              </a:rPr>
              <a:t>值</a:t>
            </a:r>
            <a:endParaRPr lang="en-US" altLang="zh-CN" sz="2400" dirty="0">
              <a:solidFill>
                <a:srgbClr val="333333"/>
              </a:solidFill>
              <a:latin typeface="宋体" panose="02010600030101010101" pitchFamily="2" charset="-122"/>
              <a:ea typeface="宋体" panose="02010600030101010101" pitchFamily="2" charset="-122"/>
            </a:endParaRPr>
          </a:p>
          <a:p>
            <a:r>
              <a:rPr lang="en-US" altLang="zh-CN" sz="2400" dirty="0">
                <a:solidFill>
                  <a:srgbClr val="333333"/>
                </a:solidFill>
                <a:latin typeface="宋体" panose="02010600030101010101" pitchFamily="2" charset="-122"/>
                <a:ea typeface="宋体" panose="02010600030101010101" pitchFamily="2" charset="-122"/>
              </a:rPr>
              <a:t>(*</a:t>
            </a:r>
            <a:r>
              <a:rPr lang="en-US" altLang="zh-CN" sz="2400" dirty="0" err="1">
                <a:solidFill>
                  <a:srgbClr val="333333"/>
                </a:solidFill>
                <a:latin typeface="宋体" panose="02010600030101010101" pitchFamily="2" charset="-122"/>
                <a:ea typeface="宋体" panose="02010600030101010101" pitchFamily="2" charset="-122"/>
              </a:rPr>
              <a:t>arp</a:t>
            </a:r>
            <a:r>
              <a:rPr lang="en-US" altLang="zh-CN" sz="2400" dirty="0">
                <a:solidFill>
                  <a:srgbClr val="333333"/>
                </a:solidFill>
                <a:latin typeface="宋体" panose="02010600030101010101" pitchFamily="2" charset="-122"/>
                <a:ea typeface="宋体" panose="02010600030101010101" pitchFamily="2" charset="-122"/>
              </a:rPr>
              <a:t>)[1] = 0.01</a:t>
            </a:r>
          </a:p>
          <a:p>
            <a:r>
              <a:rPr lang="zh-CN" altLang="en-US" sz="2400" dirty="0">
                <a:solidFill>
                  <a:srgbClr val="333333"/>
                </a:solidFill>
                <a:latin typeface="宋体" panose="02010600030101010101" pitchFamily="2" charset="-122"/>
                <a:ea typeface="宋体" panose="02010600030101010101" pitchFamily="2" charset="-122"/>
              </a:rPr>
              <a:t>将该指针指向的数组的第二个元素赋值为</a:t>
            </a:r>
            <a:r>
              <a:rPr lang="en-US" altLang="zh-CN" sz="2400" dirty="0">
                <a:solidFill>
                  <a:srgbClr val="333333"/>
                </a:solidFill>
                <a:latin typeface="宋体" panose="02010600030101010101" pitchFamily="2" charset="-122"/>
                <a:ea typeface="宋体" panose="02010600030101010101" pitchFamily="2" charset="-122"/>
              </a:rPr>
              <a:t>0.01</a:t>
            </a:r>
          </a:p>
        </p:txBody>
      </p:sp>
      <p:pic>
        <p:nvPicPr>
          <p:cNvPr id="3" name="图片 2">
            <a:extLst>
              <a:ext uri="{FF2B5EF4-FFF2-40B4-BE49-F238E27FC236}">
                <a16:creationId xmlns:a16="http://schemas.microsoft.com/office/drawing/2014/main" id="{A555E3D2-C18D-5B91-D44E-D3141A4013D3}"/>
              </a:ext>
            </a:extLst>
          </p:cNvPr>
          <p:cNvPicPr>
            <a:picLocks noChangeAspect="1"/>
          </p:cNvPicPr>
          <p:nvPr/>
        </p:nvPicPr>
        <p:blipFill>
          <a:blip r:embed="rId3"/>
          <a:stretch>
            <a:fillRect/>
          </a:stretch>
        </p:blipFill>
        <p:spPr>
          <a:xfrm>
            <a:off x="5697402" y="124127"/>
            <a:ext cx="5467419" cy="3000985"/>
          </a:xfrm>
          <a:prstGeom prst="rect">
            <a:avLst/>
          </a:prstGeom>
        </p:spPr>
      </p:pic>
    </p:spTree>
  </p:cSld>
  <p:clrMapOvr>
    <a:masterClrMapping/>
  </p:clrMapOvr>
  <p:transition spd="slow">
    <p:push di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0500" y="308638"/>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多维数组</a:t>
            </a:r>
            <a:r>
              <a:rPr lang="en-US" altLang="zh-CN" dirty="0"/>
              <a:t>–</a:t>
            </a:r>
            <a:r>
              <a:rPr lang="zh-CN" altLang="en-US" dirty="0"/>
              <a:t>输出</a:t>
            </a:r>
          </a:p>
        </p:txBody>
      </p:sp>
      <p:pic>
        <p:nvPicPr>
          <p:cNvPr id="3" name="图片 2">
            <a:extLst>
              <a:ext uri="{FF2B5EF4-FFF2-40B4-BE49-F238E27FC236}">
                <a16:creationId xmlns:a16="http://schemas.microsoft.com/office/drawing/2014/main" id="{EE38A6B9-F922-97A8-9DAD-1125CA568C6C}"/>
              </a:ext>
            </a:extLst>
          </p:cNvPr>
          <p:cNvPicPr>
            <a:picLocks noChangeAspect="1"/>
          </p:cNvPicPr>
          <p:nvPr/>
        </p:nvPicPr>
        <p:blipFill>
          <a:blip r:embed="rId2"/>
          <a:stretch>
            <a:fillRect/>
          </a:stretch>
        </p:blipFill>
        <p:spPr>
          <a:xfrm>
            <a:off x="534443" y="1472410"/>
            <a:ext cx="7203031" cy="2185189"/>
          </a:xfrm>
          <a:prstGeom prst="rect">
            <a:avLst/>
          </a:prstGeom>
        </p:spPr>
      </p:pic>
      <p:pic>
        <p:nvPicPr>
          <p:cNvPr id="5" name="图片 4">
            <a:extLst>
              <a:ext uri="{FF2B5EF4-FFF2-40B4-BE49-F238E27FC236}">
                <a16:creationId xmlns:a16="http://schemas.microsoft.com/office/drawing/2014/main" id="{6DA492BB-EAE9-20DD-E4F6-BB05E8A61419}"/>
              </a:ext>
            </a:extLst>
          </p:cNvPr>
          <p:cNvPicPr>
            <a:picLocks noChangeAspect="1"/>
          </p:cNvPicPr>
          <p:nvPr/>
        </p:nvPicPr>
        <p:blipFill>
          <a:blip r:embed="rId3"/>
          <a:stretch>
            <a:fillRect/>
          </a:stretch>
        </p:blipFill>
        <p:spPr>
          <a:xfrm>
            <a:off x="436580" y="3791802"/>
            <a:ext cx="10763913" cy="2304828"/>
          </a:xfrm>
          <a:prstGeom prst="rect">
            <a:avLst/>
          </a:prstGeom>
        </p:spPr>
      </p:pic>
      <p:sp>
        <p:nvSpPr>
          <p:cNvPr id="6" name="文本框 5">
            <a:extLst>
              <a:ext uri="{FF2B5EF4-FFF2-40B4-BE49-F238E27FC236}">
                <a16:creationId xmlns:a16="http://schemas.microsoft.com/office/drawing/2014/main" id="{0471C2F3-D21B-5BC9-525C-62A7D02623E1}"/>
              </a:ext>
            </a:extLst>
          </p:cNvPr>
          <p:cNvSpPr txBox="1"/>
          <p:nvPr/>
        </p:nvSpPr>
        <p:spPr>
          <a:xfrm>
            <a:off x="5227077" y="1774207"/>
            <a:ext cx="1338828" cy="369332"/>
          </a:xfrm>
          <a:prstGeom prst="rect">
            <a:avLst/>
          </a:prstGeom>
          <a:noFill/>
        </p:spPr>
        <p:txBody>
          <a:bodyPr wrap="none" rtlCol="0">
            <a:spAutoFit/>
          </a:bodyPr>
          <a:lstStyle/>
          <a:p>
            <a:r>
              <a:rPr lang="zh-CN" altLang="en-US" dirty="0"/>
              <a:t>传二维数组</a:t>
            </a:r>
          </a:p>
        </p:txBody>
      </p:sp>
      <p:sp>
        <p:nvSpPr>
          <p:cNvPr id="7" name="文本框 6">
            <a:extLst>
              <a:ext uri="{FF2B5EF4-FFF2-40B4-BE49-F238E27FC236}">
                <a16:creationId xmlns:a16="http://schemas.microsoft.com/office/drawing/2014/main" id="{54D1E533-8196-ECEB-C232-5939F16099E9}"/>
              </a:ext>
            </a:extLst>
          </p:cNvPr>
          <p:cNvSpPr txBox="1"/>
          <p:nvPr/>
        </p:nvSpPr>
        <p:spPr>
          <a:xfrm>
            <a:off x="4526340" y="4191715"/>
            <a:ext cx="1569660" cy="369332"/>
          </a:xfrm>
          <a:prstGeom prst="rect">
            <a:avLst/>
          </a:prstGeom>
          <a:noFill/>
        </p:spPr>
        <p:txBody>
          <a:bodyPr wrap="none" rtlCol="0">
            <a:spAutoFit/>
          </a:bodyPr>
          <a:lstStyle/>
          <a:p>
            <a:r>
              <a:rPr lang="zh-CN" altLang="en-US" dirty="0"/>
              <a:t>传首元素地址</a:t>
            </a:r>
          </a:p>
        </p:txBody>
      </p:sp>
      <p:pic>
        <p:nvPicPr>
          <p:cNvPr id="10" name="图片 9">
            <a:extLst>
              <a:ext uri="{FF2B5EF4-FFF2-40B4-BE49-F238E27FC236}">
                <a16:creationId xmlns:a16="http://schemas.microsoft.com/office/drawing/2014/main" id="{3BA31AA8-F435-D615-20C0-52D59A7C92EF}"/>
              </a:ext>
            </a:extLst>
          </p:cNvPr>
          <p:cNvPicPr>
            <a:picLocks noChangeAspect="1"/>
          </p:cNvPicPr>
          <p:nvPr/>
        </p:nvPicPr>
        <p:blipFill>
          <a:blip r:embed="rId4"/>
          <a:stretch>
            <a:fillRect/>
          </a:stretch>
        </p:blipFill>
        <p:spPr>
          <a:xfrm>
            <a:off x="8295347" y="1065832"/>
            <a:ext cx="2905146" cy="1809763"/>
          </a:xfrm>
          <a:prstGeom prst="rect">
            <a:avLst/>
          </a:prstGeom>
        </p:spPr>
      </p:pic>
    </p:spTree>
    <p:extLst>
      <p:ext uri="{BB962C8B-B14F-4D97-AF65-F5344CB8AC3E}">
        <p14:creationId xmlns:p14="http://schemas.microsoft.com/office/powerpoint/2010/main" val="3051912193"/>
      </p:ext>
    </p:extLst>
  </p:cSld>
  <p:clrMapOvr>
    <a:masterClrMapping/>
  </p:clrMapOvr>
  <p:transition spd="slow">
    <p:push di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31817CD-D59E-1E21-83B3-5C0FD1B980FC}"/>
              </a:ext>
            </a:extLst>
          </p:cNvPr>
          <p:cNvPicPr>
            <a:picLocks noChangeAspect="1"/>
          </p:cNvPicPr>
          <p:nvPr/>
        </p:nvPicPr>
        <p:blipFill>
          <a:blip r:embed="rId2"/>
          <a:stretch>
            <a:fillRect/>
          </a:stretch>
        </p:blipFill>
        <p:spPr>
          <a:xfrm>
            <a:off x="889047" y="3429000"/>
            <a:ext cx="4815914" cy="2579558"/>
          </a:xfrm>
          <a:prstGeom prst="rect">
            <a:avLst/>
          </a:prstGeom>
        </p:spPr>
      </p:pic>
      <p:pic>
        <p:nvPicPr>
          <p:cNvPr id="4" name="图片 3">
            <a:extLst>
              <a:ext uri="{FF2B5EF4-FFF2-40B4-BE49-F238E27FC236}">
                <a16:creationId xmlns:a16="http://schemas.microsoft.com/office/drawing/2014/main" id="{F6097DA2-F9DF-0C03-CC7F-EDD1AF26854C}"/>
              </a:ext>
            </a:extLst>
          </p:cNvPr>
          <p:cNvPicPr>
            <a:picLocks noChangeAspect="1"/>
          </p:cNvPicPr>
          <p:nvPr/>
        </p:nvPicPr>
        <p:blipFill>
          <a:blip r:embed="rId3"/>
          <a:stretch>
            <a:fillRect/>
          </a:stretch>
        </p:blipFill>
        <p:spPr>
          <a:xfrm>
            <a:off x="758419" y="961985"/>
            <a:ext cx="9453434" cy="2467015"/>
          </a:xfrm>
          <a:prstGeom prst="rect">
            <a:avLst/>
          </a:prstGeom>
        </p:spPr>
      </p:pic>
      <p:sp>
        <p:nvSpPr>
          <p:cNvPr id="6" name="文本框 5">
            <a:extLst>
              <a:ext uri="{FF2B5EF4-FFF2-40B4-BE49-F238E27FC236}">
                <a16:creationId xmlns:a16="http://schemas.microsoft.com/office/drawing/2014/main" id="{A68C4A03-7E2D-F5C6-AB39-6B27452EC189}"/>
              </a:ext>
            </a:extLst>
          </p:cNvPr>
          <p:cNvSpPr txBox="1"/>
          <p:nvPr/>
        </p:nvSpPr>
        <p:spPr>
          <a:xfrm>
            <a:off x="4121182" y="2213731"/>
            <a:ext cx="2492990" cy="369332"/>
          </a:xfrm>
          <a:prstGeom prst="rect">
            <a:avLst/>
          </a:prstGeom>
          <a:noFill/>
        </p:spPr>
        <p:txBody>
          <a:bodyPr wrap="none" rtlCol="0">
            <a:spAutoFit/>
          </a:bodyPr>
          <a:lstStyle/>
          <a:p>
            <a:r>
              <a:rPr lang="zh-CN" altLang="en-US" dirty="0"/>
              <a:t>传每一维度的数组指针</a:t>
            </a:r>
          </a:p>
        </p:txBody>
      </p:sp>
      <p:sp>
        <p:nvSpPr>
          <p:cNvPr id="7" name="文本框 6">
            <a:extLst>
              <a:ext uri="{FF2B5EF4-FFF2-40B4-BE49-F238E27FC236}">
                <a16:creationId xmlns:a16="http://schemas.microsoft.com/office/drawing/2014/main" id="{5A4FBCB8-B562-705F-810C-23347CDA61FE}"/>
              </a:ext>
            </a:extLst>
          </p:cNvPr>
          <p:cNvSpPr txBox="1"/>
          <p:nvPr/>
        </p:nvSpPr>
        <p:spPr>
          <a:xfrm>
            <a:off x="6897842" y="2259897"/>
            <a:ext cx="5190845" cy="830997"/>
          </a:xfrm>
          <a:prstGeom prst="rect">
            <a:avLst/>
          </a:prstGeom>
          <a:noFill/>
        </p:spPr>
        <p:txBody>
          <a:bodyPr wrap="none" rtlCol="0">
            <a:spAutoFit/>
          </a:bodyPr>
          <a:lstStyle/>
          <a:p>
            <a:r>
              <a:rPr lang="zh-CN" altLang="en-US" sz="2400" dirty="0"/>
              <a:t>思考①</a:t>
            </a:r>
            <a:r>
              <a:rPr lang="en-US" altLang="zh-CN" sz="2400" dirty="0"/>
              <a:t>:</a:t>
            </a:r>
            <a:r>
              <a:rPr lang="zh-CN" altLang="en-US" sz="2400" dirty="0"/>
              <a:t>思考为什么要给出数组大小，</a:t>
            </a:r>
            <a:endParaRPr lang="en-US" altLang="zh-CN" sz="2400" dirty="0"/>
          </a:p>
          <a:p>
            <a:r>
              <a:rPr lang="zh-CN" altLang="en-US" sz="2400" dirty="0"/>
              <a:t>如果不给出数组大小会有什么问题</a:t>
            </a:r>
            <a:r>
              <a:rPr lang="en-US" altLang="zh-CN" sz="2400" dirty="0"/>
              <a:t>?</a:t>
            </a:r>
            <a:endParaRPr lang="zh-CN" altLang="en-US" sz="2400" dirty="0"/>
          </a:p>
        </p:txBody>
      </p:sp>
      <p:sp>
        <p:nvSpPr>
          <p:cNvPr id="8" name="椭圆 7">
            <a:extLst>
              <a:ext uri="{FF2B5EF4-FFF2-40B4-BE49-F238E27FC236}">
                <a16:creationId xmlns:a16="http://schemas.microsoft.com/office/drawing/2014/main" id="{7DE43EA3-6663-6E80-EB42-F22D2EC0AB37}"/>
              </a:ext>
            </a:extLst>
          </p:cNvPr>
          <p:cNvSpPr/>
          <p:nvPr/>
        </p:nvSpPr>
        <p:spPr>
          <a:xfrm>
            <a:off x="1630017" y="2259897"/>
            <a:ext cx="636105" cy="20500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065BD812-4E88-3753-E019-0B584B081B1A}"/>
              </a:ext>
            </a:extLst>
          </p:cNvPr>
          <p:cNvCxnSpPr/>
          <p:nvPr/>
        </p:nvCxnSpPr>
        <p:spPr>
          <a:xfrm>
            <a:off x="2266122" y="2345635"/>
            <a:ext cx="4736705" cy="9427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17C31134-B8D5-7328-DF23-B0EF815B66A3}"/>
              </a:ext>
            </a:extLst>
          </p:cNvPr>
          <p:cNvSpPr txBox="1"/>
          <p:nvPr/>
        </p:nvSpPr>
        <p:spPr>
          <a:xfrm>
            <a:off x="6096000" y="3288432"/>
            <a:ext cx="5834743" cy="830997"/>
          </a:xfrm>
          <a:prstGeom prst="rect">
            <a:avLst/>
          </a:prstGeom>
          <a:noFill/>
        </p:spPr>
        <p:txBody>
          <a:bodyPr wrap="square">
            <a:spAutoFit/>
          </a:bodyPr>
          <a:lstStyle/>
          <a:p>
            <a:r>
              <a:rPr lang="zh-CN" altLang="en-US" sz="2400" dirty="0"/>
              <a:t>不给出大小如何做加减运算，</a:t>
            </a:r>
            <a:endParaRPr lang="en-US" altLang="zh-CN" sz="2400" dirty="0"/>
          </a:p>
          <a:p>
            <a:r>
              <a:rPr lang="zh-CN" altLang="en-US" sz="2400" dirty="0"/>
              <a:t>所有数组的大小在定义的时候都得被确定</a:t>
            </a:r>
          </a:p>
        </p:txBody>
      </p:sp>
      <p:pic>
        <p:nvPicPr>
          <p:cNvPr id="13" name="图片 12">
            <a:extLst>
              <a:ext uri="{FF2B5EF4-FFF2-40B4-BE49-F238E27FC236}">
                <a16:creationId xmlns:a16="http://schemas.microsoft.com/office/drawing/2014/main" id="{A554DD82-E2AC-39F3-5A4F-70ACA3601147}"/>
              </a:ext>
            </a:extLst>
          </p:cNvPr>
          <p:cNvPicPr>
            <a:picLocks noChangeAspect="1"/>
          </p:cNvPicPr>
          <p:nvPr/>
        </p:nvPicPr>
        <p:blipFill>
          <a:blip r:embed="rId4"/>
          <a:stretch>
            <a:fillRect/>
          </a:stretch>
        </p:blipFill>
        <p:spPr>
          <a:xfrm>
            <a:off x="6487040" y="4334859"/>
            <a:ext cx="4533933" cy="666755"/>
          </a:xfrm>
          <a:prstGeom prst="rect">
            <a:avLst/>
          </a:prstGeom>
        </p:spPr>
      </p:pic>
      <p:sp>
        <p:nvSpPr>
          <p:cNvPr id="14" name="文本框 13">
            <a:extLst>
              <a:ext uri="{FF2B5EF4-FFF2-40B4-BE49-F238E27FC236}">
                <a16:creationId xmlns:a16="http://schemas.microsoft.com/office/drawing/2014/main" id="{C14C2BEA-A0A8-E6F8-4108-6C7C7CC81E3C}"/>
              </a:ext>
            </a:extLst>
          </p:cNvPr>
          <p:cNvSpPr txBox="1"/>
          <p:nvPr/>
        </p:nvSpPr>
        <p:spPr>
          <a:xfrm>
            <a:off x="630500" y="308638"/>
            <a:ext cx="626541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多维数组</a:t>
            </a:r>
            <a:r>
              <a:rPr lang="en-US" altLang="zh-CN" dirty="0"/>
              <a:t>–</a:t>
            </a:r>
            <a:r>
              <a:rPr lang="zh-CN" altLang="en-US" dirty="0"/>
              <a:t>输出</a:t>
            </a:r>
          </a:p>
        </p:txBody>
      </p:sp>
    </p:spTree>
    <p:extLst>
      <p:ext uri="{BB962C8B-B14F-4D97-AF65-F5344CB8AC3E}">
        <p14:creationId xmlns:p14="http://schemas.microsoft.com/office/powerpoint/2010/main" val="4145851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par>
                                <p:cTn id="13" presetID="21" presetClass="entr" presetSubtype="1"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heel(1)">
                                      <p:cBhvr>
                                        <p:cTn id="1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6D6C38C-8D7E-DF4B-4439-60B30314F7FD}"/>
              </a:ext>
            </a:extLst>
          </p:cNvPr>
          <p:cNvSpPr txBox="1"/>
          <p:nvPr/>
        </p:nvSpPr>
        <p:spPr>
          <a:xfrm>
            <a:off x="239150" y="4315382"/>
            <a:ext cx="11581321" cy="1938992"/>
          </a:xfrm>
          <a:prstGeom prst="rect">
            <a:avLst/>
          </a:prstGeom>
          <a:noFill/>
        </p:spPr>
        <p:txBody>
          <a:bodyPr wrap="square">
            <a:spAutoFit/>
          </a:bodyPr>
          <a:lstStyle/>
          <a:p>
            <a:r>
              <a:rPr lang="zh-CN" altLang="en-US" sz="2400" dirty="0"/>
              <a:t>总结:指向数组首项的指针和数组名</a:t>
            </a:r>
            <a:r>
              <a:rPr lang="en-US" altLang="zh-CN" sz="2400" dirty="0"/>
              <a:t>(</a:t>
            </a:r>
            <a:r>
              <a:rPr lang="zh-CN" altLang="en-US" sz="2400" dirty="0"/>
              <a:t>指向数组的指针</a:t>
            </a:r>
            <a:r>
              <a:rPr lang="en-US" altLang="zh-CN" sz="2400" dirty="0"/>
              <a:t>)</a:t>
            </a:r>
            <a:r>
              <a:rPr lang="zh-CN" altLang="en-US" sz="2400" dirty="0"/>
              <a:t>的区别</a:t>
            </a:r>
            <a:endParaRPr lang="en-US" altLang="zh-CN" sz="2400" dirty="0"/>
          </a:p>
          <a:p>
            <a:r>
              <a:rPr lang="en-US" altLang="zh-CN" sz="2400" dirty="0"/>
              <a:t>	</a:t>
            </a:r>
            <a:r>
              <a:rPr lang="zh-CN" altLang="en-US" sz="2400" b="1" dirty="0"/>
              <a:t>数组名进行</a:t>
            </a:r>
            <a:r>
              <a:rPr lang="en-US" altLang="zh-CN" sz="2400" b="1" dirty="0" err="1"/>
              <a:t>sizeof</a:t>
            </a:r>
            <a:r>
              <a:rPr lang="zh-CN" altLang="en-US" sz="2400" b="1" dirty="0"/>
              <a:t>运算大小为整个数组</a:t>
            </a:r>
            <a:endParaRPr lang="en-US" altLang="zh-CN" sz="2400" b="1" dirty="0"/>
          </a:p>
          <a:p>
            <a:r>
              <a:rPr lang="en-US" altLang="zh-CN" sz="2400" dirty="0"/>
              <a:t>	</a:t>
            </a:r>
            <a:r>
              <a:rPr lang="zh-CN" altLang="en-US" sz="2400" dirty="0"/>
              <a:t>数组名进行</a:t>
            </a:r>
            <a:r>
              <a:rPr lang="en-US" altLang="zh-CN" sz="2400" dirty="0"/>
              <a:t>&amp;</a:t>
            </a:r>
            <a:r>
              <a:rPr lang="zh-CN" altLang="en-US" sz="2400" dirty="0"/>
              <a:t>运算与指向数组首项的指针不同：</a:t>
            </a:r>
            <a:endParaRPr lang="en-US" altLang="zh-CN" sz="2400" dirty="0"/>
          </a:p>
          <a:p>
            <a:r>
              <a:rPr lang="en-US" altLang="zh-CN" sz="2400" dirty="0"/>
              <a:t>		</a:t>
            </a:r>
            <a:r>
              <a:rPr lang="zh-CN" altLang="en-US" sz="2400" b="1" dirty="0"/>
              <a:t>数组名进行</a:t>
            </a:r>
            <a:r>
              <a:rPr lang="en-US" altLang="zh-CN" sz="2400" b="1" dirty="0"/>
              <a:t>&amp;</a:t>
            </a:r>
            <a:r>
              <a:rPr lang="zh-CN" altLang="en-US" sz="2400" b="1" dirty="0"/>
              <a:t>运算返回的是类型为数组，内容为首地址的指针</a:t>
            </a:r>
            <a:endParaRPr lang="en-US" altLang="zh-CN" sz="2400" b="1" dirty="0"/>
          </a:p>
          <a:p>
            <a:r>
              <a:rPr lang="zh-CN" altLang="en-US" sz="2400" dirty="0"/>
              <a:t>明确数组指针和指向数组首项的指针:   数组指针是指向数组名的指针，即</a:t>
            </a:r>
            <a:r>
              <a:rPr lang="zh-CN" altLang="en-US" sz="2400" b="1" dirty="0"/>
              <a:t>指针的指针</a:t>
            </a:r>
          </a:p>
        </p:txBody>
      </p:sp>
      <p:sp>
        <p:nvSpPr>
          <p:cNvPr id="3" name="文本框 2">
            <a:extLst>
              <a:ext uri="{FF2B5EF4-FFF2-40B4-BE49-F238E27FC236}">
                <a16:creationId xmlns:a16="http://schemas.microsoft.com/office/drawing/2014/main" id="{F78EF6B3-6B4B-296D-4A9E-DA51BFC8544C}"/>
              </a:ext>
            </a:extLst>
          </p:cNvPr>
          <p:cNvSpPr txBox="1"/>
          <p:nvPr/>
        </p:nvSpPr>
        <p:spPr>
          <a:xfrm>
            <a:off x="689097" y="308160"/>
            <a:ext cx="387798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多维数组元素访问</a:t>
            </a:r>
          </a:p>
        </p:txBody>
      </p:sp>
      <p:sp>
        <p:nvSpPr>
          <p:cNvPr id="5" name="文本框 4">
            <a:extLst>
              <a:ext uri="{FF2B5EF4-FFF2-40B4-BE49-F238E27FC236}">
                <a16:creationId xmlns:a16="http://schemas.microsoft.com/office/drawing/2014/main" id="{30CE4B2F-A2BD-B197-CB88-BB11A08538C0}"/>
              </a:ext>
            </a:extLst>
          </p:cNvPr>
          <p:cNvSpPr txBox="1"/>
          <p:nvPr/>
        </p:nvSpPr>
        <p:spPr>
          <a:xfrm>
            <a:off x="288387" y="971633"/>
            <a:ext cx="5548250" cy="3785652"/>
          </a:xfrm>
          <a:prstGeom prst="rect">
            <a:avLst/>
          </a:prstGeom>
          <a:noFill/>
        </p:spPr>
        <p:txBody>
          <a:bodyPr wrap="none" rtlCol="0">
            <a:spAutoFit/>
          </a:bodyPr>
          <a:lstStyle/>
          <a:p>
            <a:r>
              <a:rPr lang="en-US" altLang="zh-CN" sz="2400" dirty="0"/>
              <a:t>a</a:t>
            </a:r>
            <a:r>
              <a:rPr lang="zh-CN" altLang="en-US" sz="2400" dirty="0"/>
              <a:t>是什么？二维数组数组名</a:t>
            </a:r>
            <a:endParaRPr lang="en-US" altLang="zh-CN" sz="2400" dirty="0"/>
          </a:p>
          <a:p>
            <a:r>
              <a:rPr lang="en-US" altLang="zh-CN" sz="2400" dirty="0"/>
              <a:t>int a[2][5]; </a:t>
            </a:r>
            <a:r>
              <a:rPr lang="en-US" altLang="zh-CN" sz="2400" dirty="0" err="1"/>
              <a:t>sizeof</a:t>
            </a:r>
            <a:r>
              <a:rPr lang="en-US" altLang="zh-CN" sz="2400" dirty="0"/>
              <a:t>(a)</a:t>
            </a:r>
          </a:p>
          <a:p>
            <a:r>
              <a:rPr lang="en-US" altLang="zh-CN" sz="2400" dirty="0"/>
              <a:t>int (*p1)[5]=a;  p1++; </a:t>
            </a:r>
            <a:r>
              <a:rPr lang="en-US" altLang="zh-CN" sz="2400" dirty="0" err="1"/>
              <a:t>sizeof</a:t>
            </a:r>
            <a:r>
              <a:rPr lang="en-US" altLang="zh-CN" sz="2400" dirty="0"/>
              <a:t>(p1) </a:t>
            </a:r>
            <a:r>
              <a:rPr lang="en-US" altLang="zh-CN" sz="2400" dirty="0" err="1"/>
              <a:t>sizeof</a:t>
            </a:r>
            <a:r>
              <a:rPr lang="en-US" altLang="zh-CN" sz="2400" dirty="0"/>
              <a:t>(*p1)</a:t>
            </a:r>
          </a:p>
          <a:p>
            <a:r>
              <a:rPr lang="en-US" altLang="zh-CN" sz="2400" dirty="0"/>
              <a:t>int (*pp)[5]=a+1    int*p2=*(a+1)+1</a:t>
            </a:r>
          </a:p>
          <a:p>
            <a:r>
              <a:rPr lang="en-US" altLang="zh-CN" sz="2400" dirty="0"/>
              <a:t>int **p=a; p1++;  </a:t>
            </a:r>
            <a:r>
              <a:rPr lang="en-US" altLang="zh-CN" sz="2400" dirty="0" err="1"/>
              <a:t>sizeof</a:t>
            </a:r>
            <a:r>
              <a:rPr lang="en-US" altLang="zh-CN" sz="2400" dirty="0"/>
              <a:t>(p1)</a:t>
            </a:r>
          </a:p>
          <a:p>
            <a:r>
              <a:rPr lang="en-US" altLang="zh-CN" sz="2400" dirty="0"/>
              <a:t>&amp;a?           int(*p)[2][5]</a:t>
            </a:r>
          </a:p>
          <a:p>
            <a:r>
              <a:rPr lang="en-US" altLang="zh-CN" sz="2400" dirty="0"/>
              <a:t>a[0]</a:t>
            </a:r>
            <a:r>
              <a:rPr lang="zh-CN" altLang="en-US" sz="2400" dirty="0"/>
              <a:t>是什么</a:t>
            </a:r>
            <a:r>
              <a:rPr lang="en-US" altLang="zh-CN" sz="2400" dirty="0"/>
              <a:t>?</a:t>
            </a:r>
            <a:r>
              <a:rPr lang="zh-CN" altLang="en-US" sz="2400" dirty="0"/>
              <a:t>等效于一维数组数组名</a:t>
            </a:r>
            <a:endParaRPr lang="en-US" altLang="zh-CN" sz="2400" dirty="0"/>
          </a:p>
          <a:p>
            <a:r>
              <a:rPr lang="en-US" altLang="zh-CN" sz="2400" dirty="0"/>
              <a:t>int *p3=a[0];</a:t>
            </a:r>
          </a:p>
          <a:p>
            <a:r>
              <a:rPr lang="en-US" altLang="zh-CN" sz="2400" dirty="0"/>
              <a:t>int (*p4)=&amp;a[0]; </a:t>
            </a:r>
            <a:r>
              <a:rPr lang="en-US" altLang="zh-CN" sz="2400" dirty="0" err="1"/>
              <a:t>sizeof</a:t>
            </a:r>
            <a:r>
              <a:rPr lang="en-US" altLang="zh-CN" sz="2400" dirty="0"/>
              <a:t>(a[0]);</a:t>
            </a:r>
          </a:p>
          <a:p>
            <a:endParaRPr lang="en-US" altLang="zh-CN" sz="2400" dirty="0"/>
          </a:p>
        </p:txBody>
      </p:sp>
      <p:pic>
        <p:nvPicPr>
          <p:cNvPr id="6" name="图片 5">
            <a:extLst>
              <a:ext uri="{FF2B5EF4-FFF2-40B4-BE49-F238E27FC236}">
                <a16:creationId xmlns:a16="http://schemas.microsoft.com/office/drawing/2014/main" id="{CC06E5C1-9958-E9FE-523B-256CF0690CE3}"/>
              </a:ext>
            </a:extLst>
          </p:cNvPr>
          <p:cNvPicPr>
            <a:picLocks noChangeAspect="1"/>
          </p:cNvPicPr>
          <p:nvPr/>
        </p:nvPicPr>
        <p:blipFill>
          <a:blip r:embed="rId2"/>
          <a:stretch>
            <a:fillRect/>
          </a:stretch>
        </p:blipFill>
        <p:spPr>
          <a:xfrm>
            <a:off x="6442784" y="603626"/>
            <a:ext cx="5060119" cy="3225064"/>
          </a:xfrm>
          <a:prstGeom prst="rect">
            <a:avLst/>
          </a:prstGeom>
        </p:spPr>
      </p:pic>
    </p:spTree>
    <p:extLst>
      <p:ext uri="{BB962C8B-B14F-4D97-AF65-F5344CB8AC3E}">
        <p14:creationId xmlns:p14="http://schemas.microsoft.com/office/powerpoint/2010/main" val="1899382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8F07DA-4694-42B6-90E8-7BDC12EF6561}"/>
              </a:ext>
            </a:extLst>
          </p:cNvPr>
          <p:cNvSpPr txBox="1"/>
          <p:nvPr/>
        </p:nvSpPr>
        <p:spPr>
          <a:xfrm>
            <a:off x="631371" y="966410"/>
            <a:ext cx="8186857" cy="1200329"/>
          </a:xfrm>
          <a:prstGeom prst="rect">
            <a:avLst/>
          </a:prstGeom>
          <a:noFill/>
        </p:spPr>
        <p:txBody>
          <a:bodyPr wrap="none" rtlCol="0">
            <a:spAutoFit/>
          </a:bodyPr>
          <a:lstStyle/>
          <a:p>
            <a:r>
              <a:rPr lang="zh-CN" altLang="en-US" sz="2400" dirty="0"/>
              <a:t>二维字符串数组和指针数组都可以处理多个字符串</a:t>
            </a:r>
            <a:endParaRPr lang="en-US" altLang="zh-CN" sz="2400" dirty="0"/>
          </a:p>
          <a:p>
            <a:r>
              <a:rPr lang="zh-CN" altLang="en-US" sz="2400" dirty="0"/>
              <a:t>但用二维字符串处理，每一个字符串长度都固定，浪费空间</a:t>
            </a:r>
            <a:endParaRPr lang="en-US" altLang="zh-CN" sz="2400" dirty="0"/>
          </a:p>
          <a:p>
            <a:r>
              <a:rPr lang="zh-CN" altLang="en-US" sz="2400" dirty="0"/>
              <a:t>我现在要根据每个字符串长度动态分配空间，我该怎么办？</a:t>
            </a:r>
            <a:endParaRPr lang="en-US" altLang="zh-CN" sz="2400" dirty="0"/>
          </a:p>
        </p:txBody>
      </p:sp>
      <p:pic>
        <p:nvPicPr>
          <p:cNvPr id="3" name="图片 2">
            <a:extLst>
              <a:ext uri="{FF2B5EF4-FFF2-40B4-BE49-F238E27FC236}">
                <a16:creationId xmlns:a16="http://schemas.microsoft.com/office/drawing/2014/main" id="{733E4724-4976-D12A-A6C7-69A872E4E6C0}"/>
              </a:ext>
            </a:extLst>
          </p:cNvPr>
          <p:cNvPicPr>
            <a:picLocks noChangeAspect="1"/>
          </p:cNvPicPr>
          <p:nvPr/>
        </p:nvPicPr>
        <p:blipFill>
          <a:blip r:embed="rId2"/>
          <a:stretch>
            <a:fillRect/>
          </a:stretch>
        </p:blipFill>
        <p:spPr>
          <a:xfrm>
            <a:off x="1483857" y="3673168"/>
            <a:ext cx="3755958" cy="2203909"/>
          </a:xfrm>
          <a:prstGeom prst="rect">
            <a:avLst/>
          </a:prstGeom>
        </p:spPr>
      </p:pic>
      <p:sp>
        <p:nvSpPr>
          <p:cNvPr id="4" name="文本框 3">
            <a:extLst>
              <a:ext uri="{FF2B5EF4-FFF2-40B4-BE49-F238E27FC236}">
                <a16:creationId xmlns:a16="http://schemas.microsoft.com/office/drawing/2014/main" id="{62396EEE-7D0F-7385-A291-5B96DA4AD207}"/>
              </a:ext>
            </a:extLst>
          </p:cNvPr>
          <p:cNvSpPr txBox="1"/>
          <p:nvPr/>
        </p:nvSpPr>
        <p:spPr>
          <a:xfrm>
            <a:off x="5878009" y="4071258"/>
            <a:ext cx="646331" cy="369332"/>
          </a:xfrm>
          <a:prstGeom prst="rect">
            <a:avLst/>
          </a:prstGeom>
          <a:noFill/>
        </p:spPr>
        <p:txBody>
          <a:bodyPr wrap="none" rtlCol="0">
            <a:spAutoFit/>
          </a:bodyPr>
          <a:lstStyle/>
          <a:p>
            <a:r>
              <a:rPr lang="zh-CN" altLang="en-US" dirty="0"/>
              <a:t>定义</a:t>
            </a:r>
          </a:p>
        </p:txBody>
      </p:sp>
      <p:pic>
        <p:nvPicPr>
          <p:cNvPr id="5" name="图片 4">
            <a:extLst>
              <a:ext uri="{FF2B5EF4-FFF2-40B4-BE49-F238E27FC236}">
                <a16:creationId xmlns:a16="http://schemas.microsoft.com/office/drawing/2014/main" id="{A8FFE956-6361-FFE6-B7E3-5A598116180C}"/>
              </a:ext>
            </a:extLst>
          </p:cNvPr>
          <p:cNvPicPr>
            <a:picLocks noChangeAspect="1"/>
          </p:cNvPicPr>
          <p:nvPr/>
        </p:nvPicPr>
        <p:blipFill>
          <a:blip r:embed="rId3"/>
          <a:stretch>
            <a:fillRect/>
          </a:stretch>
        </p:blipFill>
        <p:spPr>
          <a:xfrm>
            <a:off x="8380348" y="584706"/>
            <a:ext cx="3564909" cy="2668991"/>
          </a:xfrm>
          <a:prstGeom prst="rect">
            <a:avLst/>
          </a:prstGeom>
        </p:spPr>
      </p:pic>
      <p:sp>
        <p:nvSpPr>
          <p:cNvPr id="7" name="文本框 6">
            <a:extLst>
              <a:ext uri="{FF2B5EF4-FFF2-40B4-BE49-F238E27FC236}">
                <a16:creationId xmlns:a16="http://schemas.microsoft.com/office/drawing/2014/main" id="{D02FF91F-AB51-9EF4-83C1-AC1C11514FB8}"/>
              </a:ext>
            </a:extLst>
          </p:cNvPr>
          <p:cNvSpPr txBox="1"/>
          <p:nvPr/>
        </p:nvSpPr>
        <p:spPr>
          <a:xfrm>
            <a:off x="631371" y="2103508"/>
            <a:ext cx="6096000" cy="1569660"/>
          </a:xfrm>
          <a:prstGeom prst="rect">
            <a:avLst/>
          </a:prstGeom>
          <a:noFill/>
        </p:spPr>
        <p:txBody>
          <a:bodyPr wrap="square">
            <a:spAutoFit/>
          </a:bodyPr>
          <a:lstStyle/>
          <a:p>
            <a:r>
              <a:rPr lang="en-US" altLang="zh-CN" sz="2400" dirty="0"/>
              <a:t>-&gt;</a:t>
            </a:r>
            <a:r>
              <a:rPr lang="zh-CN" altLang="en-US" sz="2400" dirty="0"/>
              <a:t>指针数组</a:t>
            </a:r>
            <a:endParaRPr lang="en-US" altLang="zh-CN" sz="2400" dirty="0"/>
          </a:p>
          <a:p>
            <a:r>
              <a:rPr lang="zh-CN" altLang="en-US" sz="2400" dirty="0"/>
              <a:t>当然指针数组在处理字符串上还有很多优于二维字符串数组的地方，</a:t>
            </a:r>
            <a:endParaRPr lang="en-US" altLang="zh-CN" sz="2400" dirty="0"/>
          </a:p>
          <a:p>
            <a:r>
              <a:rPr lang="zh-CN" altLang="en-US" sz="2400" dirty="0"/>
              <a:t>下面以字符串排序输出为例，比较二者区别</a:t>
            </a:r>
          </a:p>
        </p:txBody>
      </p:sp>
      <p:sp>
        <p:nvSpPr>
          <p:cNvPr id="6" name="文本框 5">
            <a:extLst>
              <a:ext uri="{FF2B5EF4-FFF2-40B4-BE49-F238E27FC236}">
                <a16:creationId xmlns:a16="http://schemas.microsoft.com/office/drawing/2014/main" id="{58830A1B-674D-82B1-8896-320F9E760549}"/>
              </a:ext>
            </a:extLst>
          </p:cNvPr>
          <p:cNvSpPr txBox="1"/>
          <p:nvPr/>
        </p:nvSpPr>
        <p:spPr>
          <a:xfrm>
            <a:off x="711918" y="375479"/>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指针数组</a:t>
            </a:r>
          </a:p>
        </p:txBody>
      </p:sp>
    </p:spTree>
    <p:extLst>
      <p:ext uri="{BB962C8B-B14F-4D97-AF65-F5344CB8AC3E}">
        <p14:creationId xmlns:p14="http://schemas.microsoft.com/office/powerpoint/2010/main" val="30684102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par>
                                <p:cTn id="20" presetID="14" presetClass="entr" presetSubtype="10" fill="hold" nodeType="with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randombar(horizontal)">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3CE8CDD-E784-C0EE-388D-21A0EAE8808D}"/>
              </a:ext>
            </a:extLst>
          </p:cNvPr>
          <p:cNvPicPr>
            <a:picLocks noChangeAspect="1"/>
          </p:cNvPicPr>
          <p:nvPr/>
        </p:nvPicPr>
        <p:blipFill>
          <a:blip r:embed="rId2"/>
          <a:stretch>
            <a:fillRect/>
          </a:stretch>
        </p:blipFill>
        <p:spPr>
          <a:xfrm>
            <a:off x="215425" y="889520"/>
            <a:ext cx="6301489" cy="5156755"/>
          </a:xfrm>
          <a:prstGeom prst="rect">
            <a:avLst/>
          </a:prstGeom>
        </p:spPr>
      </p:pic>
      <p:pic>
        <p:nvPicPr>
          <p:cNvPr id="3" name="图片 2">
            <a:extLst>
              <a:ext uri="{FF2B5EF4-FFF2-40B4-BE49-F238E27FC236}">
                <a16:creationId xmlns:a16="http://schemas.microsoft.com/office/drawing/2014/main" id="{D1FEA136-4123-6A9E-193F-936F0131DA85}"/>
              </a:ext>
            </a:extLst>
          </p:cNvPr>
          <p:cNvPicPr>
            <a:picLocks noChangeAspect="1"/>
          </p:cNvPicPr>
          <p:nvPr/>
        </p:nvPicPr>
        <p:blipFill>
          <a:blip r:embed="rId3"/>
          <a:stretch>
            <a:fillRect/>
          </a:stretch>
        </p:blipFill>
        <p:spPr>
          <a:xfrm>
            <a:off x="6947567" y="966326"/>
            <a:ext cx="4809004" cy="2385765"/>
          </a:xfrm>
          <a:prstGeom prst="rect">
            <a:avLst/>
          </a:prstGeom>
        </p:spPr>
      </p:pic>
      <p:sp>
        <p:nvSpPr>
          <p:cNvPr id="4" name="文本框 3">
            <a:extLst>
              <a:ext uri="{FF2B5EF4-FFF2-40B4-BE49-F238E27FC236}">
                <a16:creationId xmlns:a16="http://schemas.microsoft.com/office/drawing/2014/main" id="{E16E453C-E4B4-F170-1726-97A65B8A8E40}"/>
              </a:ext>
            </a:extLst>
          </p:cNvPr>
          <p:cNvSpPr txBox="1"/>
          <p:nvPr/>
        </p:nvSpPr>
        <p:spPr>
          <a:xfrm>
            <a:off x="628255" y="241980"/>
            <a:ext cx="8032968"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指针数组和二维字符串数组的输入输出</a:t>
            </a:r>
          </a:p>
        </p:txBody>
      </p:sp>
      <p:sp>
        <p:nvSpPr>
          <p:cNvPr id="5" name="文本框 4">
            <a:extLst>
              <a:ext uri="{FF2B5EF4-FFF2-40B4-BE49-F238E27FC236}">
                <a16:creationId xmlns:a16="http://schemas.microsoft.com/office/drawing/2014/main" id="{9555A416-EDCA-227E-EDC9-116FA3C35E41}"/>
              </a:ext>
            </a:extLst>
          </p:cNvPr>
          <p:cNvSpPr txBox="1"/>
          <p:nvPr/>
        </p:nvSpPr>
        <p:spPr>
          <a:xfrm>
            <a:off x="6727371" y="3780971"/>
            <a:ext cx="5109091" cy="830997"/>
          </a:xfrm>
          <a:prstGeom prst="rect">
            <a:avLst/>
          </a:prstGeom>
          <a:noFill/>
        </p:spPr>
        <p:txBody>
          <a:bodyPr wrap="none" rtlCol="0">
            <a:spAutoFit/>
          </a:bodyPr>
          <a:lstStyle/>
          <a:p>
            <a:r>
              <a:rPr lang="zh-CN" altLang="en-US" sz="2400" dirty="0"/>
              <a:t>提示①</a:t>
            </a:r>
            <a:r>
              <a:rPr lang="en-US" altLang="zh-CN" sz="2400" dirty="0"/>
              <a:t>:</a:t>
            </a:r>
          </a:p>
          <a:p>
            <a:r>
              <a:rPr lang="zh-CN" altLang="en-US" sz="2400" dirty="0"/>
              <a:t>如何处理烦人的多余的空格和回车？</a:t>
            </a:r>
          </a:p>
        </p:txBody>
      </p:sp>
    </p:spTree>
    <p:extLst>
      <p:ext uri="{BB962C8B-B14F-4D97-AF65-F5344CB8AC3E}">
        <p14:creationId xmlns:p14="http://schemas.microsoft.com/office/powerpoint/2010/main" val="28062445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B041408-34BE-A69E-CE51-3D7C7606D829}"/>
              </a:ext>
            </a:extLst>
          </p:cNvPr>
          <p:cNvPicPr>
            <a:picLocks noChangeAspect="1"/>
          </p:cNvPicPr>
          <p:nvPr/>
        </p:nvPicPr>
        <p:blipFill>
          <a:blip r:embed="rId2"/>
          <a:stretch>
            <a:fillRect/>
          </a:stretch>
        </p:blipFill>
        <p:spPr>
          <a:xfrm>
            <a:off x="568076" y="1010545"/>
            <a:ext cx="6048419" cy="3124223"/>
          </a:xfrm>
          <a:prstGeom prst="rect">
            <a:avLst/>
          </a:prstGeom>
        </p:spPr>
      </p:pic>
      <p:pic>
        <p:nvPicPr>
          <p:cNvPr id="3" name="图片 2">
            <a:extLst>
              <a:ext uri="{FF2B5EF4-FFF2-40B4-BE49-F238E27FC236}">
                <a16:creationId xmlns:a16="http://schemas.microsoft.com/office/drawing/2014/main" id="{C7D229D8-940C-332A-2155-392008E20799}"/>
              </a:ext>
            </a:extLst>
          </p:cNvPr>
          <p:cNvPicPr>
            <a:picLocks noChangeAspect="1"/>
          </p:cNvPicPr>
          <p:nvPr/>
        </p:nvPicPr>
        <p:blipFill>
          <a:blip r:embed="rId3"/>
          <a:stretch>
            <a:fillRect/>
          </a:stretch>
        </p:blipFill>
        <p:spPr>
          <a:xfrm>
            <a:off x="6880439" y="1094004"/>
            <a:ext cx="4743485" cy="2667019"/>
          </a:xfrm>
          <a:prstGeom prst="rect">
            <a:avLst/>
          </a:prstGeom>
        </p:spPr>
      </p:pic>
      <p:pic>
        <p:nvPicPr>
          <p:cNvPr id="5" name="图片 4">
            <a:extLst>
              <a:ext uri="{FF2B5EF4-FFF2-40B4-BE49-F238E27FC236}">
                <a16:creationId xmlns:a16="http://schemas.microsoft.com/office/drawing/2014/main" id="{9388037B-26D2-A964-D712-28FBD1933476}"/>
              </a:ext>
            </a:extLst>
          </p:cNvPr>
          <p:cNvPicPr>
            <a:picLocks noChangeAspect="1"/>
          </p:cNvPicPr>
          <p:nvPr/>
        </p:nvPicPr>
        <p:blipFill rotWithShape="1">
          <a:blip r:embed="rId4">
            <a:extLst>
              <a:ext uri="{28A0092B-C50C-407E-A947-70E740481C1C}">
                <a14:useLocalDpi xmlns:a14="http://schemas.microsoft.com/office/drawing/2010/main" val="0"/>
              </a:ext>
            </a:extLst>
          </a:blip>
          <a:srcRect l="10418" t="7369" r="30403" b="27528"/>
          <a:stretch>
            <a:fillRect/>
          </a:stretch>
        </p:blipFill>
        <p:spPr>
          <a:xfrm>
            <a:off x="7681891" y="3843795"/>
            <a:ext cx="4041560" cy="2483528"/>
          </a:xfrm>
          <a:prstGeom prst="rect">
            <a:avLst/>
          </a:prstGeom>
        </p:spPr>
      </p:pic>
      <p:pic>
        <p:nvPicPr>
          <p:cNvPr id="1038" name="Picture 14">
            <a:extLst>
              <a:ext uri="{FF2B5EF4-FFF2-40B4-BE49-F238E27FC236}">
                <a16:creationId xmlns:a16="http://schemas.microsoft.com/office/drawing/2014/main" id="{F3A66A24-6D2A-DF63-ADC7-305A6483E7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7178" y="4134768"/>
            <a:ext cx="5403804" cy="165245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C8BC2064-67C7-4E95-E83D-BA992EDF9853}"/>
              </a:ext>
            </a:extLst>
          </p:cNvPr>
          <p:cNvSpPr txBox="1"/>
          <p:nvPr/>
        </p:nvSpPr>
        <p:spPr>
          <a:xfrm>
            <a:off x="629424" y="334787"/>
            <a:ext cx="5724644"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二维字符串数组的排序算法</a:t>
            </a:r>
          </a:p>
        </p:txBody>
      </p:sp>
    </p:spTree>
    <p:extLst>
      <p:ext uri="{BB962C8B-B14F-4D97-AF65-F5344CB8AC3E}">
        <p14:creationId xmlns:p14="http://schemas.microsoft.com/office/powerpoint/2010/main" val="1279683279"/>
      </p:ext>
    </p:extLst>
  </p:cSld>
  <p:clrMapOvr>
    <a:masterClrMapping/>
  </p:clrMapOvr>
  <p:transition spd="slow">
    <p:push di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207AABC-7D62-30F4-70C8-028F67F718D5}"/>
              </a:ext>
            </a:extLst>
          </p:cNvPr>
          <p:cNvPicPr>
            <a:picLocks noChangeAspect="1"/>
          </p:cNvPicPr>
          <p:nvPr/>
        </p:nvPicPr>
        <p:blipFill>
          <a:blip r:embed="rId2"/>
          <a:stretch>
            <a:fillRect/>
          </a:stretch>
        </p:blipFill>
        <p:spPr>
          <a:xfrm>
            <a:off x="963370" y="1360251"/>
            <a:ext cx="4343432" cy="2686070"/>
          </a:xfrm>
          <a:prstGeom prst="rect">
            <a:avLst/>
          </a:prstGeom>
        </p:spPr>
      </p:pic>
      <p:pic>
        <p:nvPicPr>
          <p:cNvPr id="4" name="图片 3">
            <a:extLst>
              <a:ext uri="{FF2B5EF4-FFF2-40B4-BE49-F238E27FC236}">
                <a16:creationId xmlns:a16="http://schemas.microsoft.com/office/drawing/2014/main" id="{CC7F8A33-9558-445C-0348-6F1C00D54EBA}"/>
              </a:ext>
            </a:extLst>
          </p:cNvPr>
          <p:cNvPicPr>
            <a:picLocks noChangeAspect="1"/>
          </p:cNvPicPr>
          <p:nvPr/>
        </p:nvPicPr>
        <p:blipFill>
          <a:blip r:embed="rId3"/>
          <a:stretch>
            <a:fillRect/>
          </a:stretch>
        </p:blipFill>
        <p:spPr>
          <a:xfrm>
            <a:off x="6373552" y="1296980"/>
            <a:ext cx="4838735" cy="2028840"/>
          </a:xfrm>
          <a:prstGeom prst="rect">
            <a:avLst/>
          </a:prstGeom>
        </p:spPr>
      </p:pic>
      <p:pic>
        <p:nvPicPr>
          <p:cNvPr id="5" name="图片 4">
            <a:extLst>
              <a:ext uri="{FF2B5EF4-FFF2-40B4-BE49-F238E27FC236}">
                <a16:creationId xmlns:a16="http://schemas.microsoft.com/office/drawing/2014/main" id="{F854AF44-2ADD-8808-FC20-9C650401BA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76227" y="4324681"/>
            <a:ext cx="4121266" cy="1792952"/>
          </a:xfrm>
          <a:prstGeom prst="rect">
            <a:avLst/>
          </a:prstGeom>
        </p:spPr>
      </p:pic>
      <p:pic>
        <p:nvPicPr>
          <p:cNvPr id="1026" name="Picture 2" descr="动图">
            <a:extLst>
              <a:ext uri="{FF2B5EF4-FFF2-40B4-BE49-F238E27FC236}">
                <a16:creationId xmlns:a16="http://schemas.microsoft.com/office/drawing/2014/main" id="{424C76AA-57BA-654E-5684-A8ED0C0FB1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9836" y="3786798"/>
            <a:ext cx="3470502" cy="216104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4C30631A-1D6F-5210-3F23-6CA35064721D}"/>
              </a:ext>
            </a:extLst>
          </p:cNvPr>
          <p:cNvSpPr txBox="1"/>
          <p:nvPr/>
        </p:nvSpPr>
        <p:spPr>
          <a:xfrm>
            <a:off x="625267" y="301676"/>
            <a:ext cx="8956298"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二维字符串数组和指针数组的排序算法比较</a:t>
            </a:r>
          </a:p>
        </p:txBody>
      </p:sp>
    </p:spTree>
    <p:extLst>
      <p:ext uri="{BB962C8B-B14F-4D97-AF65-F5344CB8AC3E}">
        <p14:creationId xmlns:p14="http://schemas.microsoft.com/office/powerpoint/2010/main" val="2555558802"/>
      </p:ext>
    </p:extLst>
  </p:cSld>
  <p:clrMapOvr>
    <a:masterClrMapping/>
  </p:clrMapOvr>
  <p:transition spd="slow">
    <p:push di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8E1023C-A82D-E156-C718-E0BECEEEB7EC}"/>
              </a:ext>
            </a:extLst>
          </p:cNvPr>
          <p:cNvPicPr>
            <a:picLocks noChangeAspect="1"/>
          </p:cNvPicPr>
          <p:nvPr/>
        </p:nvPicPr>
        <p:blipFill>
          <a:blip r:embed="rId2"/>
          <a:stretch>
            <a:fillRect/>
          </a:stretch>
        </p:blipFill>
        <p:spPr>
          <a:xfrm>
            <a:off x="48985" y="974271"/>
            <a:ext cx="11565378" cy="5190693"/>
          </a:xfrm>
          <a:prstGeom prst="rect">
            <a:avLst/>
          </a:prstGeom>
        </p:spPr>
      </p:pic>
      <p:sp>
        <p:nvSpPr>
          <p:cNvPr id="5" name="矩形 4">
            <a:extLst>
              <a:ext uri="{FF2B5EF4-FFF2-40B4-BE49-F238E27FC236}">
                <a16:creationId xmlns:a16="http://schemas.microsoft.com/office/drawing/2014/main" id="{F3807437-F791-D487-9EEC-E7DA33C3937C}"/>
              </a:ext>
            </a:extLst>
          </p:cNvPr>
          <p:cNvSpPr/>
          <p:nvPr/>
        </p:nvSpPr>
        <p:spPr>
          <a:xfrm>
            <a:off x="4022271" y="3864429"/>
            <a:ext cx="2198915" cy="28847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8CE70DE-EEC8-45DC-CC05-C5B699A39D34}"/>
              </a:ext>
            </a:extLst>
          </p:cNvPr>
          <p:cNvSpPr/>
          <p:nvPr/>
        </p:nvSpPr>
        <p:spPr>
          <a:xfrm>
            <a:off x="6275615" y="3864429"/>
            <a:ext cx="1153886" cy="28847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A0849E7-A620-2F99-D81F-B0015ECDE282}"/>
              </a:ext>
            </a:extLst>
          </p:cNvPr>
          <p:cNvSpPr/>
          <p:nvPr/>
        </p:nvSpPr>
        <p:spPr>
          <a:xfrm>
            <a:off x="4920343" y="4588329"/>
            <a:ext cx="1300843" cy="28847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B30F15B-8CF2-BD87-647E-AC030B6DA1A3}"/>
              </a:ext>
            </a:extLst>
          </p:cNvPr>
          <p:cNvSpPr txBox="1"/>
          <p:nvPr/>
        </p:nvSpPr>
        <p:spPr>
          <a:xfrm>
            <a:off x="636814" y="375557"/>
            <a:ext cx="6744154" cy="369332"/>
          </a:xfrm>
          <a:prstGeom prst="rect">
            <a:avLst/>
          </a:prstGeom>
          <a:noFill/>
        </p:spPr>
        <p:txBody>
          <a:bodyPr wrap="none" rtlCol="0">
            <a:spAutoFit/>
          </a:bodyPr>
          <a:lstStyle/>
          <a:p>
            <a:r>
              <a:rPr lang="zh-CN" altLang="en-US" b="1" dirty="0"/>
              <a:t>听不懂，没关系</a:t>
            </a:r>
            <a:r>
              <a:rPr lang="en-US" altLang="zh-CN" dirty="0"/>
              <a:t>~~~    </a:t>
            </a:r>
            <a:r>
              <a:rPr lang="zh-CN" altLang="en-US" dirty="0"/>
              <a:t>是不是很暖心，我听到了你们的欢呼！！！</a:t>
            </a:r>
          </a:p>
        </p:txBody>
      </p:sp>
      <p:sp>
        <p:nvSpPr>
          <p:cNvPr id="9" name="矩形 8">
            <a:extLst>
              <a:ext uri="{FF2B5EF4-FFF2-40B4-BE49-F238E27FC236}">
                <a16:creationId xmlns:a16="http://schemas.microsoft.com/office/drawing/2014/main" id="{1E595B0E-E489-2D0E-13FE-F3F055EF898E}"/>
              </a:ext>
            </a:extLst>
          </p:cNvPr>
          <p:cNvSpPr/>
          <p:nvPr/>
        </p:nvSpPr>
        <p:spPr>
          <a:xfrm>
            <a:off x="707572" y="987878"/>
            <a:ext cx="1807028" cy="28847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38264298"/>
      </p:ext>
    </p:extLst>
  </p:cSld>
  <p:clrMapOvr>
    <a:masterClrMapping/>
  </p:clrMapOvr>
  <p:transition spd="slow">
    <p:push dir="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DE84D1-590B-DD88-04F8-2A0CCB6DC7E4}"/>
              </a:ext>
            </a:extLst>
          </p:cNvPr>
          <p:cNvSpPr txBox="1"/>
          <p:nvPr/>
        </p:nvSpPr>
        <p:spPr>
          <a:xfrm>
            <a:off x="674348" y="280694"/>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历年真题</a:t>
            </a:r>
          </a:p>
        </p:txBody>
      </p:sp>
      <p:sp>
        <p:nvSpPr>
          <p:cNvPr id="3" name="文本框 2">
            <a:extLst>
              <a:ext uri="{FF2B5EF4-FFF2-40B4-BE49-F238E27FC236}">
                <a16:creationId xmlns:a16="http://schemas.microsoft.com/office/drawing/2014/main" id="{1A1D758F-03A4-8E05-9AC5-66ADFFB8CF48}"/>
              </a:ext>
            </a:extLst>
          </p:cNvPr>
          <p:cNvSpPr txBox="1"/>
          <p:nvPr/>
        </p:nvSpPr>
        <p:spPr>
          <a:xfrm>
            <a:off x="371356" y="1090067"/>
            <a:ext cx="5724644" cy="923330"/>
          </a:xfrm>
          <a:prstGeom prst="rect">
            <a:avLst/>
          </a:prstGeom>
          <a:noFill/>
        </p:spPr>
        <p:txBody>
          <a:bodyPr wrap="none" rtlCol="0">
            <a:spAutoFit/>
          </a:bodyPr>
          <a:lstStyle/>
          <a:p>
            <a:r>
              <a:rPr lang="zh-CN" altLang="en-US" dirty="0"/>
              <a:t>若用数组名作为函数调用时的实参，则传递给形参的是</a:t>
            </a:r>
            <a:endParaRPr lang="en-US" altLang="zh-CN" dirty="0"/>
          </a:p>
          <a:p>
            <a:r>
              <a:rPr lang="en-US" altLang="zh-CN" dirty="0"/>
              <a:t>A)</a:t>
            </a:r>
            <a:r>
              <a:rPr lang="zh-CN" altLang="en-US" dirty="0"/>
              <a:t>数组首地址   </a:t>
            </a:r>
            <a:r>
              <a:rPr lang="en-US" altLang="zh-CN" dirty="0"/>
              <a:t>B)</a:t>
            </a:r>
            <a:r>
              <a:rPr lang="zh-CN" altLang="en-US" dirty="0"/>
              <a:t>数组的第一个元素值</a:t>
            </a:r>
            <a:endParaRPr lang="en-US" altLang="zh-CN" dirty="0"/>
          </a:p>
          <a:p>
            <a:r>
              <a:rPr lang="en-US" altLang="zh-CN" dirty="0"/>
              <a:t>C)</a:t>
            </a:r>
            <a:r>
              <a:rPr lang="zh-CN" altLang="en-US" dirty="0"/>
              <a:t>数组中全部元素的值  </a:t>
            </a:r>
            <a:r>
              <a:rPr lang="en-US" altLang="zh-CN" dirty="0"/>
              <a:t>D)</a:t>
            </a:r>
            <a:r>
              <a:rPr lang="zh-CN" altLang="en-US" dirty="0"/>
              <a:t>数组元素的个数</a:t>
            </a:r>
          </a:p>
        </p:txBody>
      </p:sp>
      <p:sp>
        <p:nvSpPr>
          <p:cNvPr id="5" name="文本框 4">
            <a:extLst>
              <a:ext uri="{FF2B5EF4-FFF2-40B4-BE49-F238E27FC236}">
                <a16:creationId xmlns:a16="http://schemas.microsoft.com/office/drawing/2014/main" id="{E01776E1-C2C3-2653-9520-F636FA352142}"/>
              </a:ext>
            </a:extLst>
          </p:cNvPr>
          <p:cNvSpPr txBox="1"/>
          <p:nvPr/>
        </p:nvSpPr>
        <p:spPr>
          <a:xfrm>
            <a:off x="6410654" y="1019219"/>
            <a:ext cx="4378122" cy="2862322"/>
          </a:xfrm>
          <a:prstGeom prst="rect">
            <a:avLst/>
          </a:prstGeom>
          <a:noFill/>
        </p:spPr>
        <p:txBody>
          <a:bodyPr wrap="none" rtlCol="0">
            <a:spAutoFit/>
          </a:bodyPr>
          <a:lstStyle/>
          <a:p>
            <a:r>
              <a:rPr lang="zh-CN" altLang="en-US" dirty="0"/>
              <a:t>若有说明：</a:t>
            </a:r>
            <a:r>
              <a:rPr lang="en-US" altLang="zh-CN" dirty="0"/>
              <a:t>int a[4][10]</a:t>
            </a:r>
            <a:r>
              <a:rPr lang="zh-CN" altLang="en-US" dirty="0"/>
              <a:t>，</a:t>
            </a:r>
            <a:endParaRPr lang="en-US" altLang="zh-CN" dirty="0"/>
          </a:p>
          <a:p>
            <a:r>
              <a:rPr lang="zh-CN" altLang="en-US" dirty="0"/>
              <a:t>如果</a:t>
            </a:r>
            <a:r>
              <a:rPr lang="en-US" altLang="zh-CN" dirty="0" err="1"/>
              <a:t>i</a:t>
            </a:r>
            <a:r>
              <a:rPr lang="zh-CN" altLang="en-US" dirty="0"/>
              <a:t>、</a:t>
            </a:r>
            <a:r>
              <a:rPr lang="en-US" altLang="zh-CN" dirty="0"/>
              <a:t>j </a:t>
            </a:r>
            <a:r>
              <a:rPr lang="zh-CN" altLang="en-US" dirty="0"/>
              <a:t>可能的取值范围</a:t>
            </a:r>
            <a:endParaRPr lang="en-US" altLang="zh-CN" dirty="0"/>
          </a:p>
          <a:p>
            <a:r>
              <a:rPr lang="zh-CN" altLang="en-US" dirty="0"/>
              <a:t>是</a:t>
            </a:r>
            <a:r>
              <a:rPr lang="en-US" altLang="zh-CN" dirty="0"/>
              <a:t>0&lt;=</a:t>
            </a:r>
            <a:r>
              <a:rPr lang="en-US" altLang="zh-CN" dirty="0" err="1"/>
              <a:t>i</a:t>
            </a:r>
            <a:r>
              <a:rPr lang="en-US" altLang="zh-CN" dirty="0"/>
              <a:t>&lt;4, 0&lt;=j&lt;10</a:t>
            </a:r>
            <a:r>
              <a:rPr lang="zh-CN" altLang="en-US" dirty="0"/>
              <a:t>，</a:t>
            </a:r>
            <a:endParaRPr lang="en-US" altLang="zh-CN" dirty="0"/>
          </a:p>
          <a:p>
            <a:r>
              <a:rPr lang="zh-CN" altLang="en-US" dirty="0"/>
              <a:t>则对数组元素</a:t>
            </a:r>
            <a:r>
              <a:rPr lang="en-US" altLang="zh-CN" dirty="0"/>
              <a:t>a[</a:t>
            </a:r>
            <a:r>
              <a:rPr lang="en-US" altLang="zh-CN" dirty="0" err="1"/>
              <a:t>i</a:t>
            </a:r>
            <a:r>
              <a:rPr lang="en-US" altLang="zh-CN" dirty="0"/>
              <a:t>][j]</a:t>
            </a:r>
            <a:r>
              <a:rPr lang="zh-CN" altLang="en-US" dirty="0"/>
              <a:t>引用错误的是</a:t>
            </a:r>
            <a:r>
              <a:rPr lang="en-US" altLang="zh-CN" dirty="0"/>
              <a:t>______</a:t>
            </a:r>
            <a:r>
              <a:rPr lang="zh-CN" altLang="en-US" dirty="0"/>
              <a:t>。</a:t>
            </a:r>
            <a:endParaRPr lang="en-US" altLang="zh-CN" dirty="0"/>
          </a:p>
          <a:p>
            <a:pPr marL="342900" indent="-342900">
              <a:buAutoNum type="alphaUcParenR"/>
            </a:pPr>
            <a:r>
              <a:rPr lang="en-US" altLang="zh-CN" dirty="0"/>
              <a:t>*(&amp;a[0][0]+10*</a:t>
            </a:r>
            <a:r>
              <a:rPr lang="en-US" altLang="zh-CN" dirty="0" err="1"/>
              <a:t>i+j</a:t>
            </a:r>
            <a:r>
              <a:rPr lang="en-US" altLang="zh-CN" dirty="0"/>
              <a:t>)</a:t>
            </a:r>
          </a:p>
          <a:p>
            <a:r>
              <a:rPr lang="en-US" altLang="zh-CN" dirty="0"/>
              <a:t>B) *(</a:t>
            </a:r>
            <a:r>
              <a:rPr lang="en-US" altLang="zh-CN" dirty="0" err="1"/>
              <a:t>a+i</a:t>
            </a:r>
            <a:r>
              <a:rPr lang="en-US" altLang="zh-CN" dirty="0"/>
              <a:t>)[j]</a:t>
            </a:r>
          </a:p>
          <a:p>
            <a:r>
              <a:rPr lang="en-US" altLang="zh-CN" dirty="0"/>
              <a:t>C) *(*(</a:t>
            </a:r>
            <a:r>
              <a:rPr lang="en-US" altLang="zh-CN" dirty="0" err="1"/>
              <a:t>a+i</a:t>
            </a:r>
            <a:r>
              <a:rPr lang="en-US" altLang="zh-CN" dirty="0"/>
              <a:t>)+j)</a:t>
            </a:r>
          </a:p>
          <a:p>
            <a:r>
              <a:rPr lang="en-US" altLang="zh-CN" dirty="0"/>
              <a:t>D) *(a[</a:t>
            </a:r>
            <a:r>
              <a:rPr lang="en-US" altLang="zh-CN" dirty="0" err="1"/>
              <a:t>i</a:t>
            </a:r>
            <a:r>
              <a:rPr lang="en-US" altLang="zh-CN" dirty="0"/>
              <a:t>]+j)</a:t>
            </a:r>
          </a:p>
          <a:p>
            <a:r>
              <a:rPr lang="en-US" altLang="zh-CN" dirty="0"/>
              <a:t>——</a:t>
            </a:r>
            <a:br>
              <a:rPr lang="zh-CN" altLang="en-US" dirty="0"/>
            </a:br>
            <a:r>
              <a:rPr lang="en-US" altLang="zh-CN" b="1" i="0" dirty="0">
                <a:solidFill>
                  <a:srgbClr val="333333"/>
                </a:solidFill>
                <a:effectLst/>
                <a:latin typeface="PingFangSC-Regular"/>
              </a:rPr>
              <a:t>2008</a:t>
            </a:r>
            <a:r>
              <a:rPr lang="zh-CN" altLang="en-US" b="1" i="0" dirty="0">
                <a:solidFill>
                  <a:srgbClr val="333333"/>
                </a:solidFill>
                <a:effectLst/>
                <a:latin typeface="PingFangSC-Regular"/>
              </a:rPr>
              <a:t>级信息类</a:t>
            </a:r>
            <a:r>
              <a:rPr lang="en-US" altLang="zh-CN" b="1" i="0" dirty="0">
                <a:solidFill>
                  <a:srgbClr val="333333"/>
                </a:solidFill>
                <a:effectLst/>
                <a:latin typeface="PingFangSC-Regular"/>
              </a:rPr>
              <a:t>C</a:t>
            </a:r>
            <a:r>
              <a:rPr lang="zh-CN" altLang="en-US" b="1" i="0" dirty="0">
                <a:solidFill>
                  <a:srgbClr val="333333"/>
                </a:solidFill>
                <a:effectLst/>
                <a:latin typeface="PingFangSC-Regular"/>
              </a:rPr>
              <a:t>语言程序设计期末</a:t>
            </a:r>
            <a:r>
              <a:rPr lang="en-US" altLang="zh-CN" b="1" i="0" dirty="0">
                <a:solidFill>
                  <a:srgbClr val="333333"/>
                </a:solidFill>
                <a:effectLst/>
                <a:latin typeface="PingFangSC-Regular"/>
              </a:rPr>
              <a:t>A</a:t>
            </a:r>
            <a:r>
              <a:rPr lang="zh-CN" altLang="en-US" b="1" i="0" dirty="0">
                <a:solidFill>
                  <a:srgbClr val="333333"/>
                </a:solidFill>
                <a:effectLst/>
                <a:latin typeface="PingFangSC-Regular"/>
              </a:rPr>
              <a:t>卷</a:t>
            </a:r>
          </a:p>
        </p:txBody>
      </p:sp>
      <p:sp>
        <p:nvSpPr>
          <p:cNvPr id="6" name="文本框 5">
            <a:extLst>
              <a:ext uri="{FF2B5EF4-FFF2-40B4-BE49-F238E27FC236}">
                <a16:creationId xmlns:a16="http://schemas.microsoft.com/office/drawing/2014/main" id="{2B16EE86-E10A-14F2-3F6A-028C7A7EE05D}"/>
              </a:ext>
            </a:extLst>
          </p:cNvPr>
          <p:cNvSpPr txBox="1"/>
          <p:nvPr/>
        </p:nvSpPr>
        <p:spPr>
          <a:xfrm>
            <a:off x="431651" y="3792951"/>
            <a:ext cx="3983270" cy="923330"/>
          </a:xfrm>
          <a:prstGeom prst="rect">
            <a:avLst/>
          </a:prstGeom>
          <a:noFill/>
        </p:spPr>
        <p:txBody>
          <a:bodyPr wrap="none" rtlCol="0">
            <a:spAutoFit/>
          </a:bodyPr>
          <a:lstStyle/>
          <a:p>
            <a:r>
              <a:rPr lang="zh-CN" altLang="en-US" dirty="0"/>
              <a:t>以下说明与</a:t>
            </a:r>
            <a:r>
              <a:rPr lang="en-US" altLang="zh-CN" dirty="0"/>
              <a:t>int *p[4]</a:t>
            </a:r>
            <a:r>
              <a:rPr lang="zh-CN" altLang="en-US" dirty="0"/>
              <a:t>等价的是</a:t>
            </a:r>
            <a:r>
              <a:rPr lang="en-US" altLang="zh-CN" dirty="0"/>
              <a:t>______</a:t>
            </a:r>
            <a:r>
              <a:rPr lang="zh-CN" altLang="en-US" dirty="0"/>
              <a:t>。</a:t>
            </a:r>
            <a:endParaRPr lang="en-US" altLang="zh-CN" dirty="0"/>
          </a:p>
          <a:p>
            <a:pPr marL="342900" indent="-342900">
              <a:buAutoNum type="alphaUcParenR"/>
            </a:pPr>
            <a:r>
              <a:rPr lang="en-US" altLang="zh-CN" dirty="0"/>
              <a:t>int p[4]</a:t>
            </a:r>
            <a:r>
              <a:rPr lang="zh-CN" altLang="en-US" dirty="0"/>
              <a:t>；</a:t>
            </a:r>
            <a:r>
              <a:rPr lang="en-US" altLang="zh-CN" dirty="0"/>
              <a:t>B) int *p</a:t>
            </a:r>
            <a:r>
              <a:rPr lang="zh-CN" altLang="en-US" dirty="0"/>
              <a:t>；</a:t>
            </a:r>
            <a:endParaRPr lang="en-US" altLang="zh-CN" dirty="0"/>
          </a:p>
          <a:p>
            <a:r>
              <a:rPr lang="en-US" altLang="zh-CN" dirty="0"/>
              <a:t>C) int *(p[4])</a:t>
            </a:r>
            <a:r>
              <a:rPr lang="zh-CN" altLang="en-US" dirty="0"/>
              <a:t>；</a:t>
            </a:r>
            <a:r>
              <a:rPr lang="en-US" altLang="zh-CN" dirty="0"/>
              <a:t>D) int (*p)[4]</a:t>
            </a:r>
            <a:r>
              <a:rPr lang="zh-CN" altLang="en-US" dirty="0"/>
              <a:t>；</a:t>
            </a:r>
          </a:p>
        </p:txBody>
      </p:sp>
      <p:sp>
        <p:nvSpPr>
          <p:cNvPr id="7" name="文本框 6">
            <a:extLst>
              <a:ext uri="{FF2B5EF4-FFF2-40B4-BE49-F238E27FC236}">
                <a16:creationId xmlns:a16="http://schemas.microsoft.com/office/drawing/2014/main" id="{C57CDC89-CB32-E4A9-FCE5-8656EC1679FD}"/>
              </a:ext>
            </a:extLst>
          </p:cNvPr>
          <p:cNvSpPr txBox="1"/>
          <p:nvPr/>
        </p:nvSpPr>
        <p:spPr>
          <a:xfrm>
            <a:off x="2792185" y="391494"/>
            <a:ext cx="2031325" cy="369332"/>
          </a:xfrm>
          <a:prstGeom prst="rect">
            <a:avLst/>
          </a:prstGeom>
          <a:noFill/>
        </p:spPr>
        <p:txBody>
          <a:bodyPr wrap="none" rtlCol="0">
            <a:spAutoFit/>
          </a:bodyPr>
          <a:lstStyle/>
          <a:p>
            <a:r>
              <a:rPr lang="zh-CN" altLang="en-US" dirty="0"/>
              <a:t>我信你个鬼！！！</a:t>
            </a:r>
          </a:p>
        </p:txBody>
      </p:sp>
      <p:pic>
        <p:nvPicPr>
          <p:cNvPr id="8" name="图片 7">
            <a:extLst>
              <a:ext uri="{FF2B5EF4-FFF2-40B4-BE49-F238E27FC236}">
                <a16:creationId xmlns:a16="http://schemas.microsoft.com/office/drawing/2014/main" id="{F3F50285-C7C4-33D3-A23D-CF4D12093877}"/>
              </a:ext>
            </a:extLst>
          </p:cNvPr>
          <p:cNvPicPr>
            <a:picLocks noChangeAspect="1"/>
          </p:cNvPicPr>
          <p:nvPr/>
        </p:nvPicPr>
        <p:blipFill rotWithShape="1">
          <a:blip r:embed="rId3"/>
          <a:srcRect r="68610" b="93812"/>
          <a:stretch/>
        </p:blipFill>
        <p:spPr>
          <a:xfrm>
            <a:off x="4823510" y="420437"/>
            <a:ext cx="3630386" cy="321238"/>
          </a:xfrm>
          <a:prstGeom prst="rect">
            <a:avLst/>
          </a:prstGeom>
        </p:spPr>
      </p:pic>
      <p:sp>
        <p:nvSpPr>
          <p:cNvPr id="9" name="矩形 8">
            <a:extLst>
              <a:ext uri="{FF2B5EF4-FFF2-40B4-BE49-F238E27FC236}">
                <a16:creationId xmlns:a16="http://schemas.microsoft.com/office/drawing/2014/main" id="{209F4E2E-C164-3CD5-1084-D70E73E57205}"/>
              </a:ext>
            </a:extLst>
          </p:cNvPr>
          <p:cNvSpPr/>
          <p:nvPr/>
        </p:nvSpPr>
        <p:spPr>
          <a:xfrm>
            <a:off x="7315200" y="391494"/>
            <a:ext cx="1284515" cy="369332"/>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CD26E15-3A40-AEBB-8B60-8B61163B42F3}"/>
              </a:ext>
            </a:extLst>
          </p:cNvPr>
          <p:cNvSpPr txBox="1"/>
          <p:nvPr/>
        </p:nvSpPr>
        <p:spPr>
          <a:xfrm>
            <a:off x="6096000" y="4309653"/>
            <a:ext cx="5510291" cy="923330"/>
          </a:xfrm>
          <a:prstGeom prst="rect">
            <a:avLst/>
          </a:prstGeom>
          <a:noFill/>
        </p:spPr>
        <p:txBody>
          <a:bodyPr wrap="none" rtlCol="0">
            <a:spAutoFit/>
          </a:bodyPr>
          <a:lstStyle/>
          <a:p>
            <a:r>
              <a:rPr lang="en-US" altLang="zh-CN" dirty="0"/>
              <a:t>main(</a:t>
            </a:r>
            <a:r>
              <a:rPr lang="en-US" altLang="zh-CN" dirty="0" err="1"/>
              <a:t>argc,argv</a:t>
            </a:r>
            <a:r>
              <a:rPr lang="en-US" altLang="zh-CN" dirty="0"/>
              <a:t>)</a:t>
            </a:r>
            <a:r>
              <a:rPr lang="zh-CN" altLang="en-US" dirty="0"/>
              <a:t>中形式参数</a:t>
            </a:r>
            <a:r>
              <a:rPr lang="en-US" altLang="zh-CN" dirty="0" err="1"/>
              <a:t>argv</a:t>
            </a:r>
            <a:r>
              <a:rPr lang="zh-CN" altLang="en-US" dirty="0"/>
              <a:t>的正确说明形式应当为</a:t>
            </a:r>
            <a:endParaRPr lang="en-US" altLang="zh-CN" dirty="0"/>
          </a:p>
          <a:p>
            <a:pPr marL="342900" indent="-342900">
              <a:buAutoNum type="alphaUcParenR"/>
            </a:pPr>
            <a:r>
              <a:rPr lang="en-US" altLang="zh-CN" dirty="0"/>
              <a:t>char* </a:t>
            </a:r>
            <a:r>
              <a:rPr lang="en-US" altLang="zh-CN" dirty="0" err="1"/>
              <a:t>argv</a:t>
            </a:r>
            <a:r>
              <a:rPr lang="en-US" altLang="zh-CN" dirty="0"/>
              <a:t>[]  B)char </a:t>
            </a:r>
            <a:r>
              <a:rPr lang="en-US" altLang="zh-CN" dirty="0" err="1"/>
              <a:t>argv</a:t>
            </a:r>
            <a:r>
              <a:rPr lang="en-US" altLang="zh-CN" dirty="0"/>
              <a:t>[][]</a:t>
            </a:r>
          </a:p>
          <a:p>
            <a:r>
              <a:rPr lang="en-US" altLang="zh-CN" dirty="0"/>
              <a:t>C)  char </a:t>
            </a:r>
            <a:r>
              <a:rPr lang="en-US" altLang="zh-CN" dirty="0" err="1"/>
              <a:t>argv</a:t>
            </a:r>
            <a:r>
              <a:rPr lang="en-US" altLang="zh-CN" dirty="0"/>
              <a:t>       D)char * </a:t>
            </a:r>
            <a:r>
              <a:rPr lang="en-US" altLang="zh-CN" dirty="0" err="1"/>
              <a:t>argv</a:t>
            </a:r>
            <a:r>
              <a:rPr lang="en-US" altLang="zh-CN" dirty="0"/>
              <a:t> </a:t>
            </a:r>
            <a:endParaRPr lang="zh-CN" altLang="en-US" dirty="0"/>
          </a:p>
        </p:txBody>
      </p:sp>
      <p:sp>
        <p:nvSpPr>
          <p:cNvPr id="11" name="文本框 10">
            <a:extLst>
              <a:ext uri="{FF2B5EF4-FFF2-40B4-BE49-F238E27FC236}">
                <a16:creationId xmlns:a16="http://schemas.microsoft.com/office/drawing/2014/main" id="{643E1B37-74AE-0509-2264-ACBAF747AD81}"/>
              </a:ext>
            </a:extLst>
          </p:cNvPr>
          <p:cNvSpPr txBox="1"/>
          <p:nvPr/>
        </p:nvSpPr>
        <p:spPr>
          <a:xfrm>
            <a:off x="360894" y="2361790"/>
            <a:ext cx="3794629" cy="923330"/>
          </a:xfrm>
          <a:prstGeom prst="rect">
            <a:avLst/>
          </a:prstGeom>
          <a:noFill/>
        </p:spPr>
        <p:txBody>
          <a:bodyPr wrap="none" rtlCol="0">
            <a:spAutoFit/>
          </a:bodyPr>
          <a:lstStyle/>
          <a:p>
            <a:r>
              <a:rPr lang="zh-CN" altLang="en-US" dirty="0"/>
              <a:t>定义数组</a:t>
            </a:r>
            <a:r>
              <a:rPr lang="en-US" altLang="zh-CN" dirty="0"/>
              <a:t>s</a:t>
            </a:r>
            <a:r>
              <a:rPr lang="zh-CN" altLang="en-US" dirty="0"/>
              <a:t>并初始化</a:t>
            </a:r>
            <a:r>
              <a:rPr lang="en-US" altLang="zh-CN" dirty="0"/>
              <a:t>,</a:t>
            </a:r>
            <a:r>
              <a:rPr lang="zh-CN" altLang="en-US" dirty="0"/>
              <a:t>不合法的一个是</a:t>
            </a:r>
            <a:endParaRPr lang="en-US" altLang="zh-CN" dirty="0"/>
          </a:p>
          <a:p>
            <a:r>
              <a:rPr lang="en-US" altLang="zh-CN" dirty="0"/>
              <a:t>A)int s[4]={1,2,3,4}; B)int s[20]={0};</a:t>
            </a:r>
          </a:p>
          <a:p>
            <a:r>
              <a:rPr lang="en-US" altLang="zh-CN" dirty="0"/>
              <a:t>C)int s[20];s={1,2,3,4}; D) int s[]={2,5};</a:t>
            </a:r>
            <a:endParaRPr lang="zh-CN" altLang="en-US" dirty="0"/>
          </a:p>
        </p:txBody>
      </p:sp>
    </p:spTree>
    <p:extLst>
      <p:ext uri="{BB962C8B-B14F-4D97-AF65-F5344CB8AC3E}">
        <p14:creationId xmlns:p14="http://schemas.microsoft.com/office/powerpoint/2010/main" val="28179186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DE84D1-590B-DD88-04F8-2A0CCB6DC7E4}"/>
              </a:ext>
            </a:extLst>
          </p:cNvPr>
          <p:cNvSpPr txBox="1"/>
          <p:nvPr/>
        </p:nvSpPr>
        <p:spPr>
          <a:xfrm>
            <a:off x="639738" y="324939"/>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历年真题</a:t>
            </a:r>
          </a:p>
        </p:txBody>
      </p:sp>
      <p:sp>
        <p:nvSpPr>
          <p:cNvPr id="3" name="文本框 2">
            <a:extLst>
              <a:ext uri="{FF2B5EF4-FFF2-40B4-BE49-F238E27FC236}">
                <a16:creationId xmlns:a16="http://schemas.microsoft.com/office/drawing/2014/main" id="{1A1D758F-03A4-8E05-9AC5-66ADFFB8CF48}"/>
              </a:ext>
            </a:extLst>
          </p:cNvPr>
          <p:cNvSpPr txBox="1"/>
          <p:nvPr/>
        </p:nvSpPr>
        <p:spPr>
          <a:xfrm>
            <a:off x="371356" y="1090067"/>
            <a:ext cx="5724644" cy="923330"/>
          </a:xfrm>
          <a:prstGeom prst="rect">
            <a:avLst/>
          </a:prstGeom>
          <a:noFill/>
        </p:spPr>
        <p:txBody>
          <a:bodyPr wrap="none" rtlCol="0">
            <a:spAutoFit/>
          </a:bodyPr>
          <a:lstStyle/>
          <a:p>
            <a:r>
              <a:rPr lang="zh-CN" altLang="en-US" dirty="0"/>
              <a:t>若用数组名作为函数调用时的实参，则传递给形参的是</a:t>
            </a:r>
            <a:endParaRPr lang="en-US" altLang="zh-CN" dirty="0"/>
          </a:p>
          <a:p>
            <a:r>
              <a:rPr lang="en-US" altLang="zh-CN" dirty="0">
                <a:solidFill>
                  <a:srgbClr val="FF0000"/>
                </a:solidFill>
              </a:rPr>
              <a:t>A)</a:t>
            </a:r>
            <a:r>
              <a:rPr lang="zh-CN" altLang="en-US" dirty="0">
                <a:solidFill>
                  <a:srgbClr val="FF0000"/>
                </a:solidFill>
              </a:rPr>
              <a:t>数组首地址</a:t>
            </a:r>
            <a:r>
              <a:rPr lang="zh-CN" altLang="en-US" dirty="0"/>
              <a:t>   </a:t>
            </a:r>
            <a:r>
              <a:rPr lang="en-US" altLang="zh-CN" dirty="0"/>
              <a:t>B)</a:t>
            </a:r>
            <a:r>
              <a:rPr lang="zh-CN" altLang="en-US" dirty="0"/>
              <a:t>数组的第一个元素值</a:t>
            </a:r>
            <a:endParaRPr lang="en-US" altLang="zh-CN" dirty="0"/>
          </a:p>
          <a:p>
            <a:r>
              <a:rPr lang="en-US" altLang="zh-CN" dirty="0"/>
              <a:t>C)</a:t>
            </a:r>
            <a:r>
              <a:rPr lang="zh-CN" altLang="en-US" dirty="0"/>
              <a:t>数组中全部元素的值  </a:t>
            </a:r>
            <a:r>
              <a:rPr lang="en-US" altLang="zh-CN" dirty="0"/>
              <a:t>D)</a:t>
            </a:r>
            <a:r>
              <a:rPr lang="zh-CN" altLang="en-US" dirty="0"/>
              <a:t>数组元素的个数</a:t>
            </a:r>
          </a:p>
        </p:txBody>
      </p:sp>
      <p:sp>
        <p:nvSpPr>
          <p:cNvPr id="5" name="文本框 4">
            <a:extLst>
              <a:ext uri="{FF2B5EF4-FFF2-40B4-BE49-F238E27FC236}">
                <a16:creationId xmlns:a16="http://schemas.microsoft.com/office/drawing/2014/main" id="{E01776E1-C2C3-2653-9520-F636FA352142}"/>
              </a:ext>
            </a:extLst>
          </p:cNvPr>
          <p:cNvSpPr txBox="1"/>
          <p:nvPr/>
        </p:nvSpPr>
        <p:spPr>
          <a:xfrm>
            <a:off x="6410654" y="1019219"/>
            <a:ext cx="4378122" cy="2862322"/>
          </a:xfrm>
          <a:prstGeom prst="rect">
            <a:avLst/>
          </a:prstGeom>
          <a:noFill/>
        </p:spPr>
        <p:txBody>
          <a:bodyPr wrap="none" rtlCol="0">
            <a:spAutoFit/>
          </a:bodyPr>
          <a:lstStyle/>
          <a:p>
            <a:r>
              <a:rPr lang="zh-CN" altLang="en-US" dirty="0"/>
              <a:t>若有说明：</a:t>
            </a:r>
            <a:r>
              <a:rPr lang="en-US" altLang="zh-CN" dirty="0"/>
              <a:t>int a[4][10]</a:t>
            </a:r>
            <a:r>
              <a:rPr lang="zh-CN" altLang="en-US" dirty="0"/>
              <a:t>，</a:t>
            </a:r>
            <a:endParaRPr lang="en-US" altLang="zh-CN" dirty="0"/>
          </a:p>
          <a:p>
            <a:r>
              <a:rPr lang="zh-CN" altLang="en-US" dirty="0"/>
              <a:t>如果</a:t>
            </a:r>
            <a:r>
              <a:rPr lang="en-US" altLang="zh-CN" dirty="0" err="1"/>
              <a:t>i</a:t>
            </a:r>
            <a:r>
              <a:rPr lang="zh-CN" altLang="en-US" dirty="0"/>
              <a:t>、</a:t>
            </a:r>
            <a:r>
              <a:rPr lang="en-US" altLang="zh-CN" dirty="0"/>
              <a:t>j </a:t>
            </a:r>
            <a:r>
              <a:rPr lang="zh-CN" altLang="en-US" dirty="0"/>
              <a:t>可能的取值范围</a:t>
            </a:r>
            <a:endParaRPr lang="en-US" altLang="zh-CN" dirty="0"/>
          </a:p>
          <a:p>
            <a:r>
              <a:rPr lang="zh-CN" altLang="en-US" dirty="0"/>
              <a:t>是</a:t>
            </a:r>
            <a:r>
              <a:rPr lang="en-US" altLang="zh-CN" dirty="0"/>
              <a:t>0&lt;=</a:t>
            </a:r>
            <a:r>
              <a:rPr lang="en-US" altLang="zh-CN" dirty="0" err="1"/>
              <a:t>i</a:t>
            </a:r>
            <a:r>
              <a:rPr lang="en-US" altLang="zh-CN" dirty="0"/>
              <a:t>&lt;4, 0&lt;=j&lt;10</a:t>
            </a:r>
            <a:r>
              <a:rPr lang="zh-CN" altLang="en-US" dirty="0"/>
              <a:t>，</a:t>
            </a:r>
            <a:endParaRPr lang="en-US" altLang="zh-CN" dirty="0"/>
          </a:p>
          <a:p>
            <a:r>
              <a:rPr lang="zh-CN" altLang="en-US" dirty="0"/>
              <a:t>则对数组元素</a:t>
            </a:r>
            <a:r>
              <a:rPr lang="en-US" altLang="zh-CN" dirty="0"/>
              <a:t>a[</a:t>
            </a:r>
            <a:r>
              <a:rPr lang="en-US" altLang="zh-CN" dirty="0" err="1"/>
              <a:t>i</a:t>
            </a:r>
            <a:r>
              <a:rPr lang="en-US" altLang="zh-CN" dirty="0"/>
              <a:t>][j]</a:t>
            </a:r>
            <a:r>
              <a:rPr lang="zh-CN" altLang="en-US" dirty="0"/>
              <a:t>引用错误的是</a:t>
            </a:r>
            <a:r>
              <a:rPr lang="en-US" altLang="zh-CN" dirty="0"/>
              <a:t>______</a:t>
            </a:r>
            <a:r>
              <a:rPr lang="zh-CN" altLang="en-US" dirty="0"/>
              <a:t>。</a:t>
            </a:r>
            <a:endParaRPr lang="en-US" altLang="zh-CN" dirty="0"/>
          </a:p>
          <a:p>
            <a:pPr marL="342900" indent="-342900">
              <a:buAutoNum type="alphaUcParenR"/>
            </a:pPr>
            <a:r>
              <a:rPr lang="en-US" altLang="zh-CN" dirty="0"/>
              <a:t>*(&amp;a[0][0]+10*</a:t>
            </a:r>
            <a:r>
              <a:rPr lang="en-US" altLang="zh-CN" dirty="0" err="1"/>
              <a:t>i+j</a:t>
            </a:r>
            <a:r>
              <a:rPr lang="en-US" altLang="zh-CN" dirty="0"/>
              <a:t>)</a:t>
            </a:r>
          </a:p>
          <a:p>
            <a:r>
              <a:rPr lang="en-US" altLang="zh-CN" dirty="0">
                <a:solidFill>
                  <a:srgbClr val="FF0000"/>
                </a:solidFill>
              </a:rPr>
              <a:t>B) *(</a:t>
            </a:r>
            <a:r>
              <a:rPr lang="en-US" altLang="zh-CN" dirty="0" err="1">
                <a:solidFill>
                  <a:srgbClr val="FF0000"/>
                </a:solidFill>
              </a:rPr>
              <a:t>a+i</a:t>
            </a:r>
            <a:r>
              <a:rPr lang="en-US" altLang="zh-CN" dirty="0">
                <a:solidFill>
                  <a:srgbClr val="FF0000"/>
                </a:solidFill>
              </a:rPr>
              <a:t>)[j]</a:t>
            </a:r>
          </a:p>
          <a:p>
            <a:r>
              <a:rPr lang="en-US" altLang="zh-CN" dirty="0"/>
              <a:t>C) *(*(</a:t>
            </a:r>
            <a:r>
              <a:rPr lang="en-US" altLang="zh-CN" dirty="0" err="1"/>
              <a:t>a+i</a:t>
            </a:r>
            <a:r>
              <a:rPr lang="en-US" altLang="zh-CN" dirty="0"/>
              <a:t>)+j)</a:t>
            </a:r>
          </a:p>
          <a:p>
            <a:r>
              <a:rPr lang="en-US" altLang="zh-CN" dirty="0"/>
              <a:t>D) *(a[</a:t>
            </a:r>
            <a:r>
              <a:rPr lang="en-US" altLang="zh-CN" dirty="0" err="1"/>
              <a:t>i</a:t>
            </a:r>
            <a:r>
              <a:rPr lang="en-US" altLang="zh-CN" dirty="0"/>
              <a:t>]+j)</a:t>
            </a:r>
          </a:p>
          <a:p>
            <a:r>
              <a:rPr lang="en-US" altLang="zh-CN" dirty="0"/>
              <a:t>——</a:t>
            </a:r>
            <a:br>
              <a:rPr lang="zh-CN" altLang="en-US" dirty="0"/>
            </a:br>
            <a:r>
              <a:rPr lang="en-US" altLang="zh-CN" b="1" i="0" dirty="0">
                <a:solidFill>
                  <a:srgbClr val="333333"/>
                </a:solidFill>
                <a:effectLst/>
                <a:latin typeface="PingFangSC-Regular"/>
              </a:rPr>
              <a:t>2008</a:t>
            </a:r>
            <a:r>
              <a:rPr lang="zh-CN" altLang="en-US" b="1" i="0" dirty="0">
                <a:solidFill>
                  <a:srgbClr val="333333"/>
                </a:solidFill>
                <a:effectLst/>
                <a:latin typeface="PingFangSC-Regular"/>
              </a:rPr>
              <a:t>级信息类</a:t>
            </a:r>
            <a:r>
              <a:rPr lang="en-US" altLang="zh-CN" b="1" i="0" dirty="0">
                <a:solidFill>
                  <a:srgbClr val="333333"/>
                </a:solidFill>
                <a:effectLst/>
                <a:latin typeface="PingFangSC-Regular"/>
              </a:rPr>
              <a:t>C</a:t>
            </a:r>
            <a:r>
              <a:rPr lang="zh-CN" altLang="en-US" b="1" i="0" dirty="0">
                <a:solidFill>
                  <a:srgbClr val="333333"/>
                </a:solidFill>
                <a:effectLst/>
                <a:latin typeface="PingFangSC-Regular"/>
              </a:rPr>
              <a:t>语言程序设计期末</a:t>
            </a:r>
            <a:r>
              <a:rPr lang="en-US" altLang="zh-CN" b="1" i="0" dirty="0">
                <a:solidFill>
                  <a:srgbClr val="333333"/>
                </a:solidFill>
                <a:effectLst/>
                <a:latin typeface="PingFangSC-Regular"/>
              </a:rPr>
              <a:t>A</a:t>
            </a:r>
            <a:r>
              <a:rPr lang="zh-CN" altLang="en-US" b="1" i="0" dirty="0">
                <a:solidFill>
                  <a:srgbClr val="333333"/>
                </a:solidFill>
                <a:effectLst/>
                <a:latin typeface="PingFangSC-Regular"/>
              </a:rPr>
              <a:t>卷</a:t>
            </a:r>
          </a:p>
        </p:txBody>
      </p:sp>
      <p:sp>
        <p:nvSpPr>
          <p:cNvPr id="6" name="文本框 5">
            <a:extLst>
              <a:ext uri="{FF2B5EF4-FFF2-40B4-BE49-F238E27FC236}">
                <a16:creationId xmlns:a16="http://schemas.microsoft.com/office/drawing/2014/main" id="{2B16EE86-E10A-14F2-3F6A-028C7A7EE05D}"/>
              </a:ext>
            </a:extLst>
          </p:cNvPr>
          <p:cNvSpPr txBox="1"/>
          <p:nvPr/>
        </p:nvSpPr>
        <p:spPr>
          <a:xfrm>
            <a:off x="431651" y="3792951"/>
            <a:ext cx="3983270" cy="923330"/>
          </a:xfrm>
          <a:prstGeom prst="rect">
            <a:avLst/>
          </a:prstGeom>
          <a:noFill/>
        </p:spPr>
        <p:txBody>
          <a:bodyPr wrap="none" rtlCol="0">
            <a:spAutoFit/>
          </a:bodyPr>
          <a:lstStyle/>
          <a:p>
            <a:r>
              <a:rPr lang="zh-CN" altLang="en-US" dirty="0"/>
              <a:t>以下说明与</a:t>
            </a:r>
            <a:r>
              <a:rPr lang="en-US" altLang="zh-CN" dirty="0"/>
              <a:t>int *p[4]</a:t>
            </a:r>
            <a:r>
              <a:rPr lang="zh-CN" altLang="en-US" dirty="0"/>
              <a:t>等价的是</a:t>
            </a:r>
            <a:r>
              <a:rPr lang="en-US" altLang="zh-CN" dirty="0"/>
              <a:t>______</a:t>
            </a:r>
            <a:r>
              <a:rPr lang="zh-CN" altLang="en-US" dirty="0"/>
              <a:t>。</a:t>
            </a:r>
            <a:endParaRPr lang="en-US" altLang="zh-CN" dirty="0"/>
          </a:p>
          <a:p>
            <a:pPr marL="342900" indent="-342900">
              <a:buAutoNum type="alphaUcParenR"/>
            </a:pPr>
            <a:r>
              <a:rPr lang="en-US" altLang="zh-CN" dirty="0"/>
              <a:t>int p[4]</a:t>
            </a:r>
            <a:r>
              <a:rPr lang="zh-CN" altLang="en-US" dirty="0"/>
              <a:t>；</a:t>
            </a:r>
            <a:r>
              <a:rPr lang="en-US" altLang="zh-CN" dirty="0"/>
              <a:t>B) int *p</a:t>
            </a:r>
            <a:r>
              <a:rPr lang="zh-CN" altLang="en-US" dirty="0"/>
              <a:t>；</a:t>
            </a:r>
            <a:endParaRPr lang="en-US" altLang="zh-CN" dirty="0"/>
          </a:p>
          <a:p>
            <a:r>
              <a:rPr lang="en-US" altLang="zh-CN" dirty="0">
                <a:solidFill>
                  <a:srgbClr val="FF0000"/>
                </a:solidFill>
              </a:rPr>
              <a:t>C) int *(p[4])</a:t>
            </a:r>
            <a:r>
              <a:rPr lang="zh-CN" altLang="en-US" dirty="0">
                <a:solidFill>
                  <a:srgbClr val="FF0000"/>
                </a:solidFill>
              </a:rPr>
              <a:t>；</a:t>
            </a:r>
            <a:r>
              <a:rPr lang="en-US" altLang="zh-CN" dirty="0"/>
              <a:t>D) int (*p)[4]</a:t>
            </a:r>
            <a:r>
              <a:rPr lang="zh-CN" altLang="en-US" dirty="0"/>
              <a:t>；</a:t>
            </a:r>
          </a:p>
        </p:txBody>
      </p:sp>
      <p:sp>
        <p:nvSpPr>
          <p:cNvPr id="7" name="文本框 6">
            <a:extLst>
              <a:ext uri="{FF2B5EF4-FFF2-40B4-BE49-F238E27FC236}">
                <a16:creationId xmlns:a16="http://schemas.microsoft.com/office/drawing/2014/main" id="{C57CDC89-CB32-E4A9-FCE5-8656EC1679FD}"/>
              </a:ext>
            </a:extLst>
          </p:cNvPr>
          <p:cNvSpPr txBox="1"/>
          <p:nvPr/>
        </p:nvSpPr>
        <p:spPr>
          <a:xfrm>
            <a:off x="2792185" y="391494"/>
            <a:ext cx="2031325" cy="369332"/>
          </a:xfrm>
          <a:prstGeom prst="rect">
            <a:avLst/>
          </a:prstGeom>
          <a:noFill/>
        </p:spPr>
        <p:txBody>
          <a:bodyPr wrap="none" rtlCol="0">
            <a:spAutoFit/>
          </a:bodyPr>
          <a:lstStyle/>
          <a:p>
            <a:r>
              <a:rPr lang="zh-CN" altLang="en-US" dirty="0"/>
              <a:t>我信你个鬼！！！</a:t>
            </a:r>
          </a:p>
        </p:txBody>
      </p:sp>
      <p:pic>
        <p:nvPicPr>
          <p:cNvPr id="8" name="图片 7">
            <a:extLst>
              <a:ext uri="{FF2B5EF4-FFF2-40B4-BE49-F238E27FC236}">
                <a16:creationId xmlns:a16="http://schemas.microsoft.com/office/drawing/2014/main" id="{F3F50285-C7C4-33D3-A23D-CF4D12093877}"/>
              </a:ext>
            </a:extLst>
          </p:cNvPr>
          <p:cNvPicPr>
            <a:picLocks noChangeAspect="1"/>
          </p:cNvPicPr>
          <p:nvPr/>
        </p:nvPicPr>
        <p:blipFill rotWithShape="1">
          <a:blip r:embed="rId3"/>
          <a:srcRect r="68610" b="93812"/>
          <a:stretch/>
        </p:blipFill>
        <p:spPr>
          <a:xfrm>
            <a:off x="4823510" y="420437"/>
            <a:ext cx="3630386" cy="321238"/>
          </a:xfrm>
          <a:prstGeom prst="rect">
            <a:avLst/>
          </a:prstGeom>
        </p:spPr>
      </p:pic>
      <p:sp>
        <p:nvSpPr>
          <p:cNvPr id="9" name="矩形 8">
            <a:extLst>
              <a:ext uri="{FF2B5EF4-FFF2-40B4-BE49-F238E27FC236}">
                <a16:creationId xmlns:a16="http://schemas.microsoft.com/office/drawing/2014/main" id="{209F4E2E-C164-3CD5-1084-D70E73E57205}"/>
              </a:ext>
            </a:extLst>
          </p:cNvPr>
          <p:cNvSpPr/>
          <p:nvPr/>
        </p:nvSpPr>
        <p:spPr>
          <a:xfrm>
            <a:off x="7315200" y="391494"/>
            <a:ext cx="1284515" cy="369332"/>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CD26E15-3A40-AEBB-8B60-8B61163B42F3}"/>
              </a:ext>
            </a:extLst>
          </p:cNvPr>
          <p:cNvSpPr txBox="1"/>
          <p:nvPr/>
        </p:nvSpPr>
        <p:spPr>
          <a:xfrm>
            <a:off x="6096000" y="4309653"/>
            <a:ext cx="5510291" cy="923330"/>
          </a:xfrm>
          <a:prstGeom prst="rect">
            <a:avLst/>
          </a:prstGeom>
          <a:noFill/>
        </p:spPr>
        <p:txBody>
          <a:bodyPr wrap="none" rtlCol="0">
            <a:spAutoFit/>
          </a:bodyPr>
          <a:lstStyle/>
          <a:p>
            <a:r>
              <a:rPr lang="en-US" altLang="zh-CN" dirty="0"/>
              <a:t>main(</a:t>
            </a:r>
            <a:r>
              <a:rPr lang="en-US" altLang="zh-CN" dirty="0" err="1"/>
              <a:t>argc,argv</a:t>
            </a:r>
            <a:r>
              <a:rPr lang="en-US" altLang="zh-CN" dirty="0"/>
              <a:t>)</a:t>
            </a:r>
            <a:r>
              <a:rPr lang="zh-CN" altLang="en-US" dirty="0"/>
              <a:t>中形式参数</a:t>
            </a:r>
            <a:r>
              <a:rPr lang="en-US" altLang="zh-CN" dirty="0" err="1"/>
              <a:t>argv</a:t>
            </a:r>
            <a:r>
              <a:rPr lang="zh-CN" altLang="en-US" dirty="0"/>
              <a:t>的正确说明形式应当为</a:t>
            </a:r>
            <a:endParaRPr lang="en-US" altLang="zh-CN" dirty="0"/>
          </a:p>
          <a:p>
            <a:pPr marL="342900" indent="-342900">
              <a:buAutoNum type="alphaUcParenR"/>
            </a:pPr>
            <a:r>
              <a:rPr lang="en-US" altLang="zh-CN" dirty="0">
                <a:solidFill>
                  <a:srgbClr val="FF0000"/>
                </a:solidFill>
              </a:rPr>
              <a:t>char* </a:t>
            </a:r>
            <a:r>
              <a:rPr lang="en-US" altLang="zh-CN" dirty="0" err="1">
                <a:solidFill>
                  <a:srgbClr val="FF0000"/>
                </a:solidFill>
              </a:rPr>
              <a:t>argv</a:t>
            </a:r>
            <a:r>
              <a:rPr lang="en-US" altLang="zh-CN" dirty="0">
                <a:solidFill>
                  <a:srgbClr val="FF0000"/>
                </a:solidFill>
              </a:rPr>
              <a:t>[]</a:t>
            </a:r>
            <a:r>
              <a:rPr lang="en-US" altLang="zh-CN" dirty="0"/>
              <a:t>  B)char </a:t>
            </a:r>
            <a:r>
              <a:rPr lang="en-US" altLang="zh-CN" dirty="0" err="1"/>
              <a:t>argv</a:t>
            </a:r>
            <a:r>
              <a:rPr lang="en-US" altLang="zh-CN" dirty="0"/>
              <a:t>[][]</a:t>
            </a:r>
          </a:p>
          <a:p>
            <a:r>
              <a:rPr lang="en-US" altLang="zh-CN" dirty="0"/>
              <a:t>C)  char </a:t>
            </a:r>
            <a:r>
              <a:rPr lang="en-US" altLang="zh-CN" dirty="0" err="1"/>
              <a:t>argv</a:t>
            </a:r>
            <a:r>
              <a:rPr lang="en-US" altLang="zh-CN" dirty="0"/>
              <a:t>       D)char * </a:t>
            </a:r>
            <a:r>
              <a:rPr lang="en-US" altLang="zh-CN" dirty="0" err="1"/>
              <a:t>argv</a:t>
            </a:r>
            <a:r>
              <a:rPr lang="en-US" altLang="zh-CN" dirty="0"/>
              <a:t> </a:t>
            </a:r>
            <a:endParaRPr lang="zh-CN" altLang="en-US" dirty="0"/>
          </a:p>
        </p:txBody>
      </p:sp>
      <p:sp>
        <p:nvSpPr>
          <p:cNvPr id="11" name="文本框 10">
            <a:extLst>
              <a:ext uri="{FF2B5EF4-FFF2-40B4-BE49-F238E27FC236}">
                <a16:creationId xmlns:a16="http://schemas.microsoft.com/office/drawing/2014/main" id="{643E1B37-74AE-0509-2264-ACBAF747AD81}"/>
              </a:ext>
            </a:extLst>
          </p:cNvPr>
          <p:cNvSpPr txBox="1"/>
          <p:nvPr/>
        </p:nvSpPr>
        <p:spPr>
          <a:xfrm>
            <a:off x="360894" y="2361790"/>
            <a:ext cx="3794629" cy="923330"/>
          </a:xfrm>
          <a:prstGeom prst="rect">
            <a:avLst/>
          </a:prstGeom>
          <a:noFill/>
        </p:spPr>
        <p:txBody>
          <a:bodyPr wrap="none" rtlCol="0">
            <a:spAutoFit/>
          </a:bodyPr>
          <a:lstStyle/>
          <a:p>
            <a:r>
              <a:rPr lang="zh-CN" altLang="en-US" dirty="0"/>
              <a:t>定义数组</a:t>
            </a:r>
            <a:r>
              <a:rPr lang="en-US" altLang="zh-CN" dirty="0"/>
              <a:t>s</a:t>
            </a:r>
            <a:r>
              <a:rPr lang="zh-CN" altLang="en-US" dirty="0"/>
              <a:t>并初始化</a:t>
            </a:r>
            <a:r>
              <a:rPr lang="en-US" altLang="zh-CN" dirty="0"/>
              <a:t>,</a:t>
            </a:r>
            <a:r>
              <a:rPr lang="zh-CN" altLang="en-US" dirty="0"/>
              <a:t>不合法的一个是</a:t>
            </a:r>
            <a:endParaRPr lang="en-US" altLang="zh-CN" dirty="0"/>
          </a:p>
          <a:p>
            <a:r>
              <a:rPr lang="en-US" altLang="zh-CN" dirty="0"/>
              <a:t>A)int s[4]={1,2,3,4}; B)int s[20]={0};</a:t>
            </a:r>
          </a:p>
          <a:p>
            <a:r>
              <a:rPr lang="en-US" altLang="zh-CN" dirty="0">
                <a:solidFill>
                  <a:srgbClr val="FF0000"/>
                </a:solidFill>
              </a:rPr>
              <a:t>C)int s[20];s={1,2,3,4};</a:t>
            </a:r>
            <a:r>
              <a:rPr lang="en-US" altLang="zh-CN" dirty="0"/>
              <a:t> D) int s[]={2,5};</a:t>
            </a:r>
            <a:endParaRPr lang="zh-CN" altLang="en-US" dirty="0"/>
          </a:p>
        </p:txBody>
      </p:sp>
    </p:spTree>
    <p:extLst>
      <p:ext uri="{BB962C8B-B14F-4D97-AF65-F5344CB8AC3E}">
        <p14:creationId xmlns:p14="http://schemas.microsoft.com/office/powerpoint/2010/main" val="11931314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2268EB"/>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1B5D95C-0A3B-4CEB-9E39-67DE0FEC271B}"/>
              </a:ext>
            </a:extLst>
          </p:cNvPr>
          <p:cNvSpPr/>
          <p:nvPr/>
        </p:nvSpPr>
        <p:spPr>
          <a:xfrm>
            <a:off x="613574" y="2281146"/>
            <a:ext cx="10964851" cy="725238"/>
          </a:xfrm>
          <a:prstGeom prst="rect">
            <a:avLst/>
          </a:prstGeom>
          <a:solidFill>
            <a:srgbClr val="1E19F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10" name="TextBox 3">
            <a:extLst>
              <a:ext uri="{FF2B5EF4-FFF2-40B4-BE49-F238E27FC236}">
                <a16:creationId xmlns:a16="http://schemas.microsoft.com/office/drawing/2014/main" id="{87A07853-8950-EB54-03B3-E0BCB80A31E1}"/>
              </a:ext>
            </a:extLst>
          </p:cNvPr>
          <p:cNvSpPr txBox="1"/>
          <p:nvPr/>
        </p:nvSpPr>
        <p:spPr>
          <a:xfrm>
            <a:off x="7256482" y="-419535"/>
            <a:ext cx="4020652" cy="7940635"/>
          </a:xfrm>
          <a:prstGeom prst="rect">
            <a:avLst/>
          </a:prstGeom>
          <a:noFill/>
          <a:effectLst>
            <a:outerShdw blurRad="165100" dist="76200" dir="1200000" algn="tl" rotWithShape="0">
              <a:prstClr val="black">
                <a:alpha val="10000"/>
              </a:prstClr>
            </a:outerShdw>
          </a:effectLst>
        </p:spPr>
        <p:txBody>
          <a:bodyPr wrap="none">
            <a:spAutoFit/>
          </a:bodyPr>
          <a:lstStyle/>
          <a:p>
            <a:pPr>
              <a:defRPr/>
            </a:pPr>
            <a:r>
              <a:rPr lang="en-US" sz="51000" dirty="0">
                <a:solidFill>
                  <a:prstClr val="white"/>
                </a:solidFill>
                <a:latin typeface="Microsoft YaHei UI" panose="020B0503020204020204" pitchFamily="34" charset="-122"/>
                <a:ea typeface="微软雅黑" panose="020B0503020204020204" pitchFamily="34" charset="-122"/>
                <a:cs typeface="+mn-ea"/>
                <a:sym typeface="+mn-lt"/>
              </a:rPr>
              <a:t>6</a:t>
            </a:r>
          </a:p>
        </p:txBody>
      </p:sp>
      <p:sp>
        <p:nvSpPr>
          <p:cNvPr id="11" name="矩形 10">
            <a:extLst>
              <a:ext uri="{FF2B5EF4-FFF2-40B4-BE49-F238E27FC236}">
                <a16:creationId xmlns:a16="http://schemas.microsoft.com/office/drawing/2014/main" id="{445D49C7-99F7-CBED-E86E-E86271CED039}"/>
              </a:ext>
            </a:extLst>
          </p:cNvPr>
          <p:cNvSpPr/>
          <p:nvPr/>
        </p:nvSpPr>
        <p:spPr>
          <a:xfrm>
            <a:off x="1137315" y="2200192"/>
            <a:ext cx="3798205" cy="769441"/>
          </a:xfrm>
          <a:prstGeom prst="rect">
            <a:avLst/>
          </a:prstGeom>
        </p:spPr>
        <p:txBody>
          <a:bodyPr wrap="square">
            <a:spAutoFit/>
          </a:bodyPr>
          <a:lstStyle/>
          <a:p>
            <a:pPr>
              <a:defRPr/>
            </a:pPr>
            <a:r>
              <a:rPr lang="zh-CN" altLang="en-US" sz="4400" dirty="0">
                <a:solidFill>
                  <a:schemeClr val="bg1"/>
                </a:solidFill>
                <a:latin typeface="黑体" panose="02010609060101010101" pitchFamily="49" charset="-122"/>
                <a:ea typeface="黑体" panose="02010609060101010101" pitchFamily="49" charset="-122"/>
                <a:cs typeface="+mn-ea"/>
                <a:sym typeface="+mn-lt"/>
              </a:rPr>
              <a:t>结构体</a:t>
            </a:r>
          </a:p>
        </p:txBody>
      </p:sp>
      <p:sp>
        <p:nvSpPr>
          <p:cNvPr id="12" name="矩形 11">
            <a:extLst>
              <a:ext uri="{FF2B5EF4-FFF2-40B4-BE49-F238E27FC236}">
                <a16:creationId xmlns:a16="http://schemas.microsoft.com/office/drawing/2014/main" id="{C3D0FC30-BE37-E2E3-FF28-388B9B77A1F9}"/>
              </a:ext>
            </a:extLst>
          </p:cNvPr>
          <p:cNvSpPr/>
          <p:nvPr/>
        </p:nvSpPr>
        <p:spPr>
          <a:xfrm>
            <a:off x="781516" y="1511705"/>
            <a:ext cx="6199591" cy="769441"/>
          </a:xfrm>
          <a:prstGeom prst="rect">
            <a:avLst/>
          </a:prstGeom>
        </p:spPr>
        <p:txBody>
          <a:bodyPr wrap="square">
            <a:spAutoFit/>
          </a:bodyPr>
          <a:lstStyle/>
          <a:p>
            <a:pPr>
              <a:defRPr/>
            </a:pPr>
            <a:r>
              <a:rPr lang="en-US" altLang="zh-CN" sz="4400" dirty="0">
                <a:solidFill>
                  <a:prstClr val="white"/>
                </a:solidFill>
                <a:latin typeface="Microsoft YaHei UI" panose="020B0503020204020204" pitchFamily="34" charset="-122"/>
                <a:ea typeface="Microsoft YaHei UI" panose="020B0503020204020204" pitchFamily="34" charset="-122"/>
                <a:cs typeface="+mn-ea"/>
                <a:sym typeface="+mn-lt"/>
              </a:rPr>
              <a:t>PART SIX</a:t>
            </a:r>
          </a:p>
        </p:txBody>
      </p:sp>
    </p:spTree>
  </p:cSld>
  <p:clrMapOvr>
    <a:masterClrMapping/>
  </p:clrMapOvr>
  <p:transition spd="slow">
    <p:push di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7285CA6-2F49-48A0-08C5-4A1AF9C69562}"/>
              </a:ext>
            </a:extLst>
          </p:cNvPr>
          <p:cNvPicPr>
            <a:picLocks noChangeAspect="1"/>
          </p:cNvPicPr>
          <p:nvPr/>
        </p:nvPicPr>
        <p:blipFill>
          <a:blip r:embed="rId3"/>
          <a:stretch>
            <a:fillRect/>
          </a:stretch>
        </p:blipFill>
        <p:spPr>
          <a:xfrm>
            <a:off x="869938" y="1487470"/>
            <a:ext cx="3238524" cy="4695859"/>
          </a:xfrm>
          <a:prstGeom prst="rect">
            <a:avLst/>
          </a:prstGeom>
        </p:spPr>
      </p:pic>
      <p:sp>
        <p:nvSpPr>
          <p:cNvPr id="3" name="文本框 2">
            <a:extLst>
              <a:ext uri="{FF2B5EF4-FFF2-40B4-BE49-F238E27FC236}">
                <a16:creationId xmlns:a16="http://schemas.microsoft.com/office/drawing/2014/main" id="{E95BDFE4-3121-BBEE-4F63-5F38A4A8ADC4}"/>
              </a:ext>
            </a:extLst>
          </p:cNvPr>
          <p:cNvSpPr txBox="1"/>
          <p:nvPr/>
        </p:nvSpPr>
        <p:spPr>
          <a:xfrm>
            <a:off x="680920" y="326731"/>
            <a:ext cx="3427541"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结构体</a:t>
            </a:r>
            <a:r>
              <a:rPr lang="en-US" altLang="zh-CN" dirty="0"/>
              <a:t>——</a:t>
            </a:r>
            <a:r>
              <a:rPr lang="zh-CN" altLang="en-US" dirty="0"/>
              <a:t>定义</a:t>
            </a:r>
          </a:p>
        </p:txBody>
      </p:sp>
      <p:sp>
        <p:nvSpPr>
          <p:cNvPr id="5" name="文本框 4">
            <a:extLst>
              <a:ext uri="{FF2B5EF4-FFF2-40B4-BE49-F238E27FC236}">
                <a16:creationId xmlns:a16="http://schemas.microsoft.com/office/drawing/2014/main" id="{77098A9E-CB0D-E301-A6FC-D3C74DA25B30}"/>
              </a:ext>
            </a:extLst>
          </p:cNvPr>
          <p:cNvSpPr txBox="1"/>
          <p:nvPr/>
        </p:nvSpPr>
        <p:spPr>
          <a:xfrm>
            <a:off x="3002854" y="1705429"/>
            <a:ext cx="3017173" cy="369332"/>
          </a:xfrm>
          <a:prstGeom prst="rect">
            <a:avLst/>
          </a:prstGeom>
          <a:noFill/>
        </p:spPr>
        <p:txBody>
          <a:bodyPr wrap="none" rtlCol="0">
            <a:spAutoFit/>
          </a:bodyPr>
          <a:lstStyle/>
          <a:p>
            <a:r>
              <a:rPr lang="zh-CN" altLang="en-US" dirty="0"/>
              <a:t>方式①</a:t>
            </a:r>
            <a:r>
              <a:rPr lang="en-US" altLang="zh-CN" dirty="0"/>
              <a:t>:</a:t>
            </a:r>
            <a:r>
              <a:rPr lang="zh-CN" altLang="en-US" dirty="0"/>
              <a:t>直接定义结构体类型</a:t>
            </a:r>
          </a:p>
        </p:txBody>
      </p:sp>
      <p:sp>
        <p:nvSpPr>
          <p:cNvPr id="6" name="文本框 5">
            <a:extLst>
              <a:ext uri="{FF2B5EF4-FFF2-40B4-BE49-F238E27FC236}">
                <a16:creationId xmlns:a16="http://schemas.microsoft.com/office/drawing/2014/main" id="{88B39515-0086-3B5A-8D7E-DC1E65331D25}"/>
              </a:ext>
            </a:extLst>
          </p:cNvPr>
          <p:cNvSpPr txBox="1"/>
          <p:nvPr/>
        </p:nvSpPr>
        <p:spPr>
          <a:xfrm>
            <a:off x="2828683" y="2627086"/>
            <a:ext cx="4633000" cy="369332"/>
          </a:xfrm>
          <a:prstGeom prst="rect">
            <a:avLst/>
          </a:prstGeom>
          <a:noFill/>
        </p:spPr>
        <p:txBody>
          <a:bodyPr wrap="none" rtlCol="0">
            <a:spAutoFit/>
          </a:bodyPr>
          <a:lstStyle/>
          <a:p>
            <a:r>
              <a:rPr lang="zh-CN" altLang="en-US" dirty="0"/>
              <a:t>方式②</a:t>
            </a:r>
            <a:r>
              <a:rPr lang="en-US" altLang="zh-CN" dirty="0"/>
              <a:t>:</a:t>
            </a:r>
            <a:r>
              <a:rPr lang="zh-CN" altLang="en-US" dirty="0"/>
              <a:t>直接定义结构体类型，同时声明变量</a:t>
            </a:r>
          </a:p>
        </p:txBody>
      </p:sp>
      <p:pic>
        <p:nvPicPr>
          <p:cNvPr id="8" name="图片 7">
            <a:extLst>
              <a:ext uri="{FF2B5EF4-FFF2-40B4-BE49-F238E27FC236}">
                <a16:creationId xmlns:a16="http://schemas.microsoft.com/office/drawing/2014/main" id="{8963DDBC-C4E7-B469-81BD-9269CF1F515E}"/>
              </a:ext>
            </a:extLst>
          </p:cNvPr>
          <p:cNvPicPr>
            <a:picLocks noChangeAspect="1"/>
          </p:cNvPicPr>
          <p:nvPr/>
        </p:nvPicPr>
        <p:blipFill>
          <a:blip r:embed="rId4"/>
          <a:stretch>
            <a:fillRect/>
          </a:stretch>
        </p:blipFill>
        <p:spPr>
          <a:xfrm>
            <a:off x="7949174" y="3228923"/>
            <a:ext cx="3608275" cy="3046988"/>
          </a:xfrm>
          <a:prstGeom prst="rect">
            <a:avLst/>
          </a:prstGeom>
        </p:spPr>
      </p:pic>
      <p:sp>
        <p:nvSpPr>
          <p:cNvPr id="9" name="文本框 8">
            <a:extLst>
              <a:ext uri="{FF2B5EF4-FFF2-40B4-BE49-F238E27FC236}">
                <a16:creationId xmlns:a16="http://schemas.microsoft.com/office/drawing/2014/main" id="{0C02A97F-21EE-FEF4-0D2A-F51AC4F9733A}"/>
              </a:ext>
            </a:extLst>
          </p:cNvPr>
          <p:cNvSpPr txBox="1"/>
          <p:nvPr/>
        </p:nvSpPr>
        <p:spPr>
          <a:xfrm>
            <a:off x="2946124" y="3492251"/>
            <a:ext cx="2324675" cy="369332"/>
          </a:xfrm>
          <a:prstGeom prst="rect">
            <a:avLst/>
          </a:prstGeom>
          <a:noFill/>
        </p:spPr>
        <p:txBody>
          <a:bodyPr wrap="none" rtlCol="0">
            <a:spAutoFit/>
          </a:bodyPr>
          <a:lstStyle/>
          <a:p>
            <a:r>
              <a:rPr lang="zh-CN" altLang="en-US" dirty="0"/>
              <a:t>方式③</a:t>
            </a:r>
            <a:r>
              <a:rPr lang="en-US" altLang="zh-CN" dirty="0"/>
              <a:t>:</a:t>
            </a:r>
            <a:r>
              <a:rPr lang="zh-CN" altLang="en-US" dirty="0"/>
              <a:t>直接声明变量</a:t>
            </a:r>
          </a:p>
        </p:txBody>
      </p:sp>
      <p:sp>
        <p:nvSpPr>
          <p:cNvPr id="10" name="文本框 9">
            <a:extLst>
              <a:ext uri="{FF2B5EF4-FFF2-40B4-BE49-F238E27FC236}">
                <a16:creationId xmlns:a16="http://schemas.microsoft.com/office/drawing/2014/main" id="{9D840E2E-9720-3A3A-027F-C1B1D57100D3}"/>
              </a:ext>
            </a:extLst>
          </p:cNvPr>
          <p:cNvSpPr txBox="1"/>
          <p:nvPr/>
        </p:nvSpPr>
        <p:spPr>
          <a:xfrm>
            <a:off x="4511440" y="4107127"/>
            <a:ext cx="2324675" cy="369332"/>
          </a:xfrm>
          <a:prstGeom prst="rect">
            <a:avLst/>
          </a:prstGeom>
          <a:noFill/>
        </p:spPr>
        <p:txBody>
          <a:bodyPr wrap="none" rtlCol="0">
            <a:spAutoFit/>
          </a:bodyPr>
          <a:lstStyle/>
          <a:p>
            <a:r>
              <a:rPr lang="zh-CN" altLang="en-US" dirty="0"/>
              <a:t>简便①</a:t>
            </a:r>
            <a:r>
              <a:rPr lang="en-US" altLang="zh-CN" dirty="0"/>
              <a:t>:</a:t>
            </a:r>
            <a:r>
              <a:rPr lang="zh-CN" altLang="en-US" dirty="0"/>
              <a:t>定义类型别名</a:t>
            </a:r>
          </a:p>
        </p:txBody>
      </p:sp>
      <p:sp>
        <p:nvSpPr>
          <p:cNvPr id="11" name="文本框 10">
            <a:extLst>
              <a:ext uri="{FF2B5EF4-FFF2-40B4-BE49-F238E27FC236}">
                <a16:creationId xmlns:a16="http://schemas.microsoft.com/office/drawing/2014/main" id="{DC3FC981-C46D-4AE5-74C8-20CC57BDB63B}"/>
              </a:ext>
            </a:extLst>
          </p:cNvPr>
          <p:cNvSpPr txBox="1"/>
          <p:nvPr/>
        </p:nvSpPr>
        <p:spPr>
          <a:xfrm>
            <a:off x="3836526" y="4653124"/>
            <a:ext cx="3709670" cy="369332"/>
          </a:xfrm>
          <a:prstGeom prst="rect">
            <a:avLst/>
          </a:prstGeom>
          <a:noFill/>
        </p:spPr>
        <p:txBody>
          <a:bodyPr wrap="none" rtlCol="0">
            <a:spAutoFit/>
          </a:bodyPr>
          <a:lstStyle/>
          <a:p>
            <a:r>
              <a:rPr lang="zh-CN" altLang="en-US" dirty="0"/>
              <a:t>简便②</a:t>
            </a:r>
            <a:r>
              <a:rPr lang="en-US" altLang="zh-CN" dirty="0"/>
              <a:t>:</a:t>
            </a:r>
            <a:r>
              <a:rPr lang="zh-CN" altLang="en-US" dirty="0"/>
              <a:t>定义结构体时定义类型别名</a:t>
            </a:r>
          </a:p>
        </p:txBody>
      </p:sp>
      <p:sp>
        <p:nvSpPr>
          <p:cNvPr id="12" name="文本框 11">
            <a:extLst>
              <a:ext uri="{FF2B5EF4-FFF2-40B4-BE49-F238E27FC236}">
                <a16:creationId xmlns:a16="http://schemas.microsoft.com/office/drawing/2014/main" id="{C7D2F787-521C-9E57-9A73-BE714C6B6B58}"/>
              </a:ext>
            </a:extLst>
          </p:cNvPr>
          <p:cNvSpPr txBox="1"/>
          <p:nvPr/>
        </p:nvSpPr>
        <p:spPr>
          <a:xfrm>
            <a:off x="2863161" y="5587168"/>
            <a:ext cx="4402167" cy="369332"/>
          </a:xfrm>
          <a:prstGeom prst="rect">
            <a:avLst/>
          </a:prstGeom>
          <a:noFill/>
        </p:spPr>
        <p:txBody>
          <a:bodyPr wrap="none" rtlCol="0">
            <a:spAutoFit/>
          </a:bodyPr>
          <a:lstStyle/>
          <a:p>
            <a:r>
              <a:rPr lang="zh-CN" altLang="en-US" dirty="0"/>
              <a:t>简便③</a:t>
            </a:r>
            <a:r>
              <a:rPr lang="en-US" altLang="zh-CN" dirty="0"/>
              <a:t>:</a:t>
            </a:r>
            <a:r>
              <a:rPr lang="zh-CN" altLang="en-US" dirty="0"/>
              <a:t>定义无名称结构体时定义类型别名</a:t>
            </a:r>
          </a:p>
        </p:txBody>
      </p:sp>
      <p:sp>
        <p:nvSpPr>
          <p:cNvPr id="4" name="文本框 3">
            <a:extLst>
              <a:ext uri="{FF2B5EF4-FFF2-40B4-BE49-F238E27FC236}">
                <a16:creationId xmlns:a16="http://schemas.microsoft.com/office/drawing/2014/main" id="{663A54DC-8D00-20C8-2FB9-F4A599EF485F}"/>
              </a:ext>
            </a:extLst>
          </p:cNvPr>
          <p:cNvSpPr txBox="1"/>
          <p:nvPr/>
        </p:nvSpPr>
        <p:spPr>
          <a:xfrm>
            <a:off x="7735692" y="181935"/>
            <a:ext cx="4805867" cy="3046988"/>
          </a:xfrm>
          <a:prstGeom prst="rect">
            <a:avLst/>
          </a:prstGeom>
          <a:noFill/>
        </p:spPr>
        <p:txBody>
          <a:bodyPr wrap="none" rtlCol="0">
            <a:spAutoFit/>
          </a:bodyPr>
          <a:lstStyle/>
          <a:p>
            <a:r>
              <a:rPr lang="zh-CN" altLang="en-US" sz="2400" dirty="0"/>
              <a:t>一般形式</a:t>
            </a:r>
            <a:r>
              <a:rPr lang="en-US" altLang="zh-CN" sz="2400" dirty="0"/>
              <a:t>:  </a:t>
            </a:r>
          </a:p>
          <a:p>
            <a:r>
              <a:rPr lang="zh-CN" altLang="en-US" sz="2400" dirty="0"/>
              <a:t>定义类型</a:t>
            </a:r>
            <a:endParaRPr lang="en-US" altLang="zh-CN" sz="2400" dirty="0"/>
          </a:p>
          <a:p>
            <a:r>
              <a:rPr lang="en-US" altLang="zh-CN" sz="2400" dirty="0"/>
              <a:t>struct </a:t>
            </a:r>
            <a:r>
              <a:rPr lang="zh-CN" altLang="en-US" sz="2400" dirty="0"/>
              <a:t>结构类型名称 </a:t>
            </a:r>
            <a:r>
              <a:rPr lang="en-US" altLang="zh-CN" sz="2400" dirty="0"/>
              <a:t>{</a:t>
            </a:r>
          </a:p>
          <a:p>
            <a:r>
              <a:rPr lang="en-US" altLang="zh-CN" sz="2400" dirty="0"/>
              <a:t>    </a:t>
            </a:r>
            <a:r>
              <a:rPr lang="zh-CN" altLang="en-US" sz="2400" dirty="0"/>
              <a:t>数据类型  成员名</a:t>
            </a:r>
            <a:r>
              <a:rPr lang="en-US" altLang="zh-CN" sz="2400" dirty="0"/>
              <a:t>1;</a:t>
            </a:r>
          </a:p>
          <a:p>
            <a:r>
              <a:rPr lang="en-US" altLang="zh-CN" sz="2400" dirty="0"/>
              <a:t>    </a:t>
            </a:r>
            <a:r>
              <a:rPr lang="zh-CN" altLang="en-US" sz="2400" dirty="0"/>
              <a:t>数据类型  成员名</a:t>
            </a:r>
            <a:r>
              <a:rPr lang="en-US" altLang="zh-CN" sz="2400" dirty="0"/>
              <a:t>2;</a:t>
            </a:r>
          </a:p>
          <a:p>
            <a:r>
              <a:rPr lang="en-US" altLang="zh-CN" sz="2400" dirty="0"/>
              <a:t>};</a:t>
            </a:r>
          </a:p>
          <a:p>
            <a:r>
              <a:rPr lang="zh-CN" altLang="en-US" sz="2400" dirty="0"/>
              <a:t>定义变量</a:t>
            </a:r>
            <a:endParaRPr lang="en-US" altLang="zh-CN" sz="2400" dirty="0"/>
          </a:p>
          <a:p>
            <a:r>
              <a:rPr lang="en-US" altLang="zh-CN" sz="2400" dirty="0"/>
              <a:t>struct </a:t>
            </a:r>
            <a:r>
              <a:rPr lang="zh-CN" altLang="en-US" sz="2400" dirty="0"/>
              <a:t>结构类型名称 结构变量名； </a:t>
            </a:r>
          </a:p>
        </p:txBody>
      </p:sp>
    </p:spTree>
    <p:extLst>
      <p:ext uri="{BB962C8B-B14F-4D97-AF65-F5344CB8AC3E}">
        <p14:creationId xmlns:p14="http://schemas.microsoft.com/office/powerpoint/2010/main" val="2689519295"/>
      </p:ext>
    </p:extLst>
  </p:cSld>
  <p:clrMapOvr>
    <a:masterClrMapping/>
  </p:clrMapOvr>
  <p:transition spd="slow">
    <p:push dir="u"/>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1C9542A-BE27-0B4D-0BC5-692F100332B3}"/>
              </a:ext>
            </a:extLst>
          </p:cNvPr>
          <p:cNvSpPr txBox="1"/>
          <p:nvPr/>
        </p:nvSpPr>
        <p:spPr>
          <a:xfrm>
            <a:off x="997151" y="1253781"/>
            <a:ext cx="2448106" cy="369332"/>
          </a:xfrm>
          <a:prstGeom prst="rect">
            <a:avLst/>
          </a:prstGeom>
          <a:noFill/>
        </p:spPr>
        <p:txBody>
          <a:bodyPr wrap="none" rtlCol="0">
            <a:spAutoFit/>
          </a:bodyPr>
          <a:lstStyle/>
          <a:p>
            <a:r>
              <a:rPr lang="en-US" altLang="zh-CN" dirty="0"/>
              <a:t>——</a:t>
            </a:r>
            <a:r>
              <a:rPr lang="zh-CN" altLang="en-US" dirty="0"/>
              <a:t>你能想到的都可以</a:t>
            </a:r>
          </a:p>
        </p:txBody>
      </p:sp>
      <p:pic>
        <p:nvPicPr>
          <p:cNvPr id="3" name="图片 2">
            <a:extLst>
              <a:ext uri="{FF2B5EF4-FFF2-40B4-BE49-F238E27FC236}">
                <a16:creationId xmlns:a16="http://schemas.microsoft.com/office/drawing/2014/main" id="{7A3A06B5-65A6-ABEB-9F4B-C670B258475C}"/>
              </a:ext>
            </a:extLst>
          </p:cNvPr>
          <p:cNvPicPr>
            <a:picLocks noChangeAspect="1"/>
          </p:cNvPicPr>
          <p:nvPr/>
        </p:nvPicPr>
        <p:blipFill>
          <a:blip r:embed="rId2"/>
          <a:stretch>
            <a:fillRect/>
          </a:stretch>
        </p:blipFill>
        <p:spPr>
          <a:xfrm>
            <a:off x="3901374" y="1040481"/>
            <a:ext cx="6287655" cy="3403510"/>
          </a:xfrm>
          <a:prstGeom prst="rect">
            <a:avLst/>
          </a:prstGeom>
        </p:spPr>
      </p:pic>
      <p:pic>
        <p:nvPicPr>
          <p:cNvPr id="5" name="图片 4">
            <a:extLst>
              <a:ext uri="{FF2B5EF4-FFF2-40B4-BE49-F238E27FC236}">
                <a16:creationId xmlns:a16="http://schemas.microsoft.com/office/drawing/2014/main" id="{CC26F8C5-DC48-B503-3310-B4A02B6B0370}"/>
              </a:ext>
            </a:extLst>
          </p:cNvPr>
          <p:cNvPicPr>
            <a:picLocks noChangeAspect="1"/>
          </p:cNvPicPr>
          <p:nvPr/>
        </p:nvPicPr>
        <p:blipFill>
          <a:blip r:embed="rId3"/>
          <a:stretch>
            <a:fillRect/>
          </a:stretch>
        </p:blipFill>
        <p:spPr>
          <a:xfrm>
            <a:off x="2442689" y="4554306"/>
            <a:ext cx="7042397" cy="1316961"/>
          </a:xfrm>
          <a:prstGeom prst="rect">
            <a:avLst/>
          </a:prstGeom>
        </p:spPr>
      </p:pic>
      <p:sp>
        <p:nvSpPr>
          <p:cNvPr id="6" name="文本框 5">
            <a:extLst>
              <a:ext uri="{FF2B5EF4-FFF2-40B4-BE49-F238E27FC236}">
                <a16:creationId xmlns:a16="http://schemas.microsoft.com/office/drawing/2014/main" id="{86169E01-F65F-4DCF-8D8A-6B9B0765AA78}"/>
              </a:ext>
            </a:extLst>
          </p:cNvPr>
          <p:cNvSpPr txBox="1"/>
          <p:nvPr/>
        </p:nvSpPr>
        <p:spPr>
          <a:xfrm>
            <a:off x="642842" y="109094"/>
            <a:ext cx="4947467" cy="1089529"/>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结构体里能放什么？</a:t>
            </a:r>
          </a:p>
        </p:txBody>
      </p:sp>
    </p:spTree>
    <p:extLst>
      <p:ext uri="{BB962C8B-B14F-4D97-AF65-F5344CB8AC3E}">
        <p14:creationId xmlns:p14="http://schemas.microsoft.com/office/powerpoint/2010/main" val="3110840871"/>
      </p:ext>
    </p:extLst>
  </p:cSld>
  <p:clrMapOvr>
    <a:masterClrMapping/>
  </p:clrMapOvr>
  <p:transition spd="slow">
    <p:push dir="u"/>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3FDB4B1-258E-02CB-61B6-E1B7C5FB75DE}"/>
              </a:ext>
            </a:extLst>
          </p:cNvPr>
          <p:cNvSpPr txBox="1"/>
          <p:nvPr/>
        </p:nvSpPr>
        <p:spPr>
          <a:xfrm>
            <a:off x="623344" y="358262"/>
            <a:ext cx="387798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结构体静态初始化</a:t>
            </a:r>
          </a:p>
        </p:txBody>
      </p:sp>
      <p:sp>
        <p:nvSpPr>
          <p:cNvPr id="3" name="文本框 2">
            <a:extLst>
              <a:ext uri="{FF2B5EF4-FFF2-40B4-BE49-F238E27FC236}">
                <a16:creationId xmlns:a16="http://schemas.microsoft.com/office/drawing/2014/main" id="{4D7B5567-2ACB-1059-00AB-071CD045BEC6}"/>
              </a:ext>
            </a:extLst>
          </p:cNvPr>
          <p:cNvSpPr txBox="1"/>
          <p:nvPr/>
        </p:nvSpPr>
        <p:spPr>
          <a:xfrm>
            <a:off x="6062519" y="1674265"/>
            <a:ext cx="4070345" cy="1200329"/>
          </a:xfrm>
          <a:prstGeom prst="rect">
            <a:avLst/>
          </a:prstGeom>
          <a:noFill/>
        </p:spPr>
        <p:txBody>
          <a:bodyPr wrap="none" rtlCol="0">
            <a:spAutoFit/>
          </a:bodyPr>
          <a:lstStyle/>
          <a:p>
            <a:r>
              <a:rPr lang="zh-CN" altLang="en-US" sz="2400" dirty="0"/>
              <a:t>①每个结构体元素用</a:t>
            </a:r>
            <a:r>
              <a:rPr lang="en-US" altLang="zh-CN" sz="2400" dirty="0"/>
              <a:t>{}</a:t>
            </a:r>
            <a:r>
              <a:rPr lang="zh-CN" altLang="en-US" sz="2400" dirty="0"/>
              <a:t>括起来</a:t>
            </a:r>
          </a:p>
          <a:p>
            <a:r>
              <a:rPr lang="zh-CN" altLang="en-US" sz="2400" dirty="0"/>
              <a:t>②都不用</a:t>
            </a:r>
            <a:r>
              <a:rPr lang="en-US" altLang="zh-CN" sz="2400" dirty="0"/>
              <a:t>{}</a:t>
            </a:r>
            <a:r>
              <a:rPr lang="zh-CN" altLang="en-US" sz="2400" dirty="0"/>
              <a:t>括起来</a:t>
            </a:r>
            <a:endParaRPr lang="en-US" altLang="zh-CN" sz="2400" dirty="0"/>
          </a:p>
          <a:p>
            <a:r>
              <a:rPr lang="zh-CN" altLang="en-US" sz="2400" dirty="0"/>
              <a:t>③部分结构体用</a:t>
            </a:r>
            <a:r>
              <a:rPr lang="en-US" altLang="zh-CN" sz="2400" dirty="0"/>
              <a:t>{}</a:t>
            </a:r>
            <a:r>
              <a:rPr lang="zh-CN" altLang="en-US" sz="2400" dirty="0"/>
              <a:t>括起来</a:t>
            </a:r>
          </a:p>
        </p:txBody>
      </p:sp>
      <p:pic>
        <p:nvPicPr>
          <p:cNvPr id="5" name="图片 4">
            <a:extLst>
              <a:ext uri="{FF2B5EF4-FFF2-40B4-BE49-F238E27FC236}">
                <a16:creationId xmlns:a16="http://schemas.microsoft.com/office/drawing/2014/main" id="{875814A1-D7BB-CE26-DC75-092509E48D30}"/>
              </a:ext>
            </a:extLst>
          </p:cNvPr>
          <p:cNvPicPr>
            <a:picLocks noChangeAspect="1"/>
          </p:cNvPicPr>
          <p:nvPr/>
        </p:nvPicPr>
        <p:blipFill>
          <a:blip r:embed="rId2"/>
          <a:stretch>
            <a:fillRect/>
          </a:stretch>
        </p:blipFill>
        <p:spPr>
          <a:xfrm>
            <a:off x="678762" y="1119860"/>
            <a:ext cx="4764121" cy="2309140"/>
          </a:xfrm>
          <a:prstGeom prst="rect">
            <a:avLst/>
          </a:prstGeom>
        </p:spPr>
      </p:pic>
      <p:pic>
        <p:nvPicPr>
          <p:cNvPr id="9" name="图片 8">
            <a:extLst>
              <a:ext uri="{FF2B5EF4-FFF2-40B4-BE49-F238E27FC236}">
                <a16:creationId xmlns:a16="http://schemas.microsoft.com/office/drawing/2014/main" id="{2D340CE2-F765-2526-746C-ACBA6CDB8C17}"/>
              </a:ext>
            </a:extLst>
          </p:cNvPr>
          <p:cNvPicPr>
            <a:picLocks noChangeAspect="1"/>
          </p:cNvPicPr>
          <p:nvPr/>
        </p:nvPicPr>
        <p:blipFill>
          <a:blip r:embed="rId3"/>
          <a:stretch>
            <a:fillRect/>
          </a:stretch>
        </p:blipFill>
        <p:spPr>
          <a:xfrm>
            <a:off x="534523" y="4050306"/>
            <a:ext cx="7372419" cy="1635128"/>
          </a:xfrm>
          <a:prstGeom prst="rect">
            <a:avLst/>
          </a:prstGeom>
        </p:spPr>
      </p:pic>
      <p:sp>
        <p:nvSpPr>
          <p:cNvPr id="10" name="文本框 9">
            <a:extLst>
              <a:ext uri="{FF2B5EF4-FFF2-40B4-BE49-F238E27FC236}">
                <a16:creationId xmlns:a16="http://schemas.microsoft.com/office/drawing/2014/main" id="{0D7BA9E5-125A-67A7-E3E3-73CDCB085E7F}"/>
              </a:ext>
            </a:extLst>
          </p:cNvPr>
          <p:cNvSpPr txBox="1"/>
          <p:nvPr/>
        </p:nvSpPr>
        <p:spPr>
          <a:xfrm>
            <a:off x="8440057" y="4406205"/>
            <a:ext cx="2728632" cy="461665"/>
          </a:xfrm>
          <a:prstGeom prst="rect">
            <a:avLst/>
          </a:prstGeom>
          <a:noFill/>
        </p:spPr>
        <p:txBody>
          <a:bodyPr wrap="none" rtlCol="0">
            <a:spAutoFit/>
          </a:bodyPr>
          <a:lstStyle/>
          <a:p>
            <a:r>
              <a:rPr lang="zh-CN" altLang="en-US" sz="2400" dirty="0"/>
              <a:t>思考①</a:t>
            </a:r>
            <a:r>
              <a:rPr lang="en-US" altLang="zh-CN" sz="2400" dirty="0"/>
              <a:t>:</a:t>
            </a:r>
            <a:r>
              <a:rPr lang="zh-CN" altLang="en-US" sz="2400" dirty="0"/>
              <a:t>解释该代码</a:t>
            </a:r>
          </a:p>
        </p:txBody>
      </p:sp>
    </p:spTree>
    <p:extLst>
      <p:ext uri="{BB962C8B-B14F-4D97-AF65-F5344CB8AC3E}">
        <p14:creationId xmlns:p14="http://schemas.microsoft.com/office/powerpoint/2010/main" val="11157398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69F87D1-BA33-FE9E-0B6C-D8AF33E846AC}"/>
              </a:ext>
            </a:extLst>
          </p:cNvPr>
          <p:cNvSpPr txBox="1"/>
          <p:nvPr/>
        </p:nvSpPr>
        <p:spPr>
          <a:xfrm>
            <a:off x="558800" y="1306601"/>
            <a:ext cx="2786340" cy="369332"/>
          </a:xfrm>
          <a:prstGeom prst="rect">
            <a:avLst/>
          </a:prstGeom>
          <a:noFill/>
        </p:spPr>
        <p:txBody>
          <a:bodyPr wrap="none" rtlCol="0">
            <a:spAutoFit/>
          </a:bodyPr>
          <a:lstStyle/>
          <a:p>
            <a:r>
              <a:rPr lang="zh-CN" altLang="en-US" dirty="0"/>
              <a:t>问题①</a:t>
            </a:r>
            <a:r>
              <a:rPr lang="en-US" altLang="zh-CN" dirty="0"/>
              <a:t>:</a:t>
            </a:r>
            <a:r>
              <a:rPr lang="zh-CN" altLang="en-US" dirty="0"/>
              <a:t>该代码有什么问题</a:t>
            </a:r>
            <a:endParaRPr lang="en-US" altLang="zh-CN" dirty="0"/>
          </a:p>
        </p:txBody>
      </p:sp>
      <p:pic>
        <p:nvPicPr>
          <p:cNvPr id="3" name="图片 2">
            <a:extLst>
              <a:ext uri="{FF2B5EF4-FFF2-40B4-BE49-F238E27FC236}">
                <a16:creationId xmlns:a16="http://schemas.microsoft.com/office/drawing/2014/main" id="{7ED3DD3E-5A82-7A81-3C22-B7769B4E011B}"/>
              </a:ext>
            </a:extLst>
          </p:cNvPr>
          <p:cNvPicPr>
            <a:picLocks noChangeAspect="1"/>
          </p:cNvPicPr>
          <p:nvPr/>
        </p:nvPicPr>
        <p:blipFill>
          <a:blip r:embed="rId2"/>
          <a:stretch>
            <a:fillRect/>
          </a:stretch>
        </p:blipFill>
        <p:spPr>
          <a:xfrm>
            <a:off x="671989" y="822652"/>
            <a:ext cx="6104005" cy="483949"/>
          </a:xfrm>
          <a:prstGeom prst="rect">
            <a:avLst/>
          </a:prstGeom>
        </p:spPr>
      </p:pic>
      <p:sp>
        <p:nvSpPr>
          <p:cNvPr id="4" name="文本框 3">
            <a:extLst>
              <a:ext uri="{FF2B5EF4-FFF2-40B4-BE49-F238E27FC236}">
                <a16:creationId xmlns:a16="http://schemas.microsoft.com/office/drawing/2014/main" id="{7A0CF1A3-BB24-938A-D6AC-0316E9D25AFD}"/>
              </a:ext>
            </a:extLst>
          </p:cNvPr>
          <p:cNvSpPr txBox="1"/>
          <p:nvPr/>
        </p:nvSpPr>
        <p:spPr>
          <a:xfrm>
            <a:off x="558798" y="3092184"/>
            <a:ext cx="10831811" cy="830997"/>
          </a:xfrm>
          <a:prstGeom prst="rect">
            <a:avLst/>
          </a:prstGeom>
          <a:noFill/>
        </p:spPr>
        <p:txBody>
          <a:bodyPr wrap="none" rtlCol="0">
            <a:spAutoFit/>
          </a:bodyPr>
          <a:lstStyle/>
          <a:p>
            <a:r>
              <a:rPr lang="zh-CN" altLang="en-US" sz="2400" dirty="0"/>
              <a:t>提示③</a:t>
            </a:r>
            <a:r>
              <a:rPr lang="en-US" altLang="zh-CN" sz="2400" dirty="0"/>
              <a:t>:</a:t>
            </a:r>
            <a:r>
              <a:rPr lang="zh-CN" altLang="en-US" sz="2400" dirty="0"/>
              <a:t>既然不能这样赋值，那我要一个个赋值好麻烦啊，结构体一点也不好用</a:t>
            </a:r>
            <a:r>
              <a:rPr lang="en-US" altLang="zh-CN" sz="2400" dirty="0"/>
              <a:t>!</a:t>
            </a:r>
          </a:p>
          <a:p>
            <a:r>
              <a:rPr lang="zh-CN" altLang="en-US" sz="2400" dirty="0"/>
              <a:t>有解决办法吗？</a:t>
            </a:r>
            <a:r>
              <a:rPr lang="en-US" altLang="zh-CN" sz="2400" dirty="0"/>
              <a:t>——</a:t>
            </a:r>
            <a:r>
              <a:rPr lang="zh-CN" altLang="en-US" sz="2400" dirty="0"/>
              <a:t>写个构造函数</a:t>
            </a:r>
          </a:p>
        </p:txBody>
      </p:sp>
      <p:pic>
        <p:nvPicPr>
          <p:cNvPr id="8" name="图片 7">
            <a:extLst>
              <a:ext uri="{FF2B5EF4-FFF2-40B4-BE49-F238E27FC236}">
                <a16:creationId xmlns:a16="http://schemas.microsoft.com/office/drawing/2014/main" id="{62CF7CED-66CA-F31D-E236-B876EEA80014}"/>
              </a:ext>
            </a:extLst>
          </p:cNvPr>
          <p:cNvPicPr>
            <a:picLocks noChangeAspect="1"/>
          </p:cNvPicPr>
          <p:nvPr/>
        </p:nvPicPr>
        <p:blipFill>
          <a:blip r:embed="rId3"/>
          <a:stretch>
            <a:fillRect/>
          </a:stretch>
        </p:blipFill>
        <p:spPr>
          <a:xfrm>
            <a:off x="741058" y="3984257"/>
            <a:ext cx="6661228" cy="2615666"/>
          </a:xfrm>
          <a:prstGeom prst="rect">
            <a:avLst/>
          </a:prstGeom>
        </p:spPr>
      </p:pic>
      <p:pic>
        <p:nvPicPr>
          <p:cNvPr id="10" name="图片 9">
            <a:extLst>
              <a:ext uri="{FF2B5EF4-FFF2-40B4-BE49-F238E27FC236}">
                <a16:creationId xmlns:a16="http://schemas.microsoft.com/office/drawing/2014/main" id="{1CB997F3-0295-4313-E042-A024252DF41F}"/>
              </a:ext>
            </a:extLst>
          </p:cNvPr>
          <p:cNvPicPr>
            <a:picLocks noChangeAspect="1"/>
          </p:cNvPicPr>
          <p:nvPr/>
        </p:nvPicPr>
        <p:blipFill>
          <a:blip r:embed="rId4"/>
          <a:stretch>
            <a:fillRect/>
          </a:stretch>
        </p:blipFill>
        <p:spPr>
          <a:xfrm>
            <a:off x="4411222" y="4693102"/>
            <a:ext cx="7422659" cy="263526"/>
          </a:xfrm>
          <a:prstGeom prst="rect">
            <a:avLst/>
          </a:prstGeom>
        </p:spPr>
      </p:pic>
      <p:sp>
        <p:nvSpPr>
          <p:cNvPr id="11" name="文本框 10">
            <a:extLst>
              <a:ext uri="{FF2B5EF4-FFF2-40B4-BE49-F238E27FC236}">
                <a16:creationId xmlns:a16="http://schemas.microsoft.com/office/drawing/2014/main" id="{577DBAAE-4A33-AF2A-8F8F-030A4634979B}"/>
              </a:ext>
            </a:extLst>
          </p:cNvPr>
          <p:cNvSpPr txBox="1"/>
          <p:nvPr/>
        </p:nvSpPr>
        <p:spPr>
          <a:xfrm>
            <a:off x="6096000" y="4972731"/>
            <a:ext cx="5190845" cy="461665"/>
          </a:xfrm>
          <a:prstGeom prst="rect">
            <a:avLst/>
          </a:prstGeom>
          <a:noFill/>
        </p:spPr>
        <p:txBody>
          <a:bodyPr wrap="none" rtlCol="0">
            <a:spAutoFit/>
          </a:bodyPr>
          <a:lstStyle/>
          <a:p>
            <a:r>
              <a:rPr lang="zh-CN" altLang="en-US" sz="2400" dirty="0"/>
              <a:t>提示④</a:t>
            </a:r>
            <a:r>
              <a:rPr lang="en-US" altLang="zh-CN" sz="2400" dirty="0"/>
              <a:t>:</a:t>
            </a:r>
            <a:r>
              <a:rPr lang="zh-CN" altLang="en-US" sz="2400" dirty="0"/>
              <a:t>结构体也可以作为函数返回值</a:t>
            </a:r>
          </a:p>
        </p:txBody>
      </p:sp>
      <p:sp>
        <p:nvSpPr>
          <p:cNvPr id="12" name="文本框 11">
            <a:extLst>
              <a:ext uri="{FF2B5EF4-FFF2-40B4-BE49-F238E27FC236}">
                <a16:creationId xmlns:a16="http://schemas.microsoft.com/office/drawing/2014/main" id="{2341D122-2F2E-CA26-7123-78551C45E3EC}"/>
              </a:ext>
            </a:extLst>
          </p:cNvPr>
          <p:cNvSpPr txBox="1"/>
          <p:nvPr/>
        </p:nvSpPr>
        <p:spPr>
          <a:xfrm>
            <a:off x="6096000" y="5322904"/>
            <a:ext cx="4575291" cy="1569660"/>
          </a:xfrm>
          <a:prstGeom prst="rect">
            <a:avLst/>
          </a:prstGeom>
          <a:noFill/>
        </p:spPr>
        <p:txBody>
          <a:bodyPr wrap="none" rtlCol="0">
            <a:spAutoFit/>
          </a:bodyPr>
          <a:lstStyle/>
          <a:p>
            <a:r>
              <a:rPr lang="zh-CN" altLang="en-US" sz="2400" dirty="0"/>
              <a:t>提示⑤</a:t>
            </a:r>
            <a:r>
              <a:rPr lang="en-US" altLang="zh-CN" sz="2400" dirty="0"/>
              <a:t>:</a:t>
            </a:r>
            <a:r>
              <a:rPr lang="zh-CN" altLang="en-US" sz="2400" dirty="0"/>
              <a:t>姓名为什么要单独赋值？</a:t>
            </a:r>
            <a:endParaRPr lang="en-US" altLang="zh-CN" sz="2400" dirty="0"/>
          </a:p>
          <a:p>
            <a:r>
              <a:rPr lang="zh-CN" altLang="en-US" sz="2400" dirty="0"/>
              <a:t>字符串可以直接</a:t>
            </a:r>
            <a:r>
              <a:rPr lang="en-US" altLang="zh-CN" sz="2400" dirty="0"/>
              <a:t>=</a:t>
            </a:r>
            <a:r>
              <a:rPr lang="zh-CN" altLang="en-US" sz="2400" dirty="0"/>
              <a:t>赋值吗？</a:t>
            </a:r>
            <a:endParaRPr lang="en-US" altLang="zh-CN" sz="2400" dirty="0"/>
          </a:p>
          <a:p>
            <a:r>
              <a:rPr lang="zh-CN" altLang="en-US" sz="2400" dirty="0"/>
              <a:t>结构体可以</a:t>
            </a:r>
            <a:r>
              <a:rPr lang="en-US" altLang="zh-CN" sz="2400" dirty="0"/>
              <a:t>=</a:t>
            </a:r>
            <a:r>
              <a:rPr lang="zh-CN" altLang="en-US" sz="2400" dirty="0"/>
              <a:t>赋值吗</a:t>
            </a:r>
            <a:r>
              <a:rPr lang="en-US" altLang="zh-CN" sz="2400" dirty="0"/>
              <a:t>?</a:t>
            </a:r>
          </a:p>
          <a:p>
            <a:r>
              <a:rPr lang="zh-CN" altLang="en-US" sz="2400" dirty="0"/>
              <a:t>看到结构体的优势了吗？</a:t>
            </a:r>
          </a:p>
        </p:txBody>
      </p:sp>
      <p:sp>
        <p:nvSpPr>
          <p:cNvPr id="14" name="文本框 13">
            <a:extLst>
              <a:ext uri="{FF2B5EF4-FFF2-40B4-BE49-F238E27FC236}">
                <a16:creationId xmlns:a16="http://schemas.microsoft.com/office/drawing/2014/main" id="{CAA8F362-2DA5-D53D-87F0-DFC456B8F1A5}"/>
              </a:ext>
            </a:extLst>
          </p:cNvPr>
          <p:cNvSpPr txBox="1"/>
          <p:nvPr/>
        </p:nvSpPr>
        <p:spPr>
          <a:xfrm>
            <a:off x="558799" y="1547255"/>
            <a:ext cx="11996057" cy="1631216"/>
          </a:xfrm>
          <a:prstGeom prst="rect">
            <a:avLst/>
          </a:prstGeom>
          <a:noFill/>
        </p:spPr>
        <p:txBody>
          <a:bodyPr wrap="square">
            <a:spAutoFit/>
          </a:bodyPr>
          <a:lstStyle/>
          <a:p>
            <a:r>
              <a:rPr lang="zh-CN" altLang="en-US" sz="2000" dirty="0"/>
              <a:t>提示②</a:t>
            </a:r>
            <a:r>
              <a:rPr lang="en-US" altLang="zh-CN" sz="2000" dirty="0"/>
              <a:t>:</a:t>
            </a:r>
            <a:r>
              <a:rPr lang="zh-CN" altLang="en-US" sz="2000" b="1" dirty="0"/>
              <a:t>每个元素的初始化都用花括号括起来</a:t>
            </a:r>
            <a:r>
              <a:rPr lang="zh-CN" altLang="en-US" sz="2000" dirty="0"/>
              <a:t>，并且元素之间用逗号分隔。</a:t>
            </a:r>
            <a:endParaRPr lang="en-US" altLang="zh-CN" sz="2000" dirty="0"/>
          </a:p>
          <a:p>
            <a:r>
              <a:rPr lang="zh-CN" altLang="en-US" sz="2000" dirty="0"/>
              <a:t>在每个元素的初始化中，结构体的每个成员按照声明的顺序赋值，</a:t>
            </a:r>
            <a:endParaRPr lang="en-US" altLang="zh-CN" sz="2000" dirty="0"/>
          </a:p>
          <a:p>
            <a:r>
              <a:rPr lang="zh-CN" altLang="en-US" sz="2000" dirty="0"/>
              <a:t>如果成员是一个结构体或者联合体，那么它的初始化也需要用花括号括起来。</a:t>
            </a:r>
          </a:p>
          <a:p>
            <a:r>
              <a:rPr lang="zh-CN" altLang="en-US" sz="2000" dirty="0"/>
              <a:t>注意，</a:t>
            </a:r>
            <a:r>
              <a:rPr lang="zh-CN" altLang="en-US" sz="2000" b="1" dirty="0"/>
              <a:t>这种初始化方式只能在声明数组时使用</a:t>
            </a:r>
            <a:r>
              <a:rPr lang="zh-CN" altLang="en-US" sz="2000" dirty="0"/>
              <a:t>，如果数组已经声明，</a:t>
            </a:r>
            <a:endParaRPr lang="en-US" altLang="zh-CN" sz="2000" dirty="0"/>
          </a:p>
          <a:p>
            <a:r>
              <a:rPr lang="zh-CN" altLang="en-US" sz="2000" dirty="0"/>
              <a:t>那么不能再使用这种方式为整个数组或者单个元素赋值，只能为每个成员分别赋值。</a:t>
            </a:r>
          </a:p>
        </p:txBody>
      </p:sp>
      <p:sp>
        <p:nvSpPr>
          <p:cNvPr id="5" name="文本框 4">
            <a:extLst>
              <a:ext uri="{FF2B5EF4-FFF2-40B4-BE49-F238E27FC236}">
                <a16:creationId xmlns:a16="http://schemas.microsoft.com/office/drawing/2014/main" id="{7A0732BC-4215-7DEE-8B4E-F9272CAB2696}"/>
              </a:ext>
            </a:extLst>
          </p:cNvPr>
          <p:cNvSpPr txBox="1"/>
          <p:nvPr/>
        </p:nvSpPr>
        <p:spPr>
          <a:xfrm>
            <a:off x="671989" y="245118"/>
            <a:ext cx="6186309"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结构体静态初始化的常见错误</a:t>
            </a:r>
          </a:p>
        </p:txBody>
      </p:sp>
    </p:spTree>
    <p:extLst>
      <p:ext uri="{BB962C8B-B14F-4D97-AF65-F5344CB8AC3E}">
        <p14:creationId xmlns:p14="http://schemas.microsoft.com/office/powerpoint/2010/main" val="859255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A4AD0E7-ADB8-C58F-C395-369A17EB87FB}"/>
              </a:ext>
            </a:extLst>
          </p:cNvPr>
          <p:cNvSpPr txBox="1"/>
          <p:nvPr/>
        </p:nvSpPr>
        <p:spPr>
          <a:xfrm>
            <a:off x="622278" y="435731"/>
            <a:ext cx="3833101" cy="369332"/>
          </a:xfrm>
          <a:prstGeom prst="rect">
            <a:avLst/>
          </a:prstGeom>
          <a:noFill/>
        </p:spPr>
        <p:txBody>
          <a:bodyPr wrap="none" rtlCol="0">
            <a:spAutoFit/>
          </a:bodyPr>
          <a:lstStyle/>
          <a:p>
            <a:r>
              <a:rPr lang="zh-CN" altLang="en-US" b="1" dirty="0"/>
              <a:t>结构体属性访问</a:t>
            </a:r>
            <a:r>
              <a:rPr lang="en-US" altLang="zh-CN" b="1"/>
              <a:t>——</a:t>
            </a:r>
            <a:r>
              <a:rPr lang="zh-CN" altLang="en-US"/>
              <a:t>动态</a:t>
            </a:r>
            <a:r>
              <a:rPr lang="zh-CN" altLang="en-US" dirty="0"/>
              <a:t>赋值与输出</a:t>
            </a:r>
          </a:p>
        </p:txBody>
      </p:sp>
      <p:pic>
        <p:nvPicPr>
          <p:cNvPr id="4" name="图片 3">
            <a:extLst>
              <a:ext uri="{FF2B5EF4-FFF2-40B4-BE49-F238E27FC236}">
                <a16:creationId xmlns:a16="http://schemas.microsoft.com/office/drawing/2014/main" id="{96D671CE-32E4-DBF5-752C-5F62B74DAEAD}"/>
              </a:ext>
            </a:extLst>
          </p:cNvPr>
          <p:cNvPicPr>
            <a:picLocks noChangeAspect="1"/>
          </p:cNvPicPr>
          <p:nvPr/>
        </p:nvPicPr>
        <p:blipFill>
          <a:blip r:embed="rId2"/>
          <a:stretch>
            <a:fillRect/>
          </a:stretch>
        </p:blipFill>
        <p:spPr>
          <a:xfrm>
            <a:off x="226679" y="2263793"/>
            <a:ext cx="5329481" cy="3867124"/>
          </a:xfrm>
          <a:prstGeom prst="rect">
            <a:avLst/>
          </a:prstGeom>
        </p:spPr>
      </p:pic>
      <p:sp>
        <p:nvSpPr>
          <p:cNvPr id="5" name="文本框 4">
            <a:extLst>
              <a:ext uri="{FF2B5EF4-FFF2-40B4-BE49-F238E27FC236}">
                <a16:creationId xmlns:a16="http://schemas.microsoft.com/office/drawing/2014/main" id="{9BEF19A1-9CB4-761A-3613-C5B105CDC5C5}"/>
              </a:ext>
            </a:extLst>
          </p:cNvPr>
          <p:cNvSpPr txBox="1"/>
          <p:nvPr/>
        </p:nvSpPr>
        <p:spPr>
          <a:xfrm>
            <a:off x="158951" y="1445816"/>
            <a:ext cx="4798108" cy="461665"/>
          </a:xfrm>
          <a:prstGeom prst="rect">
            <a:avLst/>
          </a:prstGeom>
          <a:noFill/>
        </p:spPr>
        <p:txBody>
          <a:bodyPr wrap="none" rtlCol="0">
            <a:spAutoFit/>
          </a:bodyPr>
          <a:lstStyle/>
          <a:p>
            <a:r>
              <a:rPr lang="zh-CN" altLang="en-US" sz="2400" dirty="0"/>
              <a:t>结构体指针访问属性</a:t>
            </a:r>
            <a:r>
              <a:rPr lang="en-US" altLang="zh-CN" sz="2400" dirty="0"/>
              <a:t>-&gt;(</a:t>
            </a:r>
            <a:r>
              <a:rPr lang="zh-CN" altLang="en-US" sz="2400" dirty="0"/>
              <a:t>等效于</a:t>
            </a:r>
            <a:r>
              <a:rPr lang="en-US" altLang="zh-CN" sz="2400" dirty="0"/>
              <a:t> (*).)</a:t>
            </a:r>
            <a:endParaRPr lang="zh-CN" altLang="en-US" sz="2400" dirty="0"/>
          </a:p>
        </p:txBody>
      </p:sp>
      <p:pic>
        <p:nvPicPr>
          <p:cNvPr id="7" name="图片 6">
            <a:extLst>
              <a:ext uri="{FF2B5EF4-FFF2-40B4-BE49-F238E27FC236}">
                <a16:creationId xmlns:a16="http://schemas.microsoft.com/office/drawing/2014/main" id="{F9F3F73D-236E-2C82-519E-D3EC97D0F700}"/>
              </a:ext>
            </a:extLst>
          </p:cNvPr>
          <p:cNvPicPr>
            <a:picLocks noChangeAspect="1"/>
          </p:cNvPicPr>
          <p:nvPr/>
        </p:nvPicPr>
        <p:blipFill>
          <a:blip r:embed="rId3"/>
          <a:stretch>
            <a:fillRect/>
          </a:stretch>
        </p:blipFill>
        <p:spPr>
          <a:xfrm>
            <a:off x="5556160" y="2263793"/>
            <a:ext cx="6628559" cy="3708836"/>
          </a:xfrm>
          <a:prstGeom prst="rect">
            <a:avLst/>
          </a:prstGeom>
        </p:spPr>
      </p:pic>
      <p:pic>
        <p:nvPicPr>
          <p:cNvPr id="10" name="图片 9">
            <a:extLst>
              <a:ext uri="{FF2B5EF4-FFF2-40B4-BE49-F238E27FC236}">
                <a16:creationId xmlns:a16="http://schemas.microsoft.com/office/drawing/2014/main" id="{B565175A-1DBC-1AE8-46B7-D7C8AEDC7926}"/>
              </a:ext>
            </a:extLst>
          </p:cNvPr>
          <p:cNvPicPr>
            <a:picLocks noChangeAspect="1"/>
          </p:cNvPicPr>
          <p:nvPr/>
        </p:nvPicPr>
        <p:blipFill>
          <a:blip r:embed="rId4"/>
          <a:stretch>
            <a:fillRect/>
          </a:stretch>
        </p:blipFill>
        <p:spPr>
          <a:xfrm>
            <a:off x="4957059" y="88067"/>
            <a:ext cx="6153195" cy="2047890"/>
          </a:xfrm>
          <a:prstGeom prst="rect">
            <a:avLst/>
          </a:prstGeom>
        </p:spPr>
      </p:pic>
      <p:sp>
        <p:nvSpPr>
          <p:cNvPr id="8" name="文本框 7">
            <a:extLst>
              <a:ext uri="{FF2B5EF4-FFF2-40B4-BE49-F238E27FC236}">
                <a16:creationId xmlns:a16="http://schemas.microsoft.com/office/drawing/2014/main" id="{2EA4E5A7-7E16-F700-7516-FB13BFD881BB}"/>
              </a:ext>
            </a:extLst>
          </p:cNvPr>
          <p:cNvSpPr txBox="1"/>
          <p:nvPr/>
        </p:nvSpPr>
        <p:spPr>
          <a:xfrm>
            <a:off x="5982651" y="1905124"/>
            <a:ext cx="3100529" cy="461665"/>
          </a:xfrm>
          <a:prstGeom prst="rect">
            <a:avLst/>
          </a:prstGeom>
          <a:noFill/>
        </p:spPr>
        <p:txBody>
          <a:bodyPr wrap="none" rtlCol="0">
            <a:spAutoFit/>
          </a:bodyPr>
          <a:lstStyle/>
          <a:p>
            <a:r>
              <a:rPr lang="zh-CN" altLang="en-US" sz="2400" dirty="0"/>
              <a:t>结构体变量访问属性</a:t>
            </a:r>
            <a:r>
              <a:rPr lang="en-US" altLang="zh-CN" sz="2400" dirty="0"/>
              <a:t> .</a:t>
            </a:r>
            <a:endParaRPr lang="zh-CN" altLang="en-US" sz="2400" dirty="0"/>
          </a:p>
        </p:txBody>
      </p:sp>
    </p:spTree>
    <p:extLst>
      <p:ext uri="{BB962C8B-B14F-4D97-AF65-F5344CB8AC3E}">
        <p14:creationId xmlns:p14="http://schemas.microsoft.com/office/powerpoint/2010/main" val="3692410530"/>
      </p:ext>
    </p:extLst>
  </p:cSld>
  <p:clrMapOvr>
    <a:masterClrMapping/>
  </p:clrMapOvr>
  <p:transition spd="slow">
    <p:push di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05CDCE-D308-458B-763E-29E2E55C0D0B}"/>
              </a:ext>
            </a:extLst>
          </p:cNvPr>
          <p:cNvSpPr txBox="1"/>
          <p:nvPr/>
        </p:nvSpPr>
        <p:spPr>
          <a:xfrm>
            <a:off x="689429" y="1008742"/>
            <a:ext cx="8494633" cy="1200329"/>
          </a:xfrm>
          <a:prstGeom prst="rect">
            <a:avLst/>
          </a:prstGeom>
          <a:noFill/>
        </p:spPr>
        <p:txBody>
          <a:bodyPr wrap="none" rtlCol="0">
            <a:spAutoFit/>
          </a:bodyPr>
          <a:lstStyle/>
          <a:p>
            <a:r>
              <a:rPr lang="zh-CN" altLang="en-US" sz="2400" dirty="0"/>
              <a:t>不知道大家有没有做过这种题，一个数值和另一个数值绑定，</a:t>
            </a:r>
            <a:endParaRPr lang="en-US" altLang="zh-CN" sz="2400" dirty="0"/>
          </a:p>
          <a:p>
            <a:r>
              <a:rPr lang="zh-CN" altLang="en-US" sz="2400" dirty="0"/>
              <a:t>要按照一个数值的顺序输出另一个数值</a:t>
            </a:r>
            <a:endParaRPr lang="en-US" altLang="zh-CN" sz="2400" dirty="0"/>
          </a:p>
          <a:p>
            <a:r>
              <a:rPr lang="zh-CN" altLang="en-US" sz="2400" dirty="0"/>
              <a:t>接下来以解决学生学号排序问题为例，说明解法</a:t>
            </a:r>
            <a:endParaRPr lang="en-US" altLang="zh-CN" sz="2400" dirty="0"/>
          </a:p>
        </p:txBody>
      </p:sp>
      <p:pic>
        <p:nvPicPr>
          <p:cNvPr id="4" name="图片 3">
            <a:extLst>
              <a:ext uri="{FF2B5EF4-FFF2-40B4-BE49-F238E27FC236}">
                <a16:creationId xmlns:a16="http://schemas.microsoft.com/office/drawing/2014/main" id="{42579A4A-12F0-48F6-12A0-B5ACF0C4F5FA}"/>
              </a:ext>
            </a:extLst>
          </p:cNvPr>
          <p:cNvPicPr>
            <a:picLocks noChangeAspect="1"/>
          </p:cNvPicPr>
          <p:nvPr/>
        </p:nvPicPr>
        <p:blipFill>
          <a:blip r:embed="rId2"/>
          <a:stretch>
            <a:fillRect/>
          </a:stretch>
        </p:blipFill>
        <p:spPr>
          <a:xfrm>
            <a:off x="1238692" y="2554507"/>
            <a:ext cx="5857575" cy="3554942"/>
          </a:xfrm>
          <a:prstGeom prst="rect">
            <a:avLst/>
          </a:prstGeom>
        </p:spPr>
      </p:pic>
      <p:sp>
        <p:nvSpPr>
          <p:cNvPr id="5" name="文本框 4">
            <a:extLst>
              <a:ext uri="{FF2B5EF4-FFF2-40B4-BE49-F238E27FC236}">
                <a16:creationId xmlns:a16="http://schemas.microsoft.com/office/drawing/2014/main" id="{D1B1615E-9CBC-EFB3-1C7B-D24EC603D804}"/>
              </a:ext>
            </a:extLst>
          </p:cNvPr>
          <p:cNvSpPr txBox="1"/>
          <p:nvPr/>
        </p:nvSpPr>
        <p:spPr>
          <a:xfrm>
            <a:off x="4579259" y="5278452"/>
            <a:ext cx="6729727" cy="830997"/>
          </a:xfrm>
          <a:prstGeom prst="rect">
            <a:avLst/>
          </a:prstGeom>
          <a:noFill/>
        </p:spPr>
        <p:txBody>
          <a:bodyPr wrap="none" rtlCol="0">
            <a:spAutoFit/>
          </a:bodyPr>
          <a:lstStyle/>
          <a:p>
            <a:r>
              <a:rPr lang="zh-CN" altLang="en-US" sz="2400" dirty="0"/>
              <a:t>思考①</a:t>
            </a:r>
            <a:r>
              <a:rPr lang="en-US" altLang="zh-CN" sz="2400" dirty="0"/>
              <a:t>:</a:t>
            </a:r>
            <a:r>
              <a:rPr lang="zh-CN" altLang="en-US" sz="2400" dirty="0"/>
              <a:t>想想看这排序和一般数组有什么不一样？</a:t>
            </a:r>
            <a:endParaRPr lang="en-US" altLang="zh-CN" sz="2400" dirty="0"/>
          </a:p>
          <a:p>
            <a:r>
              <a:rPr lang="zh-CN" altLang="en-US" sz="2400" dirty="0"/>
              <a:t>比得是什么，换的是什么？</a:t>
            </a:r>
          </a:p>
        </p:txBody>
      </p:sp>
      <p:sp>
        <p:nvSpPr>
          <p:cNvPr id="6" name="文本框 5">
            <a:extLst>
              <a:ext uri="{FF2B5EF4-FFF2-40B4-BE49-F238E27FC236}">
                <a16:creationId xmlns:a16="http://schemas.microsoft.com/office/drawing/2014/main" id="{D5B1F824-62D9-E80B-3BC9-47A2B96F8ED2}"/>
              </a:ext>
            </a:extLst>
          </p:cNvPr>
          <p:cNvSpPr txBox="1"/>
          <p:nvPr/>
        </p:nvSpPr>
        <p:spPr>
          <a:xfrm>
            <a:off x="724475" y="367840"/>
            <a:ext cx="6097022"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a:t>结构体数组</a:t>
            </a:r>
            <a:endParaRPr lang="en-US" altLang="zh-CN" dirty="0"/>
          </a:p>
        </p:txBody>
      </p:sp>
    </p:spTree>
    <p:extLst>
      <p:ext uri="{BB962C8B-B14F-4D97-AF65-F5344CB8AC3E}">
        <p14:creationId xmlns:p14="http://schemas.microsoft.com/office/powerpoint/2010/main" val="13567854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DE84D1-590B-DD88-04F8-2A0CCB6DC7E4}"/>
              </a:ext>
            </a:extLst>
          </p:cNvPr>
          <p:cNvSpPr txBox="1"/>
          <p:nvPr/>
        </p:nvSpPr>
        <p:spPr>
          <a:xfrm>
            <a:off x="563975" y="336070"/>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历年真题</a:t>
            </a:r>
          </a:p>
        </p:txBody>
      </p:sp>
      <p:sp>
        <p:nvSpPr>
          <p:cNvPr id="3" name="文本框 2">
            <a:extLst>
              <a:ext uri="{FF2B5EF4-FFF2-40B4-BE49-F238E27FC236}">
                <a16:creationId xmlns:a16="http://schemas.microsoft.com/office/drawing/2014/main" id="{1A1D758F-03A4-8E05-9AC5-66ADFFB8CF48}"/>
              </a:ext>
            </a:extLst>
          </p:cNvPr>
          <p:cNvSpPr txBox="1"/>
          <p:nvPr/>
        </p:nvSpPr>
        <p:spPr>
          <a:xfrm>
            <a:off x="563975" y="1288869"/>
            <a:ext cx="489172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已知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struct point{int x</a:t>
            </a:r>
            <a:r>
              <a:rPr lang="zh-CN" altLang="en-US" dirty="0"/>
              <a:t>；</a:t>
            </a:r>
            <a:r>
              <a:rPr lang="en-US" altLang="zh-CN" dirty="0"/>
              <a:t>int y</a:t>
            </a:r>
            <a:r>
              <a:rPr lang="zh-CN" altLang="en-US" dirty="0"/>
              <a:t>；</a:t>
            </a:r>
            <a:r>
              <a:rPr lang="en-US" altLang="zh-CN" dirty="0"/>
              <a: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struct </a:t>
            </a:r>
            <a:r>
              <a:rPr lang="en-US" altLang="zh-CN" dirty="0" err="1"/>
              <a:t>rect</a:t>
            </a:r>
            <a:r>
              <a:rPr lang="en-US" altLang="zh-CN" dirty="0"/>
              <a:t>{struct point pt1</a:t>
            </a:r>
            <a:r>
              <a:rPr lang="zh-CN" altLang="en-US" dirty="0"/>
              <a:t>；</a:t>
            </a:r>
            <a:r>
              <a:rPr lang="en-US" altLang="zh-CN" dirty="0"/>
              <a:t>struct point pt2</a:t>
            </a:r>
            <a:r>
              <a:rPr lang="zh-CN" altLang="en-US" dirty="0"/>
              <a:t>；</a:t>
            </a:r>
            <a:r>
              <a:rPr lang="en-US" altLang="zh-CN" dirty="0"/>
              <a: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struct </a:t>
            </a:r>
            <a:r>
              <a:rPr lang="en-US" altLang="zh-CN" dirty="0" err="1"/>
              <a:t>rect</a:t>
            </a:r>
            <a:r>
              <a:rPr lang="en-US" altLang="zh-CN" dirty="0"/>
              <a:t> rt</a:t>
            </a:r>
            <a:r>
              <a:rPr lang="zh-CN" altLang="en-US" dirty="0"/>
              <a:t>；</a:t>
            </a:r>
            <a:r>
              <a:rPr lang="en-US" altLang="zh-CN" dirty="0"/>
              <a:t>struct </a:t>
            </a:r>
            <a:r>
              <a:rPr lang="en-US" altLang="zh-CN" dirty="0" err="1"/>
              <a:t>rect</a:t>
            </a:r>
            <a:r>
              <a:rPr lang="en-US" altLang="zh-CN" dirty="0"/>
              <a:t> *</a:t>
            </a:r>
            <a:r>
              <a:rPr lang="en-US" altLang="zh-CN" dirty="0" err="1"/>
              <a:t>rp</a:t>
            </a:r>
            <a:r>
              <a:rPr lang="en-US" altLang="zh-CN" dirty="0"/>
              <a:t> = &amp;rt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则下面不正确的引用是</a:t>
            </a:r>
            <a:r>
              <a:rPr lang="en-US" altLang="zh-CN" dirty="0"/>
              <a:t>______</a:t>
            </a:r>
            <a:r>
              <a:rPr lang="zh-CN" altLang="en-US" dirty="0"/>
              <a:t>。</a:t>
            </a:r>
            <a:endParaRPr lang="en-US" altLang="zh-CN" dirty="0"/>
          </a:p>
          <a:p>
            <a:pPr marL="342900" marR="0" lvl="0" indent="-342900" algn="l" defTabSz="914400" rtl="0" eaLnBrk="1" fontAlgn="auto" latinLnBrk="0" hangingPunct="1">
              <a:lnSpc>
                <a:spcPct val="100000"/>
              </a:lnSpc>
              <a:spcBef>
                <a:spcPts val="0"/>
              </a:spcBef>
              <a:spcAft>
                <a:spcPts val="0"/>
              </a:spcAft>
              <a:buClrTx/>
              <a:buSzTx/>
              <a:buFontTx/>
              <a:buAutoNum type="alphaUcParenR"/>
              <a:tabLst/>
              <a:defRPr/>
            </a:pPr>
            <a:r>
              <a:rPr lang="en-US" altLang="zh-CN" dirty="0"/>
              <a:t>rt.pt1.x     B) (*</a:t>
            </a:r>
            <a:r>
              <a:rPr lang="en-US" altLang="zh-CN" dirty="0" err="1"/>
              <a:t>rp</a:t>
            </a:r>
            <a:r>
              <a:rPr lang="en-US" altLang="zh-CN" dirty="0"/>
              <a:t>).pt1.x</a:t>
            </a:r>
          </a:p>
          <a:p>
            <a:pPr marR="0" lvl="0" algn="l" defTabSz="914400" rtl="0" eaLnBrk="1" fontAlgn="auto" latinLnBrk="0" hangingPunct="1">
              <a:lnSpc>
                <a:spcPct val="100000"/>
              </a:lnSpc>
              <a:spcBef>
                <a:spcPts val="0"/>
              </a:spcBef>
              <a:spcAft>
                <a:spcPts val="0"/>
              </a:spcAft>
              <a:buClrTx/>
              <a:buSzTx/>
              <a:tabLst/>
              <a:defRPr/>
            </a:pPr>
            <a:r>
              <a:rPr lang="en-US" altLang="zh-CN" dirty="0"/>
              <a:t>C) </a:t>
            </a:r>
            <a:r>
              <a:rPr lang="en-US" altLang="zh-CN" dirty="0" err="1"/>
              <a:t>rp</a:t>
            </a:r>
            <a:r>
              <a:rPr lang="en-US" altLang="zh-CN" dirty="0"/>
              <a:t>-&gt;pt1.x   D) rt-&gt;pt1.x</a:t>
            </a:r>
            <a:endPar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
        <p:nvSpPr>
          <p:cNvPr id="4" name="文本框 3">
            <a:extLst>
              <a:ext uri="{FF2B5EF4-FFF2-40B4-BE49-F238E27FC236}">
                <a16:creationId xmlns:a16="http://schemas.microsoft.com/office/drawing/2014/main" id="{35EFF472-7BE0-07A1-3FC4-25AB63144BAB}"/>
              </a:ext>
            </a:extLst>
          </p:cNvPr>
          <p:cNvSpPr txBox="1"/>
          <p:nvPr/>
        </p:nvSpPr>
        <p:spPr>
          <a:xfrm>
            <a:off x="563975" y="3500089"/>
            <a:ext cx="4851456" cy="1477328"/>
          </a:xfrm>
          <a:prstGeom prst="rect">
            <a:avLst/>
          </a:prstGeom>
          <a:noFill/>
        </p:spPr>
        <p:txBody>
          <a:bodyPr wrap="none" rtlCol="0">
            <a:spAutoFit/>
          </a:bodyPr>
          <a:lstStyle/>
          <a:p>
            <a:r>
              <a:rPr lang="zh-CN" altLang="en-US" dirty="0"/>
              <a:t>若有以下的说明语句：</a:t>
            </a:r>
            <a:endParaRPr lang="en-US" altLang="zh-CN" dirty="0"/>
          </a:p>
          <a:p>
            <a:r>
              <a:rPr lang="en-US" altLang="zh-CN" dirty="0"/>
              <a:t>struct </a:t>
            </a:r>
            <a:r>
              <a:rPr lang="en-US" altLang="zh-CN" dirty="0" err="1"/>
              <a:t>st</a:t>
            </a:r>
            <a:r>
              <a:rPr lang="en-US" altLang="zh-CN" dirty="0"/>
              <a:t>{int n</a:t>
            </a:r>
            <a:r>
              <a:rPr lang="zh-CN" altLang="en-US" dirty="0"/>
              <a:t>；</a:t>
            </a:r>
            <a:r>
              <a:rPr lang="en-US" altLang="zh-CN" dirty="0"/>
              <a:t>struct </a:t>
            </a:r>
            <a:r>
              <a:rPr lang="en-US" altLang="zh-CN" dirty="0" err="1"/>
              <a:t>st</a:t>
            </a:r>
            <a:r>
              <a:rPr lang="en-US" altLang="zh-CN" dirty="0"/>
              <a:t> *next</a:t>
            </a:r>
            <a:r>
              <a:rPr lang="zh-CN" altLang="en-US" dirty="0"/>
              <a:t>；</a:t>
            </a:r>
            <a:r>
              <a:rPr lang="en-US" altLang="zh-CN" dirty="0"/>
              <a:t>}</a:t>
            </a:r>
            <a:r>
              <a:rPr lang="zh-CN" altLang="en-US" dirty="0"/>
              <a:t>；</a:t>
            </a:r>
            <a:endParaRPr lang="en-US" altLang="zh-CN" dirty="0"/>
          </a:p>
          <a:p>
            <a:r>
              <a:rPr lang="en-US" altLang="zh-CN" dirty="0"/>
              <a:t>static struct </a:t>
            </a:r>
            <a:r>
              <a:rPr lang="en-US" altLang="zh-CN" dirty="0" err="1"/>
              <a:t>st</a:t>
            </a:r>
            <a:r>
              <a:rPr lang="en-US" altLang="zh-CN" dirty="0"/>
              <a:t> a[3]={5, &amp;a[1], 7 &amp;a[2], 9,’\0’},*p</a:t>
            </a:r>
            <a:r>
              <a:rPr lang="zh-CN" altLang="en-US" dirty="0"/>
              <a:t>；</a:t>
            </a:r>
            <a:endParaRPr lang="en-US" altLang="zh-CN" dirty="0"/>
          </a:p>
          <a:p>
            <a:r>
              <a:rPr lang="en-US" altLang="zh-CN" dirty="0"/>
              <a:t>p=&amp;a[0]</a:t>
            </a:r>
            <a:r>
              <a:rPr lang="zh-CN" altLang="en-US" dirty="0"/>
              <a:t>；则值是</a:t>
            </a:r>
            <a:r>
              <a:rPr lang="en-US" altLang="zh-CN" dirty="0"/>
              <a:t>6</a:t>
            </a:r>
            <a:r>
              <a:rPr lang="zh-CN" altLang="en-US" dirty="0"/>
              <a:t>的表达式是</a:t>
            </a:r>
            <a:r>
              <a:rPr lang="en-US" altLang="zh-CN" dirty="0"/>
              <a:t>______</a:t>
            </a:r>
            <a:r>
              <a:rPr lang="zh-CN" altLang="en-US" dirty="0"/>
              <a:t>。</a:t>
            </a:r>
            <a:endParaRPr lang="en-US" altLang="zh-CN" dirty="0"/>
          </a:p>
          <a:p>
            <a:r>
              <a:rPr lang="en-US" altLang="zh-CN" dirty="0"/>
              <a:t>A) p++-&gt;n B) p-&gt;n++ C) (*p).n++ D) ++p-&gt;n</a:t>
            </a:r>
          </a:p>
        </p:txBody>
      </p:sp>
      <p:sp>
        <p:nvSpPr>
          <p:cNvPr id="8" name="文本框 7">
            <a:extLst>
              <a:ext uri="{FF2B5EF4-FFF2-40B4-BE49-F238E27FC236}">
                <a16:creationId xmlns:a16="http://schemas.microsoft.com/office/drawing/2014/main" id="{12239459-18D5-F319-41DF-15908B6FFFC9}"/>
              </a:ext>
            </a:extLst>
          </p:cNvPr>
          <p:cNvSpPr txBox="1"/>
          <p:nvPr/>
        </p:nvSpPr>
        <p:spPr>
          <a:xfrm>
            <a:off x="6303146" y="647309"/>
            <a:ext cx="2377061" cy="2308324"/>
          </a:xfrm>
          <a:prstGeom prst="rect">
            <a:avLst/>
          </a:prstGeom>
          <a:noFill/>
        </p:spPr>
        <p:txBody>
          <a:bodyPr wrap="none" rtlCol="0">
            <a:spAutoFit/>
          </a:bodyPr>
          <a:lstStyle/>
          <a:p>
            <a:r>
              <a:rPr lang="zh-CN" altLang="en-US" dirty="0"/>
              <a:t>已知</a:t>
            </a:r>
            <a:r>
              <a:rPr lang="en-US" altLang="zh-CN" dirty="0"/>
              <a:t>:</a:t>
            </a:r>
          </a:p>
          <a:p>
            <a:r>
              <a:rPr lang="en-US" altLang="zh-CN" dirty="0"/>
              <a:t>struct data</a:t>
            </a:r>
          </a:p>
          <a:p>
            <a:r>
              <a:rPr lang="en-US" altLang="zh-CN" dirty="0"/>
              <a:t>{</a:t>
            </a:r>
          </a:p>
          <a:p>
            <a:r>
              <a:rPr lang="en-US" altLang="zh-CN" dirty="0"/>
              <a:t>   int </a:t>
            </a:r>
            <a:r>
              <a:rPr lang="en-US" altLang="zh-CN" dirty="0" err="1"/>
              <a:t>year,month,day</a:t>
            </a:r>
            <a:r>
              <a:rPr lang="en-US" altLang="zh-CN" dirty="0"/>
              <a:t>;</a:t>
            </a:r>
          </a:p>
          <a:p>
            <a:r>
              <a:rPr lang="en-US" altLang="zh-CN" dirty="0"/>
              <a:t>   char week[8];</a:t>
            </a:r>
          </a:p>
          <a:p>
            <a:r>
              <a:rPr lang="en-US" altLang="zh-CN" dirty="0"/>
              <a:t>}today;</a:t>
            </a:r>
          </a:p>
          <a:p>
            <a:r>
              <a:rPr lang="zh-CN" altLang="en-US" dirty="0"/>
              <a:t>则</a:t>
            </a:r>
            <a:r>
              <a:rPr lang="en-US" altLang="zh-CN" dirty="0"/>
              <a:t>:</a:t>
            </a:r>
            <a:r>
              <a:rPr lang="en-US" altLang="zh-CN" dirty="0" err="1"/>
              <a:t>sizeof</a:t>
            </a:r>
            <a:r>
              <a:rPr lang="en-US" altLang="zh-CN" dirty="0"/>
              <a:t>(today)</a:t>
            </a:r>
            <a:r>
              <a:rPr lang="zh-CN" altLang="en-US" dirty="0"/>
              <a:t>的值是</a:t>
            </a:r>
            <a:endParaRPr lang="en-US" altLang="zh-CN" dirty="0"/>
          </a:p>
          <a:p>
            <a:r>
              <a:rPr lang="en-US" altLang="zh-CN" dirty="0"/>
              <a:t>A)6  B)8  C)20  D)14</a:t>
            </a:r>
            <a:endParaRPr lang="zh-CN" altLang="en-US" dirty="0"/>
          </a:p>
        </p:txBody>
      </p:sp>
      <p:sp>
        <p:nvSpPr>
          <p:cNvPr id="9" name="文本框 8">
            <a:extLst>
              <a:ext uri="{FF2B5EF4-FFF2-40B4-BE49-F238E27FC236}">
                <a16:creationId xmlns:a16="http://schemas.microsoft.com/office/drawing/2014/main" id="{D116638B-CE94-72B2-04FA-075C6D6CF03B}"/>
              </a:ext>
            </a:extLst>
          </p:cNvPr>
          <p:cNvSpPr txBox="1"/>
          <p:nvPr/>
        </p:nvSpPr>
        <p:spPr>
          <a:xfrm>
            <a:off x="6096000" y="3071370"/>
            <a:ext cx="5693418" cy="3139321"/>
          </a:xfrm>
          <a:prstGeom prst="rect">
            <a:avLst/>
          </a:prstGeom>
          <a:noFill/>
        </p:spPr>
        <p:txBody>
          <a:bodyPr wrap="none" rtlCol="0">
            <a:spAutoFit/>
          </a:bodyPr>
          <a:lstStyle/>
          <a:p>
            <a:r>
              <a:rPr lang="en-US" altLang="zh-CN" dirty="0"/>
              <a:t>struct s</a:t>
            </a:r>
          </a:p>
          <a:p>
            <a:r>
              <a:rPr lang="en-US" altLang="zh-CN" dirty="0"/>
              <a:t>{</a:t>
            </a:r>
          </a:p>
          <a:p>
            <a:r>
              <a:rPr lang="en-US" altLang="zh-CN" dirty="0"/>
              <a:t>   int x,*y;</a:t>
            </a:r>
          </a:p>
          <a:p>
            <a:r>
              <a:rPr lang="en-US" altLang="zh-CN" dirty="0"/>
              <a:t>}*p;</a:t>
            </a:r>
          </a:p>
          <a:p>
            <a:r>
              <a:rPr lang="en-US" altLang="zh-CN" dirty="0"/>
              <a:t>int data[]={10,20,30};</a:t>
            </a:r>
          </a:p>
          <a:p>
            <a:r>
              <a:rPr lang="en-US" altLang="zh-CN" dirty="0"/>
              <a:t>struct s array[]={100,&amp;data[0],200,&amp;data[1],300,&amp;data[2]};</a:t>
            </a:r>
          </a:p>
          <a:p>
            <a:r>
              <a:rPr lang="en-US" altLang="zh-CN" dirty="0"/>
              <a:t>main(){</a:t>
            </a:r>
          </a:p>
          <a:p>
            <a:r>
              <a:rPr lang="en-US" altLang="zh-CN" dirty="0"/>
              <a:t>   p=array+1;</a:t>
            </a:r>
          </a:p>
          <a:p>
            <a:r>
              <a:rPr lang="en-US" altLang="zh-CN" dirty="0"/>
              <a:t>   </a:t>
            </a:r>
            <a:r>
              <a:rPr lang="en-US" altLang="zh-CN" dirty="0" err="1"/>
              <a:t>printf</a:t>
            </a:r>
            <a:r>
              <a:rPr lang="en-US" altLang="zh-CN" dirty="0"/>
              <a:t>(“%d\n”,++p-&gt;x);  //</a:t>
            </a:r>
            <a:r>
              <a:rPr lang="zh-CN" altLang="en-US" dirty="0"/>
              <a:t>输出结果①</a:t>
            </a:r>
            <a:endParaRPr lang="en-US" altLang="zh-CN" dirty="0"/>
          </a:p>
          <a:p>
            <a:r>
              <a:rPr lang="en-US" altLang="zh-CN" dirty="0"/>
              <a:t>   </a:t>
            </a:r>
            <a:r>
              <a:rPr lang="en-US" altLang="zh-CN" dirty="0" err="1"/>
              <a:t>printf</a:t>
            </a:r>
            <a:r>
              <a:rPr lang="en-US" altLang="zh-CN" dirty="0"/>
              <a:t>(“%d\n”,*++p-&gt;y); //</a:t>
            </a:r>
            <a:r>
              <a:rPr lang="zh-CN" altLang="en-US" dirty="0"/>
              <a:t>输出结果②</a:t>
            </a:r>
            <a:endParaRPr lang="en-US" altLang="zh-CN" dirty="0"/>
          </a:p>
          <a:p>
            <a:r>
              <a:rPr lang="en-US" altLang="zh-CN" dirty="0"/>
              <a:t>}</a:t>
            </a:r>
            <a:endParaRPr lang="zh-CN" altLang="en-US" dirty="0"/>
          </a:p>
        </p:txBody>
      </p:sp>
    </p:spTree>
    <p:extLst>
      <p:ext uri="{BB962C8B-B14F-4D97-AF65-F5344CB8AC3E}">
        <p14:creationId xmlns:p14="http://schemas.microsoft.com/office/powerpoint/2010/main" val="187309994"/>
      </p:ext>
    </p:extLst>
  </p:cSld>
  <p:clrMapOvr>
    <a:masterClrMapping/>
  </p:clrMapOvr>
  <p:transition spd="slow">
    <p:push dir="u"/>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DE84D1-590B-DD88-04F8-2A0CCB6DC7E4}"/>
              </a:ext>
            </a:extLst>
          </p:cNvPr>
          <p:cNvSpPr txBox="1"/>
          <p:nvPr/>
        </p:nvSpPr>
        <p:spPr>
          <a:xfrm>
            <a:off x="647894" y="336070"/>
            <a:ext cx="2031325" cy="590931"/>
          </a:xfrm>
          <a:prstGeom prst="rect">
            <a:avLst/>
          </a:prstGeom>
        </p:spPr>
        <p:txBody>
          <a:bodyPr vert="horz" lIns="91440" tIns="45720" rIns="91440" bIns="45720" rtlCol="0" anchor="ctr" anchorCtr="0">
            <a:normAutofit fontScale="97500"/>
          </a:bodyPr>
          <a:lstStyle>
            <a:lvl1pPr>
              <a:lnSpc>
                <a:spcPct val="90000"/>
              </a:lnSpc>
              <a:spcBef>
                <a:spcPct val="0"/>
              </a:spcBef>
              <a:buNone/>
              <a:defRPr sz="3600">
                <a:solidFill>
                  <a:srgbClr val="333333"/>
                </a:solidFill>
                <a:latin typeface="黑体" panose="02010609060101010101" pitchFamily="49" charset="-122"/>
                <a:ea typeface="黑体" panose="02010609060101010101" pitchFamily="49" charset="-122"/>
                <a:cs typeface="+mj-cs"/>
              </a:defRPr>
            </a:lvl1pPr>
          </a:lstStyle>
          <a:p>
            <a:r>
              <a:rPr lang="zh-CN" altLang="en-US" dirty="0"/>
              <a:t>历年真题</a:t>
            </a:r>
          </a:p>
        </p:txBody>
      </p:sp>
      <p:sp>
        <p:nvSpPr>
          <p:cNvPr id="3" name="文本框 2">
            <a:extLst>
              <a:ext uri="{FF2B5EF4-FFF2-40B4-BE49-F238E27FC236}">
                <a16:creationId xmlns:a16="http://schemas.microsoft.com/office/drawing/2014/main" id="{1A1D758F-03A4-8E05-9AC5-66ADFFB8CF48}"/>
              </a:ext>
            </a:extLst>
          </p:cNvPr>
          <p:cNvSpPr txBox="1"/>
          <p:nvPr/>
        </p:nvSpPr>
        <p:spPr>
          <a:xfrm>
            <a:off x="563975" y="1288869"/>
            <a:ext cx="489172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已知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struct point{int x</a:t>
            </a:r>
            <a:r>
              <a:rPr lang="zh-CN" altLang="en-US" dirty="0"/>
              <a:t>；</a:t>
            </a:r>
            <a:r>
              <a:rPr lang="en-US" altLang="zh-CN" dirty="0"/>
              <a:t>int y</a:t>
            </a:r>
            <a:r>
              <a:rPr lang="zh-CN" altLang="en-US" dirty="0"/>
              <a:t>；</a:t>
            </a:r>
            <a:r>
              <a:rPr lang="en-US" altLang="zh-CN" dirty="0"/>
              <a: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struct </a:t>
            </a:r>
            <a:r>
              <a:rPr lang="en-US" altLang="zh-CN" dirty="0" err="1"/>
              <a:t>rect</a:t>
            </a:r>
            <a:r>
              <a:rPr lang="en-US" altLang="zh-CN" dirty="0"/>
              <a:t>{struct point pt1</a:t>
            </a:r>
            <a:r>
              <a:rPr lang="zh-CN" altLang="en-US" dirty="0"/>
              <a:t>；</a:t>
            </a:r>
            <a:r>
              <a:rPr lang="en-US" altLang="zh-CN" dirty="0"/>
              <a:t>struct point pt2</a:t>
            </a:r>
            <a:r>
              <a:rPr lang="zh-CN" altLang="en-US" dirty="0"/>
              <a:t>；</a:t>
            </a:r>
            <a:r>
              <a:rPr lang="en-US" altLang="zh-CN" dirty="0"/>
              <a: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struct </a:t>
            </a:r>
            <a:r>
              <a:rPr lang="en-US" altLang="zh-CN" dirty="0" err="1"/>
              <a:t>rect</a:t>
            </a:r>
            <a:r>
              <a:rPr lang="en-US" altLang="zh-CN" dirty="0"/>
              <a:t> rt</a:t>
            </a:r>
            <a:r>
              <a:rPr lang="zh-CN" altLang="en-US" dirty="0"/>
              <a:t>；</a:t>
            </a:r>
            <a:r>
              <a:rPr lang="en-US" altLang="zh-CN" dirty="0"/>
              <a:t>struct </a:t>
            </a:r>
            <a:r>
              <a:rPr lang="en-US" altLang="zh-CN" dirty="0" err="1"/>
              <a:t>rect</a:t>
            </a:r>
            <a:r>
              <a:rPr lang="en-US" altLang="zh-CN" dirty="0"/>
              <a:t> *</a:t>
            </a:r>
            <a:r>
              <a:rPr lang="en-US" altLang="zh-CN" dirty="0" err="1"/>
              <a:t>rp</a:t>
            </a:r>
            <a:r>
              <a:rPr lang="en-US" altLang="zh-CN" dirty="0"/>
              <a:t> = &amp;rt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则下面不正确的引用是</a:t>
            </a:r>
            <a:r>
              <a:rPr lang="en-US" altLang="zh-CN" dirty="0"/>
              <a:t>______</a:t>
            </a:r>
            <a:r>
              <a:rPr lang="zh-CN" altLang="en-US" dirty="0"/>
              <a:t>。</a:t>
            </a:r>
            <a:endParaRPr lang="en-US" altLang="zh-CN" dirty="0"/>
          </a:p>
          <a:p>
            <a:pPr marL="342900" marR="0" lvl="0" indent="-342900" algn="l" defTabSz="914400" rtl="0" eaLnBrk="1" fontAlgn="auto" latinLnBrk="0" hangingPunct="1">
              <a:lnSpc>
                <a:spcPct val="100000"/>
              </a:lnSpc>
              <a:spcBef>
                <a:spcPts val="0"/>
              </a:spcBef>
              <a:spcAft>
                <a:spcPts val="0"/>
              </a:spcAft>
              <a:buClrTx/>
              <a:buSzTx/>
              <a:buFontTx/>
              <a:buAutoNum type="alphaUcParenR"/>
              <a:tabLst/>
              <a:defRPr/>
            </a:pPr>
            <a:r>
              <a:rPr lang="en-US" altLang="zh-CN" dirty="0"/>
              <a:t>rt.pt1.x     B) (*</a:t>
            </a:r>
            <a:r>
              <a:rPr lang="en-US" altLang="zh-CN" dirty="0" err="1"/>
              <a:t>rp</a:t>
            </a:r>
            <a:r>
              <a:rPr lang="en-US" altLang="zh-CN" dirty="0"/>
              <a:t>).pt1.x</a:t>
            </a:r>
          </a:p>
          <a:p>
            <a:pPr marR="0" lvl="0" algn="l" defTabSz="914400" rtl="0" eaLnBrk="1" fontAlgn="auto" latinLnBrk="0" hangingPunct="1">
              <a:lnSpc>
                <a:spcPct val="100000"/>
              </a:lnSpc>
              <a:spcBef>
                <a:spcPts val="0"/>
              </a:spcBef>
              <a:spcAft>
                <a:spcPts val="0"/>
              </a:spcAft>
              <a:buClrTx/>
              <a:buSzTx/>
              <a:tabLst/>
              <a:defRPr/>
            </a:pPr>
            <a:r>
              <a:rPr lang="en-US" altLang="zh-CN" dirty="0"/>
              <a:t>C) </a:t>
            </a:r>
            <a:r>
              <a:rPr lang="en-US" altLang="zh-CN" dirty="0" err="1"/>
              <a:t>rp</a:t>
            </a:r>
            <a:r>
              <a:rPr lang="en-US" altLang="zh-CN" dirty="0"/>
              <a:t>-&gt;pt1.x   </a:t>
            </a:r>
            <a:r>
              <a:rPr lang="en-US" altLang="zh-CN" dirty="0">
                <a:solidFill>
                  <a:srgbClr val="FF0000"/>
                </a:solidFill>
              </a:rPr>
              <a:t>D) rt-&gt;pt1.x</a:t>
            </a:r>
            <a:endParaRPr kumimoji="0" lang="zh-CN" altLang="en-US" sz="1800" b="0" i="0" u="none" strike="noStrike" kern="1200" cap="none" spc="0" normalizeH="0" baseline="0" noProof="0" dirty="0">
              <a:ln>
                <a:noFill/>
              </a:ln>
              <a:solidFill>
                <a:srgbClr val="FF0000"/>
              </a:solidFill>
              <a:effectLst/>
              <a:uLnTx/>
              <a:uFillTx/>
              <a:latin typeface="Calibri"/>
              <a:ea typeface="等线" panose="02010600030101010101" pitchFamily="2" charset="-122"/>
              <a:cs typeface="+mn-cs"/>
            </a:endParaRPr>
          </a:p>
        </p:txBody>
      </p:sp>
      <p:sp>
        <p:nvSpPr>
          <p:cNvPr id="4" name="文本框 3">
            <a:extLst>
              <a:ext uri="{FF2B5EF4-FFF2-40B4-BE49-F238E27FC236}">
                <a16:creationId xmlns:a16="http://schemas.microsoft.com/office/drawing/2014/main" id="{35EFF472-7BE0-07A1-3FC4-25AB63144BAB}"/>
              </a:ext>
            </a:extLst>
          </p:cNvPr>
          <p:cNvSpPr txBox="1"/>
          <p:nvPr/>
        </p:nvSpPr>
        <p:spPr>
          <a:xfrm>
            <a:off x="563975" y="3500089"/>
            <a:ext cx="4851456" cy="1477328"/>
          </a:xfrm>
          <a:prstGeom prst="rect">
            <a:avLst/>
          </a:prstGeom>
          <a:noFill/>
        </p:spPr>
        <p:txBody>
          <a:bodyPr wrap="none" rtlCol="0">
            <a:spAutoFit/>
          </a:bodyPr>
          <a:lstStyle/>
          <a:p>
            <a:r>
              <a:rPr lang="zh-CN" altLang="en-US" dirty="0"/>
              <a:t>若有以下的说明语句：</a:t>
            </a:r>
            <a:endParaRPr lang="en-US" altLang="zh-CN" dirty="0"/>
          </a:p>
          <a:p>
            <a:r>
              <a:rPr lang="en-US" altLang="zh-CN" dirty="0"/>
              <a:t>struct </a:t>
            </a:r>
            <a:r>
              <a:rPr lang="en-US" altLang="zh-CN" dirty="0" err="1"/>
              <a:t>st</a:t>
            </a:r>
            <a:r>
              <a:rPr lang="en-US" altLang="zh-CN" dirty="0"/>
              <a:t>{int n</a:t>
            </a:r>
            <a:r>
              <a:rPr lang="zh-CN" altLang="en-US" dirty="0"/>
              <a:t>；</a:t>
            </a:r>
            <a:r>
              <a:rPr lang="en-US" altLang="zh-CN" dirty="0"/>
              <a:t>struct </a:t>
            </a:r>
            <a:r>
              <a:rPr lang="en-US" altLang="zh-CN" dirty="0" err="1"/>
              <a:t>st</a:t>
            </a:r>
            <a:r>
              <a:rPr lang="en-US" altLang="zh-CN" dirty="0"/>
              <a:t> *next</a:t>
            </a:r>
            <a:r>
              <a:rPr lang="zh-CN" altLang="en-US" dirty="0"/>
              <a:t>；</a:t>
            </a:r>
            <a:r>
              <a:rPr lang="en-US" altLang="zh-CN" dirty="0"/>
              <a:t>}</a:t>
            </a:r>
            <a:r>
              <a:rPr lang="zh-CN" altLang="en-US" dirty="0"/>
              <a:t>；</a:t>
            </a:r>
            <a:endParaRPr lang="en-US" altLang="zh-CN" dirty="0"/>
          </a:p>
          <a:p>
            <a:r>
              <a:rPr lang="en-US" altLang="zh-CN" dirty="0"/>
              <a:t>static struct </a:t>
            </a:r>
            <a:r>
              <a:rPr lang="en-US" altLang="zh-CN" dirty="0" err="1"/>
              <a:t>st</a:t>
            </a:r>
            <a:r>
              <a:rPr lang="en-US" altLang="zh-CN" dirty="0"/>
              <a:t> a[3]={5, &amp;a[1], 7 &amp;a[2], 9,’\0’},*p</a:t>
            </a:r>
            <a:r>
              <a:rPr lang="zh-CN" altLang="en-US" dirty="0"/>
              <a:t>；</a:t>
            </a:r>
            <a:endParaRPr lang="en-US" altLang="zh-CN" dirty="0"/>
          </a:p>
          <a:p>
            <a:r>
              <a:rPr lang="en-US" altLang="zh-CN" dirty="0"/>
              <a:t>p=&amp;a[0]</a:t>
            </a:r>
            <a:r>
              <a:rPr lang="zh-CN" altLang="en-US" dirty="0"/>
              <a:t>；则值是</a:t>
            </a:r>
            <a:r>
              <a:rPr lang="en-US" altLang="zh-CN" dirty="0"/>
              <a:t>6</a:t>
            </a:r>
            <a:r>
              <a:rPr lang="zh-CN" altLang="en-US" dirty="0"/>
              <a:t>的表达式是</a:t>
            </a:r>
            <a:r>
              <a:rPr lang="en-US" altLang="zh-CN" dirty="0"/>
              <a:t>______</a:t>
            </a:r>
            <a:r>
              <a:rPr lang="zh-CN" altLang="en-US" dirty="0"/>
              <a:t>。</a:t>
            </a:r>
            <a:endParaRPr lang="en-US" altLang="zh-CN" dirty="0"/>
          </a:p>
          <a:p>
            <a:r>
              <a:rPr lang="en-US" altLang="zh-CN" dirty="0"/>
              <a:t>A) p++-&gt;n B) p-&gt;n++ C) (*p).n++ </a:t>
            </a:r>
            <a:r>
              <a:rPr lang="en-US" altLang="zh-CN" dirty="0">
                <a:solidFill>
                  <a:srgbClr val="FF0000"/>
                </a:solidFill>
              </a:rPr>
              <a:t>D) ++p-&gt;n</a:t>
            </a:r>
          </a:p>
        </p:txBody>
      </p:sp>
      <p:sp>
        <p:nvSpPr>
          <p:cNvPr id="8" name="文本框 7">
            <a:extLst>
              <a:ext uri="{FF2B5EF4-FFF2-40B4-BE49-F238E27FC236}">
                <a16:creationId xmlns:a16="http://schemas.microsoft.com/office/drawing/2014/main" id="{12239459-18D5-F319-41DF-15908B6FFFC9}"/>
              </a:ext>
            </a:extLst>
          </p:cNvPr>
          <p:cNvSpPr txBox="1"/>
          <p:nvPr/>
        </p:nvSpPr>
        <p:spPr>
          <a:xfrm>
            <a:off x="6303146" y="647309"/>
            <a:ext cx="2377061" cy="2308324"/>
          </a:xfrm>
          <a:prstGeom prst="rect">
            <a:avLst/>
          </a:prstGeom>
          <a:noFill/>
        </p:spPr>
        <p:txBody>
          <a:bodyPr wrap="none" rtlCol="0">
            <a:spAutoFit/>
          </a:bodyPr>
          <a:lstStyle/>
          <a:p>
            <a:r>
              <a:rPr lang="zh-CN" altLang="en-US" dirty="0"/>
              <a:t>已知</a:t>
            </a:r>
            <a:r>
              <a:rPr lang="en-US" altLang="zh-CN" dirty="0"/>
              <a:t>:</a:t>
            </a:r>
          </a:p>
          <a:p>
            <a:r>
              <a:rPr lang="en-US" altLang="zh-CN" dirty="0"/>
              <a:t>struct data</a:t>
            </a:r>
          </a:p>
          <a:p>
            <a:r>
              <a:rPr lang="en-US" altLang="zh-CN" dirty="0"/>
              <a:t>{</a:t>
            </a:r>
          </a:p>
          <a:p>
            <a:r>
              <a:rPr lang="en-US" altLang="zh-CN" dirty="0"/>
              <a:t>   int </a:t>
            </a:r>
            <a:r>
              <a:rPr lang="en-US" altLang="zh-CN" dirty="0" err="1"/>
              <a:t>year,month,day</a:t>
            </a:r>
            <a:r>
              <a:rPr lang="en-US" altLang="zh-CN" dirty="0"/>
              <a:t>;</a:t>
            </a:r>
          </a:p>
          <a:p>
            <a:r>
              <a:rPr lang="en-US" altLang="zh-CN" dirty="0"/>
              <a:t>   char week[8];</a:t>
            </a:r>
          </a:p>
          <a:p>
            <a:r>
              <a:rPr lang="en-US" altLang="zh-CN" dirty="0"/>
              <a:t>}today;</a:t>
            </a:r>
          </a:p>
          <a:p>
            <a:r>
              <a:rPr lang="zh-CN" altLang="en-US" dirty="0"/>
              <a:t>则</a:t>
            </a:r>
            <a:r>
              <a:rPr lang="en-US" altLang="zh-CN" dirty="0"/>
              <a:t>:</a:t>
            </a:r>
            <a:r>
              <a:rPr lang="en-US" altLang="zh-CN" dirty="0" err="1"/>
              <a:t>sizeof</a:t>
            </a:r>
            <a:r>
              <a:rPr lang="en-US" altLang="zh-CN" dirty="0"/>
              <a:t>(today)</a:t>
            </a:r>
            <a:r>
              <a:rPr lang="zh-CN" altLang="en-US" dirty="0"/>
              <a:t>的值是</a:t>
            </a:r>
            <a:endParaRPr lang="en-US" altLang="zh-CN" dirty="0"/>
          </a:p>
          <a:p>
            <a:r>
              <a:rPr lang="en-US" altLang="zh-CN" dirty="0"/>
              <a:t>A)6  B)8  </a:t>
            </a:r>
            <a:r>
              <a:rPr lang="en-US" altLang="zh-CN" dirty="0">
                <a:solidFill>
                  <a:srgbClr val="FF0000"/>
                </a:solidFill>
              </a:rPr>
              <a:t>C)20</a:t>
            </a:r>
            <a:r>
              <a:rPr lang="en-US" altLang="zh-CN" dirty="0"/>
              <a:t>  D)14</a:t>
            </a:r>
            <a:endParaRPr lang="zh-CN" altLang="en-US" dirty="0"/>
          </a:p>
        </p:txBody>
      </p:sp>
      <p:sp>
        <p:nvSpPr>
          <p:cNvPr id="9" name="文本框 8">
            <a:extLst>
              <a:ext uri="{FF2B5EF4-FFF2-40B4-BE49-F238E27FC236}">
                <a16:creationId xmlns:a16="http://schemas.microsoft.com/office/drawing/2014/main" id="{D116638B-CE94-72B2-04FA-075C6D6CF03B}"/>
              </a:ext>
            </a:extLst>
          </p:cNvPr>
          <p:cNvSpPr txBox="1"/>
          <p:nvPr/>
        </p:nvSpPr>
        <p:spPr>
          <a:xfrm>
            <a:off x="6096000" y="3071370"/>
            <a:ext cx="5693418" cy="3139321"/>
          </a:xfrm>
          <a:prstGeom prst="rect">
            <a:avLst/>
          </a:prstGeom>
          <a:noFill/>
        </p:spPr>
        <p:txBody>
          <a:bodyPr wrap="none" rtlCol="0">
            <a:spAutoFit/>
          </a:bodyPr>
          <a:lstStyle/>
          <a:p>
            <a:r>
              <a:rPr lang="en-US" altLang="zh-CN" dirty="0"/>
              <a:t>struct s</a:t>
            </a:r>
          </a:p>
          <a:p>
            <a:r>
              <a:rPr lang="en-US" altLang="zh-CN" dirty="0"/>
              <a:t>{</a:t>
            </a:r>
          </a:p>
          <a:p>
            <a:r>
              <a:rPr lang="en-US" altLang="zh-CN" dirty="0"/>
              <a:t>   int x,*y;</a:t>
            </a:r>
          </a:p>
          <a:p>
            <a:r>
              <a:rPr lang="en-US" altLang="zh-CN" dirty="0"/>
              <a:t>}*p;</a:t>
            </a:r>
          </a:p>
          <a:p>
            <a:r>
              <a:rPr lang="en-US" altLang="zh-CN" dirty="0"/>
              <a:t>int data[]={10,20,30};</a:t>
            </a:r>
          </a:p>
          <a:p>
            <a:r>
              <a:rPr lang="en-US" altLang="zh-CN" dirty="0"/>
              <a:t>struct s array[]={100,&amp;data[0],200,&amp;data[1],300,&amp;data[2]};</a:t>
            </a:r>
          </a:p>
          <a:p>
            <a:r>
              <a:rPr lang="en-US" altLang="zh-CN" dirty="0"/>
              <a:t>main(){</a:t>
            </a:r>
          </a:p>
          <a:p>
            <a:r>
              <a:rPr lang="en-US" altLang="zh-CN" dirty="0"/>
              <a:t>   p=array+1;</a:t>
            </a:r>
          </a:p>
          <a:p>
            <a:r>
              <a:rPr lang="en-US" altLang="zh-CN" dirty="0"/>
              <a:t>   </a:t>
            </a:r>
            <a:r>
              <a:rPr lang="en-US" altLang="zh-CN" dirty="0" err="1"/>
              <a:t>printf</a:t>
            </a:r>
            <a:r>
              <a:rPr lang="en-US" altLang="zh-CN" dirty="0"/>
              <a:t>(“%d\n”,++p-&gt;x);  //</a:t>
            </a:r>
            <a:r>
              <a:rPr lang="zh-CN" altLang="en-US" dirty="0"/>
              <a:t>输出结果① </a:t>
            </a:r>
            <a:r>
              <a:rPr lang="en-US" altLang="zh-CN" dirty="0"/>
              <a:t>201</a:t>
            </a:r>
          </a:p>
          <a:p>
            <a:r>
              <a:rPr lang="en-US" altLang="zh-CN" dirty="0"/>
              <a:t>   </a:t>
            </a:r>
            <a:r>
              <a:rPr lang="en-US" altLang="zh-CN" dirty="0" err="1"/>
              <a:t>printf</a:t>
            </a:r>
            <a:r>
              <a:rPr lang="en-US" altLang="zh-CN" dirty="0"/>
              <a:t>(“%d\n”,*++p-&gt;y); //</a:t>
            </a:r>
            <a:r>
              <a:rPr lang="zh-CN" altLang="en-US" dirty="0"/>
              <a:t>输出结果② </a:t>
            </a:r>
            <a:r>
              <a:rPr lang="en-US" altLang="zh-CN" dirty="0"/>
              <a:t>30</a:t>
            </a:r>
          </a:p>
          <a:p>
            <a:r>
              <a:rPr lang="en-US" altLang="zh-CN" dirty="0"/>
              <a:t>}</a:t>
            </a:r>
            <a:endParaRPr lang="zh-CN" altLang="en-US" dirty="0"/>
          </a:p>
        </p:txBody>
      </p:sp>
    </p:spTree>
    <p:extLst>
      <p:ext uri="{BB962C8B-B14F-4D97-AF65-F5344CB8AC3E}">
        <p14:creationId xmlns:p14="http://schemas.microsoft.com/office/powerpoint/2010/main" val="1656048008"/>
      </p:ext>
    </p:extLst>
  </p:cSld>
  <p:clrMapOvr>
    <a:masterClrMapping/>
  </p:clrMapOvr>
  <p:transition spd="slow">
    <p:push dir="u"/>
  </p:transition>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6" name="矩形 5"/>
          <p:cNvSpPr/>
          <p:nvPr/>
        </p:nvSpPr>
        <p:spPr>
          <a:xfrm>
            <a:off x="613574" y="2281146"/>
            <a:ext cx="10964851" cy="72523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4" name="TextBox 3"/>
          <p:cNvSpPr txBox="1"/>
          <p:nvPr/>
        </p:nvSpPr>
        <p:spPr>
          <a:xfrm>
            <a:off x="7256482" y="-419535"/>
            <a:ext cx="4020652" cy="7940635"/>
          </a:xfrm>
          <a:prstGeom prst="rect">
            <a:avLst/>
          </a:prstGeom>
          <a:noFill/>
          <a:effectLst>
            <a:outerShdw blurRad="165100" dist="76200" dir="1200000" algn="tl" rotWithShape="0">
              <a:prstClr val="black">
                <a:alpha val="10000"/>
              </a:prstClr>
            </a:outerShdw>
          </a:effectLst>
        </p:spPr>
        <p:txBody>
          <a:bodyPr wrap="none">
            <a:spAutoFit/>
          </a:bodyPr>
          <a:lstStyle/>
          <a:p>
            <a:pPr>
              <a:defRPr/>
            </a:pPr>
            <a:r>
              <a:rPr lang="en-US" sz="51000" dirty="0">
                <a:solidFill>
                  <a:prstClr val="white"/>
                </a:solidFill>
                <a:latin typeface="Microsoft YaHei UI" panose="020B0503020204020204" pitchFamily="34" charset="-122"/>
                <a:ea typeface="微软雅黑" panose="020B0503020204020204" pitchFamily="34" charset="-122"/>
                <a:cs typeface="+mn-ea"/>
                <a:sym typeface="+mn-lt"/>
              </a:rPr>
              <a:t>7</a:t>
            </a:r>
          </a:p>
        </p:txBody>
      </p:sp>
      <p:sp>
        <p:nvSpPr>
          <p:cNvPr id="5" name="矩形 4"/>
          <p:cNvSpPr/>
          <p:nvPr/>
        </p:nvSpPr>
        <p:spPr>
          <a:xfrm>
            <a:off x="1137315" y="2200192"/>
            <a:ext cx="3798205" cy="769441"/>
          </a:xfrm>
          <a:prstGeom prst="rect">
            <a:avLst/>
          </a:prstGeom>
        </p:spPr>
        <p:txBody>
          <a:bodyPr wrap="square">
            <a:spAutoFit/>
          </a:bodyPr>
          <a:lstStyle/>
          <a:p>
            <a:pPr>
              <a:defRPr/>
            </a:pPr>
            <a:r>
              <a:rPr lang="zh-CN" altLang="en-US" sz="4400" dirty="0">
                <a:solidFill>
                  <a:schemeClr val="bg1"/>
                </a:solidFill>
                <a:latin typeface="黑体" panose="02010609060101010101" pitchFamily="49" charset="-122"/>
                <a:ea typeface="黑体" panose="02010609060101010101" pitchFamily="49" charset="-122"/>
                <a:cs typeface="+mn-ea"/>
                <a:sym typeface="+mn-lt"/>
              </a:rPr>
              <a:t>文件</a:t>
            </a:r>
          </a:p>
        </p:txBody>
      </p:sp>
      <p:sp>
        <p:nvSpPr>
          <p:cNvPr id="3" name="矩形 2"/>
          <p:cNvSpPr/>
          <p:nvPr/>
        </p:nvSpPr>
        <p:spPr>
          <a:xfrm>
            <a:off x="781516" y="1511705"/>
            <a:ext cx="6199591" cy="769441"/>
          </a:xfrm>
          <a:prstGeom prst="rect">
            <a:avLst/>
          </a:prstGeom>
        </p:spPr>
        <p:txBody>
          <a:bodyPr wrap="square">
            <a:spAutoFit/>
          </a:bodyPr>
          <a:lstStyle/>
          <a:p>
            <a:pPr>
              <a:defRPr/>
            </a:pPr>
            <a:r>
              <a:rPr lang="en-US" altLang="zh-CN" sz="4400" dirty="0">
                <a:solidFill>
                  <a:prstClr val="white"/>
                </a:solidFill>
                <a:latin typeface="Microsoft YaHei UI" panose="020B0503020204020204" pitchFamily="34" charset="-122"/>
                <a:ea typeface="Microsoft YaHei UI" panose="020B0503020204020204" pitchFamily="34" charset="-122"/>
                <a:cs typeface="+mn-ea"/>
                <a:sym typeface="+mn-lt"/>
              </a:rPr>
              <a:t>PART SEVEN</a:t>
            </a:r>
          </a:p>
        </p:txBody>
      </p:sp>
      <p:sp>
        <p:nvSpPr>
          <p:cNvPr id="2" name="文本框 1"/>
          <p:cNvSpPr txBox="1"/>
          <p:nvPr/>
        </p:nvSpPr>
        <p:spPr>
          <a:xfrm>
            <a:off x="1137315" y="3150135"/>
            <a:ext cx="3207219" cy="1200329"/>
          </a:xfrm>
          <a:prstGeom prst="rect">
            <a:avLst/>
          </a:prstGeom>
          <a:noFill/>
        </p:spPr>
        <p:txBody>
          <a:bodyPr wrap="square" rtlCol="0">
            <a:spAutoFit/>
          </a:bodyPr>
          <a:lstStyle/>
          <a:p>
            <a:r>
              <a:rPr lang="en-US" altLang="zh-CN" sz="2400" dirty="0">
                <a:solidFill>
                  <a:schemeClr val="bg1"/>
                </a:solidFill>
              </a:rPr>
              <a:t>1.</a:t>
            </a:r>
            <a:r>
              <a:rPr lang="zh-CN" altLang="en-US" sz="2400" dirty="0">
                <a:solidFill>
                  <a:schemeClr val="bg1"/>
                </a:solidFill>
              </a:rPr>
              <a:t>打开与关闭</a:t>
            </a:r>
          </a:p>
          <a:p>
            <a:r>
              <a:rPr lang="en-US" altLang="zh-CN" sz="2400" dirty="0">
                <a:solidFill>
                  <a:schemeClr val="bg1"/>
                </a:solidFill>
              </a:rPr>
              <a:t>2.</a:t>
            </a:r>
            <a:r>
              <a:rPr lang="zh-CN" altLang="en-US" sz="2400" dirty="0">
                <a:solidFill>
                  <a:schemeClr val="bg1"/>
                </a:solidFill>
              </a:rPr>
              <a:t>读写</a:t>
            </a:r>
          </a:p>
          <a:p>
            <a:r>
              <a:rPr lang="en-US" altLang="zh-CN" sz="2400" dirty="0">
                <a:solidFill>
                  <a:schemeClr val="bg1"/>
                </a:solidFill>
              </a:rPr>
              <a:t>3.</a:t>
            </a:r>
            <a:r>
              <a:rPr lang="zh-CN" altLang="en-US" sz="2400" dirty="0">
                <a:solidFill>
                  <a:schemeClr val="bg1"/>
                </a:solidFill>
              </a:rPr>
              <a:t>移动</a:t>
            </a:r>
          </a:p>
        </p:txBody>
      </p:sp>
    </p:spTree>
  </p:cSld>
  <p:clrMapOvr>
    <a:masterClrMapping/>
  </p:clrMapOvr>
  <p:transition spd="slow">
    <p:push dir="u"/>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4294967295"/>
          </p:nvPr>
        </p:nvSpPr>
        <p:spPr>
          <a:xfrm>
            <a:off x="586333" y="277203"/>
            <a:ext cx="3586163" cy="803275"/>
          </a:xfrm>
          <a:prstGeom prst="rect">
            <a:avLst/>
          </a:prstGeom>
        </p:spPr>
        <p:txBody>
          <a:bodyPr anchor="ctr" anchorCtr="0">
            <a:normAutofit/>
          </a:bodyPr>
          <a:lstStyle/>
          <a:p>
            <a:r>
              <a:rPr lang="zh-CN" altLang="en-US" sz="3600" b="1" dirty="0"/>
              <a:t>文件</a:t>
            </a:r>
            <a:r>
              <a:rPr lang="en-US" altLang="zh-CN" sz="3600" b="1" dirty="0"/>
              <a:t>-</a:t>
            </a:r>
            <a:r>
              <a:rPr lang="zh-CN" altLang="en-US" sz="3600" b="1" dirty="0"/>
              <a:t>打开</a:t>
            </a:r>
          </a:p>
        </p:txBody>
      </p:sp>
      <p:pic>
        <p:nvPicPr>
          <p:cNvPr id="8" name="内容占位符 7"/>
          <p:cNvPicPr>
            <a:picLocks noGrp="1" noChangeAspect="1"/>
          </p:cNvPicPr>
          <p:nvPr>
            <p:ph sz="quarter" idx="4294967295"/>
            <p:custDataLst>
              <p:tags r:id="rId1"/>
            </p:custDataLst>
          </p:nvPr>
        </p:nvPicPr>
        <p:blipFill>
          <a:blip r:embed="rId4"/>
          <a:stretch>
            <a:fillRect/>
          </a:stretch>
        </p:blipFill>
        <p:spPr>
          <a:xfrm>
            <a:off x="1533324" y="1016907"/>
            <a:ext cx="5633486" cy="4956626"/>
          </a:xfrm>
          <a:prstGeom prst="rect">
            <a:avLst/>
          </a:prstGeom>
        </p:spPr>
      </p:pic>
      <p:sp>
        <p:nvSpPr>
          <p:cNvPr id="10" name="文本框 9"/>
          <p:cNvSpPr txBox="1"/>
          <p:nvPr/>
        </p:nvSpPr>
        <p:spPr>
          <a:xfrm>
            <a:off x="6245896" y="3086199"/>
            <a:ext cx="4698206" cy="954107"/>
          </a:xfrm>
          <a:prstGeom prst="rect">
            <a:avLst/>
          </a:prstGeom>
          <a:noFill/>
        </p:spPr>
        <p:txBody>
          <a:bodyPr wrap="square" rtlCol="0">
            <a:spAutoFit/>
          </a:bodyPr>
          <a:lstStyle/>
          <a:p>
            <a:pPr algn="ctr"/>
            <a:r>
              <a:rPr lang="en-US" altLang="zh-CN" sz="2800" dirty="0" err="1">
                <a:effectLst>
                  <a:outerShdw blurRad="38100" dist="38100" dir="2700000" algn="tl">
                    <a:srgbClr val="000000">
                      <a:alpha val="43137"/>
                    </a:srgbClr>
                  </a:outerShdw>
                </a:effectLst>
                <a:latin typeface="Consolas" panose="020B0609020204030204" pitchFamily="49" charset="0"/>
              </a:rPr>
              <a:t>fopen</a:t>
            </a:r>
            <a:r>
              <a:rPr lang="en-US" altLang="zh-CN" sz="2800" dirty="0">
                <a:effectLst>
                  <a:outerShdw blurRad="38100" dist="38100" dir="2700000" algn="tl">
                    <a:srgbClr val="000000">
                      <a:alpha val="43137"/>
                    </a:srgbClr>
                  </a:outerShdw>
                </a:effectLst>
                <a:latin typeface="Consolas" panose="020B0609020204030204" pitchFamily="49" charset="0"/>
              </a:rPr>
              <a:t>(&lt;</a:t>
            </a:r>
            <a:r>
              <a:rPr lang="zh-CN" altLang="en-US" sz="2800" dirty="0">
                <a:effectLst>
                  <a:outerShdw blurRad="38100" dist="38100" dir="2700000" algn="tl">
                    <a:srgbClr val="000000">
                      <a:alpha val="43137"/>
                    </a:srgbClr>
                  </a:outerShdw>
                </a:effectLst>
                <a:latin typeface="Consolas" panose="020B0609020204030204" pitchFamily="49" charset="0"/>
              </a:rPr>
              <a:t>文件路径</a:t>
            </a:r>
            <a:r>
              <a:rPr lang="en-US" altLang="zh-CN" sz="2800" dirty="0">
                <a:effectLst>
                  <a:outerShdw blurRad="38100" dist="38100" dir="2700000" algn="tl">
                    <a:srgbClr val="000000">
                      <a:alpha val="43137"/>
                    </a:srgbClr>
                  </a:outerShdw>
                </a:effectLst>
                <a:latin typeface="Consolas" panose="020B0609020204030204" pitchFamily="49" charset="0"/>
              </a:rPr>
              <a:t>&gt;, &lt;</a:t>
            </a:r>
            <a:r>
              <a:rPr lang="zh-CN" altLang="en-US" sz="2800" dirty="0">
                <a:effectLst>
                  <a:outerShdw blurRad="38100" dist="38100" dir="2700000" algn="tl">
                    <a:srgbClr val="000000">
                      <a:alpha val="43137"/>
                    </a:srgbClr>
                  </a:outerShdw>
                </a:effectLst>
                <a:latin typeface="Consolas" panose="020B0609020204030204" pitchFamily="49" charset="0"/>
              </a:rPr>
              <a:t>模式</a:t>
            </a:r>
            <a:r>
              <a:rPr lang="en-US" altLang="zh-CN" sz="2800" dirty="0">
                <a:effectLst>
                  <a:outerShdw blurRad="38100" dist="38100" dir="2700000" algn="tl">
                    <a:srgbClr val="000000">
                      <a:alpha val="43137"/>
                    </a:srgbClr>
                  </a:outerShdw>
                </a:effectLst>
                <a:latin typeface="Consolas" panose="020B0609020204030204" pitchFamily="49" charset="0"/>
              </a:rPr>
              <a:t>&gt;)</a:t>
            </a:r>
          </a:p>
          <a:p>
            <a:pPr algn="ctr"/>
            <a:r>
              <a:rPr lang="zh-CN" altLang="en-US" sz="2800" dirty="0">
                <a:effectLst>
                  <a:outerShdw blurRad="38100" dist="38100" dir="2700000" algn="tl">
                    <a:srgbClr val="000000">
                      <a:alpha val="43137"/>
                    </a:srgbClr>
                  </a:outerShdw>
                </a:effectLst>
                <a:latin typeface="Consolas" panose="020B0609020204030204" pitchFamily="49" charset="0"/>
              </a:rPr>
              <a:t>返回值：</a:t>
            </a:r>
            <a:r>
              <a:rPr lang="en-US" altLang="zh-CN" sz="2800" dirty="0">
                <a:effectLst>
                  <a:outerShdw blurRad="38100" dist="38100" dir="2700000" algn="tl">
                    <a:srgbClr val="000000">
                      <a:alpha val="43137"/>
                    </a:srgbClr>
                  </a:outerShdw>
                </a:effectLst>
                <a:latin typeface="Consolas" panose="020B0609020204030204" pitchFamily="49" charset="0"/>
              </a:rPr>
              <a:t>FILE*(</a:t>
            </a:r>
            <a:r>
              <a:rPr lang="zh-CN" altLang="en-US" sz="2800" dirty="0">
                <a:effectLst>
                  <a:outerShdw blurRad="38100" dist="38100" dir="2700000" algn="tl">
                    <a:srgbClr val="000000">
                      <a:alpha val="43137"/>
                    </a:srgbClr>
                  </a:outerShdw>
                </a:effectLst>
                <a:latin typeface="Consolas" panose="020B0609020204030204" pitchFamily="49" charset="0"/>
              </a:rPr>
              <a:t>文件指针</a:t>
            </a:r>
            <a:r>
              <a:rPr lang="en-US" altLang="zh-CN" sz="2800" dirty="0">
                <a:effectLst>
                  <a:outerShdw blurRad="38100" dist="38100" dir="2700000" algn="tl">
                    <a:srgbClr val="000000">
                      <a:alpha val="43137"/>
                    </a:srgbClr>
                  </a:outerShdw>
                </a:effectLst>
                <a:latin typeface="Consolas" panose="020B0609020204030204" pitchFamily="49" charset="0"/>
              </a:rPr>
              <a:t>)</a:t>
            </a:r>
          </a:p>
        </p:txBody>
      </p:sp>
      <p:grpSp>
        <p:nvGrpSpPr>
          <p:cNvPr id="15" name="组合 14"/>
          <p:cNvGrpSpPr/>
          <p:nvPr/>
        </p:nvGrpSpPr>
        <p:grpSpPr>
          <a:xfrm>
            <a:off x="2071361" y="2209975"/>
            <a:ext cx="6042440" cy="914400"/>
            <a:chOff x="1123950" y="2426335"/>
            <a:chExt cx="6639018" cy="914400"/>
          </a:xfrm>
        </p:grpSpPr>
        <p:pic>
          <p:nvPicPr>
            <p:cNvPr id="12" name="图形 11" descr="箭头顺时针弯曲"/>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0800000">
              <a:off x="6848568" y="2426335"/>
              <a:ext cx="914400" cy="914400"/>
            </a:xfrm>
            <a:prstGeom prst="rect">
              <a:avLst/>
            </a:prstGeom>
          </p:spPr>
        </p:pic>
        <p:sp>
          <p:nvSpPr>
            <p:cNvPr id="13" name="矩形 12"/>
            <p:cNvSpPr/>
            <p:nvPr/>
          </p:nvSpPr>
          <p:spPr>
            <a:xfrm>
              <a:off x="1123950" y="2467323"/>
              <a:ext cx="5780088" cy="34255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81F8070B-F2D3-EC35-4DD8-37C5CAD353FE}"/>
              </a:ext>
            </a:extLst>
          </p:cNvPr>
          <p:cNvSpPr txBox="1"/>
          <p:nvPr/>
        </p:nvSpPr>
        <p:spPr>
          <a:xfrm>
            <a:off x="5492829" y="4571712"/>
            <a:ext cx="4698206" cy="1384995"/>
          </a:xfrm>
          <a:prstGeom prst="rect">
            <a:avLst/>
          </a:prstGeom>
          <a:noFill/>
        </p:spPr>
        <p:txBody>
          <a:bodyPr wrap="square" rtlCol="0">
            <a:spAutoFit/>
          </a:bodyPr>
          <a:lstStyle/>
          <a:p>
            <a:pPr algn="ctr"/>
            <a:r>
              <a:rPr lang="en-US" altLang="zh-CN" sz="2800" dirty="0" err="1">
                <a:effectLst>
                  <a:outerShdw blurRad="38100" dist="38100" dir="2700000" algn="tl">
                    <a:srgbClr val="000000">
                      <a:alpha val="43137"/>
                    </a:srgbClr>
                  </a:outerShdw>
                </a:effectLst>
                <a:latin typeface="Consolas" panose="020B0609020204030204" pitchFamily="49" charset="0"/>
              </a:rPr>
              <a:t>fclo</a:t>
            </a:r>
            <a:r>
              <a:rPr lang="en-GB" altLang="zh-CN" sz="2800" dirty="0">
                <a:effectLst>
                  <a:outerShdw blurRad="38100" dist="38100" dir="2700000" algn="tl">
                    <a:srgbClr val="000000">
                      <a:alpha val="43137"/>
                    </a:srgbClr>
                  </a:outerShdw>
                </a:effectLst>
                <a:latin typeface="Consolas" panose="020B0609020204030204" pitchFamily="49" charset="0"/>
              </a:rPr>
              <a:t>se</a:t>
            </a:r>
            <a:r>
              <a:rPr lang="en-US" altLang="zh-CN" sz="2800" dirty="0">
                <a:effectLst>
                  <a:outerShdw blurRad="38100" dist="38100" dir="2700000" algn="tl">
                    <a:srgbClr val="000000">
                      <a:alpha val="43137"/>
                    </a:srgbClr>
                  </a:outerShdw>
                </a:effectLst>
                <a:latin typeface="Consolas" panose="020B0609020204030204" pitchFamily="49" charset="0"/>
              </a:rPr>
              <a:t>(&lt;</a:t>
            </a:r>
            <a:r>
              <a:rPr lang="zh-CN" altLang="en-US" sz="2800" dirty="0">
                <a:effectLst>
                  <a:outerShdw blurRad="38100" dist="38100" dir="2700000" algn="tl">
                    <a:srgbClr val="000000">
                      <a:alpha val="43137"/>
                    </a:srgbClr>
                  </a:outerShdw>
                </a:effectLst>
                <a:latin typeface="Consolas" panose="020B0609020204030204" pitchFamily="49" charset="0"/>
              </a:rPr>
              <a:t>文件指针</a:t>
            </a:r>
            <a:r>
              <a:rPr lang="en-US" altLang="zh-CN" sz="2800" dirty="0">
                <a:effectLst>
                  <a:outerShdw blurRad="38100" dist="38100" dir="2700000" algn="tl">
                    <a:srgbClr val="000000">
                      <a:alpha val="43137"/>
                    </a:srgbClr>
                  </a:outerShdw>
                </a:effectLst>
                <a:latin typeface="Consolas" panose="020B0609020204030204" pitchFamily="49" charset="0"/>
              </a:rPr>
              <a:t>&gt;)</a:t>
            </a:r>
          </a:p>
          <a:p>
            <a:pPr algn="ctr"/>
            <a:r>
              <a:rPr lang="zh-CN" altLang="en-US" sz="2800" dirty="0">
                <a:effectLst>
                  <a:outerShdw blurRad="38100" dist="38100" dir="2700000" algn="tl">
                    <a:srgbClr val="000000">
                      <a:alpha val="43137"/>
                    </a:srgbClr>
                  </a:outerShdw>
                </a:effectLst>
                <a:latin typeface="Consolas" panose="020B0609020204030204" pitchFamily="49" charset="0"/>
              </a:rPr>
              <a:t>返回值：</a:t>
            </a:r>
            <a:r>
              <a:rPr lang="en-US" altLang="zh-CN" sz="2800" dirty="0">
                <a:effectLst>
                  <a:outerShdw blurRad="38100" dist="38100" dir="2700000" algn="tl">
                    <a:srgbClr val="000000">
                      <a:alpha val="43137"/>
                    </a:srgbClr>
                  </a:outerShdw>
                </a:effectLst>
                <a:latin typeface="Consolas" panose="020B0609020204030204" pitchFamily="49" charset="0"/>
              </a:rPr>
              <a:t>int</a:t>
            </a:r>
            <a:r>
              <a:rPr lang="zh-CN" altLang="en-US" sz="2800" dirty="0">
                <a:effectLst>
                  <a:outerShdw blurRad="38100" dist="38100" dir="2700000" algn="tl">
                    <a:srgbClr val="000000">
                      <a:alpha val="43137"/>
                    </a:srgbClr>
                  </a:outerShdw>
                </a:effectLst>
                <a:latin typeface="Consolas" panose="020B0609020204030204" pitchFamily="49" charset="0"/>
              </a:rPr>
              <a:t>（正常</a:t>
            </a:r>
            <a:r>
              <a:rPr lang="en-US" altLang="zh-CN" sz="2800" dirty="0">
                <a:effectLst>
                  <a:outerShdw blurRad="38100" dist="38100" dir="2700000" algn="tl">
                    <a:srgbClr val="000000">
                      <a:alpha val="43137"/>
                    </a:srgbClr>
                  </a:outerShdw>
                </a:effectLst>
                <a:latin typeface="Consolas" panose="020B0609020204030204" pitchFamily="49" charset="0"/>
              </a:rPr>
              <a:t>0</a:t>
            </a:r>
            <a:r>
              <a:rPr lang="zh-CN" altLang="en-US" sz="2800" dirty="0">
                <a:effectLst>
                  <a:outerShdw blurRad="38100" dist="38100" dir="2700000" algn="tl">
                    <a:srgbClr val="000000">
                      <a:alpha val="43137"/>
                    </a:srgbClr>
                  </a:outerShdw>
                </a:effectLst>
                <a:latin typeface="Consolas" panose="020B0609020204030204" pitchFamily="49" charset="0"/>
              </a:rPr>
              <a:t>，失败</a:t>
            </a:r>
            <a:r>
              <a:rPr lang="en-US" altLang="zh-CN" sz="2800" dirty="0">
                <a:effectLst>
                  <a:outerShdw blurRad="38100" dist="38100" dir="2700000" algn="tl">
                    <a:srgbClr val="000000">
                      <a:alpha val="43137"/>
                    </a:srgbClr>
                  </a:outerShdw>
                </a:effectLst>
                <a:latin typeface="Consolas" panose="020B0609020204030204" pitchFamily="49" charset="0"/>
              </a:rPr>
              <a:t>EOF</a:t>
            </a:r>
            <a:r>
              <a:rPr lang="zh-CN" altLang="en-US" sz="2800" dirty="0">
                <a:effectLst>
                  <a:outerShdw blurRad="38100" dist="38100" dir="2700000" algn="tl">
                    <a:srgbClr val="000000">
                      <a:alpha val="43137"/>
                    </a:srgbClr>
                  </a:outerShdw>
                </a:effectLst>
                <a:latin typeface="Consolas" panose="020B0609020204030204" pitchFamily="49" charset="0"/>
              </a:rPr>
              <a:t>）</a:t>
            </a:r>
          </a:p>
        </p:txBody>
      </p:sp>
      <p:grpSp>
        <p:nvGrpSpPr>
          <p:cNvPr id="11" name="组合 10">
            <a:extLst>
              <a:ext uri="{FF2B5EF4-FFF2-40B4-BE49-F238E27FC236}">
                <a16:creationId xmlns:a16="http://schemas.microsoft.com/office/drawing/2014/main" id="{1574E79D-2518-8647-AD12-3B7F5EE31F09}"/>
              </a:ext>
            </a:extLst>
          </p:cNvPr>
          <p:cNvGrpSpPr/>
          <p:nvPr/>
        </p:nvGrpSpPr>
        <p:grpSpPr>
          <a:xfrm>
            <a:off x="1835768" y="4767206"/>
            <a:ext cx="3963166" cy="914400"/>
            <a:chOff x="1123950" y="5295231"/>
            <a:chExt cx="3963166" cy="914400"/>
          </a:xfrm>
        </p:grpSpPr>
        <p:pic>
          <p:nvPicPr>
            <p:cNvPr id="14" name="图形 11" descr="箭头顺时针弯曲">
              <a:extLst>
                <a:ext uri="{FF2B5EF4-FFF2-40B4-BE49-F238E27FC236}">
                  <a16:creationId xmlns:a16="http://schemas.microsoft.com/office/drawing/2014/main" id="{7236FC42-11F8-6D75-848E-7EA3193757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5082922" flipV="1">
              <a:off x="4172716" y="5295231"/>
              <a:ext cx="914400" cy="914400"/>
            </a:xfrm>
            <a:prstGeom prst="rect">
              <a:avLst/>
            </a:prstGeom>
          </p:spPr>
        </p:pic>
        <p:sp>
          <p:nvSpPr>
            <p:cNvPr id="16" name="矩形 15">
              <a:extLst>
                <a:ext uri="{FF2B5EF4-FFF2-40B4-BE49-F238E27FC236}">
                  <a16:creationId xmlns:a16="http://schemas.microsoft.com/office/drawing/2014/main" id="{02D66447-C01A-2665-00DB-0CACB45F7FA4}"/>
                </a:ext>
              </a:extLst>
            </p:cNvPr>
            <p:cNvSpPr/>
            <p:nvPr/>
          </p:nvSpPr>
          <p:spPr>
            <a:xfrm>
              <a:off x="1123950" y="5399555"/>
              <a:ext cx="2984896" cy="35447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anim calcmode="lin" valueType="num">
                                      <p:cBhvr>
                                        <p:cTn id="16" dur="1000" fill="hold"/>
                                        <p:tgtEl>
                                          <p:spTgt spid="11"/>
                                        </p:tgtEl>
                                        <p:attrNameLst>
                                          <p:attrName>ppt_x</p:attrName>
                                        </p:attrNameLst>
                                      </p:cBhvr>
                                      <p:tavLst>
                                        <p:tav tm="0">
                                          <p:val>
                                            <p:strVal val="#ppt_x"/>
                                          </p:val>
                                        </p:tav>
                                        <p:tav tm="100000">
                                          <p:val>
                                            <p:strVal val="#ppt_x"/>
                                          </p:val>
                                        </p:tav>
                                      </p:tavLst>
                                    </p:anim>
                                    <p:anim calcmode="lin" valueType="num">
                                      <p:cBhvr>
                                        <p:cTn id="17" dur="1000" fill="hold"/>
                                        <p:tgtEl>
                                          <p:spTgt spid="11"/>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23149" y="528563"/>
            <a:ext cx="4698206" cy="523220"/>
          </a:xfrm>
          <a:prstGeom prst="rect">
            <a:avLst/>
          </a:prstGeom>
          <a:noFill/>
        </p:spPr>
        <p:txBody>
          <a:bodyPr wrap="square" rtlCol="0">
            <a:spAutoFit/>
          </a:bodyPr>
          <a:lstStyle/>
          <a:p>
            <a:pPr algn="ctr"/>
            <a:r>
              <a:rPr lang="en-US" altLang="zh-CN" sz="2800" dirty="0" err="1">
                <a:effectLst>
                  <a:outerShdw blurRad="38100" dist="38100" dir="2700000" algn="tl">
                    <a:srgbClr val="000000">
                      <a:alpha val="43137"/>
                    </a:srgbClr>
                  </a:outerShdw>
                </a:effectLst>
                <a:latin typeface="Consolas" panose="020B0609020204030204" pitchFamily="49" charset="0"/>
              </a:rPr>
              <a:t>fopen</a:t>
            </a:r>
            <a:r>
              <a:rPr lang="en-US" altLang="zh-CN" sz="2800" dirty="0">
                <a:effectLst>
                  <a:outerShdw blurRad="38100" dist="38100" dir="2700000" algn="tl">
                    <a:srgbClr val="000000">
                      <a:alpha val="43137"/>
                    </a:srgbClr>
                  </a:outerShdw>
                </a:effectLst>
                <a:latin typeface="Consolas" panose="020B0609020204030204" pitchFamily="49" charset="0"/>
              </a:rPr>
              <a:t>(</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&lt;</a:t>
            </a:r>
            <a:r>
              <a:rPr lang="zh-CN" altLang="en-US" sz="2800" dirty="0">
                <a:solidFill>
                  <a:srgbClr val="FF0000"/>
                </a:solidFill>
                <a:effectLst>
                  <a:outerShdw blurRad="38100" dist="38100" dir="2700000" algn="tl">
                    <a:srgbClr val="000000">
                      <a:alpha val="43137"/>
                    </a:srgbClr>
                  </a:outerShdw>
                </a:effectLst>
                <a:latin typeface="Consolas" panose="020B0609020204030204" pitchFamily="49" charset="0"/>
              </a:rPr>
              <a:t>文件路径</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&gt;</a:t>
            </a:r>
            <a:r>
              <a:rPr lang="en-US" altLang="zh-CN" sz="2800" dirty="0">
                <a:effectLst>
                  <a:outerShdw blurRad="38100" dist="38100" dir="2700000" algn="tl">
                    <a:srgbClr val="000000">
                      <a:alpha val="43137"/>
                    </a:srgbClr>
                  </a:outerShdw>
                </a:effectLst>
                <a:latin typeface="Consolas" panose="020B0609020204030204" pitchFamily="49" charset="0"/>
              </a:rPr>
              <a:t>, &lt;</a:t>
            </a:r>
            <a:r>
              <a:rPr lang="zh-CN" altLang="en-US" sz="2800" dirty="0">
                <a:effectLst>
                  <a:outerShdw blurRad="38100" dist="38100" dir="2700000" algn="tl">
                    <a:srgbClr val="000000">
                      <a:alpha val="43137"/>
                    </a:srgbClr>
                  </a:outerShdw>
                </a:effectLst>
                <a:latin typeface="Consolas" panose="020B0609020204030204" pitchFamily="49" charset="0"/>
              </a:rPr>
              <a:t>模式</a:t>
            </a:r>
            <a:r>
              <a:rPr lang="en-US" altLang="zh-CN" sz="2800" dirty="0">
                <a:effectLst>
                  <a:outerShdw blurRad="38100" dist="38100" dir="2700000" algn="tl">
                    <a:srgbClr val="000000">
                      <a:alpha val="43137"/>
                    </a:srgbClr>
                  </a:outerShdw>
                </a:effectLst>
                <a:latin typeface="Consolas" panose="020B0609020204030204" pitchFamily="49" charset="0"/>
              </a:rPr>
              <a:t>&gt;)</a:t>
            </a:r>
          </a:p>
        </p:txBody>
      </p:sp>
      <p:sp>
        <p:nvSpPr>
          <p:cNvPr id="4" name="文本框 3"/>
          <p:cNvSpPr txBox="1"/>
          <p:nvPr/>
        </p:nvSpPr>
        <p:spPr>
          <a:xfrm>
            <a:off x="728904" y="1144121"/>
            <a:ext cx="7726362" cy="1261884"/>
          </a:xfrm>
          <a:prstGeom prst="rect">
            <a:avLst/>
          </a:prstGeom>
          <a:noFill/>
        </p:spPr>
        <p:txBody>
          <a:bodyPr wrap="square" rtlCol="0">
            <a:spAutoFit/>
          </a:bodyPr>
          <a:lstStyle/>
          <a:p>
            <a:r>
              <a:rPr lang="zh-CN" altLang="en-US" sz="2800" dirty="0">
                <a:latin typeface="Consolas" panose="020B0609020204030204" pitchFamily="49" charset="0"/>
              </a:rPr>
              <a:t>文件路径：</a:t>
            </a:r>
            <a:endParaRPr lang="en-US" altLang="zh-CN" sz="2800" dirty="0">
              <a:latin typeface="Consolas" panose="020B0609020204030204" pitchFamily="49" charset="0"/>
            </a:endParaRPr>
          </a:p>
          <a:p>
            <a:pPr marL="285750" indent="-285750">
              <a:buFont typeface="Arial" panose="020B0604020202020204" pitchFamily="34" charset="0"/>
              <a:buChar char="•"/>
            </a:pPr>
            <a:r>
              <a:rPr lang="zh-CN" altLang="en-US" sz="2400" dirty="0"/>
              <a:t>绝对路径：从盘符开始</a:t>
            </a:r>
            <a:endParaRPr lang="en-US" altLang="zh-CN" sz="2400" dirty="0"/>
          </a:p>
          <a:p>
            <a:pPr marL="742950" lvl="1" indent="-285750">
              <a:buFont typeface="Arial" panose="020B0604020202020204" pitchFamily="34" charset="0"/>
              <a:buChar char="•"/>
            </a:pPr>
            <a:r>
              <a:rPr lang="zh-CN" altLang="en-US" sz="2400" dirty="0"/>
              <a:t>如</a:t>
            </a:r>
            <a:r>
              <a:rPr lang="en-US" altLang="zh-CN" sz="2400" dirty="0"/>
              <a:t>”C:/Data/1.txt”</a:t>
            </a:r>
          </a:p>
        </p:txBody>
      </p:sp>
      <p:grpSp>
        <p:nvGrpSpPr>
          <p:cNvPr id="22" name="组合 21">
            <a:extLst>
              <a:ext uri="{FF2B5EF4-FFF2-40B4-BE49-F238E27FC236}">
                <a16:creationId xmlns:a16="http://schemas.microsoft.com/office/drawing/2014/main" id="{F21CAA5B-14EE-C059-AF8A-1D299795E0DA}"/>
              </a:ext>
            </a:extLst>
          </p:cNvPr>
          <p:cNvGrpSpPr/>
          <p:nvPr/>
        </p:nvGrpSpPr>
        <p:grpSpPr>
          <a:xfrm>
            <a:off x="5874583" y="2361270"/>
            <a:ext cx="6135760" cy="1609554"/>
            <a:chOff x="1946554" y="4828669"/>
            <a:chExt cx="4985827" cy="1286920"/>
          </a:xfrm>
        </p:grpSpPr>
        <p:pic>
          <p:nvPicPr>
            <p:cNvPr id="3" name="图片 2">
              <a:extLst>
                <a:ext uri="{FF2B5EF4-FFF2-40B4-BE49-F238E27FC236}">
                  <a16:creationId xmlns:a16="http://schemas.microsoft.com/office/drawing/2014/main" id="{A726ECF7-3FA0-2A03-4707-3705A1AA6F2F}"/>
                </a:ext>
              </a:extLst>
            </p:cNvPr>
            <p:cNvPicPr>
              <a:picLocks noChangeAspect="1"/>
            </p:cNvPicPr>
            <p:nvPr/>
          </p:nvPicPr>
          <p:blipFill>
            <a:blip r:embed="rId3"/>
            <a:stretch>
              <a:fillRect/>
            </a:stretch>
          </p:blipFill>
          <p:spPr>
            <a:xfrm>
              <a:off x="1946554" y="4934629"/>
              <a:ext cx="1766913" cy="460783"/>
            </a:xfrm>
            <a:prstGeom prst="rect">
              <a:avLst/>
            </a:prstGeom>
          </p:spPr>
        </p:pic>
        <p:pic>
          <p:nvPicPr>
            <p:cNvPr id="8" name="图片 7">
              <a:extLst>
                <a:ext uri="{FF2B5EF4-FFF2-40B4-BE49-F238E27FC236}">
                  <a16:creationId xmlns:a16="http://schemas.microsoft.com/office/drawing/2014/main" id="{5420AA20-4987-E3B5-C6BF-44E3756A1394}"/>
                </a:ext>
              </a:extLst>
            </p:cNvPr>
            <p:cNvPicPr>
              <a:picLocks noChangeAspect="1"/>
            </p:cNvPicPr>
            <p:nvPr/>
          </p:nvPicPr>
          <p:blipFill>
            <a:blip r:embed="rId4"/>
            <a:stretch>
              <a:fillRect/>
            </a:stretch>
          </p:blipFill>
          <p:spPr>
            <a:xfrm>
              <a:off x="4308910" y="4934629"/>
              <a:ext cx="1071570" cy="633417"/>
            </a:xfrm>
            <a:prstGeom prst="rect">
              <a:avLst/>
            </a:prstGeom>
          </p:spPr>
        </p:pic>
        <p:pic>
          <p:nvPicPr>
            <p:cNvPr id="12" name="图片 11">
              <a:extLst>
                <a:ext uri="{FF2B5EF4-FFF2-40B4-BE49-F238E27FC236}">
                  <a16:creationId xmlns:a16="http://schemas.microsoft.com/office/drawing/2014/main" id="{415330EA-1761-AF81-7146-E38EA3947948}"/>
                </a:ext>
              </a:extLst>
            </p:cNvPr>
            <p:cNvPicPr>
              <a:picLocks noChangeAspect="1"/>
            </p:cNvPicPr>
            <p:nvPr/>
          </p:nvPicPr>
          <p:blipFill>
            <a:blip r:embed="rId5"/>
            <a:stretch>
              <a:fillRect/>
            </a:stretch>
          </p:blipFill>
          <p:spPr>
            <a:xfrm>
              <a:off x="5946536" y="5806024"/>
              <a:ext cx="985845" cy="309565"/>
            </a:xfrm>
            <a:prstGeom prst="rect">
              <a:avLst/>
            </a:prstGeom>
          </p:spPr>
        </p:pic>
        <p:pic>
          <p:nvPicPr>
            <p:cNvPr id="14" name="图片 13">
              <a:extLst>
                <a:ext uri="{FF2B5EF4-FFF2-40B4-BE49-F238E27FC236}">
                  <a16:creationId xmlns:a16="http://schemas.microsoft.com/office/drawing/2014/main" id="{ED36B267-05BB-D60B-3FFB-A9295626E963}"/>
                </a:ext>
              </a:extLst>
            </p:cNvPr>
            <p:cNvPicPr>
              <a:picLocks noChangeAspect="1"/>
            </p:cNvPicPr>
            <p:nvPr/>
          </p:nvPicPr>
          <p:blipFill>
            <a:blip r:embed="rId6"/>
            <a:stretch>
              <a:fillRect/>
            </a:stretch>
          </p:blipFill>
          <p:spPr>
            <a:xfrm>
              <a:off x="5975925" y="4828669"/>
              <a:ext cx="481016" cy="566742"/>
            </a:xfrm>
            <a:prstGeom prst="rect">
              <a:avLst/>
            </a:prstGeom>
          </p:spPr>
        </p:pic>
        <p:cxnSp>
          <p:nvCxnSpPr>
            <p:cNvPr id="16" name="直接箭头连接符 15">
              <a:extLst>
                <a:ext uri="{FF2B5EF4-FFF2-40B4-BE49-F238E27FC236}">
                  <a16:creationId xmlns:a16="http://schemas.microsoft.com/office/drawing/2014/main" id="{67F44A98-002D-F010-854B-5317789DA23F}"/>
                </a:ext>
              </a:extLst>
            </p:cNvPr>
            <p:cNvCxnSpPr>
              <a:stCxn id="3" idx="3"/>
              <a:endCxn id="8" idx="1"/>
            </p:cNvCxnSpPr>
            <p:nvPr/>
          </p:nvCxnSpPr>
          <p:spPr>
            <a:xfrm>
              <a:off x="3713466" y="5165021"/>
              <a:ext cx="595444" cy="86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9B75A7AB-9817-F490-04A8-659DB85A737E}"/>
                </a:ext>
              </a:extLst>
            </p:cNvPr>
            <p:cNvCxnSpPr>
              <a:cxnSpLocks/>
              <a:stCxn id="8" idx="0"/>
              <a:endCxn id="14" idx="1"/>
            </p:cNvCxnSpPr>
            <p:nvPr/>
          </p:nvCxnSpPr>
          <p:spPr>
            <a:xfrm>
              <a:off x="4844696" y="4934629"/>
              <a:ext cx="1131230" cy="177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A608F9E0-E94B-7C27-AC7D-034FF060F15C}"/>
                </a:ext>
              </a:extLst>
            </p:cNvPr>
            <p:cNvCxnSpPr>
              <a:cxnSpLocks/>
              <a:stCxn id="8" idx="2"/>
              <a:endCxn id="12" idx="1"/>
            </p:cNvCxnSpPr>
            <p:nvPr/>
          </p:nvCxnSpPr>
          <p:spPr>
            <a:xfrm>
              <a:off x="4844695" y="5568046"/>
              <a:ext cx="1101840" cy="392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 name="标题 4">
            <a:extLst>
              <a:ext uri="{FF2B5EF4-FFF2-40B4-BE49-F238E27FC236}">
                <a16:creationId xmlns:a16="http://schemas.microsoft.com/office/drawing/2014/main" id="{13D7A318-A2CF-4949-A18A-581DD500FFDB}"/>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打开</a:t>
            </a:r>
          </a:p>
        </p:txBody>
      </p:sp>
      <p:sp>
        <p:nvSpPr>
          <p:cNvPr id="2" name="文本框 1">
            <a:extLst>
              <a:ext uri="{FF2B5EF4-FFF2-40B4-BE49-F238E27FC236}">
                <a16:creationId xmlns:a16="http://schemas.microsoft.com/office/drawing/2014/main" id="{384034D3-492D-7654-C80A-D74EBF552941}"/>
              </a:ext>
            </a:extLst>
          </p:cNvPr>
          <p:cNvSpPr txBox="1"/>
          <p:nvPr/>
        </p:nvSpPr>
        <p:spPr>
          <a:xfrm>
            <a:off x="586333" y="2777981"/>
            <a:ext cx="3608680" cy="830997"/>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a:t>相对路径：从程序开始</a:t>
            </a:r>
            <a:endParaRPr lang="en-US" altLang="zh-CN" sz="2400" dirty="0"/>
          </a:p>
          <a:p>
            <a:pPr marL="800100" lvl="1" indent="-342900">
              <a:buFont typeface="Arial" panose="020B0604020202020204" pitchFamily="34" charset="0"/>
              <a:buChar char="•"/>
            </a:pPr>
            <a:r>
              <a:rPr lang="zh-CN" altLang="en-US" sz="2400" dirty="0"/>
              <a:t>如</a:t>
            </a:r>
            <a:r>
              <a:rPr lang="en-US" altLang="zh-CN" sz="2400" dirty="0"/>
              <a:t>”../Data/1.txt”</a:t>
            </a:r>
          </a:p>
        </p:txBody>
      </p:sp>
      <p:sp>
        <p:nvSpPr>
          <p:cNvPr id="5" name="文本框 4">
            <a:extLst>
              <a:ext uri="{FF2B5EF4-FFF2-40B4-BE49-F238E27FC236}">
                <a16:creationId xmlns:a16="http://schemas.microsoft.com/office/drawing/2014/main" id="{B45C1FA6-0AB6-CB5A-24C1-C013A15538BC}"/>
              </a:ext>
            </a:extLst>
          </p:cNvPr>
          <p:cNvSpPr txBox="1"/>
          <p:nvPr/>
        </p:nvSpPr>
        <p:spPr>
          <a:xfrm>
            <a:off x="724475" y="4405448"/>
            <a:ext cx="5824671" cy="461665"/>
          </a:xfrm>
          <a:prstGeom prst="rect">
            <a:avLst/>
          </a:prstGeom>
          <a:noFill/>
        </p:spPr>
        <p:txBody>
          <a:bodyPr wrap="none" rtlCol="0">
            <a:spAutoFit/>
          </a:bodyPr>
          <a:lstStyle/>
          <a:p>
            <a:r>
              <a:rPr lang="zh-CN" altLang="en-US" sz="2400" dirty="0"/>
              <a:t>分隔符：</a:t>
            </a:r>
            <a:r>
              <a:rPr lang="en-US" altLang="zh-CN" sz="2400" dirty="0"/>
              <a:t>"folder/file.txt"</a:t>
            </a:r>
            <a:r>
              <a:rPr lang="zh-CN" altLang="en-US" sz="2400" dirty="0"/>
              <a:t>或</a:t>
            </a:r>
            <a:r>
              <a:rPr lang="en-US" altLang="zh-CN" sz="2400" dirty="0"/>
              <a:t>"folder\\file.txt"</a:t>
            </a:r>
            <a:endParaRPr lang="en-GB"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0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文本框 9"/>
          <p:cNvSpPr txBox="1"/>
          <p:nvPr/>
        </p:nvSpPr>
        <p:spPr>
          <a:xfrm>
            <a:off x="586333" y="1080478"/>
            <a:ext cx="4698206" cy="523220"/>
          </a:xfrm>
          <a:prstGeom prst="rect">
            <a:avLst/>
          </a:prstGeom>
          <a:noFill/>
        </p:spPr>
        <p:txBody>
          <a:bodyPr wrap="square" rtlCol="0">
            <a:spAutoFit/>
          </a:bodyPr>
          <a:lstStyle/>
          <a:p>
            <a:pPr algn="ctr"/>
            <a:r>
              <a:rPr lang="en-US" altLang="zh-CN" sz="2800" dirty="0" err="1">
                <a:effectLst>
                  <a:outerShdw blurRad="38100" dist="38100" dir="2700000" algn="tl">
                    <a:srgbClr val="000000">
                      <a:alpha val="43137"/>
                    </a:srgbClr>
                  </a:outerShdw>
                </a:effectLst>
                <a:latin typeface="Consolas" panose="020B0609020204030204" pitchFamily="49" charset="0"/>
              </a:rPr>
              <a:t>fopen</a:t>
            </a:r>
            <a:r>
              <a:rPr lang="en-US" altLang="zh-CN" sz="2800" dirty="0">
                <a:effectLst>
                  <a:outerShdw blurRad="38100" dist="38100" dir="2700000" algn="tl">
                    <a:srgbClr val="000000">
                      <a:alpha val="43137"/>
                    </a:srgbClr>
                  </a:outerShdw>
                </a:effectLst>
                <a:latin typeface="Consolas" panose="020B0609020204030204" pitchFamily="49" charset="0"/>
              </a:rPr>
              <a:t>(&lt;</a:t>
            </a:r>
            <a:r>
              <a:rPr lang="zh-CN" altLang="en-US" sz="2800" dirty="0">
                <a:effectLst>
                  <a:outerShdw blurRad="38100" dist="38100" dir="2700000" algn="tl">
                    <a:srgbClr val="000000">
                      <a:alpha val="43137"/>
                    </a:srgbClr>
                  </a:outerShdw>
                </a:effectLst>
                <a:latin typeface="Consolas" panose="020B0609020204030204" pitchFamily="49" charset="0"/>
              </a:rPr>
              <a:t>文件名</a:t>
            </a:r>
            <a:r>
              <a:rPr lang="en-US" altLang="zh-CN" sz="2800" dirty="0">
                <a:effectLst>
                  <a:outerShdw blurRad="38100" dist="38100" dir="2700000" algn="tl">
                    <a:srgbClr val="000000">
                      <a:alpha val="43137"/>
                    </a:srgbClr>
                  </a:outerShdw>
                </a:effectLst>
                <a:latin typeface="Consolas" panose="020B0609020204030204" pitchFamily="49" charset="0"/>
              </a:rPr>
              <a:t>&gt;, </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&lt;</a:t>
            </a:r>
            <a:r>
              <a:rPr lang="zh-CN" altLang="en-US" sz="2800" dirty="0">
                <a:solidFill>
                  <a:srgbClr val="FF0000"/>
                </a:solidFill>
                <a:effectLst>
                  <a:outerShdw blurRad="38100" dist="38100" dir="2700000" algn="tl">
                    <a:srgbClr val="000000">
                      <a:alpha val="43137"/>
                    </a:srgbClr>
                  </a:outerShdw>
                </a:effectLst>
                <a:latin typeface="Consolas" panose="020B0609020204030204" pitchFamily="49" charset="0"/>
              </a:rPr>
              <a:t>模式</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&gt;</a:t>
            </a:r>
            <a:r>
              <a:rPr lang="en-US" altLang="zh-CN" sz="2800" dirty="0">
                <a:effectLst>
                  <a:outerShdw blurRad="38100" dist="38100" dir="2700000" algn="tl">
                    <a:srgbClr val="000000">
                      <a:alpha val="43137"/>
                    </a:srgbClr>
                  </a:outerShdw>
                </a:effectLst>
                <a:latin typeface="Consolas" panose="020B0609020204030204" pitchFamily="49" charset="0"/>
              </a:rPr>
              <a:t>)</a:t>
            </a:r>
          </a:p>
        </p:txBody>
      </p:sp>
      <p:graphicFrame>
        <p:nvGraphicFramePr>
          <p:cNvPr id="7" name="表格 7"/>
          <p:cNvGraphicFramePr>
            <a:graphicFrameLocks noGrp="1"/>
          </p:cNvGraphicFramePr>
          <p:nvPr>
            <p:custDataLst>
              <p:tags r:id="rId2"/>
            </p:custDataLst>
            <p:extLst>
              <p:ext uri="{D42A27DB-BD31-4B8C-83A1-F6EECF244321}">
                <p14:modId xmlns:p14="http://schemas.microsoft.com/office/powerpoint/2010/main" val="1902549560"/>
              </p:ext>
            </p:extLst>
          </p:nvPr>
        </p:nvGraphicFramePr>
        <p:xfrm>
          <a:off x="724475" y="1652373"/>
          <a:ext cx="10831333" cy="4942083"/>
        </p:xfrm>
        <a:graphic>
          <a:graphicData uri="http://schemas.openxmlformats.org/drawingml/2006/table">
            <a:tbl>
              <a:tblPr firstRow="1" bandRow="1">
                <a:tableStyleId>{2D5ABB26-0587-4C30-8999-92F81FD0307C}</a:tableStyleId>
              </a:tblPr>
              <a:tblGrid>
                <a:gridCol w="1852888">
                  <a:extLst>
                    <a:ext uri="{9D8B030D-6E8A-4147-A177-3AD203B41FA5}">
                      <a16:colId xmlns:a16="http://schemas.microsoft.com/office/drawing/2014/main" val="20000"/>
                    </a:ext>
                  </a:extLst>
                </a:gridCol>
                <a:gridCol w="3694562">
                  <a:extLst>
                    <a:ext uri="{9D8B030D-6E8A-4147-A177-3AD203B41FA5}">
                      <a16:colId xmlns:a16="http://schemas.microsoft.com/office/drawing/2014/main" val="20001"/>
                    </a:ext>
                  </a:extLst>
                </a:gridCol>
                <a:gridCol w="3099141">
                  <a:extLst>
                    <a:ext uri="{9D8B030D-6E8A-4147-A177-3AD203B41FA5}">
                      <a16:colId xmlns:a16="http://schemas.microsoft.com/office/drawing/2014/main" val="20002"/>
                    </a:ext>
                  </a:extLst>
                </a:gridCol>
                <a:gridCol w="2184742">
                  <a:extLst>
                    <a:ext uri="{9D8B030D-6E8A-4147-A177-3AD203B41FA5}">
                      <a16:colId xmlns:a16="http://schemas.microsoft.com/office/drawing/2014/main" val="1102441327"/>
                    </a:ext>
                  </a:extLst>
                </a:gridCol>
              </a:tblGrid>
              <a:tr h="1219405">
                <a:tc>
                  <a:txBody>
                    <a:bodyPr/>
                    <a:lstStyle/>
                    <a:p>
                      <a:pPr algn="ctr"/>
                      <a:r>
                        <a:rPr lang="zh-CN" altLang="en-US" sz="2800" b="1" dirty="0"/>
                        <a:t>模式</a:t>
                      </a:r>
                    </a:p>
                  </a:txBody>
                  <a:tcPr anchor="ctr">
                    <a:solidFill>
                      <a:srgbClr val="FFCCCC"/>
                    </a:solidFill>
                  </a:tcPr>
                </a:tc>
                <a:tc>
                  <a:txBody>
                    <a:bodyPr/>
                    <a:lstStyle/>
                    <a:p>
                      <a:pPr algn="ctr"/>
                      <a:r>
                        <a:rPr lang="zh-CN" altLang="en-US" sz="2800" b="1" dirty="0"/>
                        <a:t>文件已存在时</a:t>
                      </a:r>
                    </a:p>
                  </a:txBody>
                  <a:tcPr anchor="ctr">
                    <a:solidFill>
                      <a:srgbClr val="FFCCCC"/>
                    </a:solidFill>
                  </a:tcPr>
                </a:tc>
                <a:tc>
                  <a:txBody>
                    <a:bodyPr/>
                    <a:lstStyle/>
                    <a:p>
                      <a:pPr algn="ctr"/>
                      <a:r>
                        <a:rPr lang="zh-CN" altLang="en-US" sz="2800" b="1" dirty="0"/>
                        <a:t>文件不存在时</a:t>
                      </a:r>
                    </a:p>
                  </a:txBody>
                  <a:tcPr anchor="ctr">
                    <a:solidFill>
                      <a:srgbClr val="FFCCCC"/>
                    </a:solidFill>
                  </a:tcPr>
                </a:tc>
                <a:tc>
                  <a:txBody>
                    <a:bodyPr/>
                    <a:lstStyle/>
                    <a:p>
                      <a:pPr algn="ctr"/>
                      <a:r>
                        <a:rPr lang="zh-CN" altLang="en-US" sz="2800" b="1" dirty="0"/>
                        <a:t>读写</a:t>
                      </a:r>
                    </a:p>
                  </a:txBody>
                  <a:tcPr anchor="ctr">
                    <a:solidFill>
                      <a:srgbClr val="FFCCCC"/>
                    </a:solidFill>
                  </a:tcPr>
                </a:tc>
                <a:extLst>
                  <a:ext uri="{0D108BD9-81ED-4DB2-BD59-A6C34878D82A}">
                    <a16:rowId xmlns:a16="http://schemas.microsoft.com/office/drawing/2014/main" val="10000"/>
                  </a:ext>
                </a:extLst>
              </a:tr>
              <a:tr h="953744">
                <a:tc>
                  <a:txBody>
                    <a:bodyPr/>
                    <a:lstStyle/>
                    <a:p>
                      <a:pPr algn="ctr"/>
                      <a:r>
                        <a:rPr lang="en-US" altLang="zh-CN" sz="2800" b="1" u="sng" dirty="0">
                          <a:latin typeface="Consolas" panose="020B0609020204030204" pitchFamily="49" charset="0"/>
                        </a:rPr>
                        <a:t>r</a:t>
                      </a:r>
                      <a:r>
                        <a:rPr lang="en-US" altLang="zh-CN" sz="2800" b="0" u="none" dirty="0">
                          <a:latin typeface="Consolas" panose="020B0609020204030204" pitchFamily="49" charset="0"/>
                        </a:rPr>
                        <a:t>(r</a:t>
                      </a:r>
                      <a:r>
                        <a:rPr lang="en-US" altLang="zh-CN" sz="2800" dirty="0">
                          <a:latin typeface="Consolas" panose="020B0609020204030204" pitchFamily="49" charset="0"/>
                        </a:rPr>
                        <a:t>ead)</a:t>
                      </a:r>
                      <a:endParaRPr lang="zh-CN" altLang="en-US" sz="2800" dirty="0">
                        <a:latin typeface="Consolas" panose="020B0609020204030204" pitchFamily="49" charset="0"/>
                      </a:endParaRPr>
                    </a:p>
                  </a:txBody>
                  <a:tcPr anchor="ctr"/>
                </a:tc>
                <a:tc>
                  <a:txBody>
                    <a:bodyPr/>
                    <a:lstStyle/>
                    <a:p>
                      <a:pPr algn="ctr"/>
                      <a:r>
                        <a:rPr lang="zh-CN" altLang="en-US" sz="2800" dirty="0"/>
                        <a:t>指向开头</a:t>
                      </a:r>
                    </a:p>
                  </a:txBody>
                  <a:tcPr anchor="ctr"/>
                </a:tc>
                <a:tc>
                  <a:txBody>
                    <a:bodyPr/>
                    <a:lstStyle/>
                    <a:p>
                      <a:pPr algn="ctr"/>
                      <a:r>
                        <a:rPr lang="zh-CN" altLang="en-US" sz="2800" dirty="0"/>
                        <a:t>返回</a:t>
                      </a:r>
                      <a:r>
                        <a:rPr lang="en-US" altLang="zh-CN" sz="2800" dirty="0">
                          <a:latin typeface="Consolas" panose="020B0609020204030204" pitchFamily="49" charset="0"/>
                        </a:rPr>
                        <a:t>NULL</a:t>
                      </a:r>
                      <a:endParaRPr lang="zh-CN" altLang="en-US" sz="2800" dirty="0">
                        <a:latin typeface="Consolas" panose="020B0609020204030204" pitchFamily="49" charset="0"/>
                      </a:endParaRPr>
                    </a:p>
                  </a:txBody>
                  <a:tcPr anchor="ctr"/>
                </a:tc>
                <a:tc>
                  <a:txBody>
                    <a:bodyPr/>
                    <a:lstStyle/>
                    <a:p>
                      <a:pPr algn="ctr"/>
                      <a:r>
                        <a:rPr lang="zh-CN" altLang="en-US" sz="2800" dirty="0">
                          <a:latin typeface="Consolas" panose="020B0609020204030204" pitchFamily="49" charset="0"/>
                        </a:rPr>
                        <a:t>只读</a:t>
                      </a:r>
                    </a:p>
                  </a:txBody>
                  <a:tcPr anchor="ctr"/>
                </a:tc>
                <a:extLst>
                  <a:ext uri="{0D108BD9-81ED-4DB2-BD59-A6C34878D82A}">
                    <a16:rowId xmlns:a16="http://schemas.microsoft.com/office/drawing/2014/main" val="10001"/>
                  </a:ext>
                </a:extLst>
              </a:tr>
              <a:tr h="1384467">
                <a:tc>
                  <a:txBody>
                    <a:bodyPr/>
                    <a:lstStyle/>
                    <a:p>
                      <a:pPr algn="ctr"/>
                      <a:r>
                        <a:rPr lang="en-US" altLang="zh-CN" sz="2800" b="1" u="sng" dirty="0">
                          <a:latin typeface="Consolas" panose="020B0609020204030204" pitchFamily="49" charset="0"/>
                        </a:rPr>
                        <a:t>w</a:t>
                      </a:r>
                      <a:r>
                        <a:rPr lang="en-US" altLang="zh-CN" sz="2800" b="0" u="none" dirty="0">
                          <a:latin typeface="Consolas" panose="020B0609020204030204" pitchFamily="49" charset="0"/>
                        </a:rPr>
                        <a:t>(w</a:t>
                      </a:r>
                      <a:r>
                        <a:rPr lang="en-US" altLang="zh-CN" sz="2800" dirty="0">
                          <a:latin typeface="Consolas" panose="020B0609020204030204" pitchFamily="49" charset="0"/>
                        </a:rPr>
                        <a:t>rite)</a:t>
                      </a:r>
                      <a:endParaRPr lang="zh-CN" altLang="en-US" sz="2800" dirty="0">
                        <a:latin typeface="Consolas" panose="020B0609020204030204" pitchFamily="49" charset="0"/>
                      </a:endParaRPr>
                    </a:p>
                  </a:txBody>
                  <a:tcPr anchor="ctr"/>
                </a:tc>
                <a:tc>
                  <a:txBody>
                    <a:bodyPr/>
                    <a:lstStyle/>
                    <a:p>
                      <a:pPr algn="ctr"/>
                      <a:r>
                        <a:rPr lang="zh-CN" altLang="en-US" sz="2800" dirty="0"/>
                        <a:t>删除已有内容，指向开头</a:t>
                      </a:r>
                    </a:p>
                  </a:txBody>
                  <a:tcPr anchor="ctr"/>
                </a:tc>
                <a:tc>
                  <a:txBody>
                    <a:bodyPr/>
                    <a:lstStyle/>
                    <a:p>
                      <a:pPr algn="ctr"/>
                      <a:r>
                        <a:rPr lang="zh-CN" altLang="en-US" sz="2800" dirty="0"/>
                        <a:t>新建</a:t>
                      </a:r>
                    </a:p>
                  </a:txBody>
                  <a:tcPr anchor="ctr"/>
                </a:tc>
                <a:tc>
                  <a:txBody>
                    <a:bodyPr/>
                    <a:lstStyle/>
                    <a:p>
                      <a:pPr algn="ctr"/>
                      <a:r>
                        <a:rPr lang="zh-CN" altLang="en-US" sz="2800" dirty="0"/>
                        <a:t>只写</a:t>
                      </a:r>
                    </a:p>
                  </a:txBody>
                  <a:tcPr anchor="ctr"/>
                </a:tc>
                <a:extLst>
                  <a:ext uri="{0D108BD9-81ED-4DB2-BD59-A6C34878D82A}">
                    <a16:rowId xmlns:a16="http://schemas.microsoft.com/office/drawing/2014/main" val="10002"/>
                  </a:ext>
                </a:extLst>
              </a:tr>
              <a:tr h="1384467">
                <a:tc>
                  <a:txBody>
                    <a:bodyPr/>
                    <a:lstStyle/>
                    <a:p>
                      <a:pPr algn="ctr"/>
                      <a:r>
                        <a:rPr lang="en-US" altLang="zh-CN" sz="2800" b="1" u="sng" dirty="0">
                          <a:latin typeface="Consolas" panose="020B0609020204030204" pitchFamily="49" charset="0"/>
                        </a:rPr>
                        <a:t>a</a:t>
                      </a:r>
                      <a:r>
                        <a:rPr lang="en-US" altLang="zh-CN" sz="2800" b="0" u="none" dirty="0">
                          <a:latin typeface="Consolas" panose="020B0609020204030204" pitchFamily="49" charset="0"/>
                        </a:rPr>
                        <a:t>(a</a:t>
                      </a:r>
                      <a:r>
                        <a:rPr lang="en-US" altLang="zh-CN" sz="2800" dirty="0">
                          <a:latin typeface="Consolas" panose="020B0609020204030204" pitchFamily="49" charset="0"/>
                        </a:rPr>
                        <a:t>ppend)</a:t>
                      </a:r>
                      <a:endParaRPr lang="zh-CN" altLang="en-US" sz="2800" dirty="0">
                        <a:latin typeface="Consolas" panose="020B0609020204030204" pitchFamily="49" charset="0"/>
                      </a:endParaRPr>
                    </a:p>
                  </a:txBody>
                  <a:tcPr anchor="ctr"/>
                </a:tc>
                <a:tc>
                  <a:txBody>
                    <a:bodyPr/>
                    <a:lstStyle/>
                    <a:p>
                      <a:pPr algn="ctr"/>
                      <a:r>
                        <a:rPr lang="zh-CN" altLang="en-US" sz="2800" dirty="0"/>
                        <a:t>保留已有内容，指向结尾</a:t>
                      </a:r>
                    </a:p>
                  </a:txBody>
                  <a:tcPr anchor="ctr"/>
                </a:tc>
                <a:tc>
                  <a:txBody>
                    <a:bodyPr/>
                    <a:lstStyle/>
                    <a:p>
                      <a:pPr algn="ctr"/>
                      <a:r>
                        <a:rPr lang="zh-CN" altLang="en-US" sz="2800" dirty="0"/>
                        <a:t>新建</a:t>
                      </a:r>
                    </a:p>
                  </a:txBody>
                  <a:tcPr anchor="ctr"/>
                </a:tc>
                <a:tc>
                  <a:txBody>
                    <a:bodyPr/>
                    <a:lstStyle/>
                    <a:p>
                      <a:pPr algn="ctr"/>
                      <a:r>
                        <a:rPr lang="zh-CN" altLang="en-US" sz="2800" dirty="0"/>
                        <a:t>只能写在文件末尾</a:t>
                      </a:r>
                    </a:p>
                  </a:txBody>
                  <a:tcPr anchor="ctr"/>
                </a:tc>
                <a:extLst>
                  <a:ext uri="{0D108BD9-81ED-4DB2-BD59-A6C34878D82A}">
                    <a16:rowId xmlns:a16="http://schemas.microsoft.com/office/drawing/2014/main" val="10003"/>
                  </a:ext>
                </a:extLst>
              </a:tr>
            </a:tbl>
          </a:graphicData>
        </a:graphic>
      </p:graphicFrame>
      <p:sp>
        <p:nvSpPr>
          <p:cNvPr id="8" name="标题 4">
            <a:extLst>
              <a:ext uri="{FF2B5EF4-FFF2-40B4-BE49-F238E27FC236}">
                <a16:creationId xmlns:a16="http://schemas.microsoft.com/office/drawing/2014/main" id="{3C733C9E-5E83-10AD-5798-5A3DBB15F02F}"/>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打开</a:t>
            </a:r>
          </a:p>
        </p:txBody>
      </p:sp>
    </p:spTree>
  </p:cSld>
  <p:clrMapOvr>
    <a:overrideClrMapping bg1="lt1" tx1="dk1" bg2="lt2" tx2="dk2" accent1="accent1" accent2="accent2" accent3="accent3" accent4="accent4" accent5="accent5" accent6="accent6" hlink="hlink" folHlink="folHlink"/>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24475" y="1080478"/>
            <a:ext cx="4698206" cy="523220"/>
          </a:xfrm>
          <a:prstGeom prst="rect">
            <a:avLst/>
          </a:prstGeom>
          <a:noFill/>
        </p:spPr>
        <p:txBody>
          <a:bodyPr wrap="square" rtlCol="0">
            <a:spAutoFit/>
          </a:bodyPr>
          <a:lstStyle/>
          <a:p>
            <a:pPr algn="ctr"/>
            <a:r>
              <a:rPr lang="en-US" altLang="zh-CN" sz="2800" dirty="0" err="1">
                <a:effectLst>
                  <a:outerShdw blurRad="38100" dist="38100" dir="2700000" algn="tl">
                    <a:srgbClr val="000000">
                      <a:alpha val="43137"/>
                    </a:srgbClr>
                  </a:outerShdw>
                </a:effectLst>
                <a:latin typeface="Consolas" panose="020B0609020204030204" pitchFamily="49" charset="0"/>
              </a:rPr>
              <a:t>fopen</a:t>
            </a:r>
            <a:r>
              <a:rPr lang="en-US" altLang="zh-CN" sz="2800" dirty="0">
                <a:effectLst>
                  <a:outerShdw blurRad="38100" dist="38100" dir="2700000" algn="tl">
                    <a:srgbClr val="000000">
                      <a:alpha val="43137"/>
                    </a:srgbClr>
                  </a:outerShdw>
                </a:effectLst>
                <a:latin typeface="Consolas" panose="020B0609020204030204" pitchFamily="49" charset="0"/>
              </a:rPr>
              <a:t>(&lt;</a:t>
            </a:r>
            <a:r>
              <a:rPr lang="zh-CN" altLang="en-US" sz="2800" dirty="0">
                <a:effectLst>
                  <a:outerShdw blurRad="38100" dist="38100" dir="2700000" algn="tl">
                    <a:srgbClr val="000000">
                      <a:alpha val="43137"/>
                    </a:srgbClr>
                  </a:outerShdw>
                </a:effectLst>
                <a:latin typeface="Consolas" panose="020B0609020204030204" pitchFamily="49" charset="0"/>
              </a:rPr>
              <a:t>文件名</a:t>
            </a:r>
            <a:r>
              <a:rPr lang="en-US" altLang="zh-CN" sz="2800" dirty="0">
                <a:effectLst>
                  <a:outerShdw blurRad="38100" dist="38100" dir="2700000" algn="tl">
                    <a:srgbClr val="000000">
                      <a:alpha val="43137"/>
                    </a:srgbClr>
                  </a:outerShdw>
                </a:effectLst>
                <a:latin typeface="Consolas" panose="020B0609020204030204" pitchFamily="49" charset="0"/>
              </a:rPr>
              <a:t>&gt;, </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&lt;</a:t>
            </a:r>
            <a:r>
              <a:rPr lang="zh-CN" altLang="en-US" sz="2800" dirty="0">
                <a:solidFill>
                  <a:srgbClr val="FF0000"/>
                </a:solidFill>
                <a:effectLst>
                  <a:outerShdw blurRad="38100" dist="38100" dir="2700000" algn="tl">
                    <a:srgbClr val="000000">
                      <a:alpha val="43137"/>
                    </a:srgbClr>
                  </a:outerShdw>
                </a:effectLst>
                <a:latin typeface="Consolas" panose="020B0609020204030204" pitchFamily="49" charset="0"/>
              </a:rPr>
              <a:t>模式</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&gt;</a:t>
            </a:r>
            <a:r>
              <a:rPr lang="en-US" altLang="zh-CN" sz="2800" dirty="0">
                <a:effectLst>
                  <a:outerShdw blurRad="38100" dist="38100" dir="2700000" algn="tl">
                    <a:srgbClr val="000000">
                      <a:alpha val="43137"/>
                    </a:srgbClr>
                  </a:outerShdw>
                </a:effectLst>
                <a:latin typeface="Consolas" panose="020B0609020204030204" pitchFamily="49" charset="0"/>
              </a:rPr>
              <a:t>)</a:t>
            </a:r>
          </a:p>
        </p:txBody>
      </p:sp>
      <p:graphicFrame>
        <p:nvGraphicFramePr>
          <p:cNvPr id="7" name="表格 7"/>
          <p:cNvGraphicFramePr>
            <a:graphicFrameLocks noGrp="1"/>
          </p:cNvGraphicFramePr>
          <p:nvPr>
            <p:extLst>
              <p:ext uri="{D42A27DB-BD31-4B8C-83A1-F6EECF244321}">
                <p14:modId xmlns:p14="http://schemas.microsoft.com/office/powerpoint/2010/main" val="3727735998"/>
              </p:ext>
            </p:extLst>
          </p:nvPr>
        </p:nvGraphicFramePr>
        <p:xfrm>
          <a:off x="911620" y="1929685"/>
          <a:ext cx="10484626" cy="4482287"/>
        </p:xfrm>
        <a:graphic>
          <a:graphicData uri="http://schemas.openxmlformats.org/drawingml/2006/table">
            <a:tbl>
              <a:tblPr firstRow="1" bandRow="1">
                <a:tableStyleId>{2D5ABB26-0587-4C30-8999-92F81FD0307C}</a:tableStyleId>
              </a:tblPr>
              <a:tblGrid>
                <a:gridCol w="1793578">
                  <a:extLst>
                    <a:ext uri="{9D8B030D-6E8A-4147-A177-3AD203B41FA5}">
                      <a16:colId xmlns:a16="http://schemas.microsoft.com/office/drawing/2014/main" val="20000"/>
                    </a:ext>
                  </a:extLst>
                </a:gridCol>
                <a:gridCol w="3462399">
                  <a:extLst>
                    <a:ext uri="{9D8B030D-6E8A-4147-A177-3AD203B41FA5}">
                      <a16:colId xmlns:a16="http://schemas.microsoft.com/office/drawing/2014/main" val="20001"/>
                    </a:ext>
                  </a:extLst>
                </a:gridCol>
                <a:gridCol w="3252564">
                  <a:extLst>
                    <a:ext uri="{9D8B030D-6E8A-4147-A177-3AD203B41FA5}">
                      <a16:colId xmlns:a16="http://schemas.microsoft.com/office/drawing/2014/main" val="20002"/>
                    </a:ext>
                  </a:extLst>
                </a:gridCol>
                <a:gridCol w="1976085">
                  <a:extLst>
                    <a:ext uri="{9D8B030D-6E8A-4147-A177-3AD203B41FA5}">
                      <a16:colId xmlns:a16="http://schemas.microsoft.com/office/drawing/2014/main" val="2372695823"/>
                    </a:ext>
                  </a:extLst>
                </a:gridCol>
              </a:tblGrid>
              <a:tr h="1159082">
                <a:tc>
                  <a:txBody>
                    <a:bodyPr/>
                    <a:lstStyle/>
                    <a:p>
                      <a:pPr algn="ctr"/>
                      <a:r>
                        <a:rPr lang="zh-CN" altLang="en-US" sz="2800" b="1" dirty="0"/>
                        <a:t>模式</a:t>
                      </a:r>
                    </a:p>
                  </a:txBody>
                  <a:tcPr anchor="ctr">
                    <a:solidFill>
                      <a:srgbClr val="FFCCCC"/>
                    </a:solidFill>
                  </a:tcPr>
                </a:tc>
                <a:tc>
                  <a:txBody>
                    <a:bodyPr/>
                    <a:lstStyle/>
                    <a:p>
                      <a:pPr algn="ctr"/>
                      <a:r>
                        <a:rPr lang="zh-CN" altLang="en-US" sz="2800" b="1" dirty="0"/>
                        <a:t>文件已存在时</a:t>
                      </a:r>
                    </a:p>
                  </a:txBody>
                  <a:tcPr anchor="ctr">
                    <a:solidFill>
                      <a:srgbClr val="FFCCCC"/>
                    </a:solidFill>
                  </a:tcPr>
                </a:tc>
                <a:tc>
                  <a:txBody>
                    <a:bodyPr/>
                    <a:lstStyle/>
                    <a:p>
                      <a:pPr algn="ctr"/>
                      <a:r>
                        <a:rPr lang="zh-CN" altLang="en-US" sz="2800" b="1" dirty="0"/>
                        <a:t>文件不存在时</a:t>
                      </a:r>
                    </a:p>
                  </a:txBody>
                  <a:tcPr anchor="ctr">
                    <a:solidFill>
                      <a:srgbClr val="FFCCCC"/>
                    </a:solidFill>
                  </a:tcPr>
                </a:tc>
                <a:tc>
                  <a:txBody>
                    <a:bodyPr/>
                    <a:lstStyle/>
                    <a:p>
                      <a:pPr algn="ctr"/>
                      <a:r>
                        <a:rPr lang="zh-CN" altLang="en-US" sz="2800" b="1" dirty="0"/>
                        <a:t>读写</a:t>
                      </a:r>
                    </a:p>
                  </a:txBody>
                  <a:tcPr anchor="ctr">
                    <a:solidFill>
                      <a:srgbClr val="FFCCCC"/>
                    </a:solidFill>
                  </a:tcPr>
                </a:tc>
                <a:extLst>
                  <a:ext uri="{0D108BD9-81ED-4DB2-BD59-A6C34878D82A}">
                    <a16:rowId xmlns:a16="http://schemas.microsoft.com/office/drawing/2014/main" val="10000"/>
                  </a:ext>
                </a:extLst>
              </a:tr>
              <a:tr h="635626">
                <a:tc>
                  <a:txBody>
                    <a:bodyPr/>
                    <a:lstStyle/>
                    <a:p>
                      <a:pPr algn="ctr"/>
                      <a:r>
                        <a:rPr lang="en-US" altLang="zh-CN" sz="2800" b="1" u="sng" dirty="0">
                          <a:latin typeface="Consolas" panose="020B0609020204030204" pitchFamily="49" charset="0"/>
                        </a:rPr>
                        <a:t>r</a:t>
                      </a:r>
                      <a:r>
                        <a:rPr lang="en-US" altLang="zh-CN" sz="2800" dirty="0">
                          <a:latin typeface="Consolas" panose="020B0609020204030204" pitchFamily="49" charset="0"/>
                        </a:rPr>
                        <a:t>ead</a:t>
                      </a:r>
                      <a:r>
                        <a:rPr lang="en-GB" altLang="zh-CN" sz="2800" b="1" u="sng" dirty="0">
                          <a:latin typeface="Consolas" panose="020B0609020204030204" pitchFamily="49" charset="0"/>
                        </a:rPr>
                        <a:t>+</a:t>
                      </a:r>
                      <a:endParaRPr lang="zh-CN" altLang="en-US" sz="2800" b="1" u="sng" dirty="0">
                        <a:latin typeface="Consolas" panose="020B0609020204030204" pitchFamily="49" charset="0"/>
                      </a:endParaRPr>
                    </a:p>
                  </a:txBody>
                  <a:tcPr anchor="ctr"/>
                </a:tc>
                <a:tc>
                  <a:txBody>
                    <a:bodyPr/>
                    <a:lstStyle/>
                    <a:p>
                      <a:pPr algn="ctr"/>
                      <a:r>
                        <a:rPr lang="zh-CN" altLang="en-US" sz="2800" dirty="0"/>
                        <a:t>指向开头</a:t>
                      </a:r>
                    </a:p>
                  </a:txBody>
                  <a:tcPr anchor="ctr"/>
                </a:tc>
                <a:tc>
                  <a:txBody>
                    <a:bodyPr/>
                    <a:lstStyle/>
                    <a:p>
                      <a:pPr algn="ctr"/>
                      <a:r>
                        <a:rPr lang="zh-CN" altLang="en-US" sz="2800" dirty="0"/>
                        <a:t>返回</a:t>
                      </a:r>
                      <a:r>
                        <a:rPr lang="en-US" altLang="zh-CN" sz="2800" dirty="0">
                          <a:latin typeface="Consolas" panose="020B0609020204030204" pitchFamily="49" charset="0"/>
                        </a:rPr>
                        <a:t>NULL</a:t>
                      </a:r>
                      <a:endParaRPr lang="zh-CN" altLang="en-US" sz="2800" dirty="0">
                        <a:latin typeface="Consolas" panose="020B0609020204030204" pitchFamily="49" charset="0"/>
                      </a:endParaRPr>
                    </a:p>
                  </a:txBody>
                  <a:tcPr anchor="ctr"/>
                </a:tc>
                <a:tc>
                  <a:txBody>
                    <a:bodyPr/>
                    <a:lstStyle/>
                    <a:p>
                      <a:pPr algn="ctr"/>
                      <a:r>
                        <a:rPr lang="zh-CN" altLang="en-US" sz="2800" dirty="0">
                          <a:latin typeface="Consolas" panose="020B0609020204030204" pitchFamily="49" charset="0"/>
                        </a:rPr>
                        <a:t>可读可写</a:t>
                      </a:r>
                    </a:p>
                  </a:txBody>
                  <a:tcPr anchor="ctr"/>
                </a:tc>
                <a:extLst>
                  <a:ext uri="{0D108BD9-81ED-4DB2-BD59-A6C34878D82A}">
                    <a16:rowId xmlns:a16="http://schemas.microsoft.com/office/drawing/2014/main" val="10001"/>
                  </a:ext>
                </a:extLst>
              </a:tr>
              <a:tr h="1315979">
                <a:tc>
                  <a:txBody>
                    <a:bodyPr/>
                    <a:lstStyle/>
                    <a:p>
                      <a:pPr algn="ctr"/>
                      <a:r>
                        <a:rPr lang="en-US" altLang="zh-CN" sz="2800" b="1" u="sng" dirty="0">
                          <a:latin typeface="Consolas" panose="020B0609020204030204" pitchFamily="49" charset="0"/>
                        </a:rPr>
                        <a:t>w</a:t>
                      </a:r>
                      <a:r>
                        <a:rPr lang="en-US" altLang="zh-CN" sz="2800" dirty="0">
                          <a:latin typeface="Consolas" panose="020B0609020204030204" pitchFamily="49" charset="0"/>
                        </a:rPr>
                        <a:t>rite</a:t>
                      </a:r>
                      <a:r>
                        <a:rPr lang="en-GB" altLang="zh-CN" sz="2800" b="1" u="sng" dirty="0">
                          <a:latin typeface="Consolas" panose="020B0609020204030204" pitchFamily="49" charset="0"/>
                        </a:rPr>
                        <a:t>+</a:t>
                      </a:r>
                      <a:endParaRPr lang="zh-CN" altLang="en-US" sz="2800" dirty="0">
                        <a:latin typeface="Consolas" panose="020B0609020204030204" pitchFamily="49" charset="0"/>
                      </a:endParaRPr>
                    </a:p>
                  </a:txBody>
                  <a:tcPr anchor="ctr"/>
                </a:tc>
                <a:tc>
                  <a:txBody>
                    <a:bodyPr/>
                    <a:lstStyle/>
                    <a:p>
                      <a:pPr algn="ctr"/>
                      <a:r>
                        <a:rPr lang="zh-CN" altLang="en-US" sz="2800" dirty="0"/>
                        <a:t>删除已有内容，指向开头</a:t>
                      </a:r>
                    </a:p>
                  </a:txBody>
                  <a:tcPr anchor="ctr"/>
                </a:tc>
                <a:tc>
                  <a:txBody>
                    <a:bodyPr/>
                    <a:lstStyle/>
                    <a:p>
                      <a:pPr algn="ctr"/>
                      <a:r>
                        <a:rPr lang="zh-CN" altLang="en-US" sz="2800" dirty="0"/>
                        <a:t>新建</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latin typeface="Consolas" panose="020B0609020204030204" pitchFamily="49" charset="0"/>
                        </a:rPr>
                        <a:t>可读可写</a:t>
                      </a:r>
                    </a:p>
                  </a:txBody>
                  <a:tcPr anchor="ctr"/>
                </a:tc>
                <a:extLst>
                  <a:ext uri="{0D108BD9-81ED-4DB2-BD59-A6C34878D82A}">
                    <a16:rowId xmlns:a16="http://schemas.microsoft.com/office/drawing/2014/main" val="10002"/>
                  </a:ext>
                </a:extLst>
              </a:tr>
              <a:tr h="1315979">
                <a:tc>
                  <a:txBody>
                    <a:bodyPr/>
                    <a:lstStyle/>
                    <a:p>
                      <a:pPr algn="ctr"/>
                      <a:r>
                        <a:rPr lang="en-US" altLang="zh-CN" sz="2800" b="1" u="sng" dirty="0">
                          <a:latin typeface="Consolas" panose="020B0609020204030204" pitchFamily="49" charset="0"/>
                        </a:rPr>
                        <a:t>a</a:t>
                      </a:r>
                      <a:r>
                        <a:rPr lang="en-US" altLang="zh-CN" sz="2800" dirty="0">
                          <a:latin typeface="Consolas" panose="020B0609020204030204" pitchFamily="49" charset="0"/>
                        </a:rPr>
                        <a:t>ppend</a:t>
                      </a:r>
                      <a:r>
                        <a:rPr lang="en-GB" altLang="zh-CN" sz="2800" b="1" u="sng" dirty="0">
                          <a:latin typeface="Consolas" panose="020B0609020204030204" pitchFamily="49" charset="0"/>
                        </a:rPr>
                        <a:t>+</a:t>
                      </a:r>
                      <a:endParaRPr lang="zh-CN" altLang="en-US" sz="2800" dirty="0">
                        <a:latin typeface="Consolas" panose="020B0609020204030204" pitchFamily="49" charset="0"/>
                      </a:endParaRPr>
                    </a:p>
                  </a:txBody>
                  <a:tcPr anchor="ctr"/>
                </a:tc>
                <a:tc>
                  <a:txBody>
                    <a:bodyPr/>
                    <a:lstStyle/>
                    <a:p>
                      <a:pPr algn="ctr"/>
                      <a:r>
                        <a:rPr lang="zh-CN" altLang="en-US" sz="2800" dirty="0"/>
                        <a:t>保留已有内容，指向结尾</a:t>
                      </a:r>
                    </a:p>
                  </a:txBody>
                  <a:tcPr anchor="ctr"/>
                </a:tc>
                <a:tc>
                  <a:txBody>
                    <a:bodyPr/>
                    <a:lstStyle/>
                    <a:p>
                      <a:pPr algn="ctr"/>
                      <a:r>
                        <a:rPr lang="zh-CN" altLang="en-US" sz="2800" dirty="0"/>
                        <a:t>新建</a:t>
                      </a:r>
                    </a:p>
                  </a:txBody>
                  <a:tcPr anchor="ctr"/>
                </a:tc>
                <a:tc>
                  <a:txBody>
                    <a:bodyPr/>
                    <a:lstStyle/>
                    <a:p>
                      <a:pPr algn="ctr"/>
                      <a:r>
                        <a:rPr lang="zh-CN" altLang="en-US" sz="2800" dirty="0"/>
                        <a:t>可读，只能在文件末尾写</a:t>
                      </a:r>
                    </a:p>
                  </a:txBody>
                  <a:tcPr anchor="ctr"/>
                </a:tc>
                <a:extLst>
                  <a:ext uri="{0D108BD9-81ED-4DB2-BD59-A6C34878D82A}">
                    <a16:rowId xmlns:a16="http://schemas.microsoft.com/office/drawing/2014/main" val="10003"/>
                  </a:ext>
                </a:extLst>
              </a:tr>
            </a:tbl>
          </a:graphicData>
        </a:graphic>
      </p:graphicFrame>
      <p:sp>
        <p:nvSpPr>
          <p:cNvPr id="8" name="标题 4">
            <a:extLst>
              <a:ext uri="{FF2B5EF4-FFF2-40B4-BE49-F238E27FC236}">
                <a16:creationId xmlns:a16="http://schemas.microsoft.com/office/drawing/2014/main" id="{FD39509E-2DF5-04AB-0202-6EE433AD8B58}"/>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打开</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86333" y="1076464"/>
            <a:ext cx="4698206" cy="523220"/>
          </a:xfrm>
          <a:prstGeom prst="rect">
            <a:avLst/>
          </a:prstGeom>
          <a:noFill/>
        </p:spPr>
        <p:txBody>
          <a:bodyPr wrap="square" rtlCol="0">
            <a:spAutoFit/>
          </a:bodyPr>
          <a:lstStyle/>
          <a:p>
            <a:pPr algn="ctr"/>
            <a:r>
              <a:rPr lang="en-US" altLang="zh-CN" sz="2800" dirty="0" err="1">
                <a:effectLst>
                  <a:outerShdw blurRad="38100" dist="38100" dir="2700000" algn="tl">
                    <a:srgbClr val="000000">
                      <a:alpha val="43137"/>
                    </a:srgbClr>
                  </a:outerShdw>
                </a:effectLst>
                <a:latin typeface="Consolas" panose="020B0609020204030204" pitchFamily="49" charset="0"/>
              </a:rPr>
              <a:t>fopen</a:t>
            </a:r>
            <a:r>
              <a:rPr lang="en-US" altLang="zh-CN" sz="2800" dirty="0">
                <a:effectLst>
                  <a:outerShdw blurRad="38100" dist="38100" dir="2700000" algn="tl">
                    <a:srgbClr val="000000">
                      <a:alpha val="43137"/>
                    </a:srgbClr>
                  </a:outerShdw>
                </a:effectLst>
                <a:latin typeface="Consolas" panose="020B0609020204030204" pitchFamily="49" charset="0"/>
              </a:rPr>
              <a:t>(&lt;</a:t>
            </a:r>
            <a:r>
              <a:rPr lang="zh-CN" altLang="en-US" sz="2800" dirty="0">
                <a:effectLst>
                  <a:outerShdw blurRad="38100" dist="38100" dir="2700000" algn="tl">
                    <a:srgbClr val="000000">
                      <a:alpha val="43137"/>
                    </a:srgbClr>
                  </a:outerShdw>
                </a:effectLst>
                <a:latin typeface="Consolas" panose="020B0609020204030204" pitchFamily="49" charset="0"/>
              </a:rPr>
              <a:t>文件名</a:t>
            </a:r>
            <a:r>
              <a:rPr lang="en-US" altLang="zh-CN" sz="2800" dirty="0">
                <a:effectLst>
                  <a:outerShdw blurRad="38100" dist="38100" dir="2700000" algn="tl">
                    <a:srgbClr val="000000">
                      <a:alpha val="43137"/>
                    </a:srgbClr>
                  </a:outerShdw>
                </a:effectLst>
                <a:latin typeface="Consolas" panose="020B0609020204030204" pitchFamily="49" charset="0"/>
              </a:rPr>
              <a:t>&gt;, </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&lt;</a:t>
            </a:r>
            <a:r>
              <a:rPr lang="zh-CN" altLang="en-US" sz="2800" dirty="0">
                <a:solidFill>
                  <a:srgbClr val="FF0000"/>
                </a:solidFill>
                <a:effectLst>
                  <a:outerShdw blurRad="38100" dist="38100" dir="2700000" algn="tl">
                    <a:srgbClr val="000000">
                      <a:alpha val="43137"/>
                    </a:srgbClr>
                  </a:outerShdw>
                </a:effectLst>
                <a:latin typeface="Consolas" panose="020B0609020204030204" pitchFamily="49" charset="0"/>
              </a:rPr>
              <a:t>模式</a:t>
            </a:r>
            <a:r>
              <a:rPr lang="en-US" altLang="zh-CN" sz="2800" dirty="0">
                <a:solidFill>
                  <a:srgbClr val="FF0000"/>
                </a:solidFill>
                <a:effectLst>
                  <a:outerShdw blurRad="38100" dist="38100" dir="2700000" algn="tl">
                    <a:srgbClr val="000000">
                      <a:alpha val="43137"/>
                    </a:srgbClr>
                  </a:outerShdw>
                </a:effectLst>
                <a:latin typeface="Consolas" panose="020B0609020204030204" pitchFamily="49" charset="0"/>
              </a:rPr>
              <a:t>&gt;</a:t>
            </a:r>
            <a:r>
              <a:rPr lang="en-US" altLang="zh-CN" sz="2800" dirty="0">
                <a:effectLst>
                  <a:outerShdw blurRad="38100" dist="38100" dir="2700000" algn="tl">
                    <a:srgbClr val="000000">
                      <a:alpha val="43137"/>
                    </a:srgbClr>
                  </a:outerShdw>
                </a:effectLst>
                <a:latin typeface="Consolas" panose="020B0609020204030204" pitchFamily="49" charset="0"/>
              </a:rPr>
              <a:t>)</a:t>
            </a:r>
          </a:p>
        </p:txBody>
      </p:sp>
      <p:graphicFrame>
        <p:nvGraphicFramePr>
          <p:cNvPr id="2" name="表格 2"/>
          <p:cNvGraphicFramePr>
            <a:graphicFrameLocks noGrp="1"/>
          </p:cNvGraphicFramePr>
          <p:nvPr>
            <p:custDataLst>
              <p:tags r:id="rId1"/>
            </p:custDataLst>
            <p:extLst>
              <p:ext uri="{D42A27DB-BD31-4B8C-83A1-F6EECF244321}">
                <p14:modId xmlns:p14="http://schemas.microsoft.com/office/powerpoint/2010/main" val="1966132025"/>
              </p:ext>
            </p:extLst>
          </p:nvPr>
        </p:nvGraphicFramePr>
        <p:xfrm>
          <a:off x="2255083" y="2032054"/>
          <a:ext cx="7239000" cy="3152776"/>
        </p:xfrm>
        <a:graphic>
          <a:graphicData uri="http://schemas.openxmlformats.org/drawingml/2006/table">
            <a:tbl>
              <a:tblPr firstRow="1" bandRow="1">
                <a:tableStyleId>{2D5ABB26-0587-4C30-8999-92F81FD0307C}</a:tableStyleId>
              </a:tblPr>
              <a:tblGrid>
                <a:gridCol w="1609726">
                  <a:extLst>
                    <a:ext uri="{9D8B030D-6E8A-4147-A177-3AD203B41FA5}">
                      <a16:colId xmlns:a16="http://schemas.microsoft.com/office/drawing/2014/main" val="20000"/>
                    </a:ext>
                  </a:extLst>
                </a:gridCol>
                <a:gridCol w="2814637">
                  <a:extLst>
                    <a:ext uri="{9D8B030D-6E8A-4147-A177-3AD203B41FA5}">
                      <a16:colId xmlns:a16="http://schemas.microsoft.com/office/drawing/2014/main" val="20001"/>
                    </a:ext>
                  </a:extLst>
                </a:gridCol>
                <a:gridCol w="2814637">
                  <a:extLst>
                    <a:ext uri="{9D8B030D-6E8A-4147-A177-3AD203B41FA5}">
                      <a16:colId xmlns:a16="http://schemas.microsoft.com/office/drawing/2014/main" val="20002"/>
                    </a:ext>
                  </a:extLst>
                </a:gridCol>
              </a:tblGrid>
              <a:tr h="885826">
                <a:tc>
                  <a:txBody>
                    <a:bodyPr/>
                    <a:lstStyle/>
                    <a:p>
                      <a:pPr algn="ctr"/>
                      <a:endParaRPr lang="zh-CN" altLang="en-US" sz="2800" dirty="0">
                        <a:latin typeface="Consolas" panose="020B0609020204030204" pitchFamily="49" charset="0"/>
                      </a:endParaRPr>
                    </a:p>
                  </a:txBody>
                  <a:tcPr anchor="ctr">
                    <a:noFill/>
                  </a:tcPr>
                </a:tc>
                <a:tc>
                  <a:txBody>
                    <a:bodyPr/>
                    <a:lstStyle/>
                    <a:p>
                      <a:pPr algn="ctr"/>
                      <a:r>
                        <a:rPr lang="zh-CN" altLang="en-US" sz="2800" b="1" dirty="0">
                          <a:latin typeface="Consolas" panose="020B0609020204030204" pitchFamily="49" charset="0"/>
                        </a:rPr>
                        <a:t>读／写</a:t>
                      </a:r>
                    </a:p>
                  </a:txBody>
                  <a:tcPr anchor="ctr">
                    <a:solidFill>
                      <a:srgbClr val="FFCCCC"/>
                    </a:solidFill>
                  </a:tcPr>
                </a:tc>
                <a:tc>
                  <a:txBody>
                    <a:bodyPr/>
                    <a:lstStyle/>
                    <a:p>
                      <a:pPr algn="ctr"/>
                      <a:r>
                        <a:rPr lang="zh-CN" altLang="en-US" sz="2800" b="1" dirty="0">
                          <a:latin typeface="Consolas" panose="020B0609020204030204" pitchFamily="49" charset="0"/>
                        </a:rPr>
                        <a:t>读＋写</a:t>
                      </a:r>
                    </a:p>
                  </a:txBody>
                  <a:tcPr anchor="ctr">
                    <a:solidFill>
                      <a:srgbClr val="FFCCCC"/>
                    </a:solidFill>
                  </a:tcPr>
                </a:tc>
                <a:extLst>
                  <a:ext uri="{0D108BD9-81ED-4DB2-BD59-A6C34878D82A}">
                    <a16:rowId xmlns:a16="http://schemas.microsoft.com/office/drawing/2014/main" val="10000"/>
                  </a:ext>
                </a:extLst>
              </a:tr>
              <a:tr h="1133475">
                <a:tc>
                  <a:txBody>
                    <a:bodyPr/>
                    <a:lstStyle/>
                    <a:p>
                      <a:pPr algn="ctr"/>
                      <a:r>
                        <a:rPr lang="zh-CN" altLang="en-US" sz="2800" b="1" dirty="0">
                          <a:latin typeface="Consolas" panose="020B0609020204030204" pitchFamily="49" charset="0"/>
                        </a:rPr>
                        <a:t>文本文件</a:t>
                      </a:r>
                    </a:p>
                  </a:txBody>
                  <a:tcPr anchor="ctr">
                    <a:solidFill>
                      <a:srgbClr val="FFCCCC"/>
                    </a:solidFill>
                  </a:tcPr>
                </a:tc>
                <a:tc>
                  <a:txBody>
                    <a:bodyPr/>
                    <a:lstStyle/>
                    <a:p>
                      <a:pPr algn="ctr"/>
                      <a:r>
                        <a:rPr lang="en-GB" altLang="zh-CN" sz="2800" dirty="0">
                          <a:latin typeface="Consolas" panose="020B0609020204030204" pitchFamily="49" charset="0"/>
                        </a:rPr>
                        <a:t>r, w, a</a:t>
                      </a:r>
                      <a:endParaRPr lang="zh-CN" altLang="en-US" sz="2800" dirty="0">
                        <a:latin typeface="Consolas" panose="020B0609020204030204" pitchFamily="49" charset="0"/>
                      </a:endParaRPr>
                    </a:p>
                  </a:txBody>
                  <a:tcPr anchor="ctr"/>
                </a:tc>
                <a:tc>
                  <a:txBody>
                    <a:bodyPr/>
                    <a:lstStyle/>
                    <a:p>
                      <a:pPr algn="ctr"/>
                      <a:r>
                        <a:rPr lang="en-GB" altLang="zh-CN" sz="2800" dirty="0">
                          <a:latin typeface="Consolas" panose="020B0609020204030204" pitchFamily="49" charset="0"/>
                        </a:rPr>
                        <a:t>r+, …</a:t>
                      </a:r>
                      <a:endParaRPr lang="zh-CN" altLang="en-US" sz="2800" dirty="0">
                        <a:latin typeface="Consolas" panose="020B0609020204030204" pitchFamily="49" charset="0"/>
                      </a:endParaRPr>
                    </a:p>
                  </a:txBody>
                  <a:tcPr anchor="ctr"/>
                </a:tc>
                <a:extLst>
                  <a:ext uri="{0D108BD9-81ED-4DB2-BD59-A6C34878D82A}">
                    <a16:rowId xmlns:a16="http://schemas.microsoft.com/office/drawing/2014/main" val="10001"/>
                  </a:ext>
                </a:extLst>
              </a:tr>
              <a:tr h="1133475">
                <a:tc>
                  <a:txBody>
                    <a:bodyPr/>
                    <a:lstStyle/>
                    <a:p>
                      <a:pPr algn="ctr"/>
                      <a:r>
                        <a:rPr lang="zh-CN" altLang="en-US" sz="2800" b="1" dirty="0">
                          <a:latin typeface="Consolas" panose="020B0609020204030204" pitchFamily="49" charset="0"/>
                        </a:rPr>
                        <a:t>二进制文件</a:t>
                      </a:r>
                      <a:endParaRPr lang="en-US" altLang="zh-CN" sz="2800" b="1" dirty="0">
                        <a:latin typeface="Consolas" panose="020B0609020204030204" pitchFamily="49" charset="0"/>
                      </a:endParaRPr>
                    </a:p>
                  </a:txBody>
                  <a:tcPr anchor="ctr">
                    <a:solidFill>
                      <a:srgbClr val="FFCCCC"/>
                    </a:solidFill>
                  </a:tcPr>
                </a:tc>
                <a:tc>
                  <a:txBody>
                    <a:bodyPr/>
                    <a:lstStyle/>
                    <a:p>
                      <a:pPr algn="ctr"/>
                      <a:r>
                        <a:rPr lang="en-GB" altLang="zh-CN" sz="2800" dirty="0" err="1">
                          <a:latin typeface="Consolas" panose="020B0609020204030204" pitchFamily="49" charset="0"/>
                        </a:rPr>
                        <a:t>rb</a:t>
                      </a:r>
                      <a:r>
                        <a:rPr lang="en-GB" altLang="zh-CN" sz="2800" dirty="0">
                          <a:latin typeface="Consolas" panose="020B0609020204030204" pitchFamily="49" charset="0"/>
                        </a:rPr>
                        <a:t>, …</a:t>
                      </a:r>
                      <a:endParaRPr lang="zh-CN" altLang="en-US" sz="2800" dirty="0">
                        <a:latin typeface="Consolas" panose="020B0609020204030204" pitchFamily="49" charset="0"/>
                      </a:endParaRPr>
                    </a:p>
                  </a:txBody>
                  <a:tcPr anchor="ctr"/>
                </a:tc>
                <a:tc>
                  <a:txBody>
                    <a:bodyPr/>
                    <a:lstStyle/>
                    <a:p>
                      <a:pPr algn="ctr"/>
                      <a:r>
                        <a:rPr lang="en-GB" altLang="zh-CN" sz="2800" dirty="0" err="1">
                          <a:latin typeface="Consolas" panose="020B0609020204030204" pitchFamily="49" charset="0"/>
                        </a:rPr>
                        <a:t>rb</a:t>
                      </a:r>
                      <a:r>
                        <a:rPr lang="en-GB" altLang="zh-CN" sz="2800" dirty="0">
                          <a:latin typeface="Consolas" panose="020B0609020204030204" pitchFamily="49" charset="0"/>
                        </a:rPr>
                        <a:t>+, …</a:t>
                      </a:r>
                      <a:endParaRPr lang="zh-CN" altLang="en-US" sz="2800" dirty="0">
                        <a:latin typeface="Consolas" panose="020B0609020204030204" pitchFamily="49" charset="0"/>
                      </a:endParaRPr>
                    </a:p>
                  </a:txBody>
                  <a:tcPr anchor="ctr"/>
                </a:tc>
                <a:extLst>
                  <a:ext uri="{0D108BD9-81ED-4DB2-BD59-A6C34878D82A}">
                    <a16:rowId xmlns:a16="http://schemas.microsoft.com/office/drawing/2014/main" val="10002"/>
                  </a:ext>
                </a:extLst>
              </a:tr>
            </a:tbl>
          </a:graphicData>
        </a:graphic>
      </p:graphicFrame>
      <p:sp>
        <p:nvSpPr>
          <p:cNvPr id="3" name="文本框 2">
            <a:extLst>
              <a:ext uri="{FF2B5EF4-FFF2-40B4-BE49-F238E27FC236}">
                <a16:creationId xmlns:a16="http://schemas.microsoft.com/office/drawing/2014/main" id="{B4422D81-E7EE-5E4E-E6E2-801BC34A3B9E}"/>
              </a:ext>
            </a:extLst>
          </p:cNvPr>
          <p:cNvSpPr txBox="1"/>
          <p:nvPr/>
        </p:nvSpPr>
        <p:spPr>
          <a:xfrm>
            <a:off x="2255083" y="5367156"/>
            <a:ext cx="5878532" cy="400110"/>
          </a:xfrm>
          <a:prstGeom prst="rect">
            <a:avLst/>
          </a:prstGeom>
          <a:noFill/>
        </p:spPr>
        <p:txBody>
          <a:bodyPr wrap="none" rtlCol="0">
            <a:spAutoFit/>
          </a:bodyPr>
          <a:lstStyle/>
          <a:p>
            <a:pPr algn="ctr"/>
            <a:r>
              <a:rPr lang="zh-CN" altLang="en-US" sz="2000" b="1" dirty="0">
                <a:latin typeface="Consolas" panose="020B0609020204030204" pitchFamily="49" charset="0"/>
              </a:rPr>
              <a:t>文本文件，以字符串的形式写入，后缀通常为</a:t>
            </a:r>
            <a:r>
              <a:rPr lang="en-US" altLang="zh-CN" sz="2000" b="1" dirty="0">
                <a:latin typeface="Consolas" panose="020B0609020204030204" pitchFamily="49" charset="0"/>
              </a:rPr>
              <a:t>.txt</a:t>
            </a:r>
            <a:endParaRPr lang="zh-CN" altLang="en-US" sz="2000" b="1" dirty="0">
              <a:latin typeface="Consolas" panose="020B0609020204030204" pitchFamily="49" charset="0"/>
            </a:endParaRPr>
          </a:p>
        </p:txBody>
      </p:sp>
      <p:sp>
        <p:nvSpPr>
          <p:cNvPr id="4" name="文本框 3">
            <a:extLst>
              <a:ext uri="{FF2B5EF4-FFF2-40B4-BE49-F238E27FC236}">
                <a16:creationId xmlns:a16="http://schemas.microsoft.com/office/drawing/2014/main" id="{A3CB3C59-0415-3724-39A0-B8271E1169B5}"/>
              </a:ext>
            </a:extLst>
          </p:cNvPr>
          <p:cNvSpPr txBox="1"/>
          <p:nvPr/>
        </p:nvSpPr>
        <p:spPr>
          <a:xfrm>
            <a:off x="2255082" y="5812128"/>
            <a:ext cx="5878533" cy="400110"/>
          </a:xfrm>
          <a:prstGeom prst="rect">
            <a:avLst/>
          </a:prstGeom>
          <a:noFill/>
        </p:spPr>
        <p:txBody>
          <a:bodyPr wrap="none" rtlCol="0">
            <a:spAutoFit/>
          </a:bodyPr>
          <a:lstStyle/>
          <a:p>
            <a:pPr algn="ctr"/>
            <a:r>
              <a:rPr lang="zh-CN" altLang="en-US" sz="2000" b="1" dirty="0">
                <a:latin typeface="Consolas" panose="020B0609020204030204" pitchFamily="49" charset="0"/>
              </a:rPr>
              <a:t>二进制文件，以二进制方式写入，后缀通常为</a:t>
            </a:r>
            <a:r>
              <a:rPr lang="en-US" altLang="zh-CN" sz="2000" b="1" dirty="0">
                <a:latin typeface="Consolas" panose="020B0609020204030204" pitchFamily="49" charset="0"/>
              </a:rPr>
              <a:t>.bin</a:t>
            </a:r>
          </a:p>
        </p:txBody>
      </p:sp>
      <p:sp>
        <p:nvSpPr>
          <p:cNvPr id="12" name="标题 4">
            <a:extLst>
              <a:ext uri="{FF2B5EF4-FFF2-40B4-BE49-F238E27FC236}">
                <a16:creationId xmlns:a16="http://schemas.microsoft.com/office/drawing/2014/main" id="{85F16593-7422-B0A3-C094-44B84E73629C}"/>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打开</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4294967295"/>
          </p:nvPr>
        </p:nvSpPr>
        <p:spPr>
          <a:xfrm>
            <a:off x="586333" y="1136860"/>
            <a:ext cx="10982325" cy="4995862"/>
          </a:xfrm>
        </p:spPr>
        <p:txBody>
          <a:bodyPr>
            <a:normAutofit/>
          </a:bodyPr>
          <a:lstStyle/>
          <a:p>
            <a:endParaRPr lang="en-US" altLang="zh-CN" dirty="0">
              <a:latin typeface="Consolas" panose="020B0609020204030204" pitchFamily="49" charset="0"/>
            </a:endParaRPr>
          </a:p>
          <a:p>
            <a:r>
              <a:rPr lang="en-US" altLang="zh-CN" dirty="0">
                <a:latin typeface="Consolas" panose="020B0609020204030204" pitchFamily="49" charset="0"/>
              </a:rPr>
              <a:t>void rewind(FILE *stream)</a:t>
            </a:r>
          </a:p>
          <a:p>
            <a:pPr lvl="1"/>
            <a:r>
              <a:rPr lang="zh-CN" altLang="en-US" dirty="0">
                <a:latin typeface="Consolas" panose="020B0609020204030204" pitchFamily="49" charset="0"/>
              </a:rPr>
              <a:t>将文件指针置于文件开头</a:t>
            </a:r>
            <a:endParaRPr lang="en-US" altLang="zh-CN" dirty="0">
              <a:latin typeface="Consolas" panose="020B0609020204030204" pitchFamily="49" charset="0"/>
            </a:endParaRPr>
          </a:p>
          <a:p>
            <a:pPr marL="457200" lvl="1" indent="0">
              <a:buNone/>
            </a:pPr>
            <a:endParaRPr lang="en-US" altLang="zh-CN" dirty="0">
              <a:latin typeface="Consolas" panose="020B0609020204030204" pitchFamily="49" charset="0"/>
            </a:endParaRPr>
          </a:p>
          <a:p>
            <a:r>
              <a:rPr lang="en-US" altLang="zh-CN" dirty="0">
                <a:latin typeface="Consolas" panose="020B0609020204030204" pitchFamily="49" charset="0"/>
              </a:rPr>
              <a:t>int </a:t>
            </a:r>
            <a:r>
              <a:rPr lang="en-US" altLang="zh-CN" dirty="0" err="1">
                <a:latin typeface="Consolas" panose="020B0609020204030204" pitchFamily="49" charset="0"/>
              </a:rPr>
              <a:t>fseek</a:t>
            </a:r>
            <a:r>
              <a:rPr lang="en-US" altLang="zh-CN" dirty="0">
                <a:latin typeface="Consolas" panose="020B0609020204030204" pitchFamily="49" charset="0"/>
              </a:rPr>
              <a:t>(FILE *stream, long int offset, int whence) </a:t>
            </a:r>
          </a:p>
          <a:p>
            <a:pPr lvl="1"/>
            <a:r>
              <a:rPr lang="en-US" altLang="zh-CN" dirty="0">
                <a:latin typeface="Consolas" panose="020B0609020204030204" pitchFamily="49" charset="0"/>
              </a:rPr>
              <a:t>shift</a:t>
            </a:r>
            <a:r>
              <a:rPr lang="zh-CN" altLang="en-US" dirty="0">
                <a:latin typeface="Consolas" panose="020B0609020204030204" pitchFamily="49" charset="0"/>
              </a:rPr>
              <a:t>：</a:t>
            </a:r>
            <a:r>
              <a:rPr lang="zh-CN" altLang="en-US" dirty="0"/>
              <a:t>相对 </a:t>
            </a:r>
            <a:r>
              <a:rPr lang="en-US" altLang="zh-CN" dirty="0"/>
              <a:t>whence </a:t>
            </a:r>
            <a:r>
              <a:rPr lang="zh-CN" altLang="en-US" dirty="0"/>
              <a:t>的偏移量，以字节为单位</a:t>
            </a:r>
            <a:endParaRPr lang="en-US" altLang="zh-CN" dirty="0">
              <a:latin typeface="Consolas" panose="020B0609020204030204" pitchFamily="49" charset="0"/>
            </a:endParaRPr>
          </a:p>
          <a:p>
            <a:pPr lvl="1"/>
            <a:r>
              <a:rPr lang="en-US" altLang="zh-CN" dirty="0">
                <a:latin typeface="Consolas" panose="020B0609020204030204" pitchFamily="49" charset="0"/>
              </a:rPr>
              <a:t>origin</a:t>
            </a:r>
            <a:r>
              <a:rPr lang="zh-CN" altLang="en-US" dirty="0">
                <a:latin typeface="Consolas" panose="020B0609020204030204" pitchFamily="49" charset="0"/>
              </a:rPr>
              <a:t>：</a:t>
            </a:r>
            <a:r>
              <a:rPr lang="zh-CN" altLang="en-US" dirty="0"/>
              <a:t>表示开始添加偏移 </a:t>
            </a:r>
            <a:r>
              <a:rPr lang="en-US" altLang="zh-CN" dirty="0"/>
              <a:t>offset </a:t>
            </a:r>
            <a:r>
              <a:rPr lang="zh-CN" altLang="en-US" dirty="0"/>
              <a:t>的位置</a:t>
            </a:r>
            <a:endParaRPr lang="en-US" altLang="zh-CN" dirty="0"/>
          </a:p>
          <a:p>
            <a:pPr lvl="2"/>
            <a:r>
              <a:rPr lang="zh-CN" altLang="en-US" dirty="0">
                <a:latin typeface="Consolas" panose="020B0609020204030204" pitchFamily="49" charset="0"/>
              </a:rPr>
              <a:t>文件开头（</a:t>
            </a:r>
            <a:r>
              <a:rPr lang="en-US" altLang="zh-CN" dirty="0">
                <a:latin typeface="Consolas" panose="020B0609020204030204" pitchFamily="49" charset="0"/>
              </a:rPr>
              <a:t>SEEK_SET</a:t>
            </a:r>
            <a:r>
              <a:rPr lang="zh-CN" altLang="en-US" dirty="0">
                <a:latin typeface="Consolas" panose="020B0609020204030204" pitchFamily="49" charset="0"/>
              </a:rPr>
              <a:t>）</a:t>
            </a:r>
            <a:endParaRPr lang="en-US" altLang="zh-CN" dirty="0">
              <a:latin typeface="Consolas" panose="020B0609020204030204" pitchFamily="49" charset="0"/>
            </a:endParaRPr>
          </a:p>
          <a:p>
            <a:pPr lvl="2"/>
            <a:r>
              <a:rPr lang="zh-CN" altLang="en-US" dirty="0">
                <a:latin typeface="Consolas" panose="020B0609020204030204" pitchFamily="49" charset="0"/>
              </a:rPr>
              <a:t>结尾（</a:t>
            </a:r>
            <a:r>
              <a:rPr lang="en-US" altLang="zh-CN" dirty="0">
                <a:latin typeface="Consolas" panose="020B0609020204030204" pitchFamily="49" charset="0"/>
              </a:rPr>
              <a:t>SEEK_END</a:t>
            </a:r>
            <a:r>
              <a:rPr lang="zh-CN" altLang="en-US" dirty="0">
                <a:latin typeface="Consolas" panose="020B0609020204030204" pitchFamily="49" charset="0"/>
              </a:rPr>
              <a:t>）</a:t>
            </a:r>
            <a:endParaRPr lang="en-US" altLang="zh-CN" dirty="0">
              <a:latin typeface="Consolas" panose="020B0609020204030204" pitchFamily="49" charset="0"/>
            </a:endParaRPr>
          </a:p>
          <a:p>
            <a:pPr lvl="2"/>
            <a:r>
              <a:rPr lang="zh-CN" altLang="en-US" dirty="0">
                <a:latin typeface="Consolas" panose="020B0609020204030204" pitchFamily="49" charset="0"/>
              </a:rPr>
              <a:t>当前位置（</a:t>
            </a:r>
            <a:r>
              <a:rPr lang="en-US" altLang="zh-CN" dirty="0">
                <a:latin typeface="Consolas" panose="020B0609020204030204" pitchFamily="49" charset="0"/>
              </a:rPr>
              <a:t>SEEK_CUR</a:t>
            </a:r>
            <a:r>
              <a:rPr lang="zh-CN" altLang="en-US" dirty="0">
                <a:latin typeface="Consolas" panose="020B0609020204030204" pitchFamily="49" charset="0"/>
              </a:rPr>
              <a:t>）</a:t>
            </a:r>
            <a:endParaRPr lang="en-US" altLang="zh-CN" dirty="0">
              <a:latin typeface="Consolas" panose="020B0609020204030204" pitchFamily="49" charset="0"/>
            </a:endParaRPr>
          </a:p>
          <a:p>
            <a:pPr lvl="1"/>
            <a:r>
              <a:rPr lang="zh-CN" altLang="en-US" dirty="0">
                <a:latin typeface="Consolas" panose="020B0609020204030204" pitchFamily="49" charset="0"/>
              </a:rPr>
              <a:t>返回值：零代表成功，非零代表失败。</a:t>
            </a:r>
            <a:endParaRPr lang="en-US" altLang="zh-CN" dirty="0">
              <a:latin typeface="Consolas" panose="020B0609020204030204" pitchFamily="49" charset="0"/>
            </a:endParaRPr>
          </a:p>
        </p:txBody>
      </p:sp>
      <p:sp>
        <p:nvSpPr>
          <p:cNvPr id="8" name="标题 4">
            <a:extLst>
              <a:ext uri="{FF2B5EF4-FFF2-40B4-BE49-F238E27FC236}">
                <a16:creationId xmlns:a16="http://schemas.microsoft.com/office/drawing/2014/main" id="{7E8E40C1-5C54-6E86-4A92-6B35F57E32E7}"/>
              </a:ext>
            </a:extLst>
          </p:cNvPr>
          <p:cNvSpPr txBox="1">
            <a:spLocks/>
          </p:cNvSpPr>
          <p:nvPr/>
        </p:nvSpPr>
        <p:spPr>
          <a:xfrm>
            <a:off x="586333" y="277203"/>
            <a:ext cx="3881339"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文件位置</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animEffect transition="in" filter="fade">
                                      <p:cBhvr>
                                        <p:cTn id="2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6402260-0CC0-405A-B7D8-4229257ABDF5}"/>
              </a:ext>
            </a:extLst>
          </p:cNvPr>
          <p:cNvSpPr txBox="1">
            <a:spLocks/>
          </p:cNvSpPr>
          <p:nvPr/>
        </p:nvSpPr>
        <p:spPr>
          <a:xfrm>
            <a:off x="586333" y="1136860"/>
            <a:ext cx="10982325" cy="4995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latin typeface="Consolas" panose="020B0609020204030204" pitchFamily="49" charset="0"/>
            </a:endParaRPr>
          </a:p>
          <a:p>
            <a:r>
              <a:rPr lang="en-US" altLang="zh-CN" dirty="0">
                <a:latin typeface="Consolas" panose="020B0609020204030204" pitchFamily="49" charset="0"/>
              </a:rPr>
              <a:t>long int </a:t>
            </a:r>
            <a:r>
              <a:rPr lang="en-US" altLang="zh-CN" dirty="0" err="1">
                <a:latin typeface="Consolas" panose="020B0609020204030204" pitchFamily="49" charset="0"/>
              </a:rPr>
              <a:t>ftell</a:t>
            </a:r>
            <a:r>
              <a:rPr lang="en-US" altLang="zh-CN" dirty="0">
                <a:latin typeface="Consolas" panose="020B0609020204030204" pitchFamily="49" charset="0"/>
              </a:rPr>
              <a:t>(FILE *stream)</a:t>
            </a:r>
          </a:p>
          <a:p>
            <a:pPr lvl="1"/>
            <a:r>
              <a:rPr lang="zh-CN" altLang="en-US" dirty="0"/>
              <a:t>该函数返回位置标识符的当前值。如果发生错误，则返回 </a:t>
            </a:r>
            <a:r>
              <a:rPr lang="en-US" altLang="zh-CN" dirty="0"/>
              <a:t>-1</a:t>
            </a:r>
            <a:r>
              <a:rPr lang="zh-CN" altLang="en-US" dirty="0"/>
              <a:t>，全局变量 </a:t>
            </a:r>
            <a:r>
              <a:rPr lang="en-US" altLang="zh-CN" dirty="0" err="1"/>
              <a:t>errno</a:t>
            </a:r>
            <a:r>
              <a:rPr lang="en-US" altLang="zh-CN" dirty="0"/>
              <a:t> </a:t>
            </a:r>
            <a:r>
              <a:rPr lang="zh-CN" altLang="en-US" dirty="0"/>
              <a:t>被设置为一个正值。</a:t>
            </a:r>
            <a:endParaRPr lang="en-US" altLang="zh-CN" dirty="0"/>
          </a:p>
          <a:p>
            <a:pPr marL="457200" lvl="1" indent="0">
              <a:buNone/>
            </a:pPr>
            <a:endParaRPr lang="en-US" altLang="zh-CN" dirty="0">
              <a:latin typeface="Consolas" panose="020B0609020204030204" pitchFamily="49" charset="0"/>
            </a:endParaRPr>
          </a:p>
          <a:p>
            <a:r>
              <a:rPr lang="en-US" altLang="zh-CN" dirty="0">
                <a:latin typeface="Consolas" panose="020B0609020204030204" pitchFamily="49" charset="0"/>
              </a:rPr>
              <a:t>int </a:t>
            </a:r>
            <a:r>
              <a:rPr lang="en-US" altLang="zh-CN" dirty="0" err="1">
                <a:latin typeface="Consolas" panose="020B0609020204030204" pitchFamily="49" charset="0"/>
              </a:rPr>
              <a:t>feof</a:t>
            </a:r>
            <a:r>
              <a:rPr lang="en-US" altLang="zh-CN" dirty="0">
                <a:latin typeface="Consolas" panose="020B0609020204030204" pitchFamily="49" charset="0"/>
              </a:rPr>
              <a:t>(FILE *stream)</a:t>
            </a:r>
          </a:p>
          <a:p>
            <a:pPr lvl="1"/>
            <a:r>
              <a:rPr lang="zh-CN" altLang="en-US" dirty="0"/>
              <a:t>当识别到文件结束标识符时，该函数返回一个非零值，否则返回零。</a:t>
            </a:r>
            <a:endParaRPr lang="en-US" altLang="zh-CN" dirty="0">
              <a:latin typeface="Consolas" panose="020B0609020204030204" pitchFamily="49" charset="0"/>
            </a:endParaRPr>
          </a:p>
          <a:p>
            <a:endParaRPr lang="en-US" altLang="zh-CN" dirty="0">
              <a:latin typeface="Consolas" panose="020B0609020204030204" pitchFamily="49" charset="0"/>
            </a:endParaRPr>
          </a:p>
          <a:p>
            <a:r>
              <a:rPr lang="en-US" altLang="zh-CN" dirty="0">
                <a:latin typeface="Consolas" panose="020B0609020204030204" pitchFamily="49" charset="0"/>
              </a:rPr>
              <a:t>int </a:t>
            </a:r>
            <a:r>
              <a:rPr lang="en-US" altLang="zh-CN" dirty="0" err="1">
                <a:latin typeface="Consolas" panose="020B0609020204030204" pitchFamily="49" charset="0"/>
              </a:rPr>
              <a:t>ferror</a:t>
            </a:r>
            <a:r>
              <a:rPr lang="en-US" altLang="zh-CN" dirty="0">
                <a:latin typeface="Consolas" panose="020B0609020204030204" pitchFamily="49" charset="0"/>
              </a:rPr>
              <a:t>(FILE *stream)</a:t>
            </a:r>
          </a:p>
          <a:p>
            <a:pPr lvl="1"/>
            <a:r>
              <a:rPr lang="zh-CN" altLang="en-US" dirty="0"/>
              <a:t>若发生过错误，该函数返回一个非零值，否则返回一个零值。</a:t>
            </a:r>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p:txBody>
      </p:sp>
      <p:sp>
        <p:nvSpPr>
          <p:cNvPr id="7" name="标题 4">
            <a:extLst>
              <a:ext uri="{FF2B5EF4-FFF2-40B4-BE49-F238E27FC236}">
                <a16:creationId xmlns:a16="http://schemas.microsoft.com/office/drawing/2014/main" id="{89CBF287-1FA3-895A-C745-DF355EDDA3F4}"/>
              </a:ext>
            </a:extLst>
          </p:cNvPr>
          <p:cNvSpPr txBox="1">
            <a:spLocks/>
          </p:cNvSpPr>
          <p:nvPr/>
        </p:nvSpPr>
        <p:spPr>
          <a:xfrm>
            <a:off x="586333" y="277203"/>
            <a:ext cx="3881339"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文件位置</a:t>
            </a:r>
          </a:p>
        </p:txBody>
      </p:sp>
    </p:spTree>
    <p:extLst>
      <p:ext uri="{BB962C8B-B14F-4D97-AF65-F5344CB8AC3E}">
        <p14:creationId xmlns:p14="http://schemas.microsoft.com/office/powerpoint/2010/main" val="14985755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anim calcmode="lin" valueType="num">
                                      <p:cBhvr>
                                        <p:cTn id="8"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9" dur="500" fill="hold"/>
                                        <p:tgtEl>
                                          <p:spTgt spid="2">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500"/>
                                        <p:tgtEl>
                                          <p:spTgt spid="2">
                                            <p:txEl>
                                              <p:pRg st="5" end="5"/>
                                            </p:txEl>
                                          </p:spTgt>
                                        </p:tgtEl>
                                      </p:cBhvr>
                                    </p:animEffect>
                                    <p:anim calcmode="lin" valueType="num">
                                      <p:cBhvr>
                                        <p:cTn id="1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4" dur="5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fade">
                                      <p:cBhvr>
                                        <p:cTn id="19" dur="500"/>
                                        <p:tgtEl>
                                          <p:spTgt spid="2">
                                            <p:txEl>
                                              <p:pRg st="7" end="7"/>
                                            </p:txEl>
                                          </p:spTgt>
                                        </p:tgtEl>
                                      </p:cBhvr>
                                    </p:animEffect>
                                    <p:anim calcmode="lin" valueType="num">
                                      <p:cBhvr>
                                        <p:cTn id="20"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21" dur="500" fill="hold"/>
                                        <p:tgtEl>
                                          <p:spTgt spid="2">
                                            <p:txEl>
                                              <p:pRg st="7" end="7"/>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animEffect transition="in" filter="fade">
                                      <p:cBhvr>
                                        <p:cTn id="24" dur="500"/>
                                        <p:tgtEl>
                                          <p:spTgt spid="2">
                                            <p:txEl>
                                              <p:pRg st="8" end="8"/>
                                            </p:txEl>
                                          </p:spTgt>
                                        </p:tgtEl>
                                      </p:cBhvr>
                                    </p:animEffect>
                                    <p:anim calcmode="lin" valueType="num">
                                      <p:cBhvr>
                                        <p:cTn id="2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26" dur="5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795815" y="2495950"/>
            <a:ext cx="7493319" cy="1362874"/>
          </a:xfrm>
          <a:prstGeom prst="rect">
            <a:avLst/>
          </a:prstGeom>
          <a:noFill/>
        </p:spPr>
        <p:txBody>
          <a:bodyPr wrap="square" rtlCol="0">
            <a:spAutoFit/>
          </a:bodyPr>
          <a:lstStyle/>
          <a:p>
            <a:pPr algn="ctr">
              <a:lnSpc>
                <a:spcPct val="250000"/>
              </a:lnSpc>
            </a:pPr>
            <a:r>
              <a:rPr lang="zh-CN" altLang="en-US" sz="4000" spc="600" dirty="0">
                <a:solidFill>
                  <a:srgbClr val="000000"/>
                </a:solidFill>
                <a:latin typeface="宋体" panose="02010600030101010101" pitchFamily="2" charset="-122"/>
                <a:ea typeface="宋体" panose="02010600030101010101" pitchFamily="2" charset="-122"/>
              </a:rPr>
              <a:t>村镇上不必说，⏎🔚</a:t>
            </a:r>
            <a:endParaRPr lang="zh-CN" altLang="en-US" sz="4000" spc="600" dirty="0"/>
          </a:p>
        </p:txBody>
      </p:sp>
      <p:sp>
        <p:nvSpPr>
          <p:cNvPr id="10" name="文本框 9"/>
          <p:cNvSpPr txBox="1"/>
          <p:nvPr/>
        </p:nvSpPr>
        <p:spPr>
          <a:xfrm>
            <a:off x="3519965" y="5332191"/>
            <a:ext cx="5769168" cy="646331"/>
          </a:xfrm>
          <a:prstGeom prst="rect">
            <a:avLst/>
          </a:prstGeom>
          <a:noFill/>
        </p:spPr>
        <p:txBody>
          <a:bodyPr wrap="square" rtlCol="0" anchor="ctr">
            <a:spAutoFit/>
          </a:bodyPr>
          <a:lstStyle>
            <a:defPPr>
              <a:defRPr lang="zh-CN"/>
            </a:defPPr>
            <a:lvl1pPr algn="just" eaLnBrk="1">
              <a:defRPr>
                <a:solidFill>
                  <a:schemeClr val="bg1">
                    <a:lumMod val="50000"/>
                  </a:schemeClr>
                </a:solidFill>
              </a:defRPr>
            </a:lvl1pPr>
          </a:lstStyle>
          <a:p>
            <a:r>
              <a:rPr lang="zh-CN" altLang="en-US" dirty="0"/>
              <a:t>实际每个汉字占多个字节，这里假设都只占一个字节。</a:t>
            </a:r>
            <a:endParaRPr lang="en-US" altLang="zh-CN" dirty="0"/>
          </a:p>
          <a:p>
            <a:r>
              <a:rPr lang="zh-CN" altLang="en-US" dirty="0"/>
              <a:t>其实对于文本文件，一般反对手动填写</a:t>
            </a:r>
            <a:r>
              <a:rPr lang="en-US" altLang="zh-CN" dirty="0">
                <a:latin typeface="Consolas" panose="020B0609020204030204" pitchFamily="49" charset="0"/>
              </a:rPr>
              <a:t>shift</a:t>
            </a:r>
            <a:r>
              <a:rPr lang="zh-CN" altLang="en-US" dirty="0"/>
              <a:t>参数。</a:t>
            </a:r>
          </a:p>
        </p:txBody>
      </p:sp>
      <p:grpSp>
        <p:nvGrpSpPr>
          <p:cNvPr id="18" name="组合 17"/>
          <p:cNvGrpSpPr/>
          <p:nvPr/>
        </p:nvGrpSpPr>
        <p:grpSpPr>
          <a:xfrm>
            <a:off x="1795815" y="4090937"/>
            <a:ext cx="1920292" cy="1362874"/>
            <a:chOff x="618398" y="4046285"/>
            <a:chExt cx="1920292" cy="1362874"/>
          </a:xfrm>
        </p:grpSpPr>
        <p:pic>
          <p:nvPicPr>
            <p:cNvPr id="4" name="图形 3" descr="标记"/>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121344" y="4046285"/>
              <a:ext cx="914400" cy="914400"/>
            </a:xfrm>
            <a:prstGeom prst="rect">
              <a:avLst/>
            </a:prstGeom>
          </p:spPr>
        </p:pic>
        <p:sp>
          <p:nvSpPr>
            <p:cNvPr id="16" name="文本框 15"/>
            <p:cNvSpPr txBox="1"/>
            <p:nvPr/>
          </p:nvSpPr>
          <p:spPr>
            <a:xfrm>
              <a:off x="618398" y="4885939"/>
              <a:ext cx="1920292" cy="523220"/>
            </a:xfrm>
            <a:prstGeom prst="rect">
              <a:avLst/>
            </a:prstGeom>
            <a:noFill/>
          </p:spPr>
          <p:txBody>
            <a:bodyPr wrap="square" rtlCol="0">
              <a:spAutoFit/>
            </a:bodyPr>
            <a:lstStyle/>
            <a:p>
              <a:pPr algn="ctr"/>
              <a:r>
                <a:rPr lang="en-US" altLang="zh-CN" sz="2800" dirty="0">
                  <a:latin typeface="Consolas" panose="020B0609020204030204" pitchFamily="49" charset="0"/>
                </a:rPr>
                <a:t>SEEK_SET</a:t>
              </a:r>
              <a:endParaRPr lang="zh-CN" altLang="en-US" sz="2800" dirty="0">
                <a:latin typeface="Consolas" panose="020B0609020204030204" pitchFamily="49" charset="0"/>
              </a:endParaRPr>
            </a:p>
          </p:txBody>
        </p:sp>
      </p:grpSp>
      <p:grpSp>
        <p:nvGrpSpPr>
          <p:cNvPr id="24" name="组合 23"/>
          <p:cNvGrpSpPr/>
          <p:nvPr/>
        </p:nvGrpSpPr>
        <p:grpSpPr>
          <a:xfrm>
            <a:off x="6826038" y="1914847"/>
            <a:ext cx="2251387" cy="3241793"/>
            <a:chOff x="2720463" y="2167366"/>
            <a:chExt cx="2251387" cy="3241793"/>
          </a:xfrm>
        </p:grpSpPr>
        <p:grpSp>
          <p:nvGrpSpPr>
            <p:cNvPr id="8" name="组合 7"/>
            <p:cNvGrpSpPr/>
            <p:nvPr/>
          </p:nvGrpSpPr>
          <p:grpSpPr>
            <a:xfrm>
              <a:off x="2720463" y="2167366"/>
              <a:ext cx="1335676" cy="1335676"/>
              <a:chOff x="216791" y="713069"/>
              <a:chExt cx="1335676" cy="1335676"/>
            </a:xfrm>
          </p:grpSpPr>
          <p:pic>
            <p:nvPicPr>
              <p:cNvPr id="6" name="图形 5" descr="指向右边的反手食指"/>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216791" y="713069"/>
                <a:ext cx="1335676" cy="1335676"/>
              </a:xfrm>
              <a:prstGeom prst="rect">
                <a:avLst/>
              </a:prstGeom>
            </p:spPr>
          </p:pic>
          <p:sp>
            <p:nvSpPr>
              <p:cNvPr id="5" name="文本框 4"/>
              <p:cNvSpPr txBox="1"/>
              <p:nvPr/>
            </p:nvSpPr>
            <p:spPr>
              <a:xfrm>
                <a:off x="459975" y="864768"/>
                <a:ext cx="733425" cy="655453"/>
              </a:xfrm>
              <a:prstGeom prst="rect">
                <a:avLst/>
              </a:prstGeom>
              <a:noFill/>
            </p:spPr>
            <p:txBody>
              <a:bodyPr wrap="square" rtlCol="0">
                <a:spAutoFit/>
              </a:bodyPr>
              <a:lstStyle/>
              <a:p>
                <a:pPr algn="ctr"/>
                <a:r>
                  <a:rPr lang="en-GB" altLang="zh-CN" sz="3600" dirty="0">
                    <a:solidFill>
                      <a:schemeClr val="bg1"/>
                    </a:solidFill>
                    <a:latin typeface="Consolas" panose="020B0609020204030204" pitchFamily="49" charset="0"/>
                  </a:rPr>
                  <a:t>a+</a:t>
                </a:r>
                <a:endParaRPr lang="zh-CN" altLang="en-US" sz="3600" dirty="0">
                  <a:solidFill>
                    <a:schemeClr val="bg1"/>
                  </a:solidFill>
                  <a:latin typeface="Consolas" panose="020B0609020204030204" pitchFamily="49" charset="0"/>
                </a:endParaRPr>
              </a:p>
            </p:txBody>
          </p:sp>
        </p:grpSp>
        <p:grpSp>
          <p:nvGrpSpPr>
            <p:cNvPr id="19" name="组合 18"/>
            <p:cNvGrpSpPr/>
            <p:nvPr/>
          </p:nvGrpSpPr>
          <p:grpSpPr>
            <a:xfrm>
              <a:off x="3051558" y="4046285"/>
              <a:ext cx="1920292" cy="1362874"/>
              <a:chOff x="3070808" y="4046285"/>
              <a:chExt cx="1920292" cy="1362874"/>
            </a:xfrm>
          </p:grpSpPr>
          <p:pic>
            <p:nvPicPr>
              <p:cNvPr id="12" name="图形 11" descr="标记"/>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3754" y="4046285"/>
                <a:ext cx="914400" cy="914400"/>
              </a:xfrm>
              <a:prstGeom prst="rect">
                <a:avLst/>
              </a:prstGeom>
            </p:spPr>
          </p:pic>
          <p:sp>
            <p:nvSpPr>
              <p:cNvPr id="17" name="文本框 16"/>
              <p:cNvSpPr txBox="1"/>
              <p:nvPr/>
            </p:nvSpPr>
            <p:spPr>
              <a:xfrm>
                <a:off x="3070808" y="4885939"/>
                <a:ext cx="1920292" cy="523220"/>
              </a:xfrm>
              <a:prstGeom prst="rect">
                <a:avLst/>
              </a:prstGeom>
              <a:noFill/>
            </p:spPr>
            <p:txBody>
              <a:bodyPr wrap="square" rtlCol="0">
                <a:spAutoFit/>
              </a:bodyPr>
              <a:lstStyle/>
              <a:p>
                <a:pPr algn="ctr"/>
                <a:r>
                  <a:rPr lang="en-US" altLang="zh-CN" sz="2800" dirty="0">
                    <a:latin typeface="Consolas" panose="020B0609020204030204" pitchFamily="49" charset="0"/>
                  </a:rPr>
                  <a:t>SEEK_CUR</a:t>
                </a:r>
                <a:endParaRPr lang="zh-CN" altLang="en-US" sz="2800" dirty="0">
                  <a:latin typeface="Consolas" panose="020B0609020204030204" pitchFamily="49" charset="0"/>
                </a:endParaRPr>
              </a:p>
            </p:txBody>
          </p:sp>
        </p:grpSp>
      </p:grpSp>
      <p:grpSp>
        <p:nvGrpSpPr>
          <p:cNvPr id="20" name="组合 19"/>
          <p:cNvGrpSpPr/>
          <p:nvPr/>
        </p:nvGrpSpPr>
        <p:grpSpPr>
          <a:xfrm>
            <a:off x="7157133" y="4043359"/>
            <a:ext cx="1920292" cy="1362874"/>
            <a:chOff x="3070808" y="4046285"/>
            <a:chExt cx="1920292" cy="1362874"/>
          </a:xfrm>
        </p:grpSpPr>
        <p:pic>
          <p:nvPicPr>
            <p:cNvPr id="21" name="图形 20" descr="标记"/>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3754" y="4046285"/>
              <a:ext cx="914400" cy="914400"/>
            </a:xfrm>
            <a:prstGeom prst="rect">
              <a:avLst/>
            </a:prstGeom>
          </p:spPr>
        </p:pic>
        <p:sp>
          <p:nvSpPr>
            <p:cNvPr id="22" name="文本框 21"/>
            <p:cNvSpPr txBox="1"/>
            <p:nvPr/>
          </p:nvSpPr>
          <p:spPr>
            <a:xfrm>
              <a:off x="3070808" y="4885939"/>
              <a:ext cx="1920292" cy="523220"/>
            </a:xfrm>
            <a:prstGeom prst="rect">
              <a:avLst/>
            </a:prstGeom>
            <a:noFill/>
          </p:spPr>
          <p:txBody>
            <a:bodyPr wrap="square" rtlCol="0">
              <a:spAutoFit/>
            </a:bodyPr>
            <a:lstStyle/>
            <a:p>
              <a:pPr algn="ctr"/>
              <a:r>
                <a:rPr lang="en-US" altLang="zh-CN" sz="2800" dirty="0">
                  <a:latin typeface="Consolas" panose="020B0609020204030204" pitchFamily="49" charset="0"/>
                </a:rPr>
                <a:t>SEEK_END</a:t>
              </a:r>
              <a:endParaRPr lang="zh-CN" altLang="en-US" sz="2800" dirty="0">
                <a:latin typeface="Consolas" panose="020B0609020204030204" pitchFamily="49" charset="0"/>
              </a:endParaRPr>
            </a:p>
          </p:txBody>
        </p:sp>
      </p:grpSp>
      <p:sp>
        <p:nvSpPr>
          <p:cNvPr id="23" name="文本框 22"/>
          <p:cNvSpPr txBox="1"/>
          <p:nvPr/>
        </p:nvSpPr>
        <p:spPr>
          <a:xfrm>
            <a:off x="5621968" y="321491"/>
            <a:ext cx="4616449" cy="1631216"/>
          </a:xfrm>
          <a:prstGeom prst="rect">
            <a:avLst/>
          </a:prstGeom>
          <a:noFill/>
        </p:spPr>
        <p:txBody>
          <a:bodyPr wrap="square" rtlCol="0">
            <a:spAutoFit/>
          </a:bodyPr>
          <a:lstStyle/>
          <a:p>
            <a:r>
              <a:rPr lang="en-GB" altLang="zh-CN" sz="2000" dirty="0" err="1">
                <a:latin typeface="Consolas" panose="020B0609020204030204" pitchFamily="49" charset="0"/>
              </a:rPr>
              <a:t>fseek</a:t>
            </a:r>
            <a:r>
              <a:rPr lang="en-GB" altLang="zh-CN" sz="2000" dirty="0">
                <a:latin typeface="Consolas" panose="020B0609020204030204" pitchFamily="49" charset="0"/>
              </a:rPr>
              <a:t>(</a:t>
            </a:r>
            <a:r>
              <a:rPr lang="en-US" altLang="zh-CN" sz="2000" dirty="0" err="1">
                <a:latin typeface="Consolas" panose="020B0609020204030204" pitchFamily="49" charset="0"/>
              </a:rPr>
              <a:t>fp</a:t>
            </a:r>
            <a:r>
              <a:rPr lang="en-GB" altLang="zh-CN" sz="2000" dirty="0">
                <a:latin typeface="Consolas" panose="020B0609020204030204" pitchFamily="49" charset="0"/>
              </a:rPr>
              <a:t>, -4, SEEK_CUR);</a:t>
            </a:r>
          </a:p>
          <a:p>
            <a:r>
              <a:rPr lang="en-GB" altLang="zh-CN" sz="2000" dirty="0" err="1">
                <a:latin typeface="Consolas" panose="020B0609020204030204" pitchFamily="49" charset="0"/>
              </a:rPr>
              <a:t>fseek</a:t>
            </a:r>
            <a:r>
              <a:rPr lang="en-GB" altLang="zh-CN" sz="2000" dirty="0">
                <a:latin typeface="Consolas" panose="020B0609020204030204" pitchFamily="49" charset="0"/>
              </a:rPr>
              <a:t>(</a:t>
            </a:r>
            <a:r>
              <a:rPr lang="en-GB" altLang="zh-CN" sz="2000" dirty="0" err="1">
                <a:latin typeface="Consolas" panose="020B0609020204030204" pitchFamily="49" charset="0"/>
              </a:rPr>
              <a:t>fp</a:t>
            </a:r>
            <a:r>
              <a:rPr lang="en-GB" altLang="zh-CN" sz="2000" dirty="0">
                <a:latin typeface="Consolas" panose="020B0609020204030204" pitchFamily="49" charset="0"/>
              </a:rPr>
              <a:t>, 0, SEEK_SET);</a:t>
            </a:r>
          </a:p>
          <a:p>
            <a:r>
              <a:rPr lang="en-GB" altLang="zh-CN" sz="2000" dirty="0" err="1">
                <a:latin typeface="Consolas" panose="020B0609020204030204" pitchFamily="49" charset="0"/>
              </a:rPr>
              <a:t>fseek</a:t>
            </a:r>
            <a:r>
              <a:rPr lang="en-GB" altLang="zh-CN" sz="2000" dirty="0">
                <a:latin typeface="Consolas" panose="020B0609020204030204" pitchFamily="49" charset="0"/>
              </a:rPr>
              <a:t>(</a:t>
            </a:r>
            <a:r>
              <a:rPr lang="en-GB" altLang="zh-CN" sz="2000" dirty="0" err="1">
                <a:latin typeface="Consolas" panose="020B0609020204030204" pitchFamily="49" charset="0"/>
              </a:rPr>
              <a:t>fp</a:t>
            </a:r>
            <a:r>
              <a:rPr lang="en-GB" altLang="zh-CN" sz="2000" dirty="0">
                <a:latin typeface="Consolas" panose="020B0609020204030204" pitchFamily="49" charset="0"/>
              </a:rPr>
              <a:t>, 2, SEEK_SET);</a:t>
            </a:r>
          </a:p>
          <a:p>
            <a:r>
              <a:rPr lang="en-GB" altLang="zh-CN" sz="2000" dirty="0" err="1">
                <a:latin typeface="Consolas" panose="020B0609020204030204" pitchFamily="49" charset="0"/>
              </a:rPr>
              <a:t>fseek</a:t>
            </a:r>
            <a:r>
              <a:rPr lang="en-GB" altLang="zh-CN" sz="2000" dirty="0">
                <a:latin typeface="Consolas" panose="020B0609020204030204" pitchFamily="49" charset="0"/>
              </a:rPr>
              <a:t>(</a:t>
            </a:r>
            <a:r>
              <a:rPr lang="en-GB" altLang="zh-CN" sz="2000" dirty="0" err="1">
                <a:latin typeface="Consolas" panose="020B0609020204030204" pitchFamily="49" charset="0"/>
              </a:rPr>
              <a:t>fp</a:t>
            </a:r>
            <a:r>
              <a:rPr lang="en-GB" altLang="zh-CN" sz="2000" dirty="0">
                <a:latin typeface="Consolas" panose="020B0609020204030204" pitchFamily="49" charset="0"/>
              </a:rPr>
              <a:t>, -3, SEEK_END);</a:t>
            </a:r>
          </a:p>
          <a:p>
            <a:r>
              <a:rPr lang="en-US" altLang="zh-CN" sz="2000" dirty="0" err="1">
                <a:latin typeface="Consolas" panose="020B0609020204030204" pitchFamily="49" charset="0"/>
              </a:rPr>
              <a:t>fseek</a:t>
            </a:r>
            <a:r>
              <a:rPr lang="en-US" altLang="zh-CN" sz="2000" dirty="0">
                <a:latin typeface="Consolas" panose="020B0609020204030204" pitchFamily="49" charset="0"/>
              </a:rPr>
              <a:t>(</a:t>
            </a:r>
            <a:r>
              <a:rPr lang="en-US" altLang="zh-CN" sz="2000" dirty="0" err="1">
                <a:latin typeface="Consolas" panose="020B0609020204030204" pitchFamily="49" charset="0"/>
              </a:rPr>
              <a:t>fp</a:t>
            </a:r>
            <a:r>
              <a:rPr lang="en-US" altLang="zh-CN" sz="2000" dirty="0">
                <a:latin typeface="Consolas" panose="020B0609020204030204" pitchFamily="49" charset="0"/>
              </a:rPr>
              <a:t>, </a:t>
            </a:r>
            <a:r>
              <a:rPr lang="en-US" altLang="zh-CN" sz="2000" dirty="0" err="1">
                <a:latin typeface="Consolas" panose="020B0609020204030204" pitchFamily="49" charset="0"/>
              </a:rPr>
              <a:t>ftell</a:t>
            </a:r>
            <a:r>
              <a:rPr lang="en-US" altLang="zh-CN" sz="2000" dirty="0">
                <a:latin typeface="Consolas" panose="020B0609020204030204" pitchFamily="49" charset="0"/>
              </a:rPr>
              <a:t>(</a:t>
            </a:r>
            <a:r>
              <a:rPr lang="en-US" altLang="zh-CN" sz="2000" dirty="0" err="1">
                <a:latin typeface="Consolas" panose="020B0609020204030204" pitchFamily="49" charset="0"/>
              </a:rPr>
              <a:t>fp</a:t>
            </a:r>
            <a:r>
              <a:rPr lang="en-US" altLang="zh-CN" sz="2000" dirty="0">
                <a:latin typeface="Consolas" panose="020B0609020204030204" pitchFamily="49" charset="0"/>
              </a:rPr>
              <a:t>), SEEK_SET);</a:t>
            </a:r>
            <a:endParaRPr lang="zh-CN" altLang="en-US" sz="2000" dirty="0">
              <a:latin typeface="Consolas" panose="020B0609020204030204" pitchFamily="49" charset="0"/>
            </a:endParaRPr>
          </a:p>
        </p:txBody>
      </p:sp>
      <p:sp>
        <p:nvSpPr>
          <p:cNvPr id="15" name="标题 4">
            <a:extLst>
              <a:ext uri="{FF2B5EF4-FFF2-40B4-BE49-F238E27FC236}">
                <a16:creationId xmlns:a16="http://schemas.microsoft.com/office/drawing/2014/main" id="{2917BCE4-7942-F298-796F-0BB99A1F575F}"/>
              </a:ext>
            </a:extLst>
          </p:cNvPr>
          <p:cNvSpPr txBox="1">
            <a:spLocks/>
          </p:cNvSpPr>
          <p:nvPr/>
        </p:nvSpPr>
        <p:spPr>
          <a:xfrm>
            <a:off x="586333" y="184980"/>
            <a:ext cx="3948846" cy="908644"/>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文件指针移动</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250"/>
                                        <p:tgtEl>
                                          <p:spTgt spid="23">
                                            <p:txEl>
                                              <p:pRg st="0" end="0"/>
                                            </p:txEl>
                                          </p:spTgt>
                                        </p:tgtEl>
                                      </p:cBhvr>
                                    </p:animEffect>
                                    <p:anim calcmode="lin" valueType="num">
                                      <p:cBhvr>
                                        <p:cTn id="8" dur="25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9" dur="250" fill="hold"/>
                                        <p:tgtEl>
                                          <p:spTgt spid="23">
                                            <p:txEl>
                                              <p:pRg st="0" end="0"/>
                                            </p:txEl>
                                          </p:spTgt>
                                        </p:tgtEl>
                                        <p:attrNameLst>
                                          <p:attrName>ppt_y</p:attrName>
                                        </p:attrNameLst>
                                      </p:cBhvr>
                                      <p:tavLst>
                                        <p:tav tm="0">
                                          <p:val>
                                            <p:strVal val="#ppt_y+.1"/>
                                          </p:val>
                                        </p:tav>
                                        <p:tav tm="100000">
                                          <p:val>
                                            <p:strVal val="#ppt_y"/>
                                          </p:val>
                                        </p:tav>
                                      </p:tavLst>
                                    </p:anim>
                                  </p:childTnLst>
                                </p:cTn>
                              </p:par>
                              <p:par>
                                <p:cTn id="10" presetID="42" presetClass="path" presetSubtype="0" accel="50000" decel="50000" fill="hold" nodeType="withEffect">
                                  <p:stCondLst>
                                    <p:cond delay="0"/>
                                  </p:stCondLst>
                                  <p:childTnLst>
                                    <p:animMotion origin="layout" path="M -3.54167E-6 7.40741E-7 L -0.20533 0.00439 " pathEditMode="relative" rAng="0" ptsTypes="AA">
                                      <p:cBhvr>
                                        <p:cTn id="11" dur="500" fill="hold"/>
                                        <p:tgtEl>
                                          <p:spTgt spid="24"/>
                                        </p:tgtEl>
                                        <p:attrNameLst>
                                          <p:attrName>ppt_x</p:attrName>
                                          <p:attrName>ppt_y</p:attrName>
                                        </p:attrNameLst>
                                      </p:cBhvr>
                                      <p:rCtr x="-10247" y="185"/>
                                    </p:animMotion>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23">
                                            <p:txEl>
                                              <p:pRg st="1" end="1"/>
                                            </p:txEl>
                                          </p:spTgt>
                                        </p:tgtEl>
                                        <p:attrNameLst>
                                          <p:attrName>style.visibility</p:attrName>
                                        </p:attrNameLst>
                                      </p:cBhvr>
                                      <p:to>
                                        <p:strVal val="visible"/>
                                      </p:to>
                                    </p:set>
                                    <p:animEffect transition="in" filter="fade">
                                      <p:cBhvr>
                                        <p:cTn id="16" dur="250"/>
                                        <p:tgtEl>
                                          <p:spTgt spid="23">
                                            <p:txEl>
                                              <p:pRg st="1" end="1"/>
                                            </p:txEl>
                                          </p:spTgt>
                                        </p:tgtEl>
                                      </p:cBhvr>
                                    </p:animEffect>
                                    <p:anim calcmode="lin" valueType="num">
                                      <p:cBhvr>
                                        <p:cTn id="17" dur="250" fill="hold"/>
                                        <p:tgtEl>
                                          <p:spTgt spid="23">
                                            <p:txEl>
                                              <p:pRg st="1" end="1"/>
                                            </p:txEl>
                                          </p:spTgt>
                                        </p:tgtEl>
                                        <p:attrNameLst>
                                          <p:attrName>ppt_x</p:attrName>
                                        </p:attrNameLst>
                                      </p:cBhvr>
                                      <p:tavLst>
                                        <p:tav tm="0">
                                          <p:val>
                                            <p:strVal val="#ppt_x"/>
                                          </p:val>
                                        </p:tav>
                                        <p:tav tm="100000">
                                          <p:val>
                                            <p:strVal val="#ppt_x"/>
                                          </p:val>
                                        </p:tav>
                                      </p:tavLst>
                                    </p:anim>
                                    <p:anim calcmode="lin" valueType="num">
                                      <p:cBhvr>
                                        <p:cTn id="18" dur="250" fill="hold"/>
                                        <p:tgtEl>
                                          <p:spTgt spid="23">
                                            <p:txEl>
                                              <p:pRg st="1" end="1"/>
                                            </p:txEl>
                                          </p:spTgt>
                                        </p:tgtEl>
                                        <p:attrNameLst>
                                          <p:attrName>ppt_y</p:attrName>
                                        </p:attrNameLst>
                                      </p:cBhvr>
                                      <p:tavLst>
                                        <p:tav tm="0">
                                          <p:val>
                                            <p:strVal val="#ppt_y+.1"/>
                                          </p:val>
                                        </p:tav>
                                        <p:tav tm="100000">
                                          <p:val>
                                            <p:strVal val="#ppt_y"/>
                                          </p:val>
                                        </p:tav>
                                      </p:tavLst>
                                    </p:anim>
                                  </p:childTnLst>
                                </p:cTn>
                              </p:par>
                              <p:par>
                                <p:cTn id="19" presetID="42" presetClass="path" presetSubtype="0" accel="50000" decel="50000" fill="hold" nodeType="withEffect">
                                  <p:stCondLst>
                                    <p:cond delay="0"/>
                                  </p:stCondLst>
                                  <p:childTnLst>
                                    <p:animMotion origin="layout" path="M -0.20533 0.0044 L -0.40911 0.0044 " pathEditMode="relative" rAng="0" ptsTypes="AA">
                                      <p:cBhvr>
                                        <p:cTn id="20" dur="500" fill="hold"/>
                                        <p:tgtEl>
                                          <p:spTgt spid="24"/>
                                        </p:tgtEl>
                                        <p:attrNameLst>
                                          <p:attrName>ppt_x</p:attrName>
                                          <p:attrName>ppt_y</p:attrName>
                                        </p:attrNameLst>
                                      </p:cBhvr>
                                      <p:rCtr x="-10195" y="0"/>
                                    </p:animMotion>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3">
                                            <p:txEl>
                                              <p:pRg st="2" end="2"/>
                                            </p:txEl>
                                          </p:spTgt>
                                        </p:tgtEl>
                                        <p:attrNameLst>
                                          <p:attrName>style.visibility</p:attrName>
                                        </p:attrNameLst>
                                      </p:cBhvr>
                                      <p:to>
                                        <p:strVal val="visible"/>
                                      </p:to>
                                    </p:set>
                                    <p:animEffect transition="in" filter="fade">
                                      <p:cBhvr>
                                        <p:cTn id="25" dur="250"/>
                                        <p:tgtEl>
                                          <p:spTgt spid="23">
                                            <p:txEl>
                                              <p:pRg st="2" end="2"/>
                                            </p:txEl>
                                          </p:spTgt>
                                        </p:tgtEl>
                                      </p:cBhvr>
                                    </p:animEffect>
                                    <p:anim calcmode="lin" valueType="num">
                                      <p:cBhvr>
                                        <p:cTn id="26" dur="250" fill="hold"/>
                                        <p:tgtEl>
                                          <p:spTgt spid="23">
                                            <p:txEl>
                                              <p:pRg st="2" end="2"/>
                                            </p:txEl>
                                          </p:spTgt>
                                        </p:tgtEl>
                                        <p:attrNameLst>
                                          <p:attrName>ppt_x</p:attrName>
                                        </p:attrNameLst>
                                      </p:cBhvr>
                                      <p:tavLst>
                                        <p:tav tm="0">
                                          <p:val>
                                            <p:strVal val="#ppt_x"/>
                                          </p:val>
                                        </p:tav>
                                        <p:tav tm="100000">
                                          <p:val>
                                            <p:strVal val="#ppt_x"/>
                                          </p:val>
                                        </p:tav>
                                      </p:tavLst>
                                    </p:anim>
                                    <p:anim calcmode="lin" valueType="num">
                                      <p:cBhvr>
                                        <p:cTn id="27" dur="250" fill="hold"/>
                                        <p:tgtEl>
                                          <p:spTgt spid="23">
                                            <p:txEl>
                                              <p:pRg st="2" end="2"/>
                                            </p:txEl>
                                          </p:spTgt>
                                        </p:tgtEl>
                                        <p:attrNameLst>
                                          <p:attrName>ppt_y</p:attrName>
                                        </p:attrNameLst>
                                      </p:cBhvr>
                                      <p:tavLst>
                                        <p:tav tm="0">
                                          <p:val>
                                            <p:strVal val="#ppt_y+.1"/>
                                          </p:val>
                                        </p:tav>
                                        <p:tav tm="100000">
                                          <p:val>
                                            <p:strVal val="#ppt_y"/>
                                          </p:val>
                                        </p:tav>
                                      </p:tavLst>
                                    </p:anim>
                                  </p:childTnLst>
                                </p:cTn>
                              </p:par>
                              <p:par>
                                <p:cTn id="28" presetID="42" presetClass="path" presetSubtype="0" accel="50000" decel="50000" fill="hold" nodeType="withEffect">
                                  <p:stCondLst>
                                    <p:cond delay="0"/>
                                  </p:stCondLst>
                                  <p:childTnLst>
                                    <p:animMotion origin="layout" path="M -0.40911 0.0044 L -0.29856 0.00486 " pathEditMode="relative" rAng="0" ptsTypes="AA">
                                      <p:cBhvr>
                                        <p:cTn id="29" dur="500" fill="hold"/>
                                        <p:tgtEl>
                                          <p:spTgt spid="24"/>
                                        </p:tgtEl>
                                        <p:attrNameLst>
                                          <p:attrName>ppt_x</p:attrName>
                                          <p:attrName>ppt_y</p:attrName>
                                        </p:attrNameLst>
                                      </p:cBhvr>
                                      <p:rCtr x="5547" y="0"/>
                                    </p:animMotion>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3">
                                            <p:txEl>
                                              <p:pRg st="3" end="3"/>
                                            </p:txEl>
                                          </p:spTgt>
                                        </p:tgtEl>
                                        <p:attrNameLst>
                                          <p:attrName>style.visibility</p:attrName>
                                        </p:attrNameLst>
                                      </p:cBhvr>
                                      <p:to>
                                        <p:strVal val="visible"/>
                                      </p:to>
                                    </p:set>
                                    <p:animEffect transition="in" filter="fade">
                                      <p:cBhvr>
                                        <p:cTn id="34" dur="250"/>
                                        <p:tgtEl>
                                          <p:spTgt spid="23">
                                            <p:txEl>
                                              <p:pRg st="3" end="3"/>
                                            </p:txEl>
                                          </p:spTgt>
                                        </p:tgtEl>
                                      </p:cBhvr>
                                    </p:animEffect>
                                    <p:anim calcmode="lin" valueType="num">
                                      <p:cBhvr>
                                        <p:cTn id="35" dur="250" fill="hold"/>
                                        <p:tgtEl>
                                          <p:spTgt spid="23">
                                            <p:txEl>
                                              <p:pRg st="3" end="3"/>
                                            </p:txEl>
                                          </p:spTgt>
                                        </p:tgtEl>
                                        <p:attrNameLst>
                                          <p:attrName>ppt_x</p:attrName>
                                        </p:attrNameLst>
                                      </p:cBhvr>
                                      <p:tavLst>
                                        <p:tav tm="0">
                                          <p:val>
                                            <p:strVal val="#ppt_x"/>
                                          </p:val>
                                        </p:tav>
                                        <p:tav tm="100000">
                                          <p:val>
                                            <p:strVal val="#ppt_x"/>
                                          </p:val>
                                        </p:tav>
                                      </p:tavLst>
                                    </p:anim>
                                    <p:anim calcmode="lin" valueType="num">
                                      <p:cBhvr>
                                        <p:cTn id="36" dur="250" fill="hold"/>
                                        <p:tgtEl>
                                          <p:spTgt spid="23">
                                            <p:txEl>
                                              <p:pRg st="3" end="3"/>
                                            </p:txEl>
                                          </p:spTgt>
                                        </p:tgtEl>
                                        <p:attrNameLst>
                                          <p:attrName>ppt_y</p:attrName>
                                        </p:attrNameLst>
                                      </p:cBhvr>
                                      <p:tavLst>
                                        <p:tav tm="0">
                                          <p:val>
                                            <p:strVal val="#ppt_y+.1"/>
                                          </p:val>
                                        </p:tav>
                                        <p:tav tm="100000">
                                          <p:val>
                                            <p:strVal val="#ppt_y"/>
                                          </p:val>
                                        </p:tav>
                                      </p:tavLst>
                                    </p:anim>
                                  </p:childTnLst>
                                </p:cTn>
                              </p:par>
                              <p:par>
                                <p:cTn id="37" presetID="42" presetClass="path" presetSubtype="0" accel="50000" decel="50000" fill="hold" nodeType="withEffect">
                                  <p:stCondLst>
                                    <p:cond delay="0"/>
                                  </p:stCondLst>
                                  <p:childTnLst>
                                    <p:animMotion origin="layout" path="M -0.29856 0.00486 L -0.15898 0.00393 " pathEditMode="relative" rAng="0" ptsTypes="AA">
                                      <p:cBhvr>
                                        <p:cTn id="38" dur="500" fill="hold"/>
                                        <p:tgtEl>
                                          <p:spTgt spid="24"/>
                                        </p:tgtEl>
                                        <p:attrNameLst>
                                          <p:attrName>ppt_x</p:attrName>
                                          <p:attrName>ppt_y</p:attrName>
                                        </p:attrNameLst>
                                      </p:cBhvr>
                                      <p:rCtr x="6979" y="-46"/>
                                    </p:animMotion>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3">
                                            <p:txEl>
                                              <p:pRg st="4" end="4"/>
                                            </p:txEl>
                                          </p:spTgt>
                                        </p:tgtEl>
                                        <p:attrNameLst>
                                          <p:attrName>style.visibility</p:attrName>
                                        </p:attrNameLst>
                                      </p:cBhvr>
                                      <p:to>
                                        <p:strVal val="visible"/>
                                      </p:to>
                                    </p:set>
                                    <p:animEffect transition="in" filter="fade">
                                      <p:cBhvr>
                                        <p:cTn id="43" dur="250"/>
                                        <p:tgtEl>
                                          <p:spTgt spid="23">
                                            <p:txEl>
                                              <p:pRg st="4" end="4"/>
                                            </p:txEl>
                                          </p:spTgt>
                                        </p:tgtEl>
                                      </p:cBhvr>
                                    </p:animEffect>
                                    <p:anim calcmode="lin" valueType="num">
                                      <p:cBhvr>
                                        <p:cTn id="44" dur="250" fill="hold"/>
                                        <p:tgtEl>
                                          <p:spTgt spid="23">
                                            <p:txEl>
                                              <p:pRg st="4" end="4"/>
                                            </p:txEl>
                                          </p:spTgt>
                                        </p:tgtEl>
                                        <p:attrNameLst>
                                          <p:attrName>ppt_x</p:attrName>
                                        </p:attrNameLst>
                                      </p:cBhvr>
                                      <p:tavLst>
                                        <p:tav tm="0">
                                          <p:val>
                                            <p:strVal val="#ppt_x"/>
                                          </p:val>
                                        </p:tav>
                                        <p:tav tm="100000">
                                          <p:val>
                                            <p:strVal val="#ppt_x"/>
                                          </p:val>
                                        </p:tav>
                                      </p:tavLst>
                                    </p:anim>
                                    <p:anim calcmode="lin" valueType="num">
                                      <p:cBhvr>
                                        <p:cTn id="45" dur="250" fill="hold"/>
                                        <p:tgtEl>
                                          <p:spTgt spid="23">
                                            <p:txEl>
                                              <p:pRg st="4" end="4"/>
                                            </p:txEl>
                                          </p:spTgt>
                                        </p:tgtEl>
                                        <p:attrNameLst>
                                          <p:attrName>ppt_y</p:attrName>
                                        </p:attrNameLst>
                                      </p:cBhvr>
                                      <p:tavLst>
                                        <p:tav tm="0">
                                          <p:val>
                                            <p:strVal val="#ppt_y+.1"/>
                                          </p:val>
                                        </p:tav>
                                        <p:tav tm="100000">
                                          <p:val>
                                            <p:strVal val="#ppt_y"/>
                                          </p:val>
                                        </p:tav>
                                      </p:tavLst>
                                    </p:anim>
                                  </p:childTnLst>
                                </p:cTn>
                              </p:par>
                              <p:par>
                                <p:cTn id="46" presetID="26" presetClass="emph" presetSubtype="0" fill="hold" nodeType="withEffect">
                                  <p:stCondLst>
                                    <p:cond delay="0"/>
                                  </p:stCondLst>
                                  <p:childTnLst>
                                    <p:animEffect transition="out" filter="fade">
                                      <p:cBhvr>
                                        <p:cTn id="47" dur="500" tmFilter="0, 0; .2, .5; .8, .5; 1, 0"/>
                                        <p:tgtEl>
                                          <p:spTgt spid="24"/>
                                        </p:tgtEl>
                                      </p:cBhvr>
                                    </p:animEffect>
                                    <p:animScale>
                                      <p:cBhvr>
                                        <p:cTn id="48" dur="250" autoRev="1" fill="hold"/>
                                        <p:tgtEl>
                                          <p:spTgt spid="2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4294967295"/>
          </p:nvPr>
        </p:nvSpPr>
        <p:spPr>
          <a:xfrm>
            <a:off x="1036357" y="1296223"/>
            <a:ext cx="10982325" cy="4995862"/>
          </a:xfrm>
        </p:spPr>
        <p:txBody>
          <a:bodyPr/>
          <a:lstStyle/>
          <a:p>
            <a:r>
              <a:rPr lang="zh-CN" altLang="en-US" dirty="0"/>
              <a:t>通用</a:t>
            </a:r>
            <a:endParaRPr lang="en-US" altLang="zh-CN" dirty="0"/>
          </a:p>
          <a:p>
            <a:pPr lvl="1"/>
            <a:r>
              <a:rPr lang="en-US" altLang="zh-CN" dirty="0" err="1">
                <a:latin typeface="Consolas" panose="020B0609020204030204" pitchFamily="49" charset="0"/>
              </a:rPr>
              <a:t>fscanf</a:t>
            </a:r>
            <a:r>
              <a:rPr lang="en-US" altLang="zh-CN" dirty="0">
                <a:latin typeface="Consolas" panose="020B0609020204030204" pitchFamily="49" charset="0"/>
              </a:rPr>
              <a:t>(</a:t>
            </a:r>
            <a:r>
              <a:rPr lang="en-US" altLang="zh-CN" dirty="0" err="1">
                <a:solidFill>
                  <a:srgbClr val="FF0000"/>
                </a:solidFill>
                <a:latin typeface="Consolas" panose="020B0609020204030204" pitchFamily="49" charset="0"/>
              </a:rPr>
              <a:t>fp</a:t>
            </a:r>
            <a:r>
              <a:rPr lang="en-US" altLang="zh-CN" dirty="0">
                <a:latin typeface="Consolas" panose="020B0609020204030204" pitchFamily="49" charset="0"/>
              </a:rPr>
              <a:t>, “</a:t>
            </a:r>
            <a:r>
              <a:rPr lang="en-US" altLang="zh-CN" dirty="0" err="1">
                <a:latin typeface="Consolas" panose="020B0609020204030204" pitchFamily="49" charset="0"/>
              </a:rPr>
              <a:t>aaa</a:t>
            </a:r>
            <a:r>
              <a:rPr lang="en-US" altLang="zh-CN" dirty="0">
                <a:latin typeface="Consolas" panose="020B0609020204030204" pitchFamily="49" charset="0"/>
              </a:rPr>
              <a:t>,%</a:t>
            </a:r>
            <a:r>
              <a:rPr lang="en-US" altLang="zh-CN" dirty="0" err="1">
                <a:latin typeface="Consolas" panose="020B0609020204030204" pitchFamily="49" charset="0"/>
              </a:rPr>
              <a:t>d”,num</a:t>
            </a:r>
            <a:r>
              <a:rPr lang="en-US" altLang="zh-CN" dirty="0">
                <a:latin typeface="Consolas" panose="020B0609020204030204" pitchFamily="49" charset="0"/>
              </a:rPr>
              <a:t>) </a:t>
            </a:r>
            <a:r>
              <a:rPr lang="zh-CN" altLang="en-US" dirty="0">
                <a:latin typeface="Consolas" panose="020B0609020204030204" pitchFamily="49" charset="0"/>
              </a:rPr>
              <a:t>≈ </a:t>
            </a:r>
            <a:r>
              <a:rPr lang="en-US" altLang="zh-CN" dirty="0" err="1">
                <a:latin typeface="Consolas" panose="020B0609020204030204" pitchFamily="49" charset="0"/>
              </a:rPr>
              <a:t>scanf</a:t>
            </a:r>
            <a:r>
              <a:rPr lang="en-US" altLang="zh-CN" dirty="0">
                <a:latin typeface="Consolas" panose="020B0609020204030204" pitchFamily="49" charset="0"/>
              </a:rPr>
              <a:t>(“</a:t>
            </a:r>
            <a:r>
              <a:rPr lang="en-US" altLang="zh-CN" dirty="0" err="1">
                <a:latin typeface="Consolas" panose="020B0609020204030204" pitchFamily="49" charset="0"/>
              </a:rPr>
              <a:t>aaa</a:t>
            </a:r>
            <a:r>
              <a:rPr lang="en-US" altLang="zh-CN" dirty="0">
                <a:latin typeface="Consolas" panose="020B0609020204030204" pitchFamily="49" charset="0"/>
              </a:rPr>
              <a:t>,%</a:t>
            </a:r>
            <a:r>
              <a:rPr lang="en-US" altLang="zh-CN" dirty="0" err="1">
                <a:latin typeface="Consolas" panose="020B0609020204030204" pitchFamily="49" charset="0"/>
              </a:rPr>
              <a:t>d”,num</a:t>
            </a:r>
            <a:r>
              <a:rPr lang="en-US" altLang="zh-CN" dirty="0">
                <a:latin typeface="Consolas" panose="020B0609020204030204" pitchFamily="49" charset="0"/>
              </a:rPr>
              <a:t>)</a:t>
            </a:r>
          </a:p>
          <a:p>
            <a:pPr lvl="1"/>
            <a:r>
              <a:rPr lang="en-US" altLang="zh-CN" dirty="0" err="1">
                <a:latin typeface="Consolas" panose="020B0609020204030204" pitchFamily="49" charset="0"/>
              </a:rPr>
              <a:t>fprinf</a:t>
            </a:r>
            <a:r>
              <a:rPr lang="en-US" altLang="zh-CN" dirty="0">
                <a:latin typeface="Consolas" panose="020B0609020204030204" pitchFamily="49" charset="0"/>
              </a:rPr>
              <a:t>(</a:t>
            </a:r>
            <a:r>
              <a:rPr lang="en-US" altLang="zh-CN" dirty="0" err="1">
                <a:solidFill>
                  <a:srgbClr val="FF0000"/>
                </a:solidFill>
                <a:latin typeface="Consolas" panose="020B0609020204030204" pitchFamily="49" charset="0"/>
              </a:rPr>
              <a:t>fp</a:t>
            </a:r>
            <a:r>
              <a:rPr lang="en-US" altLang="zh-CN" dirty="0">
                <a:latin typeface="Consolas" panose="020B0609020204030204" pitchFamily="49" charset="0"/>
              </a:rPr>
              <a:t>, …) </a:t>
            </a:r>
            <a:r>
              <a:rPr lang="zh-CN" altLang="en-US" dirty="0">
                <a:latin typeface="Consolas" panose="020B0609020204030204" pitchFamily="49" charset="0"/>
              </a:rPr>
              <a:t>≈ </a:t>
            </a:r>
            <a:r>
              <a:rPr lang="en-US" altLang="zh-CN" dirty="0" err="1">
                <a:latin typeface="Consolas" panose="020B0609020204030204" pitchFamily="49" charset="0"/>
              </a:rPr>
              <a:t>printf</a:t>
            </a:r>
            <a:r>
              <a:rPr lang="en-US" altLang="zh-CN" dirty="0">
                <a:latin typeface="Consolas" panose="020B0609020204030204" pitchFamily="49" charset="0"/>
              </a:rPr>
              <a:t>(…)</a:t>
            </a:r>
          </a:p>
          <a:p>
            <a:r>
              <a:rPr lang="zh-CN" altLang="en-US" dirty="0">
                <a:latin typeface="Consolas" panose="020B0609020204030204" pitchFamily="49" charset="0"/>
              </a:rPr>
              <a:t>字符</a:t>
            </a:r>
            <a:endParaRPr lang="en-US" altLang="zh-CN" dirty="0">
              <a:latin typeface="Consolas" panose="020B0609020204030204" pitchFamily="49" charset="0"/>
            </a:endParaRPr>
          </a:p>
          <a:p>
            <a:pPr lvl="1"/>
            <a:r>
              <a:rPr lang="en-US" altLang="zh-CN" dirty="0" err="1">
                <a:latin typeface="Consolas" panose="020B0609020204030204" pitchFamily="49" charset="0"/>
              </a:rPr>
              <a:t>fgetc</a:t>
            </a:r>
            <a:r>
              <a:rPr lang="en-US" altLang="zh-CN" dirty="0">
                <a:latin typeface="Consolas" panose="020B0609020204030204" pitchFamily="49" charset="0"/>
              </a:rPr>
              <a:t>(</a:t>
            </a:r>
            <a:r>
              <a:rPr lang="en-US" altLang="zh-CN" dirty="0" err="1">
                <a:solidFill>
                  <a:srgbClr val="FF0000"/>
                </a:solidFill>
                <a:latin typeface="Consolas" panose="020B0609020204030204" pitchFamily="49" charset="0"/>
              </a:rPr>
              <a:t>fp</a:t>
            </a:r>
            <a:r>
              <a:rPr lang="en-US" altLang="zh-CN" dirty="0">
                <a:latin typeface="Consolas" panose="020B0609020204030204" pitchFamily="49" charset="0"/>
              </a:rPr>
              <a:t>) </a:t>
            </a:r>
            <a:r>
              <a:rPr lang="zh-CN" altLang="en-US" dirty="0">
                <a:latin typeface="Consolas" panose="020B0609020204030204" pitchFamily="49" charset="0"/>
              </a:rPr>
              <a:t>≈ </a:t>
            </a:r>
            <a:r>
              <a:rPr lang="en-US" altLang="zh-CN" dirty="0" err="1">
                <a:latin typeface="Consolas" panose="020B0609020204030204" pitchFamily="49" charset="0"/>
              </a:rPr>
              <a:t>getchar</a:t>
            </a:r>
            <a:r>
              <a:rPr lang="en-US" altLang="zh-CN" dirty="0">
                <a:latin typeface="Consolas" panose="020B0609020204030204" pitchFamily="49" charset="0"/>
              </a:rPr>
              <a:t>()</a:t>
            </a:r>
          </a:p>
          <a:p>
            <a:pPr lvl="1"/>
            <a:r>
              <a:rPr lang="en-US" altLang="zh-CN" dirty="0" err="1">
                <a:latin typeface="Consolas" panose="020B0609020204030204" pitchFamily="49" charset="0"/>
              </a:rPr>
              <a:t>fputc</a:t>
            </a:r>
            <a:r>
              <a:rPr lang="en-US" altLang="zh-CN" dirty="0">
                <a:latin typeface="Consolas" panose="020B0609020204030204" pitchFamily="49" charset="0"/>
              </a:rPr>
              <a:t>(</a:t>
            </a:r>
            <a:r>
              <a:rPr lang="en-US" altLang="zh-CN" dirty="0" err="1">
                <a:latin typeface="Consolas" panose="020B0609020204030204" pitchFamily="49" charset="0"/>
              </a:rPr>
              <a:t>ch</a:t>
            </a:r>
            <a:r>
              <a:rPr lang="en-US" altLang="zh-CN" dirty="0">
                <a:latin typeface="Consolas" panose="020B0609020204030204" pitchFamily="49" charset="0"/>
              </a:rPr>
              <a:t>, </a:t>
            </a:r>
            <a:r>
              <a:rPr lang="en-US" altLang="zh-CN" dirty="0" err="1">
                <a:solidFill>
                  <a:srgbClr val="FF0000"/>
                </a:solidFill>
                <a:latin typeface="Consolas" panose="020B0609020204030204" pitchFamily="49" charset="0"/>
              </a:rPr>
              <a:t>fp</a:t>
            </a:r>
            <a:r>
              <a:rPr lang="en-US" altLang="zh-CN" dirty="0">
                <a:latin typeface="Consolas" panose="020B0609020204030204" pitchFamily="49" charset="0"/>
              </a:rPr>
              <a:t>) </a:t>
            </a:r>
            <a:r>
              <a:rPr lang="zh-CN" altLang="en-US" dirty="0">
                <a:latin typeface="Consolas" panose="020B0609020204030204" pitchFamily="49" charset="0"/>
              </a:rPr>
              <a:t>≈</a:t>
            </a:r>
            <a:r>
              <a:rPr lang="en-GB" altLang="zh-CN" dirty="0">
                <a:latin typeface="Consolas" panose="020B0609020204030204" pitchFamily="49" charset="0"/>
              </a:rPr>
              <a:t> </a:t>
            </a:r>
            <a:r>
              <a:rPr lang="en-GB" altLang="zh-CN" dirty="0" err="1">
                <a:latin typeface="Consolas" panose="020B0609020204030204" pitchFamily="49" charset="0"/>
              </a:rPr>
              <a:t>putchar</a:t>
            </a:r>
            <a:r>
              <a:rPr lang="en-GB" altLang="zh-CN" dirty="0">
                <a:latin typeface="Consolas" panose="020B0609020204030204" pitchFamily="49" charset="0"/>
              </a:rPr>
              <a:t>(</a:t>
            </a:r>
            <a:r>
              <a:rPr lang="en-GB" altLang="zh-CN" dirty="0" err="1">
                <a:latin typeface="Consolas" panose="020B0609020204030204" pitchFamily="49" charset="0"/>
              </a:rPr>
              <a:t>ch</a:t>
            </a:r>
            <a:r>
              <a:rPr lang="en-GB" altLang="zh-CN" dirty="0">
                <a:latin typeface="Consolas" panose="020B0609020204030204" pitchFamily="49" charset="0"/>
              </a:rPr>
              <a:t>)</a:t>
            </a:r>
          </a:p>
          <a:p>
            <a:r>
              <a:rPr lang="zh-CN" altLang="en-US" dirty="0">
                <a:latin typeface="Consolas" panose="020B0609020204030204" pitchFamily="49" charset="0"/>
              </a:rPr>
              <a:t>字符串</a:t>
            </a:r>
            <a:endParaRPr lang="en-US" altLang="zh-CN" dirty="0">
              <a:latin typeface="Consolas" panose="020B0609020204030204" pitchFamily="49" charset="0"/>
            </a:endParaRPr>
          </a:p>
          <a:p>
            <a:pPr lvl="1"/>
            <a:r>
              <a:rPr lang="en-GB" altLang="zh-CN" dirty="0" err="1">
                <a:latin typeface="Consolas" panose="020B0609020204030204" pitchFamily="49" charset="0"/>
              </a:rPr>
              <a:t>fgets</a:t>
            </a:r>
            <a:r>
              <a:rPr lang="en-GB" altLang="zh-CN" dirty="0">
                <a:latin typeface="Consolas" panose="020B0609020204030204" pitchFamily="49" charset="0"/>
              </a:rPr>
              <a:t>(str, </a:t>
            </a:r>
            <a:r>
              <a:rPr lang="en-GB" altLang="zh-CN" dirty="0">
                <a:solidFill>
                  <a:srgbClr val="FF0000"/>
                </a:solidFill>
                <a:latin typeface="Consolas" panose="020B0609020204030204" pitchFamily="49" charset="0"/>
              </a:rPr>
              <a:t>count</a:t>
            </a:r>
            <a:r>
              <a:rPr lang="en-GB" altLang="zh-CN" dirty="0">
                <a:latin typeface="Consolas" panose="020B0609020204030204" pitchFamily="49" charset="0"/>
              </a:rPr>
              <a:t>, </a:t>
            </a:r>
            <a:r>
              <a:rPr lang="en-GB" altLang="zh-CN" dirty="0" err="1">
                <a:solidFill>
                  <a:srgbClr val="FF0000"/>
                </a:solidFill>
                <a:latin typeface="Consolas" panose="020B0609020204030204" pitchFamily="49" charset="0"/>
              </a:rPr>
              <a:t>fp</a:t>
            </a:r>
            <a:r>
              <a:rPr lang="en-GB" altLang="zh-CN" dirty="0">
                <a:latin typeface="Consolas" panose="020B0609020204030204" pitchFamily="49" charset="0"/>
              </a:rPr>
              <a:t>) </a:t>
            </a:r>
            <a:r>
              <a:rPr lang="zh-CN" altLang="en-US" dirty="0">
                <a:latin typeface="Consolas" panose="020B0609020204030204" pitchFamily="49" charset="0"/>
              </a:rPr>
              <a:t>≈</a:t>
            </a:r>
            <a:r>
              <a:rPr lang="en-GB" altLang="zh-CN" dirty="0">
                <a:latin typeface="Consolas" panose="020B0609020204030204" pitchFamily="49" charset="0"/>
              </a:rPr>
              <a:t> gets(str)</a:t>
            </a:r>
          </a:p>
          <a:p>
            <a:pPr lvl="1"/>
            <a:r>
              <a:rPr lang="en-GB" altLang="zh-CN" dirty="0" err="1">
                <a:latin typeface="Consolas" panose="020B0609020204030204" pitchFamily="49" charset="0"/>
              </a:rPr>
              <a:t>fputs</a:t>
            </a:r>
            <a:r>
              <a:rPr lang="en-GB" altLang="zh-CN" dirty="0">
                <a:latin typeface="Consolas" panose="020B0609020204030204" pitchFamily="49" charset="0"/>
              </a:rPr>
              <a:t>(str, </a:t>
            </a:r>
            <a:r>
              <a:rPr lang="en-GB" altLang="zh-CN" dirty="0" err="1">
                <a:solidFill>
                  <a:srgbClr val="FF0000"/>
                </a:solidFill>
                <a:latin typeface="Consolas" panose="020B0609020204030204" pitchFamily="49" charset="0"/>
              </a:rPr>
              <a:t>fp</a:t>
            </a:r>
            <a:r>
              <a:rPr lang="en-GB" altLang="zh-CN" dirty="0">
                <a:latin typeface="Consolas" panose="020B0609020204030204" pitchFamily="49" charset="0"/>
              </a:rPr>
              <a:t>) </a:t>
            </a:r>
            <a:r>
              <a:rPr lang="zh-CN" altLang="en-US" dirty="0">
                <a:latin typeface="Consolas" panose="020B0609020204030204" pitchFamily="49" charset="0"/>
              </a:rPr>
              <a:t>≈ </a:t>
            </a:r>
            <a:r>
              <a:rPr lang="en-US" altLang="zh-CN" dirty="0">
                <a:latin typeface="Consolas" panose="020B0609020204030204" pitchFamily="49" charset="0"/>
              </a:rPr>
              <a:t>puts(str)</a:t>
            </a:r>
          </a:p>
          <a:p>
            <a:pPr lvl="1"/>
            <a:endParaRPr lang="zh-CN" altLang="en-US" dirty="0">
              <a:latin typeface="Consolas" panose="020B0609020204030204" pitchFamily="49" charset="0"/>
            </a:endParaRPr>
          </a:p>
        </p:txBody>
      </p:sp>
      <p:sp>
        <p:nvSpPr>
          <p:cNvPr id="5" name="文本框 4"/>
          <p:cNvSpPr txBox="1"/>
          <p:nvPr/>
        </p:nvSpPr>
        <p:spPr>
          <a:xfrm>
            <a:off x="1705593" y="5397086"/>
            <a:ext cx="4371278" cy="461665"/>
          </a:xfrm>
          <a:prstGeom prst="rect">
            <a:avLst/>
          </a:prstGeom>
          <a:noFill/>
        </p:spPr>
        <p:txBody>
          <a:bodyPr wrap="square" rtlCol="0">
            <a:spAutoFit/>
          </a:bodyPr>
          <a:lstStyle/>
          <a:p>
            <a:r>
              <a:rPr lang="zh-CN" altLang="en-US" sz="2400" dirty="0">
                <a:solidFill>
                  <a:srgbClr val="FF0000"/>
                </a:solidFill>
              </a:rPr>
              <a:t>但</a:t>
            </a:r>
            <a:r>
              <a:rPr lang="en-US" altLang="zh-CN" sz="2400" dirty="0" err="1">
                <a:solidFill>
                  <a:srgbClr val="FF0000"/>
                </a:solidFill>
                <a:latin typeface="Consolas" panose="020B0609020204030204" pitchFamily="49" charset="0"/>
              </a:rPr>
              <a:t>fputs</a:t>
            </a:r>
            <a:r>
              <a:rPr lang="en-US" altLang="zh-CN" sz="2400" dirty="0">
                <a:solidFill>
                  <a:srgbClr val="FF0000"/>
                </a:solidFill>
                <a:latin typeface="Consolas" panose="020B0609020204030204" pitchFamily="49" charset="0"/>
              </a:rPr>
              <a:t>()</a:t>
            </a:r>
            <a:r>
              <a:rPr lang="zh-CN" altLang="en-US" sz="2400" dirty="0">
                <a:solidFill>
                  <a:srgbClr val="FF0000"/>
                </a:solidFill>
              </a:rPr>
              <a:t>不会自动补换行。</a:t>
            </a:r>
          </a:p>
        </p:txBody>
      </p:sp>
      <p:sp>
        <p:nvSpPr>
          <p:cNvPr id="12" name="标题 4">
            <a:extLst>
              <a:ext uri="{FF2B5EF4-FFF2-40B4-BE49-F238E27FC236}">
                <a16:creationId xmlns:a16="http://schemas.microsoft.com/office/drawing/2014/main" id="{7ABD5A2D-5CE0-BD94-5BD8-7792AF977879}"/>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读写</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4">
            <a:extLst>
              <a:ext uri="{FF2B5EF4-FFF2-40B4-BE49-F238E27FC236}">
                <a16:creationId xmlns:a16="http://schemas.microsoft.com/office/drawing/2014/main" id="{6FCF024D-00DC-0206-8C7A-6E3B8352F5E0}"/>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读写</a:t>
            </a:r>
          </a:p>
        </p:txBody>
      </p:sp>
      <p:sp>
        <p:nvSpPr>
          <p:cNvPr id="8" name="内容占位符 3">
            <a:extLst>
              <a:ext uri="{FF2B5EF4-FFF2-40B4-BE49-F238E27FC236}">
                <a16:creationId xmlns:a16="http://schemas.microsoft.com/office/drawing/2014/main" id="{297D987E-0098-DB1C-F29B-21AB36FB2E95}"/>
              </a:ext>
            </a:extLst>
          </p:cNvPr>
          <p:cNvSpPr txBox="1">
            <a:spLocks/>
          </p:cNvSpPr>
          <p:nvPr/>
        </p:nvSpPr>
        <p:spPr>
          <a:xfrm>
            <a:off x="861789" y="1399204"/>
            <a:ext cx="10982325" cy="4995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二进制文件读写</a:t>
            </a:r>
            <a:endParaRPr lang="en-US" altLang="zh-CN" dirty="0"/>
          </a:p>
          <a:p>
            <a:endParaRPr lang="en-US" altLang="zh-CN" dirty="0"/>
          </a:p>
          <a:p>
            <a:pPr lvl="1"/>
            <a:r>
              <a:rPr lang="en-US" altLang="zh-CN" dirty="0" err="1">
                <a:latin typeface="Consolas" panose="020B0609020204030204" pitchFamily="49" charset="0"/>
              </a:rPr>
              <a:t>size_t</a:t>
            </a:r>
            <a:r>
              <a:rPr lang="en-US" altLang="zh-CN" dirty="0">
                <a:latin typeface="Consolas" panose="020B0609020204030204" pitchFamily="49" charset="0"/>
              </a:rPr>
              <a:t> </a:t>
            </a:r>
            <a:r>
              <a:rPr lang="en-US" altLang="zh-CN" dirty="0" err="1">
                <a:latin typeface="Consolas" panose="020B0609020204030204" pitchFamily="49" charset="0"/>
              </a:rPr>
              <a:t>fread</a:t>
            </a:r>
            <a:r>
              <a:rPr lang="en-US" altLang="zh-CN" dirty="0">
                <a:latin typeface="Consolas" panose="020B0609020204030204" pitchFamily="49" charset="0"/>
              </a:rPr>
              <a:t>(void *</a:t>
            </a:r>
            <a:r>
              <a:rPr lang="en-US" altLang="zh-CN" dirty="0" err="1">
                <a:latin typeface="Consolas" panose="020B0609020204030204" pitchFamily="49" charset="0"/>
              </a:rPr>
              <a:t>ptr</a:t>
            </a:r>
            <a:r>
              <a:rPr lang="en-US" altLang="zh-CN" dirty="0">
                <a:latin typeface="Consolas" panose="020B0609020204030204" pitchFamily="49" charset="0"/>
              </a:rPr>
              <a:t>, </a:t>
            </a:r>
            <a:r>
              <a:rPr lang="en-US" altLang="zh-CN" dirty="0" err="1">
                <a:latin typeface="Consolas" panose="020B0609020204030204" pitchFamily="49" charset="0"/>
              </a:rPr>
              <a:t>size_t</a:t>
            </a:r>
            <a:r>
              <a:rPr lang="en-US" altLang="zh-CN" dirty="0">
                <a:latin typeface="Consolas" panose="020B0609020204030204" pitchFamily="49" charset="0"/>
              </a:rPr>
              <a:t> size, </a:t>
            </a:r>
            <a:r>
              <a:rPr lang="en-US" altLang="zh-CN" dirty="0" err="1">
                <a:latin typeface="Consolas" panose="020B0609020204030204" pitchFamily="49" charset="0"/>
              </a:rPr>
              <a:t>size_t</a:t>
            </a:r>
            <a:r>
              <a:rPr lang="en-US" altLang="zh-CN" dirty="0">
                <a:latin typeface="Consolas" panose="020B0609020204030204" pitchFamily="49" charset="0"/>
              </a:rPr>
              <a:t> </a:t>
            </a:r>
            <a:r>
              <a:rPr lang="en-US" altLang="zh-CN" dirty="0" err="1">
                <a:latin typeface="Consolas" panose="020B0609020204030204" pitchFamily="49" charset="0"/>
              </a:rPr>
              <a:t>nmemb</a:t>
            </a:r>
            <a:r>
              <a:rPr lang="en-US" altLang="zh-CN" dirty="0">
                <a:latin typeface="Consolas" panose="020B0609020204030204" pitchFamily="49" charset="0"/>
              </a:rPr>
              <a:t>, FILE *stream)</a:t>
            </a:r>
          </a:p>
          <a:p>
            <a:pPr lvl="2" latinLnBrk="1"/>
            <a:r>
              <a:rPr lang="en-US" altLang="zh-CN" b="1" dirty="0" err="1"/>
              <a:t>ptr</a:t>
            </a:r>
            <a:r>
              <a:rPr lang="zh-CN" altLang="en-US" dirty="0"/>
              <a:t> </a:t>
            </a:r>
            <a:r>
              <a:rPr lang="en-US" altLang="zh-CN" dirty="0"/>
              <a:t>-- </a:t>
            </a:r>
            <a:r>
              <a:rPr lang="zh-CN" altLang="en-US" dirty="0"/>
              <a:t>这是指向带有最小尺寸 </a:t>
            </a:r>
            <a:r>
              <a:rPr lang="en-US" altLang="zh-CN" i="1" dirty="0"/>
              <a:t>size*</a:t>
            </a:r>
            <a:r>
              <a:rPr lang="en-US" altLang="zh-CN" i="1" dirty="0" err="1"/>
              <a:t>nmemb</a:t>
            </a:r>
            <a:r>
              <a:rPr lang="zh-CN" altLang="en-US" dirty="0"/>
              <a:t> 字节的内存块的指针。</a:t>
            </a:r>
          </a:p>
          <a:p>
            <a:pPr lvl="2" latinLnBrk="1"/>
            <a:r>
              <a:rPr lang="en-US" altLang="zh-CN" b="1" dirty="0"/>
              <a:t>size</a:t>
            </a:r>
            <a:r>
              <a:rPr lang="zh-CN" altLang="en-US" dirty="0"/>
              <a:t> </a:t>
            </a:r>
            <a:r>
              <a:rPr lang="en-US" altLang="zh-CN" dirty="0"/>
              <a:t>-- </a:t>
            </a:r>
            <a:r>
              <a:rPr lang="zh-CN" altLang="en-US" dirty="0"/>
              <a:t>这是要读取的每个元素的大小，以字节为单位。</a:t>
            </a:r>
          </a:p>
          <a:p>
            <a:pPr lvl="2" latinLnBrk="1"/>
            <a:r>
              <a:rPr lang="en-US" altLang="zh-CN" b="1" dirty="0" err="1"/>
              <a:t>nmemb</a:t>
            </a:r>
            <a:r>
              <a:rPr lang="zh-CN" altLang="en-US" dirty="0"/>
              <a:t> </a:t>
            </a:r>
            <a:r>
              <a:rPr lang="en-US" altLang="zh-CN" dirty="0"/>
              <a:t>-- </a:t>
            </a:r>
            <a:r>
              <a:rPr lang="zh-CN" altLang="en-US" dirty="0"/>
              <a:t>这是元素的个数，每个元素的大小为 </a:t>
            </a:r>
            <a:r>
              <a:rPr lang="en-US" altLang="zh-CN" dirty="0"/>
              <a:t>size </a:t>
            </a:r>
            <a:r>
              <a:rPr lang="zh-CN" altLang="en-US" dirty="0"/>
              <a:t>字节。</a:t>
            </a:r>
            <a:endParaRPr lang="en-US" altLang="zh-CN" dirty="0"/>
          </a:p>
          <a:p>
            <a:pPr marL="914400" lvl="2" indent="0" latinLnBrk="1">
              <a:buNone/>
            </a:pPr>
            <a:endParaRPr lang="zh-CN" altLang="en-US" dirty="0"/>
          </a:p>
          <a:p>
            <a:pPr lvl="1" latinLnBrk="1"/>
            <a:r>
              <a:rPr lang="en-US" altLang="zh-CN" dirty="0" err="1">
                <a:latin typeface="Consolas" panose="020B0609020204030204" pitchFamily="49" charset="0"/>
              </a:rPr>
              <a:t>size_t</a:t>
            </a:r>
            <a:r>
              <a:rPr lang="en-US" altLang="zh-CN" dirty="0">
                <a:latin typeface="Consolas" panose="020B0609020204030204" pitchFamily="49" charset="0"/>
              </a:rPr>
              <a:t> </a:t>
            </a:r>
            <a:r>
              <a:rPr lang="en-US" altLang="zh-CN" dirty="0" err="1">
                <a:latin typeface="Consolas" panose="020B0609020204030204" pitchFamily="49" charset="0"/>
              </a:rPr>
              <a:t>fwrite</a:t>
            </a:r>
            <a:r>
              <a:rPr lang="en-US" altLang="zh-CN" dirty="0">
                <a:latin typeface="Consolas" panose="020B0609020204030204" pitchFamily="49" charset="0"/>
              </a:rPr>
              <a:t>(const void *</a:t>
            </a:r>
            <a:r>
              <a:rPr lang="en-US" altLang="zh-CN" dirty="0" err="1">
                <a:latin typeface="Consolas" panose="020B0609020204030204" pitchFamily="49" charset="0"/>
              </a:rPr>
              <a:t>ptr</a:t>
            </a:r>
            <a:r>
              <a:rPr lang="en-US" altLang="zh-CN" dirty="0">
                <a:latin typeface="Consolas" panose="020B0609020204030204" pitchFamily="49" charset="0"/>
              </a:rPr>
              <a:t>, </a:t>
            </a:r>
            <a:r>
              <a:rPr lang="en-US" altLang="zh-CN" dirty="0" err="1">
                <a:latin typeface="Consolas" panose="020B0609020204030204" pitchFamily="49" charset="0"/>
              </a:rPr>
              <a:t>size_t</a:t>
            </a:r>
            <a:r>
              <a:rPr lang="en-US" altLang="zh-CN" dirty="0">
                <a:latin typeface="Consolas" panose="020B0609020204030204" pitchFamily="49" charset="0"/>
              </a:rPr>
              <a:t> size, </a:t>
            </a:r>
            <a:r>
              <a:rPr lang="en-US" altLang="zh-CN" dirty="0" err="1">
                <a:latin typeface="Consolas" panose="020B0609020204030204" pitchFamily="49" charset="0"/>
              </a:rPr>
              <a:t>size_t</a:t>
            </a:r>
            <a:r>
              <a:rPr lang="en-US" altLang="zh-CN" dirty="0">
                <a:latin typeface="Consolas" panose="020B0609020204030204" pitchFamily="49" charset="0"/>
              </a:rPr>
              <a:t> </a:t>
            </a:r>
            <a:r>
              <a:rPr lang="en-US" altLang="zh-CN" dirty="0" err="1">
                <a:latin typeface="Consolas" panose="020B0609020204030204" pitchFamily="49" charset="0"/>
              </a:rPr>
              <a:t>nmemb</a:t>
            </a:r>
            <a:r>
              <a:rPr lang="en-US" altLang="zh-CN" dirty="0">
                <a:latin typeface="Consolas" panose="020B0609020204030204" pitchFamily="49" charset="0"/>
              </a:rPr>
              <a:t>, FILE *stream)</a:t>
            </a:r>
          </a:p>
          <a:p>
            <a:pPr lvl="2" latinLnBrk="1"/>
            <a:r>
              <a:rPr lang="zh-CN" altLang="en-US" dirty="0">
                <a:latin typeface="Consolas" panose="020B0609020204030204" pitchFamily="49" charset="0"/>
              </a:rPr>
              <a:t>同上</a:t>
            </a:r>
            <a:endParaRPr lang="en-US" altLang="zh-CN" dirty="0">
              <a:latin typeface="Consolas" panose="020B0609020204030204" pitchFamily="49" charset="0"/>
            </a:endParaRPr>
          </a:p>
        </p:txBody>
      </p:sp>
    </p:spTree>
    <p:extLst>
      <p:ext uri="{BB962C8B-B14F-4D97-AF65-F5344CB8AC3E}">
        <p14:creationId xmlns:p14="http://schemas.microsoft.com/office/powerpoint/2010/main" val="2380912888"/>
      </p:ext>
    </p:extLst>
  </p:cSld>
  <p:clrMapOvr>
    <a:masterClrMapping/>
  </p:clrMapOvr>
  <p:transition spd="slow">
    <p:push di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228851" y="1667963"/>
            <a:ext cx="3705225" cy="2910861"/>
          </a:xfrm>
          <a:prstGeom prst="rect">
            <a:avLst/>
          </a:prstGeom>
          <a:noFill/>
        </p:spPr>
        <p:txBody>
          <a:bodyPr wrap="square" rtlCol="0">
            <a:spAutoFit/>
          </a:bodyPr>
          <a:lstStyle/>
          <a:p>
            <a:pPr>
              <a:lnSpc>
                <a:spcPct val="250000"/>
              </a:lnSpc>
            </a:pPr>
            <a:r>
              <a:rPr lang="zh-CN" altLang="en-US" sz="4000" spc="600" dirty="0">
                <a:solidFill>
                  <a:srgbClr val="000000"/>
                </a:solidFill>
                <a:latin typeface="宋体" panose="02010600030101010101" pitchFamily="2" charset="-122"/>
                <a:ea typeface="宋体" panose="02010600030101010101" pitchFamily="2" charset="-122"/>
              </a:rPr>
              <a:t>旧历的年底毕竟最像年底，</a:t>
            </a:r>
            <a:endParaRPr lang="zh-CN" altLang="en-US" sz="4000" spc="600" dirty="0"/>
          </a:p>
        </p:txBody>
      </p:sp>
      <p:grpSp>
        <p:nvGrpSpPr>
          <p:cNvPr id="8" name="组合 7"/>
          <p:cNvGrpSpPr/>
          <p:nvPr/>
        </p:nvGrpSpPr>
        <p:grpSpPr>
          <a:xfrm>
            <a:off x="1818187" y="1143000"/>
            <a:ext cx="1335676" cy="1335676"/>
            <a:chOff x="398962" y="752475"/>
            <a:chExt cx="1335676" cy="1335676"/>
          </a:xfrm>
        </p:grpSpPr>
        <p:pic>
          <p:nvPicPr>
            <p:cNvPr id="6" name="图形 5" descr="指向右边的反手食指"/>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398962" y="752475"/>
              <a:ext cx="1335676" cy="1335676"/>
            </a:xfrm>
            <a:prstGeom prst="rect">
              <a:avLst/>
            </a:prstGeom>
          </p:spPr>
        </p:pic>
        <p:sp>
          <p:nvSpPr>
            <p:cNvPr id="5" name="文本框 4"/>
            <p:cNvSpPr txBox="1"/>
            <p:nvPr/>
          </p:nvSpPr>
          <p:spPr>
            <a:xfrm>
              <a:off x="642938" y="911611"/>
              <a:ext cx="733425" cy="655453"/>
            </a:xfrm>
            <a:prstGeom prst="rect">
              <a:avLst/>
            </a:prstGeom>
            <a:noFill/>
          </p:spPr>
          <p:txBody>
            <a:bodyPr wrap="square" rtlCol="0">
              <a:spAutoFit/>
            </a:bodyPr>
            <a:lstStyle/>
            <a:p>
              <a:pPr algn="ctr"/>
              <a:r>
                <a:rPr lang="en-GB" altLang="zh-CN" sz="3600" dirty="0">
                  <a:solidFill>
                    <a:schemeClr val="bg1"/>
                  </a:solidFill>
                  <a:latin typeface="Consolas" panose="020B0609020204030204" pitchFamily="49" charset="0"/>
                </a:rPr>
                <a:t>r</a:t>
              </a:r>
              <a:endParaRPr lang="zh-CN" altLang="en-US" sz="3600" dirty="0">
                <a:solidFill>
                  <a:schemeClr val="bg1"/>
                </a:solidFill>
                <a:latin typeface="Consolas" panose="020B0609020204030204" pitchFamily="49" charset="0"/>
              </a:endParaRPr>
            </a:p>
          </p:txBody>
        </p:sp>
      </p:grpSp>
      <p:sp>
        <p:nvSpPr>
          <p:cNvPr id="9" name="文本框 8"/>
          <p:cNvSpPr txBox="1"/>
          <p:nvPr/>
        </p:nvSpPr>
        <p:spPr>
          <a:xfrm>
            <a:off x="7154364" y="1382213"/>
            <a:ext cx="3152775" cy="3416320"/>
          </a:xfrm>
          <a:prstGeom prst="rect">
            <a:avLst/>
          </a:prstGeom>
          <a:noFill/>
        </p:spPr>
        <p:txBody>
          <a:bodyPr wrap="square" rtlCol="0">
            <a:spAutoFit/>
          </a:bodyPr>
          <a:lstStyle/>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a:t>
            </a:r>
            <a:r>
              <a:rPr lang="zh-CN" altLang="en-US" sz="2400" dirty="0">
                <a:latin typeface="Consolas" panose="020B0609020204030204" pitchFamily="49" charset="0"/>
              </a:rPr>
              <a:t>旧</a:t>
            </a:r>
            <a:r>
              <a:rPr lang="en-US" altLang="zh-CN" sz="2400" dirty="0">
                <a:latin typeface="Consolas" panose="020B0609020204030204" pitchFamily="49" charset="0"/>
              </a:rPr>
              <a:t>"</a:t>
            </a:r>
          </a:p>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a:t>
            </a:r>
            <a:r>
              <a:rPr lang="zh-CN" altLang="en-US" sz="2400" dirty="0">
                <a:latin typeface="Consolas" panose="020B0609020204030204" pitchFamily="49" charset="0"/>
              </a:rPr>
              <a:t>历</a:t>
            </a:r>
            <a:r>
              <a:rPr lang="en-US" altLang="zh-CN" sz="2400" dirty="0">
                <a:latin typeface="Consolas" panose="020B0609020204030204" pitchFamily="49" charset="0"/>
              </a:rPr>
              <a:t>"</a:t>
            </a:r>
          </a:p>
          <a:p>
            <a:r>
              <a:rPr lang="en-US" altLang="zh-CN" sz="2400" dirty="0">
                <a:latin typeface="Consolas" panose="020B0609020204030204" pitchFamily="49" charset="0"/>
              </a:rPr>
              <a:t>……</a:t>
            </a:r>
          </a:p>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'\n'</a:t>
            </a:r>
            <a:endParaRPr lang="en-GB" altLang="zh-CN" sz="2400" dirty="0">
              <a:latin typeface="Consolas" panose="020B0609020204030204" pitchFamily="49" charset="0"/>
            </a:endParaRPr>
          </a:p>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EOF</a:t>
            </a:r>
          </a:p>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EOF</a:t>
            </a:r>
          </a:p>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EOF</a:t>
            </a:r>
          </a:p>
          <a:p>
            <a:r>
              <a:rPr lang="en-US" altLang="zh-CN" sz="2400" dirty="0">
                <a:latin typeface="Consolas" panose="020B0609020204030204" pitchFamily="49" charset="0"/>
              </a:rPr>
              <a:t>rewind(</a:t>
            </a:r>
            <a:r>
              <a:rPr lang="en-US" altLang="zh-CN" sz="2400" dirty="0" err="1">
                <a:latin typeface="Consolas" panose="020B0609020204030204" pitchFamily="49" charset="0"/>
              </a:rPr>
              <a:t>fp</a:t>
            </a:r>
            <a:r>
              <a:rPr lang="en-US" altLang="zh-CN" sz="2400" dirty="0">
                <a:latin typeface="Consolas" panose="020B0609020204030204" pitchFamily="49" charset="0"/>
              </a:rPr>
              <a:t>);</a:t>
            </a:r>
          </a:p>
          <a:p>
            <a:r>
              <a:rPr lang="en-GB" altLang="zh-CN" sz="2400" dirty="0" err="1">
                <a:latin typeface="Consolas" panose="020B0609020204030204" pitchFamily="49" charset="0"/>
              </a:rPr>
              <a:t>fgetc</a:t>
            </a:r>
            <a:r>
              <a:rPr lang="en-GB" altLang="zh-CN" sz="2400" dirty="0">
                <a:latin typeface="Consolas" panose="020B0609020204030204" pitchFamily="49" charset="0"/>
              </a:rPr>
              <a:t>(</a:t>
            </a:r>
            <a:r>
              <a:rPr lang="en-GB" altLang="zh-CN" sz="2400" dirty="0" err="1">
                <a:latin typeface="Consolas" panose="020B0609020204030204" pitchFamily="49" charset="0"/>
              </a:rPr>
              <a:t>fp</a:t>
            </a:r>
            <a:r>
              <a:rPr lang="en-GB"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latin typeface="Consolas" panose="020B0609020204030204" pitchFamily="49" charset="0"/>
              </a:rPr>
              <a:t>"</a:t>
            </a:r>
            <a:r>
              <a:rPr lang="zh-CN" altLang="en-US" sz="2400" dirty="0">
                <a:latin typeface="Consolas" panose="020B0609020204030204" pitchFamily="49" charset="0"/>
              </a:rPr>
              <a:t>旧</a:t>
            </a:r>
            <a:r>
              <a:rPr lang="en-US" altLang="zh-CN" sz="2400" dirty="0">
                <a:latin typeface="Consolas" panose="020B0609020204030204" pitchFamily="49" charset="0"/>
              </a:rPr>
              <a:t>"</a:t>
            </a:r>
          </a:p>
        </p:txBody>
      </p:sp>
      <p:sp>
        <p:nvSpPr>
          <p:cNvPr id="10" name="文本框 9"/>
          <p:cNvSpPr txBox="1"/>
          <p:nvPr/>
        </p:nvSpPr>
        <p:spPr>
          <a:xfrm>
            <a:off x="6662737" y="5679977"/>
            <a:ext cx="3524250" cy="646331"/>
          </a:xfrm>
          <a:prstGeom prst="rect">
            <a:avLst/>
          </a:prstGeom>
          <a:noFill/>
        </p:spPr>
        <p:txBody>
          <a:bodyPr wrap="square" rtlCol="0" anchor="ctr">
            <a:spAutoFit/>
          </a:bodyPr>
          <a:lstStyle>
            <a:defPPr>
              <a:defRPr lang="zh-CN"/>
            </a:defPPr>
            <a:lvl1pPr algn="just" eaLnBrk="1">
              <a:defRPr>
                <a:solidFill>
                  <a:schemeClr val="bg1">
                    <a:lumMod val="50000"/>
                  </a:schemeClr>
                </a:solidFill>
              </a:defRPr>
            </a:lvl1pPr>
          </a:lstStyle>
          <a:p>
            <a:r>
              <a:rPr lang="zh-CN" altLang="en-US" dirty="0"/>
              <a:t>实际汉字占多个字节，需多次读取才能拼成一个汉字。</a:t>
            </a:r>
          </a:p>
        </p:txBody>
      </p:sp>
      <p:sp>
        <p:nvSpPr>
          <p:cNvPr id="14" name="标题 4">
            <a:extLst>
              <a:ext uri="{FF2B5EF4-FFF2-40B4-BE49-F238E27FC236}">
                <a16:creationId xmlns:a16="http://schemas.microsoft.com/office/drawing/2014/main" id="{3E67BF14-18CE-1314-7B16-03977933CF14}"/>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读写</a:t>
            </a:r>
          </a:p>
        </p:txBody>
      </p:sp>
      <p:sp>
        <p:nvSpPr>
          <p:cNvPr id="11" name="文本框 10">
            <a:extLst>
              <a:ext uri="{FF2B5EF4-FFF2-40B4-BE49-F238E27FC236}">
                <a16:creationId xmlns:a16="http://schemas.microsoft.com/office/drawing/2014/main" id="{F722F766-1B9A-6091-A6EE-9EB1199D3087}"/>
              </a:ext>
            </a:extLst>
          </p:cNvPr>
          <p:cNvSpPr txBox="1"/>
          <p:nvPr/>
        </p:nvSpPr>
        <p:spPr>
          <a:xfrm>
            <a:off x="2714129" y="5201921"/>
            <a:ext cx="1555234" cy="707886"/>
          </a:xfrm>
          <a:prstGeom prst="rect">
            <a:avLst/>
          </a:prstGeom>
          <a:noFill/>
        </p:spPr>
        <p:txBody>
          <a:bodyPr wrap="none" rtlCol="0">
            <a:spAutoFit/>
          </a:bodyPr>
          <a:lstStyle/>
          <a:p>
            <a:r>
              <a:rPr lang="zh-CN" altLang="en-US" sz="4000" spc="600" dirty="0">
                <a:solidFill>
                  <a:srgbClr val="000000"/>
                </a:solidFill>
                <a:latin typeface="宋体" panose="02010600030101010101" pitchFamily="2" charset="-122"/>
                <a:ea typeface="宋体" panose="02010600030101010101" pitchFamily="2" charset="-122"/>
              </a:rPr>
              <a:t>⏎🔚</a:t>
            </a:r>
            <a:endParaRPr lang="zh-CN" altLang="en-US" sz="40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anim calcmode="lin" valueType="num">
                                      <p:cBhvr>
                                        <p:cTn id="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42" presetClass="path" presetSubtype="0" accel="50000" decel="50000" fill="hold" nodeType="withEffect">
                                  <p:stCondLst>
                                    <p:cond delay="0"/>
                                  </p:stCondLst>
                                  <p:childTnLst>
                                    <p:animMotion origin="layout" path="M 1.66667E-6 1.11111E-6 L 0.06146 -0.00139 " pathEditMode="relative" rAng="0" ptsTypes="AA">
                                      <p:cBhvr>
                                        <p:cTn id="14" dur="500" fill="hold"/>
                                        <p:tgtEl>
                                          <p:spTgt spid="8"/>
                                        </p:tgtEl>
                                        <p:attrNameLst>
                                          <p:attrName>ppt_x</p:attrName>
                                          <p:attrName>ppt_y</p:attrName>
                                        </p:attrNameLst>
                                      </p:cBhvr>
                                      <p:rCtr x="3073" y="-69"/>
                                    </p:animMotion>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fade">
                                      <p:cBhvr>
                                        <p:cTn id="19" dur="500"/>
                                        <p:tgtEl>
                                          <p:spTgt spid="9">
                                            <p:txEl>
                                              <p:pRg st="1" end="1"/>
                                            </p:txEl>
                                          </p:spTgt>
                                        </p:tgtEl>
                                      </p:cBhvr>
                                    </p:animEffect>
                                    <p:anim calcmode="lin" valueType="num">
                                      <p:cBhvr>
                                        <p:cTn id="20"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9">
                                            <p:txEl>
                                              <p:pRg st="1" end="1"/>
                                            </p:txEl>
                                          </p:spTgt>
                                        </p:tgtEl>
                                        <p:attrNameLst>
                                          <p:attrName>ppt_y</p:attrName>
                                        </p:attrNameLst>
                                      </p:cBhvr>
                                      <p:tavLst>
                                        <p:tav tm="0">
                                          <p:val>
                                            <p:strVal val="#ppt_y+.1"/>
                                          </p:val>
                                        </p:tav>
                                        <p:tav tm="100000">
                                          <p:val>
                                            <p:strVal val="#ppt_y"/>
                                          </p:val>
                                        </p:tav>
                                      </p:tavLst>
                                    </p:anim>
                                  </p:childTnLst>
                                </p:cTn>
                              </p:par>
                              <p:par>
                                <p:cTn id="22" presetID="42" presetClass="path" presetSubtype="0" accel="50000" decel="50000" fill="hold" nodeType="withEffect">
                                  <p:stCondLst>
                                    <p:cond delay="0"/>
                                  </p:stCondLst>
                                  <p:childTnLst>
                                    <p:animMotion origin="layout" path="M 0.06146 -0.00139 L 0.12604 1.11111E-6 " pathEditMode="relative" rAng="0" ptsTypes="AA">
                                      <p:cBhvr>
                                        <p:cTn id="23" dur="500" fill="hold"/>
                                        <p:tgtEl>
                                          <p:spTgt spid="8"/>
                                        </p:tgtEl>
                                        <p:attrNameLst>
                                          <p:attrName>ppt_x</p:attrName>
                                          <p:attrName>ppt_y</p:attrName>
                                        </p:attrNameLst>
                                      </p:cBhvr>
                                      <p:rCtr x="3229" y="69"/>
                                    </p:animMotion>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500"/>
                                        <p:tgtEl>
                                          <p:spTgt spid="9">
                                            <p:txEl>
                                              <p:pRg st="2" end="2"/>
                                            </p:txEl>
                                          </p:spTgt>
                                        </p:tgtEl>
                                      </p:cBhvr>
                                    </p:animEffect>
                                    <p:anim calcmode="lin" valueType="num">
                                      <p:cBhvr>
                                        <p:cTn id="2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9">
                                            <p:txEl>
                                              <p:pRg st="2" end="2"/>
                                            </p:txEl>
                                          </p:spTgt>
                                        </p:tgtEl>
                                        <p:attrNameLst>
                                          <p:attrName>ppt_y</p:attrName>
                                        </p:attrNameLst>
                                      </p:cBhvr>
                                      <p:tavLst>
                                        <p:tav tm="0">
                                          <p:val>
                                            <p:strVal val="#ppt_y+.1"/>
                                          </p:val>
                                        </p:tav>
                                        <p:tav tm="100000">
                                          <p:val>
                                            <p:strVal val="#ppt_y"/>
                                          </p:val>
                                        </p:tav>
                                      </p:tavLst>
                                    </p:anim>
                                  </p:childTnLst>
                                </p:cTn>
                              </p:par>
                              <p:par>
                                <p:cTn id="31" presetID="0" presetClass="path" presetSubtype="0" fill="hold" nodeType="withEffect">
                                  <p:stCondLst>
                                    <p:cond delay="0"/>
                                  </p:stCondLst>
                                  <p:childTnLst>
                                    <p:animMotion origin="layout" path="M 0.12604 1.11111E-6 L 0.33125 -0.00116 L 0.0125 0.21875 L 0.31979 0.2243 L 0.01562 0.43634 " pathEditMode="relative" rAng="0" ptsTypes="AAAAA">
                                      <p:cBhvr>
                                        <p:cTn id="32" dur="1000" fill="hold"/>
                                        <p:tgtEl>
                                          <p:spTgt spid="8"/>
                                        </p:tgtEl>
                                        <p:attrNameLst>
                                          <p:attrName>ppt_x</p:attrName>
                                          <p:attrName>ppt_y</p:attrName>
                                        </p:attrNameLst>
                                      </p:cBhvr>
                                      <p:rCtr x="4583" y="21759"/>
                                    </p:animMotion>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animEffect transition="in" filter="fade">
                                      <p:cBhvr>
                                        <p:cTn id="37" dur="500"/>
                                        <p:tgtEl>
                                          <p:spTgt spid="9">
                                            <p:txEl>
                                              <p:pRg st="3" end="3"/>
                                            </p:txEl>
                                          </p:spTgt>
                                        </p:tgtEl>
                                      </p:cBhvr>
                                    </p:animEffect>
                                    <p:anim calcmode="lin" valueType="num">
                                      <p:cBhvr>
                                        <p:cTn id="38"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9" dur="500" fill="hold"/>
                                        <p:tgtEl>
                                          <p:spTgt spid="9">
                                            <p:txEl>
                                              <p:pRg st="3" end="3"/>
                                            </p:txEl>
                                          </p:spTgt>
                                        </p:tgtEl>
                                        <p:attrNameLst>
                                          <p:attrName>ppt_y</p:attrName>
                                        </p:attrNameLst>
                                      </p:cBhvr>
                                      <p:tavLst>
                                        <p:tav tm="0">
                                          <p:val>
                                            <p:strVal val="#ppt_y+.1"/>
                                          </p:val>
                                        </p:tav>
                                        <p:tav tm="100000">
                                          <p:val>
                                            <p:strVal val="#ppt_y"/>
                                          </p:val>
                                        </p:tav>
                                      </p:tavLst>
                                    </p:anim>
                                  </p:childTnLst>
                                </p:cTn>
                              </p:par>
                              <p:par>
                                <p:cTn id="40" presetID="42" presetClass="path" presetSubtype="0" accel="50000" decel="50000" fill="hold" nodeType="withEffect">
                                  <p:stCondLst>
                                    <p:cond delay="0"/>
                                  </p:stCondLst>
                                  <p:childTnLst>
                                    <p:animMotion origin="layout" path="M 0.01562 0.43634 L 0.07309 0.43194 " pathEditMode="relative" rAng="0" ptsTypes="AA">
                                      <p:cBhvr>
                                        <p:cTn id="41" dur="500" fill="hold"/>
                                        <p:tgtEl>
                                          <p:spTgt spid="8"/>
                                        </p:tgtEl>
                                        <p:attrNameLst>
                                          <p:attrName>ppt_x</p:attrName>
                                          <p:attrName>ppt_y</p:attrName>
                                        </p:attrNameLst>
                                      </p:cBhvr>
                                      <p:rCtr x="2865" y="-231"/>
                                    </p:animMotion>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9">
                                            <p:txEl>
                                              <p:pRg st="4" end="4"/>
                                            </p:txEl>
                                          </p:spTgt>
                                        </p:tgtEl>
                                        <p:attrNameLst>
                                          <p:attrName>style.visibility</p:attrName>
                                        </p:attrNameLst>
                                      </p:cBhvr>
                                      <p:to>
                                        <p:strVal val="visible"/>
                                      </p:to>
                                    </p:set>
                                    <p:animEffect transition="in" filter="fade">
                                      <p:cBhvr>
                                        <p:cTn id="46" dur="500"/>
                                        <p:tgtEl>
                                          <p:spTgt spid="9">
                                            <p:txEl>
                                              <p:pRg st="4" end="4"/>
                                            </p:txEl>
                                          </p:spTgt>
                                        </p:tgtEl>
                                      </p:cBhvr>
                                    </p:animEffect>
                                    <p:anim calcmode="lin" valueType="num">
                                      <p:cBhvr>
                                        <p:cTn id="4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48" dur="500" fill="hold"/>
                                        <p:tgtEl>
                                          <p:spTgt spid="9">
                                            <p:txEl>
                                              <p:pRg st="4" end="4"/>
                                            </p:txEl>
                                          </p:spTgt>
                                        </p:tgtEl>
                                        <p:attrNameLst>
                                          <p:attrName>ppt_y</p:attrName>
                                        </p:attrNameLst>
                                      </p:cBhvr>
                                      <p:tavLst>
                                        <p:tav tm="0">
                                          <p:val>
                                            <p:strVal val="#ppt_y+.1"/>
                                          </p:val>
                                        </p:tav>
                                        <p:tav tm="100000">
                                          <p:val>
                                            <p:strVal val="#ppt_y"/>
                                          </p:val>
                                        </p:tav>
                                      </p:tavLst>
                                    </p:anim>
                                  </p:childTnLst>
                                </p:cTn>
                              </p:par>
                              <p:par>
                                <p:cTn id="49" presetID="26" presetClass="emph" presetSubtype="0" fill="hold" nodeType="withEffect">
                                  <p:stCondLst>
                                    <p:cond delay="0"/>
                                  </p:stCondLst>
                                  <p:childTnLst>
                                    <p:animEffect transition="out" filter="fade">
                                      <p:cBhvr>
                                        <p:cTn id="50" dur="500" tmFilter="0, 0; .2, .5; .8, .5; 1, 0"/>
                                        <p:tgtEl>
                                          <p:spTgt spid="8"/>
                                        </p:tgtEl>
                                      </p:cBhvr>
                                    </p:animEffect>
                                    <p:animScale>
                                      <p:cBhvr>
                                        <p:cTn id="51" dur="250" autoRev="1" fill="hold"/>
                                        <p:tgtEl>
                                          <p:spTgt spid="8"/>
                                        </p:tgtEl>
                                      </p:cBhvr>
                                      <p:by x="105000" y="105000"/>
                                    </p:animScale>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xEl>
                                              <p:pRg st="5" end="5"/>
                                            </p:txEl>
                                          </p:spTgt>
                                        </p:tgtEl>
                                        <p:attrNameLst>
                                          <p:attrName>style.visibility</p:attrName>
                                        </p:attrNameLst>
                                      </p:cBhvr>
                                      <p:to>
                                        <p:strVal val="visible"/>
                                      </p:to>
                                    </p:set>
                                    <p:animEffect transition="in" filter="fade">
                                      <p:cBhvr>
                                        <p:cTn id="56" dur="500"/>
                                        <p:tgtEl>
                                          <p:spTgt spid="9">
                                            <p:txEl>
                                              <p:pRg st="5" end="5"/>
                                            </p:txEl>
                                          </p:spTgt>
                                        </p:tgtEl>
                                      </p:cBhvr>
                                    </p:animEffect>
                                    <p:anim calcmode="lin" valueType="num">
                                      <p:cBhvr>
                                        <p:cTn id="5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58" dur="500" fill="hold"/>
                                        <p:tgtEl>
                                          <p:spTgt spid="9">
                                            <p:txEl>
                                              <p:pRg st="5" end="5"/>
                                            </p:txEl>
                                          </p:spTgt>
                                        </p:tgtEl>
                                        <p:attrNameLst>
                                          <p:attrName>ppt_y</p:attrName>
                                        </p:attrNameLst>
                                      </p:cBhvr>
                                      <p:tavLst>
                                        <p:tav tm="0">
                                          <p:val>
                                            <p:strVal val="#ppt_y+.1"/>
                                          </p:val>
                                        </p:tav>
                                        <p:tav tm="100000">
                                          <p:val>
                                            <p:strVal val="#ppt_y"/>
                                          </p:val>
                                        </p:tav>
                                      </p:tavLst>
                                    </p:anim>
                                  </p:childTnLst>
                                </p:cTn>
                              </p:par>
                              <p:par>
                                <p:cTn id="59" presetID="26" presetClass="emph" presetSubtype="0" fill="hold" nodeType="withEffect">
                                  <p:stCondLst>
                                    <p:cond delay="0"/>
                                  </p:stCondLst>
                                  <p:childTnLst>
                                    <p:animEffect transition="out" filter="fade">
                                      <p:cBhvr>
                                        <p:cTn id="60" dur="500" tmFilter="0, 0; .2, .5; .8, .5; 1, 0"/>
                                        <p:tgtEl>
                                          <p:spTgt spid="8"/>
                                        </p:tgtEl>
                                      </p:cBhvr>
                                    </p:animEffect>
                                    <p:animScale>
                                      <p:cBhvr>
                                        <p:cTn id="61" dur="250" autoRev="1" fill="hold"/>
                                        <p:tgtEl>
                                          <p:spTgt spid="8"/>
                                        </p:tgtEl>
                                      </p:cBhvr>
                                      <p:by x="105000" y="105000"/>
                                    </p:animScale>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9">
                                            <p:txEl>
                                              <p:pRg st="6" end="6"/>
                                            </p:txEl>
                                          </p:spTgt>
                                        </p:tgtEl>
                                        <p:attrNameLst>
                                          <p:attrName>style.visibility</p:attrName>
                                        </p:attrNameLst>
                                      </p:cBhvr>
                                      <p:to>
                                        <p:strVal val="visible"/>
                                      </p:to>
                                    </p:set>
                                    <p:animEffect transition="in" filter="fade">
                                      <p:cBhvr>
                                        <p:cTn id="66" dur="500"/>
                                        <p:tgtEl>
                                          <p:spTgt spid="9">
                                            <p:txEl>
                                              <p:pRg st="6" end="6"/>
                                            </p:txEl>
                                          </p:spTgt>
                                        </p:tgtEl>
                                      </p:cBhvr>
                                    </p:animEffect>
                                    <p:anim calcmode="lin" valueType="num">
                                      <p:cBhvr>
                                        <p:cTn id="67"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68" dur="500" fill="hold"/>
                                        <p:tgtEl>
                                          <p:spTgt spid="9">
                                            <p:txEl>
                                              <p:pRg st="6" end="6"/>
                                            </p:txEl>
                                          </p:spTgt>
                                        </p:tgtEl>
                                        <p:attrNameLst>
                                          <p:attrName>ppt_y</p:attrName>
                                        </p:attrNameLst>
                                      </p:cBhvr>
                                      <p:tavLst>
                                        <p:tav tm="0">
                                          <p:val>
                                            <p:strVal val="#ppt_y+.1"/>
                                          </p:val>
                                        </p:tav>
                                        <p:tav tm="100000">
                                          <p:val>
                                            <p:strVal val="#ppt_y"/>
                                          </p:val>
                                        </p:tav>
                                      </p:tavLst>
                                    </p:anim>
                                  </p:childTnLst>
                                </p:cTn>
                              </p:par>
                              <p:par>
                                <p:cTn id="69" presetID="26" presetClass="emph" presetSubtype="0" fill="hold" nodeType="withEffect">
                                  <p:stCondLst>
                                    <p:cond delay="0"/>
                                  </p:stCondLst>
                                  <p:childTnLst>
                                    <p:animEffect transition="out" filter="fade">
                                      <p:cBhvr>
                                        <p:cTn id="70" dur="500" tmFilter="0, 0; .2, .5; .8, .5; 1, 0"/>
                                        <p:tgtEl>
                                          <p:spTgt spid="8"/>
                                        </p:tgtEl>
                                      </p:cBhvr>
                                    </p:animEffect>
                                    <p:animScale>
                                      <p:cBhvr>
                                        <p:cTn id="71" dur="250" autoRev="1" fill="hold"/>
                                        <p:tgtEl>
                                          <p:spTgt spid="8"/>
                                        </p:tgtEl>
                                      </p:cBhvr>
                                      <p:by x="105000" y="105000"/>
                                    </p:animScale>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9">
                                            <p:txEl>
                                              <p:pRg st="7" end="7"/>
                                            </p:txEl>
                                          </p:spTgt>
                                        </p:tgtEl>
                                        <p:attrNameLst>
                                          <p:attrName>style.visibility</p:attrName>
                                        </p:attrNameLst>
                                      </p:cBhvr>
                                      <p:to>
                                        <p:strVal val="visible"/>
                                      </p:to>
                                    </p:set>
                                    <p:animEffect transition="in" filter="fade">
                                      <p:cBhvr>
                                        <p:cTn id="76" dur="500"/>
                                        <p:tgtEl>
                                          <p:spTgt spid="9">
                                            <p:txEl>
                                              <p:pRg st="7" end="7"/>
                                            </p:txEl>
                                          </p:spTgt>
                                        </p:tgtEl>
                                      </p:cBhvr>
                                    </p:animEffect>
                                    <p:anim calcmode="lin" valueType="num">
                                      <p:cBhvr>
                                        <p:cTn id="77"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78" dur="500" fill="hold"/>
                                        <p:tgtEl>
                                          <p:spTgt spid="9">
                                            <p:txEl>
                                              <p:pRg st="7" end="7"/>
                                            </p:txEl>
                                          </p:spTgt>
                                        </p:tgtEl>
                                        <p:attrNameLst>
                                          <p:attrName>ppt_y</p:attrName>
                                        </p:attrNameLst>
                                      </p:cBhvr>
                                      <p:tavLst>
                                        <p:tav tm="0">
                                          <p:val>
                                            <p:strVal val="#ppt_y+.1"/>
                                          </p:val>
                                        </p:tav>
                                        <p:tav tm="100000">
                                          <p:val>
                                            <p:strVal val="#ppt_y"/>
                                          </p:val>
                                        </p:tav>
                                      </p:tavLst>
                                    </p:anim>
                                  </p:childTnLst>
                                </p:cTn>
                              </p:par>
                              <p:par>
                                <p:cTn id="79" presetID="42" presetClass="path" presetSubtype="0" accel="50000" decel="50000" fill="hold" nodeType="withEffect">
                                  <p:stCondLst>
                                    <p:cond delay="0"/>
                                  </p:stCondLst>
                                  <p:childTnLst>
                                    <p:animMotion origin="layout" path="M 0.07309 0.43194 L 1.66667E-6 1.11111E-6 " pathEditMode="relative" rAng="0" ptsTypes="AA">
                                      <p:cBhvr>
                                        <p:cTn id="80" dur="500" fill="hold"/>
                                        <p:tgtEl>
                                          <p:spTgt spid="8"/>
                                        </p:tgtEl>
                                        <p:attrNameLst>
                                          <p:attrName>ppt_x</p:attrName>
                                          <p:attrName>ppt_y</p:attrName>
                                        </p:attrNameLst>
                                      </p:cBhvr>
                                      <p:rCtr x="-3663" y="-21597"/>
                                    </p:animMotion>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9">
                                            <p:txEl>
                                              <p:pRg st="8" end="8"/>
                                            </p:txEl>
                                          </p:spTgt>
                                        </p:tgtEl>
                                        <p:attrNameLst>
                                          <p:attrName>style.visibility</p:attrName>
                                        </p:attrNameLst>
                                      </p:cBhvr>
                                      <p:to>
                                        <p:strVal val="visible"/>
                                      </p:to>
                                    </p:set>
                                    <p:animEffect transition="in" filter="fade">
                                      <p:cBhvr>
                                        <p:cTn id="85" dur="500"/>
                                        <p:tgtEl>
                                          <p:spTgt spid="9">
                                            <p:txEl>
                                              <p:pRg st="8" end="8"/>
                                            </p:txEl>
                                          </p:spTgt>
                                        </p:tgtEl>
                                      </p:cBhvr>
                                    </p:animEffect>
                                    <p:anim calcmode="lin" valueType="num">
                                      <p:cBhvr>
                                        <p:cTn id="86"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87" dur="500" fill="hold"/>
                                        <p:tgtEl>
                                          <p:spTgt spid="9">
                                            <p:txEl>
                                              <p:pRg st="8" end="8"/>
                                            </p:txEl>
                                          </p:spTgt>
                                        </p:tgtEl>
                                        <p:attrNameLst>
                                          <p:attrName>ppt_y</p:attrName>
                                        </p:attrNameLst>
                                      </p:cBhvr>
                                      <p:tavLst>
                                        <p:tav tm="0">
                                          <p:val>
                                            <p:strVal val="#ppt_y+.1"/>
                                          </p:val>
                                        </p:tav>
                                        <p:tav tm="100000">
                                          <p:val>
                                            <p:strVal val="#ppt_y"/>
                                          </p:val>
                                        </p:tav>
                                      </p:tavLst>
                                    </p:anim>
                                  </p:childTnLst>
                                </p:cTn>
                              </p:par>
                              <p:par>
                                <p:cTn id="88" presetID="42" presetClass="path" presetSubtype="0" accel="50000" decel="50000" fill="hold" nodeType="withEffect">
                                  <p:stCondLst>
                                    <p:cond delay="0"/>
                                  </p:stCondLst>
                                  <p:childTnLst>
                                    <p:animMotion origin="layout" path="M 1.66667E-6 1.11111E-6 L 0.06146 -0.00139 " pathEditMode="relative" rAng="0" ptsTypes="AA">
                                      <p:cBhvr>
                                        <p:cTn id="89" dur="500" fill="hold"/>
                                        <p:tgtEl>
                                          <p:spTgt spid="8"/>
                                        </p:tgtEl>
                                        <p:attrNameLst>
                                          <p:attrName>ppt_x</p:attrName>
                                          <p:attrName>ppt_y</p:attrName>
                                        </p:attrNameLst>
                                      </p:cBhvr>
                                      <p:rCtr x="3073"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sz="quarter" idx="4294967295"/>
          </p:nvPr>
        </p:nvPicPr>
        <p:blipFill>
          <a:blip r:embed="rId2">
            <a:clrChange>
              <a:clrFrom>
                <a:srgbClr val="FFFFFF"/>
              </a:clrFrom>
              <a:clrTo>
                <a:srgbClr val="FFFFFF">
                  <a:alpha val="0"/>
                </a:srgbClr>
              </a:clrTo>
            </a:clrChange>
          </a:blip>
          <a:stretch>
            <a:fillRect/>
          </a:stretch>
        </p:blipFill>
        <p:spPr>
          <a:xfrm>
            <a:off x="517075" y="977767"/>
            <a:ext cx="6125918" cy="5312704"/>
          </a:xfrm>
        </p:spPr>
      </p:pic>
      <p:pic>
        <p:nvPicPr>
          <p:cNvPr id="5" name="图形 5" descr="指向右边的反手食指">
            <a:extLst>
              <a:ext uri="{FF2B5EF4-FFF2-40B4-BE49-F238E27FC236}">
                <a16:creationId xmlns:a16="http://schemas.microsoft.com/office/drawing/2014/main" id="{6F23989B-9C6B-9C07-4207-8ACC65396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075" y="1340720"/>
            <a:ext cx="642515" cy="642515"/>
          </a:xfrm>
          <a:prstGeom prst="rect">
            <a:avLst/>
          </a:prstGeom>
        </p:spPr>
      </p:pic>
      <p:sp>
        <p:nvSpPr>
          <p:cNvPr id="9" name="文本框 8">
            <a:extLst>
              <a:ext uri="{FF2B5EF4-FFF2-40B4-BE49-F238E27FC236}">
                <a16:creationId xmlns:a16="http://schemas.microsoft.com/office/drawing/2014/main" id="{E61AEB69-2942-3409-3573-DF29E2788F58}"/>
              </a:ext>
            </a:extLst>
          </p:cNvPr>
          <p:cNvSpPr txBox="1"/>
          <p:nvPr/>
        </p:nvSpPr>
        <p:spPr>
          <a:xfrm>
            <a:off x="8054325" y="813134"/>
            <a:ext cx="669029" cy="369332"/>
          </a:xfrm>
          <a:prstGeom prst="rect">
            <a:avLst/>
          </a:prstGeom>
          <a:noFill/>
        </p:spPr>
        <p:txBody>
          <a:bodyPr wrap="none" rtlCol="0">
            <a:spAutoFit/>
          </a:bodyPr>
          <a:lstStyle/>
          <a:p>
            <a:r>
              <a:rPr lang="en-US" altLang="zh-CN" dirty="0"/>
              <a:t>4.txt</a:t>
            </a:r>
            <a:endParaRPr lang="zh-CN" altLang="en-US" dirty="0"/>
          </a:p>
        </p:txBody>
      </p:sp>
      <p:sp>
        <p:nvSpPr>
          <p:cNvPr id="10" name="文本框 9">
            <a:extLst>
              <a:ext uri="{FF2B5EF4-FFF2-40B4-BE49-F238E27FC236}">
                <a16:creationId xmlns:a16="http://schemas.microsoft.com/office/drawing/2014/main" id="{090A0BCE-DFE9-89A8-A89D-AA3F231DB998}"/>
              </a:ext>
            </a:extLst>
          </p:cNvPr>
          <p:cNvSpPr txBox="1"/>
          <p:nvPr/>
        </p:nvSpPr>
        <p:spPr>
          <a:xfrm>
            <a:off x="5600049" y="1387493"/>
            <a:ext cx="2307042" cy="369332"/>
          </a:xfrm>
          <a:prstGeom prst="rect">
            <a:avLst/>
          </a:prstGeom>
          <a:noFill/>
        </p:spPr>
        <p:txBody>
          <a:bodyPr wrap="none" rtlCol="0">
            <a:spAutoFit/>
          </a:bodyPr>
          <a:lstStyle/>
          <a:p>
            <a:r>
              <a:rPr lang="zh-CN" altLang="en-US" dirty="0">
                <a:latin typeface="Consolas" panose="020B0609020204030204" pitchFamily="49" charset="0"/>
              </a:rPr>
              <a:t>这个字符很重要 →</a:t>
            </a:r>
            <a:r>
              <a:rPr lang="en-US" altLang="zh-CN" dirty="0">
                <a:latin typeface="Consolas" panose="020B0609020204030204" pitchFamily="49" charset="0"/>
              </a:rPr>
              <a:t>_→</a:t>
            </a:r>
            <a:endParaRPr lang="en-US" altLang="zh-CN" dirty="0"/>
          </a:p>
        </p:txBody>
      </p:sp>
      <p:sp>
        <p:nvSpPr>
          <p:cNvPr id="13" name="文本框 12">
            <a:extLst>
              <a:ext uri="{FF2B5EF4-FFF2-40B4-BE49-F238E27FC236}">
                <a16:creationId xmlns:a16="http://schemas.microsoft.com/office/drawing/2014/main" id="{EC4F9C71-D554-1351-1F0D-D3CB2AD2C91B}"/>
              </a:ext>
            </a:extLst>
          </p:cNvPr>
          <p:cNvSpPr txBox="1"/>
          <p:nvPr/>
        </p:nvSpPr>
        <p:spPr>
          <a:xfrm>
            <a:off x="7784158" y="1428216"/>
            <a:ext cx="270167" cy="369332"/>
          </a:xfrm>
          <a:prstGeom prst="rect">
            <a:avLst/>
          </a:prstGeom>
          <a:noFill/>
        </p:spPr>
        <p:txBody>
          <a:bodyPr wrap="square" rtlCol="0">
            <a:spAutoFit/>
          </a:bodyPr>
          <a:lstStyle/>
          <a:p>
            <a:r>
              <a:rPr lang="en-US" altLang="zh-CN" dirty="0"/>
              <a:t>!</a:t>
            </a:r>
            <a:endParaRPr lang="zh-CN" altLang="en-US" dirty="0"/>
          </a:p>
        </p:txBody>
      </p:sp>
      <p:sp>
        <p:nvSpPr>
          <p:cNvPr id="14" name="文本框 13">
            <a:extLst>
              <a:ext uri="{FF2B5EF4-FFF2-40B4-BE49-F238E27FC236}">
                <a16:creationId xmlns:a16="http://schemas.microsoft.com/office/drawing/2014/main" id="{F2A4BA19-F8C9-D305-3B98-795066F8E2DB}"/>
              </a:ext>
            </a:extLst>
          </p:cNvPr>
          <p:cNvSpPr txBox="1"/>
          <p:nvPr/>
        </p:nvSpPr>
        <p:spPr>
          <a:xfrm>
            <a:off x="8004501" y="1387493"/>
            <a:ext cx="3768143" cy="646331"/>
          </a:xfrm>
          <a:prstGeom prst="rect">
            <a:avLst/>
          </a:prstGeom>
          <a:noFill/>
        </p:spPr>
        <p:txBody>
          <a:bodyPr wrap="square" rtlCol="0">
            <a:spAutoFit/>
          </a:bodyPr>
          <a:lstStyle/>
          <a:p>
            <a:r>
              <a:rPr lang="en-US" altLang="zh-CN" dirty="0">
                <a:latin typeface="Consolas" panose="020B0609020204030204" pitchFamily="49" charset="0"/>
              </a:rPr>
              <a:t>←_← </a:t>
            </a:r>
            <a:r>
              <a:rPr lang="zh-CN" altLang="en-US" dirty="0">
                <a:latin typeface="Consolas" panose="020B0609020204030204" pitchFamily="49" charset="0"/>
              </a:rPr>
              <a:t>重要的是那个字符，我是什么不重要</a:t>
            </a:r>
            <a:endParaRPr lang="zh-CN" altLang="en-US" dirty="0"/>
          </a:p>
        </p:txBody>
      </p:sp>
      <p:sp>
        <p:nvSpPr>
          <p:cNvPr id="15" name="文本框 14">
            <a:extLst>
              <a:ext uri="{FF2B5EF4-FFF2-40B4-BE49-F238E27FC236}">
                <a16:creationId xmlns:a16="http://schemas.microsoft.com/office/drawing/2014/main" id="{F6AE618D-9A59-94E8-44B2-E1964636FCE4}"/>
              </a:ext>
            </a:extLst>
          </p:cNvPr>
          <p:cNvSpPr txBox="1"/>
          <p:nvPr/>
        </p:nvSpPr>
        <p:spPr>
          <a:xfrm>
            <a:off x="7683336" y="3519955"/>
            <a:ext cx="1635122" cy="369332"/>
          </a:xfrm>
          <a:prstGeom prst="rect">
            <a:avLst/>
          </a:prstGeom>
          <a:noFill/>
        </p:spPr>
        <p:txBody>
          <a:bodyPr wrap="square" rtlCol="0">
            <a:spAutoFit/>
          </a:bodyPr>
          <a:lstStyle/>
          <a:p>
            <a:r>
              <a:rPr lang="zh-CN" altLang="en-US" dirty="0">
                <a:latin typeface="Consolas" panose="020B0609020204030204" pitchFamily="49" charset="0"/>
              </a:rPr>
              <a:t>重要字符：</a:t>
            </a:r>
            <a:r>
              <a:rPr lang="en-US" altLang="zh-CN" dirty="0">
                <a:latin typeface="Consolas" panose="020B0609020204030204" pitchFamily="49" charset="0"/>
              </a:rPr>
              <a:t>!</a:t>
            </a:r>
          </a:p>
        </p:txBody>
      </p:sp>
      <p:sp>
        <p:nvSpPr>
          <p:cNvPr id="16" name="文本框 15">
            <a:extLst>
              <a:ext uri="{FF2B5EF4-FFF2-40B4-BE49-F238E27FC236}">
                <a16:creationId xmlns:a16="http://schemas.microsoft.com/office/drawing/2014/main" id="{5551DC38-0DB3-4D36-64BA-26031A3C44E1}"/>
              </a:ext>
            </a:extLst>
          </p:cNvPr>
          <p:cNvSpPr txBox="1"/>
          <p:nvPr/>
        </p:nvSpPr>
        <p:spPr>
          <a:xfrm>
            <a:off x="7683336" y="4002855"/>
            <a:ext cx="3759362" cy="1200329"/>
          </a:xfrm>
          <a:prstGeom prst="rect">
            <a:avLst/>
          </a:prstGeom>
          <a:noFill/>
        </p:spPr>
        <p:txBody>
          <a:bodyPr wrap="none" rtlCol="0">
            <a:spAutoFit/>
          </a:bodyPr>
          <a:lstStyle/>
          <a:p>
            <a:r>
              <a:rPr lang="zh-CN" altLang="en-US" dirty="0">
                <a:latin typeface="Consolas" panose="020B0609020204030204" pitchFamily="49" charset="0"/>
              </a:rPr>
              <a:t>全部内容：</a:t>
            </a:r>
          </a:p>
          <a:p>
            <a:r>
              <a:rPr lang="zh-CN" altLang="en-US" dirty="0">
                <a:latin typeface="Consolas" panose="020B0609020204030204" pitchFamily="49" charset="0"/>
              </a:rPr>
              <a:t>这个字符很重要 →</a:t>
            </a:r>
            <a:r>
              <a:rPr lang="en-US" altLang="zh-CN" dirty="0">
                <a:latin typeface="Consolas" panose="020B0609020204030204" pitchFamily="49" charset="0"/>
              </a:rPr>
              <a:t>_→!←_← </a:t>
            </a:r>
            <a:r>
              <a:rPr lang="zh-CN" altLang="en-US" dirty="0">
                <a:latin typeface="Consolas" panose="020B0609020204030204" pitchFamily="49" charset="0"/>
              </a:rPr>
              <a:t>重要的 </a:t>
            </a:r>
          </a:p>
          <a:p>
            <a:r>
              <a:rPr lang="zh-CN" altLang="en-US" dirty="0">
                <a:latin typeface="Consolas" panose="020B0609020204030204" pitchFamily="49" charset="0"/>
              </a:rPr>
              <a:t>是那个字符，我是什么不重要。</a:t>
            </a:r>
          </a:p>
          <a:p>
            <a:endParaRPr lang="zh-CN" altLang="en-US" dirty="0"/>
          </a:p>
        </p:txBody>
      </p:sp>
      <p:sp>
        <p:nvSpPr>
          <p:cNvPr id="12" name="标题 4">
            <a:extLst>
              <a:ext uri="{FF2B5EF4-FFF2-40B4-BE49-F238E27FC236}">
                <a16:creationId xmlns:a16="http://schemas.microsoft.com/office/drawing/2014/main" id="{A3310ED9-587B-F1F3-BC9A-915E672A523A}"/>
              </a:ext>
            </a:extLst>
          </p:cNvPr>
          <p:cNvSpPr txBox="1">
            <a:spLocks/>
          </p:cNvSpPr>
          <p:nvPr/>
        </p:nvSpPr>
        <p:spPr>
          <a:xfrm>
            <a:off x="638158" y="275858"/>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读写</a:t>
            </a:r>
          </a:p>
        </p:txBody>
      </p:sp>
      <p:sp>
        <p:nvSpPr>
          <p:cNvPr id="17" name="矩形: 圆角 16">
            <a:extLst>
              <a:ext uri="{FF2B5EF4-FFF2-40B4-BE49-F238E27FC236}">
                <a16:creationId xmlns:a16="http://schemas.microsoft.com/office/drawing/2014/main" id="{6E2DE8A9-C82D-04FD-3520-1C281D4BED1E}"/>
              </a:ext>
            </a:extLst>
          </p:cNvPr>
          <p:cNvSpPr/>
          <p:nvPr/>
        </p:nvSpPr>
        <p:spPr>
          <a:xfrm>
            <a:off x="5467989" y="1182466"/>
            <a:ext cx="6370116" cy="120032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5C72DE79-8868-2971-61A4-BFA42E1F0AF2}"/>
              </a:ext>
            </a:extLst>
          </p:cNvPr>
          <p:cNvSpPr txBox="1"/>
          <p:nvPr/>
        </p:nvSpPr>
        <p:spPr>
          <a:xfrm>
            <a:off x="8723354" y="2947141"/>
            <a:ext cx="825867" cy="369332"/>
          </a:xfrm>
          <a:prstGeom prst="rect">
            <a:avLst/>
          </a:prstGeom>
          <a:noFill/>
        </p:spPr>
        <p:txBody>
          <a:bodyPr wrap="none" rtlCol="0">
            <a:spAutoFit/>
          </a:bodyPr>
          <a:lstStyle/>
          <a:p>
            <a:r>
              <a:rPr lang="en-US" altLang="zh-CN" dirty="0"/>
              <a:t>output</a:t>
            </a:r>
            <a:endParaRPr lang="zh-CN" altLang="en-US" dirty="0"/>
          </a:p>
        </p:txBody>
      </p:sp>
      <p:sp>
        <p:nvSpPr>
          <p:cNvPr id="19" name="矩形: 圆角 18">
            <a:extLst>
              <a:ext uri="{FF2B5EF4-FFF2-40B4-BE49-F238E27FC236}">
                <a16:creationId xmlns:a16="http://schemas.microsoft.com/office/drawing/2014/main" id="{5C5646ED-3F14-CF10-BE70-870DA5F40E21}"/>
              </a:ext>
            </a:extLst>
          </p:cNvPr>
          <p:cNvSpPr/>
          <p:nvPr/>
        </p:nvSpPr>
        <p:spPr>
          <a:xfrm>
            <a:off x="7502167" y="3438491"/>
            <a:ext cx="4267020" cy="168322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38778E-17 -1.11111E-6 L 0.00326 0.08218 " pathEditMode="relative" rAng="0" ptsTypes="AA">
                                      <p:cBhvr>
                                        <p:cTn id="6" dur="1000" fill="hold"/>
                                        <p:tgtEl>
                                          <p:spTgt spid="5"/>
                                        </p:tgtEl>
                                        <p:attrNameLst>
                                          <p:attrName>ppt_x</p:attrName>
                                          <p:attrName>ppt_y</p:attrName>
                                        </p:attrNameLst>
                                      </p:cBhvr>
                                      <p:rCtr x="156" y="4097"/>
                                    </p:animMotion>
                                  </p:childTnLst>
                                </p:cTn>
                              </p:par>
                            </p:childTnLst>
                          </p:cTn>
                        </p:par>
                        <p:par>
                          <p:cTn id="7" fill="hold">
                            <p:stCondLst>
                              <p:cond delay="100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anim calcmode="lin" valueType="num">
                                      <p:cBhvr>
                                        <p:cTn id="11" dur="500" fill="hold"/>
                                        <p:tgtEl>
                                          <p:spTgt spid="10"/>
                                        </p:tgtEl>
                                        <p:attrNameLst>
                                          <p:attrName>ppt_x</p:attrName>
                                        </p:attrNameLst>
                                      </p:cBhvr>
                                      <p:tavLst>
                                        <p:tav tm="0">
                                          <p:val>
                                            <p:strVal val="#ppt_x"/>
                                          </p:val>
                                        </p:tav>
                                        <p:tav tm="100000">
                                          <p:val>
                                            <p:strVal val="#ppt_x"/>
                                          </p:val>
                                        </p:tav>
                                      </p:tavLst>
                                    </p:anim>
                                    <p:anim calcmode="lin" valueType="num">
                                      <p:cBhvr>
                                        <p:cTn id="12"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0.00326 0.08218 L 0.00299 0.16343 " pathEditMode="relative" rAng="0" ptsTypes="AA">
                                      <p:cBhvr>
                                        <p:cTn id="16" dur="1000" fill="hold"/>
                                        <p:tgtEl>
                                          <p:spTgt spid="5"/>
                                        </p:tgtEl>
                                        <p:attrNameLst>
                                          <p:attrName>ppt_x</p:attrName>
                                          <p:attrName>ppt_y</p:attrName>
                                        </p:attrNameLst>
                                      </p:cBhvr>
                                      <p:rCtr x="-13" y="4051"/>
                                    </p:animMotion>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anim calcmode="lin" valueType="num">
                                      <p:cBhvr>
                                        <p:cTn id="21" dur="500" fill="hold"/>
                                        <p:tgtEl>
                                          <p:spTgt spid="13"/>
                                        </p:tgtEl>
                                        <p:attrNameLst>
                                          <p:attrName>ppt_x</p:attrName>
                                        </p:attrNameLst>
                                      </p:cBhvr>
                                      <p:tavLst>
                                        <p:tav tm="0">
                                          <p:val>
                                            <p:strVal val="#ppt_x"/>
                                          </p:val>
                                        </p:tav>
                                        <p:tav tm="100000">
                                          <p:val>
                                            <p:strVal val="#ppt_x"/>
                                          </p:val>
                                        </p:tav>
                                      </p:tavLst>
                                    </p:anim>
                                    <p:anim calcmode="lin" valueType="num">
                                      <p:cBhvr>
                                        <p:cTn id="22"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nodeType="clickEffect">
                                  <p:stCondLst>
                                    <p:cond delay="0"/>
                                  </p:stCondLst>
                                  <p:childTnLst>
                                    <p:animMotion origin="layout" path="M 0.00299 0.16343 L 0.00378 0.27292 " pathEditMode="relative" rAng="0" ptsTypes="AA">
                                      <p:cBhvr>
                                        <p:cTn id="26" dur="1000" fill="hold"/>
                                        <p:tgtEl>
                                          <p:spTgt spid="5"/>
                                        </p:tgtEl>
                                        <p:attrNameLst>
                                          <p:attrName>ppt_x</p:attrName>
                                          <p:attrName>ppt_y</p:attrName>
                                        </p:attrNameLst>
                                      </p:cBhvr>
                                      <p:rCtr x="39" y="5463"/>
                                    </p:animMotion>
                                  </p:childTnLst>
                                </p:cTn>
                              </p:par>
                            </p:childTnLst>
                          </p:cTn>
                        </p:par>
                        <p:par>
                          <p:cTn id="27" fill="hold">
                            <p:stCondLst>
                              <p:cond delay="1000"/>
                            </p:stCondLst>
                            <p:childTnLst>
                              <p:par>
                                <p:cTn id="28" presetID="42"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anim calcmode="lin" valueType="num">
                                      <p:cBhvr>
                                        <p:cTn id="31" dur="500" fill="hold"/>
                                        <p:tgtEl>
                                          <p:spTgt spid="14"/>
                                        </p:tgtEl>
                                        <p:attrNameLst>
                                          <p:attrName>ppt_x</p:attrName>
                                        </p:attrNameLst>
                                      </p:cBhvr>
                                      <p:tavLst>
                                        <p:tav tm="0">
                                          <p:val>
                                            <p:strVal val="#ppt_x"/>
                                          </p:val>
                                        </p:tav>
                                        <p:tav tm="100000">
                                          <p:val>
                                            <p:strVal val="#ppt_x"/>
                                          </p:val>
                                        </p:tav>
                                      </p:tavLst>
                                    </p:anim>
                                    <p:anim calcmode="lin" valueType="num">
                                      <p:cBhvr>
                                        <p:cTn id="32"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0.00378 0.27292 L 0.00247 0.38542 " pathEditMode="relative" rAng="0" ptsTypes="AA">
                                      <p:cBhvr>
                                        <p:cTn id="36" dur="1000" fill="hold"/>
                                        <p:tgtEl>
                                          <p:spTgt spid="5"/>
                                        </p:tgtEl>
                                        <p:attrNameLst>
                                          <p:attrName>ppt_x</p:attrName>
                                          <p:attrName>ppt_y</p:attrName>
                                        </p:attrNameLst>
                                      </p:cBhvr>
                                      <p:rCtr x="-65" y="5625"/>
                                    </p:animMotion>
                                  </p:childTnLst>
                                </p:cTn>
                              </p:par>
                            </p:childTnLst>
                          </p:cTn>
                        </p:par>
                        <p:par>
                          <p:cTn id="37" fill="hold">
                            <p:stCondLst>
                              <p:cond delay="1000"/>
                            </p:stCondLst>
                            <p:childTnLst>
                              <p:par>
                                <p:cTn id="38" presetID="2" presetClass="entr" presetSubtype="4"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path" presetSubtype="0" accel="50000" decel="50000" fill="hold" nodeType="clickEffect">
                                  <p:stCondLst>
                                    <p:cond delay="0"/>
                                  </p:stCondLst>
                                  <p:childTnLst>
                                    <p:animMotion origin="layout" path="M 0.00247 0.38542 L 0.00247 0.65278 " pathEditMode="relative" rAng="0" ptsTypes="AA">
                                      <p:cBhvr>
                                        <p:cTn id="45" dur="1000" fill="hold"/>
                                        <p:tgtEl>
                                          <p:spTgt spid="5"/>
                                        </p:tgtEl>
                                        <p:attrNameLst>
                                          <p:attrName>ppt_x</p:attrName>
                                          <p:attrName>ppt_y</p:attrName>
                                        </p:attrNameLst>
                                      </p:cBhvr>
                                      <p:rCtr x="0" y="13356"/>
                                    </p:animMotion>
                                  </p:childTnLst>
                                </p:cTn>
                              </p:par>
                            </p:childTnLst>
                          </p:cTn>
                        </p:par>
                        <p:par>
                          <p:cTn id="46" fill="hold">
                            <p:stCondLst>
                              <p:cond delay="1000"/>
                            </p:stCondLst>
                            <p:childTnLst>
                              <p:par>
                                <p:cTn id="47" presetID="42" presetClass="entr" presetSubtype="0"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anim calcmode="lin" valueType="num">
                                      <p:cBhvr>
                                        <p:cTn id="50" dur="500" fill="hold"/>
                                        <p:tgtEl>
                                          <p:spTgt spid="16"/>
                                        </p:tgtEl>
                                        <p:attrNameLst>
                                          <p:attrName>ppt_x</p:attrName>
                                        </p:attrNameLst>
                                      </p:cBhvr>
                                      <p:tavLst>
                                        <p:tav tm="0">
                                          <p:val>
                                            <p:strVal val="#ppt_x"/>
                                          </p:val>
                                        </p:tav>
                                        <p:tav tm="100000">
                                          <p:val>
                                            <p:strVal val="#ppt_x"/>
                                          </p:val>
                                        </p:tav>
                                      </p:tavLst>
                                    </p:anim>
                                    <p:anim calcmode="lin" valueType="num">
                                      <p:cBhvr>
                                        <p:cTn id="51"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P spid="15" grpId="0"/>
      <p:bldP spid="1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1197" y="1031001"/>
            <a:ext cx="9588718" cy="4524315"/>
          </a:xfrm>
          <a:prstGeom prst="rect">
            <a:avLst/>
          </a:prstGeom>
          <a:noFill/>
        </p:spPr>
        <p:txBody>
          <a:bodyPr wrap="square" rtlCol="0">
            <a:spAutoFit/>
          </a:bodyPr>
          <a:lstStyle/>
          <a:p>
            <a:r>
              <a:rPr lang="zh-CN" altLang="en-US" sz="2400" dirty="0"/>
              <a:t>记忆要点：</a:t>
            </a:r>
            <a:endParaRPr lang="en-US" altLang="zh-CN" sz="2400" dirty="0"/>
          </a:p>
          <a:p>
            <a:r>
              <a:rPr lang="en-US" altLang="zh-CN" sz="2400" dirty="0"/>
              <a:t>1</a:t>
            </a:r>
            <a:r>
              <a:rPr lang="zh-CN" altLang="en-US" sz="2400" dirty="0"/>
              <a:t>、有哪些函数</a:t>
            </a:r>
            <a:endParaRPr lang="en-US" altLang="zh-CN" sz="2400" dirty="0"/>
          </a:p>
          <a:p>
            <a:r>
              <a:rPr lang="en-US" altLang="zh-CN" sz="2400" dirty="0"/>
              <a:t>     </a:t>
            </a:r>
            <a:r>
              <a:rPr lang="zh-CN" altLang="en-US" sz="2400" dirty="0"/>
              <a:t>打开：</a:t>
            </a:r>
            <a:r>
              <a:rPr lang="en-US" altLang="zh-CN" sz="2400" dirty="0" err="1"/>
              <a:t>fopen</a:t>
            </a:r>
            <a:r>
              <a:rPr lang="en-US" altLang="zh-CN" sz="2400" dirty="0"/>
              <a:t>	</a:t>
            </a:r>
            <a:r>
              <a:rPr lang="en-US" altLang="zh-CN" sz="2400" dirty="0" err="1"/>
              <a:t>fclose</a:t>
            </a:r>
            <a:r>
              <a:rPr lang="en-US" altLang="zh-CN" sz="2400" dirty="0"/>
              <a:t>(</a:t>
            </a:r>
            <a:r>
              <a:rPr lang="zh-CN" altLang="en-US" sz="2400" dirty="0"/>
              <a:t>写</a:t>
            </a:r>
            <a:r>
              <a:rPr lang="en-US" altLang="zh-CN" sz="2400" dirty="0" err="1"/>
              <a:t>fopen</a:t>
            </a:r>
            <a:r>
              <a:rPr lang="zh-CN" altLang="en-US" sz="2400" dirty="0"/>
              <a:t>的时候就把</a:t>
            </a:r>
            <a:r>
              <a:rPr lang="en-US" altLang="zh-CN" sz="2400" dirty="0" err="1"/>
              <a:t>fclose</a:t>
            </a:r>
            <a:r>
              <a:rPr lang="zh-CN" altLang="en-US" sz="2400" dirty="0"/>
              <a:t>一起写了</a:t>
            </a:r>
            <a:r>
              <a:rPr lang="en-US" altLang="zh-CN" sz="2400" dirty="0"/>
              <a:t>)</a:t>
            </a:r>
          </a:p>
          <a:p>
            <a:r>
              <a:rPr lang="en-US" altLang="zh-CN" sz="2400" dirty="0"/>
              <a:t>     </a:t>
            </a:r>
            <a:r>
              <a:rPr lang="zh-CN" altLang="en-US" sz="2400" dirty="0"/>
              <a:t>读写：</a:t>
            </a:r>
            <a:r>
              <a:rPr lang="en-US" altLang="zh-CN" sz="2400" dirty="0" err="1"/>
              <a:t>fscanf</a:t>
            </a:r>
            <a:r>
              <a:rPr lang="en-US" altLang="zh-CN" sz="2400" dirty="0"/>
              <a:t>	</a:t>
            </a:r>
            <a:r>
              <a:rPr lang="en-US" altLang="zh-CN" sz="2400" dirty="0" err="1"/>
              <a:t>fprintf</a:t>
            </a:r>
            <a:r>
              <a:rPr lang="en-US" altLang="zh-CN" sz="2400" dirty="0"/>
              <a:t>	</a:t>
            </a:r>
            <a:r>
              <a:rPr lang="en-US" altLang="zh-CN" sz="2400" dirty="0" err="1"/>
              <a:t>fgetc</a:t>
            </a:r>
            <a:r>
              <a:rPr lang="en-US" altLang="zh-CN" sz="2400" dirty="0"/>
              <a:t>	</a:t>
            </a:r>
            <a:r>
              <a:rPr lang="en-US" altLang="zh-CN" sz="2400" dirty="0" err="1"/>
              <a:t>fputc</a:t>
            </a:r>
            <a:r>
              <a:rPr lang="en-US" altLang="zh-CN" sz="2400" dirty="0"/>
              <a:t>	</a:t>
            </a:r>
            <a:r>
              <a:rPr lang="en-US" altLang="zh-CN" sz="2400" dirty="0" err="1"/>
              <a:t>fgets</a:t>
            </a:r>
            <a:r>
              <a:rPr lang="en-US" altLang="zh-CN" sz="2400" dirty="0"/>
              <a:t>	</a:t>
            </a:r>
            <a:r>
              <a:rPr lang="en-US" altLang="zh-CN" sz="2400" dirty="0" err="1"/>
              <a:t>fputs</a:t>
            </a:r>
            <a:r>
              <a:rPr lang="en-US" altLang="zh-CN" sz="2400" dirty="0"/>
              <a:t>	</a:t>
            </a:r>
            <a:r>
              <a:rPr lang="en-US" altLang="zh-CN" sz="2400" dirty="0" err="1"/>
              <a:t>fread</a:t>
            </a:r>
            <a:r>
              <a:rPr lang="en-US" altLang="zh-CN" sz="2400" dirty="0"/>
              <a:t>	</a:t>
            </a:r>
            <a:r>
              <a:rPr lang="en-US" altLang="zh-CN" sz="2400" dirty="0" err="1"/>
              <a:t>fwrite</a:t>
            </a:r>
            <a:endParaRPr lang="en-US" altLang="zh-CN" sz="2400" dirty="0"/>
          </a:p>
          <a:p>
            <a:pPr eaLnBrk="1" hangingPunct="1"/>
            <a:r>
              <a:rPr lang="en-US" altLang="zh-CN" sz="2400" dirty="0"/>
              <a:t>	</a:t>
            </a:r>
            <a:r>
              <a:rPr lang="en-US" altLang="zh-CN" sz="2400" dirty="0" err="1"/>
              <a:t>fgetc</a:t>
            </a:r>
            <a:r>
              <a:rPr lang="en-US" altLang="zh-CN" sz="2400" dirty="0"/>
              <a:t>     </a:t>
            </a:r>
          </a:p>
          <a:p>
            <a:pPr eaLnBrk="1" hangingPunct="1"/>
            <a:r>
              <a:rPr lang="en-US" altLang="zh-CN" sz="2400" dirty="0"/>
              <a:t>      </a:t>
            </a:r>
            <a:r>
              <a:rPr lang="zh-CN" altLang="en-US" sz="2400" dirty="0"/>
              <a:t>移动：</a:t>
            </a:r>
            <a:r>
              <a:rPr lang="en-US" altLang="zh-CN" sz="2400" dirty="0" err="1"/>
              <a:t>fseek</a:t>
            </a:r>
            <a:r>
              <a:rPr lang="en-US" altLang="zh-CN" sz="2400" dirty="0"/>
              <a:t>	</a:t>
            </a:r>
            <a:r>
              <a:rPr lang="en-US" altLang="zh-CN" sz="2400" dirty="0" err="1"/>
              <a:t>ftell</a:t>
            </a:r>
            <a:endParaRPr lang="en-US" altLang="zh-CN" sz="2400" dirty="0"/>
          </a:p>
          <a:p>
            <a:r>
              <a:rPr lang="en-US" altLang="zh-CN" sz="2400" dirty="0"/>
              <a:t>     </a:t>
            </a:r>
            <a:r>
              <a:rPr lang="zh-CN" altLang="en-US" sz="2400" dirty="0"/>
              <a:t>其它：</a:t>
            </a:r>
            <a:r>
              <a:rPr lang="en-US" altLang="zh-CN" sz="2400" dirty="0" err="1"/>
              <a:t>feof</a:t>
            </a:r>
            <a:r>
              <a:rPr lang="en-US" altLang="zh-CN" sz="2400" dirty="0"/>
              <a:t>	</a:t>
            </a:r>
            <a:r>
              <a:rPr lang="en-US" altLang="zh-CN" sz="2400" dirty="0" err="1"/>
              <a:t>ferror</a:t>
            </a:r>
            <a:endParaRPr lang="en-US" altLang="zh-CN" sz="2400" dirty="0"/>
          </a:p>
          <a:p>
            <a:endParaRPr lang="en-US" altLang="zh-CN" sz="2400" dirty="0"/>
          </a:p>
          <a:p>
            <a:r>
              <a:rPr lang="en-US" altLang="zh-CN" sz="2400" dirty="0"/>
              <a:t>2</a:t>
            </a:r>
            <a:r>
              <a:rPr lang="zh-CN" altLang="en-US" sz="2400" dirty="0"/>
              <a:t>、读写模式</a:t>
            </a:r>
            <a:endParaRPr lang="en-US" altLang="zh-CN" sz="2400" dirty="0"/>
          </a:p>
          <a:p>
            <a:r>
              <a:rPr lang="en-US" altLang="zh-CN" sz="2400" dirty="0"/>
              <a:t>      </a:t>
            </a:r>
            <a:r>
              <a:rPr lang="en-US" altLang="zh-CN" sz="2400" dirty="0" err="1"/>
              <a:t>r,w,a</a:t>
            </a:r>
            <a:endParaRPr lang="en-US" altLang="zh-CN" sz="2400" dirty="0"/>
          </a:p>
          <a:p>
            <a:r>
              <a:rPr lang="en-US" altLang="zh-CN" sz="2400" dirty="0"/>
              <a:t>      </a:t>
            </a:r>
            <a:r>
              <a:rPr lang="en-US" altLang="zh-CN" sz="2400" dirty="0" err="1"/>
              <a:t>r+,w+,a</a:t>
            </a:r>
            <a:r>
              <a:rPr lang="en-US" altLang="zh-CN" sz="2400" dirty="0"/>
              <a:t>+</a:t>
            </a:r>
          </a:p>
          <a:p>
            <a:r>
              <a:rPr lang="en-US" altLang="zh-CN" sz="2400" dirty="0"/>
              <a:t>      </a:t>
            </a:r>
            <a:r>
              <a:rPr lang="en-US" altLang="zh-CN" sz="2400" dirty="0" err="1"/>
              <a:t>rb</a:t>
            </a:r>
            <a:r>
              <a:rPr lang="en-US" altLang="zh-CN" sz="2400" dirty="0"/>
              <a:t>+,</a:t>
            </a:r>
            <a:r>
              <a:rPr lang="en-US" altLang="zh-CN" sz="2400" dirty="0" err="1"/>
              <a:t>wb</a:t>
            </a:r>
            <a:r>
              <a:rPr lang="en-US" altLang="zh-CN" sz="2400" dirty="0"/>
              <a:t>+,ab+</a:t>
            </a:r>
          </a:p>
        </p:txBody>
      </p:sp>
      <p:sp>
        <p:nvSpPr>
          <p:cNvPr id="8" name="标题 4">
            <a:extLst>
              <a:ext uri="{FF2B5EF4-FFF2-40B4-BE49-F238E27FC236}">
                <a16:creationId xmlns:a16="http://schemas.microsoft.com/office/drawing/2014/main" id="{EFB2C498-0CF6-75CF-FFDE-5D1E89968D43}"/>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小结</a:t>
            </a:r>
          </a:p>
        </p:txBody>
      </p:sp>
    </p:spTree>
  </p:cSld>
  <p:clrMapOvr>
    <a:masterClrMapping/>
  </p:clrMapOvr>
  <p:transition spd="slow">
    <p:push di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4">
            <a:extLst>
              <a:ext uri="{FF2B5EF4-FFF2-40B4-BE49-F238E27FC236}">
                <a16:creationId xmlns:a16="http://schemas.microsoft.com/office/drawing/2014/main" id="{4B2AA382-7DC7-44C5-4C4E-3C5564A1D32E}"/>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例题</a:t>
            </a:r>
          </a:p>
        </p:txBody>
      </p:sp>
      <p:sp>
        <p:nvSpPr>
          <p:cNvPr id="8" name="文本框 7">
            <a:extLst>
              <a:ext uri="{FF2B5EF4-FFF2-40B4-BE49-F238E27FC236}">
                <a16:creationId xmlns:a16="http://schemas.microsoft.com/office/drawing/2014/main" id="{AF379584-C5FC-A7E9-D33C-58E73DCEE677}"/>
              </a:ext>
            </a:extLst>
          </p:cNvPr>
          <p:cNvSpPr txBox="1"/>
          <p:nvPr/>
        </p:nvSpPr>
        <p:spPr>
          <a:xfrm>
            <a:off x="640760" y="1080478"/>
            <a:ext cx="3962944" cy="1477328"/>
          </a:xfrm>
          <a:prstGeom prst="rect">
            <a:avLst/>
          </a:prstGeom>
          <a:noFill/>
        </p:spPr>
        <p:txBody>
          <a:bodyPr wrap="none" rtlCol="0">
            <a:spAutoFit/>
          </a:bodyPr>
          <a:lstStyle/>
          <a:p>
            <a:r>
              <a:rPr lang="zh-CN" altLang="en-US" b="1" dirty="0"/>
              <a:t>一、</a:t>
            </a:r>
            <a:r>
              <a:rPr lang="en-US" altLang="zh-CN" b="1" dirty="0"/>
              <a:t>C </a:t>
            </a:r>
            <a:r>
              <a:rPr lang="zh-CN" altLang="en-US" b="1" dirty="0"/>
              <a:t>语言中文件的存取方式（</a:t>
            </a:r>
            <a:r>
              <a:rPr lang="zh-CN" altLang="en-US" b="1" u="sng" dirty="0"/>
              <a:t>       </a:t>
            </a:r>
            <a:r>
              <a:rPr lang="zh-CN" altLang="en-US" b="1" dirty="0"/>
              <a:t>）</a:t>
            </a:r>
            <a:endParaRPr lang="en-US" altLang="zh-CN" b="1" dirty="0"/>
          </a:p>
          <a:p>
            <a:pPr marL="342900" indent="-342900">
              <a:buAutoNum type="alphaUcParenR"/>
            </a:pPr>
            <a:r>
              <a:rPr lang="zh-CN" altLang="en-US" dirty="0"/>
              <a:t>只能顺序存取</a:t>
            </a:r>
            <a:endParaRPr lang="en-US" altLang="zh-CN" dirty="0"/>
          </a:p>
          <a:p>
            <a:pPr marL="342900" indent="-342900">
              <a:buAutoNum type="alphaUcParenR"/>
            </a:pPr>
            <a:r>
              <a:rPr lang="zh-CN" altLang="en-US" dirty="0"/>
              <a:t>只能随机存取</a:t>
            </a:r>
            <a:endParaRPr lang="en-US" altLang="zh-CN" dirty="0"/>
          </a:p>
          <a:p>
            <a:pPr marL="342900" indent="-342900">
              <a:buAutoNum type="alphaUcParenR"/>
            </a:pPr>
            <a:r>
              <a:rPr lang="zh-CN" altLang="en-US" dirty="0"/>
              <a:t>可以顺序存取，也可随机存取</a:t>
            </a:r>
            <a:endParaRPr lang="en-US" altLang="zh-CN" dirty="0"/>
          </a:p>
          <a:p>
            <a:r>
              <a:rPr lang="en-US" altLang="zh-CN" dirty="0"/>
              <a:t>D)  </a:t>
            </a:r>
            <a:r>
              <a:rPr lang="zh-CN" altLang="en-US" dirty="0"/>
              <a:t>只能从文件头进行存取</a:t>
            </a:r>
            <a:endParaRPr lang="en-US" altLang="zh-CN" dirty="0"/>
          </a:p>
        </p:txBody>
      </p:sp>
      <p:sp>
        <p:nvSpPr>
          <p:cNvPr id="10" name="文本框 9">
            <a:extLst>
              <a:ext uri="{FF2B5EF4-FFF2-40B4-BE49-F238E27FC236}">
                <a16:creationId xmlns:a16="http://schemas.microsoft.com/office/drawing/2014/main" id="{F46FE770-664A-A116-5676-AECBBFCA1CE6}"/>
              </a:ext>
            </a:extLst>
          </p:cNvPr>
          <p:cNvSpPr txBox="1"/>
          <p:nvPr/>
        </p:nvSpPr>
        <p:spPr>
          <a:xfrm>
            <a:off x="5578668" y="1294888"/>
            <a:ext cx="591829" cy="1015663"/>
          </a:xfrm>
          <a:prstGeom prst="rect">
            <a:avLst/>
          </a:prstGeom>
          <a:noFill/>
        </p:spPr>
        <p:txBody>
          <a:bodyPr wrap="none" rtlCol="0">
            <a:spAutoFit/>
          </a:bodyPr>
          <a:lstStyle/>
          <a:p>
            <a:r>
              <a:rPr lang="en-US" altLang="zh-CN" sz="6000" b="1" dirty="0">
                <a:solidFill>
                  <a:srgbClr val="FF0000"/>
                </a:solidFill>
              </a:rPr>
              <a:t>C</a:t>
            </a:r>
            <a:endParaRPr lang="zh-CN" altLang="en-US" sz="6000" b="1" dirty="0">
              <a:solidFill>
                <a:srgbClr val="FF0000"/>
              </a:solidFill>
            </a:endParaRPr>
          </a:p>
        </p:txBody>
      </p:sp>
      <p:sp>
        <p:nvSpPr>
          <p:cNvPr id="12" name="文本框 11">
            <a:extLst>
              <a:ext uri="{FF2B5EF4-FFF2-40B4-BE49-F238E27FC236}">
                <a16:creationId xmlns:a16="http://schemas.microsoft.com/office/drawing/2014/main" id="{0888F61B-9600-7DC4-58CE-CAEDD3C89535}"/>
              </a:ext>
            </a:extLst>
          </p:cNvPr>
          <p:cNvSpPr txBox="1"/>
          <p:nvPr/>
        </p:nvSpPr>
        <p:spPr>
          <a:xfrm>
            <a:off x="640760" y="2777835"/>
            <a:ext cx="5940212" cy="1477328"/>
          </a:xfrm>
          <a:prstGeom prst="rect">
            <a:avLst/>
          </a:prstGeom>
          <a:noFill/>
        </p:spPr>
        <p:txBody>
          <a:bodyPr wrap="square" rtlCol="0">
            <a:spAutoFit/>
          </a:bodyPr>
          <a:lstStyle/>
          <a:p>
            <a:r>
              <a:rPr lang="zh-CN" altLang="en-US" b="1" dirty="0"/>
              <a:t>二、若调用</a:t>
            </a:r>
            <a:r>
              <a:rPr lang="en-US" altLang="zh-CN" b="1" dirty="0" err="1"/>
              <a:t>fputc</a:t>
            </a:r>
            <a:r>
              <a:rPr lang="zh-CN" altLang="en-US" b="1" dirty="0"/>
              <a:t>函数输出字符成功，则返回值是（</a:t>
            </a:r>
            <a:r>
              <a:rPr lang="zh-CN" altLang="en-US" b="1" u="sng" dirty="0"/>
              <a:t>       </a:t>
            </a:r>
            <a:r>
              <a:rPr lang="zh-CN" altLang="en-US" b="1" dirty="0"/>
              <a:t>）</a:t>
            </a:r>
            <a:endParaRPr lang="en-US" altLang="zh-CN" b="1" dirty="0"/>
          </a:p>
          <a:p>
            <a:pPr marL="342900" indent="-342900">
              <a:buAutoNum type="alphaUcParenR"/>
            </a:pPr>
            <a:r>
              <a:rPr lang="en-US" altLang="zh-CN" dirty="0"/>
              <a:t>EOF</a:t>
            </a:r>
          </a:p>
          <a:p>
            <a:r>
              <a:rPr lang="en-US" altLang="zh-CN" dirty="0"/>
              <a:t>B)   1</a:t>
            </a:r>
          </a:p>
          <a:p>
            <a:r>
              <a:rPr lang="en-US" altLang="zh-CN" dirty="0"/>
              <a:t>C)   0</a:t>
            </a:r>
          </a:p>
          <a:p>
            <a:r>
              <a:rPr lang="en-US" altLang="zh-CN" dirty="0"/>
              <a:t>D)   </a:t>
            </a:r>
            <a:r>
              <a:rPr lang="zh-CN" altLang="en-US" dirty="0"/>
              <a:t>输出的字符</a:t>
            </a:r>
          </a:p>
        </p:txBody>
      </p:sp>
      <p:sp>
        <p:nvSpPr>
          <p:cNvPr id="13" name="文本框 12">
            <a:extLst>
              <a:ext uri="{FF2B5EF4-FFF2-40B4-BE49-F238E27FC236}">
                <a16:creationId xmlns:a16="http://schemas.microsoft.com/office/drawing/2014/main" id="{F421A52F-6C28-F4CA-2A5D-7E7595F9930A}"/>
              </a:ext>
            </a:extLst>
          </p:cNvPr>
          <p:cNvSpPr txBox="1"/>
          <p:nvPr/>
        </p:nvSpPr>
        <p:spPr>
          <a:xfrm>
            <a:off x="5667204" y="3139395"/>
            <a:ext cx="670376" cy="1015663"/>
          </a:xfrm>
          <a:prstGeom prst="rect">
            <a:avLst/>
          </a:prstGeom>
          <a:noFill/>
        </p:spPr>
        <p:txBody>
          <a:bodyPr wrap="none" rtlCol="0">
            <a:spAutoFit/>
          </a:bodyPr>
          <a:lstStyle/>
          <a:p>
            <a:r>
              <a:rPr lang="en-US" altLang="zh-CN" sz="6000" b="1" dirty="0">
                <a:solidFill>
                  <a:srgbClr val="FF0000"/>
                </a:solidFill>
              </a:rPr>
              <a:t>D</a:t>
            </a:r>
            <a:endParaRPr lang="zh-CN" altLang="en-US" sz="6000" b="1" dirty="0">
              <a:solidFill>
                <a:srgbClr val="FF0000"/>
              </a:solidFill>
            </a:endParaRPr>
          </a:p>
        </p:txBody>
      </p:sp>
      <p:sp>
        <p:nvSpPr>
          <p:cNvPr id="2" name="文本框 1">
            <a:extLst>
              <a:ext uri="{FF2B5EF4-FFF2-40B4-BE49-F238E27FC236}">
                <a16:creationId xmlns:a16="http://schemas.microsoft.com/office/drawing/2014/main" id="{544A357A-6D83-C150-1C30-02C35331032E}"/>
              </a:ext>
            </a:extLst>
          </p:cNvPr>
          <p:cNvSpPr txBox="1"/>
          <p:nvPr/>
        </p:nvSpPr>
        <p:spPr>
          <a:xfrm>
            <a:off x="640760" y="4450454"/>
            <a:ext cx="5940212" cy="1477328"/>
          </a:xfrm>
          <a:prstGeom prst="rect">
            <a:avLst/>
          </a:prstGeom>
          <a:noFill/>
        </p:spPr>
        <p:txBody>
          <a:bodyPr wrap="square" rtlCol="0">
            <a:spAutoFit/>
          </a:bodyPr>
          <a:lstStyle/>
          <a:p>
            <a:pPr algn="just">
              <a:buClr>
                <a:schemeClr val="tx2"/>
              </a:buClr>
            </a:pPr>
            <a:r>
              <a:rPr lang="zh-CN" altLang="en-US" b="1" dirty="0"/>
              <a:t>三、</a:t>
            </a:r>
            <a:r>
              <a:rPr lang="zh-CN" altLang="en-US" b="1" dirty="0">
                <a:ea typeface="宋体" panose="02010600030101010101" pitchFamily="2" charset="-122"/>
              </a:rPr>
              <a:t>从计算机的内存中将数据写入文件，称为</a:t>
            </a:r>
            <a:r>
              <a:rPr lang="zh-CN" altLang="en-US" b="1" u="sng" dirty="0">
                <a:ea typeface="宋体" panose="02010600030101010101" pitchFamily="2" charset="-122"/>
              </a:rPr>
              <a:t>    </a:t>
            </a:r>
            <a:r>
              <a:rPr lang="zh-CN" altLang="en-US" b="1" dirty="0">
                <a:ea typeface="宋体" panose="02010600030101010101" pitchFamily="2" charset="-122"/>
              </a:rPr>
              <a:t>。</a:t>
            </a:r>
          </a:p>
          <a:p>
            <a:pPr algn="just"/>
            <a:r>
              <a:rPr lang="en-US" altLang="zh-CN" dirty="0">
                <a:ea typeface="宋体" panose="02010600030101010101" pitchFamily="2" charset="-122"/>
              </a:rPr>
              <a:t>A)  </a:t>
            </a:r>
            <a:r>
              <a:rPr lang="zh-CN" altLang="en-US" dirty="0">
                <a:ea typeface="宋体" panose="02010600030101010101" pitchFamily="2" charset="-122"/>
              </a:rPr>
              <a:t>输入     </a:t>
            </a:r>
            <a:endParaRPr lang="en-US" altLang="zh-CN" dirty="0">
              <a:ea typeface="宋体" panose="02010600030101010101" pitchFamily="2" charset="-122"/>
            </a:endParaRPr>
          </a:p>
          <a:p>
            <a:pPr algn="just"/>
            <a:r>
              <a:rPr lang="en-US" altLang="zh-CN" dirty="0">
                <a:ea typeface="宋体" panose="02010600030101010101" pitchFamily="2" charset="-122"/>
              </a:rPr>
              <a:t>B)  </a:t>
            </a:r>
            <a:r>
              <a:rPr lang="zh-CN" altLang="en-US" dirty="0">
                <a:ea typeface="宋体" panose="02010600030101010101" pitchFamily="2" charset="-122"/>
              </a:rPr>
              <a:t>输出     </a:t>
            </a:r>
            <a:endParaRPr lang="en-US" altLang="zh-CN" dirty="0">
              <a:ea typeface="宋体" panose="02010600030101010101" pitchFamily="2" charset="-122"/>
            </a:endParaRPr>
          </a:p>
          <a:p>
            <a:pPr algn="just"/>
            <a:r>
              <a:rPr lang="en-US" altLang="zh-CN" dirty="0">
                <a:ea typeface="宋体" panose="02010600030101010101" pitchFamily="2" charset="-122"/>
              </a:rPr>
              <a:t>C)  </a:t>
            </a:r>
            <a:r>
              <a:rPr lang="zh-CN" altLang="en-US" dirty="0">
                <a:ea typeface="宋体" panose="02010600030101010101" pitchFamily="2" charset="-122"/>
              </a:rPr>
              <a:t>修改    </a:t>
            </a:r>
            <a:endParaRPr lang="en-US" altLang="zh-CN" dirty="0">
              <a:ea typeface="宋体" panose="02010600030101010101" pitchFamily="2" charset="-122"/>
            </a:endParaRPr>
          </a:p>
          <a:p>
            <a:pPr algn="just"/>
            <a:r>
              <a:rPr lang="en-US" altLang="zh-CN" dirty="0">
                <a:ea typeface="宋体" panose="02010600030101010101" pitchFamily="2" charset="-122"/>
              </a:rPr>
              <a:t>D)  </a:t>
            </a:r>
            <a:r>
              <a:rPr lang="zh-CN" altLang="en-US" dirty="0">
                <a:ea typeface="宋体" panose="02010600030101010101" pitchFamily="2" charset="-122"/>
              </a:rPr>
              <a:t>删除</a:t>
            </a:r>
          </a:p>
        </p:txBody>
      </p:sp>
      <p:sp>
        <p:nvSpPr>
          <p:cNvPr id="9" name="文本框 8">
            <a:extLst>
              <a:ext uri="{FF2B5EF4-FFF2-40B4-BE49-F238E27FC236}">
                <a16:creationId xmlns:a16="http://schemas.microsoft.com/office/drawing/2014/main" id="{D4465C0F-118C-060D-CBC9-123698ABDAEA}"/>
              </a:ext>
            </a:extLst>
          </p:cNvPr>
          <p:cNvSpPr txBox="1"/>
          <p:nvPr/>
        </p:nvSpPr>
        <p:spPr>
          <a:xfrm>
            <a:off x="5667204" y="4681286"/>
            <a:ext cx="651140" cy="1015663"/>
          </a:xfrm>
          <a:prstGeom prst="rect">
            <a:avLst/>
          </a:prstGeom>
          <a:noFill/>
        </p:spPr>
        <p:txBody>
          <a:bodyPr wrap="none" rtlCol="0">
            <a:spAutoFit/>
          </a:bodyPr>
          <a:lstStyle/>
          <a:p>
            <a:r>
              <a:rPr lang="en-US" altLang="zh-CN" sz="6000" b="1" dirty="0">
                <a:solidFill>
                  <a:srgbClr val="FF0000"/>
                </a:solidFill>
              </a:rPr>
              <a:t>A</a:t>
            </a:r>
            <a:endParaRPr lang="zh-CN" altLang="en-US" sz="6000" b="1" dirty="0">
              <a:solidFill>
                <a:srgbClr val="FF0000"/>
              </a:solidFill>
            </a:endParaRPr>
          </a:p>
        </p:txBody>
      </p:sp>
    </p:spTree>
    <p:extLst>
      <p:ext uri="{BB962C8B-B14F-4D97-AF65-F5344CB8AC3E}">
        <p14:creationId xmlns:p14="http://schemas.microsoft.com/office/powerpoint/2010/main" val="7342256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anim calcmode="lin" valueType="num">
                                      <p:cBhvr>
                                        <p:cTn id="15" dur="500" fill="hold"/>
                                        <p:tgtEl>
                                          <p:spTgt spid="12"/>
                                        </p:tgtEl>
                                        <p:attrNameLst>
                                          <p:attrName>ppt_x</p:attrName>
                                        </p:attrNameLst>
                                      </p:cBhvr>
                                      <p:tavLst>
                                        <p:tav tm="0">
                                          <p:val>
                                            <p:strVal val="#ppt_x"/>
                                          </p:val>
                                        </p:tav>
                                        <p:tav tm="100000">
                                          <p:val>
                                            <p:strVal val="#ppt_x"/>
                                          </p:val>
                                        </p:tav>
                                      </p:tavLst>
                                    </p:anim>
                                    <p:anim calcmode="lin" valueType="num">
                                      <p:cBhvr>
                                        <p:cTn id="1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anim calcmode="lin" valueType="num">
                                      <p:cBhvr>
                                        <p:cTn id="29" dur="500" fill="hold"/>
                                        <p:tgtEl>
                                          <p:spTgt spid="2"/>
                                        </p:tgtEl>
                                        <p:attrNameLst>
                                          <p:attrName>ppt_x</p:attrName>
                                        </p:attrNameLst>
                                      </p:cBhvr>
                                      <p:tavLst>
                                        <p:tav tm="0">
                                          <p:val>
                                            <p:strVal val="#ppt_x"/>
                                          </p:val>
                                        </p:tav>
                                        <p:tav tm="100000">
                                          <p:val>
                                            <p:strVal val="#ppt_x"/>
                                          </p:val>
                                        </p:tav>
                                      </p:tavLst>
                                    </p:anim>
                                    <p:anim calcmode="lin" valueType="num">
                                      <p:cBhvr>
                                        <p:cTn id="30"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ppt_x</p:attrName>
                                        </p:attrNameLst>
                                      </p:cBhvr>
                                      <p:tavLst>
                                        <p:tav tm="0">
                                          <p:val>
                                            <p:strVal val="#ppt_x"/>
                                          </p:val>
                                        </p:tav>
                                        <p:tav tm="100000">
                                          <p:val>
                                            <p:strVal val="#ppt_x"/>
                                          </p:val>
                                        </p:tav>
                                      </p:tavLst>
                                    </p:anim>
                                    <p:anim calcmode="lin" valueType="num">
                                      <p:cBhvr>
                                        <p:cTn id="37"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2" grpId="0"/>
      <p:bldP spid="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4">
            <a:extLst>
              <a:ext uri="{FF2B5EF4-FFF2-40B4-BE49-F238E27FC236}">
                <a16:creationId xmlns:a16="http://schemas.microsoft.com/office/drawing/2014/main" id="{4B2AA382-7DC7-44C5-4C4E-3C5564A1D32E}"/>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例题</a:t>
            </a:r>
          </a:p>
        </p:txBody>
      </p:sp>
      <p:sp>
        <p:nvSpPr>
          <p:cNvPr id="8" name="文本框 7">
            <a:extLst>
              <a:ext uri="{FF2B5EF4-FFF2-40B4-BE49-F238E27FC236}">
                <a16:creationId xmlns:a16="http://schemas.microsoft.com/office/drawing/2014/main" id="{AF379584-C5FC-A7E9-D33C-58E73DCEE677}"/>
              </a:ext>
            </a:extLst>
          </p:cNvPr>
          <p:cNvSpPr txBox="1"/>
          <p:nvPr/>
        </p:nvSpPr>
        <p:spPr>
          <a:xfrm>
            <a:off x="621524" y="1080478"/>
            <a:ext cx="4001416" cy="1532727"/>
          </a:xfrm>
          <a:prstGeom prst="rect">
            <a:avLst/>
          </a:prstGeom>
          <a:noFill/>
        </p:spPr>
        <p:txBody>
          <a:bodyPr wrap="none" rtlCol="0">
            <a:spAutoFit/>
          </a:bodyPr>
          <a:lstStyle/>
          <a:p>
            <a:pPr algn="just">
              <a:buClr>
                <a:schemeClr val="tx2"/>
              </a:buClr>
            </a:pPr>
            <a:r>
              <a:rPr lang="zh-CN" altLang="en-US" b="1" dirty="0"/>
              <a:t>四、</a:t>
            </a:r>
            <a:r>
              <a:rPr lang="en-US" altLang="zh-CN" b="1" dirty="0">
                <a:ea typeface="宋体" panose="02010600030101010101" pitchFamily="2" charset="-122"/>
              </a:rPr>
              <a:t>C</a:t>
            </a:r>
            <a:r>
              <a:rPr lang="zh-CN" altLang="en-US" b="1" dirty="0">
                <a:ea typeface="宋体" panose="02010600030101010101" pitchFamily="2" charset="-122"/>
              </a:rPr>
              <a:t>语言可以处理的文件类型是</a:t>
            </a:r>
            <a:r>
              <a:rPr lang="zh-CN" altLang="en-US" b="1" u="sng" dirty="0">
                <a:ea typeface="宋体" panose="02010600030101010101" pitchFamily="2" charset="-122"/>
              </a:rPr>
              <a:t>    </a:t>
            </a:r>
            <a:r>
              <a:rPr lang="zh-CN" altLang="en-US" b="1" dirty="0">
                <a:ea typeface="宋体" panose="02010600030101010101" pitchFamily="2" charset="-122"/>
              </a:rPr>
              <a:t>。</a:t>
            </a:r>
          </a:p>
          <a:p>
            <a:pPr marL="622300" indent="-622300" algn="just">
              <a:buFont typeface="Arial" panose="020B0604020202020204" pitchFamily="34" charset="0"/>
              <a:buNone/>
            </a:pPr>
            <a:r>
              <a:rPr lang="en-US" altLang="zh-CN" dirty="0">
                <a:ea typeface="宋体" panose="02010600030101010101" pitchFamily="2" charset="-122"/>
              </a:rPr>
              <a:t>A)  </a:t>
            </a:r>
            <a:r>
              <a:rPr lang="zh-CN" altLang="en-US" dirty="0">
                <a:ea typeface="宋体" panose="02010600030101010101" pitchFamily="2" charset="-122"/>
              </a:rPr>
              <a:t>文本文件和数据文件 </a:t>
            </a:r>
            <a:endParaRPr lang="en-US" altLang="zh-CN" dirty="0">
              <a:ea typeface="宋体" panose="02010600030101010101" pitchFamily="2" charset="-122"/>
            </a:endParaRPr>
          </a:p>
          <a:p>
            <a:pPr marL="622300" indent="-622300" algn="just">
              <a:buFont typeface="Arial" panose="020B0604020202020204" pitchFamily="34" charset="0"/>
              <a:buNone/>
            </a:pPr>
            <a:r>
              <a:rPr lang="en-US" altLang="zh-CN" dirty="0">
                <a:ea typeface="宋体" panose="02010600030101010101" pitchFamily="2" charset="-122"/>
              </a:rPr>
              <a:t>B)  </a:t>
            </a:r>
            <a:r>
              <a:rPr lang="zh-CN" altLang="en-US" dirty="0">
                <a:ea typeface="宋体" panose="02010600030101010101" pitchFamily="2" charset="-122"/>
              </a:rPr>
              <a:t>文本文件和二进制文件</a:t>
            </a:r>
          </a:p>
          <a:p>
            <a:pPr marL="622300" indent="-622300" algn="just">
              <a:spcBef>
                <a:spcPct val="10000"/>
              </a:spcBef>
              <a:buFont typeface="Arial" panose="020B0604020202020204" pitchFamily="34" charset="0"/>
              <a:buNone/>
            </a:pPr>
            <a:r>
              <a:rPr lang="en-US" altLang="zh-CN" dirty="0">
                <a:ea typeface="宋体" panose="02010600030101010101" pitchFamily="2" charset="-122"/>
              </a:rPr>
              <a:t>C)  </a:t>
            </a:r>
            <a:r>
              <a:rPr lang="zh-CN" altLang="en-US" dirty="0">
                <a:ea typeface="宋体" panose="02010600030101010101" pitchFamily="2" charset="-122"/>
              </a:rPr>
              <a:t>数据文件和二进制文件 </a:t>
            </a:r>
            <a:endParaRPr lang="en-US" altLang="zh-CN" dirty="0">
              <a:ea typeface="宋体" panose="02010600030101010101" pitchFamily="2" charset="-122"/>
            </a:endParaRPr>
          </a:p>
          <a:p>
            <a:pPr marL="622300" indent="-622300" algn="just">
              <a:spcBef>
                <a:spcPct val="10000"/>
              </a:spcBef>
              <a:buFont typeface="Arial" panose="020B0604020202020204" pitchFamily="34" charset="0"/>
              <a:buNone/>
            </a:pPr>
            <a:r>
              <a:rPr lang="en-US" altLang="zh-CN" dirty="0">
                <a:ea typeface="宋体" panose="02010600030101010101" pitchFamily="2" charset="-122"/>
              </a:rPr>
              <a:t>D)  </a:t>
            </a:r>
            <a:r>
              <a:rPr lang="zh-CN" altLang="en-US" dirty="0">
                <a:ea typeface="宋体" panose="02010600030101010101" pitchFamily="2" charset="-122"/>
              </a:rPr>
              <a:t>以上答案都不完全</a:t>
            </a:r>
          </a:p>
        </p:txBody>
      </p:sp>
      <p:sp>
        <p:nvSpPr>
          <p:cNvPr id="10" name="文本框 9">
            <a:extLst>
              <a:ext uri="{FF2B5EF4-FFF2-40B4-BE49-F238E27FC236}">
                <a16:creationId xmlns:a16="http://schemas.microsoft.com/office/drawing/2014/main" id="{F46FE770-664A-A116-5676-AECBBFCA1CE6}"/>
              </a:ext>
            </a:extLst>
          </p:cNvPr>
          <p:cNvSpPr txBox="1"/>
          <p:nvPr/>
        </p:nvSpPr>
        <p:spPr>
          <a:xfrm>
            <a:off x="5578668" y="1294888"/>
            <a:ext cx="615874" cy="1015663"/>
          </a:xfrm>
          <a:prstGeom prst="rect">
            <a:avLst/>
          </a:prstGeom>
          <a:noFill/>
        </p:spPr>
        <p:txBody>
          <a:bodyPr wrap="none" rtlCol="0">
            <a:spAutoFit/>
          </a:bodyPr>
          <a:lstStyle/>
          <a:p>
            <a:r>
              <a:rPr lang="en-US" altLang="zh-CN" sz="6000" b="1" dirty="0">
                <a:solidFill>
                  <a:srgbClr val="FF0000"/>
                </a:solidFill>
              </a:rPr>
              <a:t>B</a:t>
            </a:r>
            <a:endParaRPr lang="zh-CN" altLang="en-US" sz="6000" b="1" dirty="0">
              <a:solidFill>
                <a:srgbClr val="FF0000"/>
              </a:solidFill>
            </a:endParaRPr>
          </a:p>
        </p:txBody>
      </p:sp>
      <p:sp>
        <p:nvSpPr>
          <p:cNvPr id="12" name="文本框 11">
            <a:extLst>
              <a:ext uri="{FF2B5EF4-FFF2-40B4-BE49-F238E27FC236}">
                <a16:creationId xmlns:a16="http://schemas.microsoft.com/office/drawing/2014/main" id="{0888F61B-9600-7DC4-58CE-CAEDD3C89535}"/>
              </a:ext>
            </a:extLst>
          </p:cNvPr>
          <p:cNvSpPr txBox="1"/>
          <p:nvPr/>
        </p:nvSpPr>
        <p:spPr>
          <a:xfrm>
            <a:off x="640760" y="2777835"/>
            <a:ext cx="5940212" cy="1560427"/>
          </a:xfrm>
          <a:prstGeom prst="rect">
            <a:avLst/>
          </a:prstGeom>
          <a:noFill/>
        </p:spPr>
        <p:txBody>
          <a:bodyPr wrap="square" rtlCol="0">
            <a:spAutoFit/>
          </a:bodyPr>
          <a:lstStyle/>
          <a:p>
            <a:r>
              <a:rPr lang="zh-CN" altLang="en-US" b="1" dirty="0"/>
              <a:t>五、</a:t>
            </a:r>
            <a:r>
              <a:rPr lang="zh-CN" altLang="en-US" b="1" dirty="0">
                <a:ea typeface="宋体" panose="02010600030101010101" pitchFamily="2" charset="-122"/>
              </a:rPr>
              <a:t>下列关于文件的结论中正确的是</a:t>
            </a:r>
            <a:r>
              <a:rPr lang="zh-CN" altLang="en-US" b="1" u="sng" dirty="0">
                <a:ea typeface="宋体" panose="02010600030101010101" pitchFamily="2" charset="-122"/>
              </a:rPr>
              <a:t> </a:t>
            </a:r>
            <a:r>
              <a:rPr lang="en-US" altLang="zh-CN" b="1" u="sng" dirty="0">
                <a:ea typeface="宋体" panose="02010600030101010101" pitchFamily="2" charset="-122"/>
              </a:rPr>
              <a:t>__</a:t>
            </a:r>
            <a:r>
              <a:rPr lang="en-US" altLang="zh-CN" b="1" dirty="0">
                <a:ea typeface="宋体" panose="02010600030101010101" pitchFamily="2" charset="-122"/>
              </a:rPr>
              <a:t>.</a:t>
            </a:r>
            <a:endParaRPr lang="en-US" altLang="zh-CN" b="1" u="sng" dirty="0">
              <a:ea typeface="宋体" panose="02010600030101010101" pitchFamily="2" charset="-122"/>
            </a:endParaRPr>
          </a:p>
          <a:p>
            <a:pPr marL="622300" indent="-622300">
              <a:buNone/>
            </a:pPr>
            <a:r>
              <a:rPr lang="en-US" altLang="zh-CN" dirty="0">
                <a:ea typeface="宋体" panose="02010600030101010101" pitchFamily="2" charset="-122"/>
              </a:rPr>
              <a:t>A)  </a:t>
            </a:r>
            <a:r>
              <a:rPr lang="zh-CN" altLang="en-US" dirty="0">
                <a:ea typeface="宋体" panose="02010600030101010101" pitchFamily="2" charset="-122"/>
              </a:rPr>
              <a:t>对文件操作必须先关闭文件</a:t>
            </a:r>
          </a:p>
          <a:p>
            <a:pPr marL="622300" indent="-622300">
              <a:spcBef>
                <a:spcPct val="10000"/>
              </a:spcBef>
              <a:buNone/>
            </a:pPr>
            <a:r>
              <a:rPr lang="en-US" altLang="zh-CN" dirty="0">
                <a:ea typeface="宋体" panose="02010600030101010101" pitchFamily="2" charset="-122"/>
              </a:rPr>
              <a:t>B)  </a:t>
            </a:r>
            <a:r>
              <a:rPr lang="zh-CN" altLang="en-US" dirty="0">
                <a:ea typeface="宋体" panose="02010600030101010101" pitchFamily="2" charset="-122"/>
              </a:rPr>
              <a:t>对文件操作必须先打开文件</a:t>
            </a:r>
          </a:p>
          <a:p>
            <a:pPr marL="622300" indent="-622300">
              <a:spcBef>
                <a:spcPct val="10000"/>
              </a:spcBef>
              <a:buNone/>
            </a:pPr>
            <a:r>
              <a:rPr lang="en-US" altLang="zh-CN" dirty="0">
                <a:ea typeface="宋体" panose="02010600030101010101" pitchFamily="2" charset="-122"/>
              </a:rPr>
              <a:t>C)  </a:t>
            </a:r>
            <a:r>
              <a:rPr lang="zh-CN" altLang="en-US" dirty="0">
                <a:ea typeface="宋体" panose="02010600030101010101" pitchFamily="2" charset="-122"/>
              </a:rPr>
              <a:t>对文件的操作顺序没有统一规定</a:t>
            </a:r>
          </a:p>
          <a:p>
            <a:pPr marL="622300" indent="-622300">
              <a:spcBef>
                <a:spcPct val="10000"/>
              </a:spcBef>
              <a:buNone/>
            </a:pPr>
            <a:r>
              <a:rPr lang="en-US" altLang="zh-CN" dirty="0">
                <a:ea typeface="宋体" panose="02010600030101010101" pitchFamily="2" charset="-122"/>
              </a:rPr>
              <a:t>D)  </a:t>
            </a:r>
            <a:r>
              <a:rPr lang="zh-CN" altLang="en-US" dirty="0">
                <a:ea typeface="宋体" panose="02010600030101010101" pitchFamily="2" charset="-122"/>
              </a:rPr>
              <a:t>以上三种答案全是错误的</a:t>
            </a:r>
          </a:p>
        </p:txBody>
      </p:sp>
      <p:sp>
        <p:nvSpPr>
          <p:cNvPr id="13" name="文本框 12">
            <a:extLst>
              <a:ext uri="{FF2B5EF4-FFF2-40B4-BE49-F238E27FC236}">
                <a16:creationId xmlns:a16="http://schemas.microsoft.com/office/drawing/2014/main" id="{F421A52F-6C28-F4CA-2A5D-7E7595F9930A}"/>
              </a:ext>
            </a:extLst>
          </p:cNvPr>
          <p:cNvSpPr txBox="1"/>
          <p:nvPr/>
        </p:nvSpPr>
        <p:spPr>
          <a:xfrm>
            <a:off x="5667204" y="3139395"/>
            <a:ext cx="615874" cy="1015663"/>
          </a:xfrm>
          <a:prstGeom prst="rect">
            <a:avLst/>
          </a:prstGeom>
          <a:noFill/>
        </p:spPr>
        <p:txBody>
          <a:bodyPr wrap="none" rtlCol="0">
            <a:spAutoFit/>
          </a:bodyPr>
          <a:lstStyle/>
          <a:p>
            <a:r>
              <a:rPr lang="en-US" altLang="zh-CN" sz="6000" b="1" dirty="0">
                <a:solidFill>
                  <a:srgbClr val="FF0000"/>
                </a:solidFill>
              </a:rPr>
              <a:t>B</a:t>
            </a:r>
            <a:endParaRPr lang="zh-CN" altLang="en-US" sz="6000" b="1" dirty="0">
              <a:solidFill>
                <a:srgbClr val="FF0000"/>
              </a:solidFill>
            </a:endParaRPr>
          </a:p>
        </p:txBody>
      </p:sp>
      <p:sp>
        <p:nvSpPr>
          <p:cNvPr id="2" name="文本框 1">
            <a:extLst>
              <a:ext uri="{FF2B5EF4-FFF2-40B4-BE49-F238E27FC236}">
                <a16:creationId xmlns:a16="http://schemas.microsoft.com/office/drawing/2014/main" id="{544A357A-6D83-C150-1C30-02C35331032E}"/>
              </a:ext>
            </a:extLst>
          </p:cNvPr>
          <p:cNvSpPr txBox="1"/>
          <p:nvPr/>
        </p:nvSpPr>
        <p:spPr>
          <a:xfrm>
            <a:off x="640760" y="4450454"/>
            <a:ext cx="5940212" cy="1477328"/>
          </a:xfrm>
          <a:prstGeom prst="rect">
            <a:avLst/>
          </a:prstGeom>
          <a:noFill/>
        </p:spPr>
        <p:txBody>
          <a:bodyPr wrap="square" rtlCol="0">
            <a:spAutoFit/>
          </a:bodyPr>
          <a:lstStyle/>
          <a:p>
            <a:pPr algn="just">
              <a:buClr>
                <a:schemeClr val="tx2"/>
              </a:buClr>
            </a:pPr>
            <a:r>
              <a:rPr lang="zh-CN" altLang="en-US" b="1" dirty="0"/>
              <a:t>六、</a:t>
            </a:r>
            <a:r>
              <a:rPr lang="zh-CN" altLang="en-US" b="1" dirty="0">
                <a:ea typeface="宋体" panose="02010600030101010101" pitchFamily="2" charset="-122"/>
              </a:rPr>
              <a:t>系统的标准输入文件是</a:t>
            </a:r>
            <a:r>
              <a:rPr lang="zh-CN" altLang="en-US" b="1" u="sng" dirty="0">
                <a:ea typeface="宋体" panose="02010600030101010101" pitchFamily="2" charset="-122"/>
              </a:rPr>
              <a:t> </a:t>
            </a:r>
            <a:r>
              <a:rPr lang="en-US" altLang="zh-CN" b="1" u="sng" dirty="0">
                <a:ea typeface="宋体" panose="02010600030101010101" pitchFamily="2" charset="-122"/>
              </a:rPr>
              <a:t>__</a:t>
            </a:r>
            <a:r>
              <a:rPr lang="zh-CN" altLang="en-US" b="1" dirty="0">
                <a:ea typeface="宋体" panose="02010600030101010101" pitchFamily="2" charset="-122"/>
              </a:rPr>
              <a:t>。</a:t>
            </a:r>
          </a:p>
          <a:p>
            <a:pPr algn="just"/>
            <a:r>
              <a:rPr lang="en-US" altLang="zh-CN" dirty="0">
                <a:ea typeface="宋体" panose="02010600030101010101" pitchFamily="2" charset="-122"/>
              </a:rPr>
              <a:t>A)  </a:t>
            </a:r>
            <a:r>
              <a:rPr lang="zh-CN" altLang="en-US" dirty="0">
                <a:ea typeface="宋体" panose="02010600030101010101" pitchFamily="2" charset="-122"/>
              </a:rPr>
              <a:t>键盘     </a:t>
            </a:r>
            <a:endParaRPr lang="en-US" altLang="zh-CN" dirty="0">
              <a:ea typeface="宋体" panose="02010600030101010101" pitchFamily="2" charset="-122"/>
            </a:endParaRPr>
          </a:p>
          <a:p>
            <a:pPr algn="just"/>
            <a:r>
              <a:rPr lang="en-US" altLang="zh-CN" dirty="0">
                <a:ea typeface="宋体" panose="02010600030101010101" pitchFamily="2" charset="-122"/>
              </a:rPr>
              <a:t>B)  </a:t>
            </a:r>
            <a:r>
              <a:rPr lang="zh-CN" altLang="en-US" dirty="0">
                <a:ea typeface="宋体" panose="02010600030101010101" pitchFamily="2" charset="-122"/>
              </a:rPr>
              <a:t>显示器     </a:t>
            </a:r>
            <a:endParaRPr lang="en-US" altLang="zh-CN" dirty="0">
              <a:ea typeface="宋体" panose="02010600030101010101" pitchFamily="2" charset="-122"/>
            </a:endParaRPr>
          </a:p>
          <a:p>
            <a:pPr algn="just"/>
            <a:r>
              <a:rPr lang="en-US" altLang="zh-CN" dirty="0">
                <a:ea typeface="宋体" panose="02010600030101010101" pitchFamily="2" charset="-122"/>
              </a:rPr>
              <a:t>C)  </a:t>
            </a:r>
            <a:r>
              <a:rPr lang="zh-CN" altLang="en-US" dirty="0">
                <a:ea typeface="宋体" panose="02010600030101010101" pitchFamily="2" charset="-122"/>
              </a:rPr>
              <a:t>软盘    </a:t>
            </a:r>
            <a:endParaRPr lang="en-US" altLang="zh-CN" dirty="0">
              <a:ea typeface="宋体" panose="02010600030101010101" pitchFamily="2" charset="-122"/>
            </a:endParaRPr>
          </a:p>
          <a:p>
            <a:pPr algn="just"/>
            <a:r>
              <a:rPr lang="en-US" altLang="zh-CN" dirty="0">
                <a:ea typeface="宋体" panose="02010600030101010101" pitchFamily="2" charset="-122"/>
              </a:rPr>
              <a:t>D)  </a:t>
            </a:r>
            <a:r>
              <a:rPr lang="zh-CN" altLang="en-US" dirty="0">
                <a:ea typeface="宋体" panose="02010600030101010101" pitchFamily="2" charset="-122"/>
              </a:rPr>
              <a:t>硬盘</a:t>
            </a:r>
          </a:p>
        </p:txBody>
      </p:sp>
      <p:sp>
        <p:nvSpPr>
          <p:cNvPr id="9" name="文本框 8">
            <a:extLst>
              <a:ext uri="{FF2B5EF4-FFF2-40B4-BE49-F238E27FC236}">
                <a16:creationId xmlns:a16="http://schemas.microsoft.com/office/drawing/2014/main" id="{D4465C0F-118C-060D-CBC9-123698ABDAEA}"/>
              </a:ext>
            </a:extLst>
          </p:cNvPr>
          <p:cNvSpPr txBox="1"/>
          <p:nvPr/>
        </p:nvSpPr>
        <p:spPr>
          <a:xfrm>
            <a:off x="5667204" y="4681286"/>
            <a:ext cx="651140" cy="1015663"/>
          </a:xfrm>
          <a:prstGeom prst="rect">
            <a:avLst/>
          </a:prstGeom>
          <a:noFill/>
        </p:spPr>
        <p:txBody>
          <a:bodyPr wrap="none" rtlCol="0">
            <a:spAutoFit/>
          </a:bodyPr>
          <a:lstStyle/>
          <a:p>
            <a:r>
              <a:rPr lang="en-US" altLang="zh-CN" sz="6000" b="1" dirty="0">
                <a:solidFill>
                  <a:srgbClr val="FF0000"/>
                </a:solidFill>
              </a:rPr>
              <a:t>A</a:t>
            </a:r>
            <a:endParaRPr lang="zh-CN" altLang="en-US" sz="6000" b="1" dirty="0">
              <a:solidFill>
                <a:srgbClr val="FF0000"/>
              </a:solidFill>
            </a:endParaRPr>
          </a:p>
        </p:txBody>
      </p:sp>
    </p:spTree>
    <p:extLst>
      <p:ext uri="{BB962C8B-B14F-4D97-AF65-F5344CB8AC3E}">
        <p14:creationId xmlns:p14="http://schemas.microsoft.com/office/powerpoint/2010/main" val="1476404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anim calcmode="lin" valueType="num">
                                      <p:cBhvr>
                                        <p:cTn id="15" dur="500" fill="hold"/>
                                        <p:tgtEl>
                                          <p:spTgt spid="12"/>
                                        </p:tgtEl>
                                        <p:attrNameLst>
                                          <p:attrName>ppt_x</p:attrName>
                                        </p:attrNameLst>
                                      </p:cBhvr>
                                      <p:tavLst>
                                        <p:tav tm="0">
                                          <p:val>
                                            <p:strVal val="#ppt_x"/>
                                          </p:val>
                                        </p:tav>
                                        <p:tav tm="100000">
                                          <p:val>
                                            <p:strVal val="#ppt_x"/>
                                          </p:val>
                                        </p:tav>
                                      </p:tavLst>
                                    </p:anim>
                                    <p:anim calcmode="lin" valueType="num">
                                      <p:cBhvr>
                                        <p:cTn id="1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anim calcmode="lin" valueType="num">
                                      <p:cBhvr>
                                        <p:cTn id="29" dur="500" fill="hold"/>
                                        <p:tgtEl>
                                          <p:spTgt spid="2"/>
                                        </p:tgtEl>
                                        <p:attrNameLst>
                                          <p:attrName>ppt_x</p:attrName>
                                        </p:attrNameLst>
                                      </p:cBhvr>
                                      <p:tavLst>
                                        <p:tav tm="0">
                                          <p:val>
                                            <p:strVal val="#ppt_x"/>
                                          </p:val>
                                        </p:tav>
                                        <p:tav tm="100000">
                                          <p:val>
                                            <p:strVal val="#ppt_x"/>
                                          </p:val>
                                        </p:tav>
                                      </p:tavLst>
                                    </p:anim>
                                    <p:anim calcmode="lin" valueType="num">
                                      <p:cBhvr>
                                        <p:cTn id="30"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ppt_x</p:attrName>
                                        </p:attrNameLst>
                                      </p:cBhvr>
                                      <p:tavLst>
                                        <p:tav tm="0">
                                          <p:val>
                                            <p:strVal val="#ppt_x"/>
                                          </p:val>
                                        </p:tav>
                                        <p:tav tm="100000">
                                          <p:val>
                                            <p:strVal val="#ppt_x"/>
                                          </p:val>
                                        </p:tav>
                                      </p:tavLst>
                                    </p:anim>
                                    <p:anim calcmode="lin" valueType="num">
                                      <p:cBhvr>
                                        <p:cTn id="37"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2" grpId="0"/>
      <p:bldP spid="9"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4">
            <a:extLst>
              <a:ext uri="{FF2B5EF4-FFF2-40B4-BE49-F238E27FC236}">
                <a16:creationId xmlns:a16="http://schemas.microsoft.com/office/drawing/2014/main" id="{4B2AA382-7DC7-44C5-4C4E-3C5564A1D32E}"/>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文件</a:t>
            </a:r>
            <a:r>
              <a:rPr lang="en-US" altLang="zh-CN" sz="3600" b="1" dirty="0"/>
              <a:t>-</a:t>
            </a:r>
            <a:r>
              <a:rPr lang="zh-CN" altLang="en-US" sz="3600" b="1" dirty="0"/>
              <a:t>例题</a:t>
            </a:r>
          </a:p>
        </p:txBody>
      </p:sp>
      <p:sp>
        <p:nvSpPr>
          <p:cNvPr id="8" name="文本框 7">
            <a:extLst>
              <a:ext uri="{FF2B5EF4-FFF2-40B4-BE49-F238E27FC236}">
                <a16:creationId xmlns:a16="http://schemas.microsoft.com/office/drawing/2014/main" id="{AF379584-C5FC-A7E9-D33C-58E73DCEE677}"/>
              </a:ext>
            </a:extLst>
          </p:cNvPr>
          <p:cNvSpPr txBox="1"/>
          <p:nvPr/>
        </p:nvSpPr>
        <p:spPr>
          <a:xfrm>
            <a:off x="640760" y="1080478"/>
            <a:ext cx="8244565" cy="1477328"/>
          </a:xfrm>
          <a:prstGeom prst="rect">
            <a:avLst/>
          </a:prstGeom>
          <a:noFill/>
        </p:spPr>
        <p:txBody>
          <a:bodyPr wrap="none" rtlCol="0">
            <a:spAutoFit/>
          </a:bodyPr>
          <a:lstStyle/>
          <a:p>
            <a:pPr>
              <a:buClr>
                <a:schemeClr val="tx2"/>
              </a:buClr>
            </a:pPr>
            <a:r>
              <a:rPr lang="zh-CN" altLang="en-US" b="1" dirty="0"/>
              <a:t>七、</a:t>
            </a:r>
            <a:r>
              <a:rPr lang="zh-CN" altLang="en-US" sz="1800" b="1" dirty="0">
                <a:ea typeface="宋体" panose="02010600030101010101" pitchFamily="2" charset="-122"/>
              </a:rPr>
              <a:t>为了显示一个文本文件的内容，在打开文件时，文件的打开方式应当是</a:t>
            </a:r>
            <a:r>
              <a:rPr lang="zh-CN" altLang="en-US" sz="1800" b="1" u="sng" dirty="0">
                <a:ea typeface="宋体" panose="02010600030101010101" pitchFamily="2" charset="-122"/>
              </a:rPr>
              <a:t>    </a:t>
            </a:r>
            <a:r>
              <a:rPr lang="zh-CN" altLang="en-US" sz="1800" b="1" dirty="0">
                <a:ea typeface="宋体" panose="02010600030101010101" pitchFamily="2" charset="-122"/>
              </a:rPr>
              <a:t>。</a:t>
            </a:r>
            <a:endParaRPr lang="zh-CN" altLang="zh-CN" sz="1800" b="1" dirty="0">
              <a:ea typeface="宋体" panose="02010600030101010101" pitchFamily="2" charset="-122"/>
            </a:endParaRPr>
          </a:p>
          <a:p>
            <a:pPr marL="342900" indent="-342900">
              <a:buAutoNum type="alphaUcParenR"/>
            </a:pPr>
            <a:r>
              <a:rPr lang="en-US" altLang="zh-CN" dirty="0"/>
              <a:t>“r+”</a:t>
            </a:r>
          </a:p>
          <a:p>
            <a:pPr marL="342900" indent="-342900">
              <a:buAutoNum type="alphaUcParenR"/>
            </a:pPr>
            <a:r>
              <a:rPr lang="en-US" altLang="zh-CN" dirty="0"/>
              <a:t>“w+”</a:t>
            </a:r>
          </a:p>
          <a:p>
            <a:pPr marL="342900" indent="-342900">
              <a:buAutoNum type="alphaUcParenR"/>
            </a:pPr>
            <a:r>
              <a:rPr lang="en-US" altLang="zh-CN" dirty="0"/>
              <a:t>“</a:t>
            </a:r>
            <a:r>
              <a:rPr lang="en-US" altLang="zh-CN" dirty="0" err="1"/>
              <a:t>wb</a:t>
            </a:r>
            <a:r>
              <a:rPr lang="en-US" altLang="zh-CN" dirty="0"/>
              <a:t>+”</a:t>
            </a:r>
          </a:p>
          <a:p>
            <a:r>
              <a:rPr lang="en-US" altLang="zh-CN" dirty="0"/>
              <a:t>D)  “ab+”</a:t>
            </a:r>
          </a:p>
        </p:txBody>
      </p:sp>
      <p:sp>
        <p:nvSpPr>
          <p:cNvPr id="10" name="文本框 9">
            <a:extLst>
              <a:ext uri="{FF2B5EF4-FFF2-40B4-BE49-F238E27FC236}">
                <a16:creationId xmlns:a16="http://schemas.microsoft.com/office/drawing/2014/main" id="{F46FE770-664A-A116-5676-AECBBFCA1CE6}"/>
              </a:ext>
            </a:extLst>
          </p:cNvPr>
          <p:cNvSpPr txBox="1"/>
          <p:nvPr/>
        </p:nvSpPr>
        <p:spPr>
          <a:xfrm>
            <a:off x="5578668" y="1294888"/>
            <a:ext cx="651140" cy="1015663"/>
          </a:xfrm>
          <a:prstGeom prst="rect">
            <a:avLst/>
          </a:prstGeom>
          <a:noFill/>
        </p:spPr>
        <p:txBody>
          <a:bodyPr wrap="none" rtlCol="0">
            <a:spAutoFit/>
          </a:bodyPr>
          <a:lstStyle/>
          <a:p>
            <a:r>
              <a:rPr lang="en-US" altLang="zh-CN" sz="6000" b="1" dirty="0">
                <a:solidFill>
                  <a:srgbClr val="FF0000"/>
                </a:solidFill>
              </a:rPr>
              <a:t>A</a:t>
            </a:r>
            <a:endParaRPr lang="zh-CN" altLang="en-US" sz="6000" b="1" dirty="0">
              <a:solidFill>
                <a:srgbClr val="FF0000"/>
              </a:solidFill>
            </a:endParaRPr>
          </a:p>
        </p:txBody>
      </p:sp>
      <p:sp>
        <p:nvSpPr>
          <p:cNvPr id="12" name="文本框 11">
            <a:extLst>
              <a:ext uri="{FF2B5EF4-FFF2-40B4-BE49-F238E27FC236}">
                <a16:creationId xmlns:a16="http://schemas.microsoft.com/office/drawing/2014/main" id="{0888F61B-9600-7DC4-58CE-CAEDD3C89535}"/>
              </a:ext>
            </a:extLst>
          </p:cNvPr>
          <p:cNvSpPr txBox="1"/>
          <p:nvPr/>
        </p:nvSpPr>
        <p:spPr>
          <a:xfrm>
            <a:off x="640759" y="3361081"/>
            <a:ext cx="7386959" cy="1463478"/>
          </a:xfrm>
          <a:prstGeom prst="rect">
            <a:avLst/>
          </a:prstGeom>
          <a:noFill/>
        </p:spPr>
        <p:txBody>
          <a:bodyPr wrap="square" rtlCol="0">
            <a:spAutoFit/>
          </a:bodyPr>
          <a:lstStyle/>
          <a:p>
            <a:pPr>
              <a:lnSpc>
                <a:spcPct val="95000"/>
              </a:lnSpc>
              <a:buClr>
                <a:schemeClr val="tx2"/>
              </a:buClr>
            </a:pPr>
            <a:r>
              <a:rPr lang="zh-CN" altLang="en-US" b="1" dirty="0"/>
              <a:t>八、</a:t>
            </a:r>
            <a:r>
              <a:rPr lang="zh-CN" altLang="en-US" b="1" dirty="0">
                <a:ea typeface="宋体" panose="02010600030101010101" pitchFamily="2" charset="-122"/>
              </a:rPr>
              <a:t>要将一个结构数组存入一个二进制文件中，应当使用函数</a:t>
            </a:r>
            <a:r>
              <a:rPr lang="zh-CN" altLang="en-US" b="1" u="sng" dirty="0">
                <a:ea typeface="宋体" panose="02010600030101010101" pitchFamily="2" charset="-122"/>
              </a:rPr>
              <a:t>    </a:t>
            </a:r>
            <a:r>
              <a:rPr lang="zh-CN" altLang="en-US" b="1" dirty="0">
                <a:ea typeface="宋体" panose="02010600030101010101" pitchFamily="2" charset="-122"/>
              </a:rPr>
              <a:t>。</a:t>
            </a:r>
          </a:p>
          <a:p>
            <a:pPr marL="342900" indent="-342900">
              <a:buAutoNum type="alphaUcParenR"/>
            </a:pPr>
            <a:r>
              <a:rPr lang="en-US" altLang="zh-CN" dirty="0" err="1">
                <a:ea typeface="宋体" panose="02010600030101010101" pitchFamily="2" charset="-122"/>
              </a:rPr>
              <a:t>fputc</a:t>
            </a:r>
            <a:r>
              <a:rPr lang="en-US" altLang="zh-CN" dirty="0">
                <a:ea typeface="宋体" panose="02010600030101010101" pitchFamily="2" charset="-122"/>
              </a:rPr>
              <a:t> </a:t>
            </a:r>
          </a:p>
          <a:p>
            <a:pPr marL="342900" indent="-342900">
              <a:buAutoNum type="alphaUcParenR"/>
            </a:pPr>
            <a:r>
              <a:rPr lang="en-US" altLang="zh-CN" dirty="0" err="1"/>
              <a:t>fputs</a:t>
            </a:r>
            <a:endParaRPr lang="en-US" altLang="zh-CN" dirty="0"/>
          </a:p>
          <a:p>
            <a:r>
              <a:rPr lang="en-US" altLang="zh-CN" dirty="0"/>
              <a:t>C)   </a:t>
            </a:r>
            <a:r>
              <a:rPr lang="en-US" altLang="zh-CN" dirty="0" err="1"/>
              <a:t>fprintf</a:t>
            </a:r>
            <a:endParaRPr lang="en-US" altLang="zh-CN" dirty="0"/>
          </a:p>
          <a:p>
            <a:r>
              <a:rPr lang="en-US" altLang="zh-CN" dirty="0"/>
              <a:t>D)   </a:t>
            </a:r>
            <a:r>
              <a:rPr lang="en-US" altLang="zh-CN" dirty="0" err="1"/>
              <a:t>fwrite</a:t>
            </a:r>
            <a:endParaRPr lang="zh-CN" altLang="en-US" dirty="0"/>
          </a:p>
        </p:txBody>
      </p:sp>
      <p:sp>
        <p:nvSpPr>
          <p:cNvPr id="13" name="文本框 12">
            <a:extLst>
              <a:ext uri="{FF2B5EF4-FFF2-40B4-BE49-F238E27FC236}">
                <a16:creationId xmlns:a16="http://schemas.microsoft.com/office/drawing/2014/main" id="{F421A52F-6C28-F4CA-2A5D-7E7595F9930A}"/>
              </a:ext>
            </a:extLst>
          </p:cNvPr>
          <p:cNvSpPr txBox="1"/>
          <p:nvPr/>
        </p:nvSpPr>
        <p:spPr>
          <a:xfrm>
            <a:off x="6450975" y="3716562"/>
            <a:ext cx="670376" cy="1015663"/>
          </a:xfrm>
          <a:prstGeom prst="rect">
            <a:avLst/>
          </a:prstGeom>
          <a:noFill/>
        </p:spPr>
        <p:txBody>
          <a:bodyPr wrap="none" rtlCol="0">
            <a:spAutoFit/>
          </a:bodyPr>
          <a:lstStyle/>
          <a:p>
            <a:r>
              <a:rPr lang="en-US" altLang="zh-CN" sz="6000" b="1" dirty="0">
                <a:solidFill>
                  <a:srgbClr val="FF0000"/>
                </a:solidFill>
              </a:rPr>
              <a:t>D</a:t>
            </a:r>
            <a:endParaRPr lang="zh-CN" altLang="en-US" sz="6000" b="1" dirty="0">
              <a:solidFill>
                <a:srgbClr val="FF0000"/>
              </a:solidFill>
            </a:endParaRPr>
          </a:p>
        </p:txBody>
      </p:sp>
    </p:spTree>
    <p:extLst>
      <p:ext uri="{BB962C8B-B14F-4D97-AF65-F5344CB8AC3E}">
        <p14:creationId xmlns:p14="http://schemas.microsoft.com/office/powerpoint/2010/main" val="18050216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anim calcmode="lin" valueType="num">
                                      <p:cBhvr>
                                        <p:cTn id="15" dur="500" fill="hold"/>
                                        <p:tgtEl>
                                          <p:spTgt spid="12"/>
                                        </p:tgtEl>
                                        <p:attrNameLst>
                                          <p:attrName>ppt_x</p:attrName>
                                        </p:attrNameLst>
                                      </p:cBhvr>
                                      <p:tavLst>
                                        <p:tav tm="0">
                                          <p:val>
                                            <p:strVal val="#ppt_x"/>
                                          </p:val>
                                        </p:tav>
                                        <p:tav tm="100000">
                                          <p:val>
                                            <p:strVal val="#ppt_x"/>
                                          </p:val>
                                        </p:tav>
                                      </p:tavLst>
                                    </p:anim>
                                    <p:anim calcmode="lin" valueType="num">
                                      <p:cBhvr>
                                        <p:cTn id="1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anim calcmode="lin" valueType="num">
                                      <p:cBhvr>
                                        <p:cTn id="22" dur="500" fill="hold"/>
                                        <p:tgtEl>
                                          <p:spTgt spid="13"/>
                                        </p:tgtEl>
                                        <p:attrNameLst>
                                          <p:attrName>ppt_x</p:attrName>
                                        </p:attrNameLst>
                                      </p:cBhvr>
                                      <p:tavLst>
                                        <p:tav tm="0">
                                          <p:val>
                                            <p:strVal val="#ppt_x"/>
                                          </p:val>
                                        </p:tav>
                                        <p:tav tm="100000">
                                          <p:val>
                                            <p:strVal val="#ppt_x"/>
                                          </p:val>
                                        </p:tav>
                                      </p:tavLst>
                                    </p:anim>
                                    <p:anim calcmode="lin" valueType="num">
                                      <p:cBhvr>
                                        <p:cTn id="2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6" name="矩形 5"/>
          <p:cNvSpPr/>
          <p:nvPr/>
        </p:nvSpPr>
        <p:spPr>
          <a:xfrm>
            <a:off x="724474" y="2281145"/>
            <a:ext cx="11065003" cy="76944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4" name="TextBox 3"/>
          <p:cNvSpPr txBox="1"/>
          <p:nvPr/>
        </p:nvSpPr>
        <p:spPr>
          <a:xfrm>
            <a:off x="14140743" y="-1567112"/>
            <a:ext cx="184731" cy="7940635"/>
          </a:xfrm>
          <a:prstGeom prst="rect">
            <a:avLst/>
          </a:prstGeom>
          <a:noFill/>
          <a:effectLst>
            <a:outerShdw blurRad="165100" dist="76200" dir="1200000" algn="tl" rotWithShape="0">
              <a:prstClr val="black">
                <a:alpha val="10000"/>
              </a:prstClr>
            </a:outerShdw>
          </a:effectLst>
        </p:spPr>
        <p:txBody>
          <a:bodyPr wrap="none">
            <a:spAutoFit/>
          </a:bodyPr>
          <a:lstStyle/>
          <a:p>
            <a:pPr>
              <a:defRPr/>
            </a:pPr>
            <a:endParaRPr lang="en-US" sz="51000" dirty="0">
              <a:solidFill>
                <a:prstClr val="white"/>
              </a:solidFill>
              <a:latin typeface="Microsoft YaHei UI" panose="020B0503020204020204" pitchFamily="34" charset="-122"/>
              <a:ea typeface="微软雅黑" panose="020B0503020204020204" pitchFamily="34" charset="-122"/>
              <a:cs typeface="+mn-ea"/>
              <a:sym typeface="+mn-lt"/>
            </a:endParaRPr>
          </a:p>
        </p:txBody>
      </p:sp>
      <p:sp>
        <p:nvSpPr>
          <p:cNvPr id="12" name="TextBox 3">
            <a:extLst>
              <a:ext uri="{FF2B5EF4-FFF2-40B4-BE49-F238E27FC236}">
                <a16:creationId xmlns:a16="http://schemas.microsoft.com/office/drawing/2014/main" id="{AF37E555-749C-C24C-DBE2-033586B38767}"/>
              </a:ext>
            </a:extLst>
          </p:cNvPr>
          <p:cNvSpPr txBox="1"/>
          <p:nvPr/>
        </p:nvSpPr>
        <p:spPr>
          <a:xfrm>
            <a:off x="7604763" y="-761329"/>
            <a:ext cx="4020652" cy="7940635"/>
          </a:xfrm>
          <a:prstGeom prst="rect">
            <a:avLst/>
          </a:prstGeom>
          <a:noFill/>
          <a:effectLst>
            <a:outerShdw blurRad="165100" dist="76200" dir="1200000" algn="tl" rotWithShape="0">
              <a:prstClr val="black">
                <a:alpha val="10000"/>
              </a:prstClr>
            </a:outerShdw>
          </a:effectLst>
        </p:spPr>
        <p:txBody>
          <a:bodyPr wrap="none">
            <a:spAutoFit/>
          </a:bodyPr>
          <a:lstStyle/>
          <a:p>
            <a:pPr>
              <a:defRPr/>
            </a:pPr>
            <a:r>
              <a:rPr lang="en-US" sz="51000" dirty="0">
                <a:solidFill>
                  <a:prstClr val="white"/>
                </a:solidFill>
                <a:latin typeface="Microsoft YaHei UI" panose="020B0503020204020204" pitchFamily="34" charset="-122"/>
                <a:ea typeface="微软雅黑" panose="020B0503020204020204" pitchFamily="34" charset="-122"/>
                <a:cs typeface="+mn-ea"/>
                <a:sym typeface="+mn-lt"/>
              </a:rPr>
              <a:t>8</a:t>
            </a:r>
          </a:p>
        </p:txBody>
      </p:sp>
      <p:sp>
        <p:nvSpPr>
          <p:cNvPr id="13" name="矩形 12">
            <a:extLst>
              <a:ext uri="{FF2B5EF4-FFF2-40B4-BE49-F238E27FC236}">
                <a16:creationId xmlns:a16="http://schemas.microsoft.com/office/drawing/2014/main" id="{0742410E-CAE6-5B09-6DA3-78048FB24FAD}"/>
              </a:ext>
            </a:extLst>
          </p:cNvPr>
          <p:cNvSpPr/>
          <p:nvPr/>
        </p:nvSpPr>
        <p:spPr>
          <a:xfrm>
            <a:off x="1137315" y="2200192"/>
            <a:ext cx="3798205" cy="769441"/>
          </a:xfrm>
          <a:prstGeom prst="rect">
            <a:avLst/>
          </a:prstGeom>
        </p:spPr>
        <p:txBody>
          <a:bodyPr wrap="square">
            <a:spAutoFit/>
          </a:bodyPr>
          <a:lstStyle/>
          <a:p>
            <a:pPr>
              <a:defRPr/>
            </a:pPr>
            <a:r>
              <a:rPr lang="zh-CN" altLang="en-US" sz="4400" dirty="0">
                <a:solidFill>
                  <a:schemeClr val="bg1"/>
                </a:solidFill>
                <a:latin typeface="黑体" panose="02010609060101010101" pitchFamily="49" charset="-122"/>
                <a:ea typeface="黑体" panose="02010609060101010101" pitchFamily="49" charset="-122"/>
                <a:cs typeface="+mn-ea"/>
                <a:sym typeface="+mn-lt"/>
              </a:rPr>
              <a:t>链表</a:t>
            </a:r>
          </a:p>
        </p:txBody>
      </p:sp>
      <p:sp>
        <p:nvSpPr>
          <p:cNvPr id="14" name="矩形 13">
            <a:extLst>
              <a:ext uri="{FF2B5EF4-FFF2-40B4-BE49-F238E27FC236}">
                <a16:creationId xmlns:a16="http://schemas.microsoft.com/office/drawing/2014/main" id="{B6F6B126-1A24-131C-6525-B09A2C4DFF8E}"/>
              </a:ext>
            </a:extLst>
          </p:cNvPr>
          <p:cNvSpPr/>
          <p:nvPr/>
        </p:nvSpPr>
        <p:spPr>
          <a:xfrm>
            <a:off x="781516" y="1511705"/>
            <a:ext cx="6199591" cy="769441"/>
          </a:xfrm>
          <a:prstGeom prst="rect">
            <a:avLst/>
          </a:prstGeom>
        </p:spPr>
        <p:txBody>
          <a:bodyPr wrap="square">
            <a:spAutoFit/>
          </a:bodyPr>
          <a:lstStyle/>
          <a:p>
            <a:pPr>
              <a:defRPr/>
            </a:pPr>
            <a:r>
              <a:rPr lang="en-US" altLang="zh-CN" sz="4400" dirty="0">
                <a:solidFill>
                  <a:prstClr val="white"/>
                </a:solidFill>
                <a:latin typeface="Microsoft YaHei UI" panose="020B0503020204020204" pitchFamily="34" charset="-122"/>
                <a:ea typeface="Microsoft YaHei UI" panose="020B0503020204020204" pitchFamily="34" charset="-122"/>
                <a:cs typeface="+mn-ea"/>
                <a:sym typeface="+mn-lt"/>
              </a:rPr>
              <a:t>PART EIGHT</a:t>
            </a:r>
          </a:p>
        </p:txBody>
      </p:sp>
      <p:sp>
        <p:nvSpPr>
          <p:cNvPr id="15" name="文本框 14">
            <a:extLst>
              <a:ext uri="{FF2B5EF4-FFF2-40B4-BE49-F238E27FC236}">
                <a16:creationId xmlns:a16="http://schemas.microsoft.com/office/drawing/2014/main" id="{5342D98C-8140-DBDB-A617-3B9991E195F8}"/>
              </a:ext>
            </a:extLst>
          </p:cNvPr>
          <p:cNvSpPr txBox="1"/>
          <p:nvPr/>
        </p:nvSpPr>
        <p:spPr>
          <a:xfrm>
            <a:off x="1137315" y="3150135"/>
            <a:ext cx="3207219" cy="1569660"/>
          </a:xfrm>
          <a:prstGeom prst="rect">
            <a:avLst/>
          </a:prstGeom>
          <a:noFill/>
        </p:spPr>
        <p:txBody>
          <a:bodyPr wrap="square" rtlCol="0">
            <a:spAutoFit/>
          </a:bodyPr>
          <a:lstStyle/>
          <a:p>
            <a:r>
              <a:rPr lang="en-US" altLang="zh-CN" sz="2400" dirty="0">
                <a:solidFill>
                  <a:schemeClr val="bg1"/>
                </a:solidFill>
              </a:rPr>
              <a:t>1.</a:t>
            </a:r>
            <a:r>
              <a:rPr lang="zh-CN" altLang="en-US" sz="2400" dirty="0">
                <a:solidFill>
                  <a:schemeClr val="bg1"/>
                </a:solidFill>
              </a:rPr>
              <a:t>节点结构</a:t>
            </a:r>
          </a:p>
          <a:p>
            <a:r>
              <a:rPr lang="en-US" altLang="zh-CN" sz="2400" dirty="0">
                <a:solidFill>
                  <a:schemeClr val="bg1"/>
                </a:solidFill>
              </a:rPr>
              <a:t>2.</a:t>
            </a:r>
            <a:r>
              <a:rPr lang="zh-CN" altLang="en-US" sz="2400" dirty="0">
                <a:solidFill>
                  <a:schemeClr val="bg1"/>
                </a:solidFill>
              </a:rPr>
              <a:t>建表</a:t>
            </a:r>
          </a:p>
          <a:p>
            <a:r>
              <a:rPr lang="en-US" altLang="zh-CN" sz="2400" dirty="0">
                <a:solidFill>
                  <a:schemeClr val="bg1"/>
                </a:solidFill>
              </a:rPr>
              <a:t>3.</a:t>
            </a:r>
            <a:r>
              <a:rPr lang="zh-CN" altLang="en-US" sz="2400" dirty="0">
                <a:solidFill>
                  <a:schemeClr val="bg1"/>
                </a:solidFill>
              </a:rPr>
              <a:t>遍历链表</a:t>
            </a:r>
          </a:p>
          <a:p>
            <a:r>
              <a:rPr lang="en-US" altLang="zh-CN" sz="2400" dirty="0">
                <a:solidFill>
                  <a:schemeClr val="bg1"/>
                </a:solidFill>
              </a:rPr>
              <a:t>4.</a:t>
            </a:r>
            <a:r>
              <a:rPr lang="zh-CN" altLang="en-US" sz="2400" dirty="0">
                <a:solidFill>
                  <a:schemeClr val="bg1"/>
                </a:solidFill>
              </a:rPr>
              <a:t>增删节点</a:t>
            </a:r>
          </a:p>
        </p:txBody>
      </p:sp>
    </p:spTree>
  </p:cSld>
  <p:clrMapOvr>
    <a:masterClrMapping/>
  </p:clrMapOvr>
  <p:transition spd="slow">
    <p:push dir="u"/>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33991" y="5420086"/>
            <a:ext cx="6456162" cy="737235"/>
          </a:xfrm>
          <a:prstGeom prst="rect">
            <a:avLst/>
          </a:prstGeom>
          <a:noFill/>
        </p:spPr>
        <p:txBody>
          <a:bodyPr wrap="square" rtlCol="0">
            <a:spAutoFit/>
          </a:bodyPr>
          <a:lstStyle/>
          <a:p>
            <a:r>
              <a:rPr lang="zh-CN" altLang="en-US" sz="2100" dirty="0"/>
              <a:t>链表是一种动态存储结构，</a:t>
            </a:r>
          </a:p>
          <a:p>
            <a:r>
              <a:rPr lang="zh-CN" altLang="en-US" sz="2100" dirty="0"/>
              <a:t>根据实际需要动态地申请和释放内存</a:t>
            </a:r>
          </a:p>
        </p:txBody>
      </p:sp>
      <p:sp>
        <p:nvSpPr>
          <p:cNvPr id="5" name="文本框 4"/>
          <p:cNvSpPr txBox="1"/>
          <p:nvPr/>
        </p:nvSpPr>
        <p:spPr>
          <a:xfrm>
            <a:off x="2144329" y="1027768"/>
            <a:ext cx="6456162" cy="414020"/>
          </a:xfrm>
          <a:prstGeom prst="rect">
            <a:avLst/>
          </a:prstGeom>
          <a:noFill/>
        </p:spPr>
        <p:txBody>
          <a:bodyPr wrap="square" rtlCol="0">
            <a:spAutoFit/>
          </a:bodyPr>
          <a:lstStyle/>
          <a:p>
            <a:r>
              <a:rPr lang="zh-CN" altLang="en-US" sz="2100" dirty="0"/>
              <a:t>顺序表：</a:t>
            </a:r>
          </a:p>
        </p:txBody>
      </p:sp>
      <p:graphicFrame>
        <p:nvGraphicFramePr>
          <p:cNvPr id="6" name="表格 6"/>
          <p:cNvGraphicFramePr>
            <a:graphicFrameLocks noGrp="1"/>
          </p:cNvGraphicFramePr>
          <p:nvPr>
            <p:extLst>
              <p:ext uri="{D42A27DB-BD31-4B8C-83A1-F6EECF244321}">
                <p14:modId xmlns:p14="http://schemas.microsoft.com/office/powerpoint/2010/main" val="3835752050"/>
              </p:ext>
            </p:extLst>
          </p:nvPr>
        </p:nvGraphicFramePr>
        <p:xfrm>
          <a:off x="2967875" y="2102888"/>
          <a:ext cx="4536440" cy="567055"/>
        </p:xfrm>
        <a:graphic>
          <a:graphicData uri="http://schemas.openxmlformats.org/drawingml/2006/table">
            <a:tbl>
              <a:tblPr firstRow="1" bandRow="1">
                <a:tableStyleId>{BC89EF96-8CEA-46FF-86C4-4CE0E7609802}</a:tableStyleId>
              </a:tblPr>
              <a:tblGrid>
                <a:gridCol w="567055">
                  <a:extLst>
                    <a:ext uri="{9D8B030D-6E8A-4147-A177-3AD203B41FA5}">
                      <a16:colId xmlns:a16="http://schemas.microsoft.com/office/drawing/2014/main" val="20000"/>
                    </a:ext>
                  </a:extLst>
                </a:gridCol>
                <a:gridCol w="567055">
                  <a:extLst>
                    <a:ext uri="{9D8B030D-6E8A-4147-A177-3AD203B41FA5}">
                      <a16:colId xmlns:a16="http://schemas.microsoft.com/office/drawing/2014/main" val="20001"/>
                    </a:ext>
                  </a:extLst>
                </a:gridCol>
                <a:gridCol w="567055">
                  <a:extLst>
                    <a:ext uri="{9D8B030D-6E8A-4147-A177-3AD203B41FA5}">
                      <a16:colId xmlns:a16="http://schemas.microsoft.com/office/drawing/2014/main" val="20002"/>
                    </a:ext>
                  </a:extLst>
                </a:gridCol>
                <a:gridCol w="567055">
                  <a:extLst>
                    <a:ext uri="{9D8B030D-6E8A-4147-A177-3AD203B41FA5}">
                      <a16:colId xmlns:a16="http://schemas.microsoft.com/office/drawing/2014/main" val="20003"/>
                    </a:ext>
                  </a:extLst>
                </a:gridCol>
                <a:gridCol w="567055">
                  <a:extLst>
                    <a:ext uri="{9D8B030D-6E8A-4147-A177-3AD203B41FA5}">
                      <a16:colId xmlns:a16="http://schemas.microsoft.com/office/drawing/2014/main" val="20004"/>
                    </a:ext>
                  </a:extLst>
                </a:gridCol>
                <a:gridCol w="567055">
                  <a:extLst>
                    <a:ext uri="{9D8B030D-6E8A-4147-A177-3AD203B41FA5}">
                      <a16:colId xmlns:a16="http://schemas.microsoft.com/office/drawing/2014/main" val="20005"/>
                    </a:ext>
                  </a:extLst>
                </a:gridCol>
                <a:gridCol w="567055">
                  <a:extLst>
                    <a:ext uri="{9D8B030D-6E8A-4147-A177-3AD203B41FA5}">
                      <a16:colId xmlns:a16="http://schemas.microsoft.com/office/drawing/2014/main" val="20006"/>
                    </a:ext>
                  </a:extLst>
                </a:gridCol>
                <a:gridCol w="567055">
                  <a:extLst>
                    <a:ext uri="{9D8B030D-6E8A-4147-A177-3AD203B41FA5}">
                      <a16:colId xmlns:a16="http://schemas.microsoft.com/office/drawing/2014/main" val="20007"/>
                    </a:ext>
                  </a:extLst>
                </a:gridCol>
              </a:tblGrid>
              <a:tr h="567055">
                <a:tc>
                  <a:txBody>
                    <a:bodyPr/>
                    <a:lstStyle/>
                    <a:p>
                      <a:pPr algn="ctr"/>
                      <a:r>
                        <a:rPr lang="en-US" altLang="zh-CN" sz="2100" dirty="0"/>
                        <a:t>…</a:t>
                      </a:r>
                      <a:endParaRPr lang="zh-CN" altLang="en-US" sz="2100" dirty="0"/>
                    </a:p>
                  </a:txBody>
                  <a:tcPr marL="68591" marR="68591" marT="34295" marB="34295" anchor="ctr">
                    <a:lnL w="12700" cap="flat" cmpd="sng" algn="ctr">
                      <a:noFill/>
                      <a:prstDash val="solid"/>
                      <a:round/>
                      <a:headEnd type="none" w="med" len="med"/>
                      <a:tailEnd type="none" w="med" len="med"/>
                    </a:lnL>
                  </a:tcPr>
                </a:tc>
                <a:tc>
                  <a:txBody>
                    <a:bodyPr/>
                    <a:lstStyle/>
                    <a:p>
                      <a:pPr algn="ctr"/>
                      <a:r>
                        <a:rPr lang="en-US" altLang="zh-CN" sz="2100" dirty="0"/>
                        <a:t>1</a:t>
                      </a:r>
                      <a:endParaRPr lang="zh-CN" altLang="en-US" sz="2100" dirty="0"/>
                    </a:p>
                  </a:txBody>
                  <a:tcPr marL="68591" marR="68591" marT="34295" marB="34295" anchor="ctr"/>
                </a:tc>
                <a:tc>
                  <a:txBody>
                    <a:bodyPr/>
                    <a:lstStyle/>
                    <a:p>
                      <a:pPr marL="0" algn="ctr" defTabSz="914400" rtl="0" eaLnBrk="1" latinLnBrk="0" hangingPunct="1"/>
                      <a:r>
                        <a:rPr lang="en-US" altLang="zh-CN" sz="2100" b="1" kern="1200" dirty="0">
                          <a:solidFill>
                            <a:schemeClr val="tx1"/>
                          </a:solidFill>
                          <a:latin typeface="+mn-lt"/>
                          <a:ea typeface="+mn-ea"/>
                          <a:cs typeface="+mn-cs"/>
                        </a:rPr>
                        <a:t>2</a:t>
                      </a:r>
                      <a:endParaRPr lang="zh-CN" altLang="en-US" sz="2100" b="1" kern="1200" dirty="0">
                        <a:solidFill>
                          <a:schemeClr val="tx1"/>
                        </a:solidFill>
                        <a:latin typeface="+mn-lt"/>
                        <a:ea typeface="+mn-ea"/>
                        <a:cs typeface="+mn-cs"/>
                      </a:endParaRPr>
                    </a:p>
                  </a:txBody>
                  <a:tcPr marL="68591" marR="68591" marT="34295" marB="34295" anchor="ctr"/>
                </a:tc>
                <a:tc>
                  <a:txBody>
                    <a:bodyPr/>
                    <a:lstStyle/>
                    <a:p>
                      <a:pPr marL="0" algn="ctr" defTabSz="914400" rtl="0" eaLnBrk="1" latinLnBrk="0" hangingPunct="1"/>
                      <a:r>
                        <a:rPr lang="en-US" altLang="zh-CN" sz="2100" b="1" kern="1200" dirty="0">
                          <a:solidFill>
                            <a:schemeClr val="tx1"/>
                          </a:solidFill>
                          <a:latin typeface="+mn-lt"/>
                          <a:ea typeface="+mn-ea"/>
                          <a:cs typeface="+mn-cs"/>
                        </a:rPr>
                        <a:t>3</a:t>
                      </a:r>
                      <a:endParaRPr lang="zh-CN" altLang="en-US" sz="2100" b="1" kern="1200" dirty="0">
                        <a:solidFill>
                          <a:schemeClr val="tx1"/>
                        </a:solidFill>
                        <a:latin typeface="+mn-lt"/>
                        <a:ea typeface="+mn-ea"/>
                        <a:cs typeface="+mn-cs"/>
                      </a:endParaRPr>
                    </a:p>
                  </a:txBody>
                  <a:tcPr marL="68591" marR="68591" marT="34295" marB="34295" anchor="ctr"/>
                </a:tc>
                <a:tc>
                  <a:txBody>
                    <a:bodyPr/>
                    <a:lstStyle/>
                    <a:p>
                      <a:pPr marL="0" algn="ctr" defTabSz="914400" rtl="0" eaLnBrk="1" latinLnBrk="0" hangingPunct="1"/>
                      <a:r>
                        <a:rPr lang="en-US" altLang="zh-CN" sz="2100" b="1" kern="1200" dirty="0">
                          <a:solidFill>
                            <a:schemeClr val="tx1"/>
                          </a:solidFill>
                          <a:latin typeface="+mn-lt"/>
                          <a:ea typeface="+mn-ea"/>
                          <a:cs typeface="+mn-cs"/>
                        </a:rPr>
                        <a:t>4</a:t>
                      </a:r>
                      <a:endParaRPr lang="zh-CN" altLang="en-US" sz="2100" b="1" kern="1200" dirty="0">
                        <a:solidFill>
                          <a:schemeClr val="tx1"/>
                        </a:solidFill>
                        <a:latin typeface="+mn-lt"/>
                        <a:ea typeface="+mn-ea"/>
                        <a:cs typeface="+mn-cs"/>
                      </a:endParaRPr>
                    </a:p>
                  </a:txBody>
                  <a:tcPr marL="68591" marR="68591" marT="34295" marB="34295" anchor="ctr"/>
                </a:tc>
                <a:tc>
                  <a:txBody>
                    <a:bodyPr/>
                    <a:lstStyle/>
                    <a:p>
                      <a:pPr marL="0" algn="ctr" defTabSz="914400" rtl="0" eaLnBrk="1" latinLnBrk="0" hangingPunct="1"/>
                      <a:r>
                        <a:rPr lang="en-US" altLang="zh-CN" sz="2100" b="1" kern="1200" dirty="0">
                          <a:solidFill>
                            <a:schemeClr val="tx1"/>
                          </a:solidFill>
                          <a:latin typeface="+mn-lt"/>
                          <a:ea typeface="+mn-ea"/>
                          <a:cs typeface="+mn-cs"/>
                        </a:rPr>
                        <a:t>5</a:t>
                      </a:r>
                      <a:endParaRPr lang="zh-CN" altLang="en-US" sz="2100" b="1" kern="1200" dirty="0">
                        <a:solidFill>
                          <a:schemeClr val="tx1"/>
                        </a:solidFill>
                        <a:latin typeface="+mn-lt"/>
                        <a:ea typeface="+mn-ea"/>
                        <a:cs typeface="+mn-cs"/>
                      </a:endParaRPr>
                    </a:p>
                  </a:txBody>
                  <a:tcPr marL="68591" marR="68591" marT="34295" marB="34295" anchor="ctr"/>
                </a:tc>
                <a:tc>
                  <a:txBody>
                    <a:bodyPr/>
                    <a:lstStyle/>
                    <a:p>
                      <a:pPr marL="0" algn="ctr" defTabSz="914400" rtl="0" eaLnBrk="1" latinLnBrk="0" hangingPunct="1"/>
                      <a:r>
                        <a:rPr lang="en-US" altLang="zh-CN" sz="2100" b="1" kern="1200" dirty="0">
                          <a:solidFill>
                            <a:schemeClr val="tx1"/>
                          </a:solidFill>
                          <a:latin typeface="+mn-lt"/>
                          <a:ea typeface="+mn-ea"/>
                          <a:cs typeface="+mn-cs"/>
                        </a:rPr>
                        <a:t>6</a:t>
                      </a:r>
                      <a:endParaRPr lang="zh-CN" altLang="en-US" sz="2100" b="1" kern="1200" dirty="0">
                        <a:solidFill>
                          <a:schemeClr val="tx1"/>
                        </a:solidFill>
                        <a:latin typeface="+mn-lt"/>
                        <a:ea typeface="+mn-ea"/>
                        <a:cs typeface="+mn-cs"/>
                      </a:endParaRPr>
                    </a:p>
                  </a:txBody>
                  <a:tcPr marL="68591" marR="68591" marT="34295" marB="34295" anchor="ctr"/>
                </a:tc>
                <a:tc>
                  <a:txBody>
                    <a:bodyPr/>
                    <a:lstStyle/>
                    <a:p>
                      <a:pPr marL="0" algn="ctr" defTabSz="914400" rtl="0" eaLnBrk="1" latinLnBrk="0" hangingPunct="1"/>
                      <a:r>
                        <a:rPr lang="en-US" altLang="zh-CN" sz="2100" b="1" kern="1200" dirty="0">
                          <a:solidFill>
                            <a:schemeClr val="tx1"/>
                          </a:solidFill>
                          <a:latin typeface="+mn-lt"/>
                          <a:ea typeface="+mn-ea"/>
                          <a:cs typeface="+mn-cs"/>
                        </a:rPr>
                        <a:t>…</a:t>
                      </a:r>
                      <a:endParaRPr lang="zh-CN" altLang="en-US" sz="2100" b="1" kern="1200" dirty="0">
                        <a:solidFill>
                          <a:schemeClr val="tx1"/>
                        </a:solidFill>
                        <a:latin typeface="+mn-lt"/>
                        <a:ea typeface="+mn-ea"/>
                        <a:cs typeface="+mn-cs"/>
                      </a:endParaRPr>
                    </a:p>
                  </a:txBody>
                  <a:tcPr marL="68591" marR="68591" marT="34295" marB="34295" anchor="ctr">
                    <a:lnR w="12700" cap="flat" cmpd="sng" algn="ctr">
                      <a:noFill/>
                      <a:prstDash val="solid"/>
                      <a:round/>
                      <a:headEnd type="none" w="med" len="med"/>
                      <a:tailEnd type="none" w="med" len="med"/>
                    </a:lnR>
                  </a:tcPr>
                </a:tc>
                <a:extLst>
                  <a:ext uri="{0D108BD9-81ED-4DB2-BD59-A6C34878D82A}">
                    <a16:rowId xmlns:a16="http://schemas.microsoft.com/office/drawing/2014/main" val="10000"/>
                  </a:ext>
                </a:extLst>
              </a:tr>
            </a:tbl>
          </a:graphicData>
        </a:graphic>
      </p:graphicFrame>
      <p:pic>
        <p:nvPicPr>
          <p:cNvPr id="8" name="图片 7"/>
          <p:cNvPicPr>
            <a:picLocks noChangeAspect="1"/>
          </p:cNvPicPr>
          <p:nvPr/>
        </p:nvPicPr>
        <p:blipFill>
          <a:blip r:embed="rId3"/>
          <a:stretch>
            <a:fillRect/>
          </a:stretch>
        </p:blipFill>
        <p:spPr>
          <a:xfrm>
            <a:off x="2024977" y="1509320"/>
            <a:ext cx="5594355" cy="392484"/>
          </a:xfrm>
          <a:prstGeom prst="rect">
            <a:avLst/>
          </a:prstGeom>
        </p:spPr>
      </p:pic>
      <p:graphicFrame>
        <p:nvGraphicFramePr>
          <p:cNvPr id="9" name="表格 9"/>
          <p:cNvGraphicFramePr>
            <a:graphicFrameLocks noGrp="1"/>
          </p:cNvGraphicFramePr>
          <p:nvPr>
            <p:extLst>
              <p:ext uri="{D42A27DB-BD31-4B8C-83A1-F6EECF244321}">
                <p14:modId xmlns:p14="http://schemas.microsoft.com/office/powerpoint/2010/main" val="1459666291"/>
              </p:ext>
            </p:extLst>
          </p:nvPr>
        </p:nvGraphicFramePr>
        <p:xfrm>
          <a:off x="2286311" y="3909650"/>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1" name="表格 9"/>
          <p:cNvGraphicFramePr>
            <a:graphicFrameLocks noGrp="1"/>
          </p:cNvGraphicFramePr>
          <p:nvPr>
            <p:extLst>
              <p:ext uri="{D42A27DB-BD31-4B8C-83A1-F6EECF244321}">
                <p14:modId xmlns:p14="http://schemas.microsoft.com/office/powerpoint/2010/main" val="3723192792"/>
              </p:ext>
            </p:extLst>
          </p:nvPr>
        </p:nvGraphicFramePr>
        <p:xfrm>
          <a:off x="3388400" y="4100549"/>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2" name="表格 9"/>
          <p:cNvGraphicFramePr>
            <a:graphicFrameLocks noGrp="1"/>
          </p:cNvGraphicFramePr>
          <p:nvPr>
            <p:extLst>
              <p:ext uri="{D42A27DB-BD31-4B8C-83A1-F6EECF244321}">
                <p14:modId xmlns:p14="http://schemas.microsoft.com/office/powerpoint/2010/main" val="962610944"/>
              </p:ext>
            </p:extLst>
          </p:nvPr>
        </p:nvGraphicFramePr>
        <p:xfrm>
          <a:off x="4393969" y="4734346"/>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3</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3" name="表格 9"/>
          <p:cNvGraphicFramePr>
            <a:graphicFrameLocks noGrp="1"/>
          </p:cNvGraphicFramePr>
          <p:nvPr>
            <p:extLst>
              <p:ext uri="{D42A27DB-BD31-4B8C-83A1-F6EECF244321}">
                <p14:modId xmlns:p14="http://schemas.microsoft.com/office/powerpoint/2010/main" val="2376482423"/>
              </p:ext>
            </p:extLst>
          </p:nvPr>
        </p:nvGraphicFramePr>
        <p:xfrm>
          <a:off x="5549816" y="4100549"/>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4</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4" name="表格 9"/>
          <p:cNvGraphicFramePr>
            <a:graphicFrameLocks noGrp="1"/>
          </p:cNvGraphicFramePr>
          <p:nvPr>
            <p:extLst>
              <p:ext uri="{D42A27DB-BD31-4B8C-83A1-F6EECF244321}">
                <p14:modId xmlns:p14="http://schemas.microsoft.com/office/powerpoint/2010/main" val="838810896"/>
              </p:ext>
            </p:extLst>
          </p:nvPr>
        </p:nvGraphicFramePr>
        <p:xfrm>
          <a:off x="6646531" y="4256428"/>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5</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5" name="表格 9"/>
          <p:cNvGraphicFramePr>
            <a:graphicFrameLocks noGrp="1"/>
          </p:cNvGraphicFramePr>
          <p:nvPr>
            <p:extLst>
              <p:ext uri="{D42A27DB-BD31-4B8C-83A1-F6EECF244321}">
                <p14:modId xmlns:p14="http://schemas.microsoft.com/office/powerpoint/2010/main" val="2671878463"/>
              </p:ext>
            </p:extLst>
          </p:nvPr>
        </p:nvGraphicFramePr>
        <p:xfrm>
          <a:off x="7748620" y="4441979"/>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6</a:t>
                      </a:r>
                      <a:endParaRPr lang="zh-CN" altLang="en-US" sz="1800" dirty="0"/>
                    </a:p>
                  </a:txBody>
                  <a:tcPr marL="68591" marR="68591" marT="34295" marB="34295" anchor="ctr"/>
                </a:tc>
                <a:tc>
                  <a:txBody>
                    <a:bodyPr/>
                    <a:lstStyle/>
                    <a:p>
                      <a:r>
                        <a:rPr lang="en-US" altLang="zh-CN" sz="1350" dirty="0"/>
                        <a:t>^</a:t>
                      </a:r>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19" name="连接符: 曲线 18"/>
          <p:cNvCxnSpPr/>
          <p:nvPr/>
        </p:nvCxnSpPr>
        <p:spPr>
          <a:xfrm>
            <a:off x="2961765" y="4205125"/>
            <a:ext cx="421260" cy="135811"/>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曲线 26"/>
          <p:cNvCxnSpPr/>
          <p:nvPr/>
        </p:nvCxnSpPr>
        <p:spPr>
          <a:xfrm rot="16200000" flipH="1">
            <a:off x="3898596" y="4440968"/>
            <a:ext cx="616776" cy="38297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曲线 28"/>
          <p:cNvCxnSpPr/>
          <p:nvPr/>
        </p:nvCxnSpPr>
        <p:spPr>
          <a:xfrm rot="5400000" flipH="1" flipV="1">
            <a:off x="4979794" y="4410033"/>
            <a:ext cx="633797" cy="500054"/>
          </a:xfrm>
          <a:prstGeom prst="curvedConnector2">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连接符: 曲线 31"/>
          <p:cNvCxnSpPr/>
          <p:nvPr/>
        </p:nvCxnSpPr>
        <p:spPr>
          <a:xfrm>
            <a:off x="6230787" y="4356690"/>
            <a:ext cx="440922" cy="155880"/>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曲线 33"/>
          <p:cNvCxnSpPr/>
          <p:nvPr/>
        </p:nvCxnSpPr>
        <p:spPr>
          <a:xfrm>
            <a:off x="7295119" y="4512571"/>
            <a:ext cx="458506" cy="185551"/>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2233977" y="3141467"/>
            <a:ext cx="1025210" cy="414020"/>
          </a:xfrm>
          <a:prstGeom prst="rect">
            <a:avLst/>
          </a:prstGeom>
          <a:noFill/>
        </p:spPr>
        <p:txBody>
          <a:bodyPr wrap="square" rtlCol="0">
            <a:spAutoFit/>
          </a:bodyPr>
          <a:lstStyle/>
          <a:p>
            <a:r>
              <a:rPr lang="zh-CN" altLang="en-US" sz="2100" dirty="0"/>
              <a:t>链表：</a:t>
            </a:r>
          </a:p>
        </p:txBody>
      </p:sp>
      <p:sp>
        <p:nvSpPr>
          <p:cNvPr id="16" name="标题 4">
            <a:extLst>
              <a:ext uri="{FF2B5EF4-FFF2-40B4-BE49-F238E27FC236}">
                <a16:creationId xmlns:a16="http://schemas.microsoft.com/office/drawing/2014/main" id="{C2A401E9-F91E-5F9F-5491-CC38B2B8D743}"/>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基本结构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091756" y="1619743"/>
            <a:ext cx="6456162" cy="414020"/>
          </a:xfrm>
          <a:prstGeom prst="rect">
            <a:avLst/>
          </a:prstGeom>
          <a:noFill/>
        </p:spPr>
        <p:txBody>
          <a:bodyPr wrap="square" rtlCol="0">
            <a:spAutoFit/>
          </a:bodyPr>
          <a:lstStyle/>
          <a:p>
            <a:r>
              <a:rPr lang="zh-CN" altLang="en-US" sz="2100" dirty="0">
                <a:solidFill>
                  <a:prstClr val="black"/>
                </a:solidFill>
                <a:latin typeface="Microsoft YaHei UI"/>
                <a:ea typeface="微软雅黑"/>
              </a:rPr>
              <a:t>结点结构：</a:t>
            </a:r>
            <a:endParaRPr lang="en-US" altLang="zh-CN" sz="2100" dirty="0">
              <a:solidFill>
                <a:prstClr val="black"/>
              </a:solidFill>
              <a:latin typeface="Microsoft YaHei UI"/>
              <a:ea typeface="微软雅黑"/>
            </a:endParaRPr>
          </a:p>
        </p:txBody>
      </p:sp>
      <p:graphicFrame>
        <p:nvGraphicFramePr>
          <p:cNvPr id="6" name="表格 9"/>
          <p:cNvGraphicFramePr>
            <a:graphicFrameLocks noGrp="1"/>
          </p:cNvGraphicFramePr>
          <p:nvPr>
            <p:extLst>
              <p:ext uri="{D42A27DB-BD31-4B8C-83A1-F6EECF244321}">
                <p14:modId xmlns:p14="http://schemas.microsoft.com/office/powerpoint/2010/main" val="3749713058"/>
              </p:ext>
            </p:extLst>
          </p:nvPr>
        </p:nvGraphicFramePr>
        <p:xfrm>
          <a:off x="6645746" y="1231702"/>
          <a:ext cx="2203682" cy="1190102"/>
        </p:xfrm>
        <a:graphic>
          <a:graphicData uri="http://schemas.openxmlformats.org/drawingml/2006/table">
            <a:tbl>
              <a:tblPr firstRow="1" bandRow="1">
                <a:tableStyleId>{BDBED569-4797-4DF1-A0F4-6AAB3CD982D8}</a:tableStyleId>
              </a:tblPr>
              <a:tblGrid>
                <a:gridCol w="1559529">
                  <a:extLst>
                    <a:ext uri="{9D8B030D-6E8A-4147-A177-3AD203B41FA5}">
                      <a16:colId xmlns:a16="http://schemas.microsoft.com/office/drawing/2014/main" val="20000"/>
                    </a:ext>
                  </a:extLst>
                </a:gridCol>
                <a:gridCol w="644153">
                  <a:extLst>
                    <a:ext uri="{9D8B030D-6E8A-4147-A177-3AD203B41FA5}">
                      <a16:colId xmlns:a16="http://schemas.microsoft.com/office/drawing/2014/main" val="20001"/>
                    </a:ext>
                  </a:extLst>
                </a:gridCol>
              </a:tblGrid>
              <a:tr h="1190102">
                <a:tc>
                  <a:txBody>
                    <a:bodyPr/>
                    <a:lstStyle/>
                    <a:p>
                      <a:pPr algn="ctr"/>
                      <a:r>
                        <a:rPr lang="zh-CN" altLang="en-US" sz="1800" dirty="0"/>
                        <a:t>数据</a:t>
                      </a:r>
                    </a:p>
                  </a:txBody>
                  <a:tcPr marL="68591" marR="68591" marT="34295" marB="34295" anchor="ctr"/>
                </a:tc>
                <a:tc>
                  <a:txBody>
                    <a:bodyPr/>
                    <a:lstStyle/>
                    <a:p>
                      <a:pPr algn="ctr"/>
                      <a:r>
                        <a:rPr lang="zh-CN" altLang="en-US" sz="1800" dirty="0"/>
                        <a:t>指针</a:t>
                      </a:r>
                    </a:p>
                  </a:txBody>
                  <a:tcPr marL="68591" marR="68591" marT="34295" marB="34295" anchor="ctr"/>
                </a:tc>
                <a:extLst>
                  <a:ext uri="{0D108BD9-81ED-4DB2-BD59-A6C34878D82A}">
                    <a16:rowId xmlns:a16="http://schemas.microsoft.com/office/drawing/2014/main" val="10000"/>
                  </a:ext>
                </a:extLst>
              </a:tr>
            </a:tbl>
          </a:graphicData>
        </a:graphic>
      </p:graphicFrame>
      <p:pic>
        <p:nvPicPr>
          <p:cNvPr id="10" name="图片 9"/>
          <p:cNvPicPr>
            <a:picLocks noChangeAspect="1"/>
          </p:cNvPicPr>
          <p:nvPr/>
        </p:nvPicPr>
        <p:blipFill>
          <a:blip r:embed="rId2"/>
          <a:stretch>
            <a:fillRect/>
          </a:stretch>
        </p:blipFill>
        <p:spPr>
          <a:xfrm>
            <a:off x="2091757" y="2538567"/>
            <a:ext cx="3945001" cy="1883790"/>
          </a:xfrm>
          <a:prstGeom prst="rect">
            <a:avLst/>
          </a:prstGeom>
        </p:spPr>
      </p:pic>
      <p:pic>
        <p:nvPicPr>
          <p:cNvPr id="12" name="图片 11"/>
          <p:cNvPicPr>
            <a:picLocks noChangeAspect="1"/>
          </p:cNvPicPr>
          <p:nvPr/>
        </p:nvPicPr>
        <p:blipFill>
          <a:blip r:embed="rId3"/>
          <a:stretch>
            <a:fillRect/>
          </a:stretch>
        </p:blipFill>
        <p:spPr>
          <a:xfrm>
            <a:off x="1882580" y="4578899"/>
            <a:ext cx="4371846" cy="665394"/>
          </a:xfrm>
          <a:prstGeom prst="rect">
            <a:avLst/>
          </a:prstGeom>
        </p:spPr>
      </p:pic>
      <p:sp>
        <p:nvSpPr>
          <p:cNvPr id="9" name="标题 4">
            <a:extLst>
              <a:ext uri="{FF2B5EF4-FFF2-40B4-BE49-F238E27FC236}">
                <a16:creationId xmlns:a16="http://schemas.microsoft.com/office/drawing/2014/main" id="{6AAF80AC-746D-5EA2-0AC6-218491673AB6}"/>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节点</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9"/>
          <p:cNvGraphicFramePr>
            <a:graphicFrameLocks noGrp="1"/>
          </p:cNvGraphicFramePr>
          <p:nvPr>
            <p:extLst>
              <p:ext uri="{D42A27DB-BD31-4B8C-83A1-F6EECF244321}">
                <p14:modId xmlns:p14="http://schemas.microsoft.com/office/powerpoint/2010/main" val="4107201850"/>
              </p:ext>
            </p:extLst>
          </p:nvPr>
        </p:nvGraphicFramePr>
        <p:xfrm>
          <a:off x="3572180" y="1439898"/>
          <a:ext cx="968775" cy="566039"/>
        </p:xfrm>
        <a:graphic>
          <a:graphicData uri="http://schemas.openxmlformats.org/drawingml/2006/table">
            <a:tbl>
              <a:tblPr firstRow="1" bandRow="1">
                <a:tableStyleId>{BDBED569-4797-4DF1-A0F4-6AAB3CD982D8}</a:tableStyleId>
              </a:tblPr>
              <a:tblGrid>
                <a:gridCol w="685915">
                  <a:extLst>
                    <a:ext uri="{9D8B030D-6E8A-4147-A177-3AD203B41FA5}">
                      <a16:colId xmlns:a16="http://schemas.microsoft.com/office/drawing/2014/main" val="20000"/>
                    </a:ext>
                  </a:extLst>
                </a:gridCol>
                <a:gridCol w="282860">
                  <a:extLst>
                    <a:ext uri="{9D8B030D-6E8A-4147-A177-3AD203B41FA5}">
                      <a16:colId xmlns:a16="http://schemas.microsoft.com/office/drawing/2014/main" val="20001"/>
                    </a:ext>
                  </a:extLst>
                </a:gridCol>
              </a:tblGrid>
              <a:tr h="566039">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8" name="表格 9"/>
          <p:cNvGraphicFramePr>
            <a:graphicFrameLocks noGrp="1"/>
          </p:cNvGraphicFramePr>
          <p:nvPr>
            <p:extLst>
              <p:ext uri="{D42A27DB-BD31-4B8C-83A1-F6EECF244321}">
                <p14:modId xmlns:p14="http://schemas.microsoft.com/office/powerpoint/2010/main" val="1321829499"/>
              </p:ext>
            </p:extLst>
          </p:nvPr>
        </p:nvGraphicFramePr>
        <p:xfrm>
          <a:off x="5010843" y="1439898"/>
          <a:ext cx="968775" cy="557978"/>
        </p:xfrm>
        <a:graphic>
          <a:graphicData uri="http://schemas.openxmlformats.org/drawingml/2006/table">
            <a:tbl>
              <a:tblPr firstRow="1" bandRow="1">
                <a:tableStyleId>{BDBED569-4797-4DF1-A0F4-6AAB3CD982D8}</a:tableStyleId>
              </a:tblPr>
              <a:tblGrid>
                <a:gridCol w="685916">
                  <a:extLst>
                    <a:ext uri="{9D8B030D-6E8A-4147-A177-3AD203B41FA5}">
                      <a16:colId xmlns:a16="http://schemas.microsoft.com/office/drawing/2014/main" val="20000"/>
                    </a:ext>
                  </a:extLst>
                </a:gridCol>
                <a:gridCol w="282859">
                  <a:extLst>
                    <a:ext uri="{9D8B030D-6E8A-4147-A177-3AD203B41FA5}">
                      <a16:colId xmlns:a16="http://schemas.microsoft.com/office/drawing/2014/main" val="20001"/>
                    </a:ext>
                  </a:extLst>
                </a:gridCol>
              </a:tblGrid>
              <a:tr h="557978">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9" name="表格 9"/>
          <p:cNvGraphicFramePr>
            <a:graphicFrameLocks noGrp="1"/>
          </p:cNvGraphicFramePr>
          <p:nvPr>
            <p:extLst>
              <p:ext uri="{D42A27DB-BD31-4B8C-83A1-F6EECF244321}">
                <p14:modId xmlns:p14="http://schemas.microsoft.com/office/powerpoint/2010/main" val="3138557592"/>
              </p:ext>
            </p:extLst>
          </p:nvPr>
        </p:nvGraphicFramePr>
        <p:xfrm>
          <a:off x="6576295" y="1443141"/>
          <a:ext cx="1044222" cy="554735"/>
        </p:xfrm>
        <a:graphic>
          <a:graphicData uri="http://schemas.openxmlformats.org/drawingml/2006/table">
            <a:tbl>
              <a:tblPr firstRow="1" bandRow="1">
                <a:tableStyleId>{BDBED569-4797-4DF1-A0F4-6AAB3CD982D8}</a:tableStyleId>
              </a:tblPr>
              <a:tblGrid>
                <a:gridCol w="739334">
                  <a:extLst>
                    <a:ext uri="{9D8B030D-6E8A-4147-A177-3AD203B41FA5}">
                      <a16:colId xmlns:a16="http://schemas.microsoft.com/office/drawing/2014/main" val="20000"/>
                    </a:ext>
                  </a:extLst>
                </a:gridCol>
                <a:gridCol w="304888">
                  <a:extLst>
                    <a:ext uri="{9D8B030D-6E8A-4147-A177-3AD203B41FA5}">
                      <a16:colId xmlns:a16="http://schemas.microsoft.com/office/drawing/2014/main" val="20001"/>
                    </a:ext>
                  </a:extLst>
                </a:gridCol>
              </a:tblGrid>
              <a:tr h="554735">
                <a:tc>
                  <a:txBody>
                    <a:bodyPr/>
                    <a:lstStyle/>
                    <a:p>
                      <a:pPr algn="ctr"/>
                      <a:r>
                        <a:rPr lang="en-US" altLang="zh-CN" sz="1800" dirty="0"/>
                        <a:t>3</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1" name="表格 9"/>
          <p:cNvGraphicFramePr>
            <a:graphicFrameLocks noGrp="1"/>
          </p:cNvGraphicFramePr>
          <p:nvPr>
            <p:extLst>
              <p:ext uri="{D42A27DB-BD31-4B8C-83A1-F6EECF244321}">
                <p14:modId xmlns:p14="http://schemas.microsoft.com/office/powerpoint/2010/main" val="652237525"/>
              </p:ext>
            </p:extLst>
          </p:nvPr>
        </p:nvGraphicFramePr>
        <p:xfrm>
          <a:off x="8275074" y="1439897"/>
          <a:ext cx="968775" cy="554735"/>
        </p:xfrm>
        <a:graphic>
          <a:graphicData uri="http://schemas.openxmlformats.org/drawingml/2006/table">
            <a:tbl>
              <a:tblPr firstRow="1" bandRow="1">
                <a:tableStyleId>{BDBED569-4797-4DF1-A0F4-6AAB3CD982D8}</a:tableStyleId>
              </a:tblPr>
              <a:tblGrid>
                <a:gridCol w="685915">
                  <a:extLst>
                    <a:ext uri="{9D8B030D-6E8A-4147-A177-3AD203B41FA5}">
                      <a16:colId xmlns:a16="http://schemas.microsoft.com/office/drawing/2014/main" val="20000"/>
                    </a:ext>
                  </a:extLst>
                </a:gridCol>
                <a:gridCol w="282860">
                  <a:extLst>
                    <a:ext uri="{9D8B030D-6E8A-4147-A177-3AD203B41FA5}">
                      <a16:colId xmlns:a16="http://schemas.microsoft.com/office/drawing/2014/main" val="20001"/>
                    </a:ext>
                  </a:extLst>
                </a:gridCol>
              </a:tblGrid>
              <a:tr h="554735">
                <a:tc>
                  <a:txBody>
                    <a:bodyPr/>
                    <a:lstStyle/>
                    <a:p>
                      <a:pPr algn="ctr"/>
                      <a:r>
                        <a:rPr lang="en-US" altLang="zh-CN" sz="1800" dirty="0"/>
                        <a:t>4</a:t>
                      </a:r>
                      <a:endParaRPr lang="zh-CN" altLang="en-US" sz="1800" dirty="0"/>
                    </a:p>
                  </a:txBody>
                  <a:tcPr marL="68591" marR="68591" marT="34295" marB="34295" anchor="ctr"/>
                </a:tc>
                <a:tc>
                  <a:txBody>
                    <a:bodyPr/>
                    <a:lstStyle/>
                    <a:p>
                      <a:pPr algn="ctr"/>
                      <a:r>
                        <a:rPr lang="en-US" altLang="zh-CN" sz="1350" dirty="0"/>
                        <a:t>^</a:t>
                      </a: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15" name="连接符: 曲线 14"/>
          <p:cNvCxnSpPr>
            <a:cxnSpLocks/>
          </p:cNvCxnSpPr>
          <p:nvPr/>
        </p:nvCxnSpPr>
        <p:spPr>
          <a:xfrm>
            <a:off x="4407333" y="1713390"/>
            <a:ext cx="596572" cy="9527"/>
          </a:xfrm>
          <a:prstGeom prst="curvedConnector3">
            <a:avLst>
              <a:gd name="adj1" fmla="val 21644"/>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连接符: 曲线 15"/>
          <p:cNvCxnSpPr>
            <a:cxnSpLocks/>
            <a:endCxn id="9" idx="1"/>
          </p:cNvCxnSpPr>
          <p:nvPr/>
        </p:nvCxnSpPr>
        <p:spPr>
          <a:xfrm>
            <a:off x="5874583" y="1708626"/>
            <a:ext cx="701712" cy="11882"/>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连接符: 曲线 16"/>
          <p:cNvCxnSpPr>
            <a:cxnSpLocks/>
            <a:endCxn id="11" idx="1"/>
          </p:cNvCxnSpPr>
          <p:nvPr/>
        </p:nvCxnSpPr>
        <p:spPr>
          <a:xfrm>
            <a:off x="7515058" y="1708626"/>
            <a:ext cx="760016" cy="863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827308" y="2557518"/>
            <a:ext cx="1617572" cy="523220"/>
          </a:xfrm>
          <a:prstGeom prst="rect">
            <a:avLst/>
          </a:prstGeom>
          <a:noFill/>
        </p:spPr>
        <p:txBody>
          <a:bodyPr wrap="square" rtlCol="0">
            <a:spAutoFit/>
          </a:bodyPr>
          <a:lstStyle/>
          <a:p>
            <a:r>
              <a:rPr lang="zh-CN" altLang="en-US" sz="2800" b="1" dirty="0"/>
              <a:t>有头链表：</a:t>
            </a:r>
            <a:endParaRPr lang="en-US" altLang="zh-CN" sz="2800" b="1" dirty="0"/>
          </a:p>
        </p:txBody>
      </p:sp>
      <p:sp>
        <p:nvSpPr>
          <p:cNvPr id="29" name="文本框 28"/>
          <p:cNvSpPr txBox="1"/>
          <p:nvPr/>
        </p:nvSpPr>
        <p:spPr>
          <a:xfrm>
            <a:off x="1827308" y="1472792"/>
            <a:ext cx="1617572" cy="523220"/>
          </a:xfrm>
          <a:prstGeom prst="rect">
            <a:avLst/>
          </a:prstGeom>
          <a:noFill/>
        </p:spPr>
        <p:txBody>
          <a:bodyPr wrap="square" rtlCol="0">
            <a:spAutoFit/>
          </a:bodyPr>
          <a:lstStyle/>
          <a:p>
            <a:r>
              <a:rPr lang="zh-CN" altLang="en-US" sz="2800" b="1" dirty="0"/>
              <a:t>无头链表：</a:t>
            </a:r>
            <a:endParaRPr lang="en-US" altLang="zh-CN" sz="2800" b="1" dirty="0"/>
          </a:p>
        </p:txBody>
      </p:sp>
      <p:graphicFrame>
        <p:nvGraphicFramePr>
          <p:cNvPr id="30" name="表格 9"/>
          <p:cNvGraphicFramePr>
            <a:graphicFrameLocks noGrp="1"/>
          </p:cNvGraphicFramePr>
          <p:nvPr>
            <p:extLst>
              <p:ext uri="{D42A27DB-BD31-4B8C-83A1-F6EECF244321}">
                <p14:modId xmlns:p14="http://schemas.microsoft.com/office/powerpoint/2010/main" val="2680027830"/>
              </p:ext>
            </p:extLst>
          </p:nvPr>
        </p:nvGraphicFramePr>
        <p:xfrm>
          <a:off x="3611150" y="2522759"/>
          <a:ext cx="981639" cy="557979"/>
        </p:xfrm>
        <a:graphic>
          <a:graphicData uri="http://schemas.openxmlformats.org/drawingml/2006/table">
            <a:tbl>
              <a:tblPr firstRow="1" bandRow="1">
                <a:tableStyleId>{BDBED569-4797-4DF1-A0F4-6AAB3CD982D8}</a:tableStyleId>
              </a:tblPr>
              <a:tblGrid>
                <a:gridCol w="695023">
                  <a:extLst>
                    <a:ext uri="{9D8B030D-6E8A-4147-A177-3AD203B41FA5}">
                      <a16:colId xmlns:a16="http://schemas.microsoft.com/office/drawing/2014/main" val="20000"/>
                    </a:ext>
                  </a:extLst>
                </a:gridCol>
                <a:gridCol w="286616">
                  <a:extLst>
                    <a:ext uri="{9D8B030D-6E8A-4147-A177-3AD203B41FA5}">
                      <a16:colId xmlns:a16="http://schemas.microsoft.com/office/drawing/2014/main" val="20001"/>
                    </a:ext>
                  </a:extLst>
                </a:gridCol>
              </a:tblGrid>
              <a:tr h="557979">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34" name="连接符: 曲线 33"/>
          <p:cNvCxnSpPr>
            <a:cxnSpLocks/>
          </p:cNvCxnSpPr>
          <p:nvPr/>
        </p:nvCxnSpPr>
        <p:spPr>
          <a:xfrm>
            <a:off x="4480441" y="2804994"/>
            <a:ext cx="59657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表格 9"/>
          <p:cNvGraphicFramePr>
            <a:graphicFrameLocks noGrp="1"/>
          </p:cNvGraphicFramePr>
          <p:nvPr>
            <p:extLst>
              <p:ext uri="{D42A27DB-BD31-4B8C-83A1-F6EECF244321}">
                <p14:modId xmlns:p14="http://schemas.microsoft.com/office/powerpoint/2010/main" val="3633583623"/>
              </p:ext>
            </p:extLst>
          </p:nvPr>
        </p:nvGraphicFramePr>
        <p:xfrm>
          <a:off x="3596736" y="3592629"/>
          <a:ext cx="981639" cy="624746"/>
        </p:xfrm>
        <a:graphic>
          <a:graphicData uri="http://schemas.openxmlformats.org/drawingml/2006/table">
            <a:tbl>
              <a:tblPr firstRow="1" bandRow="1">
                <a:tableStyleId>{BDBED569-4797-4DF1-A0F4-6AAB3CD982D8}</a:tableStyleId>
              </a:tblPr>
              <a:tblGrid>
                <a:gridCol w="695023">
                  <a:extLst>
                    <a:ext uri="{9D8B030D-6E8A-4147-A177-3AD203B41FA5}">
                      <a16:colId xmlns:a16="http://schemas.microsoft.com/office/drawing/2014/main" val="20000"/>
                    </a:ext>
                  </a:extLst>
                </a:gridCol>
                <a:gridCol w="286616">
                  <a:extLst>
                    <a:ext uri="{9D8B030D-6E8A-4147-A177-3AD203B41FA5}">
                      <a16:colId xmlns:a16="http://schemas.microsoft.com/office/drawing/2014/main" val="20001"/>
                    </a:ext>
                  </a:extLst>
                </a:gridCol>
              </a:tblGrid>
              <a:tr h="312373">
                <a:tc rowSpan="2">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2373">
                <a:tc vMerge="1">
                  <a:txBody>
                    <a:bodyPr/>
                    <a:lstStyle/>
                    <a:p>
                      <a:endParaRPr lang="zh-CN"/>
                    </a:p>
                  </a:txBody>
                  <a:tcPr anchor="ctr">
                    <a:lnT w="12700" cap="flat" cmpd="sng" algn="ctr">
                      <a:solidFill>
                        <a:schemeClr val="tx1"/>
                      </a:solidFill>
                      <a:prstDash val="solid"/>
                      <a:round/>
                      <a:headEnd type="none" w="med" len="med"/>
                      <a:tailEnd type="none" w="med" len="med"/>
                    </a:lnT>
                  </a:tcPr>
                </a:tc>
                <a:tc>
                  <a:txBody>
                    <a:bodyPr/>
                    <a:lstStyle/>
                    <a:p>
                      <a:r>
                        <a:rPr lang="en-US" altLang="zh-CN" sz="1350" dirty="0"/>
                        <a:t>^</a:t>
                      </a:r>
                      <a:endParaRPr lang="zh-CN" altLang="en-US" sz="1350" dirty="0"/>
                    </a:p>
                  </a:txBody>
                  <a:tcPr marL="68591" marR="68591" marT="34295" marB="34295">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
        <p:nvSpPr>
          <p:cNvPr id="45" name="文本框 44"/>
          <p:cNvSpPr txBox="1"/>
          <p:nvPr/>
        </p:nvSpPr>
        <p:spPr>
          <a:xfrm>
            <a:off x="1816001" y="3588421"/>
            <a:ext cx="1617572" cy="523220"/>
          </a:xfrm>
          <a:prstGeom prst="rect">
            <a:avLst/>
          </a:prstGeom>
          <a:noFill/>
        </p:spPr>
        <p:txBody>
          <a:bodyPr wrap="square" rtlCol="0">
            <a:spAutoFit/>
          </a:bodyPr>
          <a:lstStyle/>
          <a:p>
            <a:r>
              <a:rPr lang="zh-CN" altLang="en-US" sz="2800" b="1" dirty="0"/>
              <a:t>双向链表</a:t>
            </a:r>
            <a:r>
              <a:rPr lang="zh-CN" altLang="en-US" sz="2100" b="1" dirty="0"/>
              <a:t>：</a:t>
            </a:r>
            <a:endParaRPr lang="en-US" altLang="zh-CN" sz="2100" b="1" dirty="0"/>
          </a:p>
        </p:txBody>
      </p:sp>
      <p:graphicFrame>
        <p:nvGraphicFramePr>
          <p:cNvPr id="49" name="表格 48"/>
          <p:cNvGraphicFramePr>
            <a:graphicFrameLocks noGrp="1"/>
          </p:cNvGraphicFramePr>
          <p:nvPr>
            <p:extLst>
              <p:ext uri="{D42A27DB-BD31-4B8C-83A1-F6EECF244321}">
                <p14:modId xmlns:p14="http://schemas.microsoft.com/office/powerpoint/2010/main" val="3568288011"/>
              </p:ext>
            </p:extLst>
          </p:nvPr>
        </p:nvGraphicFramePr>
        <p:xfrm>
          <a:off x="5031926" y="3572816"/>
          <a:ext cx="978365" cy="649808"/>
        </p:xfrm>
        <a:graphic>
          <a:graphicData uri="http://schemas.openxmlformats.org/drawingml/2006/table">
            <a:tbl>
              <a:tblPr firstRow="1" bandRow="1">
                <a:tableStyleId>{BDBED569-4797-4DF1-A0F4-6AAB3CD982D8}</a:tableStyleId>
              </a:tblPr>
              <a:tblGrid>
                <a:gridCol w="692705">
                  <a:extLst>
                    <a:ext uri="{9D8B030D-6E8A-4147-A177-3AD203B41FA5}">
                      <a16:colId xmlns:a16="http://schemas.microsoft.com/office/drawing/2014/main" val="20000"/>
                    </a:ext>
                  </a:extLst>
                </a:gridCol>
                <a:gridCol w="285660">
                  <a:extLst>
                    <a:ext uri="{9D8B030D-6E8A-4147-A177-3AD203B41FA5}">
                      <a16:colId xmlns:a16="http://schemas.microsoft.com/office/drawing/2014/main" val="20001"/>
                    </a:ext>
                  </a:extLst>
                </a:gridCol>
              </a:tblGrid>
              <a:tr h="324904">
                <a:tc rowSpan="2">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4904">
                <a:tc vMerge="1">
                  <a:txBody>
                    <a:bodyPr/>
                    <a:lstStyle/>
                    <a:p>
                      <a:endParaRPr lang="zh-CN"/>
                    </a:p>
                  </a:txBody>
                  <a:tcPr anchor="ctr">
                    <a:lnT w="12700" cap="flat" cmpd="sng" algn="ctr">
                      <a:solidFill>
                        <a:schemeClr val="tx1"/>
                      </a:solidFill>
                      <a:prstDash val="solid"/>
                      <a:round/>
                      <a:headEnd type="none" w="med" len="med"/>
                      <a:tailEnd type="none" w="med" len="med"/>
                    </a:lnT>
                  </a:tcPr>
                </a:tc>
                <a:tc>
                  <a:txBody>
                    <a:bodyPr/>
                    <a:lstStyle/>
                    <a:p>
                      <a:endParaRPr lang="zh-CN" altLang="en-US" sz="1350" dirty="0"/>
                    </a:p>
                  </a:txBody>
                  <a:tcPr marL="68591" marR="68591" marT="34295" marB="34295">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50" name="表格 49"/>
          <p:cNvGraphicFramePr>
            <a:graphicFrameLocks noGrp="1"/>
          </p:cNvGraphicFramePr>
          <p:nvPr>
            <p:extLst>
              <p:ext uri="{D42A27DB-BD31-4B8C-83A1-F6EECF244321}">
                <p14:modId xmlns:p14="http://schemas.microsoft.com/office/powerpoint/2010/main" val="94787641"/>
              </p:ext>
            </p:extLst>
          </p:nvPr>
        </p:nvGraphicFramePr>
        <p:xfrm>
          <a:off x="6627671" y="3588421"/>
          <a:ext cx="1044222" cy="649808"/>
        </p:xfrm>
        <a:graphic>
          <a:graphicData uri="http://schemas.openxmlformats.org/drawingml/2006/table">
            <a:tbl>
              <a:tblPr firstRow="1" bandRow="1">
                <a:tableStyleId>{BDBED569-4797-4DF1-A0F4-6AAB3CD982D8}</a:tableStyleId>
              </a:tblPr>
              <a:tblGrid>
                <a:gridCol w="739333">
                  <a:extLst>
                    <a:ext uri="{9D8B030D-6E8A-4147-A177-3AD203B41FA5}">
                      <a16:colId xmlns:a16="http://schemas.microsoft.com/office/drawing/2014/main" val="20000"/>
                    </a:ext>
                  </a:extLst>
                </a:gridCol>
                <a:gridCol w="304889">
                  <a:extLst>
                    <a:ext uri="{9D8B030D-6E8A-4147-A177-3AD203B41FA5}">
                      <a16:colId xmlns:a16="http://schemas.microsoft.com/office/drawing/2014/main" val="20001"/>
                    </a:ext>
                  </a:extLst>
                </a:gridCol>
              </a:tblGrid>
              <a:tr h="324904">
                <a:tc rowSpan="2">
                  <a:txBody>
                    <a:bodyPr/>
                    <a:lstStyle/>
                    <a:p>
                      <a:pPr algn="ctr"/>
                      <a:r>
                        <a:rPr lang="en-US" altLang="zh-CN" sz="1800" dirty="0"/>
                        <a:t>3</a:t>
                      </a:r>
                      <a:endParaRPr lang="zh-CN" altLang="en-US" sz="1800" dirty="0"/>
                    </a:p>
                  </a:txBody>
                  <a:tcPr marL="68591" marR="68591" marT="34295" marB="34295" anchor="ctr"/>
                </a:tc>
                <a:tc>
                  <a:txBody>
                    <a:bodyPr/>
                    <a:lstStyle/>
                    <a:p>
                      <a:endParaRPr lang="zh-CN" altLang="en-US" sz="1350" dirty="0"/>
                    </a:p>
                  </a:txBody>
                  <a:tcPr marL="68591" marR="68591" marT="34295" marB="3429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4904">
                <a:tc vMerge="1">
                  <a:txBody>
                    <a:bodyPr/>
                    <a:lstStyle/>
                    <a:p>
                      <a:endParaRPr lang="zh-CN"/>
                    </a:p>
                  </a:txBody>
                  <a:tcPr anchor="ctr">
                    <a:lnT w="12700" cap="flat" cmpd="sng" algn="ctr">
                      <a:solidFill>
                        <a:schemeClr val="tx1"/>
                      </a:solidFill>
                      <a:prstDash val="solid"/>
                      <a:round/>
                      <a:headEnd type="none" w="med" len="med"/>
                      <a:tailEnd type="none" w="med" len="med"/>
                    </a:lnT>
                  </a:tcPr>
                </a:tc>
                <a:tc>
                  <a:txBody>
                    <a:bodyPr/>
                    <a:lstStyle/>
                    <a:p>
                      <a:endParaRPr lang="zh-CN" altLang="en-US" sz="1350" dirty="0"/>
                    </a:p>
                  </a:txBody>
                  <a:tcPr marL="68591" marR="68591" marT="34295" marB="34295">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51" name="表格 50"/>
          <p:cNvGraphicFramePr>
            <a:graphicFrameLocks noGrp="1"/>
          </p:cNvGraphicFramePr>
          <p:nvPr>
            <p:extLst>
              <p:ext uri="{D42A27DB-BD31-4B8C-83A1-F6EECF244321}">
                <p14:modId xmlns:p14="http://schemas.microsoft.com/office/powerpoint/2010/main" val="3177125963"/>
              </p:ext>
            </p:extLst>
          </p:nvPr>
        </p:nvGraphicFramePr>
        <p:xfrm>
          <a:off x="8296157" y="3593591"/>
          <a:ext cx="1044222" cy="644638"/>
        </p:xfrm>
        <a:graphic>
          <a:graphicData uri="http://schemas.openxmlformats.org/drawingml/2006/table">
            <a:tbl>
              <a:tblPr firstRow="1" bandRow="1">
                <a:tableStyleId>{BDBED569-4797-4DF1-A0F4-6AAB3CD982D8}</a:tableStyleId>
              </a:tblPr>
              <a:tblGrid>
                <a:gridCol w="739333">
                  <a:extLst>
                    <a:ext uri="{9D8B030D-6E8A-4147-A177-3AD203B41FA5}">
                      <a16:colId xmlns:a16="http://schemas.microsoft.com/office/drawing/2014/main" val="20000"/>
                    </a:ext>
                  </a:extLst>
                </a:gridCol>
                <a:gridCol w="304889">
                  <a:extLst>
                    <a:ext uri="{9D8B030D-6E8A-4147-A177-3AD203B41FA5}">
                      <a16:colId xmlns:a16="http://schemas.microsoft.com/office/drawing/2014/main" val="20001"/>
                    </a:ext>
                  </a:extLst>
                </a:gridCol>
              </a:tblGrid>
              <a:tr h="322319">
                <a:tc rowSpan="2">
                  <a:txBody>
                    <a:bodyPr/>
                    <a:lstStyle/>
                    <a:p>
                      <a:pPr algn="ctr"/>
                      <a:r>
                        <a:rPr lang="en-US" altLang="zh-CN" sz="1800" dirty="0"/>
                        <a:t>4</a:t>
                      </a:r>
                      <a:endParaRPr lang="zh-CN" altLang="en-US" sz="1800" dirty="0"/>
                    </a:p>
                  </a:txBody>
                  <a:tcPr marL="68591" marR="68591" marT="34295" marB="34295" anchor="ctr"/>
                </a:tc>
                <a:tc>
                  <a:txBody>
                    <a:bodyPr/>
                    <a:lstStyle/>
                    <a:p>
                      <a:r>
                        <a:rPr lang="en-US" altLang="zh-CN" sz="1350" dirty="0"/>
                        <a:t>^</a:t>
                      </a:r>
                      <a:endParaRPr lang="zh-CN" altLang="en-US" sz="1350" dirty="0"/>
                    </a:p>
                  </a:txBody>
                  <a:tcPr marL="68591" marR="68591" marT="34295" marB="3429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2319">
                <a:tc vMerge="1">
                  <a:txBody>
                    <a:bodyPr/>
                    <a:lstStyle/>
                    <a:p>
                      <a:endParaRPr lang="zh-CN"/>
                    </a:p>
                  </a:txBody>
                  <a:tcPr anchor="ctr">
                    <a:lnT w="12700" cap="flat" cmpd="sng" algn="ctr">
                      <a:solidFill>
                        <a:schemeClr val="tx1"/>
                      </a:solidFill>
                      <a:prstDash val="solid"/>
                      <a:round/>
                      <a:headEnd type="none" w="med" len="med"/>
                      <a:tailEnd type="none" w="med" len="med"/>
                    </a:lnT>
                  </a:tcPr>
                </a:tc>
                <a:tc>
                  <a:txBody>
                    <a:bodyPr/>
                    <a:lstStyle/>
                    <a:p>
                      <a:endParaRPr lang="zh-CN" altLang="en-US" sz="1350" dirty="0"/>
                    </a:p>
                  </a:txBody>
                  <a:tcPr marL="68591" marR="68591" marT="34295" marB="34295">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cxnSp>
        <p:nvCxnSpPr>
          <p:cNvPr id="52" name="连接符: 曲线 51"/>
          <p:cNvCxnSpPr>
            <a:cxnSpLocks/>
          </p:cNvCxnSpPr>
          <p:nvPr/>
        </p:nvCxnSpPr>
        <p:spPr>
          <a:xfrm>
            <a:off x="4452696" y="3665431"/>
            <a:ext cx="593644" cy="121566"/>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曲线 55"/>
          <p:cNvCxnSpPr>
            <a:cxnSpLocks/>
          </p:cNvCxnSpPr>
          <p:nvPr/>
        </p:nvCxnSpPr>
        <p:spPr>
          <a:xfrm>
            <a:off x="5919981" y="3660036"/>
            <a:ext cx="813376" cy="19014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连接符: 曲线 57"/>
          <p:cNvCxnSpPr>
            <a:cxnSpLocks/>
          </p:cNvCxnSpPr>
          <p:nvPr/>
        </p:nvCxnSpPr>
        <p:spPr>
          <a:xfrm>
            <a:off x="7560679" y="3674873"/>
            <a:ext cx="839294" cy="194160"/>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连接符: 曲线 59"/>
          <p:cNvCxnSpPr>
            <a:cxnSpLocks/>
            <a:endCxn id="49" idx="2"/>
          </p:cNvCxnSpPr>
          <p:nvPr/>
        </p:nvCxnSpPr>
        <p:spPr>
          <a:xfrm rot="10800000" flipV="1">
            <a:off x="5521108" y="4133716"/>
            <a:ext cx="2043840" cy="88908"/>
          </a:xfrm>
          <a:prstGeom prst="curvedConnector4">
            <a:avLst>
              <a:gd name="adj1" fmla="val 38033"/>
              <a:gd name="adj2" fmla="val 357120"/>
            </a:avLst>
          </a:prstGeom>
          <a:ln w="28575">
            <a:solidFill>
              <a:srgbClr val="FE0054"/>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连接符: 曲线 65"/>
          <p:cNvCxnSpPr>
            <a:cxnSpLocks/>
            <a:endCxn id="50" idx="2"/>
          </p:cNvCxnSpPr>
          <p:nvPr/>
        </p:nvCxnSpPr>
        <p:spPr>
          <a:xfrm rot="10800000" flipV="1">
            <a:off x="7149782" y="4103585"/>
            <a:ext cx="2001786" cy="134644"/>
          </a:xfrm>
          <a:prstGeom prst="curvedConnector4">
            <a:avLst>
              <a:gd name="adj1" fmla="val 36959"/>
              <a:gd name="adj2" fmla="val 269781"/>
            </a:avLst>
          </a:prstGeom>
          <a:ln w="28575">
            <a:solidFill>
              <a:srgbClr val="FE0054"/>
            </a:solidFill>
            <a:tailEnd type="triangle"/>
          </a:ln>
        </p:spPr>
        <p:style>
          <a:lnRef idx="1">
            <a:schemeClr val="accent1"/>
          </a:lnRef>
          <a:fillRef idx="0">
            <a:schemeClr val="accent1"/>
          </a:fillRef>
          <a:effectRef idx="0">
            <a:schemeClr val="accent1"/>
          </a:effectRef>
          <a:fontRef idx="minor">
            <a:schemeClr val="tx1"/>
          </a:fontRef>
        </p:style>
      </p:cxnSp>
      <p:cxnSp>
        <p:nvCxnSpPr>
          <p:cNvPr id="68" name="连接符: 曲线 67"/>
          <p:cNvCxnSpPr>
            <a:cxnSpLocks/>
            <a:endCxn id="44" idx="2"/>
          </p:cNvCxnSpPr>
          <p:nvPr/>
        </p:nvCxnSpPr>
        <p:spPr>
          <a:xfrm rot="10800000" flipV="1">
            <a:off x="4087556" y="4040281"/>
            <a:ext cx="1735323" cy="177094"/>
          </a:xfrm>
          <a:prstGeom prst="curvedConnector4">
            <a:avLst>
              <a:gd name="adj1" fmla="val 35858"/>
              <a:gd name="adj2" fmla="val 229084"/>
            </a:avLst>
          </a:prstGeom>
          <a:ln w="28575">
            <a:solidFill>
              <a:srgbClr val="FE0054"/>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1812894" y="4893757"/>
            <a:ext cx="1617572" cy="523220"/>
          </a:xfrm>
          <a:prstGeom prst="rect">
            <a:avLst/>
          </a:prstGeom>
          <a:noFill/>
        </p:spPr>
        <p:txBody>
          <a:bodyPr wrap="square" rtlCol="0">
            <a:spAutoFit/>
          </a:bodyPr>
          <a:lstStyle/>
          <a:p>
            <a:r>
              <a:rPr lang="zh-CN" altLang="en-US" sz="2800" b="1" dirty="0"/>
              <a:t>循环链表：</a:t>
            </a:r>
            <a:endParaRPr lang="en-US" altLang="zh-CN" sz="2800" b="1" dirty="0"/>
          </a:p>
        </p:txBody>
      </p:sp>
      <p:cxnSp>
        <p:nvCxnSpPr>
          <p:cNvPr id="5" name="连接符: 曲线 4"/>
          <p:cNvCxnSpPr>
            <a:cxnSpLocks/>
            <a:endCxn id="82" idx="2"/>
          </p:cNvCxnSpPr>
          <p:nvPr/>
        </p:nvCxnSpPr>
        <p:spPr>
          <a:xfrm rot="10800000" flipV="1">
            <a:off x="5516313" y="5333501"/>
            <a:ext cx="3638760" cy="90682"/>
          </a:xfrm>
          <a:prstGeom prst="curvedConnector4">
            <a:avLst>
              <a:gd name="adj1" fmla="val 38981"/>
              <a:gd name="adj2" fmla="val 828259"/>
            </a:avLst>
          </a:prstGeom>
          <a:ln w="38100">
            <a:solidFill>
              <a:srgbClr val="2268EB"/>
            </a:solidFill>
            <a:tailEnd type="triangle"/>
          </a:ln>
        </p:spPr>
        <p:style>
          <a:lnRef idx="1">
            <a:schemeClr val="accent1"/>
          </a:lnRef>
          <a:fillRef idx="0">
            <a:schemeClr val="accent1"/>
          </a:fillRef>
          <a:effectRef idx="0">
            <a:schemeClr val="accent1"/>
          </a:effectRef>
          <a:fontRef idx="minor">
            <a:schemeClr val="tx1"/>
          </a:fontRef>
        </p:style>
      </p:cxnSp>
      <p:sp>
        <p:nvSpPr>
          <p:cNvPr id="12" name="标题 4">
            <a:extLst>
              <a:ext uri="{FF2B5EF4-FFF2-40B4-BE49-F238E27FC236}">
                <a16:creationId xmlns:a16="http://schemas.microsoft.com/office/drawing/2014/main" id="{9F0379EE-AC80-37C3-8057-D116F296D24F}"/>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基本种类</a:t>
            </a:r>
          </a:p>
        </p:txBody>
      </p:sp>
      <p:graphicFrame>
        <p:nvGraphicFramePr>
          <p:cNvPr id="55" name="表格 9">
            <a:extLst>
              <a:ext uri="{FF2B5EF4-FFF2-40B4-BE49-F238E27FC236}">
                <a16:creationId xmlns:a16="http://schemas.microsoft.com/office/drawing/2014/main" id="{96DDCDA5-A7BA-FB8A-1C71-051FE7CAB867}"/>
              </a:ext>
            </a:extLst>
          </p:cNvPr>
          <p:cNvGraphicFramePr>
            <a:graphicFrameLocks noGrp="1"/>
          </p:cNvGraphicFramePr>
          <p:nvPr>
            <p:extLst>
              <p:ext uri="{D42A27DB-BD31-4B8C-83A1-F6EECF244321}">
                <p14:modId xmlns:p14="http://schemas.microsoft.com/office/powerpoint/2010/main" val="2043790194"/>
              </p:ext>
            </p:extLst>
          </p:nvPr>
        </p:nvGraphicFramePr>
        <p:xfrm>
          <a:off x="5046340" y="2526005"/>
          <a:ext cx="968775" cy="557978"/>
        </p:xfrm>
        <a:graphic>
          <a:graphicData uri="http://schemas.openxmlformats.org/drawingml/2006/table">
            <a:tbl>
              <a:tblPr firstRow="1" bandRow="1">
                <a:tableStyleId>{BDBED569-4797-4DF1-A0F4-6AAB3CD982D8}</a:tableStyleId>
              </a:tblPr>
              <a:tblGrid>
                <a:gridCol w="685916">
                  <a:extLst>
                    <a:ext uri="{9D8B030D-6E8A-4147-A177-3AD203B41FA5}">
                      <a16:colId xmlns:a16="http://schemas.microsoft.com/office/drawing/2014/main" val="20000"/>
                    </a:ext>
                  </a:extLst>
                </a:gridCol>
                <a:gridCol w="282859">
                  <a:extLst>
                    <a:ext uri="{9D8B030D-6E8A-4147-A177-3AD203B41FA5}">
                      <a16:colId xmlns:a16="http://schemas.microsoft.com/office/drawing/2014/main" val="20001"/>
                    </a:ext>
                  </a:extLst>
                </a:gridCol>
              </a:tblGrid>
              <a:tr h="557978">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57" name="表格 9">
            <a:extLst>
              <a:ext uri="{FF2B5EF4-FFF2-40B4-BE49-F238E27FC236}">
                <a16:creationId xmlns:a16="http://schemas.microsoft.com/office/drawing/2014/main" id="{CFA64A23-5860-57DF-9EF4-4EE0D8853C86}"/>
              </a:ext>
            </a:extLst>
          </p:cNvPr>
          <p:cNvGraphicFramePr>
            <a:graphicFrameLocks noGrp="1"/>
          </p:cNvGraphicFramePr>
          <p:nvPr>
            <p:extLst>
              <p:ext uri="{D42A27DB-BD31-4B8C-83A1-F6EECF244321}">
                <p14:modId xmlns:p14="http://schemas.microsoft.com/office/powerpoint/2010/main" val="2226567808"/>
              </p:ext>
            </p:extLst>
          </p:nvPr>
        </p:nvGraphicFramePr>
        <p:xfrm>
          <a:off x="6611792" y="2529248"/>
          <a:ext cx="1044222" cy="554735"/>
        </p:xfrm>
        <a:graphic>
          <a:graphicData uri="http://schemas.openxmlformats.org/drawingml/2006/table">
            <a:tbl>
              <a:tblPr firstRow="1" bandRow="1">
                <a:tableStyleId>{BDBED569-4797-4DF1-A0F4-6AAB3CD982D8}</a:tableStyleId>
              </a:tblPr>
              <a:tblGrid>
                <a:gridCol w="739334">
                  <a:extLst>
                    <a:ext uri="{9D8B030D-6E8A-4147-A177-3AD203B41FA5}">
                      <a16:colId xmlns:a16="http://schemas.microsoft.com/office/drawing/2014/main" val="20000"/>
                    </a:ext>
                  </a:extLst>
                </a:gridCol>
                <a:gridCol w="304888">
                  <a:extLst>
                    <a:ext uri="{9D8B030D-6E8A-4147-A177-3AD203B41FA5}">
                      <a16:colId xmlns:a16="http://schemas.microsoft.com/office/drawing/2014/main" val="20001"/>
                    </a:ext>
                  </a:extLst>
                </a:gridCol>
              </a:tblGrid>
              <a:tr h="554735">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59" name="表格 9">
            <a:extLst>
              <a:ext uri="{FF2B5EF4-FFF2-40B4-BE49-F238E27FC236}">
                <a16:creationId xmlns:a16="http://schemas.microsoft.com/office/drawing/2014/main" id="{8CB4520D-6CA2-2DC1-C379-CDADBF244C14}"/>
              </a:ext>
            </a:extLst>
          </p:cNvPr>
          <p:cNvGraphicFramePr>
            <a:graphicFrameLocks noGrp="1"/>
          </p:cNvGraphicFramePr>
          <p:nvPr>
            <p:extLst>
              <p:ext uri="{D42A27DB-BD31-4B8C-83A1-F6EECF244321}">
                <p14:modId xmlns:p14="http://schemas.microsoft.com/office/powerpoint/2010/main" val="4137876206"/>
              </p:ext>
            </p:extLst>
          </p:nvPr>
        </p:nvGraphicFramePr>
        <p:xfrm>
          <a:off x="8310571" y="2526004"/>
          <a:ext cx="968775" cy="554735"/>
        </p:xfrm>
        <a:graphic>
          <a:graphicData uri="http://schemas.openxmlformats.org/drawingml/2006/table">
            <a:tbl>
              <a:tblPr firstRow="1" bandRow="1">
                <a:tableStyleId>{BDBED569-4797-4DF1-A0F4-6AAB3CD982D8}</a:tableStyleId>
              </a:tblPr>
              <a:tblGrid>
                <a:gridCol w="685915">
                  <a:extLst>
                    <a:ext uri="{9D8B030D-6E8A-4147-A177-3AD203B41FA5}">
                      <a16:colId xmlns:a16="http://schemas.microsoft.com/office/drawing/2014/main" val="20000"/>
                    </a:ext>
                  </a:extLst>
                </a:gridCol>
                <a:gridCol w="282860">
                  <a:extLst>
                    <a:ext uri="{9D8B030D-6E8A-4147-A177-3AD203B41FA5}">
                      <a16:colId xmlns:a16="http://schemas.microsoft.com/office/drawing/2014/main" val="20001"/>
                    </a:ext>
                  </a:extLst>
                </a:gridCol>
              </a:tblGrid>
              <a:tr h="554735">
                <a:tc>
                  <a:txBody>
                    <a:bodyPr/>
                    <a:lstStyle/>
                    <a:p>
                      <a:pPr algn="ctr"/>
                      <a:r>
                        <a:rPr lang="en-US" altLang="zh-CN" sz="1800" dirty="0"/>
                        <a:t>3</a:t>
                      </a:r>
                      <a:endParaRPr lang="zh-CN" altLang="en-US" sz="1800" dirty="0"/>
                    </a:p>
                  </a:txBody>
                  <a:tcPr marL="68591" marR="68591" marT="34295" marB="34295" anchor="ctr"/>
                </a:tc>
                <a:tc>
                  <a:txBody>
                    <a:bodyPr/>
                    <a:lstStyle/>
                    <a:p>
                      <a:pPr algn="ctr"/>
                      <a:r>
                        <a:rPr lang="en-US" altLang="zh-CN" sz="1350" dirty="0"/>
                        <a:t>^</a:t>
                      </a: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61" name="连接符: 曲线 60">
            <a:extLst>
              <a:ext uri="{FF2B5EF4-FFF2-40B4-BE49-F238E27FC236}">
                <a16:creationId xmlns:a16="http://schemas.microsoft.com/office/drawing/2014/main" id="{072E4E38-D879-FBC8-B41F-D6BB14FFF013}"/>
              </a:ext>
            </a:extLst>
          </p:cNvPr>
          <p:cNvCxnSpPr>
            <a:cxnSpLocks/>
            <a:endCxn id="57" idx="1"/>
          </p:cNvCxnSpPr>
          <p:nvPr/>
        </p:nvCxnSpPr>
        <p:spPr>
          <a:xfrm>
            <a:off x="5910080" y="2794733"/>
            <a:ext cx="701712" cy="11882"/>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连接符: 曲线 61">
            <a:extLst>
              <a:ext uri="{FF2B5EF4-FFF2-40B4-BE49-F238E27FC236}">
                <a16:creationId xmlns:a16="http://schemas.microsoft.com/office/drawing/2014/main" id="{608C82E9-CD2F-905B-6135-3C3A3688424F}"/>
              </a:ext>
            </a:extLst>
          </p:cNvPr>
          <p:cNvCxnSpPr>
            <a:cxnSpLocks/>
            <a:endCxn id="59" idx="1"/>
          </p:cNvCxnSpPr>
          <p:nvPr/>
        </p:nvCxnSpPr>
        <p:spPr>
          <a:xfrm>
            <a:off x="7550555" y="2794733"/>
            <a:ext cx="760016" cy="863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0" name="表格 9">
            <a:extLst>
              <a:ext uri="{FF2B5EF4-FFF2-40B4-BE49-F238E27FC236}">
                <a16:creationId xmlns:a16="http://schemas.microsoft.com/office/drawing/2014/main" id="{C8A25852-551B-325D-B0D6-46C18D2D0440}"/>
              </a:ext>
            </a:extLst>
          </p:cNvPr>
          <p:cNvGraphicFramePr>
            <a:graphicFrameLocks noGrp="1"/>
          </p:cNvGraphicFramePr>
          <p:nvPr>
            <p:extLst>
              <p:ext uri="{D42A27DB-BD31-4B8C-83A1-F6EECF244321}">
                <p14:modId xmlns:p14="http://schemas.microsoft.com/office/powerpoint/2010/main" val="2723900875"/>
              </p:ext>
            </p:extLst>
          </p:nvPr>
        </p:nvGraphicFramePr>
        <p:xfrm>
          <a:off x="3596736" y="4862959"/>
          <a:ext cx="981639" cy="557979"/>
        </p:xfrm>
        <a:graphic>
          <a:graphicData uri="http://schemas.openxmlformats.org/drawingml/2006/table">
            <a:tbl>
              <a:tblPr firstRow="1" bandRow="1">
                <a:tableStyleId>{BDBED569-4797-4DF1-A0F4-6AAB3CD982D8}</a:tableStyleId>
              </a:tblPr>
              <a:tblGrid>
                <a:gridCol w="695023">
                  <a:extLst>
                    <a:ext uri="{9D8B030D-6E8A-4147-A177-3AD203B41FA5}">
                      <a16:colId xmlns:a16="http://schemas.microsoft.com/office/drawing/2014/main" val="20000"/>
                    </a:ext>
                  </a:extLst>
                </a:gridCol>
                <a:gridCol w="286616">
                  <a:extLst>
                    <a:ext uri="{9D8B030D-6E8A-4147-A177-3AD203B41FA5}">
                      <a16:colId xmlns:a16="http://schemas.microsoft.com/office/drawing/2014/main" val="20001"/>
                    </a:ext>
                  </a:extLst>
                </a:gridCol>
              </a:tblGrid>
              <a:tr h="557979">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81" name="连接符: 曲线 80">
            <a:extLst>
              <a:ext uri="{FF2B5EF4-FFF2-40B4-BE49-F238E27FC236}">
                <a16:creationId xmlns:a16="http://schemas.microsoft.com/office/drawing/2014/main" id="{BBD083ED-28B2-22D9-8B70-330F26E5CA4C}"/>
              </a:ext>
            </a:extLst>
          </p:cNvPr>
          <p:cNvCxnSpPr>
            <a:cxnSpLocks/>
          </p:cNvCxnSpPr>
          <p:nvPr/>
        </p:nvCxnSpPr>
        <p:spPr>
          <a:xfrm>
            <a:off x="4466027" y="5145194"/>
            <a:ext cx="59657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2" name="表格 9">
            <a:extLst>
              <a:ext uri="{FF2B5EF4-FFF2-40B4-BE49-F238E27FC236}">
                <a16:creationId xmlns:a16="http://schemas.microsoft.com/office/drawing/2014/main" id="{76979E99-4E20-3D3D-F4C7-2A67F73556AA}"/>
              </a:ext>
            </a:extLst>
          </p:cNvPr>
          <p:cNvGraphicFramePr>
            <a:graphicFrameLocks noGrp="1"/>
          </p:cNvGraphicFramePr>
          <p:nvPr>
            <p:extLst>
              <p:ext uri="{D42A27DB-BD31-4B8C-83A1-F6EECF244321}">
                <p14:modId xmlns:p14="http://schemas.microsoft.com/office/powerpoint/2010/main" val="1417077791"/>
              </p:ext>
            </p:extLst>
          </p:nvPr>
        </p:nvGraphicFramePr>
        <p:xfrm>
          <a:off x="5031926" y="4866205"/>
          <a:ext cx="968775" cy="557978"/>
        </p:xfrm>
        <a:graphic>
          <a:graphicData uri="http://schemas.openxmlformats.org/drawingml/2006/table">
            <a:tbl>
              <a:tblPr firstRow="1" bandRow="1">
                <a:tableStyleId>{BDBED569-4797-4DF1-A0F4-6AAB3CD982D8}</a:tableStyleId>
              </a:tblPr>
              <a:tblGrid>
                <a:gridCol w="685916">
                  <a:extLst>
                    <a:ext uri="{9D8B030D-6E8A-4147-A177-3AD203B41FA5}">
                      <a16:colId xmlns:a16="http://schemas.microsoft.com/office/drawing/2014/main" val="20000"/>
                    </a:ext>
                  </a:extLst>
                </a:gridCol>
                <a:gridCol w="282859">
                  <a:extLst>
                    <a:ext uri="{9D8B030D-6E8A-4147-A177-3AD203B41FA5}">
                      <a16:colId xmlns:a16="http://schemas.microsoft.com/office/drawing/2014/main" val="20001"/>
                    </a:ext>
                  </a:extLst>
                </a:gridCol>
              </a:tblGrid>
              <a:tr h="557978">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83" name="表格 9">
            <a:extLst>
              <a:ext uri="{FF2B5EF4-FFF2-40B4-BE49-F238E27FC236}">
                <a16:creationId xmlns:a16="http://schemas.microsoft.com/office/drawing/2014/main" id="{538477AD-D8C5-B314-D744-047C8930ED64}"/>
              </a:ext>
            </a:extLst>
          </p:cNvPr>
          <p:cNvGraphicFramePr>
            <a:graphicFrameLocks noGrp="1"/>
          </p:cNvGraphicFramePr>
          <p:nvPr>
            <p:extLst>
              <p:ext uri="{D42A27DB-BD31-4B8C-83A1-F6EECF244321}">
                <p14:modId xmlns:p14="http://schemas.microsoft.com/office/powerpoint/2010/main" val="787170193"/>
              </p:ext>
            </p:extLst>
          </p:nvPr>
        </p:nvGraphicFramePr>
        <p:xfrm>
          <a:off x="6597378" y="4869448"/>
          <a:ext cx="1044222" cy="554735"/>
        </p:xfrm>
        <a:graphic>
          <a:graphicData uri="http://schemas.openxmlformats.org/drawingml/2006/table">
            <a:tbl>
              <a:tblPr firstRow="1" bandRow="1">
                <a:tableStyleId>{BDBED569-4797-4DF1-A0F4-6AAB3CD982D8}</a:tableStyleId>
              </a:tblPr>
              <a:tblGrid>
                <a:gridCol w="739334">
                  <a:extLst>
                    <a:ext uri="{9D8B030D-6E8A-4147-A177-3AD203B41FA5}">
                      <a16:colId xmlns:a16="http://schemas.microsoft.com/office/drawing/2014/main" val="20000"/>
                    </a:ext>
                  </a:extLst>
                </a:gridCol>
                <a:gridCol w="304888">
                  <a:extLst>
                    <a:ext uri="{9D8B030D-6E8A-4147-A177-3AD203B41FA5}">
                      <a16:colId xmlns:a16="http://schemas.microsoft.com/office/drawing/2014/main" val="20001"/>
                    </a:ext>
                  </a:extLst>
                </a:gridCol>
              </a:tblGrid>
              <a:tr h="554735">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84" name="表格 9">
            <a:extLst>
              <a:ext uri="{FF2B5EF4-FFF2-40B4-BE49-F238E27FC236}">
                <a16:creationId xmlns:a16="http://schemas.microsoft.com/office/drawing/2014/main" id="{5E5DE4ED-3E13-9A43-42CA-D0028377CCE7}"/>
              </a:ext>
            </a:extLst>
          </p:cNvPr>
          <p:cNvGraphicFramePr>
            <a:graphicFrameLocks noGrp="1"/>
          </p:cNvGraphicFramePr>
          <p:nvPr>
            <p:extLst>
              <p:ext uri="{D42A27DB-BD31-4B8C-83A1-F6EECF244321}">
                <p14:modId xmlns:p14="http://schemas.microsoft.com/office/powerpoint/2010/main" val="826985592"/>
              </p:ext>
            </p:extLst>
          </p:nvPr>
        </p:nvGraphicFramePr>
        <p:xfrm>
          <a:off x="8296157" y="4866204"/>
          <a:ext cx="968775" cy="554735"/>
        </p:xfrm>
        <a:graphic>
          <a:graphicData uri="http://schemas.openxmlformats.org/drawingml/2006/table">
            <a:tbl>
              <a:tblPr firstRow="1" bandRow="1">
                <a:tableStyleId>{BDBED569-4797-4DF1-A0F4-6AAB3CD982D8}</a:tableStyleId>
              </a:tblPr>
              <a:tblGrid>
                <a:gridCol w="685915">
                  <a:extLst>
                    <a:ext uri="{9D8B030D-6E8A-4147-A177-3AD203B41FA5}">
                      <a16:colId xmlns:a16="http://schemas.microsoft.com/office/drawing/2014/main" val="20000"/>
                    </a:ext>
                  </a:extLst>
                </a:gridCol>
                <a:gridCol w="282860">
                  <a:extLst>
                    <a:ext uri="{9D8B030D-6E8A-4147-A177-3AD203B41FA5}">
                      <a16:colId xmlns:a16="http://schemas.microsoft.com/office/drawing/2014/main" val="20001"/>
                    </a:ext>
                  </a:extLst>
                </a:gridCol>
              </a:tblGrid>
              <a:tr h="554735">
                <a:tc>
                  <a:txBody>
                    <a:bodyPr/>
                    <a:lstStyle/>
                    <a:p>
                      <a:pPr algn="ctr"/>
                      <a:r>
                        <a:rPr lang="en-US" altLang="zh-CN" sz="1800" dirty="0"/>
                        <a:t>3</a:t>
                      </a:r>
                      <a:endParaRPr lang="zh-CN" altLang="en-US" sz="1800" dirty="0"/>
                    </a:p>
                  </a:txBody>
                  <a:tcPr marL="68591" marR="68591" marT="34295" marB="34295" anchor="ctr"/>
                </a:tc>
                <a:tc>
                  <a:txBody>
                    <a:bodyPr/>
                    <a:lstStyle/>
                    <a:p>
                      <a:pPr algn="ct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85" name="连接符: 曲线 84">
            <a:extLst>
              <a:ext uri="{FF2B5EF4-FFF2-40B4-BE49-F238E27FC236}">
                <a16:creationId xmlns:a16="http://schemas.microsoft.com/office/drawing/2014/main" id="{A94D2027-DB7D-A246-9203-FEE84FFF73CB}"/>
              </a:ext>
            </a:extLst>
          </p:cNvPr>
          <p:cNvCxnSpPr>
            <a:cxnSpLocks/>
            <a:endCxn id="83" idx="1"/>
          </p:cNvCxnSpPr>
          <p:nvPr/>
        </p:nvCxnSpPr>
        <p:spPr>
          <a:xfrm>
            <a:off x="5895666" y="5134933"/>
            <a:ext cx="701712" cy="11882"/>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连接符: 曲线 85">
            <a:extLst>
              <a:ext uri="{FF2B5EF4-FFF2-40B4-BE49-F238E27FC236}">
                <a16:creationId xmlns:a16="http://schemas.microsoft.com/office/drawing/2014/main" id="{8DCDA1A7-6D20-CC3C-67C0-0359314EC477}"/>
              </a:ext>
            </a:extLst>
          </p:cNvPr>
          <p:cNvCxnSpPr>
            <a:cxnSpLocks/>
            <a:endCxn id="84" idx="1"/>
          </p:cNvCxnSpPr>
          <p:nvPr/>
        </p:nvCxnSpPr>
        <p:spPr>
          <a:xfrm>
            <a:off x="7536141" y="5134933"/>
            <a:ext cx="760016" cy="863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4">
            <a:extLst>
              <a:ext uri="{FF2B5EF4-FFF2-40B4-BE49-F238E27FC236}">
                <a16:creationId xmlns:a16="http://schemas.microsoft.com/office/drawing/2014/main" id="{5192A404-B662-EA1E-A8EF-0860DECCADA1}"/>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创建节点</a:t>
            </a:r>
          </a:p>
        </p:txBody>
      </p:sp>
      <p:sp>
        <p:nvSpPr>
          <p:cNvPr id="4" name="内容占位符 3">
            <a:extLst>
              <a:ext uri="{FF2B5EF4-FFF2-40B4-BE49-F238E27FC236}">
                <a16:creationId xmlns:a16="http://schemas.microsoft.com/office/drawing/2014/main" id="{4D8074CC-F096-8E0E-BB37-E1C39ECA16EE}"/>
              </a:ext>
            </a:extLst>
          </p:cNvPr>
          <p:cNvSpPr txBox="1">
            <a:spLocks/>
          </p:cNvSpPr>
          <p:nvPr/>
        </p:nvSpPr>
        <p:spPr>
          <a:xfrm>
            <a:off x="1036357" y="1296223"/>
            <a:ext cx="10982325" cy="29313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Consolas" panose="020B0609020204030204" pitchFamily="49" charset="0"/>
              </a:rPr>
              <a:t>void* malloc(int size)</a:t>
            </a:r>
          </a:p>
          <a:p>
            <a:pPr lvl="1"/>
            <a:r>
              <a:rPr lang="zh-CN" altLang="en-US" dirty="0">
                <a:latin typeface="Consolas" panose="020B0609020204030204" pitchFamily="49" charset="0"/>
              </a:rPr>
              <a:t>动态分配长度为</a:t>
            </a:r>
            <a:r>
              <a:rPr lang="en-US" altLang="zh-CN" dirty="0">
                <a:latin typeface="Consolas" panose="020B0609020204030204" pitchFamily="49" charset="0"/>
              </a:rPr>
              <a:t>size</a:t>
            </a:r>
            <a:r>
              <a:rPr lang="zh-CN" altLang="en-US" dirty="0">
                <a:latin typeface="Consolas" panose="020B0609020204030204" pitchFamily="49" charset="0"/>
              </a:rPr>
              <a:t>个字节的内存空间</a:t>
            </a:r>
            <a:endParaRPr lang="en-US" altLang="zh-CN" dirty="0">
              <a:latin typeface="Consolas" panose="020B0609020204030204" pitchFamily="49" charset="0"/>
            </a:endParaRPr>
          </a:p>
          <a:p>
            <a:pPr lvl="1"/>
            <a:r>
              <a:rPr lang="zh-CN" altLang="en-US" dirty="0">
                <a:latin typeface="Consolas" panose="020B0609020204030204" pitchFamily="49" charset="0"/>
              </a:rPr>
              <a:t>分配成功返回首地址，失败返回</a:t>
            </a:r>
            <a:r>
              <a:rPr lang="en-US" altLang="zh-CN" dirty="0">
                <a:latin typeface="Consolas" panose="020B0609020204030204" pitchFamily="49" charset="0"/>
              </a:rPr>
              <a:t>0</a:t>
            </a:r>
          </a:p>
          <a:p>
            <a:endParaRPr lang="en-US" altLang="zh-CN" dirty="0">
              <a:latin typeface="Consolas" panose="020B0609020204030204" pitchFamily="49" charset="0"/>
            </a:endParaRPr>
          </a:p>
          <a:p>
            <a:r>
              <a:rPr lang="en-US" altLang="zh-CN" dirty="0">
                <a:latin typeface="Consolas" panose="020B0609020204030204" pitchFamily="49" charset="0"/>
              </a:rPr>
              <a:t>void free(void* p)</a:t>
            </a:r>
          </a:p>
          <a:p>
            <a:pPr lvl="1"/>
            <a:r>
              <a:rPr lang="zh-CN" altLang="en-US" dirty="0">
                <a:latin typeface="Consolas" panose="020B0609020204030204" pitchFamily="49" charset="0"/>
              </a:rPr>
              <a:t>释放</a:t>
            </a:r>
            <a:r>
              <a:rPr lang="en-US" altLang="zh-CN" dirty="0">
                <a:latin typeface="Consolas" panose="020B0609020204030204" pitchFamily="49" charset="0"/>
              </a:rPr>
              <a:t>p</a:t>
            </a:r>
            <a:r>
              <a:rPr lang="zh-CN" altLang="en-US" dirty="0">
                <a:latin typeface="Consolas" panose="020B0609020204030204" pitchFamily="49" charset="0"/>
              </a:rPr>
              <a:t>所指向的内存空间</a:t>
            </a:r>
          </a:p>
        </p:txBody>
      </p:sp>
      <p:sp>
        <p:nvSpPr>
          <p:cNvPr id="15" name="文本框 14">
            <a:extLst>
              <a:ext uri="{FF2B5EF4-FFF2-40B4-BE49-F238E27FC236}">
                <a16:creationId xmlns:a16="http://schemas.microsoft.com/office/drawing/2014/main" id="{C94B6726-7E11-77D0-D237-374965212BFD}"/>
              </a:ext>
            </a:extLst>
          </p:cNvPr>
          <p:cNvSpPr txBox="1"/>
          <p:nvPr/>
        </p:nvSpPr>
        <p:spPr>
          <a:xfrm>
            <a:off x="1379999" y="4413794"/>
            <a:ext cx="5497303" cy="769441"/>
          </a:xfrm>
          <a:prstGeom prst="rect">
            <a:avLst/>
          </a:prstGeom>
          <a:noFill/>
        </p:spPr>
        <p:txBody>
          <a:bodyPr wrap="square" rtlCol="0">
            <a:spAutoFit/>
          </a:bodyPr>
          <a:lstStyle/>
          <a:p>
            <a:r>
              <a:rPr lang="zh-CN" altLang="en-US" sz="4400" b="1" dirty="0">
                <a:solidFill>
                  <a:srgbClr val="FF0000"/>
                </a:solidFill>
              </a:rPr>
              <a:t>使用头文件</a:t>
            </a:r>
            <a:r>
              <a:rPr lang="en-US" altLang="zh-CN" sz="4400" b="1" dirty="0">
                <a:solidFill>
                  <a:srgbClr val="FF0000"/>
                </a:solidFill>
              </a:rPr>
              <a:t>:</a:t>
            </a:r>
            <a:r>
              <a:rPr lang="en-US" altLang="zh-CN" sz="4400" b="1" dirty="0" err="1">
                <a:solidFill>
                  <a:srgbClr val="FF0000"/>
                </a:solidFill>
              </a:rPr>
              <a:t>stdlib.h</a:t>
            </a:r>
            <a:endParaRPr lang="zh-CN" altLang="en-US" sz="4400" b="1" dirty="0">
              <a:solidFill>
                <a:srgbClr val="FF0000"/>
              </a:solidFill>
            </a:endParaRPr>
          </a:p>
        </p:txBody>
      </p:sp>
    </p:spTree>
    <p:extLst>
      <p:ext uri="{BB962C8B-B14F-4D97-AF65-F5344CB8AC3E}">
        <p14:creationId xmlns:p14="http://schemas.microsoft.com/office/powerpoint/2010/main" val="1215119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007E1DCF-3173-F850-F208-3DC98A3C094F}"/>
              </a:ext>
            </a:extLst>
          </p:cNvPr>
          <p:cNvPicPr>
            <a:picLocks noChangeAspect="1"/>
          </p:cNvPicPr>
          <p:nvPr/>
        </p:nvPicPr>
        <p:blipFill rotWithShape="1">
          <a:blip r:embed="rId2"/>
          <a:srcRect t="37573" b="28506"/>
          <a:stretch/>
        </p:blipFill>
        <p:spPr>
          <a:xfrm>
            <a:off x="1923958" y="1555210"/>
            <a:ext cx="8152623" cy="1835411"/>
          </a:xfrm>
          <a:prstGeom prst="rect">
            <a:avLst/>
          </a:prstGeom>
        </p:spPr>
      </p:pic>
      <p:graphicFrame>
        <p:nvGraphicFramePr>
          <p:cNvPr id="8" name="表格 9">
            <a:extLst>
              <a:ext uri="{FF2B5EF4-FFF2-40B4-BE49-F238E27FC236}">
                <a16:creationId xmlns:a16="http://schemas.microsoft.com/office/drawing/2014/main" id="{5D91766E-167B-FD46-594A-D5ADF7ACB249}"/>
              </a:ext>
            </a:extLst>
          </p:cNvPr>
          <p:cNvGraphicFramePr>
            <a:graphicFrameLocks noGrp="1"/>
          </p:cNvGraphicFramePr>
          <p:nvPr>
            <p:extLst>
              <p:ext uri="{D42A27DB-BD31-4B8C-83A1-F6EECF244321}">
                <p14:modId xmlns:p14="http://schemas.microsoft.com/office/powerpoint/2010/main" val="3213090161"/>
              </p:ext>
            </p:extLst>
          </p:nvPr>
        </p:nvGraphicFramePr>
        <p:xfrm>
          <a:off x="6727770" y="857139"/>
          <a:ext cx="2849584" cy="791210"/>
        </p:xfrm>
        <a:graphic>
          <a:graphicData uri="http://schemas.openxmlformats.org/drawingml/2006/table">
            <a:tbl>
              <a:tblPr firstRow="1" bandRow="1">
                <a:tableStyleId>{BDBED569-4797-4DF1-A0F4-6AAB3CD982D8}</a:tableStyleId>
              </a:tblPr>
              <a:tblGrid>
                <a:gridCol w="1665128">
                  <a:extLst>
                    <a:ext uri="{9D8B030D-6E8A-4147-A177-3AD203B41FA5}">
                      <a16:colId xmlns:a16="http://schemas.microsoft.com/office/drawing/2014/main" val="20000"/>
                    </a:ext>
                  </a:extLst>
                </a:gridCol>
                <a:gridCol w="1184456">
                  <a:extLst>
                    <a:ext uri="{9D8B030D-6E8A-4147-A177-3AD203B41FA5}">
                      <a16:colId xmlns:a16="http://schemas.microsoft.com/office/drawing/2014/main" val="20001"/>
                    </a:ext>
                  </a:extLst>
                </a:gridCol>
              </a:tblGrid>
              <a:tr h="791210">
                <a:tc>
                  <a:txBody>
                    <a:bodyPr/>
                    <a:lstStyle/>
                    <a:p>
                      <a:pPr algn="ctr"/>
                      <a:r>
                        <a:rPr lang="zh-CN" altLang="en-US" sz="1800" dirty="0"/>
                        <a:t>数据：</a:t>
                      </a:r>
                      <a:r>
                        <a:rPr lang="en-US" altLang="zh-CN" sz="1800" dirty="0"/>
                        <a:t>0</a:t>
                      </a:r>
                      <a:endParaRPr lang="zh-CN" altLang="en-US" sz="1800" dirty="0"/>
                    </a:p>
                  </a:txBody>
                  <a:tcPr marL="68591" marR="68591" marT="34295" marB="34295" anchor="ctr"/>
                </a:tc>
                <a:tc>
                  <a:txBody>
                    <a:bodyPr/>
                    <a:lstStyle/>
                    <a:p>
                      <a:pPr algn="ctr"/>
                      <a:r>
                        <a:rPr lang="zh-CN" altLang="en-US" sz="1800" dirty="0"/>
                        <a:t>指针：空</a:t>
                      </a:r>
                    </a:p>
                  </a:txBody>
                  <a:tcPr marL="68591" marR="68591" marT="34295" marB="34295" anchor="ctr"/>
                </a:tc>
                <a:extLst>
                  <a:ext uri="{0D108BD9-81ED-4DB2-BD59-A6C34878D82A}">
                    <a16:rowId xmlns:a16="http://schemas.microsoft.com/office/drawing/2014/main" val="10000"/>
                  </a:ext>
                </a:extLst>
              </a:tr>
            </a:tbl>
          </a:graphicData>
        </a:graphic>
      </p:graphicFrame>
      <p:pic>
        <p:nvPicPr>
          <p:cNvPr id="22" name="图片 21">
            <a:extLst>
              <a:ext uri="{FF2B5EF4-FFF2-40B4-BE49-F238E27FC236}">
                <a16:creationId xmlns:a16="http://schemas.microsoft.com/office/drawing/2014/main" id="{EFC7F407-F6F6-E11A-F4A7-5FA429C1A3B6}"/>
              </a:ext>
            </a:extLst>
          </p:cNvPr>
          <p:cNvPicPr>
            <a:picLocks noChangeAspect="1"/>
          </p:cNvPicPr>
          <p:nvPr/>
        </p:nvPicPr>
        <p:blipFill rotWithShape="1">
          <a:blip r:embed="rId3"/>
          <a:srcRect t="41049" b="28134"/>
          <a:stretch/>
        </p:blipFill>
        <p:spPr>
          <a:xfrm>
            <a:off x="1923958" y="3995554"/>
            <a:ext cx="8304957" cy="2389924"/>
          </a:xfrm>
          <a:prstGeom prst="rect">
            <a:avLst/>
          </a:prstGeom>
        </p:spPr>
      </p:pic>
      <p:sp>
        <p:nvSpPr>
          <p:cNvPr id="7" name="标题 4">
            <a:extLst>
              <a:ext uri="{FF2B5EF4-FFF2-40B4-BE49-F238E27FC236}">
                <a16:creationId xmlns:a16="http://schemas.microsoft.com/office/drawing/2014/main" id="{5192A404-B662-EA1E-A8EF-0860DECCADA1}"/>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创建节点</a:t>
            </a:r>
          </a:p>
        </p:txBody>
      </p:sp>
      <p:pic>
        <p:nvPicPr>
          <p:cNvPr id="9" name="图片 8">
            <a:extLst>
              <a:ext uri="{FF2B5EF4-FFF2-40B4-BE49-F238E27FC236}">
                <a16:creationId xmlns:a16="http://schemas.microsoft.com/office/drawing/2014/main" id="{93399BF9-AEC2-8F24-B0E7-F35CD1D95BA1}"/>
              </a:ext>
            </a:extLst>
          </p:cNvPr>
          <p:cNvPicPr>
            <a:picLocks noChangeAspect="1"/>
          </p:cNvPicPr>
          <p:nvPr/>
        </p:nvPicPr>
        <p:blipFill rotWithShape="1">
          <a:blip r:embed="rId4"/>
          <a:srcRect l="13333"/>
          <a:stretch/>
        </p:blipFill>
        <p:spPr>
          <a:xfrm>
            <a:off x="1841073" y="3555438"/>
            <a:ext cx="3788937" cy="665394"/>
          </a:xfrm>
          <a:prstGeom prst="rect">
            <a:avLst/>
          </a:prstGeom>
        </p:spPr>
      </p:pic>
      <p:sp>
        <p:nvSpPr>
          <p:cNvPr id="10" name="文本框 9">
            <a:extLst>
              <a:ext uri="{FF2B5EF4-FFF2-40B4-BE49-F238E27FC236}">
                <a16:creationId xmlns:a16="http://schemas.microsoft.com/office/drawing/2014/main" id="{94B515E2-10C3-C112-ED1A-94A4F4969C9D}"/>
              </a:ext>
            </a:extLst>
          </p:cNvPr>
          <p:cNvSpPr txBox="1"/>
          <p:nvPr/>
        </p:nvSpPr>
        <p:spPr>
          <a:xfrm>
            <a:off x="490953" y="2288249"/>
            <a:ext cx="877163" cy="369332"/>
          </a:xfrm>
          <a:prstGeom prst="rect">
            <a:avLst/>
          </a:prstGeom>
          <a:noFill/>
        </p:spPr>
        <p:txBody>
          <a:bodyPr wrap="none" rtlCol="0">
            <a:spAutoFit/>
          </a:bodyPr>
          <a:lstStyle/>
          <a:p>
            <a:r>
              <a:rPr lang="zh-CN" altLang="en-US" dirty="0"/>
              <a:t>方法一</a:t>
            </a:r>
          </a:p>
        </p:txBody>
      </p:sp>
      <p:sp>
        <p:nvSpPr>
          <p:cNvPr id="11" name="文本框 10">
            <a:extLst>
              <a:ext uri="{FF2B5EF4-FFF2-40B4-BE49-F238E27FC236}">
                <a16:creationId xmlns:a16="http://schemas.microsoft.com/office/drawing/2014/main" id="{3401C042-BA14-9CF3-28F3-0A581B3A9D29}"/>
              </a:ext>
            </a:extLst>
          </p:cNvPr>
          <p:cNvSpPr txBox="1"/>
          <p:nvPr/>
        </p:nvSpPr>
        <p:spPr>
          <a:xfrm>
            <a:off x="490952" y="4651780"/>
            <a:ext cx="877163" cy="369332"/>
          </a:xfrm>
          <a:prstGeom prst="rect">
            <a:avLst/>
          </a:prstGeom>
          <a:noFill/>
        </p:spPr>
        <p:txBody>
          <a:bodyPr wrap="none" rtlCol="0">
            <a:spAutoFit/>
          </a:bodyPr>
          <a:lstStyle/>
          <a:p>
            <a:r>
              <a:rPr lang="zh-CN" altLang="en-US" dirty="0"/>
              <a:t>方法二</a:t>
            </a:r>
            <a:endParaRPr lang="en-US" altLang="zh-CN" dirty="0"/>
          </a:p>
        </p:txBody>
      </p:sp>
      <p:sp>
        <p:nvSpPr>
          <p:cNvPr id="12" name="矩形: 圆角 11">
            <a:extLst>
              <a:ext uri="{FF2B5EF4-FFF2-40B4-BE49-F238E27FC236}">
                <a16:creationId xmlns:a16="http://schemas.microsoft.com/office/drawing/2014/main" id="{87363191-CA86-DD6F-EE42-7FEB462E2DCC}"/>
              </a:ext>
            </a:extLst>
          </p:cNvPr>
          <p:cNvSpPr/>
          <p:nvPr/>
        </p:nvSpPr>
        <p:spPr>
          <a:xfrm>
            <a:off x="380489" y="1648349"/>
            <a:ext cx="9887553" cy="1835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EDFAB213-3BA3-9961-C1EF-8E780BD5F454}"/>
              </a:ext>
            </a:extLst>
          </p:cNvPr>
          <p:cNvSpPr/>
          <p:nvPr/>
        </p:nvSpPr>
        <p:spPr>
          <a:xfrm>
            <a:off x="380489" y="3545911"/>
            <a:ext cx="9887553" cy="27365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anim calcmode="lin" valueType="num">
                                      <p:cBhvr>
                                        <p:cTn id="23" dur="500" fill="hold"/>
                                        <p:tgtEl>
                                          <p:spTgt spid="11"/>
                                        </p:tgtEl>
                                        <p:attrNameLst>
                                          <p:attrName>ppt_x</p:attrName>
                                        </p:attrNameLst>
                                      </p:cBhvr>
                                      <p:tavLst>
                                        <p:tav tm="0">
                                          <p:val>
                                            <p:strVal val="#ppt_x"/>
                                          </p:val>
                                        </p:tav>
                                        <p:tav tm="100000">
                                          <p:val>
                                            <p:strVal val="#ppt_x"/>
                                          </p:val>
                                        </p:tav>
                                      </p:tavLst>
                                    </p:anim>
                                    <p:anim calcmode="lin" valueType="num">
                                      <p:cBhvr>
                                        <p:cTn id="24" dur="5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anim calcmode="lin" valueType="num">
                                      <p:cBhvr>
                                        <p:cTn id="28" dur="500" fill="hold"/>
                                        <p:tgtEl>
                                          <p:spTgt spid="13"/>
                                        </p:tgtEl>
                                        <p:attrNameLst>
                                          <p:attrName>ppt_x</p:attrName>
                                        </p:attrNameLst>
                                      </p:cBhvr>
                                      <p:tavLst>
                                        <p:tav tm="0">
                                          <p:val>
                                            <p:strVal val="#ppt_x"/>
                                          </p:val>
                                        </p:tav>
                                        <p:tav tm="100000">
                                          <p:val>
                                            <p:strVal val="#ppt_x"/>
                                          </p:val>
                                        </p:tav>
                                      </p:tavLst>
                                    </p:anim>
                                    <p:anim calcmode="lin" valueType="num">
                                      <p:cBhvr>
                                        <p:cTn id="2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9"/>
          <p:cNvGraphicFramePr>
            <a:graphicFrameLocks noGrp="1"/>
          </p:cNvGraphicFramePr>
          <p:nvPr>
            <p:extLst>
              <p:ext uri="{D42A27DB-BD31-4B8C-83A1-F6EECF244321}">
                <p14:modId xmlns:p14="http://schemas.microsoft.com/office/powerpoint/2010/main" val="3023801955"/>
              </p:ext>
            </p:extLst>
          </p:nvPr>
        </p:nvGraphicFramePr>
        <p:xfrm>
          <a:off x="3968785" y="2332171"/>
          <a:ext cx="767715" cy="44450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4500">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4" name="表格 9"/>
          <p:cNvGraphicFramePr>
            <a:graphicFrameLocks noGrp="1"/>
          </p:cNvGraphicFramePr>
          <p:nvPr>
            <p:extLst>
              <p:ext uri="{D42A27DB-BD31-4B8C-83A1-F6EECF244321}">
                <p14:modId xmlns:p14="http://schemas.microsoft.com/office/powerpoint/2010/main" val="3872791635"/>
              </p:ext>
            </p:extLst>
          </p:nvPr>
        </p:nvGraphicFramePr>
        <p:xfrm>
          <a:off x="5128808" y="2329559"/>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5" name="表格 9"/>
          <p:cNvGraphicFramePr>
            <a:graphicFrameLocks noGrp="1"/>
          </p:cNvGraphicFramePr>
          <p:nvPr>
            <p:extLst>
              <p:ext uri="{D42A27DB-BD31-4B8C-83A1-F6EECF244321}">
                <p14:modId xmlns:p14="http://schemas.microsoft.com/office/powerpoint/2010/main" val="290568370"/>
              </p:ext>
            </p:extLst>
          </p:nvPr>
        </p:nvGraphicFramePr>
        <p:xfrm>
          <a:off x="6734027" y="2319905"/>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3</a:t>
                      </a:r>
                      <a:endParaRPr lang="zh-CN" altLang="en-US" sz="1800" dirty="0"/>
                    </a:p>
                  </a:txBody>
                  <a:tcPr marL="68591" marR="68591" marT="34295" marB="34295" anchor="ctr"/>
                </a:tc>
                <a:tc>
                  <a:txBody>
                    <a:bodyPr/>
                    <a:lstStyle/>
                    <a:p>
                      <a:pPr algn="ctr"/>
                      <a:r>
                        <a:rPr lang="en-US" altLang="zh-CN" sz="1350" dirty="0"/>
                        <a:t>^</a:t>
                      </a: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6" name="连接符: 曲线 5"/>
          <p:cNvCxnSpPr>
            <a:endCxn id="4" idx="1"/>
          </p:cNvCxnSpPr>
          <p:nvPr/>
        </p:nvCxnSpPr>
        <p:spPr>
          <a:xfrm>
            <a:off x="4733407" y="2534924"/>
            <a:ext cx="395401" cy="1815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表格 9"/>
          <p:cNvGraphicFramePr>
            <a:graphicFrameLocks noGrp="1"/>
          </p:cNvGraphicFramePr>
          <p:nvPr>
            <p:extLst>
              <p:ext uri="{D42A27DB-BD31-4B8C-83A1-F6EECF244321}">
                <p14:modId xmlns:p14="http://schemas.microsoft.com/office/powerpoint/2010/main" val="1665914558"/>
              </p:ext>
            </p:extLst>
          </p:nvPr>
        </p:nvGraphicFramePr>
        <p:xfrm>
          <a:off x="5966312" y="1492691"/>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17" name="连接符: 曲线 16"/>
          <p:cNvCxnSpPr>
            <a:endCxn id="5" idx="0"/>
          </p:cNvCxnSpPr>
          <p:nvPr/>
        </p:nvCxnSpPr>
        <p:spPr>
          <a:xfrm rot="16200000" flipH="1">
            <a:off x="6605339" y="1807362"/>
            <a:ext cx="521500" cy="503586"/>
          </a:xfrm>
          <a:prstGeom prst="curvedConnector3">
            <a:avLst>
              <a:gd name="adj1" fmla="val 50000"/>
            </a:avLst>
          </a:prstGeom>
          <a:ln w="28575">
            <a:solidFill>
              <a:srgbClr val="FE0054"/>
            </a:solidFill>
            <a:tailEnd type="triangle"/>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3E3E2CD0-68A4-A250-34FE-CA6236EB3F7C}"/>
              </a:ext>
            </a:extLst>
          </p:cNvPr>
          <p:cNvPicPr>
            <a:picLocks noChangeAspect="1"/>
          </p:cNvPicPr>
          <p:nvPr/>
        </p:nvPicPr>
        <p:blipFill>
          <a:blip r:embed="rId3"/>
          <a:stretch>
            <a:fillRect/>
          </a:stretch>
        </p:blipFill>
        <p:spPr>
          <a:xfrm>
            <a:off x="2698492" y="3278791"/>
            <a:ext cx="6976093" cy="2799802"/>
          </a:xfrm>
          <a:prstGeom prst="rect">
            <a:avLst/>
          </a:prstGeom>
        </p:spPr>
      </p:pic>
      <p:cxnSp>
        <p:nvCxnSpPr>
          <p:cNvPr id="14" name="直接箭头连接符 13">
            <a:extLst>
              <a:ext uri="{FF2B5EF4-FFF2-40B4-BE49-F238E27FC236}">
                <a16:creationId xmlns:a16="http://schemas.microsoft.com/office/drawing/2014/main" id="{7FBCE679-92C4-280D-AB69-AE3E70B3334B}"/>
              </a:ext>
            </a:extLst>
          </p:cNvPr>
          <p:cNvCxnSpPr>
            <a:cxnSpLocks/>
            <a:stCxn id="4" idx="3"/>
            <a:endCxn id="5" idx="1"/>
          </p:cNvCxnSpPr>
          <p:nvPr/>
        </p:nvCxnSpPr>
        <p:spPr>
          <a:xfrm flipV="1">
            <a:off x="5896522" y="2543425"/>
            <a:ext cx="837504" cy="9654"/>
          </a:xfrm>
          <a:prstGeom prst="straightConnector1">
            <a:avLst/>
          </a:prstGeom>
          <a:ln w="38100">
            <a:solidFill>
              <a:srgbClr val="FE0000"/>
            </a:solidFill>
            <a:tailEnd type="triangle"/>
          </a:ln>
        </p:spPr>
        <p:style>
          <a:lnRef idx="1">
            <a:schemeClr val="accent1"/>
          </a:lnRef>
          <a:fillRef idx="0">
            <a:schemeClr val="accent1"/>
          </a:fillRef>
          <a:effectRef idx="0">
            <a:schemeClr val="accent1"/>
          </a:effectRef>
          <a:fontRef idx="minor">
            <a:schemeClr val="tx1"/>
          </a:fontRef>
        </p:style>
      </p:cxnSp>
      <p:pic>
        <p:nvPicPr>
          <p:cNvPr id="21" name="图形 5" descr="指向右边的反手食指">
            <a:extLst>
              <a:ext uri="{FF2B5EF4-FFF2-40B4-BE49-F238E27FC236}">
                <a16:creationId xmlns:a16="http://schemas.microsoft.com/office/drawing/2014/main" id="{3A5D5052-2228-427F-5DCF-6F43F32A82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2021" y="3553537"/>
            <a:ext cx="642515" cy="642515"/>
          </a:xfrm>
          <a:prstGeom prst="rect">
            <a:avLst/>
          </a:prstGeom>
        </p:spPr>
      </p:pic>
      <p:sp>
        <p:nvSpPr>
          <p:cNvPr id="11" name="标题 4">
            <a:extLst>
              <a:ext uri="{FF2B5EF4-FFF2-40B4-BE49-F238E27FC236}">
                <a16:creationId xmlns:a16="http://schemas.microsoft.com/office/drawing/2014/main" id="{493734B8-2EAF-F457-16F9-95E4AD6EAAAF}"/>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插入节点</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8.33333E-7 -4.81481E-6 L 0.00156 0.17408 " pathEditMode="relative" rAng="0" ptsTypes="AA">
                                      <p:cBhvr>
                                        <p:cTn id="6" dur="1000" fill="hold"/>
                                        <p:tgtEl>
                                          <p:spTgt spid="21"/>
                                        </p:tgtEl>
                                        <p:attrNameLst>
                                          <p:attrName>ppt_x</p:attrName>
                                          <p:attrName>ppt_y</p:attrName>
                                        </p:attrNameLst>
                                      </p:cBhvr>
                                      <p:rCtr x="69" y="8704"/>
                                    </p:animMotion>
                                  </p:childTnLst>
                                </p:cTn>
                              </p:par>
                            </p:childTnLst>
                          </p:cTn>
                        </p:par>
                        <p:par>
                          <p:cTn id="7" fill="hold">
                            <p:stCondLst>
                              <p:cond delay="1000"/>
                            </p:stCondLst>
                            <p:childTnLst>
                              <p:par>
                                <p:cTn id="8" presetID="42" presetClass="entr" presetSubtype="0" fill="hold"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anim calcmode="lin" valueType="num">
                                      <p:cBhvr>
                                        <p:cTn id="11" dur="500" fill="hold"/>
                                        <p:tgtEl>
                                          <p:spTgt spid="10"/>
                                        </p:tgtEl>
                                        <p:attrNameLst>
                                          <p:attrName>ppt_x</p:attrName>
                                        </p:attrNameLst>
                                      </p:cBhvr>
                                      <p:tavLst>
                                        <p:tav tm="0">
                                          <p:val>
                                            <p:strVal val="#ppt_x"/>
                                          </p:val>
                                        </p:tav>
                                        <p:tav tm="100000">
                                          <p:val>
                                            <p:strVal val="#ppt_x"/>
                                          </p:val>
                                        </p:tav>
                                      </p:tavLst>
                                    </p:anim>
                                    <p:anim calcmode="lin" valueType="num">
                                      <p:cBhvr>
                                        <p:cTn id="12"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0.00156 0.17408 L 0.00052 0.22547 " pathEditMode="relative" rAng="0" ptsTypes="AA">
                                      <p:cBhvr>
                                        <p:cTn id="16" dur="1000" fill="hold"/>
                                        <p:tgtEl>
                                          <p:spTgt spid="21"/>
                                        </p:tgtEl>
                                        <p:attrNameLst>
                                          <p:attrName>ppt_x</p:attrName>
                                          <p:attrName>ppt_y</p:attrName>
                                        </p:attrNameLst>
                                      </p:cBhvr>
                                      <p:rCtr x="-52" y="2569"/>
                                    </p:animMotion>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nodeType="clickEffect">
                                  <p:stCondLst>
                                    <p:cond delay="0"/>
                                  </p:stCondLst>
                                  <p:childTnLst>
                                    <p:animMotion origin="layout" path="M 0.00052 0.22547 L 0.00208 0.2794 " pathEditMode="relative" rAng="0" ptsTypes="AA">
                                      <p:cBhvr>
                                        <p:cTn id="24" dur="1000" fill="hold"/>
                                        <p:tgtEl>
                                          <p:spTgt spid="21"/>
                                        </p:tgtEl>
                                        <p:attrNameLst>
                                          <p:attrName>ppt_x</p:attrName>
                                          <p:attrName>ppt_y</p:attrName>
                                        </p:attrNameLst>
                                      </p:cBhvr>
                                      <p:rCtr x="69" y="2685"/>
                                    </p:animMotion>
                                  </p:childTnLst>
                                </p:cTn>
                              </p:par>
                            </p:childTnLst>
                          </p:cTn>
                        </p:par>
                        <p:par>
                          <p:cTn id="25" fill="hold">
                            <p:stCondLst>
                              <p:cond delay="1000"/>
                            </p:stCondLst>
                            <p:childTnLst>
                              <p:par>
                                <p:cTn id="26" presetID="8" presetClass="emph" presetSubtype="0" fill="hold" nodeType="afterEffect">
                                  <p:stCondLst>
                                    <p:cond delay="0"/>
                                  </p:stCondLst>
                                  <p:childTnLst>
                                    <p:animRot by="-4200000">
                                      <p:cBhvr>
                                        <p:cTn id="27" dur="1000" fill="hold"/>
                                        <p:tgtEl>
                                          <p:spTgt spid="14"/>
                                        </p:tgtEl>
                                        <p:attrNameLst>
                                          <p:attrName>r</p:attrName>
                                        </p:attrNameLst>
                                      </p:cBhvr>
                                    </p:animRot>
                                  </p:childTnLst>
                                </p:cTn>
                              </p:par>
                              <p:par>
                                <p:cTn id="28" presetID="42" presetClass="path" presetSubtype="0" accel="50000" decel="50000" fill="hold" nodeType="withEffect">
                                  <p:stCondLst>
                                    <p:cond delay="0"/>
                                  </p:stCondLst>
                                  <p:childTnLst>
                                    <p:animMotion origin="layout" path="M 1.66667E-6 2.22222E-6 L -0.03264 -0.03773 " pathEditMode="relative" rAng="0" ptsTypes="AA">
                                      <p:cBhvr>
                                        <p:cTn id="29" dur="1000" fill="hold"/>
                                        <p:tgtEl>
                                          <p:spTgt spid="14"/>
                                        </p:tgtEl>
                                        <p:attrNameLst>
                                          <p:attrName>ppt_x</p:attrName>
                                          <p:attrName>ppt_y</p:attrName>
                                        </p:attrNameLst>
                                      </p:cBhvr>
                                      <p:rCtr x="-1632" y="-18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9"/>
          <p:cNvGraphicFramePr>
            <a:graphicFrameLocks noGrp="1"/>
          </p:cNvGraphicFramePr>
          <p:nvPr>
            <p:extLst>
              <p:ext uri="{D42A27DB-BD31-4B8C-83A1-F6EECF244321}">
                <p14:modId xmlns:p14="http://schemas.microsoft.com/office/powerpoint/2010/main" val="1361191028"/>
              </p:ext>
            </p:extLst>
          </p:nvPr>
        </p:nvGraphicFramePr>
        <p:xfrm>
          <a:off x="4021584" y="1539478"/>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3" name="表格 9"/>
          <p:cNvGraphicFramePr>
            <a:graphicFrameLocks noGrp="1"/>
          </p:cNvGraphicFramePr>
          <p:nvPr>
            <p:extLst>
              <p:ext uri="{D42A27DB-BD31-4B8C-83A1-F6EECF244321}">
                <p14:modId xmlns:p14="http://schemas.microsoft.com/office/powerpoint/2010/main" val="1621162455"/>
              </p:ext>
            </p:extLst>
          </p:nvPr>
        </p:nvGraphicFramePr>
        <p:xfrm>
          <a:off x="5273524" y="1539478"/>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4" name="表格 9"/>
          <p:cNvGraphicFramePr>
            <a:graphicFrameLocks noGrp="1"/>
          </p:cNvGraphicFramePr>
          <p:nvPr>
            <p:extLst>
              <p:ext uri="{D42A27DB-BD31-4B8C-83A1-F6EECF244321}">
                <p14:modId xmlns:p14="http://schemas.microsoft.com/office/powerpoint/2010/main" val="1217022796"/>
              </p:ext>
            </p:extLst>
          </p:nvPr>
        </p:nvGraphicFramePr>
        <p:xfrm>
          <a:off x="6332851" y="1539478"/>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9" name="表格 9"/>
          <p:cNvGraphicFramePr>
            <a:graphicFrameLocks noGrp="1"/>
          </p:cNvGraphicFramePr>
          <p:nvPr>
            <p:extLst>
              <p:ext uri="{D42A27DB-BD31-4B8C-83A1-F6EECF244321}">
                <p14:modId xmlns:p14="http://schemas.microsoft.com/office/powerpoint/2010/main" val="3974248953"/>
              </p:ext>
            </p:extLst>
          </p:nvPr>
        </p:nvGraphicFramePr>
        <p:xfrm>
          <a:off x="7434940" y="1539478"/>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3</a:t>
                      </a:r>
                      <a:endParaRPr lang="zh-CN" altLang="en-US" sz="1800" dirty="0"/>
                    </a:p>
                  </a:txBody>
                  <a:tcPr marL="68591" marR="68591" marT="34295" marB="34295" anchor="ctr"/>
                </a:tc>
                <a:tc>
                  <a:txBody>
                    <a:bodyPr/>
                    <a:lstStyle/>
                    <a:p>
                      <a:pPr algn="ctr"/>
                      <a:r>
                        <a:rPr lang="en-US" altLang="zh-CN" sz="1350" dirty="0"/>
                        <a:t>^</a:t>
                      </a: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20" name="连接符: 曲线 19"/>
          <p:cNvCxnSpPr/>
          <p:nvPr/>
        </p:nvCxnSpPr>
        <p:spPr>
          <a:xfrm>
            <a:off x="4690056" y="1758236"/>
            <a:ext cx="59657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曲线 20"/>
          <p:cNvCxnSpPr/>
          <p:nvPr/>
        </p:nvCxnSpPr>
        <p:spPr>
          <a:xfrm>
            <a:off x="5943997" y="1746232"/>
            <a:ext cx="38885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21"/>
          <p:cNvCxnSpPr/>
          <p:nvPr/>
        </p:nvCxnSpPr>
        <p:spPr>
          <a:xfrm flipV="1">
            <a:off x="6930009" y="1785331"/>
            <a:ext cx="504931"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4CA18933-A651-F6A8-2B01-4D28F9BA9FE7}"/>
              </a:ext>
            </a:extLst>
          </p:cNvPr>
          <p:cNvPicPr>
            <a:picLocks noChangeAspect="1"/>
          </p:cNvPicPr>
          <p:nvPr/>
        </p:nvPicPr>
        <p:blipFill>
          <a:blip r:embed="rId2"/>
          <a:stretch>
            <a:fillRect/>
          </a:stretch>
        </p:blipFill>
        <p:spPr>
          <a:xfrm>
            <a:off x="3204123" y="2640907"/>
            <a:ext cx="6257452" cy="2908393"/>
          </a:xfrm>
          <a:prstGeom prst="rect">
            <a:avLst/>
          </a:prstGeom>
        </p:spPr>
      </p:pic>
      <p:sp>
        <p:nvSpPr>
          <p:cNvPr id="8" name="标题 4">
            <a:extLst>
              <a:ext uri="{FF2B5EF4-FFF2-40B4-BE49-F238E27FC236}">
                <a16:creationId xmlns:a16="http://schemas.microsoft.com/office/drawing/2014/main" id="{5D866A68-A31A-5460-94F7-E520DE2DC280}"/>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遍历</a:t>
            </a:r>
          </a:p>
        </p:txBody>
      </p:sp>
      <p:grpSp>
        <p:nvGrpSpPr>
          <p:cNvPr id="10" name="组合 9">
            <a:extLst>
              <a:ext uri="{FF2B5EF4-FFF2-40B4-BE49-F238E27FC236}">
                <a16:creationId xmlns:a16="http://schemas.microsoft.com/office/drawing/2014/main" id="{F97F3B46-32EC-E8DD-9885-3E2A77C07E47}"/>
              </a:ext>
            </a:extLst>
          </p:cNvPr>
          <p:cNvGrpSpPr/>
          <p:nvPr/>
        </p:nvGrpSpPr>
        <p:grpSpPr>
          <a:xfrm>
            <a:off x="3204123" y="632816"/>
            <a:ext cx="654346" cy="818584"/>
            <a:chOff x="4051290" y="621684"/>
            <a:chExt cx="654346" cy="818584"/>
          </a:xfrm>
        </p:grpSpPr>
        <p:sp>
          <p:nvSpPr>
            <p:cNvPr id="6" name="箭头: 下 5">
              <a:extLst>
                <a:ext uri="{FF2B5EF4-FFF2-40B4-BE49-F238E27FC236}">
                  <a16:creationId xmlns:a16="http://schemas.microsoft.com/office/drawing/2014/main" id="{3403B8AE-295C-C849-2D8C-586485C1F2F2}"/>
                </a:ext>
              </a:extLst>
            </p:cNvPr>
            <p:cNvSpPr/>
            <p:nvPr/>
          </p:nvSpPr>
          <p:spPr>
            <a:xfrm>
              <a:off x="4264572" y="993228"/>
              <a:ext cx="204952" cy="4470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AFA6F78-7994-E883-6103-36C99949E2AA}"/>
                </a:ext>
              </a:extLst>
            </p:cNvPr>
            <p:cNvSpPr txBox="1"/>
            <p:nvPr/>
          </p:nvSpPr>
          <p:spPr>
            <a:xfrm>
              <a:off x="4051290" y="621684"/>
              <a:ext cx="654346" cy="369332"/>
            </a:xfrm>
            <a:prstGeom prst="rect">
              <a:avLst/>
            </a:prstGeom>
            <a:noFill/>
          </p:spPr>
          <p:txBody>
            <a:bodyPr wrap="none" rtlCol="0">
              <a:spAutoFit/>
            </a:bodyPr>
            <a:lstStyle/>
            <a:p>
              <a:r>
                <a:rPr lang="en-US" altLang="zh-CN" dirty="0"/>
                <a:t>head</a:t>
              </a:r>
              <a:endParaRPr lang="zh-CN" altLang="en-US" dirty="0"/>
            </a:p>
          </p:txBody>
        </p:sp>
      </p:grpSp>
      <p:cxnSp>
        <p:nvCxnSpPr>
          <p:cNvPr id="11" name="连接符: 曲线 10">
            <a:extLst>
              <a:ext uri="{FF2B5EF4-FFF2-40B4-BE49-F238E27FC236}">
                <a16:creationId xmlns:a16="http://schemas.microsoft.com/office/drawing/2014/main" id="{A8BD4C33-7BCC-EB12-DBA4-80ABCAB0E8C7}"/>
              </a:ext>
            </a:extLst>
          </p:cNvPr>
          <p:cNvCxnSpPr/>
          <p:nvPr/>
        </p:nvCxnSpPr>
        <p:spPr>
          <a:xfrm>
            <a:off x="3528593" y="1745044"/>
            <a:ext cx="59657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33333E-6 -1.85185E-6 L 0.09506 -0.0037 " pathEditMode="relative" rAng="0" ptsTypes="AA">
                                      <p:cBhvr>
                                        <p:cTn id="6" dur="1000" fill="hold"/>
                                        <p:tgtEl>
                                          <p:spTgt spid="10"/>
                                        </p:tgtEl>
                                        <p:attrNameLst>
                                          <p:attrName>ppt_x</p:attrName>
                                          <p:attrName>ppt_y</p:attrName>
                                        </p:attrNameLst>
                                      </p:cBhvr>
                                      <p:rCtr x="4753" y="-185"/>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09506 -0.0037 L 0.19792 -0.0037 " pathEditMode="relative" rAng="0" ptsTypes="AA">
                                      <p:cBhvr>
                                        <p:cTn id="10" dur="1000" fill="hold"/>
                                        <p:tgtEl>
                                          <p:spTgt spid="10"/>
                                        </p:tgtEl>
                                        <p:attrNameLst>
                                          <p:attrName>ppt_x</p:attrName>
                                          <p:attrName>ppt_y</p:attrName>
                                        </p:attrNameLst>
                                      </p:cBhvr>
                                      <p:rCtr x="5143"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19792 -0.0037 L 0.2849 -0.0037 " pathEditMode="relative" rAng="0" ptsTypes="AA">
                                      <p:cBhvr>
                                        <p:cTn id="14" dur="1000" fill="hold"/>
                                        <p:tgtEl>
                                          <p:spTgt spid="10"/>
                                        </p:tgtEl>
                                        <p:attrNameLst>
                                          <p:attrName>ppt_x</p:attrName>
                                          <p:attrName>ppt_y</p:attrName>
                                        </p:attrNameLst>
                                      </p:cBhvr>
                                      <p:rCtr x="4349"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2849 -0.00371 L 0.37513 -1.85185E-6 " pathEditMode="relative" rAng="0" ptsTypes="AA">
                                      <p:cBhvr>
                                        <p:cTn id="18" dur="1000" fill="hold"/>
                                        <p:tgtEl>
                                          <p:spTgt spid="10"/>
                                        </p:tgtEl>
                                        <p:attrNameLst>
                                          <p:attrName>ppt_x</p:attrName>
                                          <p:attrName>ppt_y</p:attrName>
                                        </p:attrNameLst>
                                      </p:cBhvr>
                                      <p:rCtr x="4505"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9"/>
          <p:cNvGraphicFramePr>
            <a:graphicFrameLocks noGrp="1"/>
          </p:cNvGraphicFramePr>
          <p:nvPr>
            <p:extLst>
              <p:ext uri="{D42A27DB-BD31-4B8C-83A1-F6EECF244321}">
                <p14:modId xmlns:p14="http://schemas.microsoft.com/office/powerpoint/2010/main" val="840836332"/>
              </p:ext>
            </p:extLst>
          </p:nvPr>
        </p:nvGraphicFramePr>
        <p:xfrm>
          <a:off x="4430347" y="1554208"/>
          <a:ext cx="767715" cy="44450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4500">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2" name="表格 9"/>
          <p:cNvGraphicFramePr>
            <a:graphicFrameLocks noGrp="1"/>
          </p:cNvGraphicFramePr>
          <p:nvPr>
            <p:extLst>
              <p:ext uri="{D42A27DB-BD31-4B8C-83A1-F6EECF244321}">
                <p14:modId xmlns:p14="http://schemas.microsoft.com/office/powerpoint/2010/main" val="3101678620"/>
              </p:ext>
            </p:extLst>
          </p:nvPr>
        </p:nvGraphicFramePr>
        <p:xfrm>
          <a:off x="5590369" y="1551596"/>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3" name="表格 9"/>
          <p:cNvGraphicFramePr>
            <a:graphicFrameLocks noGrp="1"/>
          </p:cNvGraphicFramePr>
          <p:nvPr>
            <p:extLst>
              <p:ext uri="{D42A27DB-BD31-4B8C-83A1-F6EECF244321}">
                <p14:modId xmlns:p14="http://schemas.microsoft.com/office/powerpoint/2010/main" val="2313513507"/>
              </p:ext>
            </p:extLst>
          </p:nvPr>
        </p:nvGraphicFramePr>
        <p:xfrm>
          <a:off x="8179448" y="1551596"/>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3</a:t>
                      </a:r>
                      <a:endParaRPr lang="zh-CN" altLang="en-US" sz="1800" dirty="0"/>
                    </a:p>
                  </a:txBody>
                  <a:tcPr marL="68591" marR="68591" marT="34295" marB="34295" anchor="ctr"/>
                </a:tc>
                <a:tc>
                  <a:txBody>
                    <a:bodyPr/>
                    <a:lstStyle/>
                    <a:p>
                      <a:pPr algn="ctr"/>
                      <a:r>
                        <a:rPr lang="en-US" altLang="zh-CN" sz="1350" dirty="0"/>
                        <a:t>^</a:t>
                      </a: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14" name="连接符: 曲线 13"/>
          <p:cNvCxnSpPr>
            <a:endCxn id="12" idx="1"/>
          </p:cNvCxnSpPr>
          <p:nvPr/>
        </p:nvCxnSpPr>
        <p:spPr>
          <a:xfrm flipV="1">
            <a:off x="5198062" y="1775118"/>
            <a:ext cx="392307" cy="11773"/>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连接符: 曲线 14"/>
          <p:cNvCxnSpPr>
            <a:stCxn id="18" idx="3"/>
            <a:endCxn id="13" idx="1"/>
          </p:cNvCxnSpPr>
          <p:nvPr/>
        </p:nvCxnSpPr>
        <p:spPr>
          <a:xfrm flipV="1">
            <a:off x="7652647" y="1775087"/>
            <a:ext cx="527050" cy="17780"/>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表格 17"/>
          <p:cNvGraphicFramePr>
            <a:graphicFrameLocks noGrp="1"/>
          </p:cNvGraphicFramePr>
          <p:nvPr>
            <p:extLst>
              <p:ext uri="{D42A27DB-BD31-4B8C-83A1-F6EECF244321}">
                <p14:modId xmlns:p14="http://schemas.microsoft.com/office/powerpoint/2010/main" val="4022588267"/>
              </p:ext>
            </p:extLst>
          </p:nvPr>
        </p:nvGraphicFramePr>
        <p:xfrm>
          <a:off x="3123625" y="1405194"/>
          <a:ext cx="900430" cy="554355"/>
        </p:xfrm>
        <a:graphic>
          <a:graphicData uri="http://schemas.openxmlformats.org/drawingml/2006/table">
            <a:tbl>
              <a:tblPr firstRow="1" bandRow="1">
                <a:tableStyleId>{69CF1AB2-1976-4502-BF36-3FF5EA218861}</a:tableStyleId>
              </a:tblPr>
              <a:tblGrid>
                <a:gridCol w="900430">
                  <a:extLst>
                    <a:ext uri="{9D8B030D-6E8A-4147-A177-3AD203B41FA5}">
                      <a16:colId xmlns:a16="http://schemas.microsoft.com/office/drawing/2014/main" val="20000"/>
                    </a:ext>
                  </a:extLst>
                </a:gridCol>
              </a:tblGrid>
              <a:tr h="554355">
                <a:tc>
                  <a:txBody>
                    <a:bodyPr/>
                    <a:lstStyle/>
                    <a:p>
                      <a:pPr algn="ctr"/>
                      <a:r>
                        <a:rPr lang="en-US" altLang="zh-CN" sz="2100" dirty="0"/>
                        <a:t>head</a:t>
                      </a:r>
                      <a:endParaRPr lang="zh-CN" altLang="en-US" sz="210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17" name="连接符: 曲线 16"/>
          <p:cNvCxnSpPr/>
          <p:nvPr/>
        </p:nvCxnSpPr>
        <p:spPr>
          <a:xfrm>
            <a:off x="4032114" y="1689715"/>
            <a:ext cx="404156" cy="94262"/>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表格 9"/>
          <p:cNvGraphicFramePr>
            <a:graphicFrameLocks noGrp="1"/>
          </p:cNvGraphicFramePr>
          <p:nvPr>
            <p:extLst>
              <p:ext uri="{D42A27DB-BD31-4B8C-83A1-F6EECF244321}">
                <p14:modId xmlns:p14="http://schemas.microsoft.com/office/powerpoint/2010/main" val="3336432193"/>
              </p:ext>
            </p:extLst>
          </p:nvPr>
        </p:nvGraphicFramePr>
        <p:xfrm>
          <a:off x="6884908" y="1569144"/>
          <a:ext cx="767715" cy="447040"/>
        </p:xfrm>
        <a:graphic>
          <a:graphicData uri="http://schemas.openxmlformats.org/drawingml/2006/table">
            <a:tbl>
              <a:tblPr firstRow="1" bandRow="1">
                <a:tableStyleId>{BDBED569-4797-4DF1-A0F4-6AAB3CD982D8}</a:tableStyleId>
              </a:tblPr>
              <a:tblGrid>
                <a:gridCol w="543560">
                  <a:extLst>
                    <a:ext uri="{9D8B030D-6E8A-4147-A177-3AD203B41FA5}">
                      <a16:colId xmlns:a16="http://schemas.microsoft.com/office/drawing/2014/main" val="20000"/>
                    </a:ext>
                  </a:extLst>
                </a:gridCol>
                <a:gridCol w="224155">
                  <a:extLst>
                    <a:ext uri="{9D8B030D-6E8A-4147-A177-3AD203B41FA5}">
                      <a16:colId xmlns:a16="http://schemas.microsoft.com/office/drawing/2014/main" val="20001"/>
                    </a:ext>
                  </a:extLst>
                </a:gridCol>
              </a:tblGrid>
              <a:tr h="447040">
                <a:tc>
                  <a:txBody>
                    <a:bodyPr/>
                    <a:lstStyle/>
                    <a:p>
                      <a:pPr algn="ctr"/>
                      <a:r>
                        <a:rPr lang="en-US" altLang="zh-CN" sz="1800" dirty="0"/>
                        <a:t>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19" name="连接符: 曲线 18"/>
          <p:cNvCxnSpPr/>
          <p:nvPr/>
        </p:nvCxnSpPr>
        <p:spPr>
          <a:xfrm flipV="1">
            <a:off x="6358114" y="1760793"/>
            <a:ext cx="526792" cy="17549"/>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p:cNvCxnSpPr/>
          <p:nvPr/>
        </p:nvCxnSpPr>
        <p:spPr>
          <a:xfrm flipV="1">
            <a:off x="6352161" y="1745492"/>
            <a:ext cx="1821332" cy="92956"/>
          </a:xfrm>
          <a:prstGeom prst="bentConnector3">
            <a:avLst>
              <a:gd name="adj1" fmla="val 35848"/>
            </a:avLst>
          </a:prstGeom>
          <a:ln w="28575">
            <a:solidFill>
              <a:srgbClr val="FE0054"/>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F2B02936-0E28-7AD7-4DE5-C9D1BCDC4F7E}"/>
              </a:ext>
            </a:extLst>
          </p:cNvPr>
          <p:cNvPicPr>
            <a:picLocks noChangeAspect="1"/>
          </p:cNvPicPr>
          <p:nvPr/>
        </p:nvPicPr>
        <p:blipFill>
          <a:blip r:embed="rId2"/>
          <a:stretch>
            <a:fillRect/>
          </a:stretch>
        </p:blipFill>
        <p:spPr>
          <a:xfrm>
            <a:off x="2837368" y="2218257"/>
            <a:ext cx="7041431" cy="4086544"/>
          </a:xfrm>
          <a:prstGeom prst="rect">
            <a:avLst/>
          </a:prstGeom>
        </p:spPr>
      </p:pic>
      <p:sp>
        <p:nvSpPr>
          <p:cNvPr id="9" name="标题 4">
            <a:extLst>
              <a:ext uri="{FF2B5EF4-FFF2-40B4-BE49-F238E27FC236}">
                <a16:creationId xmlns:a16="http://schemas.microsoft.com/office/drawing/2014/main" id="{EF1BC60C-7E36-30EC-4306-49D6D20B0637}"/>
              </a:ext>
            </a:extLst>
          </p:cNvPr>
          <p:cNvSpPr txBox="1">
            <a:spLocks/>
          </p:cNvSpPr>
          <p:nvPr/>
        </p:nvSpPr>
        <p:spPr>
          <a:xfrm>
            <a:off x="586332" y="181965"/>
            <a:ext cx="5704003" cy="898514"/>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删除节点（有头链表）</a:t>
            </a:r>
          </a:p>
        </p:txBody>
      </p:sp>
      <p:sp>
        <p:nvSpPr>
          <p:cNvPr id="4" name="箭头: 下 3">
            <a:extLst>
              <a:ext uri="{FF2B5EF4-FFF2-40B4-BE49-F238E27FC236}">
                <a16:creationId xmlns:a16="http://schemas.microsoft.com/office/drawing/2014/main" id="{7F784268-6B0A-6AA5-F151-88E5B8A0361D}"/>
              </a:ext>
            </a:extLst>
          </p:cNvPr>
          <p:cNvSpPr/>
          <p:nvPr/>
        </p:nvSpPr>
        <p:spPr>
          <a:xfrm>
            <a:off x="7785100" y="800100"/>
            <a:ext cx="234950" cy="4317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连接符: 曲线 7">
            <a:extLst>
              <a:ext uri="{FF2B5EF4-FFF2-40B4-BE49-F238E27FC236}">
                <a16:creationId xmlns:a16="http://schemas.microsoft.com/office/drawing/2014/main" id="{5AE043AF-B307-B443-0475-006DE48AFCA2}"/>
              </a:ext>
            </a:extLst>
          </p:cNvPr>
          <p:cNvCxnSpPr>
            <a:cxnSpLocks/>
            <a:endCxn id="13" idx="1"/>
          </p:cNvCxnSpPr>
          <p:nvPr/>
        </p:nvCxnSpPr>
        <p:spPr>
          <a:xfrm rot="16200000" flipH="1">
            <a:off x="7787462" y="1383130"/>
            <a:ext cx="507098" cy="276874"/>
          </a:xfrm>
          <a:prstGeom prst="curvedConnector2">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15"/>
                                        </p:tgtEl>
                                        <p:attrNameLst>
                                          <p:attrName>style.color</p:attrName>
                                        </p:attrNameLst>
                                      </p:cBhvr>
                                      <p:by>
                                        <p:hsl h="7200000" s="0" l="0"/>
                                      </p:by>
                                    </p:animClr>
                                    <p:animClr clrSpc="hsl" dir="cw">
                                      <p:cBhvr>
                                        <p:cTn id="7" dur="500" fill="hold"/>
                                        <p:tgtEl>
                                          <p:spTgt spid="15"/>
                                        </p:tgtEl>
                                        <p:attrNameLst>
                                          <p:attrName>fillcolor</p:attrName>
                                        </p:attrNameLst>
                                      </p:cBhvr>
                                      <p:by>
                                        <p:hsl h="7200000" s="0" l="0"/>
                                      </p:by>
                                    </p:animClr>
                                    <p:animClr clrSpc="hsl" dir="cw">
                                      <p:cBhvr>
                                        <p:cTn id="8" dur="500" fill="hold"/>
                                        <p:tgtEl>
                                          <p:spTgt spid="15"/>
                                        </p:tgtEl>
                                        <p:attrNameLst>
                                          <p:attrName>stroke.color</p:attrName>
                                        </p:attrNameLst>
                                      </p:cBhvr>
                                      <p:by>
                                        <p:hsl h="7200000" s="0" l="0"/>
                                      </p:by>
                                    </p:animClr>
                                    <p:set>
                                      <p:cBhvr>
                                        <p:cTn id="9" dur="500" fill="hold"/>
                                        <p:tgtEl>
                                          <p:spTgt spid="15"/>
                                        </p:tgtEl>
                                        <p:attrNameLst>
                                          <p:attrName>fill.type</p:attrName>
                                        </p:attrNameLst>
                                      </p:cBhvr>
                                      <p:to>
                                        <p:strVal val="solid"/>
                                      </p:to>
                                    </p:set>
                                  </p:childTnLst>
                                </p:cTn>
                              </p:par>
                              <p:par>
                                <p:cTn id="10" presetID="21" presetClass="emph" presetSubtype="0" fill="hold" nodeType="withEffect">
                                  <p:stCondLst>
                                    <p:cond delay="0"/>
                                  </p:stCondLst>
                                  <p:childTnLst>
                                    <p:animClr clrSpc="hsl" dir="cw">
                                      <p:cBhvr override="childStyle">
                                        <p:cTn id="11" dur="500" fill="hold"/>
                                        <p:tgtEl>
                                          <p:spTgt spid="19"/>
                                        </p:tgtEl>
                                        <p:attrNameLst>
                                          <p:attrName>style.color</p:attrName>
                                        </p:attrNameLst>
                                      </p:cBhvr>
                                      <p:by>
                                        <p:hsl h="7200000" s="0" l="0"/>
                                      </p:by>
                                    </p:animClr>
                                    <p:animClr clrSpc="hsl" dir="cw">
                                      <p:cBhvr>
                                        <p:cTn id="12" dur="500" fill="hold"/>
                                        <p:tgtEl>
                                          <p:spTgt spid="19"/>
                                        </p:tgtEl>
                                        <p:attrNameLst>
                                          <p:attrName>fillcolor</p:attrName>
                                        </p:attrNameLst>
                                      </p:cBhvr>
                                      <p:by>
                                        <p:hsl h="7200000" s="0" l="0"/>
                                      </p:by>
                                    </p:animClr>
                                    <p:animClr clrSpc="hsl" dir="cw">
                                      <p:cBhvr>
                                        <p:cTn id="13" dur="500" fill="hold"/>
                                        <p:tgtEl>
                                          <p:spTgt spid="19"/>
                                        </p:tgtEl>
                                        <p:attrNameLst>
                                          <p:attrName>stroke.color</p:attrName>
                                        </p:attrNameLst>
                                      </p:cBhvr>
                                      <p:by>
                                        <p:hsl h="7200000" s="0" l="0"/>
                                      </p:by>
                                    </p:animClr>
                                    <p:set>
                                      <p:cBhvr>
                                        <p:cTn id="14" dur="500" fill="hold"/>
                                        <p:tgtEl>
                                          <p:spTgt spid="19"/>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anim calcmode="lin" valueType="num">
                                      <p:cBhvr>
                                        <p:cTn id="25" dur="500" fill="hold"/>
                                        <p:tgtEl>
                                          <p:spTgt spid="4"/>
                                        </p:tgtEl>
                                        <p:attrNameLst>
                                          <p:attrName>ppt_x</p:attrName>
                                        </p:attrNameLst>
                                      </p:cBhvr>
                                      <p:tavLst>
                                        <p:tav tm="0">
                                          <p:val>
                                            <p:strVal val="#ppt_x"/>
                                          </p:val>
                                        </p:tav>
                                        <p:tav tm="100000">
                                          <p:val>
                                            <p:strVal val="#ppt_x"/>
                                          </p:val>
                                        </p:tav>
                                      </p:tavLst>
                                    </p:anim>
                                    <p:anim calcmode="lin" valueType="num">
                                      <p:cBhvr>
                                        <p:cTn id="2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18"/>
                                        </p:tgtEl>
                                      </p:cBhvr>
                                    </p:animEffect>
                                    <p:set>
                                      <p:cBhvr>
                                        <p:cTn id="31" dur="1" fill="hold">
                                          <p:stCondLst>
                                            <p:cond delay="499"/>
                                          </p:stCondLst>
                                        </p:cTn>
                                        <p:tgtEl>
                                          <p:spTgt spid="18"/>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15"/>
                                        </p:tgtEl>
                                      </p:cBhvr>
                                    </p:animEffect>
                                    <p:set>
                                      <p:cBhvr>
                                        <p:cTn id="34" dur="1" fill="hold">
                                          <p:stCondLst>
                                            <p:cond delay="499"/>
                                          </p:stCondLst>
                                        </p:cTn>
                                        <p:tgtEl>
                                          <p:spTgt spid="1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19"/>
                                        </p:tgtEl>
                                      </p:cBhvr>
                                    </p:animEffect>
                                    <p:set>
                                      <p:cBhvr>
                                        <p:cTn id="39" dur="1" fill="hold">
                                          <p:stCondLst>
                                            <p:cond delay="499"/>
                                          </p:stCondLst>
                                        </p:cTn>
                                        <p:tgtEl>
                                          <p:spTgt spid="19"/>
                                        </p:tgtEl>
                                        <p:attrNameLst>
                                          <p:attrName>style.visibility</p:attrName>
                                        </p:attrNameLst>
                                      </p:cBhvr>
                                      <p:to>
                                        <p:strVal val="hidden"/>
                                      </p:to>
                                    </p:set>
                                  </p:childTnLst>
                                </p:cTn>
                              </p:par>
                              <p:par>
                                <p:cTn id="40" presetID="2" presetClass="entr" presetSubtype="4"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ppt_x"/>
                                          </p:val>
                                        </p:tav>
                                        <p:tav tm="100000">
                                          <p:val>
                                            <p:strVal val="#ppt_x"/>
                                          </p:val>
                                        </p:tav>
                                      </p:tavLst>
                                    </p:anim>
                                    <p:anim calcmode="lin" valueType="num">
                                      <p:cBhvr additive="base">
                                        <p:cTn id="4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a:extLst>
              <a:ext uri="{FF2B5EF4-FFF2-40B4-BE49-F238E27FC236}">
                <a16:creationId xmlns:a16="http://schemas.microsoft.com/office/drawing/2014/main" id="{46AA4C65-7E74-FC97-0052-3EF4A287BE3E}"/>
              </a:ext>
            </a:extLst>
          </p:cNvPr>
          <p:cNvSpPr txBox="1">
            <a:spLocks/>
          </p:cNvSpPr>
          <p:nvPr/>
        </p:nvSpPr>
        <p:spPr>
          <a:xfrm>
            <a:off x="586333" y="277204"/>
            <a:ext cx="4372293" cy="803274"/>
          </a:xfrm>
          <a:prstGeom prst="rect">
            <a:avLst/>
          </a:prstGeom>
        </p:spPr>
        <p:txBody>
          <a:bodyPr vert="horz" lIns="91440" tIns="45720" rIns="91440" bIns="45720" rtlCol="0" anchor="ctr" anchorCtr="0">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删除节点</a:t>
            </a:r>
            <a:r>
              <a:rPr lang="en-US" altLang="zh-CN" sz="3600" b="1" dirty="0"/>
              <a:t>(</a:t>
            </a:r>
            <a:r>
              <a:rPr lang="zh-CN" altLang="en-US" sz="3600" b="1" dirty="0"/>
              <a:t>无头链表</a:t>
            </a:r>
            <a:r>
              <a:rPr lang="en-US" altLang="zh-CN" sz="3600" b="1" dirty="0"/>
              <a:t>)</a:t>
            </a:r>
            <a:endParaRPr lang="zh-CN" altLang="en-US" sz="3600" b="1" dirty="0"/>
          </a:p>
        </p:txBody>
      </p:sp>
      <p:pic>
        <p:nvPicPr>
          <p:cNvPr id="10" name="图片 9">
            <a:extLst>
              <a:ext uri="{FF2B5EF4-FFF2-40B4-BE49-F238E27FC236}">
                <a16:creationId xmlns:a16="http://schemas.microsoft.com/office/drawing/2014/main" id="{272C9586-B578-0779-AFC6-0BBC178AEB13}"/>
              </a:ext>
            </a:extLst>
          </p:cNvPr>
          <p:cNvPicPr>
            <a:picLocks noChangeAspect="1"/>
          </p:cNvPicPr>
          <p:nvPr/>
        </p:nvPicPr>
        <p:blipFill>
          <a:blip r:embed="rId2"/>
          <a:stretch>
            <a:fillRect/>
          </a:stretch>
        </p:blipFill>
        <p:spPr>
          <a:xfrm>
            <a:off x="1718477" y="1797544"/>
            <a:ext cx="8278464" cy="3559980"/>
          </a:xfrm>
          <a:prstGeom prst="rect">
            <a:avLst/>
          </a:prstGeom>
        </p:spPr>
      </p:pic>
    </p:spTree>
    <p:extLst>
      <p:ext uri="{BB962C8B-B14F-4D97-AF65-F5344CB8AC3E}">
        <p14:creationId xmlns:p14="http://schemas.microsoft.com/office/powerpoint/2010/main" val="1512390711"/>
      </p:ext>
    </p:extLst>
  </p:cSld>
  <p:clrMapOvr>
    <a:masterClrMapping/>
  </p:clrMapOvr>
  <p:transition spd="slow">
    <p:push dir="u"/>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3"/>
          <a:stretch>
            <a:fillRect/>
          </a:stretch>
        </p:blipFill>
        <p:spPr>
          <a:xfrm>
            <a:off x="1748790" y="448311"/>
            <a:ext cx="8694420" cy="5870575"/>
          </a:xfrm>
          <a:prstGeom prst="rect">
            <a:avLst/>
          </a:prstGeom>
        </p:spPr>
      </p:pic>
    </p:spTree>
  </p:cSld>
  <p:clrMapOvr>
    <a:masterClrMapping/>
  </p:clrMapOvr>
  <p:transition spd="slow">
    <p:push dir="u"/>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1197" y="1031001"/>
            <a:ext cx="9588718" cy="4154984"/>
          </a:xfrm>
          <a:prstGeom prst="rect">
            <a:avLst/>
          </a:prstGeom>
          <a:noFill/>
        </p:spPr>
        <p:txBody>
          <a:bodyPr wrap="square" rtlCol="0">
            <a:spAutoFit/>
          </a:bodyPr>
          <a:lstStyle/>
          <a:p>
            <a:r>
              <a:rPr lang="zh-CN" altLang="en-US" sz="2400" dirty="0"/>
              <a:t>记忆要点：</a:t>
            </a:r>
            <a:endParaRPr lang="en-US" altLang="zh-CN" sz="2400" dirty="0"/>
          </a:p>
          <a:p>
            <a:r>
              <a:rPr lang="en-US" altLang="zh-CN" sz="2400" dirty="0"/>
              <a:t>1</a:t>
            </a:r>
            <a:r>
              <a:rPr lang="zh-CN" altLang="en-US" sz="2400" dirty="0"/>
              <a:t>、结构</a:t>
            </a:r>
            <a:endParaRPr lang="en-US" altLang="zh-CN" sz="2400" dirty="0"/>
          </a:p>
          <a:p>
            <a:pPr marL="800100" lvl="1" indent="-342900">
              <a:buFont typeface="Arial" panose="020B0604020202020204" pitchFamily="34" charset="0"/>
              <a:buChar char="•"/>
            </a:pPr>
            <a:r>
              <a:rPr lang="zh-CN" altLang="en-US" sz="2400" dirty="0"/>
              <a:t>内容</a:t>
            </a:r>
            <a:endParaRPr lang="en-US" altLang="zh-CN" sz="2400" dirty="0"/>
          </a:p>
          <a:p>
            <a:pPr marL="800100" lvl="1" indent="-342900">
              <a:buFont typeface="Arial" panose="020B0604020202020204" pitchFamily="34" charset="0"/>
              <a:buChar char="•"/>
            </a:pPr>
            <a:r>
              <a:rPr lang="zh-CN" altLang="en-US" sz="2400" dirty="0"/>
              <a:t>指针</a:t>
            </a:r>
            <a:endParaRPr lang="en-US" altLang="zh-CN" sz="2400" dirty="0"/>
          </a:p>
          <a:p>
            <a:pPr lvl="1"/>
            <a:endParaRPr lang="en-US" altLang="zh-CN" sz="2400" dirty="0"/>
          </a:p>
          <a:p>
            <a:r>
              <a:rPr lang="en-US" altLang="zh-CN" sz="2400" dirty="0"/>
              <a:t>2</a:t>
            </a:r>
            <a:r>
              <a:rPr lang="zh-CN" altLang="en-US" sz="2400" dirty="0"/>
              <a:t>、功能</a:t>
            </a:r>
            <a:endParaRPr lang="en-US" altLang="zh-CN" sz="2400" dirty="0"/>
          </a:p>
          <a:p>
            <a:pPr marL="800100" lvl="1" indent="-342900">
              <a:buFont typeface="Arial" panose="020B0604020202020204" pitchFamily="34" charset="0"/>
              <a:buChar char="•"/>
            </a:pPr>
            <a:r>
              <a:rPr lang="zh-CN" altLang="en-US" sz="2400" dirty="0"/>
              <a:t>创建节点</a:t>
            </a:r>
            <a:endParaRPr lang="en-US" altLang="zh-CN" sz="2400" dirty="0"/>
          </a:p>
          <a:p>
            <a:pPr marL="800100" lvl="1" indent="-342900">
              <a:buFont typeface="Arial" panose="020B0604020202020204" pitchFamily="34" charset="0"/>
              <a:buChar char="•"/>
            </a:pPr>
            <a:r>
              <a:rPr lang="zh-CN" altLang="en-US" sz="2400" dirty="0"/>
              <a:t>遍历</a:t>
            </a:r>
            <a:endParaRPr lang="en-US" altLang="zh-CN" sz="2400" dirty="0"/>
          </a:p>
          <a:p>
            <a:pPr marL="800100" lvl="1" indent="-342900">
              <a:buFont typeface="Arial" panose="020B0604020202020204" pitchFamily="34" charset="0"/>
              <a:buChar char="•"/>
            </a:pPr>
            <a:r>
              <a:rPr lang="zh-CN" altLang="en-US" sz="2400" dirty="0"/>
              <a:t>添加</a:t>
            </a:r>
            <a:endParaRPr lang="en-US" altLang="zh-CN" sz="2400" dirty="0"/>
          </a:p>
          <a:p>
            <a:pPr marL="800100" lvl="1" indent="-342900">
              <a:buFont typeface="Arial" panose="020B0604020202020204" pitchFamily="34" charset="0"/>
              <a:buChar char="•"/>
            </a:pPr>
            <a:r>
              <a:rPr lang="zh-CN" altLang="en-US" sz="2400" dirty="0"/>
              <a:t>删除</a:t>
            </a:r>
            <a:endParaRPr lang="en-US" altLang="zh-CN" sz="2400" dirty="0"/>
          </a:p>
          <a:p>
            <a:pPr marL="800100" lvl="1" indent="-342900">
              <a:buFont typeface="Arial" panose="020B0604020202020204" pitchFamily="34" charset="0"/>
              <a:buChar char="•"/>
            </a:pPr>
            <a:endParaRPr lang="en-US" altLang="zh-CN" sz="2400" dirty="0"/>
          </a:p>
        </p:txBody>
      </p:sp>
      <p:sp>
        <p:nvSpPr>
          <p:cNvPr id="8" name="标题 4">
            <a:extLst>
              <a:ext uri="{FF2B5EF4-FFF2-40B4-BE49-F238E27FC236}">
                <a16:creationId xmlns:a16="http://schemas.microsoft.com/office/drawing/2014/main" id="{EFB2C498-0CF6-75CF-FFDE-5D1E89968D43}"/>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小结</a:t>
            </a:r>
          </a:p>
        </p:txBody>
      </p:sp>
    </p:spTree>
    <p:extLst>
      <p:ext uri="{BB962C8B-B14F-4D97-AF65-F5344CB8AC3E}">
        <p14:creationId xmlns:p14="http://schemas.microsoft.com/office/powerpoint/2010/main" val="2636021818"/>
      </p:ext>
    </p:extLst>
  </p:cSld>
  <p:clrMapOvr>
    <a:masterClrMapping/>
  </p:clrMapOvr>
  <p:transition spd="slow">
    <p:push dir="u"/>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4">
            <a:extLst>
              <a:ext uri="{FF2B5EF4-FFF2-40B4-BE49-F238E27FC236}">
                <a16:creationId xmlns:a16="http://schemas.microsoft.com/office/drawing/2014/main" id="{0BEA9045-5501-C01E-507C-1409616382E3}"/>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例题</a:t>
            </a:r>
          </a:p>
        </p:txBody>
      </p:sp>
      <p:sp>
        <p:nvSpPr>
          <p:cNvPr id="7" name="文本框 6">
            <a:extLst>
              <a:ext uri="{FF2B5EF4-FFF2-40B4-BE49-F238E27FC236}">
                <a16:creationId xmlns:a16="http://schemas.microsoft.com/office/drawing/2014/main" id="{8D1ACE8F-DA03-EFD7-1723-359FB52C6DB1}"/>
              </a:ext>
            </a:extLst>
          </p:cNvPr>
          <p:cNvSpPr txBox="1"/>
          <p:nvPr/>
        </p:nvSpPr>
        <p:spPr>
          <a:xfrm>
            <a:off x="724474" y="1049468"/>
            <a:ext cx="10536713" cy="2585323"/>
          </a:xfrm>
          <a:prstGeom prst="rect">
            <a:avLst/>
          </a:prstGeom>
          <a:noFill/>
        </p:spPr>
        <p:txBody>
          <a:bodyPr wrap="square" rtlCol="0">
            <a:spAutoFit/>
          </a:bodyPr>
          <a:lstStyle/>
          <a:p>
            <a:pPr algn="l"/>
            <a:r>
              <a:rPr lang="zh-CN" altLang="en-US" b="0" i="0" dirty="0">
                <a:solidFill>
                  <a:srgbClr val="545251"/>
                </a:solidFill>
                <a:effectLst/>
                <a:latin typeface="Arial" panose="020B0604020202020204" pitchFamily="34" charset="0"/>
              </a:rPr>
              <a:t>已知结构定义</a:t>
            </a:r>
            <a:r>
              <a:rPr lang="en-US" altLang="zh-CN" b="0" i="0" dirty="0">
                <a:solidFill>
                  <a:srgbClr val="545251"/>
                </a:solidFill>
                <a:effectLst/>
                <a:latin typeface="Arial" panose="020B0604020202020204" pitchFamily="34" charset="0"/>
              </a:rPr>
              <a:t>link</a:t>
            </a:r>
            <a:r>
              <a:rPr lang="zh-CN" altLang="en-US" b="0" i="0" dirty="0">
                <a:solidFill>
                  <a:srgbClr val="545251"/>
                </a:solidFill>
                <a:effectLst/>
                <a:latin typeface="Arial" panose="020B0604020202020204" pitchFamily="34" charset="0"/>
              </a:rPr>
              <a:t>如下：</a:t>
            </a:r>
          </a:p>
          <a:p>
            <a:pPr algn="l"/>
            <a:r>
              <a:rPr lang="zh-CN" altLang="en-US" b="0" i="0" dirty="0">
                <a:solidFill>
                  <a:srgbClr val="545251"/>
                </a:solidFill>
                <a:effectLst/>
                <a:latin typeface="Arial" panose="020B0604020202020204" pitchFamily="34" charset="0"/>
              </a:rPr>
              <a:t>          </a:t>
            </a:r>
            <a:r>
              <a:rPr lang="en-US" altLang="zh-CN" b="0" i="0" dirty="0">
                <a:solidFill>
                  <a:srgbClr val="545251"/>
                </a:solidFill>
                <a:effectLst/>
                <a:latin typeface="Arial" panose="020B0604020202020204" pitchFamily="34" charset="0"/>
              </a:rPr>
              <a:t>struct link{</a:t>
            </a:r>
            <a:br>
              <a:rPr lang="en-US" altLang="zh-CN" b="0" i="0" dirty="0">
                <a:solidFill>
                  <a:srgbClr val="545251"/>
                </a:solidFill>
                <a:effectLst/>
                <a:latin typeface="Arial" panose="020B0604020202020204" pitchFamily="34" charset="0"/>
              </a:rPr>
            </a:br>
            <a:r>
              <a:rPr lang="en-US" altLang="zh-CN" b="0" i="0" dirty="0">
                <a:solidFill>
                  <a:srgbClr val="545251"/>
                </a:solidFill>
                <a:effectLst/>
                <a:latin typeface="Arial" panose="020B0604020202020204" pitchFamily="34" charset="0"/>
              </a:rPr>
              <a:t>                 int num;</a:t>
            </a:r>
            <a:br>
              <a:rPr lang="en-US" altLang="zh-CN" b="0" i="0" dirty="0">
                <a:solidFill>
                  <a:srgbClr val="545251"/>
                </a:solidFill>
                <a:effectLst/>
                <a:latin typeface="Arial" panose="020B0604020202020204" pitchFamily="34" charset="0"/>
              </a:rPr>
            </a:br>
            <a:r>
              <a:rPr lang="en-US" altLang="zh-CN" b="0" i="0" dirty="0">
                <a:solidFill>
                  <a:srgbClr val="545251"/>
                </a:solidFill>
                <a:effectLst/>
                <a:latin typeface="Arial" panose="020B0604020202020204" pitchFamily="34" charset="0"/>
              </a:rPr>
              <a:t>                 struct link *next;</a:t>
            </a:r>
            <a:br>
              <a:rPr lang="en-US" altLang="zh-CN" b="0" i="0" dirty="0">
                <a:solidFill>
                  <a:srgbClr val="545251"/>
                </a:solidFill>
                <a:effectLst/>
                <a:latin typeface="Arial" panose="020B0604020202020204" pitchFamily="34" charset="0"/>
              </a:rPr>
            </a:br>
            <a:r>
              <a:rPr lang="en-US" altLang="zh-CN" b="0" i="0" dirty="0">
                <a:solidFill>
                  <a:srgbClr val="545251"/>
                </a:solidFill>
                <a:effectLst/>
                <a:latin typeface="Arial" panose="020B0604020202020204" pitchFamily="34" charset="0"/>
              </a:rPr>
              <a:t>          };</a:t>
            </a:r>
            <a:endParaRPr lang="zh-CN" altLang="en-US" b="0" i="0" dirty="0">
              <a:solidFill>
                <a:srgbClr val="545251"/>
              </a:solidFill>
              <a:effectLst/>
              <a:latin typeface="Arial" panose="020B0604020202020204" pitchFamily="34" charset="0"/>
            </a:endParaRPr>
          </a:p>
          <a:p>
            <a:pPr algn="l"/>
            <a:r>
              <a:rPr lang="zh-CN" altLang="en-US" b="0" i="0" dirty="0">
                <a:solidFill>
                  <a:srgbClr val="545251"/>
                </a:solidFill>
                <a:effectLst/>
                <a:latin typeface="Arial" panose="020B0604020202020204" pitchFamily="34" charset="0"/>
              </a:rPr>
              <a:t>编写函数，从一个带有头结点的单向链表中，删除满足给定条件的结点，并将这些结点建立一个新的带有头结点的单向链表。</a:t>
            </a:r>
          </a:p>
          <a:p>
            <a:pPr algn="l"/>
            <a:r>
              <a:rPr lang="zh-CN" altLang="en-US" b="0" i="0" dirty="0">
                <a:solidFill>
                  <a:srgbClr val="545251"/>
                </a:solidFill>
                <a:effectLst/>
                <a:latin typeface="Arial" panose="020B0604020202020204" pitchFamily="34" charset="0"/>
              </a:rPr>
              <a:t>例如：链表</a:t>
            </a:r>
            <a:r>
              <a:rPr lang="en-US" altLang="zh-CN" b="0" i="0" dirty="0">
                <a:solidFill>
                  <a:srgbClr val="545251"/>
                </a:solidFill>
                <a:effectLst/>
                <a:latin typeface="Arial" panose="020B0604020202020204" pitchFamily="34" charset="0"/>
              </a:rPr>
              <a:t>A</a:t>
            </a:r>
            <a:r>
              <a:rPr lang="zh-CN" altLang="en-US" b="0" i="0" dirty="0">
                <a:solidFill>
                  <a:srgbClr val="545251"/>
                </a:solidFill>
                <a:effectLst/>
                <a:latin typeface="Arial" panose="020B0604020202020204" pitchFamily="34" charset="0"/>
              </a:rPr>
              <a:t>如下：</a:t>
            </a:r>
          </a:p>
          <a:p>
            <a:endParaRPr lang="zh-CN" altLang="en-US" b="1" dirty="0"/>
          </a:p>
        </p:txBody>
      </p:sp>
      <p:sp>
        <p:nvSpPr>
          <p:cNvPr id="8" name="AutoShape 2">
            <a:extLst>
              <a:ext uri="{FF2B5EF4-FFF2-40B4-BE49-F238E27FC236}">
                <a16:creationId xmlns:a16="http://schemas.microsoft.com/office/drawing/2014/main" id="{851B391E-9D5F-B34E-7785-38B61DCA95FD}"/>
              </a:ext>
            </a:extLst>
          </p:cNvPr>
          <p:cNvSpPr>
            <a:spLocks noChangeAspect="1" noChangeArrowheads="1"/>
          </p:cNvSpPr>
          <p:nvPr/>
        </p:nvSpPr>
        <p:spPr bwMode="auto">
          <a:xfrm>
            <a:off x="5943599" y="3276599"/>
            <a:ext cx="3418449" cy="341844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1" name="图片 10">
            <a:extLst>
              <a:ext uri="{FF2B5EF4-FFF2-40B4-BE49-F238E27FC236}">
                <a16:creationId xmlns:a16="http://schemas.microsoft.com/office/drawing/2014/main" id="{56D72075-303E-7B9B-DBF9-E062EF80534C}"/>
              </a:ext>
            </a:extLst>
          </p:cNvPr>
          <p:cNvPicPr>
            <a:picLocks noChangeAspect="1"/>
          </p:cNvPicPr>
          <p:nvPr/>
        </p:nvPicPr>
        <p:blipFill>
          <a:blip r:embed="rId2"/>
          <a:stretch>
            <a:fillRect/>
          </a:stretch>
        </p:blipFill>
        <p:spPr>
          <a:xfrm>
            <a:off x="791388" y="3385344"/>
            <a:ext cx="9829719" cy="1282891"/>
          </a:xfrm>
          <a:prstGeom prst="rect">
            <a:avLst/>
          </a:prstGeom>
        </p:spPr>
      </p:pic>
      <p:sp>
        <p:nvSpPr>
          <p:cNvPr id="12" name="文本框 11">
            <a:extLst>
              <a:ext uri="{FF2B5EF4-FFF2-40B4-BE49-F238E27FC236}">
                <a16:creationId xmlns:a16="http://schemas.microsoft.com/office/drawing/2014/main" id="{468713EB-B4BD-838A-938F-51EF9A2DE41A}"/>
              </a:ext>
            </a:extLst>
          </p:cNvPr>
          <p:cNvSpPr txBox="1"/>
          <p:nvPr/>
        </p:nvSpPr>
        <p:spPr>
          <a:xfrm>
            <a:off x="748369" y="4616491"/>
            <a:ext cx="6904454" cy="369332"/>
          </a:xfrm>
          <a:prstGeom prst="rect">
            <a:avLst/>
          </a:prstGeom>
          <a:noFill/>
        </p:spPr>
        <p:txBody>
          <a:bodyPr wrap="none" rtlCol="0">
            <a:spAutoFit/>
          </a:bodyPr>
          <a:lstStyle/>
          <a:p>
            <a:r>
              <a:rPr lang="zh-CN" altLang="en-US" b="0" i="0" dirty="0">
                <a:solidFill>
                  <a:srgbClr val="545251"/>
                </a:solidFill>
                <a:effectLst/>
                <a:latin typeface="Arial" panose="020B0604020202020204" pitchFamily="34" charset="0"/>
              </a:rPr>
              <a:t>给定的条件是：</a:t>
            </a:r>
            <a:r>
              <a:rPr lang="en-US" altLang="zh-CN" b="0" i="0" dirty="0">
                <a:solidFill>
                  <a:srgbClr val="545251"/>
                </a:solidFill>
                <a:effectLst/>
                <a:latin typeface="Arial" panose="020B0604020202020204" pitchFamily="34" charset="0"/>
              </a:rPr>
              <a:t>30 &lt; num &lt; 40</a:t>
            </a:r>
            <a:r>
              <a:rPr lang="zh-CN" altLang="en-US" b="0" i="0" dirty="0">
                <a:solidFill>
                  <a:srgbClr val="545251"/>
                </a:solidFill>
                <a:effectLst/>
                <a:latin typeface="Arial" panose="020B0604020202020204" pitchFamily="34" charset="0"/>
              </a:rPr>
              <a:t>。则函数执行完毕后，链表</a:t>
            </a:r>
            <a:r>
              <a:rPr lang="en-US" altLang="zh-CN" b="0" i="0" dirty="0">
                <a:solidFill>
                  <a:srgbClr val="545251"/>
                </a:solidFill>
                <a:effectLst/>
                <a:latin typeface="Arial" panose="020B0604020202020204" pitchFamily="34" charset="0"/>
              </a:rPr>
              <a:t>A</a:t>
            </a:r>
            <a:r>
              <a:rPr lang="zh-CN" altLang="en-US" b="0" i="0" dirty="0">
                <a:solidFill>
                  <a:srgbClr val="545251"/>
                </a:solidFill>
                <a:effectLst/>
                <a:latin typeface="Arial" panose="020B0604020202020204" pitchFamily="34" charset="0"/>
              </a:rPr>
              <a:t>如下：</a:t>
            </a:r>
            <a:endParaRPr lang="zh-CN" altLang="en-US" dirty="0"/>
          </a:p>
        </p:txBody>
      </p:sp>
      <p:pic>
        <p:nvPicPr>
          <p:cNvPr id="14" name="图片 13">
            <a:extLst>
              <a:ext uri="{FF2B5EF4-FFF2-40B4-BE49-F238E27FC236}">
                <a16:creationId xmlns:a16="http://schemas.microsoft.com/office/drawing/2014/main" id="{50142A2D-9A89-2001-DF99-D350642A4645}"/>
              </a:ext>
            </a:extLst>
          </p:cNvPr>
          <p:cNvPicPr>
            <a:picLocks noChangeAspect="1"/>
          </p:cNvPicPr>
          <p:nvPr/>
        </p:nvPicPr>
        <p:blipFill>
          <a:blip r:embed="rId3"/>
          <a:stretch>
            <a:fillRect/>
          </a:stretch>
        </p:blipFill>
        <p:spPr>
          <a:xfrm>
            <a:off x="251570" y="4996124"/>
            <a:ext cx="6653323" cy="1197163"/>
          </a:xfrm>
          <a:prstGeom prst="rect">
            <a:avLst/>
          </a:prstGeom>
        </p:spPr>
      </p:pic>
    </p:spTree>
    <p:extLst>
      <p:ext uri="{BB962C8B-B14F-4D97-AF65-F5344CB8AC3E}">
        <p14:creationId xmlns:p14="http://schemas.microsoft.com/office/powerpoint/2010/main" val="212469862"/>
      </p:ext>
    </p:extLst>
  </p:cSld>
  <p:clrMapOvr>
    <a:masterClrMapping/>
  </p:clrMapOvr>
  <p:transition spd="slow">
    <p:push dir="u"/>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4">
            <a:extLst>
              <a:ext uri="{FF2B5EF4-FFF2-40B4-BE49-F238E27FC236}">
                <a16:creationId xmlns:a16="http://schemas.microsoft.com/office/drawing/2014/main" id="{BF28E808-7EB0-9EBB-8E15-EF5F6B4D36CC}"/>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例题</a:t>
            </a:r>
          </a:p>
        </p:txBody>
      </p:sp>
      <p:pic>
        <p:nvPicPr>
          <p:cNvPr id="8" name="图片 7">
            <a:extLst>
              <a:ext uri="{FF2B5EF4-FFF2-40B4-BE49-F238E27FC236}">
                <a16:creationId xmlns:a16="http://schemas.microsoft.com/office/drawing/2014/main" id="{5905FDCB-7CCF-409E-A26E-C9C771EC184A}"/>
              </a:ext>
            </a:extLst>
          </p:cNvPr>
          <p:cNvPicPr>
            <a:picLocks noChangeAspect="1"/>
          </p:cNvPicPr>
          <p:nvPr/>
        </p:nvPicPr>
        <p:blipFill>
          <a:blip r:embed="rId2"/>
          <a:stretch>
            <a:fillRect/>
          </a:stretch>
        </p:blipFill>
        <p:spPr>
          <a:xfrm>
            <a:off x="1404486" y="1593238"/>
            <a:ext cx="5241282" cy="1002251"/>
          </a:xfrm>
          <a:prstGeom prst="rect">
            <a:avLst/>
          </a:prstGeom>
        </p:spPr>
      </p:pic>
      <p:sp>
        <p:nvSpPr>
          <p:cNvPr id="9" name="文本框 8">
            <a:extLst>
              <a:ext uri="{FF2B5EF4-FFF2-40B4-BE49-F238E27FC236}">
                <a16:creationId xmlns:a16="http://schemas.microsoft.com/office/drawing/2014/main" id="{C704D89C-86EF-B1D6-DF25-ED4F9CD524C3}"/>
              </a:ext>
            </a:extLst>
          </p:cNvPr>
          <p:cNvSpPr txBox="1"/>
          <p:nvPr/>
        </p:nvSpPr>
        <p:spPr>
          <a:xfrm>
            <a:off x="801858" y="1080478"/>
            <a:ext cx="2031325" cy="369332"/>
          </a:xfrm>
          <a:prstGeom prst="rect">
            <a:avLst/>
          </a:prstGeom>
          <a:noFill/>
        </p:spPr>
        <p:txBody>
          <a:bodyPr wrap="none" rtlCol="0">
            <a:spAutoFit/>
          </a:bodyPr>
          <a:lstStyle/>
          <a:p>
            <a:r>
              <a:rPr lang="zh-CN" altLang="en-US" dirty="0"/>
              <a:t>同时生成新的链表</a:t>
            </a:r>
          </a:p>
        </p:txBody>
      </p:sp>
      <p:sp>
        <p:nvSpPr>
          <p:cNvPr id="10" name="文本框 9">
            <a:extLst>
              <a:ext uri="{FF2B5EF4-FFF2-40B4-BE49-F238E27FC236}">
                <a16:creationId xmlns:a16="http://schemas.microsoft.com/office/drawing/2014/main" id="{484B58BB-55E4-3E9A-F7BE-182CB685B9E6}"/>
              </a:ext>
            </a:extLst>
          </p:cNvPr>
          <p:cNvSpPr txBox="1"/>
          <p:nvPr/>
        </p:nvSpPr>
        <p:spPr>
          <a:xfrm>
            <a:off x="1259058" y="2738917"/>
            <a:ext cx="5386710" cy="3323987"/>
          </a:xfrm>
          <a:prstGeom prst="rect">
            <a:avLst/>
          </a:prstGeom>
          <a:noFill/>
        </p:spPr>
        <p:txBody>
          <a:bodyPr wrap="square" rtlCol="0">
            <a:spAutoFit/>
          </a:bodyPr>
          <a:lstStyle/>
          <a:p>
            <a:pPr algn="l"/>
            <a:r>
              <a:rPr lang="zh-CN" altLang="en-US" sz="2400" b="0" i="0" dirty="0">
                <a:solidFill>
                  <a:srgbClr val="545251"/>
                </a:solidFill>
                <a:effectLst/>
                <a:latin typeface="Arial" panose="020B0604020202020204" pitchFamily="34" charset="0"/>
              </a:rPr>
              <a:t>例如，</a:t>
            </a:r>
          </a:p>
          <a:p>
            <a:pPr algn="l"/>
            <a:r>
              <a:rPr lang="zh-CN" altLang="en-US" sz="2400" b="0" i="0" dirty="0">
                <a:solidFill>
                  <a:srgbClr val="545251"/>
                </a:solidFill>
                <a:effectLst/>
                <a:latin typeface="Arial" panose="020B0604020202020204" pitchFamily="34" charset="0"/>
              </a:rPr>
              <a:t>输入：</a:t>
            </a:r>
          </a:p>
          <a:p>
            <a:pPr algn="l"/>
            <a:r>
              <a:rPr lang="en-US" altLang="zh-CN" sz="2400" b="0" i="0" dirty="0">
                <a:solidFill>
                  <a:srgbClr val="545251"/>
                </a:solidFill>
                <a:effectLst/>
                <a:latin typeface="Arial" panose="020B0604020202020204" pitchFamily="34" charset="0"/>
              </a:rPr>
              <a:t>22 31 67 35 40 36 97 -1</a:t>
            </a:r>
            <a:endParaRPr lang="zh-CN" altLang="en-US" sz="2400" b="0" i="0" dirty="0">
              <a:solidFill>
                <a:srgbClr val="545251"/>
              </a:solidFill>
              <a:effectLst/>
              <a:latin typeface="Arial" panose="020B0604020202020204" pitchFamily="34" charset="0"/>
            </a:endParaRPr>
          </a:p>
          <a:p>
            <a:pPr algn="l"/>
            <a:r>
              <a:rPr lang="en-US" altLang="zh-CN" sz="2400" b="0" i="0" dirty="0">
                <a:solidFill>
                  <a:srgbClr val="545251"/>
                </a:solidFill>
                <a:effectLst/>
                <a:latin typeface="Arial" panose="020B0604020202020204" pitchFamily="34" charset="0"/>
              </a:rPr>
              <a:t>30,40</a:t>
            </a:r>
            <a:endParaRPr lang="zh-CN" altLang="en-US" sz="2400" b="0" i="0" dirty="0">
              <a:solidFill>
                <a:srgbClr val="545251"/>
              </a:solidFill>
              <a:effectLst/>
              <a:latin typeface="Arial" panose="020B0604020202020204" pitchFamily="34" charset="0"/>
            </a:endParaRPr>
          </a:p>
          <a:p>
            <a:pPr algn="l"/>
            <a:r>
              <a:rPr lang="zh-CN" altLang="en-US" sz="2400" b="0" i="0" dirty="0">
                <a:solidFill>
                  <a:srgbClr val="545251"/>
                </a:solidFill>
                <a:effectLst/>
                <a:latin typeface="Arial" panose="020B0604020202020204" pitchFamily="34" charset="0"/>
              </a:rPr>
              <a:t>输出：</a:t>
            </a:r>
          </a:p>
          <a:p>
            <a:pPr algn="l"/>
            <a:r>
              <a:rPr lang="en-US" altLang="zh-CN" sz="2400" b="0" i="0" dirty="0" err="1">
                <a:solidFill>
                  <a:srgbClr val="545251"/>
                </a:solidFill>
                <a:effectLst/>
                <a:latin typeface="Arial" panose="020B0604020202020204" pitchFamily="34" charset="0"/>
              </a:rPr>
              <a:t>haA</a:t>
            </a:r>
            <a:r>
              <a:rPr lang="en-US" altLang="zh-CN" sz="2400" b="0" i="0" dirty="0">
                <a:solidFill>
                  <a:srgbClr val="545251"/>
                </a:solidFill>
                <a:effectLst/>
                <a:latin typeface="Arial" panose="020B0604020202020204" pitchFamily="34" charset="0"/>
              </a:rPr>
              <a:t> = 22, 31, 67, 35, 40, 36, 97,</a:t>
            </a:r>
          </a:p>
          <a:p>
            <a:pPr algn="l"/>
            <a:r>
              <a:rPr lang="en-US" altLang="zh-CN" sz="2400" b="0" i="0" dirty="0" err="1">
                <a:solidFill>
                  <a:srgbClr val="545251"/>
                </a:solidFill>
                <a:effectLst/>
                <a:latin typeface="Arial" panose="020B0604020202020204" pitchFamily="34" charset="0"/>
              </a:rPr>
              <a:t>haA</a:t>
            </a:r>
            <a:r>
              <a:rPr lang="en-US" altLang="zh-CN" sz="2400" b="0" i="0" dirty="0">
                <a:solidFill>
                  <a:srgbClr val="545251"/>
                </a:solidFill>
                <a:effectLst/>
                <a:latin typeface="Arial" panose="020B0604020202020204" pitchFamily="34" charset="0"/>
              </a:rPr>
              <a:t> = 22, 67, 40, 97,</a:t>
            </a:r>
          </a:p>
          <a:p>
            <a:pPr algn="l"/>
            <a:r>
              <a:rPr lang="en-US" altLang="zh-CN" sz="2400" b="0" i="0" dirty="0" err="1">
                <a:solidFill>
                  <a:srgbClr val="545251"/>
                </a:solidFill>
                <a:effectLst/>
                <a:latin typeface="Arial" panose="020B0604020202020204" pitchFamily="34" charset="0"/>
              </a:rPr>
              <a:t>haN</a:t>
            </a:r>
            <a:r>
              <a:rPr lang="en-US" altLang="zh-CN" sz="2400" b="0" i="0" dirty="0">
                <a:solidFill>
                  <a:srgbClr val="545251"/>
                </a:solidFill>
                <a:effectLst/>
                <a:latin typeface="Arial" panose="020B0604020202020204" pitchFamily="34" charset="0"/>
              </a:rPr>
              <a:t> = 31, 35, 36,</a:t>
            </a:r>
          </a:p>
          <a:p>
            <a:endParaRPr lang="zh-CN" altLang="en-US" dirty="0"/>
          </a:p>
        </p:txBody>
      </p:sp>
    </p:spTree>
    <p:extLst>
      <p:ext uri="{BB962C8B-B14F-4D97-AF65-F5344CB8AC3E}">
        <p14:creationId xmlns:p14="http://schemas.microsoft.com/office/powerpoint/2010/main" val="3525362360"/>
      </p:ext>
    </p:extLst>
  </p:cSld>
  <p:clrMapOvr>
    <a:masterClrMapping/>
  </p:clrMapOvr>
  <p:transition spd="slow">
    <p:push dir="u"/>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F1378A1-0D3C-38B1-881F-4F7892B233AE}"/>
              </a:ext>
            </a:extLst>
          </p:cNvPr>
          <p:cNvSpPr txBox="1"/>
          <p:nvPr/>
        </p:nvSpPr>
        <p:spPr>
          <a:xfrm>
            <a:off x="794824" y="1343465"/>
            <a:ext cx="8700867" cy="4524315"/>
          </a:xfrm>
          <a:prstGeom prst="rect">
            <a:avLst/>
          </a:prstGeom>
          <a:noFill/>
        </p:spPr>
        <p:txBody>
          <a:bodyPr wrap="square" rtlCol="0">
            <a:spAutoFit/>
          </a:bodyPr>
          <a:lstStyle/>
          <a:p>
            <a:r>
              <a:rPr lang="en-US" altLang="zh-CN" sz="1800" i="1" dirty="0">
                <a:solidFill>
                  <a:srgbClr val="8C8C8C"/>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PRESET</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CODE</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BEGIN</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NEVER</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TOUCH</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CODE</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BELOW</a:t>
            </a:r>
            <a:r>
              <a:rPr lang="en-US" altLang="zh-CN" sz="1800" dirty="0">
                <a:solidFill>
                  <a:srgbClr val="BABABA"/>
                </a:solidFill>
                <a:effectLst/>
                <a:latin typeface="Consolas" panose="020B0609020204030204" pitchFamily="49" charset="0"/>
              </a:rPr>
              <a:t> </a:t>
            </a:r>
            <a:r>
              <a:rPr lang="en-US" altLang="zh-CN" sz="1800" i="1" dirty="0">
                <a:solidFill>
                  <a:srgbClr val="8C8C8C"/>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br>
              <a:rPr lang="en-US" altLang="zh-CN" sz="1800" dirty="0">
                <a:solidFill>
                  <a:srgbClr val="BABABA"/>
                </a:solidFill>
                <a:effectLst/>
                <a:latin typeface="Consolas" panose="020B0609020204030204" pitchFamily="49" charset="0"/>
              </a:rPr>
            </a:br>
            <a:r>
              <a:rPr lang="en-US" altLang="zh-CN" sz="1800" b="1" dirty="0">
                <a:solidFill>
                  <a:srgbClr val="0033B3"/>
                </a:solidFill>
                <a:effectLst/>
                <a:latin typeface="Consolas" panose="020B0609020204030204" pitchFamily="49" charset="0"/>
              </a:rPr>
              <a:t>struct</a:t>
            </a:r>
            <a:r>
              <a:rPr lang="en-US" altLang="zh-CN" sz="1800" dirty="0">
                <a:solidFill>
                  <a:srgbClr val="BABABA"/>
                </a:solidFill>
                <a:effectLst/>
                <a:latin typeface="Consolas" panose="020B0609020204030204" pitchFamily="49" charset="0"/>
              </a:rPr>
              <a:t> </a:t>
            </a:r>
            <a:r>
              <a:rPr lang="en-US" altLang="zh-CN" sz="1800" dirty="0">
                <a:solidFill>
                  <a:srgbClr val="008080"/>
                </a:solidFill>
                <a:effectLst/>
                <a:latin typeface="Consolas" panose="020B0609020204030204" pitchFamily="49" charset="0"/>
              </a:rPr>
              <a:t>link</a:t>
            </a:r>
            <a:r>
              <a:rPr lang="en-US" altLang="zh-CN" sz="1800" dirty="0">
                <a:solidFill>
                  <a:srgbClr val="BABABA"/>
                </a:solidFill>
                <a:effectLst/>
                <a:latin typeface="Consolas" panose="020B0609020204030204" pitchFamily="49" charset="0"/>
              </a:rPr>
              <a:t> </a:t>
            </a:r>
            <a:r>
              <a:rPr lang="en-US" altLang="zh-CN" sz="1800" b="1" dirty="0">
                <a:solidFill>
                  <a:srgbClr val="C10000"/>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br>
              <a:rPr lang="en-US" altLang="zh-CN" sz="1800" dirty="0">
                <a:solidFill>
                  <a:srgbClr val="BABABA"/>
                </a:solidFill>
                <a:effectLst/>
                <a:latin typeface="Consolas" panose="020B0609020204030204" pitchFamily="49" charset="0"/>
              </a:rPr>
            </a:br>
            <a:r>
              <a:rPr lang="en-US" altLang="zh-CN" sz="1800" dirty="0">
                <a:solidFill>
                  <a:srgbClr val="BABABA"/>
                </a:solidFill>
                <a:effectLst/>
                <a:latin typeface="Consolas" panose="020B0609020204030204" pitchFamily="49" charset="0"/>
              </a:rPr>
              <a:t>    </a:t>
            </a:r>
            <a:r>
              <a:rPr lang="en-US" altLang="zh-CN" sz="1800" b="1" dirty="0">
                <a:solidFill>
                  <a:srgbClr val="0033B3"/>
                </a:solidFill>
                <a:effectLst/>
                <a:latin typeface="Consolas" panose="020B0609020204030204" pitchFamily="49" charset="0"/>
              </a:rPr>
              <a:t>int</a:t>
            </a:r>
            <a:r>
              <a:rPr lang="en-US" altLang="zh-CN" sz="1800" dirty="0">
                <a:solidFill>
                  <a:srgbClr val="BABABA"/>
                </a:solidFill>
                <a:effectLst/>
                <a:latin typeface="Consolas" panose="020B0609020204030204" pitchFamily="49" charset="0"/>
              </a:rPr>
              <a:t> </a:t>
            </a:r>
            <a:r>
              <a:rPr lang="en-US" altLang="zh-CN" sz="1800" dirty="0">
                <a:solidFill>
                  <a:srgbClr val="400080"/>
                </a:solidFill>
                <a:effectLst/>
                <a:latin typeface="Consolas" panose="020B0609020204030204" pitchFamily="49" charset="0"/>
              </a:rPr>
              <a:t>num</a:t>
            </a:r>
            <a:r>
              <a:rPr lang="en-US" altLang="zh-CN" sz="1800" b="1" dirty="0">
                <a:solidFill>
                  <a:srgbClr val="C10000"/>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br>
              <a:rPr lang="en-US" altLang="zh-CN" sz="1800" dirty="0">
                <a:solidFill>
                  <a:srgbClr val="BABABA"/>
                </a:solidFill>
                <a:effectLst/>
                <a:latin typeface="Consolas" panose="020B0609020204030204" pitchFamily="49" charset="0"/>
              </a:rPr>
            </a:br>
            <a:r>
              <a:rPr lang="en-US" altLang="zh-CN" sz="1800" dirty="0">
                <a:solidFill>
                  <a:srgbClr val="BABABA"/>
                </a:solidFill>
                <a:effectLst/>
                <a:latin typeface="Consolas" panose="020B0609020204030204" pitchFamily="49" charset="0"/>
              </a:rPr>
              <a:t>    </a:t>
            </a:r>
            <a:r>
              <a:rPr lang="en-US" altLang="zh-CN" sz="1800" b="1" dirty="0">
                <a:solidFill>
                  <a:srgbClr val="0033B3"/>
                </a:solidFill>
                <a:effectLst/>
                <a:latin typeface="Consolas" panose="020B0609020204030204" pitchFamily="49" charset="0"/>
              </a:rPr>
              <a:t>struct</a:t>
            </a:r>
            <a:r>
              <a:rPr lang="en-US" altLang="zh-CN" sz="1800" dirty="0">
                <a:solidFill>
                  <a:srgbClr val="BABABA"/>
                </a:solidFill>
                <a:effectLst/>
                <a:latin typeface="Consolas" panose="020B0609020204030204" pitchFamily="49" charset="0"/>
              </a:rPr>
              <a:t> </a:t>
            </a:r>
            <a:r>
              <a:rPr lang="en-US" altLang="zh-CN" sz="1800" dirty="0">
                <a:solidFill>
                  <a:srgbClr val="008080"/>
                </a:solidFill>
                <a:effectLst/>
                <a:latin typeface="Consolas" panose="020B0609020204030204" pitchFamily="49" charset="0"/>
              </a:rPr>
              <a:t>link</a:t>
            </a:r>
            <a:r>
              <a:rPr lang="en-US" altLang="zh-CN" sz="1800" dirty="0">
                <a:solidFill>
                  <a:srgbClr val="BABABA"/>
                </a:solidFill>
                <a:effectLst/>
                <a:latin typeface="Consolas" panose="020B0609020204030204" pitchFamily="49" charset="0"/>
              </a:rPr>
              <a:t> </a:t>
            </a:r>
            <a:r>
              <a:rPr lang="en-US" altLang="zh-CN" sz="1800" b="1" dirty="0">
                <a:solidFill>
                  <a:srgbClr val="C10000"/>
                </a:solidFill>
                <a:effectLst/>
                <a:latin typeface="Consolas" panose="020B0609020204030204" pitchFamily="49" charset="0"/>
              </a:rPr>
              <a:t>*</a:t>
            </a:r>
            <a:r>
              <a:rPr lang="en-US" altLang="zh-CN" sz="1800" dirty="0">
                <a:solidFill>
                  <a:srgbClr val="400080"/>
                </a:solidFill>
                <a:effectLst/>
                <a:latin typeface="Consolas" panose="020B0609020204030204" pitchFamily="49" charset="0"/>
              </a:rPr>
              <a:t>next</a:t>
            </a:r>
            <a:r>
              <a:rPr lang="en-US" altLang="zh-CN" sz="1800" b="1" dirty="0">
                <a:solidFill>
                  <a:srgbClr val="C10000"/>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br>
              <a:rPr lang="en-US" altLang="zh-CN" sz="1800" dirty="0">
                <a:solidFill>
                  <a:srgbClr val="BABABA"/>
                </a:solidFill>
                <a:effectLst/>
                <a:latin typeface="Consolas" panose="020B0609020204030204" pitchFamily="49" charset="0"/>
              </a:rPr>
            </a:br>
            <a:r>
              <a:rPr lang="en-US" altLang="zh-CN" sz="1800" b="1" dirty="0">
                <a:solidFill>
                  <a:srgbClr val="C10000"/>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br>
              <a:rPr lang="en-US" altLang="zh-CN" sz="1800" dirty="0">
                <a:solidFill>
                  <a:srgbClr val="BABABA"/>
                </a:solidFill>
                <a:effectLst/>
                <a:latin typeface="Consolas" panose="020B0609020204030204" pitchFamily="49" charset="0"/>
              </a:rPr>
            </a:br>
            <a:br>
              <a:rPr lang="en-US" altLang="zh-CN" sz="1800" dirty="0">
                <a:solidFill>
                  <a:srgbClr val="BABABA"/>
                </a:solidFill>
                <a:effectLst/>
                <a:latin typeface="Consolas" panose="020B0609020204030204" pitchFamily="49" charset="0"/>
              </a:rPr>
            </a:br>
            <a:r>
              <a:rPr lang="en-US" altLang="zh-CN" sz="1800" i="1" dirty="0">
                <a:solidFill>
                  <a:srgbClr val="FF0000"/>
                </a:solidFill>
                <a:effectLst/>
                <a:latin typeface="Consolas" panose="020B0609020204030204" pitchFamily="49" charset="0"/>
              </a:rPr>
              <a:t>/*</a:t>
            </a:r>
            <a:r>
              <a:rPr lang="en-US" altLang="zh-CN" sz="1800" dirty="0">
                <a:solidFill>
                  <a:srgbClr val="FF0000"/>
                </a:solidFill>
                <a:effectLst/>
                <a:latin typeface="Consolas" panose="020B0609020204030204" pitchFamily="49" charset="0"/>
              </a:rPr>
              <a:t> </a:t>
            </a:r>
            <a:r>
              <a:rPr lang="zh-CN" altLang="en-US" sz="1800" i="1" dirty="0">
                <a:solidFill>
                  <a:srgbClr val="FF0000"/>
                </a:solidFill>
                <a:effectLst/>
                <a:latin typeface="Consolas" panose="020B0609020204030204" pitchFamily="49" charset="0"/>
              </a:rPr>
              <a:t>请编写并提交函数</a:t>
            </a:r>
            <a:r>
              <a:rPr lang="en-US" altLang="zh-CN" sz="1800" i="1" dirty="0">
                <a:solidFill>
                  <a:srgbClr val="FF0000"/>
                </a:solidFill>
                <a:effectLst/>
                <a:latin typeface="Consolas" panose="020B0609020204030204" pitchFamily="49" charset="0"/>
              </a:rPr>
              <a:t>arrange()</a:t>
            </a:r>
            <a:r>
              <a:rPr lang="zh-CN" altLang="en-US" sz="1800" i="1" dirty="0">
                <a:solidFill>
                  <a:srgbClr val="FF0000"/>
                </a:solidFill>
                <a:effectLst/>
                <a:latin typeface="Consolas" panose="020B0609020204030204" pitchFamily="49" charset="0"/>
              </a:rPr>
              <a:t>，函数原型和功能如下。</a:t>
            </a:r>
            <a:r>
              <a:rPr lang="zh-CN" altLang="en-US" sz="1800" dirty="0">
                <a:solidFill>
                  <a:srgbClr val="FF0000"/>
                </a:solidFill>
                <a:effectLst/>
                <a:latin typeface="Consolas" panose="020B0609020204030204" pitchFamily="49" charset="0"/>
              </a:rPr>
              <a:t> </a:t>
            </a:r>
            <a:br>
              <a:rPr lang="zh-CN" altLang="en-US" sz="1800" dirty="0">
                <a:solidFill>
                  <a:srgbClr val="FF0000"/>
                </a:solidFill>
                <a:effectLst/>
                <a:latin typeface="Consolas" panose="020B0609020204030204" pitchFamily="49" charset="0"/>
              </a:rPr>
            </a:br>
            <a:r>
              <a:rPr lang="en-US" altLang="zh-CN" sz="1800" i="1" dirty="0">
                <a:solidFill>
                  <a:srgbClr val="FF0000"/>
                </a:solidFill>
                <a:effectLst/>
                <a:latin typeface="Consolas" panose="020B0609020204030204" pitchFamily="49" charset="0"/>
              </a:rPr>
              <a:t>void</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arrange(</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struct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link</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a:t>
            </a:r>
            <a:r>
              <a:rPr lang="en-US" altLang="zh-CN" sz="1800" i="1" dirty="0" err="1">
                <a:solidFill>
                  <a:srgbClr val="FF0000"/>
                </a:solidFill>
                <a:effectLst/>
                <a:latin typeface="Consolas" panose="020B0609020204030204" pitchFamily="49" charset="0"/>
              </a:rPr>
              <a:t>hA</a:t>
            </a:r>
            <a:r>
              <a:rPr lang="en-US" altLang="zh-CN" sz="1800" i="1" dirty="0">
                <a:solidFill>
                  <a:srgbClr val="FF0000"/>
                </a:solidFill>
                <a:effectLst/>
                <a:latin typeface="Consolas" panose="020B0609020204030204" pitchFamily="49" charset="0"/>
              </a:rPr>
              <a: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struct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link</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a:t>
            </a:r>
            <a:r>
              <a:rPr lang="en-US" altLang="zh-CN" sz="1800" i="1" dirty="0" err="1">
                <a:solidFill>
                  <a:srgbClr val="FF0000"/>
                </a:solidFill>
                <a:effectLst/>
                <a:latin typeface="Consolas" panose="020B0609020204030204" pitchFamily="49" charset="0"/>
              </a:rPr>
              <a:t>hC</a:t>
            </a:r>
            <a:r>
              <a:rPr lang="en-US" altLang="zh-CN" sz="1800" i="1" dirty="0">
                <a:solidFill>
                  <a:srgbClr val="FF0000"/>
                </a:solidFill>
                <a:effectLst/>
                <a:latin typeface="Consolas" panose="020B0609020204030204" pitchFamily="49" charset="0"/>
              </a:rPr>
              <a: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int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a,</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int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b</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a:t>
            </a:r>
            <a:r>
              <a:rPr lang="en-US" altLang="zh-CN" sz="1800" dirty="0">
                <a:solidFill>
                  <a:srgbClr val="FF0000"/>
                </a:solidFill>
                <a:effectLst/>
                <a:latin typeface="Consolas" panose="020B0609020204030204" pitchFamily="49" charset="0"/>
              </a:rPr>
              <a:t> </a:t>
            </a:r>
            <a:br>
              <a:rPr lang="en-US" altLang="zh-CN" sz="1800" dirty="0">
                <a:solidFill>
                  <a:srgbClr val="FF0000"/>
                </a:solidFill>
                <a:effectLst/>
                <a:latin typeface="Consolas" panose="020B0609020204030204" pitchFamily="49" charset="0"/>
              </a:rPr>
            </a:br>
            <a:r>
              <a:rPr lang="en-US" altLang="zh-CN" sz="1800" i="1" dirty="0">
                <a:solidFill>
                  <a:srgbClr val="FF0000"/>
                </a:solidFill>
                <a:effectLst/>
                <a:latin typeface="Consolas" panose="020B0609020204030204" pitchFamily="49" charset="0"/>
              </a:rPr>
              <a:t>{</a:t>
            </a:r>
            <a:r>
              <a:rPr lang="en-US" altLang="zh-CN" sz="1800" dirty="0">
                <a:solidFill>
                  <a:srgbClr val="FF0000"/>
                </a:solidFill>
                <a:effectLst/>
                <a:latin typeface="Consolas" panose="020B0609020204030204" pitchFamily="49" charset="0"/>
              </a:rPr>
              <a:t>  </a:t>
            </a:r>
            <a:br>
              <a:rPr lang="en-US" altLang="zh-CN" sz="1800" dirty="0">
                <a:solidFill>
                  <a:srgbClr val="FF0000"/>
                </a:solidFill>
                <a:effectLst/>
                <a:latin typeface="Consolas" panose="020B0609020204030204" pitchFamily="49" charset="0"/>
              </a:rPr>
            </a:br>
            <a:r>
              <a:rPr lang="zh-CN" altLang="en-US" sz="1800" i="1" dirty="0">
                <a:solidFill>
                  <a:srgbClr val="FF0000"/>
                </a:solidFill>
                <a:effectLst/>
                <a:latin typeface="Consolas" panose="020B0609020204030204" pitchFamily="49" charset="0"/>
              </a:rPr>
              <a:t>若带有头结点的链表</a:t>
            </a:r>
            <a:r>
              <a:rPr lang="zh-CN" altLang="en-US" sz="1800" dirty="0">
                <a:solidFill>
                  <a:srgbClr val="FF0000"/>
                </a:solidFill>
                <a:effectLst/>
                <a:latin typeface="Consolas" panose="020B0609020204030204" pitchFamily="49" charset="0"/>
              </a:rPr>
              <a:t> </a:t>
            </a:r>
            <a:r>
              <a:rPr lang="en-US" altLang="zh-CN" sz="1800" i="1" dirty="0" err="1">
                <a:solidFill>
                  <a:srgbClr val="FF0000"/>
                </a:solidFill>
                <a:effectLst/>
                <a:latin typeface="Consolas" panose="020B0609020204030204" pitchFamily="49" charset="0"/>
              </a:rPr>
              <a:t>hA</a:t>
            </a:r>
            <a:r>
              <a:rPr lang="en-US" altLang="zh-CN" sz="1800" dirty="0">
                <a:solidFill>
                  <a:srgbClr val="FF0000"/>
                </a:solidFill>
                <a:effectLst/>
                <a:latin typeface="Consolas" panose="020B0609020204030204" pitchFamily="49" charset="0"/>
              </a:rPr>
              <a:t> </a:t>
            </a:r>
            <a:r>
              <a:rPr lang="zh-CN" altLang="en-US" sz="1800" i="1" dirty="0">
                <a:solidFill>
                  <a:srgbClr val="FF0000"/>
                </a:solidFill>
                <a:effectLst/>
                <a:latin typeface="Consolas" panose="020B0609020204030204" pitchFamily="49" charset="0"/>
              </a:rPr>
              <a:t>中的数据结点的</a:t>
            </a:r>
            <a:r>
              <a:rPr lang="en-US" altLang="zh-CN" sz="1800" i="1" dirty="0">
                <a:solidFill>
                  <a:srgbClr val="FF0000"/>
                </a:solidFill>
                <a:effectLst/>
                <a:latin typeface="Consolas" panose="020B0609020204030204" pitchFamily="49" charset="0"/>
              </a:rPr>
              <a:t>num</a:t>
            </a:r>
            <a:r>
              <a:rPr lang="zh-CN" altLang="en-US" sz="1800" i="1" dirty="0">
                <a:solidFill>
                  <a:srgbClr val="FF0000"/>
                </a:solidFill>
                <a:effectLst/>
                <a:latin typeface="Consolas" panose="020B0609020204030204" pitchFamily="49" charset="0"/>
              </a:rPr>
              <a:t>在指定的范围中，</a:t>
            </a:r>
            <a:r>
              <a:rPr lang="en-US" altLang="zh-CN" sz="1800" i="1" dirty="0">
                <a:solidFill>
                  <a:srgbClr val="FF0000"/>
                </a:solidFill>
                <a:effectLst/>
                <a:latin typeface="Consolas" panose="020B0609020204030204" pitchFamily="49" charset="0"/>
              </a:rPr>
              <a:t>a</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&lt;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num</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&lt;</a:t>
            </a:r>
            <a:r>
              <a:rPr lang="en-US" altLang="zh-CN" sz="1800" dirty="0">
                <a:solidFill>
                  <a:srgbClr val="FF0000"/>
                </a:solidFill>
                <a:effectLst/>
                <a:latin typeface="Consolas" panose="020B0609020204030204" pitchFamily="49" charset="0"/>
              </a:rPr>
              <a:t> </a:t>
            </a:r>
            <a:r>
              <a:rPr lang="en-US" altLang="zh-CN" sz="1800" i="1" dirty="0">
                <a:solidFill>
                  <a:srgbClr val="FF0000"/>
                </a:solidFill>
                <a:effectLst/>
                <a:latin typeface="Consolas" panose="020B0609020204030204" pitchFamily="49" charset="0"/>
              </a:rPr>
              <a:t>b</a:t>
            </a:r>
            <a:r>
              <a:rPr lang="zh-CN" altLang="en-US" sz="1800" i="1" dirty="0">
                <a:solidFill>
                  <a:srgbClr val="FF0000"/>
                </a:solidFill>
                <a:effectLst/>
                <a:latin typeface="Consolas" panose="020B0609020204030204" pitchFamily="49" charset="0"/>
              </a:rPr>
              <a:t>，</a:t>
            </a:r>
            <a:r>
              <a:rPr lang="en-US" altLang="zh-CN" sz="1800" dirty="0">
                <a:solidFill>
                  <a:srgbClr val="FF0000"/>
                </a:solidFill>
                <a:effectLst/>
                <a:latin typeface="Consolas" panose="020B0609020204030204" pitchFamily="49" charset="0"/>
              </a:rPr>
              <a:t> </a:t>
            </a:r>
            <a:br>
              <a:rPr lang="en-US" altLang="zh-CN" sz="1800" dirty="0">
                <a:solidFill>
                  <a:srgbClr val="FF0000"/>
                </a:solidFill>
                <a:effectLst/>
                <a:latin typeface="Consolas" panose="020B0609020204030204" pitchFamily="49" charset="0"/>
              </a:rPr>
            </a:br>
            <a:r>
              <a:rPr lang="zh-CN" altLang="en-US" sz="1800" i="1" dirty="0">
                <a:solidFill>
                  <a:srgbClr val="FF0000"/>
                </a:solidFill>
                <a:effectLst/>
                <a:latin typeface="Consolas" panose="020B0609020204030204" pitchFamily="49" charset="0"/>
              </a:rPr>
              <a:t>则将该结点从</a:t>
            </a:r>
            <a:r>
              <a:rPr lang="zh-CN" altLang="en-US" sz="1800" dirty="0">
                <a:solidFill>
                  <a:srgbClr val="FF0000"/>
                </a:solidFill>
                <a:effectLst/>
                <a:latin typeface="Consolas" panose="020B0609020204030204" pitchFamily="49" charset="0"/>
              </a:rPr>
              <a:t> </a:t>
            </a:r>
            <a:r>
              <a:rPr lang="en-US" altLang="zh-CN" sz="1800" i="1" dirty="0" err="1">
                <a:solidFill>
                  <a:srgbClr val="FF0000"/>
                </a:solidFill>
                <a:effectLst/>
                <a:latin typeface="Consolas" panose="020B0609020204030204" pitchFamily="49" charset="0"/>
              </a:rPr>
              <a:t>hA</a:t>
            </a:r>
            <a:r>
              <a:rPr lang="en-US" altLang="zh-CN" sz="1800" dirty="0">
                <a:solidFill>
                  <a:srgbClr val="FF0000"/>
                </a:solidFill>
                <a:effectLst/>
                <a:latin typeface="Consolas" panose="020B0609020204030204" pitchFamily="49" charset="0"/>
              </a:rPr>
              <a:t> </a:t>
            </a:r>
            <a:r>
              <a:rPr lang="zh-CN" altLang="en-US" sz="1800" i="1" dirty="0">
                <a:solidFill>
                  <a:srgbClr val="FF0000"/>
                </a:solidFill>
                <a:effectLst/>
                <a:latin typeface="Consolas" panose="020B0609020204030204" pitchFamily="49" charset="0"/>
              </a:rPr>
              <a:t>中删除，依次插入</a:t>
            </a:r>
            <a:r>
              <a:rPr lang="zh-CN" altLang="en-US" sz="1800" dirty="0">
                <a:solidFill>
                  <a:srgbClr val="FF0000"/>
                </a:solidFill>
                <a:effectLst/>
                <a:latin typeface="Consolas" panose="020B0609020204030204" pitchFamily="49" charset="0"/>
              </a:rPr>
              <a:t> </a:t>
            </a:r>
            <a:r>
              <a:rPr lang="en-US" altLang="zh-CN" sz="1800" i="1" dirty="0" err="1">
                <a:solidFill>
                  <a:srgbClr val="FF0000"/>
                </a:solidFill>
                <a:effectLst/>
                <a:latin typeface="Consolas" panose="020B0609020204030204" pitchFamily="49" charset="0"/>
              </a:rPr>
              <a:t>hC</a:t>
            </a:r>
            <a:r>
              <a:rPr lang="en-US" altLang="zh-CN" sz="1800" dirty="0">
                <a:solidFill>
                  <a:srgbClr val="FF0000"/>
                </a:solidFill>
                <a:effectLst/>
                <a:latin typeface="Consolas" panose="020B0609020204030204" pitchFamily="49" charset="0"/>
              </a:rPr>
              <a:t> </a:t>
            </a:r>
            <a:r>
              <a:rPr lang="zh-CN" altLang="en-US" sz="1800" i="1" dirty="0">
                <a:solidFill>
                  <a:srgbClr val="FF0000"/>
                </a:solidFill>
                <a:effectLst/>
                <a:latin typeface="Consolas" panose="020B0609020204030204" pitchFamily="49" charset="0"/>
              </a:rPr>
              <a:t>的链尾。</a:t>
            </a:r>
            <a:r>
              <a:rPr lang="zh-CN" altLang="en-US" sz="1800" dirty="0">
                <a:solidFill>
                  <a:srgbClr val="FF0000"/>
                </a:solidFill>
                <a:effectLst/>
                <a:latin typeface="Consolas" panose="020B0609020204030204" pitchFamily="49" charset="0"/>
              </a:rPr>
              <a:t> </a:t>
            </a:r>
            <a:br>
              <a:rPr lang="zh-CN" altLang="en-US" sz="1800" dirty="0">
                <a:solidFill>
                  <a:srgbClr val="FF0000"/>
                </a:solidFill>
                <a:effectLst/>
                <a:latin typeface="Consolas" panose="020B0609020204030204" pitchFamily="49" charset="0"/>
              </a:rPr>
            </a:br>
            <a:r>
              <a:rPr lang="en-US" altLang="zh-CN" sz="1800" i="1" dirty="0">
                <a:solidFill>
                  <a:srgbClr val="FF0000"/>
                </a:solidFill>
                <a:effectLst/>
                <a:latin typeface="Consolas" panose="020B0609020204030204" pitchFamily="49" charset="0"/>
              </a:rPr>
              <a:t>}</a:t>
            </a:r>
            <a:r>
              <a:rPr lang="zh-CN" altLang="en-US" sz="1800" dirty="0">
                <a:solidFill>
                  <a:srgbClr val="FF0000"/>
                </a:solidFill>
                <a:effectLst/>
                <a:latin typeface="Consolas" panose="020B0609020204030204" pitchFamily="49" charset="0"/>
              </a:rPr>
              <a:t> </a:t>
            </a:r>
            <a:br>
              <a:rPr lang="zh-CN" altLang="en-US" sz="1800" dirty="0">
                <a:solidFill>
                  <a:srgbClr val="FF0000"/>
                </a:solidFill>
                <a:effectLst/>
                <a:latin typeface="Consolas" panose="020B0609020204030204" pitchFamily="49" charset="0"/>
              </a:rPr>
            </a:br>
            <a:r>
              <a:rPr lang="zh-CN" altLang="en-US" sz="1800" i="1" dirty="0">
                <a:solidFill>
                  <a:srgbClr val="FF0000"/>
                </a:solidFill>
                <a:effectLst/>
                <a:latin typeface="Consolas" panose="020B0609020204030204" pitchFamily="49" charset="0"/>
              </a:rPr>
              <a:t>*</a:t>
            </a:r>
            <a:r>
              <a:rPr lang="en-US" altLang="zh-CN" sz="1800" i="1" dirty="0">
                <a:solidFill>
                  <a:srgbClr val="FF0000"/>
                </a:solidFill>
                <a:effectLst/>
                <a:latin typeface="Consolas" panose="020B0609020204030204" pitchFamily="49" charset="0"/>
              </a:rPr>
              <a:t>/</a:t>
            </a:r>
            <a:r>
              <a:rPr lang="zh-CN" altLang="en-US" sz="1800" dirty="0">
                <a:solidFill>
                  <a:srgbClr val="FF0000"/>
                </a:solidFill>
                <a:effectLst/>
                <a:latin typeface="Consolas" panose="020B0609020204030204" pitchFamily="49" charset="0"/>
              </a:rPr>
              <a:t>  </a:t>
            </a:r>
            <a:br>
              <a:rPr lang="zh-CN" altLang="en-US" sz="1800" dirty="0">
                <a:solidFill>
                  <a:srgbClr val="FF0000"/>
                </a:solidFill>
                <a:effectLst/>
                <a:latin typeface="Consolas" panose="020B0609020204030204" pitchFamily="49" charset="0"/>
              </a:rPr>
            </a:br>
            <a:br>
              <a:rPr lang="zh-CN" altLang="en-US" sz="1800" dirty="0">
                <a:solidFill>
                  <a:srgbClr val="FF0000"/>
                </a:solidFill>
                <a:effectLst/>
                <a:latin typeface="Consolas" panose="020B0609020204030204" pitchFamily="49" charset="0"/>
              </a:rPr>
            </a:br>
            <a:r>
              <a:rPr lang="en-US" altLang="zh-CN" sz="1800" i="1" dirty="0">
                <a:solidFill>
                  <a:schemeClr val="bg1">
                    <a:lumMod val="65000"/>
                  </a:schemeClr>
                </a:solidFill>
                <a:effectLst/>
                <a:latin typeface="Consolas" panose="020B0609020204030204" pitchFamily="49" charset="0"/>
              </a:rPr>
              <a:t>/*</a:t>
            </a:r>
            <a:r>
              <a:rPr lang="zh-CN" altLang="en-US"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PRESET</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CODE</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END</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NEVER</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TOUCH</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CODE</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ABOVE</a:t>
            </a:r>
            <a:r>
              <a:rPr lang="en-US" altLang="zh-CN" sz="1800" dirty="0">
                <a:solidFill>
                  <a:schemeClr val="bg1">
                    <a:lumMod val="65000"/>
                  </a:schemeClr>
                </a:solidFill>
                <a:effectLst/>
                <a:latin typeface="Consolas" panose="020B0609020204030204" pitchFamily="49" charset="0"/>
              </a:rPr>
              <a:t> </a:t>
            </a:r>
            <a:r>
              <a:rPr lang="en-US" altLang="zh-CN" sz="1800" i="1" dirty="0">
                <a:solidFill>
                  <a:schemeClr val="bg1">
                    <a:lumMod val="65000"/>
                  </a:schemeClr>
                </a:solidFill>
                <a:effectLst/>
                <a:latin typeface="Consolas" panose="020B0609020204030204" pitchFamily="49" charset="0"/>
              </a:rPr>
              <a:t>*/</a:t>
            </a:r>
            <a:r>
              <a:rPr lang="en-US" altLang="zh-CN" sz="1800" dirty="0">
                <a:solidFill>
                  <a:schemeClr val="bg1">
                    <a:lumMod val="65000"/>
                  </a:schemeClr>
                </a:solidFill>
                <a:effectLst/>
                <a:latin typeface="Consolas" panose="020B0609020204030204" pitchFamily="49" charset="0"/>
              </a:rPr>
              <a:t> </a:t>
            </a:r>
          </a:p>
          <a:p>
            <a:endParaRPr lang="zh-CN" altLang="en-US" dirty="0"/>
          </a:p>
        </p:txBody>
      </p:sp>
      <p:sp>
        <p:nvSpPr>
          <p:cNvPr id="7" name="标题 4">
            <a:extLst>
              <a:ext uri="{FF2B5EF4-FFF2-40B4-BE49-F238E27FC236}">
                <a16:creationId xmlns:a16="http://schemas.microsoft.com/office/drawing/2014/main" id="{847F5AFF-7035-BB87-FCD6-021D35C67743}"/>
              </a:ext>
            </a:extLst>
          </p:cNvPr>
          <p:cNvSpPr txBox="1">
            <a:spLocks/>
          </p:cNvSpPr>
          <p:nvPr/>
        </p:nvSpPr>
        <p:spPr>
          <a:xfrm>
            <a:off x="586333" y="277203"/>
            <a:ext cx="3586163" cy="80327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链表</a:t>
            </a:r>
            <a:r>
              <a:rPr lang="en-US" altLang="zh-CN" sz="3600" b="1" dirty="0"/>
              <a:t>-</a:t>
            </a:r>
            <a:r>
              <a:rPr lang="zh-CN" altLang="en-US" sz="3600" b="1" dirty="0"/>
              <a:t>例题</a:t>
            </a:r>
          </a:p>
        </p:txBody>
      </p:sp>
    </p:spTree>
    <p:extLst>
      <p:ext uri="{BB962C8B-B14F-4D97-AF65-F5344CB8AC3E}">
        <p14:creationId xmlns:p14="http://schemas.microsoft.com/office/powerpoint/2010/main" val="479653431"/>
      </p:ext>
    </p:extLst>
  </p:cSld>
  <p:clrMapOvr>
    <a:masterClrMapping/>
  </p:clrMapOvr>
  <p:transition spd="slow">
    <p:push dir="u"/>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9C9BA6E-301C-E002-2C39-2B8987FA73F5}"/>
              </a:ext>
            </a:extLst>
          </p:cNvPr>
          <p:cNvSpPr txBox="1"/>
          <p:nvPr/>
        </p:nvSpPr>
        <p:spPr>
          <a:xfrm>
            <a:off x="203625" y="-141576"/>
            <a:ext cx="6298519" cy="1118255"/>
          </a:xfrm>
          <a:prstGeom prst="rect">
            <a:avLst/>
          </a:prstGeom>
          <a:noFill/>
        </p:spPr>
        <p:txBody>
          <a:bodyPr wrap="none" rtlCol="0">
            <a:spAutoFit/>
          </a:bodyPr>
          <a:lstStyle/>
          <a:p>
            <a:pPr>
              <a:lnSpc>
                <a:spcPts val="2000"/>
              </a:lnSpc>
            </a:pPr>
            <a:endParaRPr lang="en-US" altLang="zh-CN" dirty="0"/>
          </a:p>
          <a:p>
            <a:pPr>
              <a:lnSpc>
                <a:spcPts val="2000"/>
              </a:lnSpc>
            </a:pPr>
            <a:r>
              <a:rPr lang="en-US" altLang="zh-CN" i="1" dirty="0">
                <a:solidFill>
                  <a:srgbClr val="8C8C8C"/>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遍历链表</a:t>
            </a:r>
            <a:r>
              <a:rPr lang="zh-CN" altLang="en-US" dirty="0">
                <a:solidFill>
                  <a:srgbClr val="BABABA"/>
                </a:solidFill>
                <a:effectLst/>
                <a:latin typeface="Consolas" panose="020B0609020204030204" pitchFamily="49" charset="0"/>
              </a:rPr>
              <a:t> </a:t>
            </a:r>
            <a:r>
              <a:rPr lang="en-US" altLang="zh-CN" i="1" dirty="0" err="1">
                <a:solidFill>
                  <a:srgbClr val="8C8C8C"/>
                </a:solidFill>
                <a:effectLst/>
                <a:latin typeface="Consolas" panose="020B0609020204030204" pitchFamily="49" charset="0"/>
              </a:rPr>
              <a:t>hA</a:t>
            </a:r>
            <a:r>
              <a:rPr lang="zh-CN" altLang="en-US" i="1" dirty="0">
                <a:solidFill>
                  <a:srgbClr val="8C8C8C"/>
                </a:solidFill>
                <a:effectLst/>
                <a:latin typeface="Consolas" panose="020B0609020204030204" pitchFamily="49" charset="0"/>
              </a:rPr>
              <a:t>，将满足条件的结点移动到链表</a:t>
            </a:r>
            <a:r>
              <a:rPr lang="zh-CN" altLang="en-US" dirty="0">
                <a:solidFill>
                  <a:srgbClr val="BABABA"/>
                </a:solidFill>
                <a:effectLst/>
                <a:latin typeface="Consolas" panose="020B0609020204030204" pitchFamily="49" charset="0"/>
              </a:rPr>
              <a:t> </a:t>
            </a:r>
            <a:r>
              <a:rPr lang="en-US" altLang="zh-CN" i="1" dirty="0" err="1">
                <a:solidFill>
                  <a:srgbClr val="8C8C8C"/>
                </a:solidFill>
                <a:effectLst/>
                <a:latin typeface="Consolas" panose="020B0609020204030204" pitchFamily="49" charset="0"/>
              </a:rPr>
              <a:t>hC</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的尾部</a:t>
            </a:r>
            <a:br>
              <a:rPr lang="zh-CN" altLang="en-US" i="1" dirty="0">
                <a:solidFill>
                  <a:srgbClr val="8C8C8C"/>
                </a:solidFill>
                <a:effectLst/>
                <a:latin typeface="Consolas" panose="020B0609020204030204" pitchFamily="49" charset="0"/>
              </a:rPr>
            </a:br>
            <a:r>
              <a:rPr lang="en-US" altLang="zh-CN" b="1" dirty="0">
                <a:solidFill>
                  <a:srgbClr val="0033B3"/>
                </a:solidFill>
                <a:effectLst/>
                <a:latin typeface="Consolas" panose="020B0609020204030204" pitchFamily="49" charset="0"/>
              </a:rPr>
              <a:t>struct</a:t>
            </a:r>
            <a:r>
              <a:rPr lang="en-US" altLang="zh-CN" dirty="0">
                <a:solidFill>
                  <a:srgbClr val="BABABA"/>
                </a:solidFill>
                <a:effectLst/>
                <a:latin typeface="Consolas" panose="020B0609020204030204" pitchFamily="49" charset="0"/>
              </a:rPr>
              <a:t> </a:t>
            </a:r>
            <a:r>
              <a:rPr lang="en-US" altLang="zh-CN" dirty="0">
                <a:solidFill>
                  <a:srgbClr val="008080"/>
                </a:solidFill>
                <a:effectLst/>
                <a:latin typeface="Consolas" panose="020B0609020204030204" pitchFamily="49" charset="0"/>
              </a:rPr>
              <a:t>link</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hA</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b="1" dirty="0">
                <a:solidFill>
                  <a:srgbClr val="C10000"/>
                </a:solidFill>
                <a:effectLst/>
                <a:latin typeface="Consolas" panose="020B0609020204030204" pitchFamily="49" charset="0"/>
              </a:rPr>
              <a:t>;</a:t>
            </a:r>
            <a:br>
              <a:rPr lang="zh-CN" altLang="en-US" i="1" dirty="0">
                <a:solidFill>
                  <a:srgbClr val="8C8C8C"/>
                </a:solidFill>
                <a:effectLst/>
                <a:latin typeface="Consolas" panose="020B0609020204030204" pitchFamily="49" charset="0"/>
              </a:rPr>
            </a:br>
            <a:r>
              <a:rPr lang="en-US" altLang="zh-CN" b="1" dirty="0">
                <a:solidFill>
                  <a:srgbClr val="0033B3"/>
                </a:solidFill>
                <a:effectLst/>
                <a:latin typeface="Consolas" panose="020B0609020204030204" pitchFamily="49" charset="0"/>
              </a:rPr>
              <a:t>struct</a:t>
            </a:r>
            <a:r>
              <a:rPr lang="en-US" altLang="zh-CN" dirty="0">
                <a:solidFill>
                  <a:srgbClr val="BABABA"/>
                </a:solidFill>
                <a:effectLst/>
                <a:latin typeface="Consolas" panose="020B0609020204030204" pitchFamily="49" charset="0"/>
              </a:rPr>
              <a:t> </a:t>
            </a:r>
            <a:r>
              <a:rPr lang="en-US" altLang="zh-CN" dirty="0">
                <a:solidFill>
                  <a:srgbClr val="008080"/>
                </a:solidFill>
                <a:effectLst/>
                <a:latin typeface="Consolas" panose="020B0609020204030204" pitchFamily="49" charset="0"/>
              </a:rPr>
              <a:t>link</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prev</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hA</a:t>
            </a:r>
            <a:r>
              <a:rPr lang="en-US" altLang="zh-CN" b="1" dirty="0">
                <a:solidFill>
                  <a:srgbClr val="C10000"/>
                </a:solidFill>
                <a:effectLst/>
                <a:latin typeface="Consolas" panose="020B0609020204030204" pitchFamily="49" charset="0"/>
              </a:rPr>
              <a:t>;</a:t>
            </a:r>
            <a:endParaRPr lang="zh-CN" altLang="en-US" dirty="0"/>
          </a:p>
        </p:txBody>
      </p:sp>
      <p:sp>
        <p:nvSpPr>
          <p:cNvPr id="4" name="文本框 3">
            <a:extLst>
              <a:ext uri="{FF2B5EF4-FFF2-40B4-BE49-F238E27FC236}">
                <a16:creationId xmlns:a16="http://schemas.microsoft.com/office/drawing/2014/main" id="{3420C5D2-D415-7805-C996-9FC0FEB7F39E}"/>
              </a:ext>
            </a:extLst>
          </p:cNvPr>
          <p:cNvSpPr txBox="1"/>
          <p:nvPr/>
        </p:nvSpPr>
        <p:spPr>
          <a:xfrm>
            <a:off x="203625" y="898665"/>
            <a:ext cx="3350597" cy="348813"/>
          </a:xfrm>
          <a:prstGeom prst="rect">
            <a:avLst/>
          </a:prstGeom>
          <a:noFill/>
        </p:spPr>
        <p:txBody>
          <a:bodyPr wrap="none" rtlCol="0">
            <a:spAutoFit/>
          </a:bodyPr>
          <a:lstStyle/>
          <a:p>
            <a:pPr>
              <a:lnSpc>
                <a:spcPts val="2000"/>
              </a:lnSpc>
            </a:pPr>
            <a:r>
              <a:rPr lang="en-US" altLang="zh-CN" b="1" dirty="0">
                <a:solidFill>
                  <a:srgbClr val="0033B3"/>
                </a:solidFill>
                <a:effectLst/>
                <a:latin typeface="Consolas" panose="020B0609020204030204" pitchFamily="49" charset="0"/>
              </a:rPr>
              <a:t>while</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000000"/>
                </a:solidFill>
                <a:effectLst/>
                <a:latin typeface="Consolas" panose="020B0609020204030204" pitchFamily="49" charset="0"/>
              </a:rPr>
              <a:t>current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1F542E"/>
                </a:solidFill>
                <a:effectLst/>
                <a:latin typeface="Consolas" panose="020B0609020204030204" pitchFamily="49" charset="0"/>
              </a:rPr>
              <a:t>NULL</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endParaRPr lang="zh-CN" altLang="en-US" dirty="0"/>
          </a:p>
        </p:txBody>
      </p:sp>
      <p:sp>
        <p:nvSpPr>
          <p:cNvPr id="6" name="文本框 5">
            <a:extLst>
              <a:ext uri="{FF2B5EF4-FFF2-40B4-BE49-F238E27FC236}">
                <a16:creationId xmlns:a16="http://schemas.microsoft.com/office/drawing/2014/main" id="{CA4A997E-0E49-0169-56B5-F3F4254DE4CD}"/>
              </a:ext>
            </a:extLst>
          </p:cNvPr>
          <p:cNvSpPr txBox="1"/>
          <p:nvPr/>
        </p:nvSpPr>
        <p:spPr>
          <a:xfrm>
            <a:off x="537850" y="1151423"/>
            <a:ext cx="5630067" cy="348813"/>
          </a:xfrm>
          <a:prstGeom prst="rect">
            <a:avLst/>
          </a:prstGeom>
          <a:noFill/>
        </p:spPr>
        <p:txBody>
          <a:bodyPr wrap="none" rtlCol="0">
            <a:spAutoFit/>
          </a:bodyPr>
          <a:lstStyle/>
          <a:p>
            <a:pPr>
              <a:lnSpc>
                <a:spcPts val="2000"/>
              </a:lnSpc>
            </a:pPr>
            <a:r>
              <a:rPr lang="en-US" altLang="zh-CN" b="1" dirty="0">
                <a:solidFill>
                  <a:srgbClr val="0033B3"/>
                </a:solidFill>
                <a:effectLst/>
                <a:latin typeface="Consolas" panose="020B0609020204030204" pitchFamily="49" charset="0"/>
              </a:rPr>
              <a:t>if</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num</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&gt;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a</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&amp;&amp;</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num</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&lt;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b</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endParaRPr lang="zh-CN" altLang="en-US" dirty="0"/>
          </a:p>
        </p:txBody>
      </p:sp>
      <p:sp>
        <p:nvSpPr>
          <p:cNvPr id="7" name="文本框 6">
            <a:extLst>
              <a:ext uri="{FF2B5EF4-FFF2-40B4-BE49-F238E27FC236}">
                <a16:creationId xmlns:a16="http://schemas.microsoft.com/office/drawing/2014/main" id="{302B4BAA-A88B-3B29-41D4-22749F60F84C}"/>
              </a:ext>
            </a:extLst>
          </p:cNvPr>
          <p:cNvSpPr txBox="1"/>
          <p:nvPr/>
        </p:nvSpPr>
        <p:spPr>
          <a:xfrm>
            <a:off x="992812" y="1420213"/>
            <a:ext cx="3603872" cy="605294"/>
          </a:xfrm>
          <a:prstGeom prst="rect">
            <a:avLst/>
          </a:prstGeom>
          <a:noFill/>
        </p:spPr>
        <p:txBody>
          <a:bodyPr wrap="none" rtlCol="0">
            <a:spAutoFit/>
          </a:bodyPr>
          <a:lstStyle/>
          <a:p>
            <a:pPr>
              <a:lnSpc>
                <a:spcPts val="2000"/>
              </a:lnSpc>
            </a:pPr>
            <a:r>
              <a:rPr lang="en-US" altLang="zh-CN" i="1" dirty="0">
                <a:solidFill>
                  <a:srgbClr val="8C8C8C"/>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从</a:t>
            </a:r>
            <a:r>
              <a:rPr lang="zh-CN" altLang="en-US" dirty="0">
                <a:solidFill>
                  <a:srgbClr val="BABABA"/>
                </a:solidFill>
                <a:effectLst/>
                <a:latin typeface="Consolas" panose="020B0609020204030204" pitchFamily="49" charset="0"/>
              </a:rPr>
              <a:t> </a:t>
            </a:r>
            <a:r>
              <a:rPr lang="en-US" altLang="zh-CN" i="1" dirty="0" err="1">
                <a:solidFill>
                  <a:srgbClr val="8C8C8C"/>
                </a:solidFill>
                <a:effectLst/>
                <a:latin typeface="Consolas" panose="020B0609020204030204" pitchFamily="49" charset="0"/>
              </a:rPr>
              <a:t>hA</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中删除结点</a:t>
            </a:r>
            <a:br>
              <a:rPr lang="zh-CN" altLang="en-US" i="1" dirty="0">
                <a:solidFill>
                  <a:srgbClr val="8C8C8C"/>
                </a:solidFill>
                <a:effectLst/>
                <a:latin typeface="Consolas" panose="020B0609020204030204" pitchFamily="49" charset="0"/>
              </a:rPr>
            </a:br>
            <a:r>
              <a:rPr lang="en-US" altLang="zh-CN" dirty="0" err="1">
                <a:solidFill>
                  <a:srgbClr val="000000"/>
                </a:solidFill>
                <a:effectLst/>
                <a:latin typeface="Consolas" panose="020B0609020204030204" pitchFamily="49" charset="0"/>
              </a:rPr>
              <a:t>prev</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b="1" dirty="0">
                <a:solidFill>
                  <a:srgbClr val="C10000"/>
                </a:solidFill>
                <a:effectLst/>
                <a:latin typeface="Consolas" panose="020B0609020204030204" pitchFamily="49" charset="0"/>
              </a:rPr>
              <a:t>;</a:t>
            </a:r>
            <a:endParaRPr lang="zh-CN" altLang="en-US" dirty="0"/>
          </a:p>
        </p:txBody>
      </p:sp>
      <p:sp>
        <p:nvSpPr>
          <p:cNvPr id="8" name="文本框 7">
            <a:extLst>
              <a:ext uri="{FF2B5EF4-FFF2-40B4-BE49-F238E27FC236}">
                <a16:creationId xmlns:a16="http://schemas.microsoft.com/office/drawing/2014/main" id="{1ED616D0-C7CD-CB70-7A94-84A542D0AB4A}"/>
              </a:ext>
            </a:extLst>
          </p:cNvPr>
          <p:cNvSpPr txBox="1"/>
          <p:nvPr/>
        </p:nvSpPr>
        <p:spPr>
          <a:xfrm>
            <a:off x="958503" y="1985072"/>
            <a:ext cx="3148619" cy="605294"/>
          </a:xfrm>
          <a:prstGeom prst="rect">
            <a:avLst/>
          </a:prstGeom>
          <a:noFill/>
        </p:spPr>
        <p:txBody>
          <a:bodyPr wrap="none" rtlCol="0">
            <a:spAutoFit/>
          </a:bodyPr>
          <a:lstStyle/>
          <a:p>
            <a:pPr>
              <a:lnSpc>
                <a:spcPts val="2000"/>
              </a:lnSpc>
            </a:pPr>
            <a:r>
              <a:rPr lang="en-US" altLang="zh-CN" i="1" dirty="0">
                <a:solidFill>
                  <a:srgbClr val="8C8C8C"/>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将结点插入到</a:t>
            </a:r>
            <a:r>
              <a:rPr lang="zh-CN" altLang="en-US" dirty="0">
                <a:solidFill>
                  <a:srgbClr val="BABABA"/>
                </a:solidFill>
                <a:effectLst/>
                <a:latin typeface="Consolas" panose="020B0609020204030204" pitchFamily="49" charset="0"/>
              </a:rPr>
              <a:t> </a:t>
            </a:r>
            <a:r>
              <a:rPr lang="en-US" altLang="zh-CN" i="1" dirty="0" err="1">
                <a:solidFill>
                  <a:srgbClr val="8C8C8C"/>
                </a:solidFill>
                <a:effectLst/>
                <a:latin typeface="Consolas" panose="020B0609020204030204" pitchFamily="49" charset="0"/>
              </a:rPr>
              <a:t>hC</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的链尾</a:t>
            </a:r>
            <a:endParaRPr lang="en-US" altLang="zh-CN" i="1" dirty="0">
              <a:solidFill>
                <a:srgbClr val="8C8C8C"/>
              </a:solidFill>
              <a:effectLst/>
              <a:latin typeface="Consolas" panose="020B0609020204030204" pitchFamily="49" charset="0"/>
            </a:endParaRPr>
          </a:p>
          <a:p>
            <a:pPr>
              <a:lnSpc>
                <a:spcPts val="2000"/>
              </a:lnSpc>
            </a:pP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1F542E"/>
                </a:solidFill>
                <a:effectLst/>
                <a:latin typeface="Consolas" panose="020B0609020204030204" pitchFamily="49" charset="0"/>
              </a:rPr>
              <a:t>NULL</a:t>
            </a:r>
            <a:r>
              <a:rPr lang="en-US" altLang="zh-CN" b="1" dirty="0">
                <a:solidFill>
                  <a:srgbClr val="C10000"/>
                </a:solidFill>
                <a:effectLst/>
                <a:latin typeface="Consolas" panose="020B0609020204030204" pitchFamily="49" charset="0"/>
              </a:rPr>
              <a:t>;</a:t>
            </a:r>
            <a:endParaRPr lang="zh-CN" altLang="en-US" dirty="0"/>
          </a:p>
        </p:txBody>
      </p:sp>
      <p:sp>
        <p:nvSpPr>
          <p:cNvPr id="9" name="文本框 8">
            <a:extLst>
              <a:ext uri="{FF2B5EF4-FFF2-40B4-BE49-F238E27FC236}">
                <a16:creationId xmlns:a16="http://schemas.microsoft.com/office/drawing/2014/main" id="{E4F95C3C-D517-AA32-44B7-FAF6D2CEE60F}"/>
              </a:ext>
            </a:extLst>
          </p:cNvPr>
          <p:cNvSpPr txBox="1"/>
          <p:nvPr/>
        </p:nvSpPr>
        <p:spPr>
          <a:xfrm>
            <a:off x="958503" y="2487021"/>
            <a:ext cx="3097323" cy="861774"/>
          </a:xfrm>
          <a:prstGeom prst="rect">
            <a:avLst/>
          </a:prstGeom>
          <a:noFill/>
        </p:spPr>
        <p:txBody>
          <a:bodyPr wrap="none" rtlCol="0">
            <a:spAutoFit/>
          </a:bodyPr>
          <a:lstStyle/>
          <a:p>
            <a:pPr>
              <a:lnSpc>
                <a:spcPts val="2000"/>
              </a:lnSpc>
            </a:pPr>
            <a:r>
              <a:rPr lang="en-US" altLang="zh-CN" b="1" dirty="0">
                <a:solidFill>
                  <a:srgbClr val="0033B3"/>
                </a:solidFill>
                <a:effectLst/>
                <a:latin typeface="Consolas" panose="020B0609020204030204" pitchFamily="49" charset="0"/>
              </a:rPr>
              <a:t>if</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err="1">
                <a:solidFill>
                  <a:srgbClr val="000000"/>
                </a:solidFill>
                <a:effectLst/>
                <a:latin typeface="Consolas" panose="020B0609020204030204" pitchFamily="49" charset="0"/>
              </a:rPr>
              <a:t>hC</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1F542E"/>
                </a:solidFill>
                <a:effectLst/>
                <a:latin typeface="Consolas" panose="020B0609020204030204" pitchFamily="49" charset="0"/>
              </a:rPr>
              <a:t>NULL</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hC</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endParaRPr lang="zh-CN" altLang="en-US" dirty="0"/>
          </a:p>
        </p:txBody>
      </p:sp>
      <p:sp>
        <p:nvSpPr>
          <p:cNvPr id="10" name="文本框 9">
            <a:extLst>
              <a:ext uri="{FF2B5EF4-FFF2-40B4-BE49-F238E27FC236}">
                <a16:creationId xmlns:a16="http://schemas.microsoft.com/office/drawing/2014/main" id="{F5057439-52B6-6A7D-930E-7089E1A08AD4}"/>
              </a:ext>
            </a:extLst>
          </p:cNvPr>
          <p:cNvSpPr txBox="1"/>
          <p:nvPr/>
        </p:nvSpPr>
        <p:spPr>
          <a:xfrm>
            <a:off x="768905" y="2975087"/>
            <a:ext cx="4490332" cy="1887696"/>
          </a:xfrm>
          <a:prstGeom prst="rect">
            <a:avLst/>
          </a:prstGeom>
          <a:noFill/>
        </p:spPr>
        <p:txBody>
          <a:bodyPr wrap="none" rtlCol="0">
            <a:spAutoFit/>
          </a:bodyPr>
          <a:lstStyle/>
          <a:p>
            <a:pPr>
              <a:lnSpc>
                <a:spcPts val="2000"/>
              </a:lnSpc>
            </a:pPr>
            <a:r>
              <a:rPr lang="en-US" altLang="zh-CN" b="1" dirty="0">
                <a:solidFill>
                  <a:srgbClr val="0033B3"/>
                </a:solidFill>
                <a:effectLst/>
                <a:latin typeface="Consolas" panose="020B0609020204030204" pitchFamily="49" charset="0"/>
              </a:rPr>
              <a:t>   else</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b="1" dirty="0">
                <a:solidFill>
                  <a:srgbClr val="0033B3"/>
                </a:solidFill>
                <a:effectLst/>
                <a:latin typeface="Consolas" panose="020B0609020204030204" pitchFamily="49" charset="0"/>
              </a:rPr>
              <a:t>struct</a:t>
            </a:r>
            <a:r>
              <a:rPr lang="en-US" altLang="zh-CN" dirty="0">
                <a:solidFill>
                  <a:srgbClr val="BABABA"/>
                </a:solidFill>
                <a:effectLst/>
                <a:latin typeface="Consolas" panose="020B0609020204030204" pitchFamily="49" charset="0"/>
              </a:rPr>
              <a:t> </a:t>
            </a:r>
            <a:r>
              <a:rPr lang="en-US" altLang="zh-CN" dirty="0">
                <a:solidFill>
                  <a:srgbClr val="008080"/>
                </a:solidFill>
                <a:effectLst/>
                <a:latin typeface="Consolas" panose="020B0609020204030204" pitchFamily="49" charset="0"/>
              </a:rPr>
              <a:t>link</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tail</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hC</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b="1" dirty="0">
                <a:solidFill>
                  <a:srgbClr val="0033B3"/>
                </a:solidFill>
                <a:effectLst/>
                <a:latin typeface="Consolas" panose="020B0609020204030204" pitchFamily="49" charset="0"/>
              </a:rPr>
              <a:t>while</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000000"/>
                </a:solidFill>
                <a:effectLst/>
                <a:latin typeface="Consolas" panose="020B0609020204030204" pitchFamily="49" charset="0"/>
              </a:rPr>
              <a:t>tail</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1F542E"/>
                </a:solidFill>
                <a:effectLst/>
                <a:latin typeface="Consolas" panose="020B0609020204030204" pitchFamily="49" charset="0"/>
              </a:rPr>
              <a:t>NULL</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tail</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tail</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tail</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b="1" dirty="0">
                <a:solidFill>
                  <a:srgbClr val="C10000"/>
                </a:solidFill>
                <a:effectLst/>
                <a:latin typeface="Consolas" panose="020B0609020204030204" pitchFamily="49" charset="0"/>
              </a:rPr>
              <a:t>  }</a:t>
            </a:r>
            <a:endParaRPr lang="zh-CN" altLang="en-US" dirty="0"/>
          </a:p>
        </p:txBody>
      </p:sp>
      <p:sp>
        <p:nvSpPr>
          <p:cNvPr id="11" name="文本框 10">
            <a:extLst>
              <a:ext uri="{FF2B5EF4-FFF2-40B4-BE49-F238E27FC236}">
                <a16:creationId xmlns:a16="http://schemas.microsoft.com/office/drawing/2014/main" id="{991434F5-D4E4-5217-7172-A22B2CF713FA}"/>
              </a:ext>
            </a:extLst>
          </p:cNvPr>
          <p:cNvSpPr txBox="1"/>
          <p:nvPr/>
        </p:nvSpPr>
        <p:spPr>
          <a:xfrm>
            <a:off x="70275" y="4757670"/>
            <a:ext cx="3767378" cy="861774"/>
          </a:xfrm>
          <a:prstGeom prst="rect">
            <a:avLst/>
          </a:prstGeom>
          <a:noFill/>
        </p:spPr>
        <p:txBody>
          <a:bodyPr wrap="none" rtlCol="0">
            <a:spAutoFit/>
          </a:bodyPr>
          <a:lstStyle/>
          <a:p>
            <a:pPr>
              <a:lnSpc>
                <a:spcPts val="2000"/>
              </a:lnSpc>
            </a:pPr>
            <a:r>
              <a:rPr lang="en-US" altLang="zh-CN" i="1" dirty="0">
                <a:solidFill>
                  <a:srgbClr val="8C8C8C"/>
                </a:solidFill>
                <a:effectLst/>
                <a:latin typeface="Consolas" panose="020B0609020204030204" pitchFamily="49" charset="0"/>
              </a:rPr>
              <a:t>	//</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继续遍历</a:t>
            </a:r>
            <a:r>
              <a:rPr lang="zh-CN" altLang="en-US" dirty="0">
                <a:solidFill>
                  <a:srgbClr val="BABABA"/>
                </a:solidFill>
                <a:effectLst/>
                <a:latin typeface="Consolas" panose="020B0609020204030204" pitchFamily="49" charset="0"/>
              </a:rPr>
              <a:t> </a:t>
            </a:r>
            <a:r>
              <a:rPr lang="en-US" altLang="zh-CN" i="1" dirty="0" err="1">
                <a:solidFill>
                  <a:srgbClr val="8C8C8C"/>
                </a:solidFill>
                <a:effectLst/>
                <a:latin typeface="Consolas" panose="020B0609020204030204" pitchFamily="49" charset="0"/>
              </a:rPr>
              <a:t>hA</a:t>
            </a:r>
            <a:br>
              <a:rPr lang="en-US" altLang="zh-CN" i="1" dirty="0">
                <a:solidFill>
                  <a:srgbClr val="8C8C8C"/>
                </a:solidFill>
                <a:effectLst/>
                <a:latin typeface="Consolas" panose="020B0609020204030204" pitchFamily="49" charset="0"/>
              </a:rPr>
            </a:br>
            <a:r>
              <a:rPr lang="en-US" altLang="zh-CN" i="1" dirty="0">
                <a:solidFill>
                  <a:srgbClr val="8C8C8C"/>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prev</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b="1" dirty="0">
                <a:solidFill>
                  <a:srgbClr val="C10000"/>
                </a:solidFill>
                <a:effectLst/>
                <a:latin typeface="Consolas" panose="020B0609020204030204" pitchFamily="49" charset="0"/>
              </a:rPr>
              <a:t>    }</a:t>
            </a:r>
            <a:endParaRPr lang="zh-CN" altLang="en-US" dirty="0"/>
          </a:p>
        </p:txBody>
      </p:sp>
      <p:sp>
        <p:nvSpPr>
          <p:cNvPr id="12" name="文本框 11">
            <a:extLst>
              <a:ext uri="{FF2B5EF4-FFF2-40B4-BE49-F238E27FC236}">
                <a16:creationId xmlns:a16="http://schemas.microsoft.com/office/drawing/2014/main" id="{86DBA21F-0CB5-E2DF-6E13-46641C38AFF4}"/>
              </a:ext>
            </a:extLst>
          </p:cNvPr>
          <p:cNvSpPr txBox="1"/>
          <p:nvPr/>
        </p:nvSpPr>
        <p:spPr>
          <a:xfrm>
            <a:off x="114263" y="5281227"/>
            <a:ext cx="4237057" cy="1631216"/>
          </a:xfrm>
          <a:prstGeom prst="rect">
            <a:avLst/>
          </a:prstGeom>
          <a:noFill/>
        </p:spPr>
        <p:txBody>
          <a:bodyPr wrap="none" rtlCol="0">
            <a:spAutoFit/>
          </a:bodyPr>
          <a:lstStyle/>
          <a:p>
            <a:pPr>
              <a:lnSpc>
                <a:spcPts val="2000"/>
              </a:lnSpc>
            </a:pPr>
            <a:r>
              <a:rPr lang="en-US" altLang="zh-CN" b="1" dirty="0">
                <a:solidFill>
                  <a:srgbClr val="0033B3"/>
                </a:solidFill>
                <a:effectLst/>
                <a:latin typeface="Consolas" panose="020B0609020204030204" pitchFamily="49" charset="0"/>
              </a:rPr>
              <a:t>     else</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i="1" dirty="0">
                <a:solidFill>
                  <a:srgbClr val="8C8C8C"/>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zh-CN" altLang="en-US" i="1" dirty="0">
                <a:solidFill>
                  <a:srgbClr val="8C8C8C"/>
                </a:solidFill>
                <a:effectLst/>
                <a:latin typeface="Consolas" panose="020B0609020204030204" pitchFamily="49" charset="0"/>
              </a:rPr>
              <a:t>继续遍历</a:t>
            </a:r>
            <a:r>
              <a:rPr lang="zh-CN" altLang="en-US" dirty="0">
                <a:solidFill>
                  <a:srgbClr val="BABABA"/>
                </a:solidFill>
                <a:effectLst/>
                <a:latin typeface="Consolas" panose="020B0609020204030204" pitchFamily="49" charset="0"/>
              </a:rPr>
              <a:t> </a:t>
            </a:r>
            <a:r>
              <a:rPr lang="en-US" altLang="zh-CN" i="1" dirty="0" err="1">
                <a:solidFill>
                  <a:srgbClr val="8C8C8C"/>
                </a:solidFill>
                <a:effectLst/>
                <a:latin typeface="Consolas" panose="020B0609020204030204" pitchFamily="49" charset="0"/>
              </a:rPr>
              <a:t>hA</a:t>
            </a:r>
            <a:br>
              <a:rPr lang="en-US" altLang="zh-CN" i="1" dirty="0">
                <a:solidFill>
                  <a:srgbClr val="8C8C8C"/>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dirty="0" err="1">
                <a:solidFill>
                  <a:srgbClr val="000000"/>
                </a:solidFill>
                <a:effectLst/>
                <a:latin typeface="Consolas" panose="020B0609020204030204" pitchFamily="49" charset="0"/>
              </a:rPr>
              <a:t>prev</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r>
              <a:rPr lang="en-US" altLang="zh-CN" dirty="0">
                <a:solidFill>
                  <a:srgbClr val="BABABA"/>
                </a:solidFill>
                <a:effectLst/>
                <a:latin typeface="Consolas" panose="020B0609020204030204" pitchFamily="49" charset="0"/>
              </a:rPr>
              <a:t> </a:t>
            </a:r>
            <a:r>
              <a:rPr lang="en-US" altLang="zh-CN" dirty="0">
                <a:solidFill>
                  <a:srgbClr val="000000"/>
                </a:solidFill>
                <a:effectLst/>
                <a:latin typeface="Consolas" panose="020B0609020204030204" pitchFamily="49" charset="0"/>
              </a:rPr>
              <a:t>current</a:t>
            </a:r>
            <a:r>
              <a:rPr lang="en-US" altLang="zh-CN" b="1" dirty="0">
                <a:solidFill>
                  <a:srgbClr val="C10000"/>
                </a:solidFill>
                <a:effectLst/>
                <a:latin typeface="Consolas" panose="020B0609020204030204" pitchFamily="49" charset="0"/>
              </a:rPr>
              <a:t>-&gt;</a:t>
            </a:r>
            <a:r>
              <a:rPr lang="en-US" altLang="zh-CN" dirty="0">
                <a:solidFill>
                  <a:srgbClr val="400080"/>
                </a:solidFill>
                <a:effectLst/>
                <a:latin typeface="Consolas" panose="020B0609020204030204" pitchFamily="49" charset="0"/>
              </a:rPr>
              <a:t>next</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dirty="0">
                <a:solidFill>
                  <a:srgbClr val="BABABA"/>
                </a:solidFill>
                <a:effectLst/>
                <a:latin typeface="Consolas" panose="020B0609020204030204" pitchFamily="49" charset="0"/>
              </a:rPr>
              <a:t>   </a:t>
            </a:r>
            <a:r>
              <a:rPr lang="en-US" altLang="zh-CN" b="1" dirty="0">
                <a:solidFill>
                  <a:srgbClr val="C10000"/>
                </a:solidFill>
                <a:effectLst/>
                <a:latin typeface="Consolas" panose="020B0609020204030204" pitchFamily="49" charset="0"/>
              </a:rPr>
              <a:t>}</a:t>
            </a:r>
            <a:br>
              <a:rPr lang="en-US" altLang="zh-CN" b="1" dirty="0">
                <a:solidFill>
                  <a:srgbClr val="C10000"/>
                </a:solidFill>
                <a:effectLst/>
                <a:latin typeface="Consolas" panose="020B0609020204030204" pitchFamily="49" charset="0"/>
              </a:rPr>
            </a:br>
            <a:r>
              <a:rPr lang="en-US" altLang="zh-CN" b="1" dirty="0">
                <a:solidFill>
                  <a:srgbClr val="C10000"/>
                </a:solidFill>
                <a:effectLst/>
                <a:latin typeface="Consolas" panose="020B0609020204030204" pitchFamily="49" charset="0"/>
              </a:rPr>
              <a:t>}</a:t>
            </a:r>
            <a:endParaRPr lang="zh-CN" altLang="en-US" dirty="0"/>
          </a:p>
        </p:txBody>
      </p:sp>
      <p:graphicFrame>
        <p:nvGraphicFramePr>
          <p:cNvPr id="16" name="表格 9">
            <a:extLst>
              <a:ext uri="{FF2B5EF4-FFF2-40B4-BE49-F238E27FC236}">
                <a16:creationId xmlns:a16="http://schemas.microsoft.com/office/drawing/2014/main" id="{133DDEC8-D7F5-E5B4-E896-AFBAE91A1882}"/>
              </a:ext>
            </a:extLst>
          </p:cNvPr>
          <p:cNvGraphicFramePr>
            <a:graphicFrameLocks noGrp="1"/>
          </p:cNvGraphicFramePr>
          <p:nvPr>
            <p:extLst>
              <p:ext uri="{D42A27DB-BD31-4B8C-83A1-F6EECF244321}">
                <p14:modId xmlns:p14="http://schemas.microsoft.com/office/powerpoint/2010/main" val="1171806416"/>
              </p:ext>
            </p:extLst>
          </p:nvPr>
        </p:nvGraphicFramePr>
        <p:xfrm>
          <a:off x="5530992" y="1817909"/>
          <a:ext cx="981639" cy="557979"/>
        </p:xfrm>
        <a:graphic>
          <a:graphicData uri="http://schemas.openxmlformats.org/drawingml/2006/table">
            <a:tbl>
              <a:tblPr firstRow="1" bandRow="1">
                <a:tableStyleId>{BDBED569-4797-4DF1-A0F4-6AAB3CD982D8}</a:tableStyleId>
              </a:tblPr>
              <a:tblGrid>
                <a:gridCol w="695023">
                  <a:extLst>
                    <a:ext uri="{9D8B030D-6E8A-4147-A177-3AD203B41FA5}">
                      <a16:colId xmlns:a16="http://schemas.microsoft.com/office/drawing/2014/main" val="20000"/>
                    </a:ext>
                  </a:extLst>
                </a:gridCol>
                <a:gridCol w="286616">
                  <a:extLst>
                    <a:ext uri="{9D8B030D-6E8A-4147-A177-3AD203B41FA5}">
                      <a16:colId xmlns:a16="http://schemas.microsoft.com/office/drawing/2014/main" val="20001"/>
                    </a:ext>
                  </a:extLst>
                </a:gridCol>
              </a:tblGrid>
              <a:tr h="557979">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17" name="连接符: 曲线 16">
            <a:extLst>
              <a:ext uri="{FF2B5EF4-FFF2-40B4-BE49-F238E27FC236}">
                <a16:creationId xmlns:a16="http://schemas.microsoft.com/office/drawing/2014/main" id="{5547ED07-3054-9BA0-BDB3-D8CDE84127BD}"/>
              </a:ext>
            </a:extLst>
          </p:cNvPr>
          <p:cNvCxnSpPr>
            <a:cxnSpLocks/>
          </p:cNvCxnSpPr>
          <p:nvPr/>
        </p:nvCxnSpPr>
        <p:spPr>
          <a:xfrm>
            <a:off x="6400283" y="2100144"/>
            <a:ext cx="59657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表格 9">
            <a:extLst>
              <a:ext uri="{FF2B5EF4-FFF2-40B4-BE49-F238E27FC236}">
                <a16:creationId xmlns:a16="http://schemas.microsoft.com/office/drawing/2014/main" id="{43387D59-4E4C-3ED2-E87C-80FB62201EFF}"/>
              </a:ext>
            </a:extLst>
          </p:cNvPr>
          <p:cNvGraphicFramePr>
            <a:graphicFrameLocks noGrp="1"/>
          </p:cNvGraphicFramePr>
          <p:nvPr>
            <p:extLst>
              <p:ext uri="{D42A27DB-BD31-4B8C-83A1-F6EECF244321}">
                <p14:modId xmlns:p14="http://schemas.microsoft.com/office/powerpoint/2010/main" val="2900036051"/>
              </p:ext>
            </p:extLst>
          </p:nvPr>
        </p:nvGraphicFramePr>
        <p:xfrm>
          <a:off x="6966182" y="1821155"/>
          <a:ext cx="968775" cy="557978"/>
        </p:xfrm>
        <a:graphic>
          <a:graphicData uri="http://schemas.openxmlformats.org/drawingml/2006/table">
            <a:tbl>
              <a:tblPr firstRow="1" bandRow="1">
                <a:tableStyleId>{BDBED569-4797-4DF1-A0F4-6AAB3CD982D8}</a:tableStyleId>
              </a:tblPr>
              <a:tblGrid>
                <a:gridCol w="685916">
                  <a:extLst>
                    <a:ext uri="{9D8B030D-6E8A-4147-A177-3AD203B41FA5}">
                      <a16:colId xmlns:a16="http://schemas.microsoft.com/office/drawing/2014/main" val="20000"/>
                    </a:ext>
                  </a:extLst>
                </a:gridCol>
                <a:gridCol w="282859">
                  <a:extLst>
                    <a:ext uri="{9D8B030D-6E8A-4147-A177-3AD203B41FA5}">
                      <a16:colId xmlns:a16="http://schemas.microsoft.com/office/drawing/2014/main" val="20001"/>
                    </a:ext>
                  </a:extLst>
                </a:gridCol>
              </a:tblGrid>
              <a:tr h="557978">
                <a:tc>
                  <a:txBody>
                    <a:bodyPr/>
                    <a:lstStyle/>
                    <a:p>
                      <a:pPr algn="ctr"/>
                      <a:r>
                        <a:rPr lang="en-US" altLang="zh-CN" sz="1800" dirty="0"/>
                        <a:t>22</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19" name="表格 9">
            <a:extLst>
              <a:ext uri="{FF2B5EF4-FFF2-40B4-BE49-F238E27FC236}">
                <a16:creationId xmlns:a16="http://schemas.microsoft.com/office/drawing/2014/main" id="{E502375D-D469-EF5B-A375-845BD0AB76A8}"/>
              </a:ext>
            </a:extLst>
          </p:cNvPr>
          <p:cNvGraphicFramePr>
            <a:graphicFrameLocks noGrp="1"/>
          </p:cNvGraphicFramePr>
          <p:nvPr>
            <p:extLst>
              <p:ext uri="{D42A27DB-BD31-4B8C-83A1-F6EECF244321}">
                <p14:modId xmlns:p14="http://schemas.microsoft.com/office/powerpoint/2010/main" val="2636634033"/>
              </p:ext>
            </p:extLst>
          </p:nvPr>
        </p:nvGraphicFramePr>
        <p:xfrm>
          <a:off x="8531634" y="1824398"/>
          <a:ext cx="1044222" cy="554735"/>
        </p:xfrm>
        <a:graphic>
          <a:graphicData uri="http://schemas.openxmlformats.org/drawingml/2006/table">
            <a:tbl>
              <a:tblPr firstRow="1" bandRow="1">
                <a:tableStyleId>{BDBED569-4797-4DF1-A0F4-6AAB3CD982D8}</a:tableStyleId>
              </a:tblPr>
              <a:tblGrid>
                <a:gridCol w="739334">
                  <a:extLst>
                    <a:ext uri="{9D8B030D-6E8A-4147-A177-3AD203B41FA5}">
                      <a16:colId xmlns:a16="http://schemas.microsoft.com/office/drawing/2014/main" val="20000"/>
                    </a:ext>
                  </a:extLst>
                </a:gridCol>
                <a:gridCol w="304888">
                  <a:extLst>
                    <a:ext uri="{9D8B030D-6E8A-4147-A177-3AD203B41FA5}">
                      <a16:colId xmlns:a16="http://schemas.microsoft.com/office/drawing/2014/main" val="20001"/>
                    </a:ext>
                  </a:extLst>
                </a:gridCol>
              </a:tblGrid>
              <a:tr h="554735">
                <a:tc>
                  <a:txBody>
                    <a:bodyPr/>
                    <a:lstStyle/>
                    <a:p>
                      <a:pPr algn="ctr"/>
                      <a:r>
                        <a:rPr lang="en-US" altLang="zh-CN" sz="1800" dirty="0"/>
                        <a:t>31</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20" name="表格 9">
            <a:extLst>
              <a:ext uri="{FF2B5EF4-FFF2-40B4-BE49-F238E27FC236}">
                <a16:creationId xmlns:a16="http://schemas.microsoft.com/office/drawing/2014/main" id="{2EAC51F6-8047-20E7-5B13-E46DEF703382}"/>
              </a:ext>
            </a:extLst>
          </p:cNvPr>
          <p:cNvGraphicFramePr>
            <a:graphicFrameLocks noGrp="1"/>
          </p:cNvGraphicFramePr>
          <p:nvPr>
            <p:extLst>
              <p:ext uri="{D42A27DB-BD31-4B8C-83A1-F6EECF244321}">
                <p14:modId xmlns:p14="http://schemas.microsoft.com/office/powerpoint/2010/main" val="871083701"/>
              </p:ext>
            </p:extLst>
          </p:nvPr>
        </p:nvGraphicFramePr>
        <p:xfrm>
          <a:off x="10230413" y="1821154"/>
          <a:ext cx="968775" cy="554735"/>
        </p:xfrm>
        <a:graphic>
          <a:graphicData uri="http://schemas.openxmlformats.org/drawingml/2006/table">
            <a:tbl>
              <a:tblPr firstRow="1" bandRow="1">
                <a:tableStyleId>{BDBED569-4797-4DF1-A0F4-6AAB3CD982D8}</a:tableStyleId>
              </a:tblPr>
              <a:tblGrid>
                <a:gridCol w="685915">
                  <a:extLst>
                    <a:ext uri="{9D8B030D-6E8A-4147-A177-3AD203B41FA5}">
                      <a16:colId xmlns:a16="http://schemas.microsoft.com/office/drawing/2014/main" val="20000"/>
                    </a:ext>
                  </a:extLst>
                </a:gridCol>
                <a:gridCol w="282860">
                  <a:extLst>
                    <a:ext uri="{9D8B030D-6E8A-4147-A177-3AD203B41FA5}">
                      <a16:colId xmlns:a16="http://schemas.microsoft.com/office/drawing/2014/main" val="20001"/>
                    </a:ext>
                  </a:extLst>
                </a:gridCol>
              </a:tblGrid>
              <a:tr h="554735">
                <a:tc>
                  <a:txBody>
                    <a:bodyPr/>
                    <a:lstStyle/>
                    <a:p>
                      <a:pPr algn="ctr"/>
                      <a:r>
                        <a:rPr lang="en-US" altLang="zh-CN" sz="1800" dirty="0"/>
                        <a:t>67</a:t>
                      </a:r>
                      <a:endParaRPr lang="zh-CN" altLang="en-US" sz="1800" dirty="0"/>
                    </a:p>
                  </a:txBody>
                  <a:tcPr marL="68591" marR="68591" marT="34295" marB="34295" anchor="ctr"/>
                </a:tc>
                <a:tc>
                  <a:txBody>
                    <a:bodyPr/>
                    <a:lstStyle/>
                    <a:p>
                      <a:pPr algn="ct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21" name="连接符: 曲线 20">
            <a:extLst>
              <a:ext uri="{FF2B5EF4-FFF2-40B4-BE49-F238E27FC236}">
                <a16:creationId xmlns:a16="http://schemas.microsoft.com/office/drawing/2014/main" id="{268782A2-70A1-7FE8-753B-4515B51FD344}"/>
              </a:ext>
            </a:extLst>
          </p:cNvPr>
          <p:cNvCxnSpPr>
            <a:cxnSpLocks/>
            <a:endCxn id="19" idx="1"/>
          </p:cNvCxnSpPr>
          <p:nvPr/>
        </p:nvCxnSpPr>
        <p:spPr>
          <a:xfrm>
            <a:off x="7829922" y="2089883"/>
            <a:ext cx="701712" cy="11882"/>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21">
            <a:extLst>
              <a:ext uri="{FF2B5EF4-FFF2-40B4-BE49-F238E27FC236}">
                <a16:creationId xmlns:a16="http://schemas.microsoft.com/office/drawing/2014/main" id="{EF81DE10-5DE4-BDB2-49F1-369B7405AE9C}"/>
              </a:ext>
            </a:extLst>
          </p:cNvPr>
          <p:cNvCxnSpPr>
            <a:cxnSpLocks/>
          </p:cNvCxnSpPr>
          <p:nvPr/>
        </p:nvCxnSpPr>
        <p:spPr>
          <a:xfrm>
            <a:off x="9470397" y="2109671"/>
            <a:ext cx="760016" cy="863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表格 9">
            <a:extLst>
              <a:ext uri="{FF2B5EF4-FFF2-40B4-BE49-F238E27FC236}">
                <a16:creationId xmlns:a16="http://schemas.microsoft.com/office/drawing/2014/main" id="{BCEB9CFE-17FE-2C8B-9330-28AD91ABE3B8}"/>
              </a:ext>
            </a:extLst>
          </p:cNvPr>
          <p:cNvGraphicFramePr>
            <a:graphicFrameLocks noGrp="1"/>
          </p:cNvGraphicFramePr>
          <p:nvPr>
            <p:extLst>
              <p:ext uri="{D42A27DB-BD31-4B8C-83A1-F6EECF244321}">
                <p14:modId xmlns:p14="http://schemas.microsoft.com/office/powerpoint/2010/main" val="4027817844"/>
              </p:ext>
            </p:extLst>
          </p:nvPr>
        </p:nvGraphicFramePr>
        <p:xfrm>
          <a:off x="6359113" y="2783314"/>
          <a:ext cx="981639" cy="557979"/>
        </p:xfrm>
        <a:graphic>
          <a:graphicData uri="http://schemas.openxmlformats.org/drawingml/2006/table">
            <a:tbl>
              <a:tblPr firstRow="1" bandRow="1">
                <a:tableStyleId>{BDBED569-4797-4DF1-A0F4-6AAB3CD982D8}</a:tableStyleId>
              </a:tblPr>
              <a:tblGrid>
                <a:gridCol w="695023">
                  <a:extLst>
                    <a:ext uri="{9D8B030D-6E8A-4147-A177-3AD203B41FA5}">
                      <a16:colId xmlns:a16="http://schemas.microsoft.com/office/drawing/2014/main" val="20000"/>
                    </a:ext>
                  </a:extLst>
                </a:gridCol>
                <a:gridCol w="286616">
                  <a:extLst>
                    <a:ext uri="{9D8B030D-6E8A-4147-A177-3AD203B41FA5}">
                      <a16:colId xmlns:a16="http://schemas.microsoft.com/office/drawing/2014/main" val="20001"/>
                    </a:ext>
                  </a:extLst>
                </a:gridCol>
              </a:tblGrid>
              <a:tr h="557979">
                <a:tc>
                  <a:txBody>
                    <a:bodyPr/>
                    <a:lstStyle/>
                    <a:p>
                      <a:pPr algn="ctr"/>
                      <a:r>
                        <a:rPr lang="en-US" altLang="zh-CN" sz="1800" dirty="0"/>
                        <a:t>35</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cxnSp>
        <p:nvCxnSpPr>
          <p:cNvPr id="24" name="连接符: 曲线 23">
            <a:extLst>
              <a:ext uri="{FF2B5EF4-FFF2-40B4-BE49-F238E27FC236}">
                <a16:creationId xmlns:a16="http://schemas.microsoft.com/office/drawing/2014/main" id="{DA7F333A-4F44-A0AF-D5DB-FB58EFF1BFC8}"/>
              </a:ext>
            </a:extLst>
          </p:cNvPr>
          <p:cNvCxnSpPr>
            <a:cxnSpLocks/>
          </p:cNvCxnSpPr>
          <p:nvPr/>
        </p:nvCxnSpPr>
        <p:spPr>
          <a:xfrm>
            <a:off x="7228404" y="3065549"/>
            <a:ext cx="596572" cy="9527"/>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9">
            <a:extLst>
              <a:ext uri="{FF2B5EF4-FFF2-40B4-BE49-F238E27FC236}">
                <a16:creationId xmlns:a16="http://schemas.microsoft.com/office/drawing/2014/main" id="{76DF3C1D-E391-0F92-D73E-63D4A7329840}"/>
              </a:ext>
            </a:extLst>
          </p:cNvPr>
          <p:cNvGraphicFramePr>
            <a:graphicFrameLocks noGrp="1"/>
          </p:cNvGraphicFramePr>
          <p:nvPr>
            <p:extLst>
              <p:ext uri="{D42A27DB-BD31-4B8C-83A1-F6EECF244321}">
                <p14:modId xmlns:p14="http://schemas.microsoft.com/office/powerpoint/2010/main" val="3050594555"/>
              </p:ext>
            </p:extLst>
          </p:nvPr>
        </p:nvGraphicFramePr>
        <p:xfrm>
          <a:off x="7794303" y="2786560"/>
          <a:ext cx="968775" cy="557978"/>
        </p:xfrm>
        <a:graphic>
          <a:graphicData uri="http://schemas.openxmlformats.org/drawingml/2006/table">
            <a:tbl>
              <a:tblPr firstRow="1" bandRow="1">
                <a:tableStyleId>{BDBED569-4797-4DF1-A0F4-6AAB3CD982D8}</a:tableStyleId>
              </a:tblPr>
              <a:tblGrid>
                <a:gridCol w="685916">
                  <a:extLst>
                    <a:ext uri="{9D8B030D-6E8A-4147-A177-3AD203B41FA5}">
                      <a16:colId xmlns:a16="http://schemas.microsoft.com/office/drawing/2014/main" val="20000"/>
                    </a:ext>
                  </a:extLst>
                </a:gridCol>
                <a:gridCol w="282859">
                  <a:extLst>
                    <a:ext uri="{9D8B030D-6E8A-4147-A177-3AD203B41FA5}">
                      <a16:colId xmlns:a16="http://schemas.microsoft.com/office/drawing/2014/main" val="20001"/>
                    </a:ext>
                  </a:extLst>
                </a:gridCol>
              </a:tblGrid>
              <a:tr h="557978">
                <a:tc>
                  <a:txBody>
                    <a:bodyPr/>
                    <a:lstStyle/>
                    <a:p>
                      <a:pPr algn="ctr"/>
                      <a:r>
                        <a:rPr lang="en-US" altLang="zh-CN" sz="1800" dirty="0"/>
                        <a:t>40</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26" name="表格 9">
            <a:extLst>
              <a:ext uri="{FF2B5EF4-FFF2-40B4-BE49-F238E27FC236}">
                <a16:creationId xmlns:a16="http://schemas.microsoft.com/office/drawing/2014/main" id="{F197C513-460A-9B28-F3A1-ED4C9B2D2EED}"/>
              </a:ext>
            </a:extLst>
          </p:cNvPr>
          <p:cNvGraphicFramePr>
            <a:graphicFrameLocks noGrp="1"/>
          </p:cNvGraphicFramePr>
          <p:nvPr>
            <p:extLst>
              <p:ext uri="{D42A27DB-BD31-4B8C-83A1-F6EECF244321}">
                <p14:modId xmlns:p14="http://schemas.microsoft.com/office/powerpoint/2010/main" val="943091831"/>
              </p:ext>
            </p:extLst>
          </p:nvPr>
        </p:nvGraphicFramePr>
        <p:xfrm>
          <a:off x="9359755" y="2789803"/>
          <a:ext cx="1044222" cy="554735"/>
        </p:xfrm>
        <a:graphic>
          <a:graphicData uri="http://schemas.openxmlformats.org/drawingml/2006/table">
            <a:tbl>
              <a:tblPr firstRow="1" bandRow="1">
                <a:tableStyleId>{BDBED569-4797-4DF1-A0F4-6AAB3CD982D8}</a:tableStyleId>
              </a:tblPr>
              <a:tblGrid>
                <a:gridCol w="739334">
                  <a:extLst>
                    <a:ext uri="{9D8B030D-6E8A-4147-A177-3AD203B41FA5}">
                      <a16:colId xmlns:a16="http://schemas.microsoft.com/office/drawing/2014/main" val="20000"/>
                    </a:ext>
                  </a:extLst>
                </a:gridCol>
                <a:gridCol w="304888">
                  <a:extLst>
                    <a:ext uri="{9D8B030D-6E8A-4147-A177-3AD203B41FA5}">
                      <a16:colId xmlns:a16="http://schemas.microsoft.com/office/drawing/2014/main" val="20001"/>
                    </a:ext>
                  </a:extLst>
                </a:gridCol>
              </a:tblGrid>
              <a:tr h="554735">
                <a:tc>
                  <a:txBody>
                    <a:bodyPr/>
                    <a:lstStyle/>
                    <a:p>
                      <a:pPr algn="ctr"/>
                      <a:r>
                        <a:rPr lang="en-US" altLang="zh-CN" sz="1800" dirty="0"/>
                        <a:t>36</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graphicFrame>
        <p:nvGraphicFramePr>
          <p:cNvPr id="27" name="表格 9">
            <a:extLst>
              <a:ext uri="{FF2B5EF4-FFF2-40B4-BE49-F238E27FC236}">
                <a16:creationId xmlns:a16="http://schemas.microsoft.com/office/drawing/2014/main" id="{B0526B75-FBCD-0644-78B7-A97B6F4194DA}"/>
              </a:ext>
            </a:extLst>
          </p:cNvPr>
          <p:cNvGraphicFramePr>
            <a:graphicFrameLocks noGrp="1"/>
          </p:cNvGraphicFramePr>
          <p:nvPr>
            <p:extLst>
              <p:ext uri="{D42A27DB-BD31-4B8C-83A1-F6EECF244321}">
                <p14:modId xmlns:p14="http://schemas.microsoft.com/office/powerpoint/2010/main" val="2841862551"/>
              </p:ext>
            </p:extLst>
          </p:nvPr>
        </p:nvGraphicFramePr>
        <p:xfrm>
          <a:off x="11058534" y="2786559"/>
          <a:ext cx="968775" cy="554735"/>
        </p:xfrm>
        <a:graphic>
          <a:graphicData uri="http://schemas.openxmlformats.org/drawingml/2006/table">
            <a:tbl>
              <a:tblPr firstRow="1" bandRow="1">
                <a:tableStyleId>{BDBED569-4797-4DF1-A0F4-6AAB3CD982D8}</a:tableStyleId>
              </a:tblPr>
              <a:tblGrid>
                <a:gridCol w="685915">
                  <a:extLst>
                    <a:ext uri="{9D8B030D-6E8A-4147-A177-3AD203B41FA5}">
                      <a16:colId xmlns:a16="http://schemas.microsoft.com/office/drawing/2014/main" val="20000"/>
                    </a:ext>
                  </a:extLst>
                </a:gridCol>
                <a:gridCol w="282860">
                  <a:extLst>
                    <a:ext uri="{9D8B030D-6E8A-4147-A177-3AD203B41FA5}">
                      <a16:colId xmlns:a16="http://schemas.microsoft.com/office/drawing/2014/main" val="20001"/>
                    </a:ext>
                  </a:extLst>
                </a:gridCol>
              </a:tblGrid>
              <a:tr h="554735">
                <a:tc>
                  <a:txBody>
                    <a:bodyPr/>
                    <a:lstStyle/>
                    <a:p>
                      <a:pPr algn="ctr"/>
                      <a:r>
                        <a:rPr lang="en-US" altLang="zh-CN" sz="1800" dirty="0"/>
                        <a:t>96</a:t>
                      </a:r>
                      <a:endParaRPr lang="zh-CN" altLang="en-US" sz="1800" dirty="0"/>
                    </a:p>
                  </a:txBody>
                  <a:tcPr marL="68591" marR="68591" marT="34295" marB="34295" anchor="ctr"/>
                </a:tc>
                <a:tc>
                  <a:txBody>
                    <a:bodyPr/>
                    <a:lstStyle/>
                    <a:p>
                      <a:pPr algn="ctr"/>
                      <a:r>
                        <a:rPr lang="en-US" altLang="zh-CN" sz="1350" dirty="0"/>
                        <a:t>^</a:t>
                      </a:r>
                      <a:endParaRPr lang="zh-CN" altLang="en-US" sz="1350" dirty="0"/>
                    </a:p>
                  </a:txBody>
                  <a:tcPr marL="68591" marR="68591" marT="34295" marB="34295" anchor="ctr"/>
                </a:tc>
                <a:extLst>
                  <a:ext uri="{0D108BD9-81ED-4DB2-BD59-A6C34878D82A}">
                    <a16:rowId xmlns:a16="http://schemas.microsoft.com/office/drawing/2014/main" val="10000"/>
                  </a:ext>
                </a:extLst>
              </a:tr>
            </a:tbl>
          </a:graphicData>
        </a:graphic>
      </p:graphicFrame>
      <p:cxnSp>
        <p:nvCxnSpPr>
          <p:cNvPr id="28" name="连接符: 曲线 27">
            <a:extLst>
              <a:ext uri="{FF2B5EF4-FFF2-40B4-BE49-F238E27FC236}">
                <a16:creationId xmlns:a16="http://schemas.microsoft.com/office/drawing/2014/main" id="{F03146A1-F015-2114-B81B-83674255E279}"/>
              </a:ext>
            </a:extLst>
          </p:cNvPr>
          <p:cNvCxnSpPr>
            <a:cxnSpLocks/>
            <a:endCxn id="26" idx="1"/>
          </p:cNvCxnSpPr>
          <p:nvPr/>
        </p:nvCxnSpPr>
        <p:spPr>
          <a:xfrm>
            <a:off x="8658043" y="3055288"/>
            <a:ext cx="701712" cy="11882"/>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曲线 28">
            <a:extLst>
              <a:ext uri="{FF2B5EF4-FFF2-40B4-BE49-F238E27FC236}">
                <a16:creationId xmlns:a16="http://schemas.microsoft.com/office/drawing/2014/main" id="{8BE66BA0-04FD-7851-1F61-38B8ADF047E0}"/>
              </a:ext>
            </a:extLst>
          </p:cNvPr>
          <p:cNvCxnSpPr>
            <a:cxnSpLocks/>
            <a:endCxn id="27" idx="1"/>
          </p:cNvCxnSpPr>
          <p:nvPr/>
        </p:nvCxnSpPr>
        <p:spPr>
          <a:xfrm>
            <a:off x="10298518" y="3055288"/>
            <a:ext cx="760016" cy="863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表格 9">
            <a:extLst>
              <a:ext uri="{FF2B5EF4-FFF2-40B4-BE49-F238E27FC236}">
                <a16:creationId xmlns:a16="http://schemas.microsoft.com/office/drawing/2014/main" id="{9426B484-B2B9-1DF2-7BC7-3A1D6DAC237F}"/>
              </a:ext>
            </a:extLst>
          </p:cNvPr>
          <p:cNvGraphicFramePr>
            <a:graphicFrameLocks noGrp="1"/>
          </p:cNvGraphicFramePr>
          <p:nvPr>
            <p:extLst>
              <p:ext uri="{D42A27DB-BD31-4B8C-83A1-F6EECF244321}">
                <p14:modId xmlns:p14="http://schemas.microsoft.com/office/powerpoint/2010/main" val="4129250731"/>
              </p:ext>
            </p:extLst>
          </p:nvPr>
        </p:nvGraphicFramePr>
        <p:xfrm>
          <a:off x="5467047" y="4014868"/>
          <a:ext cx="981639" cy="557979"/>
        </p:xfrm>
        <a:graphic>
          <a:graphicData uri="http://schemas.openxmlformats.org/drawingml/2006/table">
            <a:tbl>
              <a:tblPr firstRow="1" bandRow="1">
                <a:tableStyleId>{BDBED569-4797-4DF1-A0F4-6AAB3CD982D8}</a:tableStyleId>
              </a:tblPr>
              <a:tblGrid>
                <a:gridCol w="695023">
                  <a:extLst>
                    <a:ext uri="{9D8B030D-6E8A-4147-A177-3AD203B41FA5}">
                      <a16:colId xmlns:a16="http://schemas.microsoft.com/office/drawing/2014/main" val="20000"/>
                    </a:ext>
                  </a:extLst>
                </a:gridCol>
                <a:gridCol w="286616">
                  <a:extLst>
                    <a:ext uri="{9D8B030D-6E8A-4147-A177-3AD203B41FA5}">
                      <a16:colId xmlns:a16="http://schemas.microsoft.com/office/drawing/2014/main" val="20001"/>
                    </a:ext>
                  </a:extLst>
                </a:gridCol>
              </a:tblGrid>
              <a:tr h="557979">
                <a:tc>
                  <a:txBody>
                    <a:bodyPr/>
                    <a:lstStyle/>
                    <a:p>
                      <a:pPr algn="ctr"/>
                      <a:r>
                        <a:rPr lang="en-US" altLang="zh-CN" sz="1800" dirty="0"/>
                        <a:t>^</a:t>
                      </a:r>
                      <a:endParaRPr lang="zh-CN" altLang="en-US" sz="1800" dirty="0"/>
                    </a:p>
                  </a:txBody>
                  <a:tcPr marL="68591" marR="68591" marT="34295" marB="34295" anchor="ctr"/>
                </a:tc>
                <a:tc>
                  <a:txBody>
                    <a:bodyPr/>
                    <a:lstStyle/>
                    <a:p>
                      <a:endParaRPr lang="zh-CN" altLang="en-US" sz="1350" dirty="0"/>
                    </a:p>
                  </a:txBody>
                  <a:tcPr marL="68591" marR="68591" marT="34295" marB="34295"/>
                </a:tc>
                <a:extLst>
                  <a:ext uri="{0D108BD9-81ED-4DB2-BD59-A6C34878D82A}">
                    <a16:rowId xmlns:a16="http://schemas.microsoft.com/office/drawing/2014/main" val="10000"/>
                  </a:ext>
                </a:extLst>
              </a:tr>
            </a:tbl>
          </a:graphicData>
        </a:graphic>
      </p:graphicFrame>
      <p:sp>
        <p:nvSpPr>
          <p:cNvPr id="36" name="弧形 35">
            <a:extLst>
              <a:ext uri="{FF2B5EF4-FFF2-40B4-BE49-F238E27FC236}">
                <a16:creationId xmlns:a16="http://schemas.microsoft.com/office/drawing/2014/main" id="{C7E65FD1-0057-8E40-AE74-047F8CC931D7}"/>
              </a:ext>
            </a:extLst>
          </p:cNvPr>
          <p:cNvSpPr/>
          <p:nvPr/>
        </p:nvSpPr>
        <p:spPr>
          <a:xfrm>
            <a:off x="7794303" y="1500236"/>
            <a:ext cx="2504215" cy="1102970"/>
          </a:xfrm>
          <a:prstGeom prst="arc">
            <a:avLst>
              <a:gd name="adj1" fmla="val 10995641"/>
              <a:gd name="adj2" fmla="val 0"/>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8" name="连接符: 曲线 37">
            <a:extLst>
              <a:ext uri="{FF2B5EF4-FFF2-40B4-BE49-F238E27FC236}">
                <a16:creationId xmlns:a16="http://schemas.microsoft.com/office/drawing/2014/main" id="{010D79C8-917A-1C89-E76D-AFBEA777B106}"/>
              </a:ext>
            </a:extLst>
          </p:cNvPr>
          <p:cNvCxnSpPr>
            <a:cxnSpLocks/>
          </p:cNvCxnSpPr>
          <p:nvPr/>
        </p:nvCxnSpPr>
        <p:spPr>
          <a:xfrm>
            <a:off x="6318561" y="4286051"/>
            <a:ext cx="760016" cy="8638"/>
          </a:xfrm>
          <a:prstGeom prst="curved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3A375FC5-895E-9B8B-B8AA-CF0863429D28}"/>
              </a:ext>
            </a:extLst>
          </p:cNvPr>
          <p:cNvSpPr txBox="1"/>
          <p:nvPr/>
        </p:nvSpPr>
        <p:spPr>
          <a:xfrm>
            <a:off x="7794303" y="4109191"/>
            <a:ext cx="300082" cy="369332"/>
          </a:xfrm>
          <a:prstGeom prst="rect">
            <a:avLst/>
          </a:prstGeom>
          <a:noFill/>
        </p:spPr>
        <p:txBody>
          <a:bodyPr wrap="none" rtlCol="0">
            <a:spAutoFit/>
          </a:bodyPr>
          <a:lstStyle/>
          <a:p>
            <a:r>
              <a:rPr lang="en-US" altLang="zh-CN" dirty="0"/>
              <a:t>^</a:t>
            </a:r>
            <a:endParaRPr lang="zh-CN" altLang="en-US" dirty="0"/>
          </a:p>
        </p:txBody>
      </p:sp>
      <p:cxnSp>
        <p:nvCxnSpPr>
          <p:cNvPr id="40" name="连接符: 曲线 39">
            <a:extLst>
              <a:ext uri="{FF2B5EF4-FFF2-40B4-BE49-F238E27FC236}">
                <a16:creationId xmlns:a16="http://schemas.microsoft.com/office/drawing/2014/main" id="{146F816A-52F3-A164-AFF2-5DC1B7F9139D}"/>
              </a:ext>
            </a:extLst>
          </p:cNvPr>
          <p:cNvCxnSpPr>
            <a:cxnSpLocks/>
            <a:endCxn id="23" idx="0"/>
          </p:cNvCxnSpPr>
          <p:nvPr/>
        </p:nvCxnSpPr>
        <p:spPr>
          <a:xfrm rot="10800000" flipV="1">
            <a:off x="6849932" y="2338296"/>
            <a:ext cx="4208602" cy="445018"/>
          </a:xfrm>
          <a:prstGeom prst="curvedConnector2">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0807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500"/>
                                        <p:tgtEl>
                                          <p:spTgt spid="36"/>
                                        </p:tgtEl>
                                      </p:cBhvr>
                                    </p:animEffect>
                                    <p:anim calcmode="lin" valueType="num">
                                      <p:cBhvr>
                                        <p:cTn id="15" dur="500" fill="hold"/>
                                        <p:tgtEl>
                                          <p:spTgt spid="36"/>
                                        </p:tgtEl>
                                        <p:attrNameLst>
                                          <p:attrName>ppt_x</p:attrName>
                                        </p:attrNameLst>
                                      </p:cBhvr>
                                      <p:tavLst>
                                        <p:tav tm="0">
                                          <p:val>
                                            <p:strVal val="#ppt_x"/>
                                          </p:val>
                                        </p:tav>
                                        <p:tav tm="100000">
                                          <p:val>
                                            <p:strVal val="#ppt_x"/>
                                          </p:val>
                                        </p:tav>
                                      </p:tavLst>
                                    </p:anim>
                                    <p:anim calcmode="lin" valueType="num">
                                      <p:cBhvr>
                                        <p:cTn id="16" dur="500" fill="hold"/>
                                        <p:tgtEl>
                                          <p:spTgt spid="36"/>
                                        </p:tgtEl>
                                        <p:attrNameLst>
                                          <p:attrName>ppt_y</p:attrName>
                                        </p:attrNameLst>
                                      </p:cBhvr>
                                      <p:tavLst>
                                        <p:tav tm="0">
                                          <p:val>
                                            <p:strVal val="#ppt_y+.1"/>
                                          </p:val>
                                        </p:tav>
                                        <p:tav tm="100000">
                                          <p:val>
                                            <p:strVal val="#ppt_y"/>
                                          </p:val>
                                        </p:tav>
                                      </p:tavLst>
                                    </p:anim>
                                  </p:childTnLst>
                                </p:cTn>
                              </p:par>
                              <p:par>
                                <p:cTn id="17" presetID="1" presetClass="exit" presetSubtype="0" fill="hold" nodeType="withEffect">
                                  <p:stCondLst>
                                    <p:cond delay="0"/>
                                  </p:stCondLst>
                                  <p:childTnLst>
                                    <p:set>
                                      <p:cBhvr>
                                        <p:cTn id="18" dur="1" fill="hold">
                                          <p:stCondLst>
                                            <p:cond delay="0"/>
                                          </p:stCondLst>
                                        </p:cTn>
                                        <p:tgtEl>
                                          <p:spTgt spid="2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ppt_x</p:attrName>
                                        </p:attrNameLst>
                                      </p:cBhvr>
                                      <p:tavLst>
                                        <p:tav tm="0">
                                          <p:val>
                                            <p:strVal val="#ppt_x"/>
                                          </p:val>
                                        </p:tav>
                                        <p:tav tm="100000">
                                          <p:val>
                                            <p:strVal val="#ppt_x"/>
                                          </p:val>
                                        </p:tav>
                                      </p:tavLst>
                                    </p:anim>
                                    <p:anim calcmode="lin" valueType="num">
                                      <p:cBhvr>
                                        <p:cTn id="3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nodeType="clickEffect">
                                  <p:stCondLst>
                                    <p:cond delay="0"/>
                                  </p:stCondLst>
                                  <p:childTnLst>
                                    <p:animMotion origin="layout" path="M 1.875E-6 -1.48148E-6 L -0.13177 0.31991 " pathEditMode="relative" rAng="0" ptsTypes="AA">
                                      <p:cBhvr>
                                        <p:cTn id="34" dur="1000" fill="hold"/>
                                        <p:tgtEl>
                                          <p:spTgt spid="19"/>
                                        </p:tgtEl>
                                        <p:attrNameLst>
                                          <p:attrName>ppt_x</p:attrName>
                                          <p:attrName>ppt_y</p:attrName>
                                        </p:attrNameLst>
                                      </p:cBhvr>
                                      <p:rCtr x="-6589" y="15995"/>
                                    </p:animMotion>
                                  </p:childTnLst>
                                </p:cTn>
                              </p:par>
                              <p:par>
                                <p:cTn id="35" presetID="1" presetClass="exit" presetSubtype="0" fill="hold" nodeType="withEffect">
                                  <p:stCondLst>
                                    <p:cond delay="0"/>
                                  </p:stCondLst>
                                  <p:childTnLst>
                                    <p:set>
                                      <p:cBhvr>
                                        <p:cTn id="36" dur="1" fill="hold">
                                          <p:stCondLst>
                                            <p:cond delay="0"/>
                                          </p:stCondLst>
                                        </p:cTn>
                                        <p:tgtEl>
                                          <p:spTgt spid="22"/>
                                        </p:tgtEl>
                                        <p:attrNameLst>
                                          <p:attrName>style.visibility</p:attrName>
                                        </p:attrNameLst>
                                      </p:cBhvr>
                                      <p:to>
                                        <p:strVal val="hidden"/>
                                      </p:to>
                                    </p:set>
                                  </p:child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fill="hold"/>
                                        <p:tgtEl>
                                          <p:spTgt spid="10"/>
                                        </p:tgtEl>
                                        <p:attrNameLst>
                                          <p:attrName>ppt_x</p:attrName>
                                        </p:attrNameLst>
                                      </p:cBhvr>
                                      <p:tavLst>
                                        <p:tav tm="0">
                                          <p:val>
                                            <p:strVal val="#ppt_x"/>
                                          </p:val>
                                        </p:tav>
                                        <p:tav tm="100000">
                                          <p:val>
                                            <p:strVal val="#ppt_x"/>
                                          </p:val>
                                        </p:tav>
                                      </p:tavLst>
                                    </p:anim>
                                    <p:anim calcmode="lin" valueType="num">
                                      <p:cBhvr>
                                        <p:cTn id="4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36" grpId="0" animBg="1"/>
      <p:bldP spid="39"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C1D3569-172E-00B0-3517-61999F7CA615}"/>
              </a:ext>
            </a:extLst>
          </p:cNvPr>
          <p:cNvPicPr>
            <a:picLocks noChangeAspect="1"/>
          </p:cNvPicPr>
          <p:nvPr/>
        </p:nvPicPr>
        <p:blipFill rotWithShape="1">
          <a:blip r:embed="rId2"/>
          <a:srcRect l="34664" t="72556" r="36070" b="10369"/>
          <a:stretch/>
        </p:blipFill>
        <p:spPr>
          <a:xfrm>
            <a:off x="8562975" y="1838324"/>
            <a:ext cx="2908975" cy="2828926"/>
          </a:xfrm>
          <a:prstGeom prst="rect">
            <a:avLst/>
          </a:prstGeom>
        </p:spPr>
      </p:pic>
      <p:sp>
        <p:nvSpPr>
          <p:cNvPr id="4" name="文本框 3">
            <a:extLst>
              <a:ext uri="{FF2B5EF4-FFF2-40B4-BE49-F238E27FC236}">
                <a16:creationId xmlns:a16="http://schemas.microsoft.com/office/drawing/2014/main" id="{16F4EE5A-7C6B-5E8F-AD10-8AD6045CB6A7}"/>
              </a:ext>
            </a:extLst>
          </p:cNvPr>
          <p:cNvSpPr txBox="1"/>
          <p:nvPr/>
        </p:nvSpPr>
        <p:spPr>
          <a:xfrm>
            <a:off x="1892008" y="335581"/>
            <a:ext cx="8689198" cy="769441"/>
          </a:xfrm>
          <a:prstGeom prst="rect">
            <a:avLst/>
          </a:prstGeom>
          <a:noFill/>
        </p:spPr>
        <p:txBody>
          <a:bodyPr wrap="square" rtlCol="0">
            <a:spAutoFit/>
          </a:bodyPr>
          <a:lstStyle/>
          <a:p>
            <a:r>
              <a:rPr lang="zh-CN" altLang="en-US" sz="4400" b="1" dirty="0">
                <a:latin typeface="华文中宋" panose="02010600040101010101" pitchFamily="2" charset="-122"/>
                <a:ea typeface="华文中宋" panose="02010600040101010101" pitchFamily="2" charset="-122"/>
              </a:rPr>
              <a:t>祝大家考试顺利   挂科比不挂科难</a:t>
            </a:r>
            <a:endParaRPr lang="en-US" altLang="zh-CN" sz="4400" b="1" dirty="0">
              <a:latin typeface="华文中宋" panose="02010600040101010101" pitchFamily="2" charset="-122"/>
              <a:ea typeface="华文中宋" panose="02010600040101010101" pitchFamily="2" charset="-122"/>
            </a:endParaRPr>
          </a:p>
        </p:txBody>
      </p:sp>
      <p:pic>
        <p:nvPicPr>
          <p:cNvPr id="5" name="图片 4" descr="网协C语言串讲群">
            <a:extLst>
              <a:ext uri="{FF2B5EF4-FFF2-40B4-BE49-F238E27FC236}">
                <a16:creationId xmlns:a16="http://schemas.microsoft.com/office/drawing/2014/main" id="{E8D366CD-5F92-48A6-92A4-C61F6992BFCF}"/>
              </a:ext>
            </a:extLst>
          </p:cNvPr>
          <p:cNvPicPr>
            <a:picLocks noChangeAspect="1"/>
          </p:cNvPicPr>
          <p:nvPr/>
        </p:nvPicPr>
        <p:blipFill>
          <a:blip r:embed="rId3"/>
          <a:stretch>
            <a:fillRect/>
          </a:stretch>
        </p:blipFill>
        <p:spPr>
          <a:xfrm>
            <a:off x="4596936" y="1185599"/>
            <a:ext cx="3719834" cy="3703876"/>
          </a:xfrm>
          <a:prstGeom prst="rect">
            <a:avLst/>
          </a:prstGeom>
        </p:spPr>
      </p:pic>
      <p:sp>
        <p:nvSpPr>
          <p:cNvPr id="6" name="文本框 5">
            <a:extLst>
              <a:ext uri="{FF2B5EF4-FFF2-40B4-BE49-F238E27FC236}">
                <a16:creationId xmlns:a16="http://schemas.microsoft.com/office/drawing/2014/main" id="{5DC70C4E-9270-4268-B5C9-E384F0B226BF}"/>
              </a:ext>
            </a:extLst>
          </p:cNvPr>
          <p:cNvSpPr txBox="1"/>
          <p:nvPr/>
        </p:nvSpPr>
        <p:spPr>
          <a:xfrm>
            <a:off x="4656439" y="4931770"/>
            <a:ext cx="3719834" cy="769441"/>
          </a:xfrm>
          <a:prstGeom prst="rect">
            <a:avLst/>
          </a:prstGeom>
          <a:noFill/>
        </p:spPr>
        <p:txBody>
          <a:bodyPr wrap="square" rtlCol="0">
            <a:spAutoFit/>
          </a:bodyPr>
          <a:lstStyle/>
          <a:p>
            <a:pPr algn="ctr"/>
            <a:r>
              <a:rPr lang="zh-CN" altLang="en-US" sz="2400" dirty="0"/>
              <a:t>网协串讲与编程交流群</a:t>
            </a:r>
            <a:endParaRPr lang="en-US" altLang="zh-CN" sz="2400" dirty="0"/>
          </a:p>
          <a:p>
            <a:pPr algn="ctr"/>
            <a:r>
              <a:rPr lang="zh-CN" altLang="en-US" sz="2000" dirty="0"/>
              <a:t>喜欢编程的同学欢迎加群</a:t>
            </a:r>
            <a:endParaRPr lang="en-US" altLang="zh-CN" sz="2000" dirty="0"/>
          </a:p>
        </p:txBody>
      </p:sp>
      <p:sp>
        <p:nvSpPr>
          <p:cNvPr id="7" name="文本框 6">
            <a:extLst>
              <a:ext uri="{FF2B5EF4-FFF2-40B4-BE49-F238E27FC236}">
                <a16:creationId xmlns:a16="http://schemas.microsoft.com/office/drawing/2014/main" id="{844CF48D-99D2-4604-B497-FF9B5F637095}"/>
              </a:ext>
            </a:extLst>
          </p:cNvPr>
          <p:cNvSpPr txBox="1"/>
          <p:nvPr/>
        </p:nvSpPr>
        <p:spPr>
          <a:xfrm>
            <a:off x="559577" y="5070560"/>
            <a:ext cx="3056748" cy="523220"/>
          </a:xfrm>
          <a:prstGeom prst="rect">
            <a:avLst/>
          </a:prstGeom>
          <a:noFill/>
        </p:spPr>
        <p:txBody>
          <a:bodyPr wrap="square" rtlCol="0">
            <a:spAutoFit/>
          </a:bodyPr>
          <a:lstStyle/>
          <a:p>
            <a:pPr algn="l"/>
            <a:r>
              <a:rPr lang="zh-CN" altLang="en-US" sz="2800" dirty="0">
                <a:sym typeface="+mn-ea"/>
              </a:rPr>
              <a:t>NetPioneer公众号</a:t>
            </a:r>
            <a:endParaRPr lang="zh-CN" altLang="en-US" sz="2800" dirty="0"/>
          </a:p>
        </p:txBody>
      </p:sp>
      <p:pic>
        <p:nvPicPr>
          <p:cNvPr id="8" name="图片 7" descr="NetPioneer_QR">
            <a:extLst>
              <a:ext uri="{FF2B5EF4-FFF2-40B4-BE49-F238E27FC236}">
                <a16:creationId xmlns:a16="http://schemas.microsoft.com/office/drawing/2014/main" id="{47AC3349-6E7E-484C-ABB0-0A2AB4B65C23}"/>
              </a:ext>
            </a:extLst>
          </p:cNvPr>
          <p:cNvPicPr>
            <a:picLocks noChangeAspect="1"/>
          </p:cNvPicPr>
          <p:nvPr/>
        </p:nvPicPr>
        <p:blipFill>
          <a:blip r:embed="rId4"/>
          <a:stretch>
            <a:fillRect/>
          </a:stretch>
        </p:blipFill>
        <p:spPr>
          <a:xfrm>
            <a:off x="177508" y="1147317"/>
            <a:ext cx="3820886" cy="3820886"/>
          </a:xfrm>
          <a:prstGeom prst="rect">
            <a:avLst/>
          </a:prstGeom>
        </p:spPr>
      </p:pic>
      <mc:AlternateContent xmlns:mc="http://schemas.openxmlformats.org/markup-compatibility/2006">
        <mc:Choice xmlns:p14="http://schemas.microsoft.com/office/powerpoint/2010/main" Requires="p14">
          <p:contentPart p14:bwMode="auto" r:id="rId5">
            <p14:nvContentPartPr>
              <p14:cNvPr id="9" name="墨迹 8">
                <a:extLst>
                  <a:ext uri="{FF2B5EF4-FFF2-40B4-BE49-F238E27FC236}">
                    <a16:creationId xmlns:a16="http://schemas.microsoft.com/office/drawing/2014/main" id="{6179855A-45FE-4406-BE9D-FAF69E9FB2E7}"/>
                  </a:ext>
                </a:extLst>
              </p14:cNvPr>
              <p14:cNvContentPartPr/>
              <p14:nvPr/>
            </p14:nvContentPartPr>
            <p14:xfrm>
              <a:off x="2038985" y="2714625"/>
              <a:ext cx="8890" cy="360"/>
            </p14:xfrm>
          </p:contentPart>
        </mc:Choice>
        <mc:Fallback>
          <p:pic>
            <p:nvPicPr>
              <p:cNvPr id="9" name="墨迹 8">
                <a:extLst>
                  <a:ext uri="{FF2B5EF4-FFF2-40B4-BE49-F238E27FC236}">
                    <a16:creationId xmlns:a16="http://schemas.microsoft.com/office/drawing/2014/main" id="{6179855A-45FE-4406-BE9D-FAF69E9FB2E7}"/>
                  </a:ext>
                </a:extLst>
              </p:cNvPr>
              <p:cNvPicPr/>
              <p:nvPr/>
            </p:nvPicPr>
            <p:blipFill>
              <a:blip r:embed="rId6"/>
              <a:stretch>
                <a:fillRect/>
              </a:stretch>
            </p:blipFill>
            <p:spPr>
              <a:xfrm>
                <a:off x="2021561" y="2696985"/>
                <a:ext cx="43028" cy="34920"/>
              </a:xfrm>
              <a:prstGeom prst="rect">
                <a:avLst/>
              </a:prstGeom>
            </p:spPr>
          </p:pic>
        </mc:Fallback>
      </mc:AlternateContent>
      <p:sp>
        <p:nvSpPr>
          <p:cNvPr id="10" name="文本框 9">
            <a:extLst>
              <a:ext uri="{FF2B5EF4-FFF2-40B4-BE49-F238E27FC236}">
                <a16:creationId xmlns:a16="http://schemas.microsoft.com/office/drawing/2014/main" id="{16B5CCAD-2C05-4A5F-8897-8080681B2D86}"/>
              </a:ext>
            </a:extLst>
          </p:cNvPr>
          <p:cNvSpPr txBox="1"/>
          <p:nvPr/>
        </p:nvSpPr>
        <p:spPr>
          <a:xfrm>
            <a:off x="8157545" y="4968203"/>
            <a:ext cx="3719834" cy="461665"/>
          </a:xfrm>
          <a:prstGeom prst="rect">
            <a:avLst/>
          </a:prstGeom>
          <a:noFill/>
        </p:spPr>
        <p:txBody>
          <a:bodyPr wrap="square" rtlCol="0">
            <a:spAutoFit/>
          </a:bodyPr>
          <a:lstStyle/>
          <a:p>
            <a:pPr algn="ctr"/>
            <a:r>
              <a:rPr lang="en-US" altLang="zh-CN" sz="2400" dirty="0"/>
              <a:t>C</a:t>
            </a:r>
            <a:r>
              <a:rPr lang="zh-CN" altLang="en-US" sz="2400" dirty="0"/>
              <a:t>语言串讲反馈</a:t>
            </a:r>
            <a:endParaRPr lang="en-US" altLang="zh-CN" sz="2000" dirty="0"/>
          </a:p>
        </p:txBody>
      </p:sp>
    </p:spTree>
    <p:extLst>
      <p:ext uri="{BB962C8B-B14F-4D97-AF65-F5344CB8AC3E}">
        <p14:creationId xmlns:p14="http://schemas.microsoft.com/office/powerpoint/2010/main" val="224835274"/>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99b76639-8fc8-4723-a7bc-696e6118e54c"/>
  <p:tag name="COMMONDATA" val="eyJoZGlkIjoiZThmNjAzMWJlZjFkMmQwODUwMTJkYzE2ODFiYmFmYT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841.28503937008,&quot;width&quot;:10050}"/>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ff69a840-601c-42a0-81cc-4e9ac23f9ead}"/>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58dc04cd-1b39-47ea-a9c2-b94f2dbc13be}"/>
</p:tagLst>
</file>

<file path=ppt/tags/tag1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081,&quot;width&quot;:1345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mp">
      <a:majorFont>
        <a:latin typeface="Microsoft YaHei UI"/>
        <a:ea typeface="微软雅黑"/>
        <a:cs typeface=""/>
      </a:majorFont>
      <a:minorFont>
        <a:latin typeface="Microsoft YaHei U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A7BAE"/>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738</TotalTime>
  <Words>10420</Words>
  <Application>Microsoft Office PowerPoint</Application>
  <PresentationFormat>宽屏</PresentationFormat>
  <Paragraphs>1507</Paragraphs>
  <Slides>137</Slides>
  <Notes>46</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137</vt:i4>
      </vt:variant>
    </vt:vector>
  </HeadingPairs>
  <TitlesOfParts>
    <vt:vector size="156" baseType="lpstr">
      <vt:lpstr>Aptos</vt:lpstr>
      <vt:lpstr>Chinese serif font</vt:lpstr>
      <vt:lpstr>Menlo</vt:lpstr>
      <vt:lpstr>Microsoft YaHei UI</vt:lpstr>
      <vt:lpstr>PingFangSC-Regular</vt:lpstr>
      <vt:lpstr>等线</vt:lpstr>
      <vt:lpstr>汉仪黑方简</vt:lpstr>
      <vt:lpstr>黑体</vt:lpstr>
      <vt:lpstr>华文楷体</vt:lpstr>
      <vt:lpstr>华文中宋</vt:lpstr>
      <vt:lpstr>宋体</vt:lpstr>
      <vt:lpstr>微软雅黑</vt:lpstr>
      <vt:lpstr>Arial</vt:lpstr>
      <vt:lpstr>Calibri</vt:lpstr>
      <vt:lpstr>Calibri Light</vt:lpstr>
      <vt:lpstr>Cambria Math</vt:lpstr>
      <vt:lpstr>Consolas</vt:lpstr>
      <vt:lpstr>Office 主题​​</vt:lpstr>
      <vt:lpstr>2_Office 主题</vt:lpstr>
      <vt:lpstr>网协C语言串讲</vt:lpstr>
      <vt:lpstr>PowerPoint 演示文稿</vt:lpstr>
      <vt:lpstr>数据类型</vt:lpstr>
      <vt:lpstr>数据类型</vt:lpstr>
      <vt:lpstr>运算符——优先级与方向</vt:lpstr>
      <vt:lpstr>运算符——优先级与方向</vt:lpstr>
      <vt:lpstr>运算符——优先级与方向</vt:lpstr>
      <vt:lpstr>运算符——分类</vt:lpstr>
      <vt:lpstr>运算符——分类</vt:lpstr>
      <vt:lpstr>运算符——实例</vt:lpstr>
      <vt:lpstr>运算符——实例</vt:lpstr>
      <vt:lpstr>运算——浮点数判等</vt:lpstr>
      <vt:lpstr>运算——类型转化</vt:lpstr>
      <vt:lpstr>运算——类型转化</vt:lpstr>
      <vt:lpstr>运算——类型转化</vt:lpstr>
      <vt:lpstr>格式化输入输出</vt:lpstr>
      <vt:lpstr>格式化输入输出</vt:lpstr>
      <vt:lpstr>格式化输入</vt:lpstr>
      <vt:lpstr>格式化输出</vt:lpstr>
      <vt:lpstr>格式化输出——转义序列</vt:lpstr>
      <vt:lpstr>格式化输出——转义序列</vt:lpstr>
      <vt:lpstr>PowerPoint 演示文稿</vt:lpstr>
      <vt:lpstr>PowerPoint 演示文稿</vt:lpstr>
      <vt:lpstr>流程控制</vt:lpstr>
      <vt:lpstr>分支与跳转——if类</vt:lpstr>
      <vt:lpstr>分支与跳转——if类实例</vt:lpstr>
      <vt:lpstr>分支与跳转——条件运算符   ？ ：</vt:lpstr>
      <vt:lpstr>分支与跳转——switch</vt:lpstr>
      <vt:lpstr>分支与跳转——switch实例</vt:lpstr>
      <vt:lpstr>分支与跳转——switch实例</vt:lpstr>
      <vt:lpstr>循环——for，while，do-while</vt:lpstr>
      <vt:lpstr>循环——for，while，do-while实例</vt:lpstr>
      <vt:lpstr>循环——for，while，do-while实例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字符串–定义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文件-打开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基本类型</dc:title>
  <dc:creator>ma mao</dc:creator>
  <cp:lastModifiedBy>Aaron Gao</cp:lastModifiedBy>
  <cp:revision>264</cp:revision>
  <dcterms:created xsi:type="dcterms:W3CDTF">2021-06-03T02:08:00Z</dcterms:created>
  <dcterms:modified xsi:type="dcterms:W3CDTF">2023-12-22T18:16:53Z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E353180FCF5949AE86E394870C9CA723</vt:lpwstr>
  </property>
</Properties>
</file>