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notesMasterIdLst>
    <p:notesMasterId r:id="rId22"/>
  </p:notesMasterIdLst>
  <p:sldIdLst>
    <p:sldId id="310" r:id="rId2"/>
    <p:sldId id="316" r:id="rId3"/>
    <p:sldId id="260" r:id="rId4"/>
    <p:sldId id="261" r:id="rId5"/>
    <p:sldId id="262" r:id="rId6"/>
    <p:sldId id="263" r:id="rId7"/>
    <p:sldId id="311" r:id="rId8"/>
    <p:sldId id="264" r:id="rId9"/>
    <p:sldId id="265" r:id="rId10"/>
    <p:sldId id="267" r:id="rId11"/>
    <p:sldId id="268" r:id="rId12"/>
    <p:sldId id="269" r:id="rId13"/>
    <p:sldId id="271" r:id="rId14"/>
    <p:sldId id="272" r:id="rId15"/>
    <p:sldId id="273" r:id="rId16"/>
    <p:sldId id="312" r:id="rId17"/>
    <p:sldId id="313" r:id="rId18"/>
    <p:sldId id="314" r:id="rId19"/>
    <p:sldId id="317" r:id="rId20"/>
    <p:sldId id="315" r:id="rId2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787"/>
    <p:restoredTop sz="98845" autoAdjust="0"/>
  </p:normalViewPr>
  <p:slideViewPr>
    <p:cSldViewPr>
      <p:cViewPr>
        <p:scale>
          <a:sx n="91" d="100"/>
          <a:sy n="91" d="100"/>
        </p:scale>
        <p:origin x="-442" y="-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5534286E-4DBF-4BF3-820C-00BC405F333A}" type="datetimeFigureOut">
              <a:rPr lang="zh-CN" altLang="en-US"/>
              <a:pPr>
                <a:defRPr/>
              </a:pPr>
              <a:t>2013/6/14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F63FA958-CF43-4E3B-920A-6B5038B15C9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239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63FA958-CF43-4E3B-920A-6B5038B15C91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86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2458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3932E330-2417-4C0F-BE17-3294C59259A2}" type="slidenum">
              <a:rPr lang="zh-CN" altLang="en-US" sz="1200"/>
              <a:pPr eaLnBrk="1" hangingPunct="1"/>
              <a:t>5</a:t>
            </a:fld>
            <a:endParaRPr lang="zh-CN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duotone>
              <a:schemeClr val="bg2"/>
              <a:srgbClr val="FFF1C1"/>
            </a:duotone>
            <a:lum bright="-10000" contrast="-40000"/>
          </a:blip>
          <a:stretch>
            <a:fillRect/>
          </a:stretch>
        </p:blipFill>
        <p:spPr>
          <a:xfrm>
            <a:off x="1" y="5214950"/>
            <a:ext cx="1472173" cy="16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214422"/>
            <a:ext cx="7772400" cy="1470025"/>
          </a:xfrm>
        </p:spPr>
        <p:txBody>
          <a:bodyPr/>
          <a:lstStyle>
            <a:lvl1pPr algn="ctr">
              <a:defRPr sz="48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1733" y="2759581"/>
            <a:ext cx="6100534" cy="1740989"/>
          </a:xfrm>
        </p:spPr>
        <p:txBody>
          <a:bodyPr anchor="t"/>
          <a:lstStyle>
            <a:lvl1pPr marL="0" indent="0" algn="ctr">
              <a:buNone/>
              <a:defRPr lang="zh-CN" altLang="en-US" dirty="0"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链表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913054-8C16-41F5-9CDF-AC2FC0CCD40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链表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B9B93B-61C4-468C-B194-F2C68AE2B35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143369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643182"/>
            <a:ext cx="7772400" cy="1500187"/>
          </a:xfrm>
        </p:spPr>
        <p:txBody>
          <a:bodyPr anchor="b"/>
          <a:lstStyle>
            <a:lvl1pPr marL="0" indent="0">
              <a:buNone/>
              <a:defRPr lang="zh-CN" altLang="en-US" sz="2800" smtClean="0">
                <a:effectLst/>
              </a:defRPr>
            </a:lvl1pPr>
            <a:lvl2pPr marL="457200" indent="0">
              <a:buNone/>
              <a:defRPr lang="zh-CN" altLang="en-US" sz="2400" smtClean="0">
                <a:effectLst/>
              </a:defRPr>
            </a:lvl2pPr>
            <a:lvl3pPr marL="914400" indent="0">
              <a:buNone/>
              <a:defRPr lang="zh-CN" altLang="en-US" sz="2000" smtClean="0">
                <a:effectLst/>
              </a:defRPr>
            </a:lvl3pPr>
            <a:lvl4pPr marL="1371600" indent="0">
              <a:buNone/>
              <a:defRPr lang="zh-CN" altLang="en-US" sz="1600" smtClean="0">
                <a:effectLst/>
              </a:defRPr>
            </a:lvl4pPr>
            <a:lvl5pPr marL="1828800" indent="0">
              <a:buNone/>
              <a:defRPr lang="zh-CN" altLang="en-US" sz="1400" dirty="0" smtClean="0">
                <a:effectLst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链表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81CE5F-5214-4F41-B78F-A9F5CEC9BA7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duotone>
              <a:schemeClr val="bg2"/>
              <a:srgbClr val="FFF1C1"/>
            </a:duotone>
            <a:lum bright="-10000" contrast="-30000"/>
          </a:blip>
          <a:stretch>
            <a:fillRect/>
          </a:stretch>
        </p:blipFill>
        <p:spPr>
          <a:xfrm>
            <a:off x="7480636" y="0"/>
            <a:ext cx="1663364" cy="235743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552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链表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BBC8C6-BFF8-4B98-80A4-F677E5754B1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6408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链表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445984-5810-415C-821A-395873FC0DC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链表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263DA-CE98-45A0-A326-28870C8C493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链表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3B548A-318C-493E-888C-A7BDAD51A45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732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1175" y="5357826"/>
            <a:ext cx="8226225" cy="768028"/>
          </a:xfrm>
        </p:spPr>
        <p:txBody>
          <a:bodyPr anchor="ctr"/>
          <a:lstStyle>
            <a:lvl1pPr algn="ctr">
              <a:defRPr lang="zh-CN" altLang="en-US" sz="3600" b="0" kern="1200" spc="50" dirty="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428604"/>
            <a:ext cx="5111750" cy="48577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6" y="1357298"/>
            <a:ext cx="3008313" cy="39290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链表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7DBB6A-4240-41DE-89A0-452F5775E66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298" y="214290"/>
            <a:ext cx="7448602" cy="781052"/>
          </a:xfrm>
        </p:spPr>
        <p:txBody>
          <a:bodyPr anchor="ctr"/>
          <a:lstStyle>
            <a:lvl1pPr algn="ctr" rtl="0">
              <a:spcBef>
                <a:spcPct val="0"/>
              </a:spcBef>
              <a:buNone/>
              <a:defRPr sz="36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1015" y="1000108"/>
            <a:ext cx="7452360" cy="5214974"/>
          </a:xfrm>
          <a:prstGeom prst="snip2DiagRect">
            <a:avLst>
              <a:gd name="adj1" fmla="val 0"/>
              <a:gd name="adj2" fmla="val 1794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0" y="6243633"/>
            <a:ext cx="3180375" cy="614367"/>
          </a:xfrm>
        </p:spPr>
        <p:txBody>
          <a:bodyPr anchor="t"/>
          <a:lstStyle>
            <a:lvl1pPr marL="0" indent="0" algn="r">
              <a:buNone/>
              <a:defRPr sz="1400"/>
            </a:lvl1pPr>
            <a:lvl2pPr marL="457200" indent="0" algn="r">
              <a:buNone/>
              <a:defRPr sz="1200"/>
            </a:lvl2pPr>
            <a:lvl3pPr marL="914400" indent="0" algn="r">
              <a:buNone/>
              <a:defRPr sz="1000"/>
            </a:lvl3pPr>
            <a:lvl4pPr marL="1371600" indent="0" algn="r">
              <a:buNone/>
              <a:defRPr sz="900"/>
            </a:lvl4pPr>
            <a:lvl5pPr marL="1828800" indent="0" algn="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492878"/>
            <a:ext cx="1676384" cy="365125"/>
          </a:xfr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2285984" y="6492876"/>
            <a:ext cx="2643206" cy="365125"/>
          </a:xfrm>
        </p:spPr>
        <p:txBody>
          <a:bodyPr/>
          <a:lstStyle/>
          <a:p>
            <a:pPr>
              <a:defRPr/>
            </a:pPr>
            <a:r>
              <a:rPr lang="zh-CN" altLang="en-US" smtClean="0"/>
              <a:t>链表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83073" y="5347005"/>
            <a:ext cx="871200" cy="871200"/>
          </a:xfrm>
          <a:prstGeom prst="rtTriangl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fld id="{E80F5000-CAE2-4DF6-9236-6B179E6625E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00176"/>
            <a:ext cx="8229600" cy="4714907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链表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377493-F412-4F37-AE09-26629BEE488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86644" y="274638"/>
            <a:ext cx="1400156" cy="5940444"/>
          </a:xfrm>
        </p:spPr>
        <p:txBody>
          <a:bodyPr vert="eaVert"/>
          <a:lstStyle>
            <a:lvl1pPr algn="ctr">
              <a:defRPr>
                <a:effectLst>
                  <a:outerShdw dist="50800" dir="18900000" algn="tl" rotWithShape="0">
                    <a:srgbClr val="000000">
                      <a:alpha val="75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758006" cy="5940444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链表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73F5D4-2122-4ECC-9EAC-96417134F60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76000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274320" rtlCol="0" anchor="ctr"/>
          <a:lstStyle>
            <a:lvl1pPr algn="l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zh-CN" altLang="en-US" smtClean="0"/>
              <a:t>链表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45720" tIns="45720" rIns="45720" rtlCol="0" anchor="ctr"/>
          <a:lstStyle>
            <a:lvl1pPr algn="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AE81476-E5ED-4702-9712-99F5400EC45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ransition>
    <p:fade thruBlk="1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latinLnBrk="0" hangingPunct="1">
        <a:spcBef>
          <a:spcPct val="0"/>
        </a:spcBef>
        <a:buNone/>
        <a:defRPr kumimoji="0" lang="zh-CN" altLang="en-US" sz="4400" b="0" kern="1200" spc="50" dirty="0">
          <a:ln w="12700">
            <a:noFill/>
            <a:prstDash val="solid"/>
          </a:ln>
          <a:solidFill>
            <a:schemeClr val="accent4"/>
          </a:solidFill>
          <a:effectLst>
            <a:outerShdw blurRad="38100" dist="20320" dir="2700000" algn="tl" rotWithShape="0">
              <a:srgbClr val="000000">
                <a:alpha val="70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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9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0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 descr="C:\Users\ZQ\Documents\Tencent Files\706689467\FileRecv\网协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3406" y="188640"/>
            <a:ext cx="3350594" cy="134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2078367" y="1844824"/>
            <a:ext cx="4987264" cy="293926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zh-CN" altLang="en-US" sz="18500" b="1" cap="none" spc="150" dirty="0" smtClean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链表</a:t>
            </a:r>
            <a:endParaRPr lang="zh-CN" altLang="en-US" sz="18500" b="1" cap="none" spc="150" dirty="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不要放弃链表题！！！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链表题是程序题中写的最少（只要编写函数），思考最简单（对学生要求不是太高），很容易提分的题目。</a:t>
            </a:r>
            <a:endParaRPr lang="en-US" altLang="zh-CN" dirty="0" smtClean="0"/>
          </a:p>
          <a:p>
            <a:r>
              <a:rPr lang="zh-CN" altLang="en-US" dirty="0" smtClean="0"/>
              <a:t>所以不要因为链表比较复杂而放弃链表题。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Ps</a:t>
            </a:r>
            <a:r>
              <a:rPr lang="zh-CN" altLang="en-US" dirty="0" smtClean="0"/>
              <a:t>：不考链表的同学回去洗洗睡吧。。。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56840411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762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dirty="0" smtClean="0"/>
              <a:t>1.</a:t>
            </a:r>
            <a:r>
              <a:rPr lang="zh-CN" altLang="en-US" dirty="0" smtClean="0"/>
              <a:t>结点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71600"/>
            <a:ext cx="7772400" cy="5105400"/>
          </a:xfrm>
        </p:spPr>
        <p:txBody>
          <a:bodyPr/>
          <a:lstStyle/>
          <a:p>
            <a:pPr eaLnBrk="1" hangingPunct="1"/>
            <a:r>
              <a:rPr lang="en-US" altLang="zh-CN" sz="2800" dirty="0" smtClean="0"/>
              <a:t>1. </a:t>
            </a:r>
            <a:r>
              <a:rPr lang="zh-CN" altLang="en-US" sz="2800" dirty="0" smtClean="0"/>
              <a:t>结点</a:t>
            </a:r>
            <a:r>
              <a:rPr lang="en-US" altLang="zh-CN" sz="2800" dirty="0" smtClean="0"/>
              <a:t>: </a:t>
            </a:r>
            <a:r>
              <a:rPr lang="zh-CN" altLang="en-US" sz="2800" dirty="0" smtClean="0"/>
              <a:t>在</a:t>
            </a:r>
            <a:r>
              <a:rPr lang="zh-CN" altLang="en-US" sz="2800" dirty="0"/>
              <a:t>链表</a:t>
            </a:r>
            <a:r>
              <a:rPr lang="zh-CN" altLang="en-US" sz="2800" dirty="0" smtClean="0"/>
              <a:t>中，结点不仅存放数据元素的值，还附加一个指针，用来指向该结点的后继结点。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 smtClean="0"/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 smtClean="0"/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 smtClean="0"/>
          </a:p>
          <a:p>
            <a:pPr eaLnBrk="1" hangingPunct="1"/>
            <a:r>
              <a:rPr lang="en-US" altLang="zh-CN" sz="2800" dirty="0" smtClean="0"/>
              <a:t>data</a:t>
            </a:r>
            <a:r>
              <a:rPr lang="zh-CN" altLang="en-US" sz="2800" dirty="0" smtClean="0"/>
              <a:t>部分称为数据域，用于存储一个数据</a:t>
            </a:r>
            <a:endParaRPr lang="en-US" altLang="zh-CN" sz="2800" dirty="0" smtClean="0"/>
          </a:p>
          <a:p>
            <a:pPr eaLnBrk="1" hangingPunct="1"/>
            <a:r>
              <a:rPr lang="en-US" altLang="zh-CN" sz="2800" dirty="0" smtClean="0"/>
              <a:t>next</a:t>
            </a:r>
            <a:r>
              <a:rPr lang="zh-CN" altLang="en-US" sz="2800" dirty="0" smtClean="0"/>
              <a:t>部分称为指针域，用于存放一个指针，即存放该结点的直接后继结点的地址。 </a:t>
            </a:r>
          </a:p>
        </p:txBody>
      </p:sp>
      <p:graphicFrame>
        <p:nvGraphicFramePr>
          <p:cNvPr id="4101" name="Object 4"/>
          <p:cNvGraphicFramePr>
            <a:graphicFrameLocks noChangeAspect="1"/>
          </p:cNvGraphicFramePr>
          <p:nvPr/>
        </p:nvGraphicFramePr>
        <p:xfrm>
          <a:off x="2514600" y="2738438"/>
          <a:ext cx="3857625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Picture2" r:id="rId3" imgW="914346" imgH="411480" progId="Word.Picture.8">
                  <p:embed/>
                </p:oleObj>
              </mc:Choice>
              <mc:Fallback>
                <p:oleObj name="Picture2" r:id="rId3" imgW="914346" imgH="411480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738438"/>
                        <a:ext cx="3857625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42888"/>
            <a:ext cx="7467600" cy="6858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dirty="0" smtClean="0"/>
              <a:t>2</a:t>
            </a:r>
            <a:r>
              <a:rPr lang="en-US" altLang="zh-CN" dirty="0" smtClean="0"/>
              <a:t>.</a:t>
            </a:r>
            <a:r>
              <a:rPr lang="zh-CN" altLang="en-US" dirty="0" smtClean="0"/>
              <a:t>链表</a:t>
            </a:r>
            <a:endParaRPr lang="zh-CN" altLang="en-US" dirty="0" smtClean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908050"/>
            <a:ext cx="8839200" cy="53340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链表</a:t>
            </a:r>
            <a:r>
              <a:rPr lang="zh-CN" altLang="en-US" dirty="0" smtClean="0"/>
              <a:t>可直观地画成：</a:t>
            </a:r>
          </a:p>
          <a:p>
            <a:pPr eaLnBrk="1" hangingPunct="1"/>
            <a:endParaRPr lang="zh-CN" altLang="en-US" dirty="0" smtClean="0"/>
          </a:p>
          <a:p>
            <a:pPr eaLnBrk="1" hangingPunct="1"/>
            <a:endParaRPr lang="zh-CN" altLang="en-US" dirty="0" smtClean="0"/>
          </a:p>
          <a:p>
            <a:pPr eaLnBrk="1" hangingPunct="1"/>
            <a:r>
              <a:rPr lang="en-US" altLang="zh-CN" dirty="0" smtClean="0"/>
              <a:t>head</a:t>
            </a:r>
            <a:r>
              <a:rPr lang="zh-CN" altLang="en-US" dirty="0" smtClean="0"/>
              <a:t>是链表</a:t>
            </a:r>
            <a:r>
              <a:rPr lang="zh-CN" altLang="en-US" dirty="0" smtClean="0"/>
              <a:t>的头指针，指向开始结点</a:t>
            </a:r>
            <a:r>
              <a:rPr lang="en-US" altLang="zh-CN" dirty="0" smtClean="0"/>
              <a:t>a</a:t>
            </a:r>
            <a:r>
              <a:rPr lang="en-US" altLang="zh-CN" baseline="-30000" dirty="0" smtClean="0"/>
              <a:t>1</a:t>
            </a:r>
          </a:p>
          <a:p>
            <a:pPr eaLnBrk="1" hangingPunct="1"/>
            <a:endParaRPr lang="en-US" altLang="zh-CN" baseline="-30000" dirty="0"/>
          </a:p>
          <a:p>
            <a:pPr eaLnBrk="1" hangingPunct="1"/>
            <a:r>
              <a:rPr lang="en-US" altLang="zh-CN" dirty="0" smtClean="0"/>
              <a:t>a</a:t>
            </a:r>
            <a:r>
              <a:rPr lang="en-US" altLang="zh-CN" baseline="-30000" dirty="0" smtClean="0"/>
              <a:t>n</a:t>
            </a:r>
            <a:r>
              <a:rPr lang="zh-CN" altLang="en-US" dirty="0" smtClean="0"/>
              <a:t>是终端结点，其指针域为空，不指向任何结点（</a:t>
            </a:r>
            <a:r>
              <a:rPr lang="en-US" altLang="zh-CN" dirty="0" smtClean="0"/>
              <a:t>NULL</a:t>
            </a:r>
            <a:r>
              <a:rPr lang="zh-CN" altLang="en-US" dirty="0" smtClean="0"/>
              <a:t>）</a:t>
            </a:r>
            <a:r>
              <a:rPr lang="zh-CN" altLang="en-US" dirty="0"/>
              <a:t>。</a:t>
            </a:r>
            <a:endParaRPr lang="zh-CN" altLang="en-US" dirty="0" smtClean="0"/>
          </a:p>
        </p:txBody>
      </p:sp>
      <p:graphicFrame>
        <p:nvGraphicFramePr>
          <p:cNvPr id="512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814081"/>
              </p:ext>
            </p:extLst>
          </p:nvPr>
        </p:nvGraphicFramePr>
        <p:xfrm>
          <a:off x="107504" y="1700808"/>
          <a:ext cx="8915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Picture2" r:id="rId3" imgW="3657600" imgH="220968" progId="Word.Picture.8">
                  <p:embed/>
                </p:oleObj>
              </mc:Choice>
              <mc:Fallback>
                <p:oleObj name="Picture2" r:id="rId3" imgW="3657600" imgH="220968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1700808"/>
                        <a:ext cx="89154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7724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dirty="0" smtClean="0">
                <a:latin typeface="Times New Roman" pitchFamily="18" charset="0"/>
              </a:rPr>
              <a:t>3.</a:t>
            </a:r>
            <a:r>
              <a:rPr lang="en-US" altLang="zh-CN" dirty="0" smtClean="0"/>
              <a:t> </a:t>
            </a:r>
            <a:r>
              <a:rPr lang="zh-CN" altLang="en-US" dirty="0" smtClean="0"/>
              <a:t>链表</a:t>
            </a:r>
            <a:r>
              <a:rPr lang="zh-CN" altLang="en-US" dirty="0" smtClean="0"/>
              <a:t>的类型定义 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765175"/>
            <a:ext cx="8458200" cy="59436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假设数据</a:t>
            </a:r>
            <a:r>
              <a:rPr lang="zh-CN" altLang="en-US" dirty="0" smtClean="0"/>
              <a:t>元素的类型为</a:t>
            </a:r>
            <a:r>
              <a:rPr lang="en-US" altLang="zh-CN" dirty="0" err="1" smtClean="0"/>
              <a:t>datatype</a:t>
            </a:r>
            <a:r>
              <a:rPr lang="zh-CN" altLang="en-US" dirty="0" smtClean="0"/>
              <a:t>，链表</a:t>
            </a:r>
            <a:r>
              <a:rPr lang="zh-CN" altLang="en-US" dirty="0" smtClean="0"/>
              <a:t>的类型定义如下：</a:t>
            </a:r>
          </a:p>
          <a:p>
            <a:pPr lvl="1" algn="just" eaLnBrk="1" hangingPunct="1">
              <a:buFontTx/>
              <a:buNone/>
            </a:pPr>
            <a:r>
              <a:rPr lang="en-US" altLang="zh-CN" dirty="0" err="1" smtClean="0"/>
              <a:t>struct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nodetype</a:t>
            </a:r>
            <a:endParaRPr lang="en-US" altLang="zh-CN" dirty="0" smtClean="0"/>
          </a:p>
          <a:p>
            <a:pPr lvl="1" algn="just" eaLnBrk="1" hangingPunct="1">
              <a:buFontTx/>
              <a:buNone/>
            </a:pPr>
            <a:r>
              <a:rPr lang="en-US" altLang="zh-CN" dirty="0" smtClean="0"/>
              <a:t>{   </a:t>
            </a:r>
            <a:r>
              <a:rPr lang="en-US" altLang="zh-CN" dirty="0" err="1" smtClean="0"/>
              <a:t>datatype</a:t>
            </a:r>
            <a:r>
              <a:rPr lang="en-US" altLang="zh-CN" dirty="0" smtClean="0"/>
              <a:t> data;</a:t>
            </a:r>
          </a:p>
          <a:p>
            <a:pPr lvl="1" algn="just" eaLnBrk="1" hangingPunct="1">
              <a:buFontTx/>
              <a:buNone/>
            </a:pPr>
            <a:r>
              <a:rPr lang="en-US" altLang="zh-CN" dirty="0" smtClean="0"/>
              <a:t>      </a:t>
            </a:r>
            <a:r>
              <a:rPr lang="en-US" altLang="zh-CN" dirty="0" err="1" smtClean="0"/>
              <a:t>struct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nodetype</a:t>
            </a:r>
            <a:r>
              <a:rPr lang="en-US" altLang="zh-CN" dirty="0" smtClean="0"/>
              <a:t> * next;</a:t>
            </a:r>
          </a:p>
          <a:p>
            <a:pPr lvl="1" algn="just" eaLnBrk="1" hangingPunct="1">
              <a:buFontTx/>
              <a:buNone/>
            </a:pPr>
            <a:r>
              <a:rPr lang="en-US" altLang="zh-CN" dirty="0" smtClean="0"/>
              <a:t>};</a:t>
            </a:r>
          </a:p>
          <a:p>
            <a:pPr lvl="1" algn="just" eaLnBrk="1" hangingPunct="1">
              <a:buNone/>
            </a:pPr>
            <a:r>
              <a:rPr lang="en-US" altLang="zh-CN" dirty="0" err="1" smtClean="0"/>
              <a:t>typedef</a:t>
            </a:r>
            <a:r>
              <a:rPr lang="en-US" altLang="zh-CN" dirty="0" smtClean="0"/>
              <a:t> </a:t>
            </a:r>
            <a:r>
              <a:rPr lang="en-US" altLang="zh-CN" dirty="0" err="1" smtClean="0">
                <a:solidFill>
                  <a:schemeClr val="tx2">
                    <a:lumMod val="75000"/>
                  </a:schemeClr>
                </a:solidFill>
              </a:rPr>
              <a:t>struct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zh-CN" dirty="0" err="1" smtClean="0">
                <a:solidFill>
                  <a:schemeClr val="tx2">
                    <a:lumMod val="75000"/>
                  </a:schemeClr>
                </a:solidFill>
              </a:rPr>
              <a:t>nodetype</a:t>
            </a:r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node</a:t>
            </a:r>
            <a:r>
              <a:rPr lang="en-US" altLang="zh-CN" dirty="0" smtClean="0"/>
              <a:t>;</a:t>
            </a:r>
          </a:p>
          <a:p>
            <a:pPr lvl="1" algn="just" eaLnBrk="1" hangingPunct="1">
              <a:buNone/>
            </a:pPr>
            <a:r>
              <a:rPr lang="en-US" altLang="zh-CN" dirty="0" err="1" smtClean="0"/>
              <a:t>typedef</a:t>
            </a:r>
            <a:r>
              <a:rPr lang="en-US" altLang="zh-CN" dirty="0" smtClean="0"/>
              <a:t> </a:t>
            </a:r>
            <a:r>
              <a:rPr lang="en-US" altLang="zh-CN" dirty="0" err="1" smtClean="0">
                <a:solidFill>
                  <a:schemeClr val="tx2">
                    <a:lumMod val="75000"/>
                  </a:schemeClr>
                </a:solidFill>
              </a:rPr>
              <a:t>struct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zh-CN" dirty="0" err="1" smtClean="0">
                <a:solidFill>
                  <a:schemeClr val="tx2">
                    <a:lumMod val="75000"/>
                  </a:schemeClr>
                </a:solidFill>
              </a:rPr>
              <a:t>nodetype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</a:rPr>
              <a:t>  * </a:t>
            </a:r>
            <a:r>
              <a:rPr lang="en-US" altLang="zh-CN" dirty="0" err="1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pnode</a:t>
            </a:r>
            <a:r>
              <a:rPr lang="en-US" altLang="zh-CN" dirty="0" smtClean="0"/>
              <a:t>;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772400" cy="6858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dirty="0" smtClean="0">
                <a:latin typeface="Times New Roman" pitchFamily="18" charset="0"/>
              </a:rPr>
              <a:t>4.</a:t>
            </a:r>
            <a:r>
              <a:rPr lang="en-US" altLang="zh-CN" dirty="0" smtClean="0"/>
              <a:t> </a:t>
            </a:r>
            <a:r>
              <a:rPr lang="zh-CN" altLang="en-US" dirty="0" smtClean="0"/>
              <a:t>指针的概念 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idx="1"/>
          </p:nvPr>
        </p:nvSpPr>
        <p:spPr>
          <a:xfrm>
            <a:off x="207963" y="1025525"/>
            <a:ext cx="8610600" cy="54102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假设</a:t>
            </a:r>
            <a:r>
              <a:rPr lang="en-US" altLang="zh-CN" dirty="0" smtClean="0"/>
              <a:t>p</a:t>
            </a:r>
            <a:r>
              <a:rPr lang="zh-CN" altLang="en-US" dirty="0" smtClean="0"/>
              <a:t>是一个</a:t>
            </a:r>
            <a:r>
              <a:rPr lang="en-US" altLang="zh-CN" dirty="0" err="1" smtClean="0"/>
              <a:t>pnode</a:t>
            </a:r>
            <a:r>
              <a:rPr lang="zh-CN" altLang="en-US" dirty="0" smtClean="0"/>
              <a:t>类型，那么会出现</a:t>
            </a:r>
          </a:p>
          <a:p>
            <a:pPr lvl="1"/>
            <a:r>
              <a:rPr lang="en-US" altLang="zh-CN" dirty="0"/>
              <a:t>p</a:t>
            </a:r>
            <a:r>
              <a:rPr lang="zh-CN" altLang="en-US" dirty="0" smtClean="0"/>
              <a:t>，</a:t>
            </a:r>
            <a:r>
              <a:rPr lang="en-US" altLang="zh-CN" dirty="0" smtClean="0"/>
              <a:t>p</a:t>
            </a:r>
            <a:r>
              <a:rPr lang="en-US" altLang="zh-CN" dirty="0" smtClean="0">
                <a:latin typeface="宋体" pitchFamily="2" charset="-122"/>
                <a:sym typeface="Wingdings" pitchFamily="2" charset="2"/>
              </a:rPr>
              <a:t>-&gt;</a:t>
            </a:r>
            <a:r>
              <a:rPr lang="en-US" altLang="zh-CN" dirty="0" smtClean="0"/>
              <a:t>data</a:t>
            </a:r>
            <a:r>
              <a:rPr lang="zh-CN" altLang="en-US" dirty="0" smtClean="0"/>
              <a:t>，</a:t>
            </a:r>
            <a:r>
              <a:rPr lang="en-US" altLang="zh-CN" dirty="0" smtClean="0">
                <a:sym typeface="Wingdings" pitchFamily="2" charset="2"/>
              </a:rPr>
              <a:t>p</a:t>
            </a:r>
            <a:r>
              <a:rPr lang="en-US" altLang="zh-CN" dirty="0" smtClean="0">
                <a:latin typeface="宋体" pitchFamily="2" charset="-122"/>
                <a:sym typeface="Wingdings" pitchFamily="2" charset="2"/>
              </a:rPr>
              <a:t>-&gt;</a:t>
            </a:r>
            <a:r>
              <a:rPr lang="en-US" altLang="zh-CN" dirty="0" smtClean="0"/>
              <a:t>next , p </a:t>
            </a:r>
            <a:r>
              <a:rPr lang="en-US" altLang="zh-CN" dirty="0" smtClean="0">
                <a:latin typeface="宋体" pitchFamily="2" charset="-122"/>
                <a:sym typeface="Wingdings" pitchFamily="2" charset="2"/>
              </a:rPr>
              <a:t>-&gt;</a:t>
            </a:r>
            <a:r>
              <a:rPr lang="en-US" altLang="zh-CN" dirty="0" smtClean="0">
                <a:sym typeface="Wingdings" pitchFamily="2" charset="2"/>
              </a:rPr>
              <a:t>next</a:t>
            </a:r>
            <a:r>
              <a:rPr lang="en-US" altLang="zh-CN" dirty="0" smtClean="0">
                <a:latin typeface="宋体" pitchFamily="2" charset="-122"/>
                <a:sym typeface="Wingdings" pitchFamily="2" charset="2"/>
              </a:rPr>
              <a:t>-&gt;</a:t>
            </a:r>
            <a:r>
              <a:rPr lang="en-US" altLang="zh-CN" dirty="0" smtClean="0">
                <a:sym typeface="Wingdings" pitchFamily="2" charset="2"/>
              </a:rPr>
              <a:t>data</a:t>
            </a:r>
            <a:endParaRPr lang="en-US" altLang="zh-CN" dirty="0" smtClean="0"/>
          </a:p>
          <a:p>
            <a:pPr lvl="1" eaLnBrk="1" hangingPunct="1"/>
            <a:endParaRPr lang="en-US" altLang="zh-CN" dirty="0" smtClean="0"/>
          </a:p>
          <a:p>
            <a:pPr lvl="1" eaLnBrk="1" hangingPunct="1"/>
            <a:endParaRPr lang="en-US" altLang="zh-CN" dirty="0" smtClean="0"/>
          </a:p>
          <a:p>
            <a:pPr lvl="1" eaLnBrk="1" hangingPunct="1"/>
            <a:endParaRPr lang="en-US" altLang="zh-CN" dirty="0"/>
          </a:p>
          <a:p>
            <a:pPr lvl="1" eaLnBrk="1" hangingPunct="1"/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p: 0x123</a:t>
            </a:r>
          </a:p>
          <a:p>
            <a:pPr lvl="1"/>
            <a:r>
              <a:rPr lang="en-US" altLang="zh-CN" dirty="0"/>
              <a:t>p</a:t>
            </a:r>
            <a:r>
              <a:rPr lang="en-US" altLang="zh-CN" dirty="0">
                <a:latin typeface="宋体" pitchFamily="2" charset="-122"/>
                <a:sym typeface="Wingdings" pitchFamily="2" charset="2"/>
              </a:rPr>
              <a:t>-&gt;</a:t>
            </a:r>
            <a:r>
              <a:rPr lang="en-US" altLang="zh-CN" dirty="0"/>
              <a:t>data </a:t>
            </a:r>
            <a:r>
              <a:rPr lang="en-US" altLang="zh-CN" dirty="0" smtClean="0"/>
              <a:t>: 3</a:t>
            </a:r>
          </a:p>
          <a:p>
            <a:pPr lvl="1"/>
            <a:r>
              <a:rPr lang="en-US" altLang="zh-CN" dirty="0">
                <a:sym typeface="Wingdings" pitchFamily="2" charset="2"/>
              </a:rPr>
              <a:t>p</a:t>
            </a:r>
            <a:r>
              <a:rPr lang="en-US" altLang="zh-CN" dirty="0">
                <a:latin typeface="宋体" pitchFamily="2" charset="-122"/>
                <a:sym typeface="Wingdings" pitchFamily="2" charset="2"/>
              </a:rPr>
              <a:t>-&gt;</a:t>
            </a:r>
            <a:r>
              <a:rPr lang="en-US" altLang="zh-CN" dirty="0" smtClean="0"/>
              <a:t>next: 0xACF</a:t>
            </a:r>
          </a:p>
          <a:p>
            <a:pPr lvl="1"/>
            <a:r>
              <a:rPr lang="en-US" altLang="zh-CN" dirty="0"/>
              <a:t>p </a:t>
            </a:r>
            <a:r>
              <a:rPr lang="en-US" altLang="zh-CN" dirty="0">
                <a:latin typeface="宋体" pitchFamily="2" charset="-122"/>
                <a:sym typeface="Wingdings" pitchFamily="2" charset="2"/>
              </a:rPr>
              <a:t>-&gt;</a:t>
            </a:r>
            <a:r>
              <a:rPr lang="en-US" altLang="zh-CN" dirty="0">
                <a:sym typeface="Wingdings" pitchFamily="2" charset="2"/>
              </a:rPr>
              <a:t>next</a:t>
            </a:r>
            <a:r>
              <a:rPr lang="en-US" altLang="zh-CN" dirty="0">
                <a:latin typeface="宋体" pitchFamily="2" charset="-122"/>
                <a:sym typeface="Wingdings" pitchFamily="2" charset="2"/>
              </a:rPr>
              <a:t>-&gt;</a:t>
            </a:r>
            <a:r>
              <a:rPr lang="en-US" altLang="zh-CN" dirty="0" smtClean="0">
                <a:sym typeface="Wingdings" pitchFamily="2" charset="2"/>
              </a:rPr>
              <a:t>data: 4</a:t>
            </a:r>
            <a:endParaRPr lang="en-US" altLang="zh-CN" dirty="0"/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2060848"/>
            <a:ext cx="30861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3084073"/>
            <a:ext cx="30861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876997" y="2632348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48704" y="2622408"/>
            <a:ext cx="1883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</a:t>
            </a:r>
            <a:r>
              <a:rPr lang="zh-CN" altLang="en-US" dirty="0" smtClean="0"/>
              <a:t>（</a:t>
            </a:r>
            <a:r>
              <a:rPr lang="en-US" altLang="zh-CN" dirty="0" smtClean="0"/>
              <a:t>0x123)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076056" y="2632348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0xACF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48704" y="3633010"/>
            <a:ext cx="1739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q  (0xACF)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60129" y="3640976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4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436096" y="3667748"/>
            <a:ext cx="43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^</a:t>
            </a:r>
            <a:endParaRPr lang="zh-CN" altLang="en-US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做链表题，只要记住三个运算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/>
            <a:r>
              <a:rPr lang="zh-CN" altLang="en-US" sz="7200" dirty="0" smtClean="0"/>
              <a:t>遍历</a:t>
            </a:r>
            <a:endParaRPr lang="en-US" altLang="zh-CN" sz="7200" dirty="0" smtClean="0"/>
          </a:p>
          <a:p>
            <a:pPr algn="ctr"/>
            <a:r>
              <a:rPr lang="zh-CN" altLang="en-US" sz="7200" dirty="0" smtClean="0"/>
              <a:t>插入</a:t>
            </a:r>
            <a:endParaRPr lang="en-US" altLang="zh-CN" sz="7200" dirty="0" smtClean="0"/>
          </a:p>
          <a:p>
            <a:pPr algn="ctr"/>
            <a:r>
              <a:rPr lang="zh-CN" altLang="en-US" sz="7200" dirty="0"/>
              <a:t>删除</a:t>
            </a:r>
          </a:p>
        </p:txBody>
      </p:sp>
    </p:spTree>
    <p:extLst>
      <p:ext uri="{BB962C8B-B14F-4D97-AF65-F5344CB8AC3E}">
        <p14:creationId xmlns:p14="http://schemas.microsoft.com/office/powerpoint/2010/main" val="288321271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81000"/>
            <a:ext cx="7772400" cy="6858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dirty="0" smtClean="0">
                <a:latin typeface="Times New Roman" pitchFamily="18" charset="0"/>
              </a:rPr>
              <a:t>3.1.2</a:t>
            </a:r>
            <a:r>
              <a:rPr lang="en-US" altLang="zh-CN" dirty="0" smtClean="0"/>
              <a:t> </a:t>
            </a:r>
            <a:r>
              <a:rPr lang="zh-CN" altLang="en-US" dirty="0" smtClean="0"/>
              <a:t>链表</a:t>
            </a:r>
            <a:r>
              <a:rPr lang="zh-CN" altLang="en-US" dirty="0" smtClean="0"/>
              <a:t>的基本运算 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8153400" cy="4343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 smtClean="0"/>
              <a:t>1. </a:t>
            </a:r>
            <a:r>
              <a:rPr lang="zh-CN" altLang="en-US" dirty="0" smtClean="0"/>
              <a:t>遍历</a:t>
            </a:r>
            <a:r>
              <a:rPr lang="en-US" altLang="zh-CN" dirty="0" smtClean="0"/>
              <a:t>(Traversal)</a:t>
            </a:r>
            <a:r>
              <a:rPr lang="zh-CN" altLang="en-US" dirty="0" smtClean="0"/>
              <a:t>：根据已给的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</a:rPr>
              <a:t>表头指针</a:t>
            </a:r>
            <a:r>
              <a:rPr lang="zh-CN" altLang="en-US" dirty="0" smtClean="0"/>
              <a:t>，按由前向后的次序访问单链表的各个结点。 </a:t>
            </a:r>
          </a:p>
          <a:p>
            <a:pPr eaLnBrk="1" hangingPunct="1"/>
            <a:r>
              <a:rPr lang="zh-CN" altLang="en-US" dirty="0" smtClean="0"/>
              <a:t>在实际应用中遍历是</a:t>
            </a:r>
            <a:r>
              <a:rPr lang="zh-CN" altLang="en-US" dirty="0" smtClean="0"/>
              <a:t>对链表</a:t>
            </a:r>
            <a:r>
              <a:rPr lang="zh-CN" altLang="en-US" dirty="0" smtClean="0"/>
              <a:t>的最基本运算，例如，当要打印或显示出各个结点的数值域值、</a:t>
            </a:r>
            <a:r>
              <a:rPr lang="zh-CN" altLang="en-US" dirty="0" smtClean="0"/>
              <a:t>计算链表</a:t>
            </a:r>
            <a:r>
              <a:rPr lang="zh-CN" altLang="en-US" dirty="0" smtClean="0"/>
              <a:t>的长度</a:t>
            </a:r>
            <a:r>
              <a:rPr lang="en-US" altLang="zh-CN" dirty="0" smtClean="0"/>
              <a:t>(</a:t>
            </a:r>
            <a:r>
              <a:rPr lang="zh-CN" altLang="en-US" dirty="0" smtClean="0"/>
              <a:t>即结点数目</a:t>
            </a:r>
            <a:r>
              <a:rPr lang="en-US" altLang="zh-CN" dirty="0" smtClean="0"/>
              <a:t>)</a:t>
            </a:r>
            <a:r>
              <a:rPr lang="zh-CN" altLang="en-US" dirty="0" smtClean="0"/>
              <a:t>或寻找某一个结点时都需要</a:t>
            </a:r>
            <a:r>
              <a:rPr lang="zh-CN" altLang="en-US" dirty="0" smtClean="0"/>
              <a:t>遍历链表</a:t>
            </a:r>
            <a:r>
              <a:rPr lang="zh-CN" altLang="en-US" dirty="0" smtClean="0"/>
              <a:t>。 </a:t>
            </a:r>
          </a:p>
          <a:p>
            <a:pPr eaLnBrk="1" hangingPunct="1"/>
            <a:r>
              <a:rPr lang="zh-CN" altLang="en-US" dirty="0" smtClean="0"/>
              <a:t>假设</a:t>
            </a:r>
            <a:r>
              <a:rPr lang="en-US" altLang="zh-CN" dirty="0" smtClean="0"/>
              <a:t>head</a:t>
            </a:r>
            <a:r>
              <a:rPr lang="zh-CN" altLang="en-US" dirty="0" smtClean="0"/>
              <a:t>是链表</a:t>
            </a:r>
            <a:r>
              <a:rPr lang="zh-CN" altLang="en-US" dirty="0" smtClean="0"/>
              <a:t>的头指针，计算一个已建立</a:t>
            </a:r>
            <a:r>
              <a:rPr lang="zh-CN" altLang="en-US" dirty="0" smtClean="0"/>
              <a:t>好的链表</a:t>
            </a:r>
            <a:r>
              <a:rPr lang="zh-CN" altLang="en-US" dirty="0" smtClean="0"/>
              <a:t>的结点个数的算法如下： 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762000" cy="5715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计算结点个数算法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idx="1"/>
          </p:nvPr>
        </p:nvSpPr>
        <p:spPr>
          <a:xfrm>
            <a:off x="1371600" y="457200"/>
            <a:ext cx="7467600" cy="5867400"/>
          </a:xfrm>
        </p:spPr>
        <p:txBody>
          <a:bodyPr>
            <a:normAutofit/>
          </a:bodyPr>
          <a:lstStyle/>
          <a:p>
            <a:pPr lvl="1" algn="just" eaLnBrk="1" hangingPunct="1">
              <a:buFontTx/>
              <a:buNone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length(node *head)   /*</a:t>
            </a:r>
            <a:r>
              <a:rPr lang="zh-CN" altLang="en-US" dirty="0" smtClean="0"/>
              <a:t>求表</a:t>
            </a:r>
            <a:r>
              <a:rPr lang="en-US" altLang="zh-CN" dirty="0" smtClean="0"/>
              <a:t>head</a:t>
            </a:r>
            <a:r>
              <a:rPr lang="zh-CN" altLang="en-US" dirty="0" smtClean="0"/>
              <a:t>的长度*</a:t>
            </a:r>
            <a:r>
              <a:rPr lang="en-US" altLang="zh-CN" dirty="0" smtClean="0"/>
              <a:t>/</a:t>
            </a:r>
          </a:p>
          <a:p>
            <a:pPr lvl="1" algn="just" eaLnBrk="1" hangingPunct="1">
              <a:buFontTx/>
              <a:buNone/>
            </a:pPr>
            <a:r>
              <a:rPr lang="en-US" altLang="zh-CN" dirty="0" smtClean="0"/>
              <a:t>{</a:t>
            </a:r>
          </a:p>
          <a:p>
            <a:pPr lvl="1" algn="just" eaLnBrk="1" hangingPunct="1">
              <a:buFontTx/>
              <a:buNone/>
            </a:pPr>
            <a:r>
              <a:rPr lang="en-US" altLang="zh-CN" dirty="0" smtClean="0"/>
              <a:t>     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count=0;          /*</a:t>
            </a:r>
            <a:r>
              <a:rPr lang="zh-CN" altLang="en-US" dirty="0" smtClean="0"/>
              <a:t>计数器置初值*</a:t>
            </a:r>
            <a:r>
              <a:rPr lang="en-US" altLang="zh-CN" dirty="0" smtClean="0"/>
              <a:t>/</a:t>
            </a:r>
          </a:p>
          <a:p>
            <a:pPr lvl="1" algn="just" eaLnBrk="1" hangingPunct="1">
              <a:buFontTx/>
              <a:buNone/>
            </a:pPr>
            <a:r>
              <a:rPr lang="en-US" altLang="zh-CN" dirty="0" smtClean="0"/>
              <a:t>    node *p=head;           /*p</a:t>
            </a:r>
            <a:r>
              <a:rPr lang="zh-CN" altLang="en-US" dirty="0" smtClean="0"/>
              <a:t>指向头结点*</a:t>
            </a:r>
            <a:r>
              <a:rPr lang="en-US" altLang="zh-CN" dirty="0" smtClean="0"/>
              <a:t>/</a:t>
            </a:r>
          </a:p>
          <a:p>
            <a:pPr lvl="1" algn="just">
              <a:buNone/>
            </a:pPr>
            <a:r>
              <a:rPr lang="en-US" altLang="zh-CN" dirty="0" smtClean="0"/>
              <a:t>      while (p!=NULL)	    /*</a:t>
            </a:r>
            <a:r>
              <a:rPr lang="zh-CN" altLang="en-US" dirty="0" smtClean="0"/>
              <a:t>如果没到表尾*</a:t>
            </a:r>
            <a:r>
              <a:rPr lang="en-US" altLang="zh-CN" dirty="0" smtClean="0"/>
              <a:t>/</a:t>
            </a:r>
          </a:p>
          <a:p>
            <a:pPr lvl="1" algn="just" eaLnBrk="1" hangingPunct="1">
              <a:buFontTx/>
              <a:buNone/>
            </a:pPr>
            <a:r>
              <a:rPr lang="en-US" altLang="zh-CN" dirty="0" smtClean="0"/>
              <a:t>      {</a:t>
            </a:r>
          </a:p>
          <a:p>
            <a:pPr lvl="1" algn="just" eaLnBrk="1" hangingPunct="1">
              <a:buFontTx/>
              <a:buNone/>
            </a:pPr>
            <a:r>
              <a:rPr lang="en-US" altLang="zh-CN" dirty="0" smtClean="0"/>
              <a:t>           p=p</a:t>
            </a:r>
            <a:r>
              <a:rPr lang="en-US" altLang="zh-CN" dirty="0" smtClean="0">
                <a:latin typeface="宋体" pitchFamily="2" charset="-122"/>
                <a:sym typeface="Wingdings" pitchFamily="2" charset="2"/>
              </a:rPr>
              <a:t>-&gt;</a:t>
            </a:r>
            <a:r>
              <a:rPr lang="en-US" altLang="zh-CN" dirty="0" smtClean="0"/>
              <a:t>next;</a:t>
            </a:r>
          </a:p>
          <a:p>
            <a:pPr lvl="1" algn="just" eaLnBrk="1" hangingPunct="1">
              <a:buFontTx/>
              <a:buNone/>
            </a:pPr>
            <a:r>
              <a:rPr lang="en-US" altLang="zh-CN" dirty="0" smtClean="0"/>
              <a:t>          count++;</a:t>
            </a:r>
          </a:p>
          <a:p>
            <a:pPr lvl="1" algn="just" eaLnBrk="1" hangingPunct="1">
              <a:buFontTx/>
              <a:buNone/>
            </a:pPr>
            <a:r>
              <a:rPr lang="en-US" altLang="zh-CN" dirty="0" smtClean="0"/>
              <a:t>       }</a:t>
            </a:r>
          </a:p>
          <a:p>
            <a:pPr lvl="1" algn="just" eaLnBrk="1" hangingPunct="1">
              <a:buFontTx/>
              <a:buNone/>
            </a:pPr>
            <a:r>
              <a:rPr lang="en-US" altLang="zh-CN" dirty="0" smtClean="0"/>
              <a:t>       return(count);        /*</a:t>
            </a:r>
            <a:r>
              <a:rPr lang="zh-CN" altLang="en-US" dirty="0" smtClean="0"/>
              <a:t>返回表长值*</a:t>
            </a:r>
            <a:r>
              <a:rPr lang="en-US" altLang="zh-CN" dirty="0" smtClean="0"/>
              <a:t>/</a:t>
            </a:r>
          </a:p>
          <a:p>
            <a:pPr lvl="1" algn="just" eaLnBrk="1" hangingPunct="1">
              <a:buFontTx/>
              <a:buNone/>
            </a:pPr>
            <a:r>
              <a:rPr lang="en-US" altLang="zh-CN" dirty="0" smtClean="0"/>
              <a:t>} </a:t>
            </a:r>
          </a:p>
        </p:txBody>
      </p:sp>
      <p:sp>
        <p:nvSpPr>
          <p:cNvPr id="2" name="左箭头 1"/>
          <p:cNvSpPr/>
          <p:nvPr/>
        </p:nvSpPr>
        <p:spPr>
          <a:xfrm>
            <a:off x="4660099" y="3901688"/>
            <a:ext cx="720080" cy="432048"/>
          </a:xfrm>
          <a:prstGeom prst="lef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436096" y="3702213"/>
            <a:ext cx="33843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这里可以插入需要的语句，实现其他功能</a:t>
            </a:r>
            <a:endParaRPr lang="zh-CN" altLang="en-US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724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smtClean="0">
                <a:latin typeface="隶书" pitchFamily="49" charset="-122"/>
              </a:rPr>
              <a:t>2. </a:t>
            </a:r>
            <a:r>
              <a:rPr lang="zh-CN" altLang="en-US" smtClean="0">
                <a:latin typeface="隶书" pitchFamily="49" charset="-122"/>
              </a:rPr>
              <a:t>插入 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19200"/>
            <a:ext cx="86106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 smtClean="0"/>
              <a:t>所谓插入是指在单链表中第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个结点之后插入一个元素为</a:t>
            </a:r>
            <a:r>
              <a:rPr lang="en-US" altLang="zh-CN" dirty="0" smtClean="0"/>
              <a:t>x</a:t>
            </a:r>
            <a:r>
              <a:rPr lang="zh-CN" altLang="en-US" dirty="0" smtClean="0"/>
              <a:t>的结点。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 smtClean="0"/>
              <a:t>实现插入算法主要完成三个基本操作：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</a:rPr>
              <a:t>1) 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</a:rPr>
              <a:t>在单链表上找到插入位置，即找到第</a:t>
            </a:r>
            <a:r>
              <a:rPr lang="en-US" altLang="zh-CN" dirty="0" err="1" smtClean="0">
                <a:solidFill>
                  <a:schemeClr val="tx2">
                    <a:lumMod val="75000"/>
                  </a:schemeClr>
                </a:solidFill>
              </a:rPr>
              <a:t>i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</a:rPr>
              <a:t>个结点。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</a:pPr>
            <a:r>
              <a:rPr lang="zh-CN" altLang="en-US" dirty="0" smtClean="0"/>
              <a:t>      可以用遍历的方法，即从表头起顺次访问单链表的结点，直至找到第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个结点。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</a:rPr>
              <a:t>2) 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</a:rPr>
              <a:t>生成一个以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</a:rPr>
              <a:t>x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</a:rPr>
              <a:t>为值的新结点。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</a:pPr>
            <a:r>
              <a:rPr lang="zh-CN" altLang="en-US" dirty="0" smtClean="0"/>
              <a:t>     可通过</a:t>
            </a:r>
            <a:r>
              <a:rPr lang="en-US" altLang="zh-CN" dirty="0" smtClean="0"/>
              <a:t>C</a:t>
            </a:r>
            <a:r>
              <a:rPr lang="zh-CN" altLang="en-US" dirty="0" smtClean="0"/>
              <a:t>的库函数</a:t>
            </a:r>
            <a:r>
              <a:rPr lang="en-US" altLang="zh-CN" dirty="0" err="1" smtClean="0"/>
              <a:t>malloc</a:t>
            </a:r>
            <a:r>
              <a:rPr lang="en-US" altLang="zh-CN" dirty="0" smtClean="0"/>
              <a:t>(size)</a:t>
            </a:r>
            <a:r>
              <a:rPr lang="zh-CN" altLang="en-US" dirty="0" smtClean="0"/>
              <a:t>来产生。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</a:rPr>
              <a:t>3) 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</a:rPr>
              <a:t>将新结点链入单链表中。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</a:pPr>
            <a:r>
              <a:rPr lang="zh-CN" altLang="en-US" dirty="0" smtClean="0"/>
              <a:t>     需要改变相关结点的指针 ，如下面的图所示。  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0" y="3352800"/>
            <a:ext cx="9144000" cy="28194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 smtClean="0"/>
              <a:t>   </a:t>
            </a:r>
            <a:r>
              <a:rPr lang="zh-CN" altLang="en-US" dirty="0" smtClean="0"/>
              <a:t>假设指针</a:t>
            </a:r>
            <a:r>
              <a:rPr lang="en-US" altLang="zh-CN" dirty="0" smtClean="0"/>
              <a:t>p</a:t>
            </a:r>
            <a:r>
              <a:rPr lang="zh-CN" altLang="en-US" dirty="0" smtClean="0"/>
              <a:t>指向链表</a:t>
            </a:r>
            <a:r>
              <a:rPr lang="zh-CN" altLang="en-US" dirty="0" smtClean="0"/>
              <a:t>中的第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个结点，指针</a:t>
            </a:r>
            <a:r>
              <a:rPr lang="en-US" altLang="zh-CN" dirty="0" smtClean="0"/>
              <a:t>s</a:t>
            </a:r>
            <a:r>
              <a:rPr lang="zh-CN" altLang="en-US" dirty="0" smtClean="0"/>
              <a:t>指向已生成的新结点，链入新结点的操作如下：</a:t>
            </a:r>
          </a:p>
          <a:p>
            <a:pPr lvl="1" eaLnBrk="1" hangingPunct="1"/>
            <a:r>
              <a:rPr lang="zh-CN" altLang="en-US" dirty="0" smtClean="0"/>
              <a:t>将新结点*</a:t>
            </a:r>
            <a:r>
              <a:rPr lang="en-US" altLang="zh-CN" dirty="0" smtClean="0"/>
              <a:t>s</a:t>
            </a:r>
            <a:r>
              <a:rPr lang="zh-CN" altLang="en-US" dirty="0" smtClean="0"/>
              <a:t>的链域指向结点*</a:t>
            </a:r>
            <a:r>
              <a:rPr lang="en-US" altLang="zh-CN" dirty="0" smtClean="0"/>
              <a:t>p</a:t>
            </a:r>
            <a:r>
              <a:rPr lang="zh-CN" altLang="en-US" dirty="0" smtClean="0"/>
              <a:t>的后继结点</a:t>
            </a:r>
          </a:p>
          <a:p>
            <a:pPr lvl="1" eaLnBrk="1" hangingPunct="1">
              <a:buFontTx/>
              <a:buNone/>
            </a:pPr>
            <a:r>
              <a:rPr lang="zh-CN" altLang="en-US" dirty="0" smtClean="0"/>
              <a:t>    </a:t>
            </a:r>
            <a:r>
              <a:rPr lang="en-US" altLang="zh-CN" dirty="0" smtClean="0"/>
              <a:t>(</a:t>
            </a:r>
            <a:r>
              <a:rPr lang="zh-CN" altLang="en-US" dirty="0" smtClean="0"/>
              <a:t>即</a:t>
            </a:r>
            <a:r>
              <a:rPr lang="en-US" altLang="zh-CN" dirty="0" smtClean="0"/>
              <a:t>s-&gt;next=p-&gt;next)</a:t>
            </a:r>
            <a:r>
              <a:rPr lang="zh-CN" altLang="en-US" dirty="0" smtClean="0"/>
              <a:t>；</a:t>
            </a:r>
          </a:p>
          <a:p>
            <a:pPr lvl="1" eaLnBrk="1" hangingPunct="1"/>
            <a:r>
              <a:rPr lang="zh-CN" altLang="en-US" dirty="0" smtClean="0"/>
              <a:t>将结点*</a:t>
            </a:r>
            <a:r>
              <a:rPr lang="en-US" altLang="zh-CN" dirty="0" smtClean="0"/>
              <a:t>p</a:t>
            </a:r>
            <a:r>
              <a:rPr lang="zh-CN" altLang="en-US" dirty="0" smtClean="0"/>
              <a:t>的链域指向新结点</a:t>
            </a:r>
            <a:r>
              <a:rPr lang="en-US" altLang="zh-CN" dirty="0" smtClean="0"/>
              <a:t>(</a:t>
            </a:r>
            <a:r>
              <a:rPr lang="zh-CN" altLang="en-US" dirty="0" smtClean="0"/>
              <a:t>即</a:t>
            </a:r>
            <a:r>
              <a:rPr lang="en-US" altLang="zh-CN" dirty="0" smtClean="0"/>
              <a:t>p-&gt;next=s)</a:t>
            </a:r>
            <a:r>
              <a:rPr lang="zh-CN" altLang="en-US" dirty="0" smtClean="0"/>
              <a:t>。</a:t>
            </a:r>
          </a:p>
        </p:txBody>
      </p:sp>
      <p:graphicFrame>
        <p:nvGraphicFramePr>
          <p:cNvPr id="12292" name="Object 4"/>
          <p:cNvGraphicFramePr>
            <a:graphicFrameLocks noChangeAspect="1"/>
          </p:cNvGraphicFramePr>
          <p:nvPr/>
        </p:nvGraphicFramePr>
        <p:xfrm>
          <a:off x="125413" y="457200"/>
          <a:ext cx="8915400" cy="275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9" name="Picture2" r:id="rId3" imgW="4290143" imgH="1234440" progId="Word.Picture.8">
                  <p:embed/>
                </p:oleObj>
              </mc:Choice>
              <mc:Fallback>
                <p:oleObj name="Picture2" r:id="rId3" imgW="4290143" imgH="1234440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13" y="457200"/>
                        <a:ext cx="8915400" cy="275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23825" y="504825"/>
            <a:ext cx="790575" cy="5410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插入算法 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idx="1"/>
          </p:nvPr>
        </p:nvSpPr>
        <p:spPr>
          <a:xfrm>
            <a:off x="865188" y="304800"/>
            <a:ext cx="8299450" cy="6324600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90000"/>
              </a:lnSpc>
              <a:buNone/>
            </a:pPr>
            <a:r>
              <a:rPr lang="en-US" altLang="zh-CN" sz="2400" dirty="0"/>
              <a:t>void insert (node *head,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, x)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/>
              <a:t>{    node *s,*p; 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j;</a:t>
            </a:r>
          </a:p>
          <a:p>
            <a:pPr algn="just">
              <a:lnSpc>
                <a:spcPct val="90000"/>
              </a:lnSpc>
              <a:buNone/>
            </a:pPr>
            <a:endParaRPr lang="en-US" altLang="zh-CN" sz="2400" dirty="0"/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/>
              <a:t>      j=1;   /*</a:t>
            </a:r>
            <a:r>
              <a:rPr lang="zh-CN" altLang="en-US" sz="2400" dirty="0"/>
              <a:t>计数当前数的节点</a:t>
            </a:r>
            <a:r>
              <a:rPr lang="en-US" altLang="zh-CN" sz="2400" dirty="0"/>
              <a:t>*/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/>
              <a:t> while(p!=NULL &amp;&amp; j&lt;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 /*</a:t>
            </a:r>
            <a:r>
              <a:rPr lang="zh-CN" altLang="en-US" sz="2400" dirty="0"/>
              <a:t>查找第</a:t>
            </a:r>
            <a:r>
              <a:rPr lang="en-US" altLang="zh-CN" sz="2400" dirty="0" err="1"/>
              <a:t>i</a:t>
            </a:r>
            <a:r>
              <a:rPr lang="zh-CN" altLang="en-US" sz="2400" dirty="0"/>
              <a:t>个结点，由</a:t>
            </a:r>
            <a:r>
              <a:rPr lang="en-US" altLang="zh-CN" sz="2400" dirty="0"/>
              <a:t>p</a:t>
            </a:r>
            <a:r>
              <a:rPr lang="zh-CN" altLang="en-US" sz="2400" dirty="0"/>
              <a:t>所指向*</a:t>
            </a:r>
            <a:r>
              <a:rPr lang="en-US" altLang="zh-CN" sz="2400" dirty="0"/>
              <a:t>/ 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/>
              <a:t>         {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/>
              <a:t>                j++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/>
              <a:t>               p=p-&gt;next;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/>
              <a:t>          }</a:t>
            </a:r>
          </a:p>
          <a:p>
            <a:pPr algn="just">
              <a:lnSpc>
                <a:spcPct val="90000"/>
              </a:lnSpc>
              <a:buNone/>
            </a:pPr>
            <a:endParaRPr lang="en-US" altLang="zh-CN" sz="2400" dirty="0"/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/>
              <a:t>     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 s=(node * )</a:t>
            </a:r>
            <a:r>
              <a:rPr lang="en-US" altLang="zh-CN" sz="2400" dirty="0" err="1">
                <a:solidFill>
                  <a:schemeClr val="tx2">
                    <a:lumMod val="75000"/>
                  </a:schemeClr>
                </a:solidFill>
              </a:rPr>
              <a:t>malloc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en-US" altLang="zh-CN" sz="2400" dirty="0" err="1">
                <a:solidFill>
                  <a:schemeClr val="tx2">
                    <a:lumMod val="75000"/>
                  </a:schemeClr>
                </a:solidFill>
              </a:rPr>
              <a:t>sizeof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(node)); </a:t>
            </a:r>
            <a:r>
              <a:rPr lang="en-US" altLang="zh-CN" sz="2400" dirty="0"/>
              <a:t>/*</a:t>
            </a:r>
            <a:r>
              <a:rPr lang="zh-CN" altLang="en-US" sz="2400" dirty="0"/>
              <a:t>生成新结点*</a:t>
            </a:r>
            <a:r>
              <a:rPr lang="en-US" altLang="zh-CN" sz="2400" dirty="0"/>
              <a:t>/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/>
              <a:t>      s-&gt;data=x;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/>
              <a:t>      p=head;</a:t>
            </a:r>
          </a:p>
          <a:p>
            <a:pPr algn="just">
              <a:lnSpc>
                <a:spcPct val="90000"/>
              </a:lnSpc>
              <a:buNone/>
            </a:pPr>
            <a:endParaRPr lang="en-US" altLang="zh-CN" sz="2400" dirty="0"/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/>
              <a:t>          if(p!=NULL)  /*</a:t>
            </a:r>
            <a:r>
              <a:rPr lang="zh-CN" altLang="en-US" sz="2400" dirty="0"/>
              <a:t>把新结点插入其后*</a:t>
            </a:r>
            <a:r>
              <a:rPr lang="en-US" altLang="zh-CN" sz="2400" dirty="0"/>
              <a:t>/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/>
              <a:t>         {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/>
              <a:t>               s-&gt;next=p-&gt;next;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/>
              <a:t>               p-&gt;next=s;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/>
              <a:t>          }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400" dirty="0" smtClean="0"/>
              <a:t>} 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smtClean="0">
                <a:latin typeface="隶书" pitchFamily="49" charset="-122"/>
              </a:rPr>
              <a:t>3. </a:t>
            </a:r>
            <a:r>
              <a:rPr lang="zh-CN" altLang="en-US" smtClean="0">
                <a:latin typeface="隶书" pitchFamily="49" charset="-122"/>
              </a:rPr>
              <a:t>删除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95400"/>
            <a:ext cx="8534400" cy="48006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当需要</a:t>
            </a:r>
            <a:r>
              <a:rPr lang="zh-CN" altLang="en-US" dirty="0" smtClean="0"/>
              <a:t>从链表</a:t>
            </a:r>
            <a:r>
              <a:rPr lang="zh-CN" altLang="en-US" dirty="0" smtClean="0"/>
              <a:t>上删除结点时，就要通过删除运算来完成。</a:t>
            </a:r>
          </a:p>
          <a:p>
            <a:pPr eaLnBrk="1" hangingPunct="1"/>
            <a:r>
              <a:rPr lang="zh-CN" altLang="en-US" dirty="0" smtClean="0"/>
              <a:t>删除链表</a:t>
            </a:r>
            <a:r>
              <a:rPr lang="zh-CN" altLang="en-US" dirty="0" smtClean="0"/>
              <a:t>上一个其值为</a:t>
            </a:r>
            <a:r>
              <a:rPr lang="en-US" altLang="zh-CN" dirty="0" smtClean="0"/>
              <a:t>x</a:t>
            </a:r>
            <a:r>
              <a:rPr lang="zh-CN" altLang="en-US" dirty="0" smtClean="0"/>
              <a:t>的结点的主要操作是：</a:t>
            </a:r>
          </a:p>
          <a:p>
            <a:pPr lvl="1" eaLnBrk="1" hangingPunct="1"/>
            <a:r>
              <a:rPr lang="en-US" altLang="zh-CN" dirty="0" smtClean="0"/>
              <a:t>1) 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</a:rPr>
              <a:t>用遍历的方法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</a:rPr>
              <a:t>在链表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</a:rPr>
              <a:t>上找到该结点；</a:t>
            </a:r>
          </a:p>
          <a:p>
            <a:pPr lvl="1" eaLnBrk="1" hangingPunct="1"/>
            <a:r>
              <a:rPr lang="en-US" altLang="zh-CN" dirty="0" smtClean="0"/>
              <a:t>2) 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</a:rPr>
              <a:t>从链表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</a:rPr>
              <a:t>上删除该结点。</a:t>
            </a:r>
          </a:p>
          <a:p>
            <a:pPr eaLnBrk="1" hangingPunct="1"/>
            <a:r>
              <a:rPr lang="zh-CN" altLang="en-US" dirty="0" smtClean="0"/>
              <a:t>欲</a:t>
            </a:r>
            <a:r>
              <a:rPr lang="zh-CN" altLang="en-US" dirty="0" smtClean="0"/>
              <a:t>从链表</a:t>
            </a:r>
            <a:r>
              <a:rPr lang="zh-CN" altLang="en-US" dirty="0" smtClean="0"/>
              <a:t>上删除一个结点，需修改该结点的前一个结点的指针，如下面的图所示。  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3657600"/>
            <a:ext cx="8534400" cy="23622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altLang="zh-CN" dirty="0" smtClean="0"/>
              <a:t>   </a:t>
            </a:r>
            <a:r>
              <a:rPr lang="zh-CN" altLang="en-US" dirty="0" smtClean="0"/>
              <a:t>假设指针</a:t>
            </a:r>
            <a:r>
              <a:rPr lang="en-US" altLang="zh-CN" dirty="0" smtClean="0"/>
              <a:t>q</a:t>
            </a:r>
            <a:r>
              <a:rPr lang="zh-CN" altLang="en-US" dirty="0" smtClean="0"/>
              <a:t>指向待删除结点的前一个结点，指针</a:t>
            </a:r>
            <a:r>
              <a:rPr lang="en-US" altLang="zh-CN" dirty="0" smtClean="0"/>
              <a:t>p</a:t>
            </a:r>
            <a:r>
              <a:rPr lang="zh-CN" altLang="en-US" dirty="0" smtClean="0"/>
              <a:t>指向要删除的结点，删除该结点的操作如下：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</a:rPr>
              <a:t>将该结点的前一个结点*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</a:rPr>
              <a:t>q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</a:rPr>
              <a:t>的指针域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</a:rPr>
              <a:t>指向*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</a:rPr>
              <a:t>p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</a:rPr>
              <a:t>的后继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</a:rPr>
              <a:t>结点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。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</a:endParaRPr>
          </a:p>
          <a:p>
            <a:pPr>
              <a:buNone/>
            </a:pP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</a:rPr>
              <a:t>（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</a:rPr>
              <a:t>即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</a:rPr>
              <a:t>q-&gt;next=p-&gt;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</a:rPr>
              <a:t>next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</a:rPr>
              <a:t>或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q-&gt;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</a:rPr>
              <a:t>next=q-&gt;next-&gt;next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）</a:t>
            </a:r>
            <a:endParaRPr lang="zh-CN" altLang="en-US" dirty="0" smtClean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284163" y="762000"/>
          <a:ext cx="86106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name="Picture2" r:id="rId3" imgW="3497681" imgH="739152" progId="Word.Picture.8">
                  <p:embed/>
                </p:oleObj>
              </mc:Choice>
              <mc:Fallback>
                <p:oleObj name="Picture2" r:id="rId3" imgW="3497681" imgH="739152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163" y="762000"/>
                        <a:ext cx="86106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775" y="609600"/>
            <a:ext cx="838200" cy="5410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删除算法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idx="1"/>
          </p:nvPr>
        </p:nvSpPr>
        <p:spPr>
          <a:xfrm>
            <a:off x="873125" y="228600"/>
            <a:ext cx="7966075" cy="6248400"/>
          </a:xfrm>
        </p:spPr>
        <p:txBody>
          <a:bodyPr>
            <a:normAutofit lnSpcReduction="10000"/>
          </a:bodyPr>
          <a:lstStyle/>
          <a:p>
            <a:pPr algn="just" eaLnBrk="1" hangingPunct="1">
              <a:buFont typeface="Wingdings" pitchFamily="2" charset="2"/>
              <a:buNone/>
            </a:pPr>
            <a:r>
              <a:rPr lang="en-US" altLang="zh-CN" sz="2800" dirty="0" smtClean="0"/>
              <a:t>void delete(node *head, </a:t>
            </a: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x)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800" dirty="0" smtClean="0"/>
              <a:t>{     node *p, *q;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800" dirty="0" smtClean="0"/>
              <a:t>	q=head;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 smtClean="0"/>
              <a:t>	p=head-&gt;next; 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/>
              <a:t> </a:t>
            </a:r>
            <a:r>
              <a:rPr lang="en-US" altLang="zh-CN" sz="2800" dirty="0"/>
              <a:t>while(p!=NULL &amp;&amp; p-&gt;data!=x)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800" dirty="0"/>
              <a:t>     {      </a:t>
            </a:r>
            <a:r>
              <a:rPr lang="en-US" altLang="zh-CN" sz="2800" dirty="0" smtClean="0"/>
              <a:t>q=q-</a:t>
            </a:r>
            <a:r>
              <a:rPr lang="en-US" altLang="zh-CN" sz="2800" dirty="0"/>
              <a:t>&gt;next</a:t>
            </a:r>
            <a:r>
              <a:rPr lang="en-US" altLang="zh-CN" sz="2800" dirty="0" smtClean="0"/>
              <a:t>; </a:t>
            </a:r>
            <a:endParaRPr lang="en-US" altLang="zh-CN" sz="2800" dirty="0"/>
          </a:p>
          <a:p>
            <a:pPr algn="just">
              <a:lnSpc>
                <a:spcPct val="90000"/>
              </a:lnSpc>
              <a:buNone/>
            </a:pPr>
            <a:r>
              <a:rPr lang="en-US" altLang="zh-CN" sz="2800" dirty="0"/>
              <a:t>            p=p-&gt;next;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800" dirty="0"/>
              <a:t>     }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800" dirty="0"/>
              <a:t>     if(p!=NULL)  /*</a:t>
            </a:r>
            <a:r>
              <a:rPr lang="zh-CN" altLang="en-US" sz="2800" dirty="0"/>
              <a:t>找到该结点，删除*</a:t>
            </a:r>
            <a:r>
              <a:rPr lang="en-US" altLang="zh-CN" sz="2800" dirty="0"/>
              <a:t>/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800" dirty="0"/>
              <a:t>     {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800" dirty="0"/>
              <a:t>           q-&gt;</a:t>
            </a:r>
            <a:r>
              <a:rPr lang="en-US" altLang="zh-CN" sz="2800" dirty="0" smtClean="0"/>
              <a:t>next=q-&gt;next-&gt;next;</a:t>
            </a:r>
            <a:endParaRPr lang="en-US" altLang="zh-CN" sz="2800" dirty="0"/>
          </a:p>
          <a:p>
            <a:pPr algn="just">
              <a:lnSpc>
                <a:spcPct val="90000"/>
              </a:lnSpc>
              <a:buNone/>
            </a:pPr>
            <a:r>
              <a:rPr lang="en-US" altLang="zh-CN" sz="2800" dirty="0" smtClean="0"/>
              <a:t>	 }</a:t>
            </a:r>
            <a:endParaRPr lang="en-US" altLang="zh-CN" sz="2800" dirty="0"/>
          </a:p>
          <a:p>
            <a:pPr>
              <a:lnSpc>
                <a:spcPct val="90000"/>
              </a:lnSpc>
              <a:buNone/>
            </a:pPr>
            <a:r>
              <a:rPr lang="en-US" altLang="zh-CN" sz="2800" dirty="0" smtClean="0"/>
              <a:t>} 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算法设计题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Wingdings 2"/>
              <a:buChar char=""/>
            </a:pPr>
            <a:r>
              <a:rPr lang="en-US" altLang="zh-CN" dirty="0" smtClean="0"/>
              <a:t>1</a:t>
            </a:r>
            <a:r>
              <a:rPr lang="en-US" altLang="zh-CN" dirty="0"/>
              <a:t>. </a:t>
            </a:r>
            <a:r>
              <a:rPr lang="zh-CN" altLang="en-US" dirty="0"/>
              <a:t>有一个有</a:t>
            </a:r>
            <a:r>
              <a:rPr lang="en-US" altLang="zh-CN" dirty="0"/>
              <a:t>n</a:t>
            </a:r>
            <a:r>
              <a:rPr lang="zh-CN" altLang="en-US" dirty="0"/>
              <a:t>个结点的单链表，设计一个函数将第</a:t>
            </a:r>
            <a:r>
              <a:rPr lang="en-US" altLang="zh-CN" dirty="0"/>
              <a:t>i-1</a:t>
            </a:r>
            <a:r>
              <a:rPr lang="zh-CN" altLang="en-US" dirty="0"/>
              <a:t>个结点与第</a:t>
            </a:r>
            <a:r>
              <a:rPr lang="en-US" altLang="zh-CN" dirty="0" err="1"/>
              <a:t>i</a:t>
            </a:r>
            <a:r>
              <a:rPr lang="zh-CN" altLang="en-US" dirty="0"/>
              <a:t>个结点互换，但指针不变</a:t>
            </a:r>
            <a:r>
              <a:rPr lang="zh-CN" altLang="en-US" dirty="0" smtClean="0"/>
              <a:t>。</a:t>
            </a:r>
          </a:p>
          <a:p>
            <a:pPr lvl="1"/>
            <a:r>
              <a:rPr lang="zh-CN" altLang="en-US" dirty="0" smtClean="0"/>
              <a:t>思路：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1.</a:t>
            </a:r>
            <a:r>
              <a:rPr lang="zh-CN" altLang="en-US" dirty="0" smtClean="0"/>
              <a:t>遍历找到第</a:t>
            </a:r>
            <a:r>
              <a:rPr lang="en-US" altLang="zh-CN" dirty="0" smtClean="0"/>
              <a:t>i-1</a:t>
            </a:r>
            <a:r>
              <a:rPr lang="zh-CN" altLang="en-US" dirty="0" smtClean="0"/>
              <a:t>个节点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(</a:t>
            </a:r>
            <a:r>
              <a:rPr lang="zh-CN" altLang="en-US" dirty="0" smtClean="0"/>
              <a:t>假设</a:t>
            </a:r>
            <a:r>
              <a:rPr lang="en-US" altLang="zh-CN" dirty="0" smtClean="0"/>
              <a:t>p</a:t>
            </a:r>
            <a:r>
              <a:rPr lang="zh-CN" altLang="en-US" dirty="0" smtClean="0"/>
              <a:t>是指向第</a:t>
            </a:r>
            <a:r>
              <a:rPr lang="en-US" altLang="zh-CN" dirty="0" smtClean="0"/>
              <a:t>i-1</a:t>
            </a:r>
            <a:r>
              <a:rPr lang="zh-CN" altLang="en-US" dirty="0" smtClean="0"/>
              <a:t>个节点的指针</a:t>
            </a:r>
            <a:r>
              <a:rPr lang="en-US" altLang="zh-CN" dirty="0" smtClean="0"/>
              <a:t>)</a:t>
            </a:r>
          </a:p>
          <a:p>
            <a:pPr lvl="2"/>
            <a:r>
              <a:rPr lang="en-US" altLang="zh-CN" dirty="0" smtClean="0"/>
              <a:t>2.</a:t>
            </a:r>
            <a:r>
              <a:rPr lang="zh-CN" altLang="en-US" dirty="0" smtClean="0"/>
              <a:t>交换</a:t>
            </a:r>
            <a:r>
              <a:rPr lang="en-US" altLang="zh-CN" dirty="0" smtClean="0"/>
              <a:t>p-&gt;data</a:t>
            </a:r>
            <a:r>
              <a:rPr lang="zh-CN" altLang="en-US" dirty="0" smtClean="0"/>
              <a:t>和</a:t>
            </a:r>
            <a:r>
              <a:rPr lang="en-US" altLang="zh-CN" dirty="0" smtClean="0"/>
              <a:t>p-&gt;next-&gt;data</a:t>
            </a:r>
            <a:r>
              <a:rPr lang="zh-CN" altLang="en-US" dirty="0" smtClean="0"/>
              <a:t>的值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405458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算法设计题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altLang="zh-CN" dirty="0" smtClean="0"/>
              <a:t>2</a:t>
            </a:r>
            <a:r>
              <a:rPr lang="en-US" altLang="zh-CN" dirty="0" smtClean="0"/>
              <a:t>.</a:t>
            </a:r>
            <a:r>
              <a:rPr lang="zh-CN" altLang="en-US" dirty="0"/>
              <a:t>已知一</a:t>
            </a:r>
            <a:r>
              <a:rPr lang="zh-CN" altLang="en-US" dirty="0" smtClean="0"/>
              <a:t>个链表</a:t>
            </a:r>
            <a:r>
              <a:rPr lang="zh-CN" altLang="en-US" dirty="0"/>
              <a:t>，编写一个函数</a:t>
            </a:r>
            <a:r>
              <a:rPr lang="zh-CN" altLang="en-US" dirty="0" smtClean="0"/>
              <a:t>从此链表</a:t>
            </a:r>
            <a:r>
              <a:rPr lang="zh-CN" altLang="en-US" dirty="0"/>
              <a:t>中删除自第</a:t>
            </a:r>
            <a:r>
              <a:rPr lang="en-US" altLang="zh-CN" dirty="0" err="1"/>
              <a:t>i</a:t>
            </a:r>
            <a:r>
              <a:rPr lang="zh-CN" altLang="en-US" dirty="0"/>
              <a:t>个元素起的</a:t>
            </a:r>
            <a:r>
              <a:rPr lang="en-US" altLang="zh-CN" dirty="0"/>
              <a:t>length</a:t>
            </a:r>
            <a:r>
              <a:rPr lang="zh-CN" altLang="en-US" dirty="0"/>
              <a:t>个元素。</a:t>
            </a:r>
          </a:p>
          <a:p>
            <a:pPr lvl="1"/>
            <a:r>
              <a:rPr lang="zh-CN" altLang="en-US" dirty="0" smtClean="0"/>
              <a:t>思路</a:t>
            </a:r>
            <a:r>
              <a:rPr lang="zh-CN" altLang="en-US" dirty="0"/>
              <a:t>：</a:t>
            </a:r>
            <a:endParaRPr lang="en-US" altLang="zh-CN" dirty="0"/>
          </a:p>
          <a:p>
            <a:pPr lvl="2"/>
            <a:r>
              <a:rPr lang="en-US" altLang="zh-CN" dirty="0" smtClean="0"/>
              <a:t>1.</a:t>
            </a:r>
            <a:r>
              <a:rPr lang="zh-CN" altLang="en-US" dirty="0" smtClean="0"/>
              <a:t>遍历找到第</a:t>
            </a:r>
            <a:r>
              <a:rPr lang="en-US" altLang="zh-CN" dirty="0" smtClean="0"/>
              <a:t>i-1</a:t>
            </a:r>
            <a:r>
              <a:rPr lang="zh-CN" altLang="en-US" dirty="0" smtClean="0"/>
              <a:t>个节点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(</a:t>
            </a:r>
            <a:r>
              <a:rPr lang="zh-CN" altLang="en-US" dirty="0" smtClean="0"/>
              <a:t>假设</a:t>
            </a:r>
            <a:r>
              <a:rPr lang="en-US" altLang="zh-CN" dirty="0" smtClean="0"/>
              <a:t>p</a:t>
            </a:r>
            <a:r>
              <a:rPr lang="zh-CN" altLang="en-US" dirty="0" smtClean="0"/>
              <a:t>是指向第</a:t>
            </a:r>
            <a:r>
              <a:rPr lang="en-US" altLang="zh-CN" dirty="0" smtClean="0"/>
              <a:t>i-1</a:t>
            </a:r>
            <a:r>
              <a:rPr lang="zh-CN" altLang="en-US" dirty="0" smtClean="0"/>
              <a:t>个节点的指针</a:t>
            </a:r>
            <a:r>
              <a:rPr lang="en-US" altLang="zh-CN" dirty="0" smtClean="0"/>
              <a:t>)</a:t>
            </a:r>
          </a:p>
          <a:p>
            <a:pPr lvl="2"/>
            <a:r>
              <a:rPr lang="en-US" altLang="zh-CN" dirty="0" smtClean="0"/>
              <a:t>2.</a:t>
            </a:r>
            <a:r>
              <a:rPr lang="zh-CN" altLang="en-US" dirty="0" smtClean="0"/>
              <a:t>连续进行</a:t>
            </a:r>
            <a:r>
              <a:rPr lang="en-US" altLang="zh-CN" dirty="0" smtClean="0"/>
              <a:t>length</a:t>
            </a:r>
            <a:r>
              <a:rPr lang="zh-CN" altLang="en-US" dirty="0" smtClean="0"/>
              <a:t>次删除操作</a:t>
            </a:r>
            <a:endParaRPr lang="en-US" altLang="zh-CN" dirty="0" smtClean="0"/>
          </a:p>
          <a:p>
            <a:pPr lvl="3"/>
            <a:r>
              <a:rPr lang="en-US" altLang="zh-CN" dirty="0"/>
              <a:t>f</a:t>
            </a:r>
            <a:r>
              <a:rPr lang="en-US" altLang="zh-CN" dirty="0" smtClean="0"/>
              <a:t>or(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= 0;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&lt; length;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++)</a:t>
            </a:r>
          </a:p>
          <a:p>
            <a:pPr lvl="3"/>
            <a:r>
              <a:rPr lang="en-US" altLang="zh-CN" dirty="0" smtClean="0"/>
              <a:t>p-&gt;next = p-&gt;next-&gt;</a:t>
            </a:r>
            <a:r>
              <a:rPr lang="en-US" altLang="zh-CN" dirty="0" smtClean="0"/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193578194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算法设计题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Wingdings 2"/>
              <a:buChar char=""/>
            </a:pPr>
            <a:r>
              <a:rPr lang="en-US" altLang="zh-CN" dirty="0" smtClean="0"/>
              <a:t>3. </a:t>
            </a:r>
            <a:r>
              <a:rPr lang="zh-CN" altLang="en-US" dirty="0"/>
              <a:t>已知一个递增有序</a:t>
            </a:r>
            <a:r>
              <a:rPr lang="zh-CN" altLang="en-US" dirty="0" smtClean="0"/>
              <a:t>的链表</a:t>
            </a:r>
            <a:r>
              <a:rPr lang="zh-CN" altLang="en-US" dirty="0"/>
              <a:t>，编写一个函数向</a:t>
            </a:r>
            <a:r>
              <a:rPr lang="zh-CN" altLang="en-US" dirty="0" smtClean="0"/>
              <a:t>该链表</a:t>
            </a:r>
            <a:r>
              <a:rPr lang="zh-CN" altLang="en-US" dirty="0"/>
              <a:t>中插入一个元素为</a:t>
            </a:r>
            <a:r>
              <a:rPr lang="en-US" altLang="zh-CN" dirty="0"/>
              <a:t>x</a:t>
            </a:r>
            <a:r>
              <a:rPr lang="zh-CN" altLang="en-US" dirty="0"/>
              <a:t>的结点，使插入后该链表仍然递增有序。</a:t>
            </a:r>
          </a:p>
          <a:p>
            <a:pPr lvl="1"/>
            <a:r>
              <a:rPr lang="zh-CN" altLang="en-US" dirty="0" smtClean="0"/>
              <a:t>思路：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1.</a:t>
            </a:r>
            <a:r>
              <a:rPr lang="zh-CN" altLang="en-US" dirty="0" smtClean="0"/>
              <a:t>遍历找到最后一个比</a:t>
            </a:r>
            <a:r>
              <a:rPr lang="en-US" altLang="zh-CN" dirty="0" smtClean="0"/>
              <a:t>x</a:t>
            </a:r>
            <a:r>
              <a:rPr lang="zh-CN" altLang="en-US" dirty="0" smtClean="0"/>
              <a:t>小的节点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While (p-&gt;next-&gt;data &lt; x) </a:t>
            </a:r>
          </a:p>
          <a:p>
            <a:pPr lvl="3"/>
            <a:r>
              <a:rPr lang="en-US" altLang="zh-CN" dirty="0" smtClean="0"/>
              <a:t>p = p-&gt;next;</a:t>
            </a:r>
          </a:p>
          <a:p>
            <a:pPr lvl="2"/>
            <a:r>
              <a:rPr lang="en-US" altLang="zh-CN" dirty="0" smtClean="0"/>
              <a:t>2.</a:t>
            </a:r>
            <a:r>
              <a:rPr lang="zh-CN" altLang="en-US" dirty="0" smtClean="0"/>
              <a:t>插入元素为</a:t>
            </a:r>
            <a:r>
              <a:rPr lang="en-US" altLang="zh-CN" dirty="0" smtClean="0"/>
              <a:t>x</a:t>
            </a:r>
            <a:r>
              <a:rPr lang="zh-CN" altLang="en-US" dirty="0" smtClean="0"/>
              <a:t>的节点</a:t>
            </a:r>
            <a:endParaRPr lang="en-US" altLang="zh-CN" dirty="0" smtClean="0"/>
          </a:p>
          <a:p>
            <a:pPr lvl="3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93578194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在考试中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对于不会太刁难同学们的链表题，只要灵活运用遍历、插入、删除，在草稿纸上画好步骤，理清思路，链表的分数就在向你招手。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657334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链表就只有这些了。。。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718901" y="2967335"/>
            <a:ext cx="76418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zh-CN" altLang="en-US" sz="5400" b="1" cap="none" spc="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祝大家</a:t>
            </a:r>
            <a:r>
              <a:rPr lang="en-US" altLang="zh-CN" sz="5400" b="1" cap="none" spc="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C</a:t>
            </a:r>
            <a:r>
              <a:rPr lang="zh-CN" altLang="en-US" sz="5400" b="1" cap="none" spc="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语言考出好成绩</a:t>
            </a:r>
            <a:endParaRPr lang="zh-CN" altLang="en-US" sz="5400" b="1" cap="none" spc="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7704086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凤舞九天">
  <a:themeElements>
    <a:clrScheme name="凤舞九天">
      <a:dk1>
        <a:sysClr val="windowText" lastClr="000000"/>
      </a:dk1>
      <a:lt1>
        <a:sysClr val="window" lastClr="FFFFFF"/>
      </a:lt1>
      <a:dk2>
        <a:srgbClr val="004646"/>
      </a:dk2>
      <a:lt2>
        <a:srgbClr val="E1F0FF"/>
      </a:lt2>
      <a:accent1>
        <a:srgbClr val="50742F"/>
      </a:accent1>
      <a:accent2>
        <a:srgbClr val="268868"/>
      </a:accent2>
      <a:accent3>
        <a:srgbClr val="33BD56"/>
      </a:accent3>
      <a:accent4>
        <a:srgbClr val="4BC5B9"/>
      </a:accent4>
      <a:accent5>
        <a:srgbClr val="3163CA"/>
      </a:accent5>
      <a:accent6>
        <a:srgbClr val="4B14AA"/>
      </a:accent6>
      <a:hlink>
        <a:srgbClr val="D9BE02"/>
      </a:hlink>
      <a:folHlink>
        <a:srgbClr val="F900F9"/>
      </a:folHlink>
    </a:clrScheme>
    <a:fontScheme name="凤舞九天">
      <a:majorFont>
        <a:latin typeface="Footlight MT Light"/>
        <a:ea typeface=""/>
        <a:cs typeface=""/>
        <a:font script="Jpan" typeface="ＭＳ Ｐゴシック"/>
        <a:font script="Hang" typeface="맑은 고딕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oudy Old Style"/>
        <a:ea typeface=""/>
        <a:cs typeface=""/>
        <a:font script="Jpan" typeface="ＭＳ Ｐ明朝"/>
        <a:font script="Hang" typeface="HY견명조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凤舞九天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atMod val="180000"/>
              </a:schemeClr>
            </a:gs>
            <a:gs pos="50000">
              <a:schemeClr val="phClr">
                <a:tint val="40000"/>
                <a:satMod val="175000"/>
              </a:schemeClr>
            </a:gs>
            <a:gs pos="100000">
              <a:schemeClr val="phClr">
                <a:tint val="65000"/>
                <a:satMod val="180000"/>
              </a:schemeClr>
            </a:gs>
          </a:gsLst>
          <a:lin ang="0" scaled="1"/>
        </a:gradFill>
        <a:gradFill rotWithShape="1">
          <a:gsLst>
            <a:gs pos="0">
              <a:schemeClr val="phClr">
                <a:shade val="38000"/>
                <a:satMod val="150000"/>
              </a:schemeClr>
            </a:gs>
            <a:gs pos="50000">
              <a:schemeClr val="phClr">
                <a:shade val="100000"/>
                <a:satMod val="100000"/>
              </a:schemeClr>
            </a:gs>
            <a:gs pos="100000">
              <a:schemeClr val="phClr">
                <a:shade val="38000"/>
                <a:satMod val="150000"/>
              </a:schemeClr>
            </a:gs>
          </a:gsLst>
          <a:lin ang="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00000"/>
              </a:schemeClr>
            </a:gs>
            <a:gs pos="100000">
              <a:schemeClr val="phClr">
                <a:shade val="15000"/>
                <a:satMod val="300000"/>
              </a:schemeClr>
            </a:gs>
          </a:gsLst>
          <a:path path="circle">
            <a:fillToRect l="10000" t="180000" r="1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tile tx="0" ty="0" sx="50000" sy="5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Phoenix</Template>
  <TotalTime>189</TotalTime>
  <Words>1213</Words>
  <Application>Microsoft Office PowerPoint</Application>
  <PresentationFormat>全屏显示(4:3)</PresentationFormat>
  <Paragraphs>150</Paragraphs>
  <Slides>20</Slides>
  <Notes>2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2" baseType="lpstr">
      <vt:lpstr>凤舞九天</vt:lpstr>
      <vt:lpstr>Picture2</vt:lpstr>
      <vt:lpstr>PowerPoint 演示文稿</vt:lpstr>
      <vt:lpstr>不要放弃链表题！！！</vt:lpstr>
      <vt:lpstr>1.结点</vt:lpstr>
      <vt:lpstr>2.链表</vt:lpstr>
      <vt:lpstr>3. 链表的类型定义 </vt:lpstr>
      <vt:lpstr>4. 指针的概念 </vt:lpstr>
      <vt:lpstr>做链表题，只要记住三个运算</vt:lpstr>
      <vt:lpstr>3.1.2 链表的基本运算 </vt:lpstr>
      <vt:lpstr>计算结点个数算法</vt:lpstr>
      <vt:lpstr>2. 插入 </vt:lpstr>
      <vt:lpstr>PowerPoint 演示文稿</vt:lpstr>
      <vt:lpstr>插入算法 </vt:lpstr>
      <vt:lpstr>3. 删除</vt:lpstr>
      <vt:lpstr>PowerPoint 演示文稿</vt:lpstr>
      <vt:lpstr>删除算法</vt:lpstr>
      <vt:lpstr>算法设计题 </vt:lpstr>
      <vt:lpstr>算法设计题 </vt:lpstr>
      <vt:lpstr>算法设计题 </vt:lpstr>
      <vt:lpstr>在考试中</vt:lpstr>
      <vt:lpstr>链表就只有这些了。。。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 链表</dc:title>
  <dc:creator>twg</dc:creator>
  <cp:lastModifiedBy>ZQ</cp:lastModifiedBy>
  <cp:revision>20</cp:revision>
  <dcterms:created xsi:type="dcterms:W3CDTF">2002-11-23T02:47:33Z</dcterms:created>
  <dcterms:modified xsi:type="dcterms:W3CDTF">2013-06-14T14:53:20Z</dcterms:modified>
</cp:coreProperties>
</file>