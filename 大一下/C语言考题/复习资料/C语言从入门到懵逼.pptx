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  <p:sldMasterId id="2147483668" r:id="rId2"/>
  </p:sldMasterIdLst>
  <p:notesMasterIdLst>
    <p:notesMasterId r:id="rId71"/>
  </p:notesMasterIdLst>
  <p:handoutMasterIdLst>
    <p:handoutMasterId r:id="rId72"/>
  </p:handoutMasterIdLst>
  <p:sldIdLst>
    <p:sldId id="281" r:id="rId3"/>
    <p:sldId id="282" r:id="rId4"/>
    <p:sldId id="294" r:id="rId5"/>
    <p:sldId id="285" r:id="rId6"/>
    <p:sldId id="284" r:id="rId7"/>
    <p:sldId id="307" r:id="rId8"/>
    <p:sldId id="308" r:id="rId9"/>
    <p:sldId id="309" r:id="rId10"/>
    <p:sldId id="311" r:id="rId11"/>
    <p:sldId id="310" r:id="rId12"/>
    <p:sldId id="287" r:id="rId13"/>
    <p:sldId id="312" r:id="rId14"/>
    <p:sldId id="368" r:id="rId15"/>
    <p:sldId id="313" r:id="rId16"/>
    <p:sldId id="314" r:id="rId17"/>
    <p:sldId id="315" r:id="rId18"/>
    <p:sldId id="316" r:id="rId19"/>
    <p:sldId id="317" r:id="rId20"/>
    <p:sldId id="318" r:id="rId21"/>
    <p:sldId id="326" r:id="rId22"/>
    <p:sldId id="319" r:id="rId23"/>
    <p:sldId id="320" r:id="rId24"/>
    <p:sldId id="321" r:id="rId25"/>
    <p:sldId id="322" r:id="rId26"/>
    <p:sldId id="328" r:id="rId27"/>
    <p:sldId id="329" r:id="rId28"/>
    <p:sldId id="330" r:id="rId29"/>
    <p:sldId id="332" r:id="rId30"/>
    <p:sldId id="361" r:id="rId31"/>
    <p:sldId id="372" r:id="rId32"/>
    <p:sldId id="331" r:id="rId33"/>
    <p:sldId id="324" r:id="rId34"/>
    <p:sldId id="323" r:id="rId35"/>
    <p:sldId id="327" r:id="rId36"/>
    <p:sldId id="362" r:id="rId37"/>
    <p:sldId id="363" r:id="rId38"/>
    <p:sldId id="364" r:id="rId39"/>
    <p:sldId id="369" r:id="rId40"/>
    <p:sldId id="370" r:id="rId41"/>
    <p:sldId id="366" r:id="rId42"/>
    <p:sldId id="367" r:id="rId43"/>
    <p:sldId id="295" r:id="rId44"/>
    <p:sldId id="290" r:id="rId45"/>
    <p:sldId id="333" r:id="rId46"/>
    <p:sldId id="334" r:id="rId47"/>
    <p:sldId id="335" r:id="rId48"/>
    <p:sldId id="336" r:id="rId49"/>
    <p:sldId id="337" r:id="rId50"/>
    <p:sldId id="338" r:id="rId51"/>
    <p:sldId id="339" r:id="rId52"/>
    <p:sldId id="340" r:id="rId53"/>
    <p:sldId id="341" r:id="rId54"/>
    <p:sldId id="342" r:id="rId55"/>
    <p:sldId id="343" r:id="rId56"/>
    <p:sldId id="344" r:id="rId57"/>
    <p:sldId id="296" r:id="rId58"/>
    <p:sldId id="289" r:id="rId59"/>
    <p:sldId id="357" r:id="rId60"/>
    <p:sldId id="358" r:id="rId61"/>
    <p:sldId id="359" r:id="rId62"/>
    <p:sldId id="360" r:id="rId63"/>
    <p:sldId id="351" r:id="rId64"/>
    <p:sldId id="352" r:id="rId65"/>
    <p:sldId id="353" r:id="rId66"/>
    <p:sldId id="354" r:id="rId67"/>
    <p:sldId id="355" r:id="rId68"/>
    <p:sldId id="356" r:id="rId69"/>
    <p:sldId id="365" r:id="rId70"/>
  </p:sldIdLst>
  <p:sldSz cx="9144000" cy="5143500" type="screen16x9"/>
  <p:notesSz cx="6858000" cy="9144000"/>
  <p:embeddedFontLst>
    <p:embeddedFont>
      <p:font typeface="微软雅黑 Light" panose="020B0502040204020203" pitchFamily="34" charset="-122"/>
      <p:regular r:id="rId73"/>
    </p:embeddedFont>
    <p:embeddedFont>
      <p:font typeface="Impact" panose="020B0806030902050204" pitchFamily="34" charset="0"/>
      <p:regular r:id="rId74"/>
    </p:embeddedFont>
    <p:embeddedFont>
      <p:font typeface="微软雅黑" panose="020B0503020204020204" pitchFamily="34" charset="-122"/>
      <p:regular r:id="rId75"/>
      <p:bold r:id="rId76"/>
    </p:embeddedFont>
    <p:embeddedFont>
      <p:font typeface="Wingdings 3" panose="05040102010807070707" pitchFamily="18" charset="2"/>
      <p:regular r:id="rId77"/>
    </p:embeddedFont>
    <p:embeddedFont>
      <p:font typeface="Calibri Light" panose="020F0302020204030204" pitchFamily="34" charset="0"/>
      <p:regular r:id="rId78"/>
      <p:italic r:id="rId79"/>
    </p:embeddedFont>
    <p:embeddedFont>
      <p:font typeface="Microsoft YaHei UI" panose="020B0503020204020204" pitchFamily="34" charset="-122"/>
      <p:regular r:id="rId80"/>
      <p:bold r:id="rId81"/>
    </p:embeddedFont>
    <p:embeddedFont>
      <p:font typeface="Calibri" panose="020F0502020204030204" pitchFamily="34" charset="0"/>
      <p:regular r:id="rId82"/>
      <p:bold r:id="rId83"/>
      <p:italic r:id="rId84"/>
      <p:boldItalic r:id="rId85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>
          <p15:clr>
            <a:srgbClr val="A4A3A4"/>
          </p15:clr>
        </p15:guide>
        <p15:guide id="2" orient="horz" pos="1053">
          <p15:clr>
            <a:srgbClr val="A4A3A4"/>
          </p15:clr>
        </p15:guide>
        <p15:guide id="3" pos="3844">
          <p15:clr>
            <a:srgbClr val="A4A3A4"/>
          </p15:clr>
        </p15:guide>
        <p15:guide id="4" pos="1916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A7BAE"/>
    <a:srgbClr val="95BC49"/>
    <a:srgbClr val="FDA907"/>
    <a:srgbClr val="BF3420"/>
    <a:srgbClr val="1D8AC1"/>
    <a:srgbClr val="062A3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9CF1AB2-1976-4502-BF36-3FF5EA218861}" styleName="中度样式 4 - 强调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957" autoAdjust="0"/>
    <p:restoredTop sz="38980" autoAdjust="0"/>
  </p:normalViewPr>
  <p:slideViewPr>
    <p:cSldViewPr>
      <p:cViewPr varScale="1">
        <p:scale>
          <a:sx n="150" d="100"/>
          <a:sy n="150" d="100"/>
        </p:scale>
        <p:origin x="630" y="120"/>
      </p:cViewPr>
      <p:guideLst>
        <p:guide orient="horz" pos="2159"/>
        <p:guide orient="horz" pos="1053"/>
        <p:guide pos="3844"/>
        <p:guide pos="1916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52" d="100"/>
          <a:sy n="52" d="100"/>
        </p:scale>
        <p:origin x="-2844" y="-84"/>
      </p:cViewPr>
      <p:guideLst>
        <p:guide orient="horz" pos="2880"/>
        <p:guide pos="2160"/>
      </p:guideLst>
    </p:cSldViewPr>
  </p:notesViewPr>
  <p:gridSpacing cx="45005" cy="45005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63" Type="http://schemas.openxmlformats.org/officeDocument/2006/relationships/slide" Target="slides/slide61.xml"/><Relationship Id="rId68" Type="http://schemas.openxmlformats.org/officeDocument/2006/relationships/slide" Target="slides/slide66.xml"/><Relationship Id="rId76" Type="http://schemas.openxmlformats.org/officeDocument/2006/relationships/font" Target="fonts/font4.fntdata"/><Relationship Id="rId84" Type="http://schemas.openxmlformats.org/officeDocument/2006/relationships/font" Target="fonts/font12.fntdata"/><Relationship Id="rId89" Type="http://schemas.openxmlformats.org/officeDocument/2006/relationships/tableStyles" Target="tableStyles.xml"/><Relationship Id="rId7" Type="http://schemas.openxmlformats.org/officeDocument/2006/relationships/slide" Target="slides/slide5.xml"/><Relationship Id="rId71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66" Type="http://schemas.openxmlformats.org/officeDocument/2006/relationships/slide" Target="slides/slide64.xml"/><Relationship Id="rId74" Type="http://schemas.openxmlformats.org/officeDocument/2006/relationships/font" Target="fonts/font2.fntdata"/><Relationship Id="rId79" Type="http://schemas.openxmlformats.org/officeDocument/2006/relationships/font" Target="fonts/font7.fntdata"/><Relationship Id="rId87" Type="http://schemas.openxmlformats.org/officeDocument/2006/relationships/viewProps" Target="viewProps.xml"/><Relationship Id="rId5" Type="http://schemas.openxmlformats.org/officeDocument/2006/relationships/slide" Target="slides/slide3.xml"/><Relationship Id="rId61" Type="http://schemas.openxmlformats.org/officeDocument/2006/relationships/slide" Target="slides/slide59.xml"/><Relationship Id="rId82" Type="http://schemas.openxmlformats.org/officeDocument/2006/relationships/font" Target="fonts/font10.fntdata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slide" Target="slides/slide62.xml"/><Relationship Id="rId69" Type="http://schemas.openxmlformats.org/officeDocument/2006/relationships/slide" Target="slides/slide67.xml"/><Relationship Id="rId77" Type="http://schemas.openxmlformats.org/officeDocument/2006/relationships/font" Target="fonts/font5.fntdata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handoutMaster" Target="handoutMasters/handoutMaster1.xml"/><Relationship Id="rId80" Type="http://schemas.openxmlformats.org/officeDocument/2006/relationships/font" Target="fonts/font8.fntdata"/><Relationship Id="rId85" Type="http://schemas.openxmlformats.org/officeDocument/2006/relationships/font" Target="fonts/font13.fntdata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slide" Target="slides/slide65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Relationship Id="rId70" Type="http://schemas.openxmlformats.org/officeDocument/2006/relationships/slide" Target="slides/slide68.xml"/><Relationship Id="rId75" Type="http://schemas.openxmlformats.org/officeDocument/2006/relationships/font" Target="fonts/font3.fntdata"/><Relationship Id="rId83" Type="http://schemas.openxmlformats.org/officeDocument/2006/relationships/font" Target="fonts/font11.fntdata"/><Relationship Id="rId88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73" Type="http://schemas.openxmlformats.org/officeDocument/2006/relationships/font" Target="fonts/font1.fntdata"/><Relationship Id="rId78" Type="http://schemas.openxmlformats.org/officeDocument/2006/relationships/font" Target="fonts/font6.fntdata"/><Relationship Id="rId81" Type="http://schemas.openxmlformats.org/officeDocument/2006/relationships/font" Target="fonts/font9.fntdata"/><Relationship Id="rId86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B56024-E033-460B-B461-F9C8C93C904B}" type="datetimeFigureOut">
              <a:rPr lang="zh-CN" altLang="en-US" smtClean="0"/>
              <a:t>2016/6/19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95472FC-EDD4-43B4-B218-6888597E2A2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0223641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D403541-C361-4440-AA44-DBB6527DDBFB}" type="datetimeFigureOut">
              <a:rPr lang="zh-CN" altLang="en-US" smtClean="0"/>
              <a:t>2016/6/19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89461BB-BB29-447B-86E6-652C097B04C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056223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注意</a:t>
            </a:r>
            <a:r>
              <a:rPr lang="en-US" altLang="zh-CN" dirty="0" err="1"/>
              <a:t>fgets</a:t>
            </a:r>
            <a:r>
              <a:rPr lang="zh-CN" altLang="en-US" dirty="0"/>
              <a:t>只读</a:t>
            </a:r>
            <a:r>
              <a:rPr lang="en-US" altLang="zh-CN" dirty="0"/>
              <a:t>n-1</a:t>
            </a:r>
            <a:r>
              <a:rPr lang="zh-CN" altLang="en-US" dirty="0"/>
              <a:t>个字符</a:t>
            </a:r>
          </a:p>
        </p:txBody>
      </p:sp>
    </p:spTree>
    <p:extLst>
      <p:ext uri="{BB962C8B-B14F-4D97-AF65-F5344CB8AC3E}">
        <p14:creationId xmlns:p14="http://schemas.microsoft.com/office/powerpoint/2010/main" val="17593206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椭圆 1"/>
          <p:cNvSpPr/>
          <p:nvPr userDrawn="1"/>
        </p:nvSpPr>
        <p:spPr>
          <a:xfrm rot="5400000">
            <a:off x="1790966" y="425408"/>
            <a:ext cx="2028376" cy="1177563"/>
          </a:xfrm>
          <a:custGeom>
            <a:avLst/>
            <a:gdLst/>
            <a:ahLst/>
            <a:cxnLst/>
            <a:rect l="l" t="t" r="r" b="b"/>
            <a:pathLst>
              <a:path w="2028376" h="1177563">
                <a:moveTo>
                  <a:pt x="0" y="1177563"/>
                </a:moveTo>
                <a:lnTo>
                  <a:pt x="0" y="0"/>
                </a:lnTo>
                <a:lnTo>
                  <a:pt x="2028376" y="0"/>
                </a:lnTo>
                <a:cubicBezTo>
                  <a:pt x="1624320" y="702037"/>
                  <a:pt x="867468" y="1174384"/>
                  <a:pt x="0" y="1177563"/>
                </a:cubicBezTo>
                <a:close/>
              </a:path>
            </a:pathLst>
          </a:custGeom>
          <a:solidFill>
            <a:srgbClr val="BF34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7"/>
          <p:cNvSpPr/>
          <p:nvPr userDrawn="1"/>
        </p:nvSpPr>
        <p:spPr>
          <a:xfrm rot="5400000">
            <a:off x="2809827" y="584110"/>
            <a:ext cx="2346109" cy="1177890"/>
          </a:xfrm>
          <a:custGeom>
            <a:avLst/>
            <a:gdLst/>
            <a:ahLst/>
            <a:cxnLst/>
            <a:rect l="l" t="t" r="r" b="b"/>
            <a:pathLst>
              <a:path w="2346109" h="1177890">
                <a:moveTo>
                  <a:pt x="0" y="1177890"/>
                </a:moveTo>
                <a:lnTo>
                  <a:pt x="0" y="0"/>
                </a:lnTo>
                <a:lnTo>
                  <a:pt x="2346109" y="0"/>
                </a:lnTo>
                <a:cubicBezTo>
                  <a:pt x="2346109" y="429552"/>
                  <a:pt x="2231144" y="832251"/>
                  <a:pt x="2028377" y="1177890"/>
                </a:cubicBezTo>
                <a:close/>
              </a:path>
            </a:pathLst>
          </a:custGeom>
          <a:solidFill>
            <a:srgbClr val="FDA90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椭圆 12"/>
          <p:cNvSpPr/>
          <p:nvPr userDrawn="1"/>
        </p:nvSpPr>
        <p:spPr>
          <a:xfrm rot="5400000">
            <a:off x="5324309" y="425407"/>
            <a:ext cx="2028375" cy="1177562"/>
          </a:xfrm>
          <a:custGeom>
            <a:avLst/>
            <a:gdLst/>
            <a:ahLst/>
            <a:cxnLst/>
            <a:rect l="l" t="t" r="r" b="b"/>
            <a:pathLst>
              <a:path w="2028375" h="1177562">
                <a:moveTo>
                  <a:pt x="0" y="1177562"/>
                </a:moveTo>
                <a:lnTo>
                  <a:pt x="0" y="0"/>
                </a:lnTo>
                <a:cubicBezTo>
                  <a:pt x="867468" y="3179"/>
                  <a:pt x="1624319" y="475526"/>
                  <a:pt x="2028375" y="1177562"/>
                </a:cubicBezTo>
                <a:close/>
              </a:path>
            </a:pathLst>
          </a:custGeom>
          <a:solidFill>
            <a:srgbClr val="1A7B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椭圆 13"/>
          <p:cNvSpPr/>
          <p:nvPr userDrawn="1"/>
        </p:nvSpPr>
        <p:spPr>
          <a:xfrm rot="5400000">
            <a:off x="3987408" y="584418"/>
            <a:ext cx="2346724" cy="1177890"/>
          </a:xfrm>
          <a:custGeom>
            <a:avLst/>
            <a:gdLst/>
            <a:ahLst/>
            <a:cxnLst/>
            <a:rect l="l" t="t" r="r" b="b"/>
            <a:pathLst>
              <a:path w="2346724" h="1177890">
                <a:moveTo>
                  <a:pt x="0" y="1177890"/>
                </a:moveTo>
                <a:lnTo>
                  <a:pt x="0" y="0"/>
                </a:lnTo>
                <a:lnTo>
                  <a:pt x="2028990" y="0"/>
                </a:lnTo>
                <a:cubicBezTo>
                  <a:pt x="2231759" y="345641"/>
                  <a:pt x="2346724" y="748340"/>
                  <a:pt x="2346724" y="1177890"/>
                </a:cubicBezTo>
                <a:close/>
              </a:path>
            </a:pathLst>
          </a:custGeom>
          <a:solidFill>
            <a:srgbClr val="95BC4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弧形 5"/>
          <p:cNvSpPr/>
          <p:nvPr userDrawn="1"/>
        </p:nvSpPr>
        <p:spPr>
          <a:xfrm>
            <a:off x="2074528" y="-2513200"/>
            <a:ext cx="4994940" cy="4994940"/>
          </a:xfrm>
          <a:prstGeom prst="arc">
            <a:avLst>
              <a:gd name="adj1" fmla="val 3404"/>
              <a:gd name="adj2" fmla="val 10819516"/>
            </a:avLst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椭圆 6"/>
          <p:cNvSpPr/>
          <p:nvPr userDrawn="1"/>
        </p:nvSpPr>
        <p:spPr>
          <a:xfrm>
            <a:off x="4493240" y="2414232"/>
            <a:ext cx="157518" cy="157518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88058450"/>
      </p:ext>
    </p:extLst>
  </p:cSld>
  <p:clrMapOvr>
    <a:masterClrMapping/>
  </p:clrMapOvr>
  <p:transition spd="slow">
    <p:push dir="u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 userDrawn="1"/>
        </p:nvGrpSpPr>
        <p:grpSpPr>
          <a:xfrm>
            <a:off x="281524" y="0"/>
            <a:ext cx="105725" cy="721610"/>
            <a:chOff x="281524" y="0"/>
            <a:chExt cx="105725" cy="721610"/>
          </a:xfrm>
          <a:solidFill>
            <a:srgbClr val="1A7BAE"/>
          </a:solidFill>
        </p:grpSpPr>
        <p:sp>
          <p:nvSpPr>
            <p:cNvPr id="5" name="矩形 4"/>
            <p:cNvSpPr/>
            <p:nvPr/>
          </p:nvSpPr>
          <p:spPr>
            <a:xfrm>
              <a:off x="281524" y="0"/>
              <a:ext cx="45719" cy="72161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矩形 5"/>
            <p:cNvSpPr/>
            <p:nvPr/>
          </p:nvSpPr>
          <p:spPr>
            <a:xfrm>
              <a:off x="341530" y="0"/>
              <a:ext cx="45719" cy="72161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7" name="组合 6"/>
          <p:cNvGrpSpPr/>
          <p:nvPr userDrawn="1"/>
        </p:nvGrpSpPr>
        <p:grpSpPr>
          <a:xfrm rot="10800000">
            <a:off x="8801756" y="4963098"/>
            <a:ext cx="105725" cy="180402"/>
            <a:chOff x="281524" y="0"/>
            <a:chExt cx="105725" cy="721610"/>
          </a:xfrm>
          <a:solidFill>
            <a:srgbClr val="1A7BAE"/>
          </a:solidFill>
        </p:grpSpPr>
        <p:sp>
          <p:nvSpPr>
            <p:cNvPr id="10" name="矩形 9"/>
            <p:cNvSpPr/>
            <p:nvPr/>
          </p:nvSpPr>
          <p:spPr>
            <a:xfrm>
              <a:off x="281524" y="0"/>
              <a:ext cx="45719" cy="72161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矩形 10"/>
            <p:cNvSpPr/>
            <p:nvPr/>
          </p:nvSpPr>
          <p:spPr>
            <a:xfrm>
              <a:off x="341530" y="0"/>
              <a:ext cx="45719" cy="72161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cxnSp>
        <p:nvCxnSpPr>
          <p:cNvPr id="8" name="直接连接符 7"/>
          <p:cNvCxnSpPr/>
          <p:nvPr userDrawn="1"/>
        </p:nvCxnSpPr>
        <p:spPr>
          <a:xfrm>
            <a:off x="521550" y="681540"/>
            <a:ext cx="351039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27067350"/>
      </p:ext>
    </p:extLst>
  </p:cSld>
  <p:clrMapOvr>
    <a:masterClrMapping/>
  </p:clrMapOvr>
  <p:transition spd="slow">
    <p:push dir="u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 userDrawn="1"/>
        </p:nvGrpSpPr>
        <p:grpSpPr>
          <a:xfrm>
            <a:off x="281524" y="0"/>
            <a:ext cx="105725" cy="721610"/>
            <a:chOff x="281524" y="0"/>
            <a:chExt cx="105725" cy="721610"/>
          </a:xfrm>
          <a:solidFill>
            <a:srgbClr val="95BC49"/>
          </a:solidFill>
        </p:grpSpPr>
        <p:sp>
          <p:nvSpPr>
            <p:cNvPr id="5" name="矩形 4"/>
            <p:cNvSpPr/>
            <p:nvPr/>
          </p:nvSpPr>
          <p:spPr>
            <a:xfrm>
              <a:off x="281524" y="0"/>
              <a:ext cx="45719" cy="72161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矩形 5"/>
            <p:cNvSpPr/>
            <p:nvPr/>
          </p:nvSpPr>
          <p:spPr>
            <a:xfrm>
              <a:off x="341530" y="0"/>
              <a:ext cx="45719" cy="72161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7" name="组合 6"/>
          <p:cNvGrpSpPr/>
          <p:nvPr userDrawn="1"/>
        </p:nvGrpSpPr>
        <p:grpSpPr>
          <a:xfrm rot="10800000">
            <a:off x="8801756" y="4963098"/>
            <a:ext cx="105725" cy="180402"/>
            <a:chOff x="281524" y="0"/>
            <a:chExt cx="105725" cy="721610"/>
          </a:xfrm>
          <a:solidFill>
            <a:srgbClr val="95BC49"/>
          </a:solidFill>
        </p:grpSpPr>
        <p:sp>
          <p:nvSpPr>
            <p:cNvPr id="10" name="矩形 9"/>
            <p:cNvSpPr/>
            <p:nvPr/>
          </p:nvSpPr>
          <p:spPr>
            <a:xfrm>
              <a:off x="281524" y="0"/>
              <a:ext cx="45719" cy="72161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矩形 10"/>
            <p:cNvSpPr/>
            <p:nvPr/>
          </p:nvSpPr>
          <p:spPr>
            <a:xfrm>
              <a:off x="341530" y="0"/>
              <a:ext cx="45719" cy="72161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cxnSp>
        <p:nvCxnSpPr>
          <p:cNvPr id="8" name="直接连接符 7"/>
          <p:cNvCxnSpPr/>
          <p:nvPr userDrawn="1"/>
        </p:nvCxnSpPr>
        <p:spPr>
          <a:xfrm>
            <a:off x="521550" y="681540"/>
            <a:ext cx="351039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56618931"/>
      </p:ext>
    </p:extLst>
  </p:cSld>
  <p:clrMapOvr>
    <a:masterClrMapping/>
  </p:clrMapOvr>
  <p:transition spd="slow">
    <p:push dir="u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 userDrawn="1"/>
        </p:nvGrpSpPr>
        <p:grpSpPr>
          <a:xfrm>
            <a:off x="281524" y="0"/>
            <a:ext cx="105725" cy="721610"/>
            <a:chOff x="281524" y="0"/>
            <a:chExt cx="105725" cy="721610"/>
          </a:xfrm>
          <a:solidFill>
            <a:srgbClr val="FDA907"/>
          </a:solidFill>
        </p:grpSpPr>
        <p:sp>
          <p:nvSpPr>
            <p:cNvPr id="5" name="矩形 4"/>
            <p:cNvSpPr/>
            <p:nvPr/>
          </p:nvSpPr>
          <p:spPr>
            <a:xfrm>
              <a:off x="281524" y="0"/>
              <a:ext cx="45719" cy="72161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矩形 5"/>
            <p:cNvSpPr/>
            <p:nvPr/>
          </p:nvSpPr>
          <p:spPr>
            <a:xfrm>
              <a:off x="341530" y="0"/>
              <a:ext cx="45719" cy="72161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7" name="组合 6"/>
          <p:cNvGrpSpPr/>
          <p:nvPr userDrawn="1"/>
        </p:nvGrpSpPr>
        <p:grpSpPr>
          <a:xfrm rot="10800000">
            <a:off x="8801756" y="4963098"/>
            <a:ext cx="105725" cy="180402"/>
            <a:chOff x="281524" y="0"/>
            <a:chExt cx="105725" cy="721610"/>
          </a:xfrm>
          <a:solidFill>
            <a:srgbClr val="FDA907"/>
          </a:solidFill>
        </p:grpSpPr>
        <p:sp>
          <p:nvSpPr>
            <p:cNvPr id="10" name="矩形 9"/>
            <p:cNvSpPr/>
            <p:nvPr/>
          </p:nvSpPr>
          <p:spPr>
            <a:xfrm>
              <a:off x="281524" y="0"/>
              <a:ext cx="45719" cy="72161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矩形 10"/>
            <p:cNvSpPr/>
            <p:nvPr/>
          </p:nvSpPr>
          <p:spPr>
            <a:xfrm>
              <a:off x="341530" y="0"/>
              <a:ext cx="45719" cy="72161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cxnSp>
        <p:nvCxnSpPr>
          <p:cNvPr id="8" name="直接连接符 7"/>
          <p:cNvCxnSpPr/>
          <p:nvPr userDrawn="1"/>
        </p:nvCxnSpPr>
        <p:spPr>
          <a:xfrm>
            <a:off x="521550" y="681540"/>
            <a:ext cx="351039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96466869"/>
      </p:ext>
    </p:extLst>
  </p:cSld>
  <p:clrMapOvr>
    <a:masterClrMapping/>
  </p:clrMapOvr>
  <p:transition spd="slow">
    <p:push dir="u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 userDrawn="1"/>
        </p:nvGrpSpPr>
        <p:grpSpPr>
          <a:xfrm>
            <a:off x="281524" y="0"/>
            <a:ext cx="105725" cy="721610"/>
            <a:chOff x="281524" y="0"/>
            <a:chExt cx="105725" cy="721610"/>
          </a:xfrm>
          <a:solidFill>
            <a:srgbClr val="BF3420"/>
          </a:solidFill>
        </p:grpSpPr>
        <p:sp>
          <p:nvSpPr>
            <p:cNvPr id="5" name="矩形 4"/>
            <p:cNvSpPr/>
            <p:nvPr/>
          </p:nvSpPr>
          <p:spPr>
            <a:xfrm>
              <a:off x="281524" y="0"/>
              <a:ext cx="45719" cy="72161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矩形 5"/>
            <p:cNvSpPr/>
            <p:nvPr/>
          </p:nvSpPr>
          <p:spPr>
            <a:xfrm>
              <a:off x="341530" y="0"/>
              <a:ext cx="45719" cy="72161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7" name="组合 6"/>
          <p:cNvGrpSpPr/>
          <p:nvPr userDrawn="1"/>
        </p:nvGrpSpPr>
        <p:grpSpPr>
          <a:xfrm rot="10800000">
            <a:off x="8801756" y="4963098"/>
            <a:ext cx="105725" cy="180402"/>
            <a:chOff x="281524" y="0"/>
            <a:chExt cx="105725" cy="721610"/>
          </a:xfrm>
          <a:solidFill>
            <a:srgbClr val="BF3420"/>
          </a:solidFill>
        </p:grpSpPr>
        <p:sp>
          <p:nvSpPr>
            <p:cNvPr id="10" name="矩形 9"/>
            <p:cNvSpPr/>
            <p:nvPr/>
          </p:nvSpPr>
          <p:spPr>
            <a:xfrm>
              <a:off x="281524" y="0"/>
              <a:ext cx="45719" cy="72161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矩形 10"/>
            <p:cNvSpPr/>
            <p:nvPr/>
          </p:nvSpPr>
          <p:spPr>
            <a:xfrm>
              <a:off x="341530" y="0"/>
              <a:ext cx="45719" cy="72161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cxnSp>
        <p:nvCxnSpPr>
          <p:cNvPr id="8" name="直接连接符 7"/>
          <p:cNvCxnSpPr/>
          <p:nvPr userDrawn="1"/>
        </p:nvCxnSpPr>
        <p:spPr>
          <a:xfrm>
            <a:off x="521550" y="681540"/>
            <a:ext cx="351039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0572704"/>
      </p:ext>
    </p:extLst>
  </p:cSld>
  <p:clrMapOvr>
    <a:masterClrMapping/>
  </p:clrMapOvr>
  <p:transition spd="slow">
    <p:push dir="u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 userDrawn="1"/>
        </p:nvGrpSpPr>
        <p:grpSpPr>
          <a:xfrm>
            <a:off x="161510" y="0"/>
            <a:ext cx="225739" cy="721610"/>
            <a:chOff x="161510" y="0"/>
            <a:chExt cx="225739" cy="721610"/>
          </a:xfrm>
        </p:grpSpPr>
        <p:sp>
          <p:nvSpPr>
            <p:cNvPr id="3" name="矩形 2"/>
            <p:cNvSpPr/>
            <p:nvPr/>
          </p:nvSpPr>
          <p:spPr>
            <a:xfrm>
              <a:off x="161510" y="0"/>
              <a:ext cx="45719" cy="721610"/>
            </a:xfrm>
            <a:prstGeom prst="rect">
              <a:avLst/>
            </a:prstGeom>
            <a:solidFill>
              <a:srgbClr val="1A7BA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" name="矩形 3"/>
            <p:cNvSpPr/>
            <p:nvPr/>
          </p:nvSpPr>
          <p:spPr>
            <a:xfrm>
              <a:off x="221517" y="0"/>
              <a:ext cx="45719" cy="721610"/>
            </a:xfrm>
            <a:prstGeom prst="rect">
              <a:avLst/>
            </a:prstGeom>
            <a:solidFill>
              <a:srgbClr val="95BC4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矩形 4"/>
            <p:cNvSpPr/>
            <p:nvPr/>
          </p:nvSpPr>
          <p:spPr>
            <a:xfrm>
              <a:off x="281524" y="0"/>
              <a:ext cx="45719" cy="721610"/>
            </a:xfrm>
            <a:prstGeom prst="rect">
              <a:avLst/>
            </a:prstGeom>
            <a:solidFill>
              <a:srgbClr val="FDA90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矩形 5"/>
            <p:cNvSpPr/>
            <p:nvPr/>
          </p:nvSpPr>
          <p:spPr>
            <a:xfrm>
              <a:off x="341530" y="0"/>
              <a:ext cx="45719" cy="721610"/>
            </a:xfrm>
            <a:prstGeom prst="rect">
              <a:avLst/>
            </a:prstGeom>
            <a:solidFill>
              <a:srgbClr val="BF342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7" name="组合 6"/>
          <p:cNvGrpSpPr/>
          <p:nvPr userDrawn="1"/>
        </p:nvGrpSpPr>
        <p:grpSpPr>
          <a:xfrm rot="10800000">
            <a:off x="8801756" y="4963098"/>
            <a:ext cx="225739" cy="180402"/>
            <a:chOff x="161510" y="0"/>
            <a:chExt cx="225739" cy="721610"/>
          </a:xfrm>
        </p:grpSpPr>
        <p:sp>
          <p:nvSpPr>
            <p:cNvPr id="8" name="矩形 7"/>
            <p:cNvSpPr/>
            <p:nvPr/>
          </p:nvSpPr>
          <p:spPr>
            <a:xfrm>
              <a:off x="161510" y="0"/>
              <a:ext cx="45719" cy="721610"/>
            </a:xfrm>
            <a:prstGeom prst="rect">
              <a:avLst/>
            </a:prstGeom>
            <a:solidFill>
              <a:srgbClr val="1A7BA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矩形 8"/>
            <p:cNvSpPr/>
            <p:nvPr/>
          </p:nvSpPr>
          <p:spPr>
            <a:xfrm>
              <a:off x="221517" y="0"/>
              <a:ext cx="45719" cy="721610"/>
            </a:xfrm>
            <a:prstGeom prst="rect">
              <a:avLst/>
            </a:prstGeom>
            <a:solidFill>
              <a:srgbClr val="95BC4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矩形 9"/>
            <p:cNvSpPr/>
            <p:nvPr/>
          </p:nvSpPr>
          <p:spPr>
            <a:xfrm>
              <a:off x="281524" y="0"/>
              <a:ext cx="45719" cy="721610"/>
            </a:xfrm>
            <a:prstGeom prst="rect">
              <a:avLst/>
            </a:prstGeom>
            <a:solidFill>
              <a:srgbClr val="FDA90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矩形 10"/>
            <p:cNvSpPr/>
            <p:nvPr/>
          </p:nvSpPr>
          <p:spPr>
            <a:xfrm>
              <a:off x="341530" y="0"/>
              <a:ext cx="45719" cy="721610"/>
            </a:xfrm>
            <a:prstGeom prst="rect">
              <a:avLst/>
            </a:prstGeom>
            <a:solidFill>
              <a:srgbClr val="BF342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818371333"/>
      </p:ext>
    </p:extLst>
  </p:cSld>
  <p:clrMapOvr>
    <a:masterClrMapping/>
  </p:clrMapOvr>
  <p:transition spd="slow">
    <p:push dir="u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>
    <p:push dir="u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13392713"/>
      </p:ext>
    </p:extLst>
  </p:cSld>
  <p:clrMapOvr>
    <a:masterClrMapping/>
  </p:clrMapOvr>
  <p:transition spd="slow">
    <p:push dir="u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 userDrawn="1"/>
        </p:nvSpPr>
        <p:spPr>
          <a:xfrm>
            <a:off x="0" y="2706765"/>
            <a:ext cx="9144000" cy="13501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" name="Picture 2" descr="C:\Documents and Settings\yangweizhou\桌面\2.jpg"/>
          <p:cNvPicPr>
            <a:picLocks noChangeAspect="1" noChangeArrowheads="1"/>
          </p:cNvPicPr>
          <p:nvPr userDrawn="1"/>
        </p:nvPicPr>
        <p:blipFill rotWithShape="1">
          <a:blip r:embed="rId2"/>
          <a:srcRect b="20467"/>
          <a:stretch/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  <p:transition spd="slow">
    <p:push dir="u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>
    <p:push dir="u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 spd="slow">
    <p:push dir="u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 spd="slow">
    <p:push dir="u"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 spd="slow">
    <p:push dir="u"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 spd="slow">
    <p:push dir="u"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 spd="slow">
    <p:push dir="u"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椭圆 1"/>
          <p:cNvSpPr/>
          <p:nvPr userDrawn="1"/>
        </p:nvSpPr>
        <p:spPr>
          <a:xfrm rot="5400000">
            <a:off x="1790966" y="425408"/>
            <a:ext cx="2028376" cy="1177563"/>
          </a:xfrm>
          <a:custGeom>
            <a:avLst/>
            <a:gdLst/>
            <a:ahLst/>
            <a:cxnLst/>
            <a:rect l="l" t="t" r="r" b="b"/>
            <a:pathLst>
              <a:path w="2028376" h="1177563">
                <a:moveTo>
                  <a:pt x="0" y="1177563"/>
                </a:moveTo>
                <a:lnTo>
                  <a:pt x="0" y="0"/>
                </a:lnTo>
                <a:lnTo>
                  <a:pt x="2028376" y="0"/>
                </a:lnTo>
                <a:cubicBezTo>
                  <a:pt x="1624320" y="702037"/>
                  <a:pt x="867468" y="1174384"/>
                  <a:pt x="0" y="1177563"/>
                </a:cubicBezTo>
                <a:close/>
              </a:path>
            </a:pathLst>
          </a:custGeom>
          <a:solidFill>
            <a:srgbClr val="BF34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7"/>
          <p:cNvSpPr/>
          <p:nvPr userDrawn="1"/>
        </p:nvSpPr>
        <p:spPr>
          <a:xfrm rot="5400000">
            <a:off x="2809827" y="584110"/>
            <a:ext cx="2346109" cy="1177890"/>
          </a:xfrm>
          <a:custGeom>
            <a:avLst/>
            <a:gdLst/>
            <a:ahLst/>
            <a:cxnLst/>
            <a:rect l="l" t="t" r="r" b="b"/>
            <a:pathLst>
              <a:path w="2346109" h="1177890">
                <a:moveTo>
                  <a:pt x="0" y="1177890"/>
                </a:moveTo>
                <a:lnTo>
                  <a:pt x="0" y="0"/>
                </a:lnTo>
                <a:lnTo>
                  <a:pt x="2346109" y="0"/>
                </a:lnTo>
                <a:cubicBezTo>
                  <a:pt x="2346109" y="429552"/>
                  <a:pt x="2231144" y="832251"/>
                  <a:pt x="2028377" y="1177890"/>
                </a:cubicBezTo>
                <a:close/>
              </a:path>
            </a:pathLst>
          </a:custGeom>
          <a:solidFill>
            <a:srgbClr val="FDA90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椭圆 12"/>
          <p:cNvSpPr/>
          <p:nvPr userDrawn="1"/>
        </p:nvSpPr>
        <p:spPr>
          <a:xfrm rot="5400000">
            <a:off x="5324309" y="425407"/>
            <a:ext cx="2028375" cy="1177562"/>
          </a:xfrm>
          <a:custGeom>
            <a:avLst/>
            <a:gdLst/>
            <a:ahLst/>
            <a:cxnLst/>
            <a:rect l="l" t="t" r="r" b="b"/>
            <a:pathLst>
              <a:path w="2028375" h="1177562">
                <a:moveTo>
                  <a:pt x="0" y="1177562"/>
                </a:moveTo>
                <a:lnTo>
                  <a:pt x="0" y="0"/>
                </a:lnTo>
                <a:cubicBezTo>
                  <a:pt x="867468" y="3179"/>
                  <a:pt x="1624319" y="475526"/>
                  <a:pt x="2028375" y="1177562"/>
                </a:cubicBezTo>
                <a:close/>
              </a:path>
            </a:pathLst>
          </a:custGeom>
          <a:solidFill>
            <a:srgbClr val="1A7B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椭圆 13"/>
          <p:cNvSpPr/>
          <p:nvPr userDrawn="1"/>
        </p:nvSpPr>
        <p:spPr>
          <a:xfrm rot="5400000">
            <a:off x="3987408" y="584418"/>
            <a:ext cx="2346724" cy="1177890"/>
          </a:xfrm>
          <a:custGeom>
            <a:avLst/>
            <a:gdLst/>
            <a:ahLst/>
            <a:cxnLst/>
            <a:rect l="l" t="t" r="r" b="b"/>
            <a:pathLst>
              <a:path w="2346724" h="1177890">
                <a:moveTo>
                  <a:pt x="0" y="1177890"/>
                </a:moveTo>
                <a:lnTo>
                  <a:pt x="0" y="0"/>
                </a:lnTo>
                <a:lnTo>
                  <a:pt x="2028990" y="0"/>
                </a:lnTo>
                <a:cubicBezTo>
                  <a:pt x="2231759" y="345641"/>
                  <a:pt x="2346724" y="748340"/>
                  <a:pt x="2346724" y="1177890"/>
                </a:cubicBezTo>
                <a:close/>
              </a:path>
            </a:pathLst>
          </a:custGeom>
          <a:solidFill>
            <a:srgbClr val="95BC4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弧形 5"/>
          <p:cNvSpPr/>
          <p:nvPr userDrawn="1"/>
        </p:nvSpPr>
        <p:spPr>
          <a:xfrm>
            <a:off x="2074528" y="-2513200"/>
            <a:ext cx="4994940" cy="4994940"/>
          </a:xfrm>
          <a:prstGeom prst="arc">
            <a:avLst>
              <a:gd name="adj1" fmla="val 3404"/>
              <a:gd name="adj2" fmla="val 10819516"/>
            </a:avLst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椭圆 6"/>
          <p:cNvSpPr/>
          <p:nvPr userDrawn="1"/>
        </p:nvSpPr>
        <p:spPr>
          <a:xfrm>
            <a:off x="4493240" y="2414232"/>
            <a:ext cx="157518" cy="157518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75722015"/>
      </p:ext>
    </p:extLst>
  </p:cSld>
  <p:clrMapOvr>
    <a:masterClrMapping/>
  </p:clrMapOvr>
  <p:transition spd="slow">
    <p:push dir="u"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 userDrawn="1"/>
        </p:nvGrpSpPr>
        <p:grpSpPr>
          <a:xfrm>
            <a:off x="281524" y="0"/>
            <a:ext cx="105725" cy="721610"/>
            <a:chOff x="281524" y="0"/>
            <a:chExt cx="105725" cy="721610"/>
          </a:xfrm>
          <a:solidFill>
            <a:srgbClr val="1A7BAE"/>
          </a:solidFill>
        </p:grpSpPr>
        <p:sp>
          <p:nvSpPr>
            <p:cNvPr id="5" name="矩形 4"/>
            <p:cNvSpPr/>
            <p:nvPr/>
          </p:nvSpPr>
          <p:spPr>
            <a:xfrm>
              <a:off x="281524" y="0"/>
              <a:ext cx="45719" cy="72161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矩形 5"/>
            <p:cNvSpPr/>
            <p:nvPr/>
          </p:nvSpPr>
          <p:spPr>
            <a:xfrm>
              <a:off x="341530" y="0"/>
              <a:ext cx="45719" cy="72161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7" name="组合 6"/>
          <p:cNvGrpSpPr/>
          <p:nvPr userDrawn="1"/>
        </p:nvGrpSpPr>
        <p:grpSpPr>
          <a:xfrm rot="10800000">
            <a:off x="8801756" y="4963098"/>
            <a:ext cx="105725" cy="180402"/>
            <a:chOff x="281524" y="0"/>
            <a:chExt cx="105725" cy="721610"/>
          </a:xfrm>
          <a:solidFill>
            <a:srgbClr val="1A7BAE"/>
          </a:solidFill>
        </p:grpSpPr>
        <p:sp>
          <p:nvSpPr>
            <p:cNvPr id="10" name="矩形 9"/>
            <p:cNvSpPr/>
            <p:nvPr/>
          </p:nvSpPr>
          <p:spPr>
            <a:xfrm>
              <a:off x="281524" y="0"/>
              <a:ext cx="45719" cy="72161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矩形 10"/>
            <p:cNvSpPr/>
            <p:nvPr/>
          </p:nvSpPr>
          <p:spPr>
            <a:xfrm>
              <a:off x="341530" y="0"/>
              <a:ext cx="45719" cy="72161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cxnSp>
        <p:nvCxnSpPr>
          <p:cNvPr id="8" name="直接连接符 7"/>
          <p:cNvCxnSpPr/>
          <p:nvPr userDrawn="1"/>
        </p:nvCxnSpPr>
        <p:spPr>
          <a:xfrm>
            <a:off x="521550" y="681540"/>
            <a:ext cx="351039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49127976"/>
      </p:ext>
    </p:extLst>
  </p:cSld>
  <p:clrMapOvr>
    <a:masterClrMapping/>
  </p:clrMapOvr>
  <p:transition spd="slow">
    <p:push dir="u"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 userDrawn="1"/>
        </p:nvGrpSpPr>
        <p:grpSpPr>
          <a:xfrm>
            <a:off x="281524" y="0"/>
            <a:ext cx="105725" cy="721610"/>
            <a:chOff x="281524" y="0"/>
            <a:chExt cx="105725" cy="721610"/>
          </a:xfrm>
          <a:solidFill>
            <a:srgbClr val="95BC49"/>
          </a:solidFill>
        </p:grpSpPr>
        <p:sp>
          <p:nvSpPr>
            <p:cNvPr id="5" name="矩形 4"/>
            <p:cNvSpPr/>
            <p:nvPr/>
          </p:nvSpPr>
          <p:spPr>
            <a:xfrm>
              <a:off x="281524" y="0"/>
              <a:ext cx="45719" cy="72161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矩形 5"/>
            <p:cNvSpPr/>
            <p:nvPr/>
          </p:nvSpPr>
          <p:spPr>
            <a:xfrm>
              <a:off x="341530" y="0"/>
              <a:ext cx="45719" cy="72161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7" name="组合 6"/>
          <p:cNvGrpSpPr/>
          <p:nvPr userDrawn="1"/>
        </p:nvGrpSpPr>
        <p:grpSpPr>
          <a:xfrm rot="10800000">
            <a:off x="8801756" y="4963098"/>
            <a:ext cx="105725" cy="180402"/>
            <a:chOff x="281524" y="0"/>
            <a:chExt cx="105725" cy="721610"/>
          </a:xfrm>
          <a:solidFill>
            <a:srgbClr val="95BC49"/>
          </a:solidFill>
        </p:grpSpPr>
        <p:sp>
          <p:nvSpPr>
            <p:cNvPr id="10" name="矩形 9"/>
            <p:cNvSpPr/>
            <p:nvPr/>
          </p:nvSpPr>
          <p:spPr>
            <a:xfrm>
              <a:off x="281524" y="0"/>
              <a:ext cx="45719" cy="72161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矩形 10"/>
            <p:cNvSpPr/>
            <p:nvPr/>
          </p:nvSpPr>
          <p:spPr>
            <a:xfrm>
              <a:off x="341530" y="0"/>
              <a:ext cx="45719" cy="72161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cxnSp>
        <p:nvCxnSpPr>
          <p:cNvPr id="8" name="直接连接符 7"/>
          <p:cNvCxnSpPr/>
          <p:nvPr userDrawn="1"/>
        </p:nvCxnSpPr>
        <p:spPr>
          <a:xfrm>
            <a:off x="521550" y="681540"/>
            <a:ext cx="351039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99339327"/>
      </p:ext>
    </p:extLst>
  </p:cSld>
  <p:clrMapOvr>
    <a:masterClrMapping/>
  </p:clrMapOvr>
  <p:transition spd="slow">
    <p:push dir="u"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 userDrawn="1"/>
        </p:nvGrpSpPr>
        <p:grpSpPr>
          <a:xfrm>
            <a:off x="281524" y="0"/>
            <a:ext cx="105725" cy="721610"/>
            <a:chOff x="281524" y="0"/>
            <a:chExt cx="105725" cy="721610"/>
          </a:xfrm>
          <a:solidFill>
            <a:srgbClr val="FDA907"/>
          </a:solidFill>
        </p:grpSpPr>
        <p:sp>
          <p:nvSpPr>
            <p:cNvPr id="5" name="矩形 4"/>
            <p:cNvSpPr/>
            <p:nvPr/>
          </p:nvSpPr>
          <p:spPr>
            <a:xfrm>
              <a:off x="281524" y="0"/>
              <a:ext cx="45719" cy="72161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矩形 5"/>
            <p:cNvSpPr/>
            <p:nvPr/>
          </p:nvSpPr>
          <p:spPr>
            <a:xfrm>
              <a:off x="341530" y="0"/>
              <a:ext cx="45719" cy="72161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7" name="组合 6"/>
          <p:cNvGrpSpPr/>
          <p:nvPr userDrawn="1"/>
        </p:nvGrpSpPr>
        <p:grpSpPr>
          <a:xfrm rot="10800000">
            <a:off x="8801756" y="4963098"/>
            <a:ext cx="105725" cy="180402"/>
            <a:chOff x="281524" y="0"/>
            <a:chExt cx="105725" cy="721610"/>
          </a:xfrm>
          <a:solidFill>
            <a:srgbClr val="FDA907"/>
          </a:solidFill>
        </p:grpSpPr>
        <p:sp>
          <p:nvSpPr>
            <p:cNvPr id="10" name="矩形 9"/>
            <p:cNvSpPr/>
            <p:nvPr/>
          </p:nvSpPr>
          <p:spPr>
            <a:xfrm>
              <a:off x="281524" y="0"/>
              <a:ext cx="45719" cy="72161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矩形 10"/>
            <p:cNvSpPr/>
            <p:nvPr/>
          </p:nvSpPr>
          <p:spPr>
            <a:xfrm>
              <a:off x="341530" y="0"/>
              <a:ext cx="45719" cy="72161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cxnSp>
        <p:nvCxnSpPr>
          <p:cNvPr id="8" name="直接连接符 7"/>
          <p:cNvCxnSpPr/>
          <p:nvPr userDrawn="1"/>
        </p:nvCxnSpPr>
        <p:spPr>
          <a:xfrm>
            <a:off x="521550" y="681540"/>
            <a:ext cx="351039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89785717"/>
      </p:ext>
    </p:extLst>
  </p:cSld>
  <p:clrMapOvr>
    <a:masterClrMapping/>
  </p:clrMapOvr>
  <p:transition spd="slow">
    <p:push dir="u"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 userDrawn="1"/>
        </p:nvGrpSpPr>
        <p:grpSpPr>
          <a:xfrm>
            <a:off x="281524" y="0"/>
            <a:ext cx="105725" cy="721610"/>
            <a:chOff x="281524" y="0"/>
            <a:chExt cx="105725" cy="721610"/>
          </a:xfrm>
          <a:solidFill>
            <a:srgbClr val="BF3420"/>
          </a:solidFill>
        </p:grpSpPr>
        <p:sp>
          <p:nvSpPr>
            <p:cNvPr id="5" name="矩形 4"/>
            <p:cNvSpPr/>
            <p:nvPr/>
          </p:nvSpPr>
          <p:spPr>
            <a:xfrm>
              <a:off x="281524" y="0"/>
              <a:ext cx="45719" cy="72161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矩形 5"/>
            <p:cNvSpPr/>
            <p:nvPr/>
          </p:nvSpPr>
          <p:spPr>
            <a:xfrm>
              <a:off x="341530" y="0"/>
              <a:ext cx="45719" cy="72161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7" name="组合 6"/>
          <p:cNvGrpSpPr/>
          <p:nvPr userDrawn="1"/>
        </p:nvGrpSpPr>
        <p:grpSpPr>
          <a:xfrm rot="10800000">
            <a:off x="8801756" y="4963098"/>
            <a:ext cx="105725" cy="180402"/>
            <a:chOff x="281524" y="0"/>
            <a:chExt cx="105725" cy="721610"/>
          </a:xfrm>
          <a:solidFill>
            <a:srgbClr val="BF3420"/>
          </a:solidFill>
        </p:grpSpPr>
        <p:sp>
          <p:nvSpPr>
            <p:cNvPr id="10" name="矩形 9"/>
            <p:cNvSpPr/>
            <p:nvPr/>
          </p:nvSpPr>
          <p:spPr>
            <a:xfrm>
              <a:off x="281524" y="0"/>
              <a:ext cx="45719" cy="72161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矩形 10"/>
            <p:cNvSpPr/>
            <p:nvPr/>
          </p:nvSpPr>
          <p:spPr>
            <a:xfrm>
              <a:off x="341530" y="0"/>
              <a:ext cx="45719" cy="72161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cxnSp>
        <p:nvCxnSpPr>
          <p:cNvPr id="8" name="直接连接符 7"/>
          <p:cNvCxnSpPr/>
          <p:nvPr userDrawn="1"/>
        </p:nvCxnSpPr>
        <p:spPr>
          <a:xfrm>
            <a:off x="521550" y="681540"/>
            <a:ext cx="351039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13002978"/>
      </p:ext>
    </p:extLst>
  </p:cSld>
  <p:clrMapOvr>
    <a:masterClrMapping/>
  </p:clrMapOvr>
  <p:transition spd="slow">
    <p:push dir="u"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 userDrawn="1"/>
        </p:nvGrpSpPr>
        <p:grpSpPr>
          <a:xfrm>
            <a:off x="161510" y="0"/>
            <a:ext cx="225739" cy="721610"/>
            <a:chOff x="161510" y="0"/>
            <a:chExt cx="225739" cy="721610"/>
          </a:xfrm>
        </p:grpSpPr>
        <p:sp>
          <p:nvSpPr>
            <p:cNvPr id="3" name="矩形 2"/>
            <p:cNvSpPr/>
            <p:nvPr/>
          </p:nvSpPr>
          <p:spPr>
            <a:xfrm>
              <a:off x="161510" y="0"/>
              <a:ext cx="45719" cy="721610"/>
            </a:xfrm>
            <a:prstGeom prst="rect">
              <a:avLst/>
            </a:prstGeom>
            <a:solidFill>
              <a:srgbClr val="1A7BA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" name="矩形 3"/>
            <p:cNvSpPr/>
            <p:nvPr/>
          </p:nvSpPr>
          <p:spPr>
            <a:xfrm>
              <a:off x="221517" y="0"/>
              <a:ext cx="45719" cy="721610"/>
            </a:xfrm>
            <a:prstGeom prst="rect">
              <a:avLst/>
            </a:prstGeom>
            <a:solidFill>
              <a:srgbClr val="95BC4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矩形 4"/>
            <p:cNvSpPr/>
            <p:nvPr/>
          </p:nvSpPr>
          <p:spPr>
            <a:xfrm>
              <a:off x="281524" y="0"/>
              <a:ext cx="45719" cy="721610"/>
            </a:xfrm>
            <a:prstGeom prst="rect">
              <a:avLst/>
            </a:prstGeom>
            <a:solidFill>
              <a:srgbClr val="FDA90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矩形 5"/>
            <p:cNvSpPr/>
            <p:nvPr/>
          </p:nvSpPr>
          <p:spPr>
            <a:xfrm>
              <a:off x="341530" y="0"/>
              <a:ext cx="45719" cy="721610"/>
            </a:xfrm>
            <a:prstGeom prst="rect">
              <a:avLst/>
            </a:prstGeom>
            <a:solidFill>
              <a:srgbClr val="BF342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7" name="组合 6"/>
          <p:cNvGrpSpPr/>
          <p:nvPr userDrawn="1"/>
        </p:nvGrpSpPr>
        <p:grpSpPr>
          <a:xfrm rot="10800000">
            <a:off x="8801756" y="4963098"/>
            <a:ext cx="225739" cy="180402"/>
            <a:chOff x="161510" y="0"/>
            <a:chExt cx="225739" cy="721610"/>
          </a:xfrm>
        </p:grpSpPr>
        <p:sp>
          <p:nvSpPr>
            <p:cNvPr id="8" name="矩形 7"/>
            <p:cNvSpPr/>
            <p:nvPr/>
          </p:nvSpPr>
          <p:spPr>
            <a:xfrm>
              <a:off x="161510" y="0"/>
              <a:ext cx="45719" cy="721610"/>
            </a:xfrm>
            <a:prstGeom prst="rect">
              <a:avLst/>
            </a:prstGeom>
            <a:solidFill>
              <a:srgbClr val="1A7BA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矩形 8"/>
            <p:cNvSpPr/>
            <p:nvPr/>
          </p:nvSpPr>
          <p:spPr>
            <a:xfrm>
              <a:off x="221517" y="0"/>
              <a:ext cx="45719" cy="721610"/>
            </a:xfrm>
            <a:prstGeom prst="rect">
              <a:avLst/>
            </a:prstGeom>
            <a:solidFill>
              <a:srgbClr val="95BC4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矩形 9"/>
            <p:cNvSpPr/>
            <p:nvPr/>
          </p:nvSpPr>
          <p:spPr>
            <a:xfrm>
              <a:off x="281524" y="0"/>
              <a:ext cx="45719" cy="721610"/>
            </a:xfrm>
            <a:prstGeom prst="rect">
              <a:avLst/>
            </a:prstGeom>
            <a:solidFill>
              <a:srgbClr val="FDA90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矩形 10"/>
            <p:cNvSpPr/>
            <p:nvPr/>
          </p:nvSpPr>
          <p:spPr>
            <a:xfrm>
              <a:off x="341530" y="0"/>
              <a:ext cx="45719" cy="721610"/>
            </a:xfrm>
            <a:prstGeom prst="rect">
              <a:avLst/>
            </a:prstGeom>
            <a:solidFill>
              <a:srgbClr val="BF342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401482898"/>
      </p:ext>
    </p:extLst>
  </p:cSld>
  <p:clrMapOvr>
    <a:masterClrMapping/>
  </p:clrMapOvr>
  <p:transition spd="slow">
    <p:push dir="u"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01130803"/>
      </p:ext>
    </p:extLst>
  </p:cSld>
  <p:clrMapOvr>
    <a:masterClrMapping/>
  </p:clrMapOvr>
  <p:transition spd="slow">
    <p:push dir="u"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96284333"/>
      </p:ext>
    </p:extLst>
  </p:cSld>
  <p:clrMapOvr>
    <a:masterClrMapping/>
  </p:clrMapOvr>
  <p:transition spd="slow">
    <p:push dir="u"/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 userDrawn="1"/>
        </p:nvSpPr>
        <p:spPr>
          <a:xfrm>
            <a:off x="0" y="2706765"/>
            <a:ext cx="9144000" cy="13501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" name="Picture 2" descr="C:\Documents and Settings\yangweizhou\桌面\2.jpg"/>
          <p:cNvPicPr>
            <a:picLocks noChangeAspect="1" noChangeArrowheads="1"/>
          </p:cNvPicPr>
          <p:nvPr userDrawn="1"/>
        </p:nvPicPr>
        <p:blipFill rotWithShape="1">
          <a:blip r:embed="rId2"/>
          <a:srcRect b="20467"/>
          <a:stretch/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777706329"/>
      </p:ext>
    </p:extLst>
  </p:cSld>
  <p:clrMapOvr>
    <a:masterClrMapping/>
  </p:clrMapOvr>
  <p:transition spd="slow">
    <p:push dir="u"/>
  </p:transition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41614597"/>
      </p:ext>
    </p:extLst>
  </p:cSld>
  <p:clrMapOvr>
    <a:masterClrMapping/>
  </p:clrMapOvr>
  <p:transition spd="slow">
    <p:push dir="u"/>
  </p:transition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50350208"/>
      </p:ext>
    </p:extLst>
  </p:cSld>
  <p:clrMapOvr>
    <a:masterClrMapping/>
  </p:clrMapOvr>
  <p:transition spd="slow">
    <p:push dir="u"/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12354262"/>
      </p:ext>
    </p:extLst>
  </p:cSld>
  <p:clrMapOvr>
    <a:masterClrMapping/>
  </p:clrMapOvr>
  <p:transition spd="slow">
    <p:push dir="u"/>
  </p:transition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11727755"/>
      </p:ext>
    </p:extLst>
  </p:cSld>
  <p:clrMapOvr>
    <a:masterClrMapping/>
  </p:clrMapOvr>
  <p:transition spd="slow">
    <p:push dir="u"/>
  </p:transition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02290719"/>
      </p:ext>
    </p:extLst>
  </p:cSld>
  <p:clrMapOvr>
    <a:masterClrMapping/>
  </p:clrMapOvr>
  <p:transition spd="slow">
    <p:push dir="u"/>
  </p:transition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93614622"/>
      </p:ext>
    </p:extLst>
  </p:cSld>
  <p:clrMapOvr>
    <a:masterClrMapping/>
  </p:clrMapOvr>
  <p:transition spd="slow">
    <p:push dir="u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8.xml"/><Relationship Id="rId3" Type="http://schemas.openxmlformats.org/officeDocument/2006/relationships/slideLayout" Target="../slideLayouts/slideLayout18.xml"/><Relationship Id="rId7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7.xml"/><Relationship Id="rId2" Type="http://schemas.openxmlformats.org/officeDocument/2006/relationships/slideLayout" Target="../slideLayouts/slideLayout17.xml"/><Relationship Id="rId16" Type="http://schemas.openxmlformats.org/officeDocument/2006/relationships/theme" Target="../theme/theme2.xml"/><Relationship Id="rId1" Type="http://schemas.openxmlformats.org/officeDocument/2006/relationships/slideLayout" Target="../slideLayouts/slideLayout16.xml"/><Relationship Id="rId6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0.xml"/><Relationship Id="rId15" Type="http://schemas.openxmlformats.org/officeDocument/2006/relationships/slideLayout" Target="../slideLayouts/slideLayout30.xml"/><Relationship Id="rId10" Type="http://schemas.openxmlformats.org/officeDocument/2006/relationships/slideLayout" Target="../slideLayouts/slideLayout25.xml"/><Relationship Id="rId4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4.xml"/><Relationship Id="rId14" Type="http://schemas.openxmlformats.org/officeDocument/2006/relationships/slideLayout" Target="../slideLayouts/slideLayout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3" r:id="rId2"/>
    <p:sldLayoutId id="2147483664" r:id="rId3"/>
    <p:sldLayoutId id="2147483666" r:id="rId4"/>
    <p:sldLayoutId id="2147483665" r:id="rId5"/>
    <p:sldLayoutId id="2147483667" r:id="rId6"/>
    <p:sldLayoutId id="2147483653" r:id="rId7"/>
    <p:sldLayoutId id="2147483662" r:id="rId8"/>
    <p:sldLayoutId id="2147483654" r:id="rId9"/>
    <p:sldLayoutId id="2147483651" r:id="rId10"/>
    <p:sldLayoutId id="2147483655" r:id="rId11"/>
    <p:sldLayoutId id="2147483656" r:id="rId12"/>
    <p:sldLayoutId id="2147483657" r:id="rId13"/>
    <p:sldLayoutId id="2147483658" r:id="rId14"/>
    <p:sldLayoutId id="2147483659" r:id="rId15"/>
  </p:sldLayoutIdLst>
  <p:transition spd="slow">
    <p:push dir="u"/>
  </p:transition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486900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670" r:id="rId2"/>
    <p:sldLayoutId id="2147483671" r:id="rId3"/>
    <p:sldLayoutId id="2147483672" r:id="rId4"/>
    <p:sldLayoutId id="2147483673" r:id="rId5"/>
    <p:sldLayoutId id="2147483674" r:id="rId6"/>
    <p:sldLayoutId id="2147483675" r:id="rId7"/>
    <p:sldLayoutId id="2147483676" r:id="rId8"/>
    <p:sldLayoutId id="2147483677" r:id="rId9"/>
    <p:sldLayoutId id="2147483678" r:id="rId10"/>
    <p:sldLayoutId id="2147483679" r:id="rId11"/>
    <p:sldLayoutId id="2147483680" r:id="rId12"/>
    <p:sldLayoutId id="2147483681" r:id="rId13"/>
    <p:sldLayoutId id="2147483682" r:id="rId14"/>
    <p:sldLayoutId id="2147483683" r:id="rId15"/>
  </p:sldLayoutIdLst>
  <p:transition spd="slow">
    <p:push dir="u"/>
  </p:transition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gif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gif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3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3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3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3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3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3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3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4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4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4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4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0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0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0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jpg"/><Relationship Id="rId1" Type="http://schemas.openxmlformats.org/officeDocument/2006/relationships/slideLayout" Target="../slideLayouts/slideLayout22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2.xml"/><Relationship Id="rId5" Type="http://schemas.openxmlformats.org/officeDocument/2006/relationships/image" Target="../media/image43.jpg"/><Relationship Id="rId4" Type="http://schemas.openxmlformats.org/officeDocument/2006/relationships/hyperlink" Target="http://blog.csdn.net/cfhm_r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Box 24"/>
          <p:cNvSpPr txBox="1"/>
          <p:nvPr/>
        </p:nvSpPr>
        <p:spPr>
          <a:xfrm>
            <a:off x="1623999" y="2814490"/>
            <a:ext cx="5895655" cy="52322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dirty="0">
                <a:solidFill>
                  <a:srgbClr val="BF3420"/>
                </a:solidFill>
                <a:cs typeface="+mn-ea"/>
                <a:sym typeface="+mn-lt"/>
              </a:rPr>
              <a:t>C</a:t>
            </a:r>
            <a:r>
              <a:rPr lang="zh-CN" altLang="en-US" sz="2800" dirty="0">
                <a:solidFill>
                  <a:srgbClr val="BF3420"/>
                </a:solidFill>
                <a:cs typeface="+mn-ea"/>
                <a:sym typeface="+mn-lt"/>
              </a:rPr>
              <a:t>语言从</a:t>
            </a:r>
            <a:r>
              <a:rPr lang="zh-CN" altLang="en-US" sz="2800" dirty="0">
                <a:solidFill>
                  <a:srgbClr val="FDA907"/>
                </a:solidFill>
                <a:cs typeface="+mn-ea"/>
                <a:sym typeface="+mn-lt"/>
              </a:rPr>
              <a:t>入门</a:t>
            </a:r>
            <a:r>
              <a:rPr lang="zh-CN" altLang="en-US" sz="2800" dirty="0">
                <a:solidFill>
                  <a:srgbClr val="95BC49"/>
                </a:solidFill>
                <a:cs typeface="+mn-ea"/>
                <a:sym typeface="+mn-lt"/>
              </a:rPr>
              <a:t>到</a:t>
            </a:r>
            <a:r>
              <a:rPr lang="zh-CN" altLang="en-US" sz="2800" dirty="0">
                <a:solidFill>
                  <a:srgbClr val="1A7BAE"/>
                </a:solidFill>
                <a:cs typeface="+mn-ea"/>
                <a:sym typeface="+mn-lt"/>
              </a:rPr>
              <a:t>放弃</a:t>
            </a:r>
          </a:p>
        </p:txBody>
      </p:sp>
      <p:sp>
        <p:nvSpPr>
          <p:cNvPr id="26" name="矩形 25"/>
          <p:cNvSpPr/>
          <p:nvPr/>
        </p:nvSpPr>
        <p:spPr>
          <a:xfrm>
            <a:off x="2029043" y="3306425"/>
            <a:ext cx="5085566" cy="7848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0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Copyright CFhM_R 2010-2016</a:t>
            </a:r>
            <a:r>
              <a:rPr lang="zh-CN" altLang="en-US" sz="10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，</a:t>
            </a:r>
            <a:endParaRPr lang="en-US" altLang="zh-CN" sz="1000" dirty="0">
              <a:solidFill>
                <a:schemeClr val="tx1">
                  <a:lumMod val="50000"/>
                  <a:lumOff val="50000"/>
                </a:schemeClr>
              </a:solidFill>
              <a:cs typeface="+mn-ea"/>
              <a:sym typeface="+mn-lt"/>
            </a:endParaRPr>
          </a:p>
          <a:p>
            <a:pPr algn="ctr">
              <a:lnSpc>
                <a:spcPct val="150000"/>
              </a:lnSpc>
            </a:pPr>
            <a:r>
              <a:rPr lang="en-US" altLang="zh-CN" sz="10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Powered by BITNP2016, </a:t>
            </a:r>
          </a:p>
          <a:p>
            <a:pPr algn="ctr">
              <a:lnSpc>
                <a:spcPct val="150000"/>
              </a:lnSpc>
            </a:pPr>
            <a:r>
              <a:rPr lang="en-US" altLang="zh-CN" sz="10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917786871"/>
      </p:ext>
    </p:extLst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Box 20"/>
          <p:cNvSpPr txBox="1"/>
          <p:nvPr/>
        </p:nvSpPr>
        <p:spPr>
          <a:xfrm>
            <a:off x="1092459" y="1246789"/>
            <a:ext cx="3638327" cy="338554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solidFill>
                  <a:srgbClr val="1A7BAE"/>
                </a:solidFill>
                <a:cs typeface="+mn-ea"/>
                <a:sym typeface="+mn-lt"/>
              </a:rPr>
              <a:t>选择题</a:t>
            </a:r>
          </a:p>
        </p:txBody>
      </p:sp>
      <p:sp>
        <p:nvSpPr>
          <p:cNvPr id="19" name="矩形 8"/>
          <p:cNvSpPr/>
          <p:nvPr/>
        </p:nvSpPr>
        <p:spPr>
          <a:xfrm>
            <a:off x="597404" y="1221600"/>
            <a:ext cx="478941" cy="388931"/>
          </a:xfrm>
          <a:custGeom>
            <a:avLst/>
            <a:gdLst/>
            <a:ahLst/>
            <a:cxnLst/>
            <a:rect l="l" t="t" r="r" b="b"/>
            <a:pathLst>
              <a:path w="855095" h="855095">
                <a:moveTo>
                  <a:pt x="805897" y="427546"/>
                </a:moveTo>
                <a:lnTo>
                  <a:pt x="855095" y="427546"/>
                </a:lnTo>
                <a:lnTo>
                  <a:pt x="855095" y="855095"/>
                </a:lnTo>
                <a:lnTo>
                  <a:pt x="427546" y="855095"/>
                </a:lnTo>
                <a:lnTo>
                  <a:pt x="427546" y="805897"/>
                </a:lnTo>
                <a:lnTo>
                  <a:pt x="805897" y="805897"/>
                </a:lnTo>
                <a:close/>
                <a:moveTo>
                  <a:pt x="0" y="0"/>
                </a:moveTo>
                <a:lnTo>
                  <a:pt x="427546" y="0"/>
                </a:lnTo>
                <a:lnTo>
                  <a:pt x="427546" y="49196"/>
                </a:lnTo>
                <a:lnTo>
                  <a:pt x="49196" y="49196"/>
                </a:lnTo>
                <a:lnTo>
                  <a:pt x="49196" y="427546"/>
                </a:lnTo>
                <a:lnTo>
                  <a:pt x="0" y="427546"/>
                </a:lnTo>
                <a:close/>
              </a:path>
            </a:pathLst>
          </a:custGeom>
          <a:solidFill>
            <a:srgbClr val="1A7B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solidFill>
                  <a:srgbClr val="1A7BAE"/>
                </a:solidFill>
                <a:cs typeface="+mn-ea"/>
                <a:sym typeface="+mn-lt"/>
              </a:rPr>
              <a:t>01</a:t>
            </a:r>
            <a:endParaRPr lang="zh-CN" altLang="en-US" sz="1600">
              <a:solidFill>
                <a:srgbClr val="1A7BAE"/>
              </a:solidFill>
              <a:cs typeface="+mn-ea"/>
              <a:sym typeface="+mn-lt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099537" y="1970572"/>
            <a:ext cx="3638327" cy="338554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solidFill>
                  <a:srgbClr val="95BC49"/>
                </a:solidFill>
                <a:cs typeface="+mn-ea"/>
                <a:sym typeface="+mn-lt"/>
              </a:rPr>
              <a:t>打印图形</a:t>
            </a:r>
          </a:p>
        </p:txBody>
      </p:sp>
      <p:sp>
        <p:nvSpPr>
          <p:cNvPr id="22" name="矩形 8"/>
          <p:cNvSpPr/>
          <p:nvPr/>
        </p:nvSpPr>
        <p:spPr>
          <a:xfrm>
            <a:off x="604482" y="1945383"/>
            <a:ext cx="478941" cy="388931"/>
          </a:xfrm>
          <a:custGeom>
            <a:avLst/>
            <a:gdLst/>
            <a:ahLst/>
            <a:cxnLst/>
            <a:rect l="l" t="t" r="r" b="b"/>
            <a:pathLst>
              <a:path w="855095" h="855095">
                <a:moveTo>
                  <a:pt x="805897" y="427546"/>
                </a:moveTo>
                <a:lnTo>
                  <a:pt x="855095" y="427546"/>
                </a:lnTo>
                <a:lnTo>
                  <a:pt x="855095" y="855095"/>
                </a:lnTo>
                <a:lnTo>
                  <a:pt x="427546" y="855095"/>
                </a:lnTo>
                <a:lnTo>
                  <a:pt x="427546" y="805897"/>
                </a:lnTo>
                <a:lnTo>
                  <a:pt x="805897" y="805897"/>
                </a:lnTo>
                <a:close/>
                <a:moveTo>
                  <a:pt x="0" y="0"/>
                </a:moveTo>
                <a:lnTo>
                  <a:pt x="427546" y="0"/>
                </a:lnTo>
                <a:lnTo>
                  <a:pt x="427546" y="49196"/>
                </a:lnTo>
                <a:lnTo>
                  <a:pt x="49196" y="49196"/>
                </a:lnTo>
                <a:lnTo>
                  <a:pt x="49196" y="427546"/>
                </a:lnTo>
                <a:lnTo>
                  <a:pt x="0" y="427546"/>
                </a:lnTo>
                <a:close/>
              </a:path>
            </a:pathLst>
          </a:custGeom>
          <a:solidFill>
            <a:srgbClr val="95BC4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solidFill>
                  <a:srgbClr val="95BC49"/>
                </a:solidFill>
                <a:cs typeface="+mn-ea"/>
                <a:sym typeface="+mn-lt"/>
              </a:rPr>
              <a:t>02</a:t>
            </a:r>
            <a:endParaRPr lang="zh-CN" altLang="en-US" sz="1600">
              <a:solidFill>
                <a:srgbClr val="95BC49"/>
              </a:solidFill>
              <a:cs typeface="+mn-ea"/>
              <a:sym typeface="+mn-lt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106615" y="2686949"/>
            <a:ext cx="3638327" cy="338554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solidFill>
                  <a:srgbClr val="FDA907"/>
                </a:solidFill>
                <a:cs typeface="+mn-ea"/>
                <a:sym typeface="+mn-lt"/>
              </a:rPr>
              <a:t>递归</a:t>
            </a:r>
          </a:p>
        </p:txBody>
      </p:sp>
      <p:sp>
        <p:nvSpPr>
          <p:cNvPr id="24" name="矩形 8"/>
          <p:cNvSpPr/>
          <p:nvPr/>
        </p:nvSpPr>
        <p:spPr>
          <a:xfrm>
            <a:off x="611560" y="2661760"/>
            <a:ext cx="478941" cy="388931"/>
          </a:xfrm>
          <a:custGeom>
            <a:avLst/>
            <a:gdLst/>
            <a:ahLst/>
            <a:cxnLst/>
            <a:rect l="l" t="t" r="r" b="b"/>
            <a:pathLst>
              <a:path w="855095" h="855095">
                <a:moveTo>
                  <a:pt x="805897" y="427546"/>
                </a:moveTo>
                <a:lnTo>
                  <a:pt x="855095" y="427546"/>
                </a:lnTo>
                <a:lnTo>
                  <a:pt x="855095" y="855095"/>
                </a:lnTo>
                <a:lnTo>
                  <a:pt x="427546" y="855095"/>
                </a:lnTo>
                <a:lnTo>
                  <a:pt x="427546" y="805897"/>
                </a:lnTo>
                <a:lnTo>
                  <a:pt x="805897" y="805897"/>
                </a:lnTo>
                <a:close/>
                <a:moveTo>
                  <a:pt x="0" y="0"/>
                </a:moveTo>
                <a:lnTo>
                  <a:pt x="427546" y="0"/>
                </a:lnTo>
                <a:lnTo>
                  <a:pt x="427546" y="49196"/>
                </a:lnTo>
                <a:lnTo>
                  <a:pt x="49196" y="49196"/>
                </a:lnTo>
                <a:lnTo>
                  <a:pt x="49196" y="427546"/>
                </a:lnTo>
                <a:lnTo>
                  <a:pt x="0" y="427546"/>
                </a:lnTo>
                <a:close/>
              </a:path>
            </a:pathLst>
          </a:custGeom>
          <a:solidFill>
            <a:srgbClr val="FDA90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solidFill>
                  <a:srgbClr val="FDA907"/>
                </a:solidFill>
                <a:cs typeface="+mn-ea"/>
                <a:sym typeface="+mn-lt"/>
              </a:rPr>
              <a:t>03</a:t>
            </a:r>
            <a:endParaRPr lang="zh-CN" altLang="en-US" sz="1600">
              <a:solidFill>
                <a:srgbClr val="FDA907"/>
              </a:solidFill>
              <a:cs typeface="+mn-ea"/>
              <a:sym typeface="+mn-lt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113693" y="3403326"/>
            <a:ext cx="3638327" cy="338554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solidFill>
                  <a:srgbClr val="BF3420"/>
                </a:solidFill>
                <a:cs typeface="+mn-ea"/>
                <a:sym typeface="+mn-lt"/>
              </a:rPr>
              <a:t>链表</a:t>
            </a:r>
          </a:p>
        </p:txBody>
      </p:sp>
      <p:sp>
        <p:nvSpPr>
          <p:cNvPr id="27" name="矩形 8"/>
          <p:cNvSpPr/>
          <p:nvPr/>
        </p:nvSpPr>
        <p:spPr>
          <a:xfrm>
            <a:off x="618638" y="3378137"/>
            <a:ext cx="478941" cy="388931"/>
          </a:xfrm>
          <a:custGeom>
            <a:avLst/>
            <a:gdLst/>
            <a:ahLst/>
            <a:cxnLst/>
            <a:rect l="l" t="t" r="r" b="b"/>
            <a:pathLst>
              <a:path w="855095" h="855095">
                <a:moveTo>
                  <a:pt x="805897" y="427546"/>
                </a:moveTo>
                <a:lnTo>
                  <a:pt x="855095" y="427546"/>
                </a:lnTo>
                <a:lnTo>
                  <a:pt x="855095" y="855095"/>
                </a:lnTo>
                <a:lnTo>
                  <a:pt x="427546" y="855095"/>
                </a:lnTo>
                <a:lnTo>
                  <a:pt x="427546" y="805897"/>
                </a:lnTo>
                <a:lnTo>
                  <a:pt x="805897" y="805897"/>
                </a:lnTo>
                <a:close/>
                <a:moveTo>
                  <a:pt x="0" y="0"/>
                </a:moveTo>
                <a:lnTo>
                  <a:pt x="427546" y="0"/>
                </a:lnTo>
                <a:lnTo>
                  <a:pt x="427546" y="49196"/>
                </a:lnTo>
                <a:lnTo>
                  <a:pt x="49196" y="49196"/>
                </a:lnTo>
                <a:lnTo>
                  <a:pt x="49196" y="427546"/>
                </a:lnTo>
                <a:lnTo>
                  <a:pt x="0" y="427546"/>
                </a:lnTo>
                <a:close/>
              </a:path>
            </a:pathLst>
          </a:custGeom>
          <a:solidFill>
            <a:srgbClr val="BF34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solidFill>
                  <a:srgbClr val="BF3420"/>
                </a:solidFill>
                <a:cs typeface="+mn-ea"/>
                <a:sym typeface="+mn-lt"/>
              </a:rPr>
              <a:t>04</a:t>
            </a:r>
            <a:endParaRPr lang="zh-CN" altLang="en-US" sz="1600">
              <a:solidFill>
                <a:srgbClr val="BF3420"/>
              </a:solidFill>
              <a:cs typeface="+mn-ea"/>
              <a:sym typeface="+mn-lt"/>
            </a:endParaRPr>
          </a:p>
        </p:txBody>
      </p:sp>
      <p:grpSp>
        <p:nvGrpSpPr>
          <p:cNvPr id="11" name="组合 10"/>
          <p:cNvGrpSpPr/>
          <p:nvPr/>
        </p:nvGrpSpPr>
        <p:grpSpPr>
          <a:xfrm>
            <a:off x="4887036" y="0"/>
            <a:ext cx="4256964" cy="5143500"/>
            <a:chOff x="566555" y="877035"/>
            <a:chExt cx="2340260" cy="164545"/>
          </a:xfrm>
        </p:grpSpPr>
        <p:sp>
          <p:nvSpPr>
            <p:cNvPr id="12" name="矩形 11"/>
            <p:cNvSpPr/>
            <p:nvPr/>
          </p:nvSpPr>
          <p:spPr>
            <a:xfrm>
              <a:off x="566555" y="877035"/>
              <a:ext cx="585065" cy="164545"/>
            </a:xfrm>
            <a:prstGeom prst="rect">
              <a:avLst/>
            </a:prstGeom>
            <a:solidFill>
              <a:srgbClr val="1A7BA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3" name="矩形 12"/>
            <p:cNvSpPr/>
            <p:nvPr/>
          </p:nvSpPr>
          <p:spPr>
            <a:xfrm>
              <a:off x="1151620" y="877035"/>
              <a:ext cx="585065" cy="164545"/>
            </a:xfrm>
            <a:prstGeom prst="rect">
              <a:avLst/>
            </a:prstGeom>
            <a:solidFill>
              <a:srgbClr val="95BC4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736685" y="877035"/>
              <a:ext cx="585065" cy="164545"/>
            </a:xfrm>
            <a:prstGeom prst="rect">
              <a:avLst/>
            </a:prstGeom>
            <a:solidFill>
              <a:srgbClr val="FDA90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5" name="矩形 14"/>
            <p:cNvSpPr/>
            <p:nvPr/>
          </p:nvSpPr>
          <p:spPr>
            <a:xfrm>
              <a:off x="2321750" y="877035"/>
              <a:ext cx="585065" cy="164545"/>
            </a:xfrm>
            <a:prstGeom prst="rect">
              <a:avLst/>
            </a:prstGeom>
            <a:solidFill>
              <a:srgbClr val="BF342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  <p:sp>
        <p:nvSpPr>
          <p:cNvPr id="2" name="矩形 1"/>
          <p:cNvSpPr/>
          <p:nvPr/>
        </p:nvSpPr>
        <p:spPr>
          <a:xfrm>
            <a:off x="4887036" y="1997305"/>
            <a:ext cx="4256964" cy="926956"/>
          </a:xfrm>
          <a:prstGeom prst="rect">
            <a:avLst/>
          </a:prstGeom>
          <a:solidFill>
            <a:schemeClr val="tx1">
              <a:alpha val="3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>
                <a:solidFill>
                  <a:schemeClr val="bg1"/>
                </a:solidFill>
                <a:cs typeface="+mn-ea"/>
                <a:sym typeface="+mn-lt"/>
              </a:rPr>
              <a:t>CONTENT</a:t>
            </a:r>
            <a:endParaRPr lang="zh-CN" altLang="en-US" sz="3200">
              <a:solidFill>
                <a:schemeClr val="bg1"/>
              </a:solidFill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286131810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7BA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1" y="2166704"/>
            <a:ext cx="9144000" cy="450051"/>
          </a:xfrm>
          <a:prstGeom prst="rect">
            <a:avLst/>
          </a:prstGeom>
          <a:solidFill>
            <a:srgbClr val="1D8AC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6495" y="-1433695"/>
            <a:ext cx="4095993" cy="8094524"/>
          </a:xfrm>
          <a:prstGeom prst="rect">
            <a:avLst/>
          </a:prstGeom>
          <a:noFill/>
          <a:effectLst>
            <a:outerShdw blurRad="165100" dist="76200" dir="1200000" algn="tl" rotWithShape="0">
              <a:prstClr val="black">
                <a:alpha val="1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en-US" altLang="zh-CN" sz="52000" dirty="0">
                <a:solidFill>
                  <a:schemeClr val="bg1"/>
                </a:solidFill>
                <a:cs typeface="+mn-ea"/>
                <a:sym typeface="+mn-lt"/>
              </a:rPr>
              <a:t>0</a:t>
            </a:r>
            <a:endParaRPr lang="zh-CN" altLang="en-US" sz="520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579089" y="2155090"/>
            <a:ext cx="517837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zh-CN" altLang="en-US" sz="2400" dirty="0">
                <a:solidFill>
                  <a:schemeClr val="bg1"/>
                </a:solidFill>
                <a:cs typeface="+mn-ea"/>
                <a:sym typeface="+mn-lt"/>
              </a:rPr>
              <a:t>选择题</a:t>
            </a:r>
          </a:p>
        </p:txBody>
      </p:sp>
      <p:sp>
        <p:nvSpPr>
          <p:cNvPr id="3" name="矩形 2"/>
          <p:cNvSpPr/>
          <p:nvPr/>
        </p:nvSpPr>
        <p:spPr>
          <a:xfrm>
            <a:off x="5551138" y="1397264"/>
            <a:ext cx="3206327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r"/>
            <a:r>
              <a:rPr lang="en-US" altLang="zh-CN" sz="4400">
                <a:solidFill>
                  <a:schemeClr val="bg1"/>
                </a:solidFill>
                <a:cs typeface="+mn-ea"/>
                <a:sym typeface="+mn-lt"/>
              </a:rPr>
              <a:t>PART ZERO</a:t>
            </a:r>
            <a:endParaRPr lang="zh-CN" altLang="en-US" sz="44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7047275" y="2774417"/>
            <a:ext cx="1935215" cy="5705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100" dirty="0">
                <a:solidFill>
                  <a:schemeClr val="bg1"/>
                </a:solidFill>
                <a:cs typeface="+mn-ea"/>
                <a:sym typeface="+mn-lt"/>
              </a:rPr>
              <a:t>不会的就写写试试</a:t>
            </a:r>
            <a:endParaRPr lang="en-US" altLang="zh-CN" sz="1100" dirty="0">
              <a:solidFill>
                <a:schemeClr val="bg1"/>
              </a:solidFill>
              <a:cs typeface="+mn-ea"/>
              <a:sym typeface="+mn-lt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100" dirty="0">
                <a:solidFill>
                  <a:schemeClr val="bg1"/>
                </a:solidFill>
                <a:cs typeface="+mn-ea"/>
                <a:sym typeface="+mn-lt"/>
              </a:rPr>
              <a:t>拿不准的就写写试试</a:t>
            </a:r>
          </a:p>
        </p:txBody>
      </p:sp>
    </p:spTree>
    <p:extLst>
      <p:ext uri="{BB962C8B-B14F-4D97-AF65-F5344CB8AC3E}">
        <p14:creationId xmlns:p14="http://schemas.microsoft.com/office/powerpoint/2010/main" val="1178352161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椭圆 8"/>
          <p:cNvSpPr/>
          <p:nvPr/>
        </p:nvSpPr>
        <p:spPr>
          <a:xfrm>
            <a:off x="701570" y="1131590"/>
            <a:ext cx="1710187" cy="1710187"/>
          </a:xfrm>
          <a:prstGeom prst="ellipse">
            <a:avLst/>
          </a:prstGeom>
          <a:solidFill>
            <a:srgbClr val="1A7B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r>
              <a:rPr lang="zh-CN" altLang="en-US" b="1" dirty="0">
                <a:solidFill>
                  <a:schemeClr val="bg1"/>
                </a:solidFill>
                <a:cs typeface="+mn-ea"/>
                <a:sym typeface="+mn-lt"/>
              </a:rPr>
              <a:t>基础概念</a:t>
            </a:r>
          </a:p>
        </p:txBody>
      </p:sp>
      <p:sp>
        <p:nvSpPr>
          <p:cNvPr id="19" name="椭圆 18"/>
          <p:cNvSpPr/>
          <p:nvPr/>
        </p:nvSpPr>
        <p:spPr>
          <a:xfrm>
            <a:off x="4646842" y="1131592"/>
            <a:ext cx="1710187" cy="1710187"/>
          </a:xfrm>
          <a:prstGeom prst="ellipse">
            <a:avLst/>
          </a:prstGeom>
          <a:solidFill>
            <a:srgbClr val="1A7B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r>
              <a:rPr lang="zh-CN" altLang="en-US" b="1" dirty="0">
                <a:solidFill>
                  <a:schemeClr val="bg1"/>
                </a:solidFill>
                <a:cs typeface="+mn-ea"/>
                <a:sym typeface="+mn-lt"/>
              </a:rPr>
              <a:t>语法判断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6520" y="96475"/>
            <a:ext cx="387045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题型介绍</a:t>
            </a:r>
            <a:r>
              <a:rPr lang="en-US" altLang="zh-CN" sz="200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 </a:t>
            </a:r>
            <a:endParaRPr lang="zh-CN" altLang="en-US" sz="2000" dirty="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76520" y="430384"/>
            <a:ext cx="387045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00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Always believe that something wonderful is about to happen</a:t>
            </a:r>
            <a:r>
              <a:rPr lang="en-US" altLang="zh-CN" sz="10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.</a:t>
            </a:r>
            <a:endParaRPr lang="zh-CN" altLang="en-US" sz="1000" dirty="0">
              <a:solidFill>
                <a:schemeClr val="tx1">
                  <a:lumMod val="50000"/>
                  <a:lumOff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8" name="椭圆 17"/>
          <p:cNvSpPr/>
          <p:nvPr/>
        </p:nvSpPr>
        <p:spPr>
          <a:xfrm>
            <a:off x="2674206" y="1131591"/>
            <a:ext cx="1710187" cy="1710187"/>
          </a:xfrm>
          <a:prstGeom prst="ellipse">
            <a:avLst/>
          </a:prstGeom>
          <a:solidFill>
            <a:srgbClr val="1A7B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r>
              <a:rPr lang="zh-CN" altLang="en-US" b="1" dirty="0">
                <a:solidFill>
                  <a:schemeClr val="bg1"/>
                </a:solidFill>
                <a:cs typeface="+mn-ea"/>
                <a:sym typeface="+mn-lt"/>
              </a:rPr>
              <a:t>程序填空</a:t>
            </a:r>
          </a:p>
        </p:txBody>
      </p:sp>
      <p:sp>
        <p:nvSpPr>
          <p:cNvPr id="20" name="椭圆 19"/>
          <p:cNvSpPr/>
          <p:nvPr/>
        </p:nvSpPr>
        <p:spPr>
          <a:xfrm>
            <a:off x="6619478" y="1131593"/>
            <a:ext cx="1710187" cy="1710187"/>
          </a:xfrm>
          <a:prstGeom prst="ellipse">
            <a:avLst/>
          </a:prstGeom>
          <a:solidFill>
            <a:srgbClr val="1A7B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r>
              <a:rPr lang="zh-CN" altLang="en-US" b="1" dirty="0">
                <a:solidFill>
                  <a:schemeClr val="bg1"/>
                </a:solidFill>
                <a:cs typeface="+mn-ea"/>
                <a:sym typeface="+mn-lt"/>
              </a:rPr>
              <a:t>高级概念</a:t>
            </a:r>
          </a:p>
        </p:txBody>
      </p:sp>
      <p:sp>
        <p:nvSpPr>
          <p:cNvPr id="10" name="矩形 9"/>
          <p:cNvSpPr/>
          <p:nvPr/>
        </p:nvSpPr>
        <p:spPr>
          <a:xfrm>
            <a:off x="701570" y="3083934"/>
            <a:ext cx="1710187" cy="13619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关键字和保留标识符</a:t>
            </a:r>
            <a:endParaRPr lang="en-US" altLang="zh-CN" sz="1100" dirty="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数据类型和运算符</a:t>
            </a:r>
            <a:endParaRPr lang="en-US" altLang="zh-CN" sz="1100" dirty="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基本语句和表达式</a:t>
            </a:r>
            <a:endParaRPr lang="en-US" altLang="zh-CN" sz="1100" dirty="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字符串</a:t>
            </a:r>
            <a:endParaRPr lang="en-US" altLang="zh-CN" sz="1100" dirty="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函数和数组</a:t>
            </a:r>
          </a:p>
        </p:txBody>
      </p:sp>
      <p:sp>
        <p:nvSpPr>
          <p:cNvPr id="11" name="矩形 10"/>
          <p:cNvSpPr/>
          <p:nvPr/>
        </p:nvSpPr>
        <p:spPr>
          <a:xfrm>
            <a:off x="2674206" y="3083934"/>
            <a:ext cx="1710187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1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if</a:t>
            </a:r>
            <a:r>
              <a:rPr lang="zh-CN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的条件</a:t>
            </a:r>
            <a:endParaRPr lang="en-US" altLang="zh-CN" sz="1100" dirty="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循环的条件</a:t>
            </a:r>
            <a:endParaRPr lang="en-US" altLang="zh-CN" sz="1100" dirty="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循环的更新</a:t>
            </a:r>
            <a:endParaRPr lang="en-US" altLang="zh-CN" sz="1100" dirty="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排序算法</a:t>
            </a:r>
          </a:p>
        </p:txBody>
      </p:sp>
      <p:sp>
        <p:nvSpPr>
          <p:cNvPr id="13" name="矩形 12"/>
          <p:cNvSpPr/>
          <p:nvPr/>
        </p:nvSpPr>
        <p:spPr>
          <a:xfrm>
            <a:off x="4646842" y="3083934"/>
            <a:ext cx="1710187" cy="8540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变量的定义</a:t>
            </a:r>
            <a:endParaRPr lang="en-US" altLang="zh-CN" sz="1100" dirty="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循环的次数</a:t>
            </a:r>
            <a:endParaRPr lang="en-US" altLang="zh-CN" sz="1100" dirty="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各种声明</a:t>
            </a:r>
          </a:p>
        </p:txBody>
      </p:sp>
      <p:sp>
        <p:nvSpPr>
          <p:cNvPr id="14" name="矩形 13"/>
          <p:cNvSpPr/>
          <p:nvPr/>
        </p:nvSpPr>
        <p:spPr>
          <a:xfrm>
            <a:off x="7092280" y="3088118"/>
            <a:ext cx="1710187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指针</a:t>
            </a:r>
            <a:endParaRPr lang="en-US" altLang="zh-CN" sz="1100" dirty="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结构</a:t>
            </a:r>
            <a:endParaRPr lang="en-US" altLang="zh-CN" sz="1100" dirty="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文件</a:t>
            </a:r>
            <a:endParaRPr lang="en-US" altLang="zh-CN" sz="1100" dirty="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链表</a:t>
            </a:r>
          </a:p>
        </p:txBody>
      </p:sp>
    </p:spTree>
    <p:extLst>
      <p:ext uri="{BB962C8B-B14F-4D97-AF65-F5344CB8AC3E}">
        <p14:creationId xmlns:p14="http://schemas.microsoft.com/office/powerpoint/2010/main" val="358005730"/>
      </p:ext>
    </p:extLst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476520" y="96475"/>
            <a:ext cx="387045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保留关键字和标识符</a:t>
            </a:r>
          </a:p>
        </p:txBody>
      </p:sp>
      <p:sp>
        <p:nvSpPr>
          <p:cNvPr id="12" name="矩形 11"/>
          <p:cNvSpPr/>
          <p:nvPr/>
        </p:nvSpPr>
        <p:spPr>
          <a:xfrm>
            <a:off x="476520" y="430384"/>
            <a:ext cx="387045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00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Always believe that something wonderful is about to happen</a:t>
            </a:r>
            <a:r>
              <a:rPr lang="en-US" altLang="zh-CN" sz="10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.</a:t>
            </a:r>
            <a:endParaRPr lang="zh-CN" altLang="en-US" sz="1000" dirty="0">
              <a:solidFill>
                <a:schemeClr val="tx1">
                  <a:lumMod val="50000"/>
                  <a:lumOff val="50000"/>
                </a:schemeClr>
              </a:solidFill>
              <a:cs typeface="+mn-ea"/>
              <a:sym typeface="+mn-lt"/>
            </a:endParaRPr>
          </a:p>
        </p:txBody>
      </p:sp>
      <p:graphicFrame>
        <p:nvGraphicFramePr>
          <p:cNvPr id="18" name="表格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7328619"/>
              </p:ext>
            </p:extLst>
          </p:nvPr>
        </p:nvGraphicFramePr>
        <p:xfrm>
          <a:off x="1208456" y="978010"/>
          <a:ext cx="7008950" cy="3657600"/>
        </p:xfrm>
        <a:graphic>
          <a:graphicData uri="http://schemas.openxmlformats.org/drawingml/2006/table">
            <a:tbl>
              <a:tblPr bandRow="1">
                <a:tableStyleId>{69CF1AB2-1976-4502-BF36-3FF5EA218861}</a:tableStyleId>
              </a:tblPr>
              <a:tblGrid>
                <a:gridCol w="1677635">
                  <a:extLst>
                    <a:ext uri="{9D8B030D-6E8A-4147-A177-3AD203B41FA5}">
                      <a16:colId xmlns:a16="http://schemas.microsoft.com/office/drawing/2014/main" val="2673347390"/>
                    </a:ext>
                  </a:extLst>
                </a:gridCol>
                <a:gridCol w="1777105">
                  <a:extLst>
                    <a:ext uri="{9D8B030D-6E8A-4147-A177-3AD203B41FA5}">
                      <a16:colId xmlns:a16="http://schemas.microsoft.com/office/drawing/2014/main" val="76743301"/>
                    </a:ext>
                  </a:extLst>
                </a:gridCol>
                <a:gridCol w="1777105">
                  <a:extLst>
                    <a:ext uri="{9D8B030D-6E8A-4147-A177-3AD203B41FA5}">
                      <a16:colId xmlns:a16="http://schemas.microsoft.com/office/drawing/2014/main" val="1234989245"/>
                    </a:ext>
                  </a:extLst>
                </a:gridCol>
                <a:gridCol w="1777105">
                  <a:extLst>
                    <a:ext uri="{9D8B030D-6E8A-4147-A177-3AD203B41FA5}">
                      <a16:colId xmlns:a16="http://schemas.microsoft.com/office/drawing/2014/main" val="3021841193"/>
                    </a:ext>
                  </a:extLst>
                </a:gridCol>
              </a:tblGrid>
              <a:tr h="23716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auto</a:t>
                      </a:r>
                      <a:endParaRPr lang="en-US" altLang="zh-CN" sz="2400" b="1" dirty="0"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double</a:t>
                      </a:r>
                      <a:endParaRPr lang="zh-CN" altLang="en-US" sz="2400" b="1" dirty="0"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>
                          <a:latin typeface="+mn-lt"/>
                          <a:ea typeface="+mn-ea"/>
                          <a:cs typeface="+mn-ea"/>
                          <a:sym typeface="+mn-lt"/>
                        </a:rPr>
                        <a:t>int</a:t>
                      </a:r>
                      <a:r>
                        <a:rPr lang="en-US" altLang="zh-CN" sz="2400" baseline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 </a:t>
                      </a:r>
                      <a:endParaRPr lang="zh-CN" altLang="en-US" sz="2400" b="1" dirty="0"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 err="1">
                          <a:latin typeface="+mn-lt"/>
                          <a:ea typeface="+mn-ea"/>
                          <a:cs typeface="+mn-ea"/>
                          <a:sym typeface="+mn-lt"/>
                        </a:rPr>
                        <a:t>struct</a:t>
                      </a:r>
                      <a:endParaRPr lang="zh-CN" altLang="en-US" sz="2400" b="1" dirty="0"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9241219"/>
                  </a:ext>
                </a:extLst>
              </a:tr>
              <a:tr h="23716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break</a:t>
                      </a:r>
                      <a:endParaRPr lang="en-US" altLang="zh-CN" sz="2400" b="1" dirty="0"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else</a:t>
                      </a:r>
                      <a:endParaRPr lang="zh-CN" altLang="en-US" sz="2400" b="1" dirty="0"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long</a:t>
                      </a:r>
                      <a:endParaRPr lang="zh-CN" altLang="en-US" sz="2400" b="1" dirty="0"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switch</a:t>
                      </a:r>
                      <a:endParaRPr lang="zh-CN" altLang="en-US" sz="2400" b="1" dirty="0"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02768473"/>
                  </a:ext>
                </a:extLst>
              </a:tr>
              <a:tr h="23716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case</a:t>
                      </a:r>
                      <a:endParaRPr lang="zh-CN" altLang="en-US" sz="2400" b="1" dirty="0"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 err="1">
                          <a:latin typeface="+mn-lt"/>
                          <a:ea typeface="+mn-ea"/>
                          <a:cs typeface="+mn-ea"/>
                          <a:sym typeface="+mn-lt"/>
                        </a:rPr>
                        <a:t>enum</a:t>
                      </a:r>
                      <a:endParaRPr lang="zh-CN" altLang="en-US" sz="2400" b="1" dirty="0"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register</a:t>
                      </a:r>
                      <a:endParaRPr lang="zh-CN" altLang="en-US" sz="2400" b="1" dirty="0"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 err="1">
                          <a:latin typeface="+mn-lt"/>
                          <a:ea typeface="+mn-ea"/>
                          <a:cs typeface="+mn-ea"/>
                          <a:sym typeface="+mn-lt"/>
                        </a:rPr>
                        <a:t>typedef</a:t>
                      </a:r>
                      <a:endParaRPr lang="zh-CN" altLang="en-US" sz="2400" b="1" dirty="0"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10918484"/>
                  </a:ext>
                </a:extLst>
              </a:tr>
              <a:tr h="23716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char</a:t>
                      </a:r>
                      <a:endParaRPr lang="zh-CN" altLang="en-US" sz="2400" b="1" dirty="0"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extern</a:t>
                      </a:r>
                      <a:endParaRPr lang="zh-CN" altLang="en-US" sz="2400" b="1" dirty="0"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return</a:t>
                      </a:r>
                      <a:endParaRPr lang="zh-CN" altLang="en-US" sz="2400" b="1" dirty="0"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union</a:t>
                      </a:r>
                      <a:endParaRPr lang="zh-CN" altLang="en-US" sz="2400" b="1" dirty="0"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0281525"/>
                  </a:ext>
                </a:extLst>
              </a:tr>
              <a:tr h="23716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const</a:t>
                      </a:r>
                      <a:endParaRPr lang="zh-CN" altLang="en-US" sz="2400" b="1" dirty="0"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float</a:t>
                      </a:r>
                      <a:endParaRPr lang="zh-CN" altLang="en-US" sz="2400" b="1" dirty="0"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short</a:t>
                      </a:r>
                      <a:endParaRPr lang="zh-CN" altLang="en-US" sz="2400" b="1" dirty="0"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unsigned</a:t>
                      </a:r>
                      <a:endParaRPr lang="zh-CN" altLang="en-US" sz="2400" b="1" dirty="0"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5905994"/>
                  </a:ext>
                </a:extLst>
              </a:tr>
              <a:tr h="31368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continue</a:t>
                      </a:r>
                      <a:endParaRPr lang="zh-CN" altLang="en-US" sz="2400" b="1" dirty="0"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for</a:t>
                      </a:r>
                      <a:endParaRPr lang="zh-CN" altLang="en-US" sz="2400" b="1" dirty="0"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signed</a:t>
                      </a:r>
                      <a:endParaRPr lang="zh-CN" altLang="en-US" sz="2400" b="1" dirty="0"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void</a:t>
                      </a:r>
                      <a:endParaRPr lang="zh-CN" altLang="en-US" sz="2400" b="1" dirty="0"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0337554"/>
                  </a:ext>
                </a:extLst>
              </a:tr>
              <a:tr h="23716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default</a:t>
                      </a:r>
                      <a:endParaRPr lang="zh-CN" altLang="en-US" sz="2400" b="1" dirty="0"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 err="1">
                          <a:latin typeface="+mn-lt"/>
                          <a:ea typeface="+mn-ea"/>
                          <a:cs typeface="+mn-ea"/>
                          <a:sym typeface="+mn-lt"/>
                        </a:rPr>
                        <a:t>goto</a:t>
                      </a:r>
                      <a:endParaRPr lang="zh-CN" altLang="en-US" sz="2400" b="1" dirty="0"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 err="1">
                          <a:latin typeface="+mn-lt"/>
                          <a:ea typeface="+mn-ea"/>
                          <a:cs typeface="+mn-ea"/>
                          <a:sym typeface="+mn-lt"/>
                        </a:rPr>
                        <a:t>sizeof</a:t>
                      </a:r>
                      <a:endParaRPr lang="zh-CN" altLang="en-US" sz="2400" b="1" dirty="0"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400" b="1" dirty="0"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8280837"/>
                  </a:ext>
                </a:extLst>
              </a:tr>
              <a:tr h="23716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do</a:t>
                      </a:r>
                      <a:endParaRPr lang="zh-CN" altLang="en-US" sz="2400" b="1" dirty="0"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if</a:t>
                      </a:r>
                      <a:endParaRPr lang="zh-CN" altLang="en-US" sz="2400" b="1" dirty="0"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static</a:t>
                      </a:r>
                      <a:endParaRPr lang="zh-CN" altLang="en-US" sz="2400" b="1" dirty="0"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400" b="1" dirty="0"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356587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6580557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476520" y="96475"/>
            <a:ext cx="387045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保留关键字和标识符</a:t>
            </a:r>
          </a:p>
        </p:txBody>
      </p:sp>
      <p:sp>
        <p:nvSpPr>
          <p:cNvPr id="12" name="矩形 11"/>
          <p:cNvSpPr/>
          <p:nvPr/>
        </p:nvSpPr>
        <p:spPr>
          <a:xfrm>
            <a:off x="476520" y="430384"/>
            <a:ext cx="387045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00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Always believe that something wonderful is about to happen</a:t>
            </a:r>
            <a:r>
              <a:rPr lang="en-US" altLang="zh-CN" sz="10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.</a:t>
            </a:r>
            <a:endParaRPr lang="zh-CN" altLang="en-US" sz="1000" dirty="0">
              <a:solidFill>
                <a:schemeClr val="tx1">
                  <a:lumMod val="50000"/>
                  <a:lumOff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476520" y="1131590"/>
            <a:ext cx="7507183" cy="19485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23805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+mn-lt"/>
                <a:cs typeface="+mn-ea"/>
                <a:sym typeface="+mn-lt"/>
              </a:rPr>
              <a:t>按照C语言规定的用户标识符命名规则，不能出现在标识符中的是（）。</a:t>
            </a:r>
            <a:endParaRPr kumimoji="0" lang="zh-CN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  <a:cs typeface="+mn-ea"/>
              <a:sym typeface="+mn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b="0" i="0" u="none" strike="noStrike" cap="none" normalizeH="0" baseline="0" dirty="0">
              <a:ln>
                <a:noFill/>
              </a:ln>
              <a:solidFill>
                <a:srgbClr val="333333"/>
              </a:solidFill>
              <a:effectLst/>
              <a:latin typeface="+mn-lt"/>
              <a:cs typeface="+mn-ea"/>
              <a:sym typeface="+mn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>
                <a:solidFill>
                  <a:srgbClr val="333333"/>
                </a:solidFill>
                <a:latin typeface="+mn-lt"/>
                <a:cs typeface="+mn-ea"/>
                <a:sym typeface="+mn-lt"/>
              </a:rPr>
              <a:t>A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333333"/>
                </a:solidFill>
                <a:effectLst/>
                <a:latin typeface="+mn-lt"/>
                <a:cs typeface="+mn-ea"/>
                <a:sym typeface="+mn-lt"/>
              </a:rPr>
              <a:t>. 大写字母</a:t>
            </a:r>
            <a:endParaRPr kumimoji="0" lang="zh-CN" altLang="zh-CN" b="0" i="0" u="none" strike="noStrike" cap="none" normalizeH="0" baseline="0" dirty="0">
              <a:ln>
                <a:noFill/>
              </a:ln>
              <a:solidFill>
                <a:srgbClr val="333333"/>
              </a:solidFill>
              <a:effectLst/>
              <a:latin typeface="+mn-lt"/>
              <a:cs typeface="+mn-ea"/>
              <a:sym typeface="+mn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>
                <a:solidFill>
                  <a:srgbClr val="333333"/>
                </a:solidFill>
                <a:latin typeface="+mn-lt"/>
                <a:cs typeface="+mn-ea"/>
                <a:sym typeface="+mn-lt"/>
              </a:rPr>
              <a:t>B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333333"/>
                </a:solidFill>
                <a:effectLst/>
                <a:latin typeface="+mn-lt"/>
                <a:cs typeface="+mn-ea"/>
                <a:sym typeface="+mn-lt"/>
              </a:rPr>
              <a:t>. 下划线</a:t>
            </a:r>
            <a:endParaRPr kumimoji="0" lang="zh-CN" altLang="zh-CN" b="0" i="0" u="none" strike="noStrike" cap="none" normalizeH="0" baseline="0" dirty="0">
              <a:ln>
                <a:noFill/>
              </a:ln>
              <a:solidFill>
                <a:srgbClr val="333333"/>
              </a:solidFill>
              <a:effectLst/>
              <a:latin typeface="+mn-lt"/>
              <a:cs typeface="+mn-ea"/>
              <a:sym typeface="+mn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>
                <a:solidFill>
                  <a:srgbClr val="333333"/>
                </a:solidFill>
                <a:latin typeface="+mn-lt"/>
                <a:cs typeface="+mn-ea"/>
                <a:sym typeface="+mn-lt"/>
              </a:rPr>
              <a:t>C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333333"/>
                </a:solidFill>
                <a:effectLst/>
                <a:latin typeface="+mn-lt"/>
                <a:cs typeface="+mn-ea"/>
                <a:sym typeface="+mn-lt"/>
              </a:rPr>
              <a:t>. 数字</a:t>
            </a:r>
            <a:endParaRPr kumimoji="0" lang="zh-CN" altLang="zh-CN" b="0" i="0" u="none" strike="noStrike" cap="none" normalizeH="0" baseline="0" dirty="0">
              <a:ln>
                <a:noFill/>
              </a:ln>
              <a:solidFill>
                <a:srgbClr val="333333"/>
              </a:solidFill>
              <a:effectLst/>
              <a:latin typeface="+mn-lt"/>
              <a:cs typeface="+mn-ea"/>
              <a:sym typeface="+mn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>
                <a:solidFill>
                  <a:srgbClr val="333333"/>
                </a:solidFill>
                <a:latin typeface="+mn-lt"/>
                <a:cs typeface="+mn-ea"/>
                <a:sym typeface="+mn-lt"/>
              </a:rPr>
              <a:t>D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333333"/>
                </a:solidFill>
                <a:effectLst/>
                <a:latin typeface="+mn-lt"/>
                <a:cs typeface="+mn-ea"/>
                <a:sym typeface="+mn-lt"/>
              </a:rPr>
              <a:t>. 短横线 </a:t>
            </a:r>
            <a:endParaRPr kumimoji="0" lang="zh-CN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  <a:cs typeface="+mn-ea"/>
              <a:sym typeface="+mn-lt"/>
            </a:endParaRPr>
          </a:p>
        </p:txBody>
      </p:sp>
      <p:sp>
        <p:nvSpPr>
          <p:cNvPr id="15" name="文本框 2"/>
          <p:cNvSpPr>
            <a:spLocks noChangeArrowheads="1"/>
          </p:cNvSpPr>
          <p:nvPr/>
        </p:nvSpPr>
        <p:spPr bwMode="auto">
          <a:xfrm>
            <a:off x="521550" y="2886785"/>
            <a:ext cx="7965885" cy="1948226"/>
          </a:xfrm>
          <a:prstGeom prst="rect">
            <a:avLst/>
          </a:prstGeom>
          <a:solidFill>
            <a:schemeClr val="accent5">
              <a:lumMod val="75000"/>
            </a:schemeClr>
          </a:solidFill>
          <a:ln w="19050">
            <a:solidFill>
              <a:srgbClr val="FFFFFF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>
            <a:lvl1pPr marL="457200" indent="-4572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1800" b="1" dirty="0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rPr>
              <a:t>变量命名规则</a:t>
            </a:r>
            <a:endParaRPr lang="en-US" altLang="zh-CN" sz="1800" b="1" dirty="0">
              <a:solidFill>
                <a:srgbClr val="FFFFFF"/>
              </a:solidFill>
              <a:latin typeface="+mn-lt"/>
              <a:ea typeface="+mn-ea"/>
              <a:cs typeface="+mn-ea"/>
              <a:sym typeface="+mn-lt"/>
            </a:endParaRPr>
          </a:p>
          <a:p>
            <a:pPr>
              <a:lnSpc>
                <a:spcPct val="200000"/>
              </a:lnSpc>
              <a:spcBef>
                <a:spcPct val="0"/>
              </a:spcBef>
              <a:buFont typeface="Calibri Light" panose="020F0302020204030204" pitchFamily="34" charset="0"/>
              <a:buAutoNum type="arabicPeriod"/>
            </a:pPr>
            <a:r>
              <a:rPr lang="zh-CN" altLang="en-US" sz="1800" dirty="0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rPr>
              <a:t>标识符只能由英文字母、下划线“</a:t>
            </a:r>
            <a:r>
              <a:rPr lang="en-US" altLang="zh-CN" sz="1800" dirty="0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rPr>
              <a:t>_</a:t>
            </a:r>
            <a:r>
              <a:rPr lang="zh-CN" altLang="en-US" sz="1800" dirty="0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rPr>
              <a:t>”、阿拉伯数字组成。</a:t>
            </a:r>
            <a:endParaRPr lang="en-US" altLang="zh-CN" sz="1800" dirty="0">
              <a:solidFill>
                <a:srgbClr val="FFFFFF"/>
              </a:solidFill>
              <a:latin typeface="+mn-lt"/>
              <a:ea typeface="+mn-ea"/>
              <a:cs typeface="+mn-ea"/>
              <a:sym typeface="+mn-lt"/>
            </a:endParaRPr>
          </a:p>
          <a:p>
            <a:pPr>
              <a:lnSpc>
                <a:spcPct val="200000"/>
              </a:lnSpc>
              <a:spcBef>
                <a:spcPct val="0"/>
              </a:spcBef>
              <a:buFont typeface="Calibri Light" panose="020F0302020204030204" pitchFamily="34" charset="0"/>
              <a:buAutoNum type="arabicPeriod"/>
            </a:pPr>
            <a:r>
              <a:rPr lang="zh-CN" altLang="en-US" sz="1800" dirty="0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rPr>
              <a:t>标识符的第一个字符必须是英文字母或者下划线，而不能是数字。</a:t>
            </a:r>
            <a:endParaRPr lang="en-US" altLang="zh-CN" sz="1800" dirty="0">
              <a:solidFill>
                <a:srgbClr val="FFFFFF"/>
              </a:solidFill>
              <a:latin typeface="+mn-lt"/>
              <a:ea typeface="+mn-ea"/>
              <a:cs typeface="+mn-ea"/>
              <a:sym typeface="+mn-lt"/>
            </a:endParaRPr>
          </a:p>
          <a:p>
            <a:pPr>
              <a:lnSpc>
                <a:spcPct val="200000"/>
              </a:lnSpc>
              <a:spcBef>
                <a:spcPct val="0"/>
              </a:spcBef>
              <a:buFont typeface="Calibri Light" panose="020F0302020204030204" pitchFamily="34" charset="0"/>
              <a:buAutoNum type="arabicPeriod"/>
            </a:pPr>
            <a:r>
              <a:rPr lang="zh-CN" altLang="en-US" sz="1800" dirty="0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rPr>
              <a:t>变量名不能与</a:t>
            </a:r>
            <a:r>
              <a:rPr lang="en-US" altLang="zh-CN" sz="1800" dirty="0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rPr>
              <a:t>C</a:t>
            </a:r>
            <a:r>
              <a:rPr lang="zh-CN" altLang="en-US" sz="1800" dirty="0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rPr>
              <a:t>语言中的关键字相同。</a:t>
            </a:r>
          </a:p>
        </p:txBody>
      </p:sp>
    </p:spTree>
    <p:extLst>
      <p:ext uri="{BB962C8B-B14F-4D97-AF65-F5344CB8AC3E}">
        <p14:creationId xmlns:p14="http://schemas.microsoft.com/office/powerpoint/2010/main" val="246225303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9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1A7BAE"/>
                                      </p:to>
                                    </p:animClr>
                                    <p:animClr clrSpc="rgb" dir="cw">
                                      <p:cBhvr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1A7BAE"/>
                                      </p:to>
                                    </p:animClr>
                                    <p:set>
                                      <p:cBhvr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476520" y="96475"/>
            <a:ext cx="387045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保留关键字和标识符</a:t>
            </a:r>
          </a:p>
        </p:txBody>
      </p:sp>
      <p:sp>
        <p:nvSpPr>
          <p:cNvPr id="12" name="矩形 11"/>
          <p:cNvSpPr/>
          <p:nvPr/>
        </p:nvSpPr>
        <p:spPr>
          <a:xfrm>
            <a:off x="476520" y="430384"/>
            <a:ext cx="387045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00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Always believe that something wonderful is about to happen</a:t>
            </a:r>
            <a:r>
              <a:rPr lang="en-US" altLang="zh-CN" sz="10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.</a:t>
            </a:r>
            <a:endParaRPr lang="zh-CN" altLang="en-US" sz="1000" dirty="0">
              <a:solidFill>
                <a:schemeClr val="tx1">
                  <a:lumMod val="50000"/>
                  <a:lumOff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476520" y="806103"/>
            <a:ext cx="4685898" cy="27795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23805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+mn-lt"/>
                <a:cs typeface="+mn-ea"/>
                <a:sym typeface="+mn-lt"/>
              </a:rPr>
              <a:t>c语言提供的合法的数据类型关键字是（）。</a:t>
            </a:r>
            <a:endParaRPr kumimoji="0" lang="zh-CN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  <a:cs typeface="+mn-ea"/>
              <a:sym typeface="+mn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zh-CN" b="0" i="0" u="none" strike="noStrike" cap="none" normalizeH="0" baseline="0" dirty="0">
              <a:ln>
                <a:noFill/>
              </a:ln>
              <a:solidFill>
                <a:srgbClr val="333333"/>
              </a:solidFill>
              <a:effectLst/>
              <a:latin typeface="+mn-lt"/>
              <a:cs typeface="+mn-ea"/>
              <a:sym typeface="+mn-lt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lphaUcPeriod"/>
              <a:tabLst/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+mn-lt"/>
                <a:cs typeface="+mn-ea"/>
                <a:sym typeface="+mn-lt"/>
              </a:rPr>
              <a:t>return</a:t>
            </a:r>
            <a:endParaRPr kumimoji="0" lang="en-US" altLang="zh-CN" b="0" i="0" u="none" strike="noStrike" cap="none" normalizeH="0" baseline="0" dirty="0">
              <a:ln>
                <a:noFill/>
              </a:ln>
              <a:solidFill>
                <a:srgbClr val="333333"/>
              </a:solidFill>
              <a:effectLst/>
              <a:latin typeface="+mn-lt"/>
              <a:cs typeface="+mn-ea"/>
              <a:sym typeface="+mn-lt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lphaUcPeriod"/>
              <a:tabLst/>
            </a:pPr>
            <a:endParaRPr kumimoji="0" lang="zh-CN" altLang="zh-CN" b="0" i="0" u="none" strike="noStrike" cap="none" normalizeH="0" baseline="0" dirty="0">
              <a:ln>
                <a:noFill/>
              </a:ln>
              <a:solidFill>
                <a:srgbClr val="333333"/>
              </a:solidFill>
              <a:effectLst/>
              <a:latin typeface="+mn-lt"/>
              <a:cs typeface="+mn-ea"/>
              <a:sym typeface="+mn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b="0" i="0" u="none" strike="noStrike" cap="none" normalizeH="0" baseline="0">
                <a:ln>
                  <a:noFill/>
                </a:ln>
                <a:solidFill>
                  <a:srgbClr val="333333"/>
                </a:solidFill>
                <a:effectLst/>
                <a:latin typeface="+mn-lt"/>
                <a:cs typeface="+mn-ea"/>
                <a:sym typeface="+mn-lt"/>
              </a:rPr>
              <a:t>B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333333"/>
                </a:solidFill>
                <a:effectLst/>
                <a:latin typeface="+mn-lt"/>
                <a:cs typeface="+mn-ea"/>
                <a:sym typeface="+mn-lt"/>
              </a:rPr>
              <a:t>. integer</a:t>
            </a:r>
            <a:endParaRPr kumimoji="0" lang="en-US" altLang="zh-CN" b="0" i="0" u="none" strike="noStrike" cap="none" normalizeH="0" baseline="0" dirty="0">
              <a:ln>
                <a:noFill/>
              </a:ln>
              <a:solidFill>
                <a:srgbClr val="333333"/>
              </a:solidFill>
              <a:effectLst/>
              <a:latin typeface="+mn-lt"/>
              <a:cs typeface="+mn-ea"/>
              <a:sym typeface="+mn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b="0" i="0" u="none" strike="noStrike" cap="none" normalizeH="0" baseline="0" dirty="0">
              <a:ln>
                <a:noFill/>
              </a:ln>
              <a:solidFill>
                <a:srgbClr val="333333"/>
              </a:solidFill>
              <a:effectLst/>
              <a:latin typeface="+mn-lt"/>
              <a:cs typeface="+mn-ea"/>
              <a:sym typeface="+mn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b="0" i="0" u="none" strike="noStrike" cap="none" normalizeH="0" baseline="0">
                <a:ln>
                  <a:noFill/>
                </a:ln>
                <a:solidFill>
                  <a:srgbClr val="333333"/>
                </a:solidFill>
                <a:effectLst/>
                <a:latin typeface="+mn-lt"/>
                <a:cs typeface="+mn-ea"/>
                <a:sym typeface="+mn-lt"/>
              </a:rPr>
              <a:t>C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333333"/>
                </a:solidFill>
                <a:effectLst/>
                <a:latin typeface="+mn-lt"/>
                <a:cs typeface="+mn-ea"/>
                <a:sym typeface="+mn-lt"/>
              </a:rPr>
              <a:t>. printf</a:t>
            </a:r>
            <a:endParaRPr kumimoji="0" lang="en-US" altLang="zh-CN" b="0" i="0" u="none" strike="noStrike" cap="none" normalizeH="0" baseline="0" dirty="0">
              <a:ln>
                <a:noFill/>
              </a:ln>
              <a:solidFill>
                <a:srgbClr val="333333"/>
              </a:solidFill>
              <a:effectLst/>
              <a:latin typeface="+mn-lt"/>
              <a:cs typeface="+mn-ea"/>
              <a:sym typeface="+mn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b="0" i="0" u="none" strike="noStrike" cap="none" normalizeH="0" baseline="0" dirty="0">
              <a:ln>
                <a:noFill/>
              </a:ln>
              <a:solidFill>
                <a:srgbClr val="333333"/>
              </a:solidFill>
              <a:effectLst/>
              <a:latin typeface="+mn-lt"/>
              <a:cs typeface="+mn-ea"/>
              <a:sym typeface="+mn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b="0" i="0" u="none" strike="noStrike" cap="none" normalizeH="0" baseline="0">
                <a:ln>
                  <a:noFill/>
                </a:ln>
                <a:solidFill>
                  <a:srgbClr val="333333"/>
                </a:solidFill>
                <a:effectLst/>
                <a:latin typeface="+mn-lt"/>
                <a:cs typeface="+mn-ea"/>
                <a:sym typeface="+mn-lt"/>
              </a:rPr>
              <a:t>D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333333"/>
                </a:solidFill>
                <a:effectLst/>
                <a:latin typeface="+mn-lt"/>
                <a:cs typeface="+mn-ea"/>
                <a:sym typeface="+mn-lt"/>
              </a:rPr>
              <a:t>. unsigned</a:t>
            </a:r>
            <a:endParaRPr kumimoji="0" lang="zh-CN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78757377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9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1A7BAE"/>
                                      </p:to>
                                    </p:animClr>
                                    <p:animClr clrSpc="rgb" dir="cw">
                                      <p:cBhvr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1A7BAE"/>
                                      </p:to>
                                    </p:animClr>
                                    <p:set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476520" y="96475"/>
            <a:ext cx="387045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数据类型和运算符</a:t>
            </a:r>
            <a:endParaRPr lang="en-US" altLang="zh-CN" sz="2000" dirty="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76520" y="430384"/>
            <a:ext cx="387045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00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Always believe that something wonderful is about to happen</a:t>
            </a:r>
            <a:r>
              <a:rPr lang="en-US" altLang="zh-CN" sz="10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.</a:t>
            </a:r>
            <a:endParaRPr lang="zh-CN" altLang="en-US" sz="1000" dirty="0">
              <a:solidFill>
                <a:schemeClr val="tx1">
                  <a:lumMod val="50000"/>
                  <a:lumOff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9" name="矩形 3"/>
          <p:cNvSpPr txBox="1">
            <a:spLocks noChangeArrowheads="1"/>
          </p:cNvSpPr>
          <p:nvPr/>
        </p:nvSpPr>
        <p:spPr>
          <a:xfrm>
            <a:off x="476520" y="830494"/>
            <a:ext cx="8659320" cy="444572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cs typeface="+mn-ea"/>
                <a:sym typeface="+mn-lt"/>
              </a:rPr>
              <a:t>数</a:t>
            </a:r>
            <a:endParaRPr lang="en-US" altLang="zh-CN" b="1" dirty="0">
              <a:cs typeface="+mn-ea"/>
              <a:sym typeface="+mn-lt"/>
            </a:endParaRPr>
          </a:p>
          <a:p>
            <a:pPr lvl="1"/>
            <a:r>
              <a:rPr lang="zh-CN" altLang="en-US" b="1">
                <a:cs typeface="+mn-ea"/>
                <a:sym typeface="+mn-lt"/>
              </a:rPr>
              <a:t>整型  </a:t>
            </a:r>
            <a:r>
              <a:rPr lang="en-US" altLang="zh-CN" b="1">
                <a:cs typeface="+mn-ea"/>
                <a:sym typeface="+mn-lt"/>
              </a:rPr>
              <a:t>int </a:t>
            </a:r>
            <a:r>
              <a:rPr lang="zh-CN" altLang="en-US" b="1">
                <a:cs typeface="+mn-ea"/>
                <a:sym typeface="+mn-lt"/>
              </a:rPr>
              <a:t>（</a:t>
            </a:r>
            <a:r>
              <a:rPr lang="en-US" altLang="zh-CN" b="1">
                <a:cs typeface="+mn-ea"/>
                <a:sym typeface="+mn-lt"/>
              </a:rPr>
              <a:t>%d </a:t>
            </a:r>
            <a:r>
              <a:rPr lang="zh-CN" altLang="en-US" b="1">
                <a:cs typeface="+mn-ea"/>
                <a:sym typeface="+mn-lt"/>
              </a:rPr>
              <a:t>， </a:t>
            </a:r>
            <a:r>
              <a:rPr lang="en-US" altLang="zh-CN" b="1">
                <a:cs typeface="+mn-ea"/>
                <a:sym typeface="+mn-lt"/>
              </a:rPr>
              <a:t>%0 </a:t>
            </a:r>
            <a:r>
              <a:rPr lang="zh-CN" altLang="en-US" b="1">
                <a:cs typeface="+mn-ea"/>
                <a:sym typeface="+mn-lt"/>
              </a:rPr>
              <a:t>， </a:t>
            </a:r>
            <a:r>
              <a:rPr lang="en-US" altLang="zh-CN" b="1">
                <a:cs typeface="+mn-ea"/>
                <a:sym typeface="+mn-lt"/>
              </a:rPr>
              <a:t>%0x </a:t>
            </a:r>
            <a:r>
              <a:rPr lang="zh-CN" altLang="en-US" b="1">
                <a:cs typeface="+mn-ea"/>
                <a:sym typeface="+mn-lt"/>
              </a:rPr>
              <a:t>， </a:t>
            </a:r>
            <a:r>
              <a:rPr lang="en-US" altLang="zh-CN" b="1">
                <a:cs typeface="+mn-ea"/>
                <a:sym typeface="+mn-lt"/>
              </a:rPr>
              <a:t>%#o </a:t>
            </a:r>
            <a:r>
              <a:rPr lang="zh-CN" altLang="en-US" b="1">
                <a:cs typeface="+mn-ea"/>
                <a:sym typeface="+mn-lt"/>
              </a:rPr>
              <a:t>， </a:t>
            </a:r>
            <a:r>
              <a:rPr lang="en-US" altLang="zh-CN" b="1">
                <a:cs typeface="+mn-ea"/>
                <a:sym typeface="+mn-lt"/>
              </a:rPr>
              <a:t>%#x</a:t>
            </a:r>
            <a:r>
              <a:rPr lang="zh-CN" altLang="en-US" b="1">
                <a:cs typeface="+mn-ea"/>
                <a:sym typeface="+mn-lt"/>
              </a:rPr>
              <a:t>）   </a:t>
            </a:r>
            <a:r>
              <a:rPr lang="en-US" altLang="zh-CN" b="1">
                <a:cs typeface="+mn-ea"/>
                <a:sym typeface="+mn-lt"/>
              </a:rPr>
              <a:t>4</a:t>
            </a:r>
            <a:endParaRPr lang="en-US" altLang="zh-CN" b="1" dirty="0">
              <a:cs typeface="+mn-ea"/>
              <a:sym typeface="+mn-lt"/>
            </a:endParaRPr>
          </a:p>
          <a:p>
            <a:pPr lvl="2"/>
            <a:r>
              <a:rPr lang="en-US" altLang="zh-CN" b="1">
                <a:cs typeface="+mn-ea"/>
                <a:sym typeface="+mn-lt"/>
              </a:rPr>
              <a:t>short                                                                      2</a:t>
            </a:r>
            <a:endParaRPr lang="en-US" altLang="zh-CN" b="1" dirty="0">
              <a:cs typeface="+mn-ea"/>
              <a:sym typeface="+mn-lt"/>
            </a:endParaRPr>
          </a:p>
          <a:p>
            <a:pPr lvl="2"/>
            <a:r>
              <a:rPr lang="en-US" altLang="zh-CN" b="1" dirty="0">
                <a:cs typeface="+mn-ea"/>
                <a:sym typeface="+mn-lt"/>
              </a:rPr>
              <a:t>unsigned</a:t>
            </a:r>
            <a:r>
              <a:rPr lang="zh-CN" altLang="en-US" b="1" dirty="0">
                <a:cs typeface="+mn-ea"/>
                <a:sym typeface="+mn-lt"/>
              </a:rPr>
              <a:t>（</a:t>
            </a:r>
            <a:r>
              <a:rPr lang="en-US" altLang="zh-CN" b="1" dirty="0">
                <a:cs typeface="+mn-ea"/>
                <a:sym typeface="+mn-lt"/>
              </a:rPr>
              <a:t>%</a:t>
            </a:r>
            <a:r>
              <a:rPr lang="en-US" altLang="zh-CN" b="1">
                <a:cs typeface="+mn-ea"/>
                <a:sym typeface="+mn-lt"/>
              </a:rPr>
              <a:t>u</a:t>
            </a:r>
            <a:r>
              <a:rPr lang="zh-CN" altLang="en-US" b="1">
                <a:cs typeface="+mn-ea"/>
                <a:sym typeface="+mn-lt"/>
              </a:rPr>
              <a:t>）                                                    </a:t>
            </a:r>
            <a:r>
              <a:rPr lang="en-US" altLang="zh-CN" b="1">
                <a:cs typeface="+mn-ea"/>
                <a:sym typeface="+mn-lt"/>
              </a:rPr>
              <a:t>4</a:t>
            </a:r>
            <a:endParaRPr lang="en-US" altLang="zh-CN" b="1" dirty="0">
              <a:cs typeface="+mn-ea"/>
              <a:sym typeface="+mn-lt"/>
            </a:endParaRPr>
          </a:p>
          <a:p>
            <a:pPr lvl="2"/>
            <a:r>
              <a:rPr lang="en-US" altLang="zh-CN" b="1" dirty="0">
                <a:cs typeface="+mn-ea"/>
                <a:sym typeface="+mn-lt"/>
              </a:rPr>
              <a:t>long</a:t>
            </a:r>
            <a:r>
              <a:rPr lang="zh-CN" altLang="en-US" b="1" dirty="0">
                <a:cs typeface="+mn-ea"/>
                <a:sym typeface="+mn-lt"/>
              </a:rPr>
              <a:t>（</a:t>
            </a:r>
            <a:r>
              <a:rPr lang="en-US" altLang="zh-CN" b="1" dirty="0">
                <a:cs typeface="+mn-ea"/>
                <a:sym typeface="+mn-lt"/>
              </a:rPr>
              <a:t>%</a:t>
            </a:r>
            <a:r>
              <a:rPr lang="en-US" altLang="zh-CN" b="1" err="1">
                <a:cs typeface="+mn-ea"/>
                <a:sym typeface="+mn-lt"/>
              </a:rPr>
              <a:t>ld</a:t>
            </a:r>
            <a:r>
              <a:rPr lang="zh-CN" altLang="en-US" b="1">
                <a:cs typeface="+mn-ea"/>
                <a:sym typeface="+mn-lt"/>
              </a:rPr>
              <a:t>）                                                          </a:t>
            </a:r>
            <a:r>
              <a:rPr lang="en-US" altLang="zh-CN" b="1">
                <a:cs typeface="+mn-ea"/>
                <a:sym typeface="+mn-lt"/>
              </a:rPr>
              <a:t>4</a:t>
            </a:r>
            <a:endParaRPr lang="en-US" altLang="zh-CN" b="1" dirty="0">
              <a:cs typeface="+mn-ea"/>
              <a:sym typeface="+mn-lt"/>
            </a:endParaRPr>
          </a:p>
          <a:p>
            <a:pPr lvl="3"/>
            <a:r>
              <a:rPr lang="en-US" altLang="zh-CN" b="1">
                <a:cs typeface="+mn-ea"/>
                <a:sym typeface="+mn-lt"/>
              </a:rPr>
              <a:t>long long </a:t>
            </a:r>
            <a:r>
              <a:rPr lang="zh-CN" altLang="en-US" b="1">
                <a:cs typeface="+mn-ea"/>
                <a:sym typeface="+mn-lt"/>
              </a:rPr>
              <a:t>（</a:t>
            </a:r>
            <a:r>
              <a:rPr lang="en-US" altLang="zh-CN" b="1" dirty="0">
                <a:cs typeface="+mn-ea"/>
                <a:sym typeface="+mn-lt"/>
              </a:rPr>
              <a:t>%</a:t>
            </a:r>
            <a:r>
              <a:rPr lang="en-US" altLang="zh-CN" b="1" err="1">
                <a:cs typeface="+mn-ea"/>
                <a:sym typeface="+mn-lt"/>
              </a:rPr>
              <a:t>lld</a:t>
            </a:r>
            <a:r>
              <a:rPr lang="zh-CN" altLang="en-US" b="1">
                <a:cs typeface="+mn-ea"/>
                <a:sym typeface="+mn-lt"/>
              </a:rPr>
              <a:t>）                                                    </a:t>
            </a:r>
            <a:r>
              <a:rPr lang="en-US" altLang="zh-CN" b="1">
                <a:cs typeface="+mn-ea"/>
                <a:sym typeface="+mn-lt"/>
              </a:rPr>
              <a:t>8</a:t>
            </a:r>
            <a:endParaRPr lang="en-US" altLang="zh-CN" b="1" dirty="0">
              <a:cs typeface="+mn-ea"/>
              <a:sym typeface="+mn-lt"/>
            </a:endParaRPr>
          </a:p>
          <a:p>
            <a:pPr lvl="4"/>
            <a:r>
              <a:rPr lang="en-US" altLang="zh-CN" b="1">
                <a:cs typeface="+mn-ea"/>
                <a:sym typeface="+mn-lt"/>
              </a:rPr>
              <a:t>unsigned long long                                         8</a:t>
            </a:r>
            <a:endParaRPr lang="en-US" altLang="zh-CN" b="1" dirty="0">
              <a:cs typeface="+mn-ea"/>
              <a:sym typeface="+mn-lt"/>
            </a:endParaRPr>
          </a:p>
          <a:p>
            <a:pPr lvl="1"/>
            <a:r>
              <a:rPr lang="zh-CN" altLang="en-US" b="1">
                <a:cs typeface="+mn-ea"/>
                <a:sym typeface="+mn-lt"/>
              </a:rPr>
              <a:t>浮点型  </a:t>
            </a:r>
            <a:endParaRPr lang="en-US" altLang="zh-CN" b="1" dirty="0">
              <a:cs typeface="+mn-ea"/>
              <a:sym typeface="+mn-lt"/>
            </a:endParaRPr>
          </a:p>
          <a:p>
            <a:pPr lvl="2"/>
            <a:r>
              <a:rPr lang="zh-CN" altLang="en-US" b="1" dirty="0">
                <a:cs typeface="+mn-ea"/>
                <a:sym typeface="+mn-lt"/>
              </a:rPr>
              <a:t>单精度</a:t>
            </a:r>
            <a:r>
              <a:rPr lang="zh-CN" altLang="en-US" b="1">
                <a:cs typeface="+mn-ea"/>
                <a:sym typeface="+mn-lt"/>
              </a:rPr>
              <a:t>浮点型 </a:t>
            </a:r>
            <a:r>
              <a:rPr lang="en-US" altLang="zh-CN" b="1">
                <a:cs typeface="+mn-ea"/>
                <a:sym typeface="+mn-lt"/>
              </a:rPr>
              <a:t>float</a:t>
            </a:r>
            <a:r>
              <a:rPr lang="zh-CN" altLang="en-US" b="1" dirty="0">
                <a:cs typeface="+mn-ea"/>
                <a:sym typeface="+mn-lt"/>
              </a:rPr>
              <a:t>（</a:t>
            </a:r>
            <a:r>
              <a:rPr lang="en-US" altLang="zh-CN" b="1" dirty="0">
                <a:cs typeface="+mn-ea"/>
                <a:sym typeface="+mn-lt"/>
              </a:rPr>
              <a:t>%f</a:t>
            </a:r>
            <a:r>
              <a:rPr lang="zh-CN" altLang="en-US" b="1">
                <a:cs typeface="+mn-ea"/>
                <a:sym typeface="+mn-lt"/>
              </a:rPr>
              <a:t>十进制记数法 </a:t>
            </a:r>
            <a:r>
              <a:rPr lang="en-US" altLang="zh-CN" b="1">
                <a:cs typeface="+mn-ea"/>
                <a:sym typeface="+mn-lt"/>
              </a:rPr>
              <a:t>%</a:t>
            </a:r>
            <a:r>
              <a:rPr lang="en-US" altLang="zh-CN" b="1" dirty="0">
                <a:cs typeface="+mn-ea"/>
                <a:sym typeface="+mn-lt"/>
              </a:rPr>
              <a:t>e</a:t>
            </a:r>
            <a:r>
              <a:rPr lang="zh-CN" altLang="en-US" b="1">
                <a:cs typeface="+mn-ea"/>
                <a:sym typeface="+mn-lt"/>
              </a:rPr>
              <a:t>指数记数法 </a:t>
            </a:r>
            <a:r>
              <a:rPr lang="en-US" altLang="zh-CN" b="1">
                <a:cs typeface="+mn-ea"/>
                <a:sym typeface="+mn-lt"/>
              </a:rPr>
              <a:t>%</a:t>
            </a:r>
            <a:r>
              <a:rPr lang="en-US" altLang="zh-CN" b="1" dirty="0">
                <a:cs typeface="+mn-ea"/>
                <a:sym typeface="+mn-lt"/>
              </a:rPr>
              <a:t>a</a:t>
            </a:r>
            <a:r>
              <a:rPr lang="zh-CN" altLang="en-US" b="1" dirty="0">
                <a:cs typeface="+mn-ea"/>
                <a:sym typeface="+mn-lt"/>
              </a:rPr>
              <a:t>十六进制格式</a:t>
            </a:r>
            <a:r>
              <a:rPr lang="zh-CN" altLang="en-US" b="1">
                <a:cs typeface="+mn-ea"/>
                <a:sym typeface="+mn-lt"/>
              </a:rPr>
              <a:t>浮点数）    </a:t>
            </a:r>
            <a:r>
              <a:rPr lang="en-US" altLang="zh-CN" b="1">
                <a:cs typeface="+mn-ea"/>
                <a:sym typeface="+mn-lt"/>
              </a:rPr>
              <a:t>4</a:t>
            </a:r>
            <a:endParaRPr lang="en-US" altLang="zh-CN" b="1" dirty="0">
              <a:cs typeface="+mn-ea"/>
              <a:sym typeface="+mn-lt"/>
            </a:endParaRPr>
          </a:p>
          <a:p>
            <a:pPr lvl="2"/>
            <a:r>
              <a:rPr lang="zh-CN" altLang="en-US" b="1" dirty="0">
                <a:cs typeface="+mn-ea"/>
                <a:sym typeface="+mn-lt"/>
              </a:rPr>
              <a:t>双精度浮点类型</a:t>
            </a:r>
            <a:r>
              <a:rPr lang="en-US" altLang="zh-CN" b="1" dirty="0">
                <a:cs typeface="+mn-ea"/>
                <a:sym typeface="+mn-lt"/>
              </a:rPr>
              <a:t>double</a:t>
            </a:r>
            <a:r>
              <a:rPr lang="zh-CN" altLang="en-US" b="1" dirty="0">
                <a:cs typeface="+mn-ea"/>
                <a:sym typeface="+mn-lt"/>
              </a:rPr>
              <a:t>（</a:t>
            </a:r>
            <a:r>
              <a:rPr lang="en-US" altLang="zh-CN" b="1" dirty="0">
                <a:cs typeface="+mn-ea"/>
                <a:sym typeface="+mn-lt"/>
              </a:rPr>
              <a:t>%</a:t>
            </a:r>
            <a:r>
              <a:rPr lang="en-US" altLang="zh-CN" b="1">
                <a:cs typeface="+mn-ea"/>
                <a:sym typeface="+mn-lt"/>
              </a:rPr>
              <a:t>lf</a:t>
            </a:r>
            <a:r>
              <a:rPr lang="zh-CN" altLang="en-US" b="1">
                <a:cs typeface="+mn-ea"/>
                <a:sym typeface="+mn-lt"/>
              </a:rPr>
              <a:t>）                                                                            </a:t>
            </a:r>
            <a:r>
              <a:rPr lang="en-US" altLang="zh-CN" b="1">
                <a:cs typeface="+mn-ea"/>
                <a:sym typeface="+mn-lt"/>
              </a:rPr>
              <a:t>8</a:t>
            </a:r>
            <a:endParaRPr lang="en-US" altLang="zh-CN" b="1" dirty="0">
              <a:cs typeface="+mn-ea"/>
              <a:sym typeface="+mn-lt"/>
            </a:endParaRPr>
          </a:p>
          <a:p>
            <a:r>
              <a:rPr lang="zh-CN" altLang="en-US" b="1">
                <a:cs typeface="+mn-ea"/>
                <a:sym typeface="+mn-lt"/>
              </a:rPr>
              <a:t>字符 </a:t>
            </a:r>
            <a:r>
              <a:rPr lang="en-US" altLang="zh-CN" b="1">
                <a:cs typeface="+mn-ea"/>
                <a:sym typeface="+mn-lt"/>
              </a:rPr>
              <a:t>char</a:t>
            </a:r>
            <a:r>
              <a:rPr lang="en-US" altLang="zh-CN" b="1" dirty="0">
                <a:cs typeface="+mn-ea"/>
                <a:sym typeface="+mn-lt"/>
              </a:rPr>
              <a:t>(%</a:t>
            </a:r>
            <a:r>
              <a:rPr lang="en-US" altLang="zh-CN" b="1">
                <a:cs typeface="+mn-ea"/>
                <a:sym typeface="+mn-lt"/>
              </a:rPr>
              <a:t>c)                                                   1</a:t>
            </a:r>
            <a:endParaRPr lang="en-US" altLang="zh-CN" b="1" dirty="0">
              <a:cs typeface="+mn-ea"/>
              <a:sym typeface="+mn-lt"/>
            </a:endParaRPr>
          </a:p>
          <a:p>
            <a:pPr lvl="1"/>
            <a:r>
              <a:rPr lang="zh-CN" altLang="en-US" b="1" dirty="0">
                <a:cs typeface="+mn-ea"/>
                <a:sym typeface="+mn-lt"/>
              </a:rPr>
              <a:t>字符串（</a:t>
            </a:r>
            <a:r>
              <a:rPr lang="zh-CN" altLang="en-US" b="1">
                <a:cs typeface="+mn-ea"/>
                <a:sym typeface="+mn-lt"/>
              </a:rPr>
              <a:t>字符数组 ） （</a:t>
            </a:r>
            <a:r>
              <a:rPr lang="en-US" altLang="zh-CN" b="1" dirty="0">
                <a:cs typeface="+mn-ea"/>
                <a:sym typeface="+mn-lt"/>
              </a:rPr>
              <a:t>%s</a:t>
            </a:r>
            <a:r>
              <a:rPr lang="zh-CN" altLang="en-US" b="1" dirty="0">
                <a:cs typeface="+mn-ea"/>
                <a:sym typeface="+mn-lt"/>
              </a:rPr>
              <a:t>）</a:t>
            </a:r>
            <a:endParaRPr lang="en-US" altLang="zh-CN" b="1" dirty="0">
              <a:cs typeface="+mn-ea"/>
              <a:sym typeface="+mn-lt"/>
            </a:endParaRPr>
          </a:p>
          <a:p>
            <a:pPr lvl="2"/>
            <a:endParaRPr lang="en-US" altLang="zh-CN" b="1" dirty="0">
              <a:cs typeface="+mn-ea"/>
              <a:sym typeface="+mn-lt"/>
            </a:endParaRPr>
          </a:p>
          <a:p>
            <a:pPr lvl="2"/>
            <a:endParaRPr lang="en-US" altLang="zh-CN" b="1" dirty="0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057676375"/>
      </p:ext>
    </p:extLst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476520" y="96475"/>
            <a:ext cx="387045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数据类型和运算符</a:t>
            </a:r>
            <a:endParaRPr lang="en-US" altLang="zh-CN" sz="2000" dirty="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76520" y="430384"/>
            <a:ext cx="387045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00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Always believe that something wonderful is about to happen</a:t>
            </a:r>
            <a:r>
              <a:rPr lang="en-US" altLang="zh-CN" sz="10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.</a:t>
            </a:r>
            <a:endParaRPr lang="zh-CN" altLang="en-US" sz="1000" dirty="0">
              <a:solidFill>
                <a:schemeClr val="tx1">
                  <a:lumMod val="50000"/>
                  <a:lumOff val="50000"/>
                </a:schemeClr>
              </a:solidFill>
              <a:cs typeface="+mn-ea"/>
              <a:sym typeface="+mn-lt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540" y="1010514"/>
            <a:ext cx="863385" cy="1259103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1556665" y="1010514"/>
            <a:ext cx="26068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cs typeface="+mn-ea"/>
                <a:sym typeface="+mn-lt"/>
              </a:rPr>
              <a:t>记不住怎么办</a:t>
            </a:r>
            <a:r>
              <a:rPr lang="az-Cyrl-AZ" altLang="zh-CN" dirty="0">
                <a:cs typeface="+mn-ea"/>
                <a:sym typeface="+mn-lt"/>
              </a:rPr>
              <a:t>_(:з</a:t>
            </a:r>
            <a:r>
              <a:rPr lang="zh-CN" altLang="az-Cyrl-AZ" dirty="0">
                <a:cs typeface="+mn-ea"/>
                <a:sym typeface="+mn-lt"/>
              </a:rPr>
              <a:t>」</a:t>
            </a:r>
            <a:r>
              <a:rPr lang="zh-CN" altLang="az-Cyrl-AZ">
                <a:cs typeface="+mn-ea"/>
                <a:sym typeface="+mn-lt"/>
              </a:rPr>
              <a:t>∠</a:t>
            </a:r>
            <a:r>
              <a:rPr lang="az-Cyrl-AZ" altLang="zh-CN">
                <a:cs typeface="+mn-ea"/>
                <a:sym typeface="+mn-lt"/>
              </a:rPr>
              <a:t>)_ </a:t>
            </a:r>
            <a:endParaRPr lang="az-Cyrl-AZ" altLang="zh-CN" dirty="0">
              <a:cs typeface="+mn-ea"/>
              <a:sym typeface="+mn-lt"/>
            </a:endParaRPr>
          </a:p>
          <a:p>
            <a:endParaRPr lang="zh-CN" altLang="en-US" dirty="0">
              <a:cs typeface="+mn-ea"/>
              <a:sym typeface="+mn-lt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3595" y="1379846"/>
            <a:ext cx="1304762" cy="2947099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6695" y="1379846"/>
            <a:ext cx="4809524" cy="3657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73394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7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476520" y="96475"/>
            <a:ext cx="387045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数据类型和运算符</a:t>
            </a:r>
            <a:endParaRPr lang="en-US" altLang="zh-CN" sz="2000" dirty="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76520" y="430384"/>
            <a:ext cx="387045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00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Always believe that something wonderful is about to happen</a:t>
            </a:r>
            <a:r>
              <a:rPr lang="en-US" altLang="zh-CN" sz="10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.</a:t>
            </a:r>
            <a:endParaRPr lang="zh-CN" altLang="en-US" sz="1000" dirty="0">
              <a:solidFill>
                <a:schemeClr val="tx1">
                  <a:lumMod val="50000"/>
                  <a:lumOff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>
          <a:xfrm>
            <a:off x="476520" y="1010515"/>
            <a:ext cx="8229600" cy="3361436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Tx/>
              <a:buNone/>
              <a:defRPr/>
            </a:pPr>
            <a:r>
              <a:rPr lang="zh-CN" altLang="en-US" sz="1800" dirty="0">
                <a:cs typeface="+mn-ea"/>
                <a:sym typeface="+mn-lt"/>
              </a:rPr>
              <a:t>以下关于C语言数据类型使用的叙述中，错误的是（）</a:t>
            </a:r>
            <a:endParaRPr lang="en-US" altLang="zh-CN" sz="1800" dirty="0">
              <a:cs typeface="+mn-ea"/>
              <a:sym typeface="+mn-lt"/>
            </a:endParaRPr>
          </a:p>
          <a:p>
            <a:pPr>
              <a:buFontTx/>
              <a:buNone/>
              <a:defRPr/>
            </a:pPr>
            <a:endParaRPr lang="zh-CN" altLang="en-US" sz="1800" dirty="0">
              <a:cs typeface="+mn-ea"/>
              <a:sym typeface="+mn-lt"/>
            </a:endParaRPr>
          </a:p>
          <a:p>
            <a:pPr>
              <a:buFontTx/>
              <a:buAutoNum type="alphaUcPeriod"/>
              <a:defRPr/>
            </a:pPr>
            <a:r>
              <a:rPr lang="zh-CN" altLang="en-US" sz="1800" dirty="0">
                <a:cs typeface="+mn-ea"/>
                <a:sym typeface="+mn-lt"/>
              </a:rPr>
              <a:t>若要准确无误差的表示自然数，应使用整数类型</a:t>
            </a:r>
            <a:endParaRPr lang="en-US" altLang="zh-CN" sz="1800" dirty="0">
              <a:cs typeface="+mn-ea"/>
              <a:sym typeface="+mn-lt"/>
            </a:endParaRPr>
          </a:p>
          <a:p>
            <a:pPr>
              <a:buFontTx/>
              <a:buAutoNum type="alphaUcPeriod"/>
              <a:defRPr/>
            </a:pPr>
            <a:endParaRPr lang="zh-CN" altLang="en-US" sz="1800" dirty="0">
              <a:cs typeface="+mn-ea"/>
              <a:sym typeface="+mn-lt"/>
            </a:endParaRPr>
          </a:p>
          <a:p>
            <a:pPr>
              <a:buFontTx/>
              <a:buNone/>
              <a:defRPr/>
            </a:pPr>
            <a:r>
              <a:rPr lang="zh-CN" altLang="en-US" sz="1800">
                <a:cs typeface="+mn-ea"/>
                <a:sym typeface="+mn-lt"/>
              </a:rPr>
              <a:t>B. 若要</a:t>
            </a:r>
            <a:r>
              <a:rPr lang="zh-CN" altLang="en-US" sz="1800" dirty="0">
                <a:cs typeface="+mn-ea"/>
                <a:sym typeface="+mn-lt"/>
              </a:rPr>
              <a:t>保存带有多位小数的数据，应使用双精度类型</a:t>
            </a:r>
            <a:endParaRPr lang="en-US" altLang="zh-CN" sz="1800" dirty="0">
              <a:cs typeface="+mn-ea"/>
              <a:sym typeface="+mn-lt"/>
            </a:endParaRPr>
          </a:p>
          <a:p>
            <a:pPr>
              <a:buFontTx/>
              <a:buNone/>
              <a:defRPr/>
            </a:pPr>
            <a:endParaRPr lang="zh-CN" altLang="en-US" sz="1800" dirty="0">
              <a:cs typeface="+mn-ea"/>
              <a:sym typeface="+mn-lt"/>
            </a:endParaRPr>
          </a:p>
          <a:p>
            <a:pPr>
              <a:buFontTx/>
              <a:buNone/>
              <a:defRPr/>
            </a:pPr>
            <a:r>
              <a:rPr lang="zh-CN" altLang="en-US" sz="1800">
                <a:cs typeface="+mn-ea"/>
                <a:sym typeface="+mn-lt"/>
              </a:rPr>
              <a:t>C. 若</a:t>
            </a:r>
            <a:r>
              <a:rPr lang="zh-CN" altLang="en-US" sz="1800" dirty="0">
                <a:cs typeface="+mn-ea"/>
                <a:sym typeface="+mn-lt"/>
              </a:rPr>
              <a:t>只处理“真”和“假”两种逻辑值，应使用逻辑类型</a:t>
            </a:r>
            <a:endParaRPr lang="en-US" altLang="zh-CN" sz="1800" dirty="0">
              <a:cs typeface="+mn-ea"/>
              <a:sym typeface="+mn-lt"/>
            </a:endParaRPr>
          </a:p>
          <a:p>
            <a:pPr>
              <a:buFontTx/>
              <a:buNone/>
              <a:defRPr/>
            </a:pPr>
            <a:r>
              <a:rPr lang="zh-CN" altLang="en-US" sz="1800">
                <a:cs typeface="+mn-ea"/>
                <a:sym typeface="+mn-lt"/>
              </a:rPr>
              <a:t> </a:t>
            </a:r>
            <a:endParaRPr lang="zh-CN" altLang="en-US" sz="1800" dirty="0">
              <a:cs typeface="+mn-ea"/>
              <a:sym typeface="+mn-lt"/>
            </a:endParaRPr>
          </a:p>
          <a:p>
            <a:pPr>
              <a:buFontTx/>
              <a:buNone/>
              <a:defRPr/>
            </a:pPr>
            <a:r>
              <a:rPr lang="zh-CN" altLang="en-US" sz="1800">
                <a:cs typeface="+mn-ea"/>
                <a:sym typeface="+mn-lt"/>
              </a:rPr>
              <a:t>D. 若要</a:t>
            </a:r>
            <a:r>
              <a:rPr lang="zh-CN" altLang="en-US" sz="1800" dirty="0">
                <a:cs typeface="+mn-ea"/>
                <a:sym typeface="+mn-lt"/>
              </a:rPr>
              <a:t>出来如“人员信息”等含有不同类型的相关数据，应自定义结构类型</a:t>
            </a:r>
          </a:p>
          <a:p>
            <a:pPr>
              <a:buFontTx/>
              <a:buNone/>
              <a:defRPr/>
            </a:pPr>
            <a:r>
              <a:rPr lang="zh-CN" altLang="en-US" sz="1800" dirty="0">
                <a:cs typeface="+mn-ea"/>
                <a:sym typeface="+mn-lt"/>
              </a:rPr>
              <a:t>	</a:t>
            </a:r>
          </a:p>
          <a:p>
            <a:pPr>
              <a:buFontTx/>
              <a:buNone/>
              <a:defRPr/>
            </a:pPr>
            <a:r>
              <a:rPr lang="zh-CN" altLang="en-US" sz="1800" dirty="0">
                <a:cs typeface="+mn-ea"/>
                <a:sym typeface="+mn-lt"/>
              </a:rPr>
              <a:t>		</a:t>
            </a:r>
          </a:p>
        </p:txBody>
      </p:sp>
    </p:spTree>
    <p:extLst>
      <p:ext uri="{BB962C8B-B14F-4D97-AF65-F5344CB8AC3E}">
        <p14:creationId xmlns:p14="http://schemas.microsoft.com/office/powerpoint/2010/main" val="413824743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9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5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1A7BAE"/>
                                      </p:to>
                                    </p:animClr>
                                    <p:animClr clrSpc="rgb" dir="cw">
                                      <p:cBhvr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1A7BAE"/>
                                      </p:to>
                                    </p:animClr>
                                    <p:set>
                                      <p:cBhvr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" dur="5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9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" dur="5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1A7BAE"/>
                                      </p:to>
                                    </p:animClr>
                                    <p:animClr clrSpc="rgb" dir="cw">
                                      <p:cBhvr>
                                        <p:cTn id="14" dur="5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1A7BAE"/>
                                      </p:to>
                                    </p:animClr>
                                    <p:set>
                                      <p:cBhvr>
                                        <p:cTn id="15" dur="5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" dur="5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476520" y="96475"/>
            <a:ext cx="387045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数据类型和运算符</a:t>
            </a:r>
          </a:p>
        </p:txBody>
      </p:sp>
      <p:sp>
        <p:nvSpPr>
          <p:cNvPr id="12" name="矩形 11"/>
          <p:cNvSpPr/>
          <p:nvPr/>
        </p:nvSpPr>
        <p:spPr>
          <a:xfrm>
            <a:off x="476520" y="430384"/>
            <a:ext cx="387045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00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Always believe that something wonderful is about to happen</a:t>
            </a:r>
            <a:r>
              <a:rPr lang="en-US" altLang="zh-CN" sz="10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.</a:t>
            </a:r>
            <a:endParaRPr lang="zh-CN" altLang="en-US" sz="1000" dirty="0">
              <a:solidFill>
                <a:schemeClr val="tx1">
                  <a:lumMod val="50000"/>
                  <a:lumOff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3" name="矩形 3"/>
          <p:cNvSpPr txBox="1">
            <a:spLocks noChangeArrowheads="1"/>
          </p:cNvSpPr>
          <p:nvPr/>
        </p:nvSpPr>
        <p:spPr>
          <a:xfrm>
            <a:off x="491735" y="906565"/>
            <a:ext cx="8598907" cy="396044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cs typeface="+mn-ea"/>
                <a:sym typeface="+mn-lt"/>
              </a:rPr>
              <a:t>数据类型间的转换</a:t>
            </a:r>
            <a:endParaRPr lang="en-US" altLang="zh-CN" b="1" dirty="0">
              <a:cs typeface="+mn-ea"/>
              <a:sym typeface="+mn-lt"/>
            </a:endParaRPr>
          </a:p>
          <a:p>
            <a:pPr lvl="1"/>
            <a:r>
              <a:rPr lang="en-US" altLang="zh-CN" sz="1400" b="1" dirty="0">
                <a:cs typeface="+mn-ea"/>
                <a:sym typeface="+mn-lt"/>
              </a:rPr>
              <a:t>char</a:t>
            </a:r>
          </a:p>
          <a:p>
            <a:pPr lvl="1"/>
            <a:r>
              <a:rPr lang="en-US" altLang="zh-CN" sz="1400" b="1" dirty="0">
                <a:cs typeface="+mn-ea"/>
                <a:sym typeface="+mn-lt"/>
              </a:rPr>
              <a:t>short</a:t>
            </a:r>
          </a:p>
          <a:p>
            <a:pPr lvl="1"/>
            <a:r>
              <a:rPr lang="en-US" altLang="zh-CN" sz="1400" b="1" dirty="0" err="1">
                <a:cs typeface="+mn-ea"/>
                <a:sym typeface="+mn-lt"/>
              </a:rPr>
              <a:t>int</a:t>
            </a:r>
            <a:endParaRPr lang="en-US" altLang="zh-CN" sz="1400" b="1" dirty="0">
              <a:cs typeface="+mn-ea"/>
              <a:sym typeface="+mn-lt"/>
            </a:endParaRPr>
          </a:p>
          <a:p>
            <a:pPr lvl="1"/>
            <a:r>
              <a:rPr lang="en-US" altLang="zh-CN" sz="1400" b="1" dirty="0">
                <a:cs typeface="+mn-ea"/>
                <a:sym typeface="+mn-lt"/>
              </a:rPr>
              <a:t>unsigned</a:t>
            </a:r>
          </a:p>
          <a:p>
            <a:pPr lvl="1"/>
            <a:r>
              <a:rPr lang="en-US" altLang="zh-CN" sz="1400" b="1" dirty="0">
                <a:cs typeface="+mn-ea"/>
                <a:sym typeface="+mn-lt"/>
              </a:rPr>
              <a:t>long</a:t>
            </a:r>
          </a:p>
          <a:p>
            <a:pPr lvl="1"/>
            <a:r>
              <a:rPr lang="en-US" altLang="zh-CN" sz="1400" b="1" dirty="0">
                <a:cs typeface="+mn-ea"/>
                <a:sym typeface="+mn-lt"/>
              </a:rPr>
              <a:t>double              float</a:t>
            </a:r>
          </a:p>
          <a:p>
            <a:r>
              <a:rPr lang="zh-CN" altLang="en-US" sz="1600" b="1" dirty="0">
                <a:cs typeface="+mn-ea"/>
                <a:sym typeface="+mn-lt"/>
              </a:rPr>
              <a:t>由低级向高级转换，结果为高级</a:t>
            </a:r>
            <a:endParaRPr lang="en-US" altLang="zh-CN" sz="1600" b="1" dirty="0">
              <a:cs typeface="+mn-ea"/>
              <a:sym typeface="+mn-lt"/>
            </a:endParaRPr>
          </a:p>
          <a:p>
            <a:r>
              <a:rPr lang="zh-CN" altLang="en-US" sz="1600" b="1" dirty="0">
                <a:cs typeface="+mn-ea"/>
                <a:sym typeface="+mn-lt"/>
              </a:rPr>
              <a:t>向占用空间较大的转换</a:t>
            </a:r>
            <a:endParaRPr lang="en-US" altLang="zh-CN" sz="1600" b="1" dirty="0">
              <a:cs typeface="+mn-ea"/>
              <a:sym typeface="+mn-lt"/>
            </a:endParaRPr>
          </a:p>
          <a:p>
            <a:r>
              <a:rPr lang="zh-CN" altLang="en-US" sz="1600" b="1" dirty="0">
                <a:cs typeface="+mn-ea"/>
                <a:sym typeface="+mn-lt"/>
              </a:rPr>
              <a:t>计算机执行时从左向右扫描，自动转换</a:t>
            </a:r>
            <a:endParaRPr lang="en-US" altLang="zh-CN" sz="1600" b="1" dirty="0">
              <a:cs typeface="+mn-ea"/>
              <a:sym typeface="+mn-lt"/>
            </a:endParaRPr>
          </a:p>
          <a:p>
            <a:r>
              <a:rPr lang="zh-CN" altLang="en-US" sz="1600" b="1" dirty="0">
                <a:cs typeface="+mn-ea"/>
                <a:sym typeface="+mn-lt"/>
              </a:rPr>
              <a:t>强制转换：（</a:t>
            </a:r>
            <a:r>
              <a:rPr lang="en-US" altLang="zh-CN" sz="1600" b="1" dirty="0" err="1">
                <a:cs typeface="+mn-ea"/>
                <a:sym typeface="+mn-lt"/>
              </a:rPr>
              <a:t>nametype</a:t>
            </a:r>
            <a:r>
              <a:rPr lang="zh-CN" altLang="en-US" sz="1600" b="1" dirty="0">
                <a:cs typeface="+mn-ea"/>
                <a:sym typeface="+mn-lt"/>
              </a:rPr>
              <a:t>）</a:t>
            </a:r>
            <a:r>
              <a:rPr lang="en-US" altLang="zh-CN" sz="1600" b="1" dirty="0">
                <a:cs typeface="+mn-ea"/>
                <a:sym typeface="+mn-lt"/>
              </a:rPr>
              <a:t>value</a:t>
            </a:r>
          </a:p>
          <a:p>
            <a:pPr lvl="2"/>
            <a:endParaRPr lang="en-US" altLang="zh-CN" b="1" dirty="0">
              <a:cs typeface="+mn-ea"/>
              <a:sym typeface="+mn-lt"/>
            </a:endParaRPr>
          </a:p>
          <a:p>
            <a:pPr lvl="2"/>
            <a:endParaRPr lang="en-US" altLang="zh-CN" b="1" dirty="0">
              <a:cs typeface="+mn-ea"/>
              <a:sym typeface="+mn-lt"/>
            </a:endParaRPr>
          </a:p>
        </p:txBody>
      </p:sp>
      <p:sp>
        <p:nvSpPr>
          <p:cNvPr id="4" name="下箭头 3"/>
          <p:cNvSpPr/>
          <p:nvPr/>
        </p:nvSpPr>
        <p:spPr>
          <a:xfrm>
            <a:off x="566555" y="1446625"/>
            <a:ext cx="315035" cy="1710190"/>
          </a:xfrm>
          <a:prstGeom prst="downArrow">
            <a:avLst>
              <a:gd name="adj1" fmla="val 17749"/>
              <a:gd name="adj2" fmla="val 88297"/>
            </a:avLst>
          </a:prstGeom>
          <a:solidFill>
            <a:srgbClr val="1A7B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5" name="左箭头 4"/>
          <p:cNvSpPr/>
          <p:nvPr/>
        </p:nvSpPr>
        <p:spPr>
          <a:xfrm>
            <a:off x="1961710" y="3066805"/>
            <a:ext cx="675075" cy="180020"/>
          </a:xfrm>
          <a:prstGeom prst="leftArrow">
            <a:avLst>
              <a:gd name="adj1" fmla="val 21781"/>
              <a:gd name="adj2" fmla="val 102911"/>
            </a:avLst>
          </a:prstGeom>
          <a:solidFill>
            <a:srgbClr val="1A7B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52029764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476520" y="96475"/>
            <a:ext cx="387045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数据类型和运算符</a:t>
            </a:r>
          </a:p>
        </p:txBody>
      </p:sp>
      <p:sp>
        <p:nvSpPr>
          <p:cNvPr id="12" name="矩形 11"/>
          <p:cNvSpPr/>
          <p:nvPr/>
        </p:nvSpPr>
        <p:spPr>
          <a:xfrm>
            <a:off x="476520" y="430384"/>
            <a:ext cx="387045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00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Always believe that something wonderful is about to happen</a:t>
            </a:r>
            <a:r>
              <a:rPr lang="en-US" altLang="zh-CN" sz="10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.</a:t>
            </a:r>
            <a:endParaRPr lang="zh-CN" altLang="en-US" sz="1000" dirty="0">
              <a:solidFill>
                <a:schemeClr val="tx1">
                  <a:lumMod val="50000"/>
                  <a:lumOff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6" name="内容占位符 2"/>
          <p:cNvSpPr txBox="1">
            <a:spLocks/>
          </p:cNvSpPr>
          <p:nvPr/>
        </p:nvSpPr>
        <p:spPr>
          <a:xfrm>
            <a:off x="476520" y="840044"/>
            <a:ext cx="7886700" cy="4351338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zh-CN" altLang="en-US" sz="2000" dirty="0">
                <a:cs typeface="+mn-ea"/>
                <a:sym typeface="+mn-lt"/>
              </a:rPr>
              <a:t>关于整型和浮点型的一个陷阱</a:t>
            </a:r>
            <a:endParaRPr lang="en-US" altLang="zh-CN" sz="2000" dirty="0">
              <a:cs typeface="+mn-ea"/>
              <a:sym typeface="+mn-lt"/>
            </a:endParaRPr>
          </a:p>
          <a:p>
            <a:pPr marL="0" indent="0">
              <a:buFont typeface="Arial" pitchFamily="34" charset="0"/>
              <a:buNone/>
            </a:pPr>
            <a:endParaRPr lang="en-US" altLang="zh-CN" sz="2000" dirty="0">
              <a:cs typeface="+mn-ea"/>
              <a:sym typeface="+mn-lt"/>
            </a:endParaRPr>
          </a:p>
          <a:p>
            <a:pPr marL="457200" lvl="1" indent="0">
              <a:buFont typeface="Arial" pitchFamily="34" charset="0"/>
              <a:buNone/>
            </a:pPr>
            <a:r>
              <a:rPr lang="en-US" altLang="zh-CN" sz="1800">
                <a:cs typeface="+mn-ea"/>
                <a:sym typeface="+mn-lt"/>
              </a:rPr>
              <a:t>atan(1 / 4</a:t>
            </a:r>
            <a:r>
              <a:rPr lang="en-US" altLang="zh-CN" sz="1800" dirty="0">
                <a:cs typeface="+mn-ea"/>
                <a:sym typeface="+mn-lt"/>
              </a:rPr>
              <a:t>)</a:t>
            </a:r>
          </a:p>
          <a:p>
            <a:pPr marL="457200" lvl="1" indent="0">
              <a:buFont typeface="Arial" pitchFamily="34" charset="0"/>
              <a:buNone/>
            </a:pPr>
            <a:r>
              <a:rPr lang="en-US" altLang="zh-CN" sz="1800">
                <a:cs typeface="+mn-ea"/>
                <a:sym typeface="+mn-lt"/>
              </a:rPr>
              <a:t>atan(1 * 0.25</a:t>
            </a:r>
            <a:r>
              <a:rPr lang="en-US" altLang="zh-CN" sz="1800" dirty="0">
                <a:cs typeface="+mn-ea"/>
                <a:sym typeface="+mn-lt"/>
              </a:rPr>
              <a:t>)</a:t>
            </a:r>
          </a:p>
          <a:p>
            <a:pPr marL="457200" lvl="1" indent="0">
              <a:buFont typeface="Arial" pitchFamily="34" charset="0"/>
              <a:buNone/>
            </a:pPr>
            <a:endParaRPr lang="en-US" altLang="zh-CN" sz="1800" dirty="0">
              <a:cs typeface="+mn-ea"/>
              <a:sym typeface="+mn-lt"/>
            </a:endParaRPr>
          </a:p>
          <a:p>
            <a:pPr marL="457200" lvl="1" indent="0">
              <a:buFont typeface="Arial" pitchFamily="34" charset="0"/>
              <a:buNone/>
            </a:pPr>
            <a:r>
              <a:rPr lang="zh-CN" altLang="en-US" sz="1800" dirty="0">
                <a:cs typeface="+mn-ea"/>
                <a:sym typeface="+mn-lt"/>
              </a:rPr>
              <a:t>整型数和整型数的操作得到的结果还是</a:t>
            </a:r>
            <a:r>
              <a:rPr lang="zh-CN" altLang="en-US" sz="1800" dirty="0">
                <a:solidFill>
                  <a:schemeClr val="accent2">
                    <a:lumMod val="75000"/>
                  </a:schemeClr>
                </a:solidFill>
                <a:cs typeface="+mn-ea"/>
                <a:sym typeface="+mn-lt"/>
              </a:rPr>
              <a:t>整型数</a:t>
            </a:r>
            <a:endParaRPr lang="en-US" altLang="zh-CN" sz="1800" dirty="0">
              <a:solidFill>
                <a:schemeClr val="accent2">
                  <a:lumMod val="75000"/>
                </a:schemeClr>
              </a:solidFill>
              <a:cs typeface="+mn-ea"/>
              <a:sym typeface="+mn-lt"/>
            </a:endParaRPr>
          </a:p>
          <a:p>
            <a:pPr marL="457200" lvl="1" indent="0">
              <a:buFont typeface="Arial" pitchFamily="34" charset="0"/>
              <a:buNone/>
            </a:pPr>
            <a:r>
              <a:rPr lang="en-US" altLang="zh-CN" sz="1800">
                <a:cs typeface="+mn-ea"/>
                <a:sym typeface="+mn-lt"/>
              </a:rPr>
              <a:t>1 / 4 = 0</a:t>
            </a:r>
            <a:endParaRPr lang="en-US" altLang="zh-CN" sz="1800" dirty="0">
              <a:cs typeface="+mn-ea"/>
              <a:sym typeface="+mn-lt"/>
            </a:endParaRPr>
          </a:p>
          <a:p>
            <a:pPr marL="457200" lvl="1" indent="0">
              <a:buFont typeface="Arial" pitchFamily="34" charset="0"/>
              <a:buNone/>
            </a:pPr>
            <a:endParaRPr lang="en-US" altLang="zh-CN" sz="1800" dirty="0">
              <a:cs typeface="+mn-ea"/>
              <a:sym typeface="+mn-lt"/>
            </a:endParaRPr>
          </a:p>
          <a:p>
            <a:pPr marL="457200" lvl="1" indent="0">
              <a:buFont typeface="Arial" pitchFamily="34" charset="0"/>
              <a:buNone/>
            </a:pPr>
            <a:r>
              <a:rPr lang="zh-CN" altLang="en-US" sz="1800" dirty="0">
                <a:cs typeface="+mn-ea"/>
                <a:sym typeface="+mn-lt"/>
              </a:rPr>
              <a:t>解决方法：</a:t>
            </a:r>
            <a:endParaRPr lang="en-US" altLang="zh-CN" sz="1800" dirty="0">
              <a:cs typeface="+mn-ea"/>
              <a:sym typeface="+mn-lt"/>
            </a:endParaRPr>
          </a:p>
          <a:p>
            <a:pPr marL="457200" lvl="1" indent="0">
              <a:buFont typeface="Arial" pitchFamily="34" charset="0"/>
              <a:buNone/>
            </a:pPr>
            <a:r>
              <a:rPr lang="zh-CN" altLang="en-US" sz="1800" dirty="0">
                <a:cs typeface="+mn-ea"/>
                <a:sym typeface="+mn-lt"/>
              </a:rPr>
              <a:t>除法</a:t>
            </a:r>
            <a:r>
              <a:rPr lang="zh-CN" altLang="en-US" sz="1800">
                <a:cs typeface="+mn-ea"/>
                <a:sym typeface="+mn-lt"/>
              </a:rPr>
              <a:t>改乘法  </a:t>
            </a:r>
            <a:r>
              <a:rPr lang="en-US" altLang="zh-CN" sz="1800">
                <a:cs typeface="+mn-ea"/>
                <a:sym typeface="+mn-lt"/>
              </a:rPr>
              <a:t>1 * 0.25</a:t>
            </a:r>
            <a:endParaRPr lang="en-US" altLang="zh-CN" sz="1800" dirty="0">
              <a:cs typeface="+mn-ea"/>
              <a:sym typeface="+mn-lt"/>
            </a:endParaRPr>
          </a:p>
          <a:p>
            <a:pPr marL="457200" lvl="1" indent="0">
              <a:buFont typeface="Arial" pitchFamily="34" charset="0"/>
              <a:buNone/>
            </a:pPr>
            <a:r>
              <a:rPr lang="zh-CN" altLang="en-US" sz="1800">
                <a:cs typeface="+mn-ea"/>
                <a:sym typeface="+mn-lt"/>
              </a:rPr>
              <a:t>改变类型    </a:t>
            </a:r>
            <a:r>
              <a:rPr lang="en-US" altLang="zh-CN" sz="1800">
                <a:cs typeface="+mn-ea"/>
                <a:sym typeface="+mn-lt"/>
              </a:rPr>
              <a:t>1 / 4.0</a:t>
            </a:r>
            <a:endParaRPr lang="en-US" altLang="zh-CN" sz="1800" dirty="0">
              <a:cs typeface="+mn-ea"/>
              <a:sym typeface="+mn-lt"/>
            </a:endParaRPr>
          </a:p>
          <a:p>
            <a:pPr marL="457200" lvl="1" indent="0">
              <a:buFont typeface="Arial" pitchFamily="34" charset="0"/>
              <a:buNone/>
            </a:pPr>
            <a:r>
              <a:rPr lang="zh-CN" altLang="en-US" sz="1800">
                <a:cs typeface="+mn-ea"/>
                <a:sym typeface="+mn-lt"/>
              </a:rPr>
              <a:t>类型转换    </a:t>
            </a:r>
            <a:r>
              <a:rPr lang="en-US" altLang="zh-CN" sz="1800">
                <a:cs typeface="+mn-ea"/>
                <a:sym typeface="+mn-lt"/>
              </a:rPr>
              <a:t>atan( (</a:t>
            </a:r>
            <a:r>
              <a:rPr lang="en-US" altLang="zh-CN" sz="1800">
                <a:solidFill>
                  <a:schemeClr val="accent5">
                    <a:lumMod val="50000"/>
                  </a:schemeClr>
                </a:solidFill>
                <a:cs typeface="+mn-ea"/>
                <a:sym typeface="+mn-lt"/>
              </a:rPr>
              <a:t>double</a:t>
            </a:r>
            <a:r>
              <a:rPr lang="en-US" altLang="zh-CN" sz="1800">
                <a:cs typeface="+mn-ea"/>
                <a:sym typeface="+mn-lt"/>
              </a:rPr>
              <a:t>) 1 / 4</a:t>
            </a:r>
            <a:r>
              <a:rPr lang="en-US" altLang="zh-CN" sz="1800" dirty="0">
                <a:cs typeface="+mn-ea"/>
                <a:sym typeface="+mn-lt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73580832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Shape 436"/>
          <p:cNvSpPr/>
          <p:nvPr/>
        </p:nvSpPr>
        <p:spPr>
          <a:xfrm>
            <a:off x="445752" y="1042071"/>
            <a:ext cx="8410638" cy="38882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718" tIns="45718" rIns="45718" bIns="45718">
            <a:spAutoFit/>
          </a:bodyPr>
          <a:lstStyle/>
          <a:p>
            <a:pPr marL="342900" indent="-342900" defTabSz="457200">
              <a:spcBef>
                <a:spcPts val="1000"/>
              </a:spcBef>
              <a:buClr>
                <a:schemeClr val="accent1"/>
              </a:buClr>
              <a:buSzPct val="80000"/>
              <a:buFont typeface="Wingdings 3"/>
              <a:buChar char=""/>
              <a:defRPr sz="2000" b="1">
                <a:solidFill>
                  <a:srgbClr val="404040"/>
                </a:solidFill>
                <a:latin typeface="Microsoft YaHei UI"/>
                <a:ea typeface="Microsoft YaHei UI"/>
                <a:cs typeface="Microsoft YaHei UI"/>
                <a:sym typeface="Microsoft YaHei UI"/>
              </a:defRPr>
            </a:pPr>
            <a:r>
              <a:rPr dirty="0" err="1">
                <a:cs typeface="+mn-ea"/>
                <a:sym typeface="+mn-lt"/>
              </a:rPr>
              <a:t>运算符按用途分为</a:t>
            </a:r>
            <a:r>
              <a:rPr dirty="0">
                <a:cs typeface="+mn-ea"/>
                <a:sym typeface="+mn-lt"/>
              </a:rPr>
              <a:t>：</a:t>
            </a:r>
          </a:p>
          <a:p>
            <a:pPr marL="800100" lvl="1" indent="-342900" defTabSz="457200">
              <a:spcBef>
                <a:spcPts val="1000"/>
              </a:spcBef>
              <a:buClr>
                <a:schemeClr val="accent1"/>
              </a:buClr>
              <a:buSzPct val="80000"/>
              <a:buFont typeface="Wingdings 3"/>
              <a:buChar char=""/>
              <a:defRPr sz="2000" b="1">
                <a:solidFill>
                  <a:srgbClr val="404040"/>
                </a:solidFill>
                <a:latin typeface="Microsoft YaHei UI"/>
                <a:ea typeface="Microsoft YaHei UI"/>
                <a:cs typeface="Microsoft YaHei UI"/>
                <a:sym typeface="Microsoft YaHei UI"/>
              </a:defRPr>
            </a:pPr>
            <a:r>
              <a:rPr dirty="0" err="1">
                <a:cs typeface="+mn-ea"/>
                <a:sym typeface="+mn-lt"/>
              </a:rPr>
              <a:t>括号、结构成员的访问</a:t>
            </a:r>
            <a:r>
              <a:rPr dirty="0">
                <a:cs typeface="+mn-ea"/>
                <a:sym typeface="+mn-lt"/>
              </a:rPr>
              <a:t>；</a:t>
            </a:r>
          </a:p>
          <a:p>
            <a:pPr marL="800100" lvl="1" indent="-342900" defTabSz="457200">
              <a:spcBef>
                <a:spcPts val="1000"/>
              </a:spcBef>
              <a:buClr>
                <a:schemeClr val="accent1"/>
              </a:buClr>
              <a:buSzPct val="80000"/>
              <a:buFont typeface="Wingdings 3"/>
              <a:buChar char=""/>
              <a:defRPr sz="2000" b="1">
                <a:solidFill>
                  <a:srgbClr val="404040"/>
                </a:solidFill>
                <a:latin typeface="Microsoft YaHei UI"/>
                <a:ea typeface="Microsoft YaHei UI"/>
                <a:cs typeface="Microsoft YaHei UI"/>
                <a:sym typeface="Microsoft YaHei UI"/>
              </a:defRPr>
            </a:pPr>
            <a:r>
              <a:rPr dirty="0" err="1">
                <a:cs typeface="+mn-ea"/>
                <a:sym typeface="+mn-lt"/>
              </a:rPr>
              <a:t>自增自减、取内容取地址、类型转换、sizeof</a:t>
            </a:r>
            <a:r>
              <a:rPr dirty="0">
                <a:cs typeface="+mn-ea"/>
                <a:sym typeface="+mn-lt"/>
              </a:rPr>
              <a:t>；</a:t>
            </a:r>
          </a:p>
          <a:p>
            <a:pPr marL="800100" lvl="1" indent="-342900" defTabSz="457200">
              <a:spcBef>
                <a:spcPts val="1000"/>
              </a:spcBef>
              <a:buClr>
                <a:schemeClr val="accent1"/>
              </a:buClr>
              <a:buSzPct val="80000"/>
              <a:buFont typeface="Wingdings 3"/>
              <a:buChar char=""/>
              <a:defRPr sz="2000" b="1">
                <a:solidFill>
                  <a:srgbClr val="404040"/>
                </a:solidFill>
                <a:latin typeface="Microsoft YaHei UI"/>
                <a:ea typeface="Microsoft YaHei UI"/>
                <a:cs typeface="Microsoft YaHei UI"/>
                <a:sym typeface="Microsoft YaHei UI"/>
              </a:defRPr>
            </a:pPr>
            <a:r>
              <a:rPr dirty="0" err="1">
                <a:cs typeface="+mn-ea"/>
                <a:sym typeface="+mn-lt"/>
              </a:rPr>
              <a:t>算术、逻辑、关系运算符</a:t>
            </a:r>
            <a:endParaRPr dirty="0">
              <a:cs typeface="+mn-ea"/>
              <a:sym typeface="+mn-lt"/>
            </a:endParaRPr>
          </a:p>
          <a:p>
            <a:pPr marL="800100" lvl="1" indent="-342900" defTabSz="457200">
              <a:spcBef>
                <a:spcPts val="1000"/>
              </a:spcBef>
              <a:buClr>
                <a:schemeClr val="accent1"/>
              </a:buClr>
              <a:buSzPct val="80000"/>
              <a:buFont typeface="Wingdings 3"/>
              <a:buChar char=""/>
              <a:defRPr sz="2000" b="1">
                <a:solidFill>
                  <a:srgbClr val="404040"/>
                </a:solidFill>
                <a:latin typeface="Microsoft YaHei UI"/>
                <a:ea typeface="Microsoft YaHei UI"/>
                <a:cs typeface="Microsoft YaHei UI"/>
                <a:sym typeface="Microsoft YaHei UI"/>
              </a:defRPr>
            </a:pPr>
            <a:r>
              <a:rPr dirty="0" err="1">
                <a:cs typeface="+mn-ea"/>
                <a:sym typeface="+mn-lt"/>
              </a:rPr>
              <a:t>位运算符、赋值运算符、条件运算符、逗号运算符</a:t>
            </a:r>
            <a:endParaRPr lang="en-US" dirty="0">
              <a:cs typeface="+mn-ea"/>
              <a:sym typeface="+mn-lt"/>
            </a:endParaRPr>
          </a:p>
          <a:p>
            <a:pPr marL="800100" lvl="1" indent="-342900" defTabSz="457200">
              <a:spcBef>
                <a:spcPts val="1000"/>
              </a:spcBef>
              <a:buClr>
                <a:schemeClr val="accent1"/>
              </a:buClr>
              <a:buSzPct val="80000"/>
              <a:buFont typeface="Wingdings 3"/>
              <a:buChar char=""/>
              <a:defRPr sz="2000" b="1">
                <a:solidFill>
                  <a:srgbClr val="404040"/>
                </a:solidFill>
                <a:latin typeface="Microsoft YaHei UI"/>
                <a:ea typeface="Microsoft YaHei UI"/>
                <a:cs typeface="Microsoft YaHei UI"/>
                <a:sym typeface="Microsoft YaHei UI"/>
              </a:defRPr>
            </a:pPr>
            <a:r>
              <a:rPr lang="zh-CN" altLang="en-US" dirty="0">
                <a:cs typeface="+mn-ea"/>
                <a:sym typeface="+mn-lt"/>
              </a:rPr>
              <a:t>三目运算符： 判断语句？为真：为假</a:t>
            </a:r>
            <a:endParaRPr dirty="0">
              <a:cs typeface="+mn-ea"/>
              <a:sym typeface="+mn-lt"/>
            </a:endParaRPr>
          </a:p>
          <a:p>
            <a:pPr defTabSz="457200">
              <a:spcBef>
                <a:spcPts val="1000"/>
              </a:spcBef>
              <a:defRPr sz="2000" b="1">
                <a:solidFill>
                  <a:srgbClr val="404040"/>
                </a:solidFill>
                <a:latin typeface="Microsoft YaHei UI"/>
                <a:ea typeface="Microsoft YaHei UI"/>
                <a:cs typeface="Microsoft YaHei UI"/>
                <a:sym typeface="Microsoft YaHei UI"/>
              </a:defRPr>
            </a:pPr>
            <a:endParaRPr dirty="0">
              <a:cs typeface="+mn-ea"/>
              <a:sym typeface="+mn-lt"/>
            </a:endParaRPr>
          </a:p>
          <a:p>
            <a:pPr marL="342900" indent="-342900" defTabSz="457200">
              <a:spcBef>
                <a:spcPts val="1000"/>
              </a:spcBef>
              <a:buClr>
                <a:schemeClr val="accent1"/>
              </a:buClr>
              <a:buSzPct val="80000"/>
              <a:buFont typeface="Wingdings 3"/>
              <a:buChar char=""/>
              <a:defRPr sz="2000" b="1">
                <a:solidFill>
                  <a:srgbClr val="404040"/>
                </a:solidFill>
                <a:latin typeface="Microsoft YaHei UI"/>
                <a:ea typeface="Microsoft YaHei UI"/>
                <a:cs typeface="Microsoft YaHei UI"/>
                <a:sym typeface="Microsoft YaHei UI"/>
              </a:defRPr>
            </a:pPr>
            <a:r>
              <a:rPr dirty="0" err="1">
                <a:cs typeface="+mn-ea"/>
                <a:sym typeface="+mn-lt"/>
              </a:rPr>
              <a:t>运算符还要考虑优先级和结合性</a:t>
            </a:r>
            <a:endParaRPr dirty="0">
              <a:cs typeface="+mn-ea"/>
              <a:sym typeface="+mn-lt"/>
            </a:endParaRPr>
          </a:p>
          <a:p>
            <a:pPr marL="342900" indent="-342900" defTabSz="457200">
              <a:spcBef>
                <a:spcPts val="1000"/>
              </a:spcBef>
              <a:buClr>
                <a:schemeClr val="accent1"/>
              </a:buClr>
              <a:buSzPct val="80000"/>
              <a:buFont typeface="Wingdings 3"/>
              <a:buChar char=""/>
              <a:defRPr sz="2000" b="1">
                <a:solidFill>
                  <a:srgbClr val="404040"/>
                </a:solidFill>
                <a:latin typeface="Microsoft YaHei UI"/>
                <a:ea typeface="Microsoft YaHei UI"/>
                <a:cs typeface="Microsoft YaHei UI"/>
                <a:sym typeface="Microsoft YaHei UI"/>
              </a:defRPr>
            </a:pPr>
            <a:r>
              <a:rPr dirty="0" err="1">
                <a:cs typeface="+mn-ea"/>
                <a:sym typeface="+mn-lt"/>
              </a:rPr>
              <a:t>由以上所讲的</a:t>
            </a:r>
            <a:r>
              <a:rPr dirty="0" err="1">
                <a:solidFill>
                  <a:srgbClr val="FF2600"/>
                </a:solidFill>
                <a:cs typeface="+mn-ea"/>
                <a:sym typeface="+mn-lt"/>
              </a:rPr>
              <a:t>数据</a:t>
            </a:r>
            <a:r>
              <a:rPr dirty="0" err="1">
                <a:cs typeface="+mn-ea"/>
                <a:sym typeface="+mn-lt"/>
              </a:rPr>
              <a:t>加上</a:t>
            </a:r>
            <a:r>
              <a:rPr dirty="0" err="1">
                <a:solidFill>
                  <a:srgbClr val="FF2600"/>
                </a:solidFill>
                <a:cs typeface="+mn-ea"/>
                <a:sym typeface="+mn-lt"/>
              </a:rPr>
              <a:t>运算符</a:t>
            </a:r>
            <a:r>
              <a:rPr dirty="0" err="1">
                <a:cs typeface="+mn-ea"/>
                <a:sym typeface="+mn-lt"/>
              </a:rPr>
              <a:t>就成了表达式</a:t>
            </a:r>
            <a:r>
              <a:rPr dirty="0">
                <a:cs typeface="+mn-ea"/>
                <a:sym typeface="+mn-lt"/>
              </a:rPr>
              <a:t>。（</a:t>
            </a:r>
            <a:r>
              <a:rPr dirty="0" err="1">
                <a:cs typeface="+mn-ea"/>
                <a:sym typeface="+mn-lt"/>
              </a:rPr>
              <a:t>特点：必有一个值</a:t>
            </a:r>
            <a:r>
              <a:rPr dirty="0">
                <a:cs typeface="+mn-ea"/>
                <a:sym typeface="+mn-lt"/>
              </a:rPr>
              <a:t>）</a:t>
            </a:r>
          </a:p>
        </p:txBody>
      </p:sp>
      <p:sp>
        <p:nvSpPr>
          <p:cNvPr id="437" name="Shape 437"/>
          <p:cNvSpPr/>
          <p:nvPr/>
        </p:nvSpPr>
        <p:spPr>
          <a:xfrm>
            <a:off x="476518" y="96473"/>
            <a:ext cx="3870457" cy="4001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2000"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r>
              <a:rPr>
                <a:latin typeface="+mn-lt"/>
                <a:ea typeface="+mn-ea"/>
                <a:cs typeface="+mn-ea"/>
                <a:sym typeface="+mn-lt"/>
              </a:rPr>
              <a:t>数据类型和运算符</a:t>
            </a:r>
          </a:p>
        </p:txBody>
      </p:sp>
      <p:sp>
        <p:nvSpPr>
          <p:cNvPr id="438" name="Shape 438"/>
          <p:cNvSpPr/>
          <p:nvPr/>
        </p:nvSpPr>
        <p:spPr>
          <a:xfrm>
            <a:off x="476518" y="430383"/>
            <a:ext cx="3870457" cy="2438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1000">
                <a:solidFill>
                  <a:srgbClr val="808080"/>
                </a:solidFill>
                <a:latin typeface="Microsoft YaHei UI"/>
                <a:ea typeface="Microsoft YaHei UI"/>
                <a:cs typeface="Microsoft YaHei UI"/>
                <a:sym typeface="Microsoft YaHei UI"/>
              </a:defRPr>
            </a:lvl1pPr>
          </a:lstStyle>
          <a:p>
            <a:r>
              <a:rPr>
                <a:latin typeface="+mn-lt"/>
                <a:ea typeface="+mn-ea"/>
                <a:cs typeface="+mn-ea"/>
                <a:sym typeface="+mn-lt"/>
              </a:rPr>
              <a:t>Always believe that something wonderful is about to happen.</a:t>
            </a:r>
          </a:p>
        </p:txBody>
      </p:sp>
    </p:spTree>
    <p:extLst>
      <p:ext uri="{BB962C8B-B14F-4D97-AF65-F5344CB8AC3E}">
        <p14:creationId xmlns:p14="http://schemas.microsoft.com/office/powerpoint/2010/main" val="21742270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push dir="u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476520" y="96475"/>
            <a:ext cx="387045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数据类型和运算符</a:t>
            </a:r>
          </a:p>
        </p:txBody>
      </p:sp>
      <p:sp>
        <p:nvSpPr>
          <p:cNvPr id="12" name="矩形 11"/>
          <p:cNvSpPr/>
          <p:nvPr/>
        </p:nvSpPr>
        <p:spPr>
          <a:xfrm>
            <a:off x="476520" y="430384"/>
            <a:ext cx="387045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00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Always believe that something wonderful is about to happen</a:t>
            </a:r>
            <a:r>
              <a:rPr lang="en-US" altLang="zh-CN" sz="10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.</a:t>
            </a:r>
            <a:endParaRPr lang="zh-CN" altLang="en-US" sz="1000" dirty="0">
              <a:solidFill>
                <a:schemeClr val="tx1">
                  <a:lumMod val="50000"/>
                  <a:lumOff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8" name="矩形 3"/>
          <p:cNvSpPr txBox="1">
            <a:spLocks noChangeArrowheads="1"/>
          </p:cNvSpPr>
          <p:nvPr/>
        </p:nvSpPr>
        <p:spPr>
          <a:xfrm>
            <a:off x="476520" y="1010514"/>
            <a:ext cx="8598907" cy="13812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000" b="1">
                <a:cs typeface="+mn-ea"/>
                <a:sym typeface="+mn-lt"/>
              </a:rPr>
              <a:t>辨析 </a:t>
            </a:r>
            <a:r>
              <a:rPr lang="en-US" altLang="zh-CN" sz="2000" b="1">
                <a:cs typeface="+mn-ea"/>
                <a:sym typeface="+mn-lt"/>
              </a:rPr>
              <a:t>i++</a:t>
            </a:r>
            <a:r>
              <a:rPr lang="zh-CN" altLang="en-US" sz="2000" b="1">
                <a:cs typeface="+mn-ea"/>
                <a:sym typeface="+mn-lt"/>
              </a:rPr>
              <a:t>与 </a:t>
            </a:r>
            <a:r>
              <a:rPr lang="en-US" altLang="zh-CN" sz="2000" b="1">
                <a:cs typeface="+mn-ea"/>
                <a:sym typeface="+mn-lt"/>
              </a:rPr>
              <a:t>++</a:t>
            </a:r>
            <a:r>
              <a:rPr lang="en-US" altLang="zh-CN" sz="2000" b="1" dirty="0" err="1">
                <a:cs typeface="+mn-ea"/>
                <a:sym typeface="+mn-lt"/>
              </a:rPr>
              <a:t>i</a:t>
            </a:r>
            <a:endParaRPr lang="en-US" altLang="zh-CN" sz="2000" b="1" dirty="0">
              <a:cs typeface="+mn-ea"/>
              <a:sym typeface="+mn-lt"/>
            </a:endParaRPr>
          </a:p>
          <a:p>
            <a:pPr lvl="1"/>
            <a:r>
              <a:rPr lang="en-US" altLang="zh-CN" sz="1800" b="1" dirty="0" err="1">
                <a:cs typeface="+mn-ea"/>
                <a:sym typeface="+mn-lt"/>
              </a:rPr>
              <a:t>i</a:t>
            </a:r>
            <a:r>
              <a:rPr lang="en-US" altLang="zh-CN" sz="1800" b="1" dirty="0">
                <a:cs typeface="+mn-ea"/>
                <a:sym typeface="+mn-lt"/>
              </a:rPr>
              <a:t>++</a:t>
            </a:r>
            <a:r>
              <a:rPr lang="zh-CN" altLang="en-US" sz="1800" b="1" dirty="0">
                <a:cs typeface="+mn-ea"/>
                <a:sym typeface="+mn-lt"/>
              </a:rPr>
              <a:t>：返回</a:t>
            </a:r>
            <a:r>
              <a:rPr lang="en-US" altLang="zh-CN" sz="1800" b="1" dirty="0" err="1">
                <a:cs typeface="+mn-ea"/>
                <a:sym typeface="+mn-lt"/>
              </a:rPr>
              <a:t>i</a:t>
            </a:r>
            <a:r>
              <a:rPr lang="zh-CN" altLang="en-US" sz="1800" b="1" dirty="0">
                <a:cs typeface="+mn-ea"/>
                <a:sym typeface="+mn-lt"/>
              </a:rPr>
              <a:t>的值，再对</a:t>
            </a:r>
            <a:r>
              <a:rPr lang="en-US" altLang="zh-CN" sz="1800" b="1" dirty="0" err="1">
                <a:cs typeface="+mn-ea"/>
                <a:sym typeface="+mn-lt"/>
              </a:rPr>
              <a:t>i</a:t>
            </a:r>
            <a:r>
              <a:rPr lang="zh-CN" altLang="en-US" sz="1800" b="1" dirty="0">
                <a:cs typeface="+mn-ea"/>
                <a:sym typeface="+mn-lt"/>
              </a:rPr>
              <a:t>自加</a:t>
            </a:r>
            <a:endParaRPr lang="en-US" altLang="zh-CN" sz="1800" b="1" dirty="0">
              <a:cs typeface="+mn-ea"/>
              <a:sym typeface="+mn-lt"/>
            </a:endParaRPr>
          </a:p>
          <a:p>
            <a:pPr lvl="1"/>
            <a:r>
              <a:rPr lang="en-US" altLang="zh-CN" sz="1800" b="1" dirty="0">
                <a:cs typeface="+mn-ea"/>
                <a:sym typeface="+mn-lt"/>
              </a:rPr>
              <a:t>++</a:t>
            </a:r>
            <a:r>
              <a:rPr lang="en-US" altLang="zh-CN" sz="1800" b="1" dirty="0" err="1">
                <a:cs typeface="+mn-ea"/>
                <a:sym typeface="+mn-lt"/>
              </a:rPr>
              <a:t>i</a:t>
            </a:r>
            <a:r>
              <a:rPr lang="zh-CN" altLang="en-US" sz="1800" b="1" dirty="0">
                <a:cs typeface="+mn-ea"/>
                <a:sym typeface="+mn-lt"/>
              </a:rPr>
              <a:t>：先对</a:t>
            </a:r>
            <a:r>
              <a:rPr lang="en-US" altLang="zh-CN" sz="1800" b="1" dirty="0" err="1">
                <a:cs typeface="+mn-ea"/>
                <a:sym typeface="+mn-lt"/>
              </a:rPr>
              <a:t>i</a:t>
            </a:r>
            <a:r>
              <a:rPr lang="zh-CN" altLang="en-US" sz="1800" b="1" dirty="0">
                <a:cs typeface="+mn-ea"/>
                <a:sym typeface="+mn-lt"/>
              </a:rPr>
              <a:t>自加，再返回</a:t>
            </a:r>
            <a:r>
              <a:rPr lang="en-US" altLang="zh-CN" sz="1800" b="1" dirty="0" err="1">
                <a:cs typeface="+mn-ea"/>
                <a:sym typeface="+mn-lt"/>
              </a:rPr>
              <a:t>i</a:t>
            </a:r>
            <a:r>
              <a:rPr lang="zh-CN" altLang="en-US" sz="1800" b="1" dirty="0">
                <a:cs typeface="+mn-ea"/>
                <a:sym typeface="+mn-lt"/>
              </a:rPr>
              <a:t>的值</a:t>
            </a:r>
            <a:endParaRPr lang="en-US" altLang="zh-CN" sz="1800" b="1" dirty="0">
              <a:cs typeface="+mn-ea"/>
              <a:sym typeface="+mn-lt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1580" y="2256715"/>
            <a:ext cx="3657143" cy="2628571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5884" y="2256715"/>
            <a:ext cx="4352381" cy="2257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712795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476520" y="96475"/>
            <a:ext cx="387045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数据类型和运算符</a:t>
            </a:r>
          </a:p>
        </p:txBody>
      </p:sp>
      <p:sp>
        <p:nvSpPr>
          <p:cNvPr id="12" name="矩形 11"/>
          <p:cNvSpPr/>
          <p:nvPr/>
        </p:nvSpPr>
        <p:spPr>
          <a:xfrm>
            <a:off x="476520" y="430384"/>
            <a:ext cx="387045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00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Always believe that something wonderful is about to happen</a:t>
            </a:r>
            <a:r>
              <a:rPr lang="en-US" altLang="zh-CN" sz="10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.</a:t>
            </a:r>
            <a:endParaRPr lang="zh-CN" altLang="en-US" sz="1000" dirty="0">
              <a:solidFill>
                <a:schemeClr val="tx1">
                  <a:lumMod val="50000"/>
                  <a:lumOff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476520" y="908130"/>
            <a:ext cx="5291833" cy="31180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23805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8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+mn-lt"/>
                <a:cs typeface="+mn-ea"/>
                <a:sym typeface="+mn-lt"/>
              </a:rPr>
              <a:t>执行下列语句后，i的值为（）。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8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+mn-lt"/>
                <a:cs typeface="+mn-ea"/>
                <a:sym typeface="+mn-lt"/>
              </a:rPr>
              <a:t>int i = 0;while(i++ &lt; 4){;}</a:t>
            </a:r>
            <a:endParaRPr kumimoji="0" lang="en-US" altLang="zh-CN" sz="2800" b="0" i="0" u="none" strike="noStrike" cap="none" normalizeH="0" baseline="0" dirty="0">
              <a:ln>
                <a:noFill/>
              </a:ln>
              <a:solidFill>
                <a:srgbClr val="333333"/>
              </a:solidFill>
              <a:effectLst/>
              <a:latin typeface="+mn-lt"/>
              <a:cs typeface="+mn-ea"/>
              <a:sym typeface="+mn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  <a:cs typeface="+mn-ea"/>
              <a:sym typeface="+mn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2800" dirty="0">
                <a:solidFill>
                  <a:srgbClr val="333333"/>
                </a:solidFill>
                <a:latin typeface="+mn-lt"/>
                <a:cs typeface="+mn-ea"/>
                <a:sym typeface="+mn-lt"/>
              </a:rPr>
              <a:t>A</a:t>
            </a:r>
            <a:r>
              <a:rPr kumimoji="0" lang="zh-CN" altLang="zh-CN" sz="28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+mn-lt"/>
                <a:cs typeface="+mn-ea"/>
                <a:sym typeface="+mn-lt"/>
              </a:rPr>
              <a:t>. 5 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2800" dirty="0">
                <a:solidFill>
                  <a:srgbClr val="333333"/>
                </a:solidFill>
                <a:latin typeface="+mn-lt"/>
                <a:cs typeface="+mn-ea"/>
                <a:sym typeface="+mn-lt"/>
              </a:rPr>
              <a:t>B</a:t>
            </a:r>
            <a:r>
              <a:rPr kumimoji="0" lang="zh-CN" altLang="zh-CN" sz="28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+mn-lt"/>
                <a:cs typeface="+mn-ea"/>
                <a:sym typeface="+mn-lt"/>
              </a:rPr>
              <a:t>. 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2800" dirty="0">
                <a:solidFill>
                  <a:srgbClr val="333333"/>
                </a:solidFill>
                <a:latin typeface="+mn-lt"/>
                <a:cs typeface="+mn-ea"/>
                <a:sym typeface="+mn-lt"/>
              </a:rPr>
              <a:t>C.</a:t>
            </a:r>
            <a:r>
              <a:rPr kumimoji="0" lang="zh-CN" altLang="zh-CN" sz="28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+mn-lt"/>
                <a:cs typeface="+mn-ea"/>
                <a:sym typeface="+mn-lt"/>
              </a:rPr>
              <a:t> 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2800" dirty="0">
                <a:solidFill>
                  <a:srgbClr val="333333"/>
                </a:solidFill>
                <a:latin typeface="+mn-lt"/>
                <a:cs typeface="+mn-ea"/>
                <a:sym typeface="+mn-lt"/>
              </a:rPr>
              <a:t>D. </a:t>
            </a:r>
            <a:r>
              <a:rPr kumimoji="0" lang="zh-CN" altLang="zh-CN" sz="28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+mn-lt"/>
                <a:cs typeface="+mn-ea"/>
                <a:sym typeface="+mn-lt"/>
              </a:rPr>
              <a:t>4</a:t>
            </a:r>
            <a:endParaRPr kumimoji="0" lang="zh-CN" altLang="zh-CN" sz="5400" b="0" i="0" u="none" strike="noStrike" cap="none" normalizeH="0" baseline="0" dirty="0">
              <a:ln>
                <a:noFill/>
              </a:ln>
              <a:solidFill>
                <a:srgbClr val="333333"/>
              </a:solidFill>
              <a:effectLst/>
              <a:latin typeface="+mn-lt"/>
              <a:cs typeface="+mn-ea"/>
              <a:sym typeface="+mn-lt"/>
            </a:endParaRPr>
          </a:p>
        </p:txBody>
      </p:sp>
      <p:sp>
        <p:nvSpPr>
          <p:cNvPr id="9" name="AutoShape 3" descr="正确"/>
          <p:cNvSpPr>
            <a:spLocks noChangeAspect="1" noChangeArrowheads="1"/>
          </p:cNvSpPr>
          <p:nvPr/>
        </p:nvSpPr>
        <p:spPr bwMode="auto">
          <a:xfrm>
            <a:off x="1388080" y="204383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7666373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9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1A7BAE"/>
                                      </p:to>
                                    </p:animClr>
                                    <p:animClr clrSpc="rgb" dir="cw">
                                      <p:cBhvr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1A7BAE"/>
                                      </p:to>
                                    </p:animClr>
                                    <p:set>
                                      <p:cBhvr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476520" y="96475"/>
            <a:ext cx="387045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数据类型和运算符</a:t>
            </a:r>
          </a:p>
        </p:txBody>
      </p:sp>
      <p:sp>
        <p:nvSpPr>
          <p:cNvPr id="12" name="矩形 11"/>
          <p:cNvSpPr/>
          <p:nvPr/>
        </p:nvSpPr>
        <p:spPr>
          <a:xfrm>
            <a:off x="476520" y="430384"/>
            <a:ext cx="387045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00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Always believe that something wonderful is about to happen</a:t>
            </a:r>
            <a:r>
              <a:rPr lang="en-US" altLang="zh-CN" sz="10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.</a:t>
            </a:r>
            <a:endParaRPr lang="zh-CN" altLang="en-US" sz="1000" dirty="0">
              <a:solidFill>
                <a:schemeClr val="tx1">
                  <a:lumMod val="50000"/>
                  <a:lumOff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9" name="AutoShape 3" descr="正确"/>
          <p:cNvSpPr>
            <a:spLocks noChangeAspect="1" noChangeArrowheads="1"/>
          </p:cNvSpPr>
          <p:nvPr/>
        </p:nvSpPr>
        <p:spPr bwMode="auto">
          <a:xfrm>
            <a:off x="1388080" y="204383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76520" y="1086584"/>
            <a:ext cx="355542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cs typeface="+mn-ea"/>
                <a:sym typeface="+mn-lt"/>
              </a:rPr>
              <a:t>计算</a:t>
            </a:r>
            <a:r>
              <a:rPr lang="en-US" altLang="zh-CN" dirty="0">
                <a:cs typeface="+mn-ea"/>
                <a:sym typeface="+mn-lt"/>
              </a:rPr>
              <a:t>2^1&lt;&lt;2</a:t>
            </a:r>
            <a:r>
              <a:rPr lang="zh-CN" altLang="en-US" dirty="0">
                <a:cs typeface="+mn-ea"/>
                <a:sym typeface="+mn-lt"/>
              </a:rPr>
              <a:t>的结果是？（）</a:t>
            </a:r>
            <a:endParaRPr lang="en-US" altLang="zh-CN" dirty="0">
              <a:cs typeface="+mn-ea"/>
              <a:sym typeface="+mn-lt"/>
            </a:endParaRPr>
          </a:p>
          <a:p>
            <a:endParaRPr lang="en-US" altLang="zh-CN" dirty="0">
              <a:cs typeface="+mn-ea"/>
              <a:sym typeface="+mn-lt"/>
            </a:endParaRPr>
          </a:p>
          <a:p>
            <a:pPr marL="342900" indent="-342900">
              <a:buAutoNum type="alphaUcPeriod"/>
            </a:pPr>
            <a:r>
              <a:rPr lang="en-US" altLang="zh-CN" dirty="0">
                <a:cs typeface="+mn-ea"/>
                <a:sym typeface="+mn-lt"/>
              </a:rPr>
              <a:t>0</a:t>
            </a:r>
          </a:p>
          <a:p>
            <a:pPr marL="342900" indent="-342900">
              <a:buAutoNum type="alphaUcPeriod"/>
            </a:pPr>
            <a:r>
              <a:rPr lang="en-US" altLang="zh-CN" dirty="0">
                <a:cs typeface="+mn-ea"/>
                <a:sym typeface="+mn-lt"/>
              </a:rPr>
              <a:t>2</a:t>
            </a:r>
          </a:p>
          <a:p>
            <a:pPr marL="342900" indent="-342900">
              <a:buAutoNum type="alphaUcPeriod"/>
            </a:pPr>
            <a:r>
              <a:rPr lang="en-US" altLang="zh-CN" dirty="0">
                <a:cs typeface="+mn-ea"/>
                <a:sym typeface="+mn-lt"/>
              </a:rPr>
              <a:t>12</a:t>
            </a:r>
          </a:p>
          <a:p>
            <a:pPr marL="342900" indent="-342900">
              <a:buAutoNum type="alphaUcPeriod"/>
            </a:pPr>
            <a:r>
              <a:rPr lang="en-US" altLang="zh-CN" dirty="0">
                <a:cs typeface="+mn-ea"/>
                <a:sym typeface="+mn-lt"/>
              </a:rPr>
              <a:t>6</a:t>
            </a:r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4256965" y="1086584"/>
            <a:ext cx="355542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cs typeface="+mn-ea"/>
                <a:sym typeface="+mn-lt"/>
              </a:rPr>
              <a:t>计算</a:t>
            </a:r>
            <a:r>
              <a:rPr lang="en-US" altLang="zh-CN" dirty="0">
                <a:cs typeface="+mn-ea"/>
                <a:sym typeface="+mn-lt"/>
              </a:rPr>
              <a:t>2^1&lt;&lt;2,</a:t>
            </a:r>
            <a:r>
              <a:rPr lang="zh-CN" altLang="en-US" dirty="0">
                <a:cs typeface="+mn-ea"/>
                <a:sym typeface="+mn-lt"/>
              </a:rPr>
              <a:t>先计算的是？（）</a:t>
            </a:r>
            <a:endParaRPr lang="en-US" altLang="zh-CN" dirty="0">
              <a:cs typeface="+mn-ea"/>
              <a:sym typeface="+mn-lt"/>
            </a:endParaRPr>
          </a:p>
          <a:p>
            <a:endParaRPr lang="en-US" altLang="zh-CN" dirty="0">
              <a:cs typeface="+mn-ea"/>
              <a:sym typeface="+mn-lt"/>
            </a:endParaRPr>
          </a:p>
          <a:p>
            <a:pPr marL="342900" indent="-342900">
              <a:buAutoNum type="alphaUcPeriod"/>
            </a:pPr>
            <a:r>
              <a:rPr lang="en-US" altLang="zh-CN" dirty="0">
                <a:cs typeface="+mn-ea"/>
                <a:sym typeface="+mn-lt"/>
              </a:rPr>
              <a:t>2^1</a:t>
            </a:r>
          </a:p>
          <a:p>
            <a:pPr marL="342900" indent="-342900">
              <a:buAutoNum type="alphaUcPeriod"/>
            </a:pPr>
            <a:r>
              <a:rPr lang="en-US" altLang="zh-CN" dirty="0">
                <a:cs typeface="+mn-ea"/>
                <a:sym typeface="+mn-lt"/>
              </a:rPr>
              <a:t>1&lt;&lt;2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520" y="2836256"/>
            <a:ext cx="3219048" cy="192381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6955" y="2831494"/>
            <a:ext cx="3209524" cy="1933333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9854" y="2817367"/>
            <a:ext cx="3285714" cy="1942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033419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9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1A7BAE"/>
                                      </p:to>
                                    </p:animClr>
                                    <p:animClr clrSpc="rgb" dir="cw">
                                      <p:cBhvr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1A7BAE"/>
                                      </p:to>
                                    </p:animClr>
                                    <p:set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9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8" dur="500" fill="hold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1A7BAE"/>
                                      </p:to>
                                    </p:animClr>
                                    <p:animClr clrSpc="rgb" dir="cw">
                                      <p:cBhvr>
                                        <p:cTn id="19" dur="500" fill="hold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1A7BAE"/>
                                      </p:to>
                                    </p:animClr>
                                    <p:set>
                                      <p:cBhvr>
                                        <p:cTn id="20" dur="500" fill="hold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1" dur="500" fill="hold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6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476520" y="96475"/>
            <a:ext cx="387045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基本语句和表达式</a:t>
            </a:r>
          </a:p>
        </p:txBody>
      </p:sp>
      <p:sp>
        <p:nvSpPr>
          <p:cNvPr id="12" name="矩形 11"/>
          <p:cNvSpPr/>
          <p:nvPr/>
        </p:nvSpPr>
        <p:spPr>
          <a:xfrm>
            <a:off x="476520" y="430384"/>
            <a:ext cx="387045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00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Always believe that something wonderful is about to happen</a:t>
            </a:r>
            <a:r>
              <a:rPr lang="en-US" altLang="zh-CN" sz="10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.</a:t>
            </a:r>
            <a:endParaRPr lang="zh-CN" altLang="en-US" sz="1000" dirty="0">
              <a:solidFill>
                <a:schemeClr val="tx1">
                  <a:lumMod val="50000"/>
                  <a:lumOff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9" name="AutoShape 3" descr="正确"/>
          <p:cNvSpPr>
            <a:spLocks noChangeAspect="1" noChangeArrowheads="1"/>
          </p:cNvSpPr>
          <p:nvPr/>
        </p:nvSpPr>
        <p:spPr bwMode="auto">
          <a:xfrm>
            <a:off x="1388080" y="204383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8" name="矩形 3"/>
          <p:cNvSpPr txBox="1">
            <a:spLocks noChangeArrowheads="1"/>
          </p:cNvSpPr>
          <p:nvPr/>
        </p:nvSpPr>
        <p:spPr>
          <a:xfrm>
            <a:off x="480329" y="906565"/>
            <a:ext cx="6519805" cy="301764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000" b="1" dirty="0">
                <a:cs typeface="+mn-ea"/>
                <a:sym typeface="+mn-lt"/>
              </a:rPr>
              <a:t>表达式的值</a:t>
            </a:r>
            <a:r>
              <a:rPr lang="en-US" altLang="zh-CN" sz="2000" b="1" dirty="0">
                <a:cs typeface="+mn-ea"/>
                <a:sym typeface="+mn-lt"/>
              </a:rPr>
              <a:t>——</a:t>
            </a:r>
            <a:r>
              <a:rPr lang="zh-CN" altLang="en-US" sz="2000" b="1" dirty="0">
                <a:cs typeface="+mn-ea"/>
                <a:sym typeface="+mn-lt"/>
              </a:rPr>
              <a:t>分析不出来就写一下</a:t>
            </a:r>
            <a:endParaRPr lang="en-US" altLang="zh-CN" sz="2000" b="1" dirty="0">
              <a:cs typeface="+mn-ea"/>
              <a:sym typeface="+mn-lt"/>
            </a:endParaRPr>
          </a:p>
          <a:p>
            <a:pPr lvl="1"/>
            <a:r>
              <a:rPr lang="zh-CN" altLang="en-US" sz="1800" b="1" dirty="0">
                <a:cs typeface="+mn-ea"/>
                <a:sym typeface="+mn-lt"/>
              </a:rPr>
              <a:t>赋值表达式：‘</a:t>
            </a:r>
            <a:r>
              <a:rPr lang="en-US" altLang="zh-CN" sz="1800" b="1">
                <a:cs typeface="+mn-ea"/>
                <a:sym typeface="+mn-lt"/>
              </a:rPr>
              <a:t>=</a:t>
            </a:r>
            <a:r>
              <a:rPr lang="zh-CN" altLang="en-US" sz="1800" b="1">
                <a:cs typeface="+mn-ea"/>
                <a:sym typeface="+mn-lt"/>
              </a:rPr>
              <a:t>’ 右边</a:t>
            </a:r>
            <a:r>
              <a:rPr lang="zh-CN" altLang="en-US" sz="1800" b="1" dirty="0">
                <a:cs typeface="+mn-ea"/>
                <a:sym typeface="+mn-lt"/>
              </a:rPr>
              <a:t>的值为表达式的值</a:t>
            </a:r>
            <a:endParaRPr lang="en-US" altLang="zh-CN" sz="1800" b="1" dirty="0">
              <a:cs typeface="+mn-ea"/>
              <a:sym typeface="+mn-lt"/>
            </a:endParaRPr>
          </a:p>
          <a:p>
            <a:pPr lvl="1"/>
            <a:r>
              <a:rPr lang="zh-CN" altLang="en-US" sz="1800" b="1" dirty="0">
                <a:cs typeface="+mn-ea"/>
                <a:sym typeface="+mn-lt"/>
              </a:rPr>
              <a:t>逻辑表达式：</a:t>
            </a:r>
            <a:endParaRPr lang="en-US" altLang="zh-CN" sz="1800" b="1" dirty="0">
              <a:cs typeface="+mn-ea"/>
              <a:sym typeface="+mn-lt"/>
            </a:endParaRPr>
          </a:p>
          <a:p>
            <a:pPr lvl="2"/>
            <a:r>
              <a:rPr lang="zh-CN" altLang="en-US" sz="1600" b="1" dirty="0">
                <a:cs typeface="+mn-ea"/>
                <a:sym typeface="+mn-lt"/>
              </a:rPr>
              <a:t>表达式为真，表达式的值为</a:t>
            </a:r>
            <a:r>
              <a:rPr lang="en-US" altLang="zh-CN" sz="1600" b="1" dirty="0">
                <a:cs typeface="+mn-ea"/>
                <a:sym typeface="+mn-lt"/>
              </a:rPr>
              <a:t>1</a:t>
            </a:r>
          </a:p>
          <a:p>
            <a:pPr lvl="2"/>
            <a:r>
              <a:rPr lang="zh-CN" altLang="en-US" sz="1600" b="1" dirty="0">
                <a:cs typeface="+mn-ea"/>
                <a:sym typeface="+mn-lt"/>
              </a:rPr>
              <a:t>表达式为假，表达式的值为</a:t>
            </a:r>
            <a:r>
              <a:rPr lang="en-US" altLang="zh-CN" sz="1600" b="1" dirty="0">
                <a:cs typeface="+mn-ea"/>
                <a:sym typeface="+mn-lt"/>
              </a:rPr>
              <a:t>0</a:t>
            </a:r>
          </a:p>
          <a:p>
            <a:pPr lvl="1"/>
            <a:r>
              <a:rPr lang="zh-CN" altLang="en-US" sz="1800" b="1">
                <a:cs typeface="+mn-ea"/>
                <a:sym typeface="+mn-lt"/>
              </a:rPr>
              <a:t>逗号表达式 ：</a:t>
            </a:r>
            <a:r>
              <a:rPr lang="zh-CN" altLang="en-US" sz="1800" b="1" dirty="0">
                <a:cs typeface="+mn-ea"/>
                <a:sym typeface="+mn-lt"/>
              </a:rPr>
              <a:t>最右边的值为整个表达式的值</a:t>
            </a:r>
            <a:endParaRPr lang="en-US" altLang="zh-CN" sz="1800" b="1" dirty="0">
              <a:cs typeface="+mn-ea"/>
              <a:sym typeface="+mn-lt"/>
            </a:endParaRPr>
          </a:p>
        </p:txBody>
      </p:sp>
      <p:graphicFrame>
        <p:nvGraphicFramePr>
          <p:cNvPr id="10" name="表格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065771"/>
              </p:ext>
            </p:extLst>
          </p:nvPr>
        </p:nvGraphicFramePr>
        <p:xfrm>
          <a:off x="701570" y="2706765"/>
          <a:ext cx="5519268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59634">
                  <a:extLst>
                    <a:ext uri="{9D8B030D-6E8A-4147-A177-3AD203B41FA5}">
                      <a16:colId xmlns:a16="http://schemas.microsoft.com/office/drawing/2014/main" val="1942702067"/>
                    </a:ext>
                  </a:extLst>
                </a:gridCol>
                <a:gridCol w="2759634">
                  <a:extLst>
                    <a:ext uri="{9D8B030D-6E8A-4147-A177-3AD203B41FA5}">
                      <a16:colId xmlns:a16="http://schemas.microsoft.com/office/drawing/2014/main" val="286041371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表达式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值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65107535"/>
                  </a:ext>
                </a:extLst>
              </a:tr>
              <a:tr h="180811">
                <a:tc>
                  <a:txBody>
                    <a:bodyPr/>
                    <a:lstStyle/>
                    <a:p>
                      <a:pPr algn="ctr"/>
                      <a:r>
                        <a:rPr lang="en-US" altLang="zh-CN">
                          <a:latin typeface="+mn-lt"/>
                          <a:ea typeface="+mn-ea"/>
                          <a:cs typeface="+mn-ea"/>
                          <a:sym typeface="+mn-lt"/>
                        </a:rPr>
                        <a:t>-4 + 6</a:t>
                      </a:r>
                      <a:endParaRPr lang="zh-CN" altLang="en-US" dirty="0"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2</a:t>
                      </a:r>
                      <a:endParaRPr lang="zh-CN" altLang="en-US" dirty="0"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55520551"/>
                  </a:ext>
                </a:extLst>
              </a:tr>
              <a:tr h="180811">
                <a:tc>
                  <a:txBody>
                    <a:bodyPr/>
                    <a:lstStyle/>
                    <a:p>
                      <a:pPr algn="ctr"/>
                      <a:r>
                        <a:rPr lang="en-US" altLang="zh-CN">
                          <a:latin typeface="+mn-lt"/>
                          <a:ea typeface="+mn-ea"/>
                          <a:cs typeface="+mn-ea"/>
                          <a:sym typeface="+mn-lt"/>
                        </a:rPr>
                        <a:t>c</a:t>
                      </a:r>
                      <a:r>
                        <a:rPr lang="en-US" altLang="zh-CN" baseline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 = 3 + 8</a:t>
                      </a:r>
                      <a:endParaRPr lang="zh-CN" altLang="en-US" dirty="0"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9201"/>
                  </a:ext>
                </a:extLst>
              </a:tr>
              <a:tr h="180811">
                <a:tc>
                  <a:txBody>
                    <a:bodyPr/>
                    <a:lstStyle/>
                    <a:p>
                      <a:pPr algn="ctr"/>
                      <a:r>
                        <a:rPr lang="en-US" altLang="zh-CN">
                          <a:latin typeface="+mn-lt"/>
                          <a:ea typeface="+mn-ea"/>
                          <a:cs typeface="+mn-ea"/>
                          <a:sym typeface="+mn-lt"/>
                        </a:rPr>
                        <a:t>5 &gt; 3</a:t>
                      </a:r>
                      <a:endParaRPr lang="zh-CN" altLang="en-US" dirty="0"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1</a:t>
                      </a:r>
                      <a:endParaRPr lang="zh-CN" altLang="en-US" dirty="0"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8473860"/>
                  </a:ext>
                </a:extLst>
              </a:tr>
              <a:tr h="180811">
                <a:tc>
                  <a:txBody>
                    <a:bodyPr/>
                    <a:lstStyle/>
                    <a:p>
                      <a:pPr algn="ctr"/>
                      <a:r>
                        <a:rPr lang="en-US" altLang="zh-CN">
                          <a:latin typeface="+mn-lt"/>
                          <a:ea typeface="+mn-ea"/>
                          <a:cs typeface="+mn-ea"/>
                          <a:sym typeface="+mn-lt"/>
                        </a:rPr>
                        <a:t>6 +</a:t>
                      </a:r>
                      <a:r>
                        <a:rPr lang="en-US" altLang="zh-CN" baseline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 (c = 3 + 8</a:t>
                      </a:r>
                      <a:r>
                        <a:rPr lang="en-US" altLang="zh-CN" baseline="0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17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9653545"/>
                  </a:ext>
                </a:extLst>
              </a:tr>
              <a:tr h="180811"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c = 3 + 8 , 6</a:t>
                      </a:r>
                      <a:endParaRPr lang="en-US" altLang="zh-CN" baseline="0" dirty="0"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4211604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5502433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476520" y="96475"/>
            <a:ext cx="387045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基本语句和表达式</a:t>
            </a:r>
          </a:p>
        </p:txBody>
      </p:sp>
      <p:sp>
        <p:nvSpPr>
          <p:cNvPr id="12" name="矩形 11"/>
          <p:cNvSpPr/>
          <p:nvPr/>
        </p:nvSpPr>
        <p:spPr>
          <a:xfrm>
            <a:off x="476520" y="430384"/>
            <a:ext cx="387045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00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Always believe that something wonderful is about to happen</a:t>
            </a:r>
            <a:r>
              <a:rPr lang="en-US" altLang="zh-CN" sz="10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.</a:t>
            </a:r>
            <a:endParaRPr lang="zh-CN" altLang="en-US" sz="1000" dirty="0">
              <a:solidFill>
                <a:schemeClr val="tx1">
                  <a:lumMod val="50000"/>
                  <a:lumOff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9" name="AutoShape 3" descr="正确"/>
          <p:cNvSpPr>
            <a:spLocks noChangeAspect="1" noChangeArrowheads="1"/>
          </p:cNvSpPr>
          <p:nvPr/>
        </p:nvSpPr>
        <p:spPr bwMode="auto">
          <a:xfrm>
            <a:off x="1388080" y="204383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>
          <a:xfrm>
            <a:off x="476520" y="1010515"/>
            <a:ext cx="8082390" cy="3631466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Tx/>
              <a:buNone/>
              <a:defRPr/>
            </a:pPr>
            <a:r>
              <a:rPr lang="zh-CN" altLang="en-US" sz="1800">
                <a:cs typeface="+mn-ea"/>
                <a:sym typeface="+mn-lt"/>
              </a:rPr>
              <a:t>以下 while 循环</a:t>
            </a:r>
            <a:r>
              <a:rPr lang="zh-CN" altLang="en-US" sz="1800" dirty="0">
                <a:cs typeface="+mn-ea"/>
                <a:sym typeface="+mn-lt"/>
              </a:rPr>
              <a:t>执行的次数是_____。</a:t>
            </a:r>
          </a:p>
          <a:p>
            <a:pPr>
              <a:buFontTx/>
              <a:buNone/>
              <a:defRPr/>
            </a:pPr>
            <a:r>
              <a:rPr lang="en-US" altLang="zh-CN" sz="1800">
                <a:cs typeface="+mn-ea"/>
                <a:sym typeface="+mn-lt"/>
              </a:rPr>
              <a:t>	</a:t>
            </a:r>
            <a:r>
              <a:rPr lang="zh-CN" altLang="en-US" sz="1800">
                <a:cs typeface="+mn-ea"/>
                <a:sym typeface="+mn-lt"/>
              </a:rPr>
              <a:t>k = 0; while (k = 10) k = k + 1</a:t>
            </a:r>
            <a:r>
              <a:rPr lang="zh-CN" altLang="en-US" sz="1800" dirty="0">
                <a:cs typeface="+mn-ea"/>
                <a:sym typeface="+mn-lt"/>
              </a:rPr>
              <a:t>;</a:t>
            </a:r>
            <a:endParaRPr lang="en-US" altLang="zh-CN" sz="1800" dirty="0">
              <a:cs typeface="+mn-ea"/>
              <a:sym typeface="+mn-lt"/>
            </a:endParaRPr>
          </a:p>
          <a:p>
            <a:pPr>
              <a:buFontTx/>
              <a:buNone/>
              <a:defRPr/>
            </a:pPr>
            <a:endParaRPr lang="zh-CN" altLang="en-US" sz="1800" dirty="0">
              <a:cs typeface="+mn-ea"/>
              <a:sym typeface="+mn-lt"/>
            </a:endParaRPr>
          </a:p>
          <a:p>
            <a:pPr>
              <a:buFontTx/>
              <a:buNone/>
              <a:defRPr/>
            </a:pPr>
            <a:r>
              <a:rPr lang="zh-CN" altLang="en-US" sz="1800" dirty="0">
                <a:cs typeface="+mn-ea"/>
                <a:sym typeface="+mn-lt"/>
              </a:rPr>
              <a:t>	</a:t>
            </a:r>
            <a:r>
              <a:rPr lang="zh-CN" altLang="en-US" sz="1800">
                <a:cs typeface="+mn-ea"/>
                <a:sym typeface="+mn-lt"/>
              </a:rPr>
              <a:t>A. 9</a:t>
            </a:r>
            <a:endParaRPr lang="en-US" altLang="zh-CN" sz="1800" dirty="0">
              <a:cs typeface="+mn-ea"/>
              <a:sym typeface="+mn-lt"/>
            </a:endParaRPr>
          </a:p>
          <a:p>
            <a:pPr>
              <a:buFontTx/>
              <a:buNone/>
              <a:defRPr/>
            </a:pPr>
            <a:endParaRPr lang="zh-CN" altLang="en-US" sz="1800" dirty="0">
              <a:cs typeface="+mn-ea"/>
              <a:sym typeface="+mn-lt"/>
            </a:endParaRPr>
          </a:p>
          <a:p>
            <a:pPr>
              <a:buFontTx/>
              <a:buNone/>
              <a:defRPr/>
            </a:pPr>
            <a:r>
              <a:rPr lang="zh-CN" altLang="en-US" sz="1800" dirty="0">
                <a:cs typeface="+mn-ea"/>
                <a:sym typeface="+mn-lt"/>
              </a:rPr>
              <a:t>	</a:t>
            </a:r>
            <a:r>
              <a:rPr lang="zh-CN" altLang="en-US" sz="1800">
                <a:cs typeface="+mn-ea"/>
                <a:sym typeface="+mn-lt"/>
              </a:rPr>
              <a:t>B. 11</a:t>
            </a:r>
            <a:endParaRPr lang="en-US" altLang="zh-CN" sz="1800" dirty="0">
              <a:cs typeface="+mn-ea"/>
              <a:sym typeface="+mn-lt"/>
            </a:endParaRPr>
          </a:p>
          <a:p>
            <a:pPr>
              <a:buFontTx/>
              <a:buNone/>
              <a:defRPr/>
            </a:pPr>
            <a:endParaRPr lang="zh-CN" altLang="en-US" sz="1800" dirty="0">
              <a:cs typeface="+mn-ea"/>
              <a:sym typeface="+mn-lt"/>
            </a:endParaRPr>
          </a:p>
          <a:p>
            <a:pPr>
              <a:buFontTx/>
              <a:buNone/>
              <a:defRPr/>
            </a:pPr>
            <a:r>
              <a:rPr lang="zh-CN" altLang="en-US" sz="1800" dirty="0">
                <a:cs typeface="+mn-ea"/>
                <a:sym typeface="+mn-lt"/>
              </a:rPr>
              <a:t>	</a:t>
            </a:r>
            <a:r>
              <a:rPr lang="zh-CN" altLang="en-US" sz="1800">
                <a:cs typeface="+mn-ea"/>
                <a:sym typeface="+mn-lt"/>
              </a:rPr>
              <a:t>C. 10</a:t>
            </a:r>
            <a:endParaRPr lang="en-US" altLang="zh-CN" sz="1800" dirty="0">
              <a:cs typeface="+mn-ea"/>
              <a:sym typeface="+mn-lt"/>
            </a:endParaRPr>
          </a:p>
          <a:p>
            <a:pPr>
              <a:buFontTx/>
              <a:buNone/>
              <a:defRPr/>
            </a:pPr>
            <a:endParaRPr lang="zh-CN" altLang="en-US" sz="1800" dirty="0">
              <a:cs typeface="+mn-ea"/>
              <a:sym typeface="+mn-lt"/>
            </a:endParaRPr>
          </a:p>
          <a:p>
            <a:pPr>
              <a:buFontTx/>
              <a:buNone/>
              <a:defRPr/>
            </a:pPr>
            <a:r>
              <a:rPr lang="zh-CN" altLang="en-US" sz="1800" dirty="0">
                <a:cs typeface="+mn-ea"/>
                <a:sym typeface="+mn-lt"/>
              </a:rPr>
              <a:t>	</a:t>
            </a:r>
            <a:r>
              <a:rPr lang="zh-CN" altLang="en-US" sz="1800">
                <a:cs typeface="+mn-ea"/>
                <a:sym typeface="+mn-lt"/>
              </a:rPr>
              <a:t>D. 无数</a:t>
            </a:r>
            <a:r>
              <a:rPr lang="zh-CN" altLang="en-US" sz="1800" dirty="0">
                <a:cs typeface="+mn-ea"/>
                <a:sym typeface="+mn-lt"/>
              </a:rPr>
              <a:t>次</a:t>
            </a:r>
          </a:p>
          <a:p>
            <a:pPr>
              <a:buFontTx/>
              <a:buNone/>
              <a:defRPr/>
            </a:pPr>
            <a:r>
              <a:rPr lang="zh-CN" altLang="en-US" sz="1800" dirty="0">
                <a:cs typeface="+mn-ea"/>
                <a:sym typeface="+mn-lt"/>
              </a:rPr>
              <a:t>		</a:t>
            </a:r>
          </a:p>
        </p:txBody>
      </p:sp>
    </p:spTree>
    <p:extLst>
      <p:ext uri="{BB962C8B-B14F-4D97-AF65-F5344CB8AC3E}">
        <p14:creationId xmlns:p14="http://schemas.microsoft.com/office/powerpoint/2010/main" val="257769466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9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500" fill="hold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1A7BAE"/>
                                      </p:to>
                                    </p:animClr>
                                    <p:animClr clrSpc="rgb" dir="cw">
                                      <p:cBhvr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1A7BAE"/>
                                      </p:to>
                                    </p:animClr>
                                    <p:set>
                                      <p:cBhvr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" dur="500" fill="hold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476520" y="96475"/>
            <a:ext cx="387045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基本语句和表达式</a:t>
            </a:r>
          </a:p>
        </p:txBody>
      </p:sp>
      <p:sp>
        <p:nvSpPr>
          <p:cNvPr id="12" name="矩形 11"/>
          <p:cNvSpPr/>
          <p:nvPr/>
        </p:nvSpPr>
        <p:spPr>
          <a:xfrm>
            <a:off x="476520" y="430384"/>
            <a:ext cx="387045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00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Always believe that something wonderful is about to happen</a:t>
            </a:r>
            <a:r>
              <a:rPr lang="en-US" altLang="zh-CN" sz="10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.</a:t>
            </a:r>
            <a:endParaRPr lang="zh-CN" altLang="en-US" sz="1000" dirty="0">
              <a:solidFill>
                <a:schemeClr val="tx1">
                  <a:lumMod val="50000"/>
                  <a:lumOff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9" name="AutoShape 3" descr="正确"/>
          <p:cNvSpPr>
            <a:spLocks noChangeAspect="1" noChangeArrowheads="1"/>
          </p:cNvSpPr>
          <p:nvPr/>
        </p:nvSpPr>
        <p:spPr bwMode="auto">
          <a:xfrm>
            <a:off x="1388080" y="204383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6" name="矩形 3"/>
          <p:cNvSpPr txBox="1">
            <a:spLocks noChangeArrowheads="1"/>
          </p:cNvSpPr>
          <p:nvPr/>
        </p:nvSpPr>
        <p:spPr>
          <a:xfrm>
            <a:off x="476520" y="1010514"/>
            <a:ext cx="8598907" cy="336143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400" dirty="0">
                <a:cs typeface="+mn-ea"/>
                <a:sym typeface="+mn-lt"/>
              </a:rPr>
              <a:t>输入输出</a:t>
            </a:r>
            <a:endParaRPr lang="en-US" altLang="zh-CN" sz="2400" dirty="0">
              <a:cs typeface="+mn-ea"/>
              <a:sym typeface="+mn-lt"/>
            </a:endParaRPr>
          </a:p>
          <a:p>
            <a:pPr lvl="1"/>
            <a:r>
              <a:rPr lang="en-US" altLang="zh-CN" sz="2000" dirty="0" err="1">
                <a:cs typeface="+mn-ea"/>
                <a:sym typeface="+mn-lt"/>
              </a:rPr>
              <a:t>scanf</a:t>
            </a:r>
            <a:r>
              <a:rPr lang="zh-CN" altLang="en-US" sz="2000" dirty="0">
                <a:cs typeface="+mn-ea"/>
                <a:sym typeface="+mn-lt"/>
              </a:rPr>
              <a:t>，</a:t>
            </a:r>
            <a:r>
              <a:rPr lang="en-US" altLang="zh-CN" sz="2000" dirty="0">
                <a:cs typeface="+mn-ea"/>
                <a:sym typeface="+mn-lt"/>
              </a:rPr>
              <a:t>gets</a:t>
            </a:r>
            <a:r>
              <a:rPr lang="zh-CN" altLang="en-US" sz="2000" dirty="0">
                <a:cs typeface="+mn-ea"/>
                <a:sym typeface="+mn-lt"/>
              </a:rPr>
              <a:t>使用辨析</a:t>
            </a:r>
            <a:endParaRPr lang="en-US" altLang="zh-CN" sz="2000" dirty="0">
              <a:cs typeface="+mn-ea"/>
              <a:sym typeface="+mn-lt"/>
            </a:endParaRPr>
          </a:p>
          <a:p>
            <a:pPr lvl="2"/>
            <a:r>
              <a:rPr lang="zh-CN" altLang="en-US" sz="1800" dirty="0">
                <a:cs typeface="+mn-ea"/>
                <a:sym typeface="+mn-lt"/>
              </a:rPr>
              <a:t>回车！回车！回车！空格！空格！空格！</a:t>
            </a:r>
            <a:endParaRPr lang="en-US" altLang="zh-CN" sz="1800" dirty="0">
              <a:cs typeface="+mn-ea"/>
              <a:sym typeface="+mn-lt"/>
            </a:endParaRPr>
          </a:p>
          <a:p>
            <a:pPr lvl="3"/>
            <a:r>
              <a:rPr lang="en-US" altLang="zh-CN" sz="1600" dirty="0" err="1">
                <a:cs typeface="+mn-ea"/>
                <a:sym typeface="+mn-lt"/>
              </a:rPr>
              <a:t>scanf</a:t>
            </a:r>
            <a:r>
              <a:rPr lang="zh-CN" altLang="en-US" sz="1600" dirty="0">
                <a:cs typeface="+mn-ea"/>
                <a:sym typeface="+mn-lt"/>
              </a:rPr>
              <a:t>以回车和空格作为检测字符串的分隔符，回车留在缓冲区，不读入回车</a:t>
            </a:r>
            <a:endParaRPr lang="en-US" altLang="zh-CN" sz="1600" dirty="0">
              <a:cs typeface="+mn-ea"/>
              <a:sym typeface="+mn-lt"/>
            </a:endParaRPr>
          </a:p>
          <a:p>
            <a:pPr lvl="3"/>
            <a:r>
              <a:rPr lang="en-US" altLang="zh-CN" sz="1600" dirty="0">
                <a:cs typeface="+mn-ea"/>
                <a:sym typeface="+mn-lt"/>
              </a:rPr>
              <a:t>gets</a:t>
            </a:r>
            <a:r>
              <a:rPr lang="zh-CN" altLang="en-US" sz="1600" dirty="0">
                <a:cs typeface="+mn-ea"/>
                <a:sym typeface="+mn-lt"/>
              </a:rPr>
              <a:t>检测回车，并将回车也作为一个字符串</a:t>
            </a:r>
            <a:endParaRPr lang="en-US" altLang="zh-CN" sz="1600" dirty="0">
              <a:cs typeface="+mn-ea"/>
              <a:sym typeface="+mn-lt"/>
            </a:endParaRPr>
          </a:p>
          <a:p>
            <a:pPr lvl="2"/>
            <a:r>
              <a:rPr lang="zh-CN" altLang="en-US" sz="1800" dirty="0">
                <a:cs typeface="+mn-ea"/>
                <a:sym typeface="+mn-lt"/>
              </a:rPr>
              <a:t>成套使用！</a:t>
            </a:r>
            <a:endParaRPr lang="en-US" altLang="zh-CN" sz="1800" dirty="0">
              <a:cs typeface="+mn-ea"/>
              <a:sym typeface="+mn-lt"/>
            </a:endParaRPr>
          </a:p>
          <a:p>
            <a:pPr lvl="3"/>
            <a:r>
              <a:rPr lang="en-US" altLang="zh-CN" sz="1600" dirty="0" err="1">
                <a:cs typeface="+mn-ea"/>
                <a:sym typeface="+mn-lt"/>
              </a:rPr>
              <a:t>scanf</a:t>
            </a:r>
            <a:r>
              <a:rPr lang="en-US" altLang="zh-CN" sz="1600" dirty="0">
                <a:cs typeface="+mn-ea"/>
                <a:sym typeface="+mn-lt"/>
              </a:rPr>
              <a:t>(“%c”) + </a:t>
            </a:r>
            <a:r>
              <a:rPr lang="en-US" altLang="zh-CN" sz="1600" dirty="0" err="1">
                <a:cs typeface="+mn-ea"/>
                <a:sym typeface="+mn-lt"/>
              </a:rPr>
              <a:t>scanf</a:t>
            </a:r>
            <a:r>
              <a:rPr lang="en-US" altLang="zh-CN" sz="1600" dirty="0">
                <a:cs typeface="+mn-ea"/>
                <a:sym typeface="+mn-lt"/>
              </a:rPr>
              <a:t>(“%s”)</a:t>
            </a:r>
          </a:p>
          <a:p>
            <a:pPr lvl="3"/>
            <a:r>
              <a:rPr lang="en-US" altLang="zh-CN" sz="1600" dirty="0" err="1">
                <a:cs typeface="+mn-ea"/>
                <a:sym typeface="+mn-lt"/>
              </a:rPr>
              <a:t>getchar</a:t>
            </a:r>
            <a:r>
              <a:rPr lang="en-US" altLang="zh-CN" sz="1600" dirty="0">
                <a:cs typeface="+mn-ea"/>
                <a:sym typeface="+mn-lt"/>
              </a:rPr>
              <a:t>() + gets()</a:t>
            </a:r>
          </a:p>
          <a:p>
            <a:pPr marL="914400" lvl="2" indent="0">
              <a:buNone/>
            </a:pPr>
            <a:endParaRPr lang="en-US" altLang="zh-CN" sz="1800" dirty="0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250946654"/>
      </p:ext>
    </p:extLst>
  </p:cSld>
  <p:clrMapOvr>
    <a:masterClrMapping/>
  </p:clrMapOvr>
  <p:transition spd="slow">
    <p:push dir="u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476520" y="96475"/>
            <a:ext cx="387045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基本语句和表达式</a:t>
            </a:r>
          </a:p>
        </p:txBody>
      </p:sp>
      <p:sp>
        <p:nvSpPr>
          <p:cNvPr id="12" name="矩形 11"/>
          <p:cNvSpPr/>
          <p:nvPr/>
        </p:nvSpPr>
        <p:spPr>
          <a:xfrm>
            <a:off x="476520" y="430384"/>
            <a:ext cx="387045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00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Always believe that something wonderful is about to happen</a:t>
            </a:r>
            <a:r>
              <a:rPr lang="en-US" altLang="zh-CN" sz="10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.</a:t>
            </a:r>
            <a:endParaRPr lang="zh-CN" altLang="en-US" sz="1000" dirty="0">
              <a:solidFill>
                <a:schemeClr val="tx1">
                  <a:lumMod val="50000"/>
                  <a:lumOff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9" name="AutoShape 3" descr="正确"/>
          <p:cNvSpPr>
            <a:spLocks noChangeAspect="1" noChangeArrowheads="1"/>
          </p:cNvSpPr>
          <p:nvPr/>
        </p:nvSpPr>
        <p:spPr bwMode="auto">
          <a:xfrm>
            <a:off x="1388080" y="204383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8" name="Rectangle 2"/>
          <p:cNvSpPr txBox="1">
            <a:spLocks noChangeArrowheads="1"/>
          </p:cNvSpPr>
          <p:nvPr/>
        </p:nvSpPr>
        <p:spPr>
          <a:xfrm>
            <a:off x="476520" y="1010514"/>
            <a:ext cx="8229600" cy="2804544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  <a:buFontTx/>
              <a:buNone/>
              <a:defRPr/>
            </a:pPr>
            <a:r>
              <a:rPr lang="zh-CN" altLang="en-US" sz="1800" dirty="0">
                <a:cs typeface="+mn-ea"/>
                <a:sym typeface="+mn-lt"/>
              </a:rPr>
              <a:t>下列说法中正确的是（）</a:t>
            </a:r>
            <a:endParaRPr lang="en-US" altLang="zh-CN" sz="1800" dirty="0">
              <a:cs typeface="+mn-ea"/>
              <a:sym typeface="+mn-lt"/>
            </a:endParaRPr>
          </a:p>
          <a:p>
            <a:pPr>
              <a:lnSpc>
                <a:spcPct val="90000"/>
              </a:lnSpc>
              <a:buFontTx/>
              <a:buNone/>
              <a:defRPr/>
            </a:pPr>
            <a:endParaRPr lang="en-US" altLang="zh-CN" sz="1800" dirty="0">
              <a:cs typeface="+mn-ea"/>
              <a:sym typeface="+mn-lt"/>
            </a:endParaRPr>
          </a:p>
          <a:p>
            <a:pPr>
              <a:lnSpc>
                <a:spcPct val="90000"/>
              </a:lnSpc>
              <a:buFontTx/>
              <a:buAutoNum type="alphaUcPeriod"/>
              <a:defRPr/>
            </a:pPr>
            <a:r>
              <a:rPr lang="zh-CN" altLang="en-US" sz="1800">
                <a:cs typeface="+mn-ea"/>
                <a:sym typeface="+mn-lt"/>
              </a:rPr>
              <a:t>break 用</a:t>
            </a:r>
            <a:r>
              <a:rPr lang="zh-CN" altLang="en-US" sz="1800" dirty="0">
                <a:cs typeface="+mn-ea"/>
                <a:sym typeface="+mn-lt"/>
              </a:rPr>
              <a:t>在循环语句中</a:t>
            </a:r>
            <a:r>
              <a:rPr lang="zh-CN" altLang="en-US" sz="1800">
                <a:cs typeface="+mn-ea"/>
                <a:sym typeface="+mn-lt"/>
              </a:rPr>
              <a:t>，而 continue 用在 switch 语句</a:t>
            </a:r>
            <a:r>
              <a:rPr lang="zh-CN" altLang="en-US" sz="1800" dirty="0">
                <a:cs typeface="+mn-ea"/>
                <a:sym typeface="+mn-lt"/>
              </a:rPr>
              <a:t>中。</a:t>
            </a:r>
            <a:endParaRPr lang="en-US" altLang="zh-CN" sz="1800" dirty="0">
              <a:cs typeface="+mn-ea"/>
              <a:sym typeface="+mn-lt"/>
            </a:endParaRPr>
          </a:p>
          <a:p>
            <a:pPr>
              <a:lnSpc>
                <a:spcPct val="90000"/>
              </a:lnSpc>
              <a:buFontTx/>
              <a:buAutoNum type="alphaUcPeriod"/>
              <a:defRPr/>
            </a:pPr>
            <a:endParaRPr lang="zh-CN" altLang="en-US" sz="1800" dirty="0">
              <a:cs typeface="+mn-ea"/>
              <a:sym typeface="+mn-lt"/>
            </a:endParaRPr>
          </a:p>
          <a:p>
            <a:pPr>
              <a:lnSpc>
                <a:spcPct val="90000"/>
              </a:lnSpc>
              <a:buFontTx/>
              <a:buNone/>
              <a:defRPr/>
            </a:pPr>
            <a:r>
              <a:rPr lang="zh-CN" altLang="en-US" sz="1800">
                <a:cs typeface="+mn-ea"/>
                <a:sym typeface="+mn-lt"/>
              </a:rPr>
              <a:t>B. break 用在 switch 语句</a:t>
            </a:r>
            <a:r>
              <a:rPr lang="zh-CN" altLang="en-US" sz="1800" dirty="0">
                <a:cs typeface="+mn-ea"/>
                <a:sym typeface="+mn-lt"/>
              </a:rPr>
              <a:t>中</a:t>
            </a:r>
            <a:r>
              <a:rPr lang="zh-CN" altLang="en-US" sz="1800">
                <a:cs typeface="+mn-ea"/>
                <a:sym typeface="+mn-lt"/>
              </a:rPr>
              <a:t>，而 continue 用</a:t>
            </a:r>
            <a:r>
              <a:rPr lang="zh-CN" altLang="en-US" sz="1800" dirty="0">
                <a:cs typeface="+mn-ea"/>
                <a:sym typeface="+mn-lt"/>
              </a:rPr>
              <a:t>在循环语句中。</a:t>
            </a:r>
            <a:endParaRPr lang="en-US" altLang="zh-CN" sz="1800" dirty="0">
              <a:cs typeface="+mn-ea"/>
              <a:sym typeface="+mn-lt"/>
            </a:endParaRPr>
          </a:p>
          <a:p>
            <a:pPr>
              <a:lnSpc>
                <a:spcPct val="90000"/>
              </a:lnSpc>
              <a:buFontTx/>
              <a:buNone/>
              <a:defRPr/>
            </a:pPr>
            <a:endParaRPr lang="zh-CN" altLang="en-US" sz="1800" dirty="0">
              <a:cs typeface="+mn-ea"/>
              <a:sym typeface="+mn-lt"/>
            </a:endParaRPr>
          </a:p>
          <a:p>
            <a:pPr>
              <a:lnSpc>
                <a:spcPct val="90000"/>
              </a:lnSpc>
              <a:buFontTx/>
              <a:buNone/>
              <a:defRPr/>
            </a:pPr>
            <a:r>
              <a:rPr lang="zh-CN" altLang="en-US" sz="1800">
                <a:cs typeface="+mn-ea"/>
                <a:sym typeface="+mn-lt"/>
              </a:rPr>
              <a:t>C. continue 能</a:t>
            </a:r>
            <a:r>
              <a:rPr lang="zh-CN" altLang="en-US" sz="1800" dirty="0">
                <a:cs typeface="+mn-ea"/>
                <a:sym typeface="+mn-lt"/>
              </a:rPr>
              <a:t>结束循环</a:t>
            </a:r>
            <a:r>
              <a:rPr lang="zh-CN" altLang="en-US" sz="1800">
                <a:cs typeface="+mn-ea"/>
                <a:sym typeface="+mn-lt"/>
              </a:rPr>
              <a:t>，而 break 只能</a:t>
            </a:r>
            <a:r>
              <a:rPr lang="zh-CN" altLang="en-US" sz="1800" dirty="0">
                <a:cs typeface="+mn-ea"/>
                <a:sym typeface="+mn-lt"/>
              </a:rPr>
              <a:t>结束本次循环。</a:t>
            </a:r>
            <a:endParaRPr lang="en-US" altLang="zh-CN" sz="1800" dirty="0">
              <a:cs typeface="+mn-ea"/>
              <a:sym typeface="+mn-lt"/>
            </a:endParaRPr>
          </a:p>
          <a:p>
            <a:pPr>
              <a:lnSpc>
                <a:spcPct val="90000"/>
              </a:lnSpc>
              <a:buFontTx/>
              <a:buNone/>
              <a:defRPr/>
            </a:pPr>
            <a:endParaRPr lang="zh-CN" altLang="en-US" sz="1800" dirty="0">
              <a:cs typeface="+mn-ea"/>
              <a:sym typeface="+mn-lt"/>
            </a:endParaRPr>
          </a:p>
          <a:p>
            <a:pPr>
              <a:lnSpc>
                <a:spcPct val="90000"/>
              </a:lnSpc>
              <a:buFontTx/>
              <a:buNone/>
              <a:defRPr/>
            </a:pPr>
            <a:r>
              <a:rPr lang="zh-CN" altLang="en-US" sz="1800">
                <a:cs typeface="+mn-ea"/>
                <a:sym typeface="+mn-lt"/>
              </a:rPr>
              <a:t>D. break 能</a:t>
            </a:r>
            <a:r>
              <a:rPr lang="zh-CN" altLang="en-US" sz="1800" dirty="0">
                <a:cs typeface="+mn-ea"/>
                <a:sym typeface="+mn-lt"/>
              </a:rPr>
              <a:t>结束循环</a:t>
            </a:r>
            <a:r>
              <a:rPr lang="zh-CN" altLang="en-US" sz="1800">
                <a:cs typeface="+mn-ea"/>
                <a:sym typeface="+mn-lt"/>
              </a:rPr>
              <a:t>，而 continue 只能</a:t>
            </a:r>
            <a:r>
              <a:rPr lang="zh-CN" altLang="en-US" sz="1800" dirty="0">
                <a:cs typeface="+mn-ea"/>
                <a:sym typeface="+mn-lt"/>
              </a:rPr>
              <a:t>结束本次</a:t>
            </a:r>
            <a:r>
              <a:rPr lang="zh-CN" altLang="en-US" sz="1800">
                <a:cs typeface="+mn-ea"/>
                <a:sym typeface="+mn-lt"/>
              </a:rPr>
              <a:t>循环。 </a:t>
            </a:r>
            <a:endParaRPr lang="zh-CN" altLang="en-US" sz="1800" dirty="0">
              <a:cs typeface="+mn-ea"/>
              <a:sym typeface="+mn-lt"/>
            </a:endParaRPr>
          </a:p>
          <a:p>
            <a:pPr>
              <a:lnSpc>
                <a:spcPct val="90000"/>
              </a:lnSpc>
              <a:buFontTx/>
              <a:buNone/>
              <a:defRPr/>
            </a:pPr>
            <a:r>
              <a:rPr lang="zh-CN" altLang="en-US" sz="1800" dirty="0">
                <a:cs typeface="+mn-ea"/>
                <a:sym typeface="+mn-lt"/>
              </a:rPr>
              <a:t>	</a:t>
            </a:r>
          </a:p>
          <a:p>
            <a:pPr>
              <a:lnSpc>
                <a:spcPct val="90000"/>
              </a:lnSpc>
              <a:buFontTx/>
              <a:buNone/>
              <a:defRPr/>
            </a:pPr>
            <a:r>
              <a:rPr lang="zh-CN" altLang="en-US" sz="1800" dirty="0">
                <a:cs typeface="+mn-ea"/>
                <a:sym typeface="+mn-lt"/>
              </a:rPr>
              <a:t>		</a:t>
            </a:r>
          </a:p>
        </p:txBody>
      </p:sp>
    </p:spTree>
    <p:extLst>
      <p:ext uri="{BB962C8B-B14F-4D97-AF65-F5344CB8AC3E}">
        <p14:creationId xmlns:p14="http://schemas.microsoft.com/office/powerpoint/2010/main" val="30540259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9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500" fill="hold"/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1A7BAE"/>
                                      </p:to>
                                    </p:animClr>
                                    <p:animClr clrSpc="rgb" dir="cw">
                                      <p:cBhvr>
                                        <p:cTn id="7" dur="500" fill="hold"/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1A7BAE"/>
                                      </p:to>
                                    </p:animClr>
                                    <p:set>
                                      <p:cBhvr>
                                        <p:cTn id="8" dur="500" fill="hold"/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" dur="500" fill="hold"/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476520" y="96475"/>
            <a:ext cx="387045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数组、字符串和指针</a:t>
            </a:r>
          </a:p>
        </p:txBody>
      </p:sp>
      <p:sp>
        <p:nvSpPr>
          <p:cNvPr id="12" name="矩形 11"/>
          <p:cNvSpPr/>
          <p:nvPr/>
        </p:nvSpPr>
        <p:spPr>
          <a:xfrm>
            <a:off x="476520" y="430384"/>
            <a:ext cx="387045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00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Always believe that something wonderful is about to happen</a:t>
            </a:r>
            <a:r>
              <a:rPr lang="en-US" altLang="zh-CN" sz="10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.</a:t>
            </a:r>
            <a:endParaRPr lang="zh-CN" altLang="en-US" sz="1000" dirty="0">
              <a:solidFill>
                <a:schemeClr val="tx1">
                  <a:lumMod val="50000"/>
                  <a:lumOff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9" name="AutoShape 3" descr="正确"/>
          <p:cNvSpPr>
            <a:spLocks noChangeAspect="1" noChangeArrowheads="1"/>
          </p:cNvSpPr>
          <p:nvPr/>
        </p:nvSpPr>
        <p:spPr bwMode="auto">
          <a:xfrm>
            <a:off x="1388080" y="204383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10" name="矩形 3"/>
          <p:cNvSpPr txBox="1">
            <a:spLocks noChangeArrowheads="1"/>
          </p:cNvSpPr>
          <p:nvPr/>
        </p:nvSpPr>
        <p:spPr>
          <a:xfrm>
            <a:off x="476521" y="1023277"/>
            <a:ext cx="8667480" cy="402374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400" dirty="0">
                <a:cs typeface="+mn-ea"/>
                <a:sym typeface="+mn-lt"/>
              </a:rPr>
              <a:t>数组一定要初始化！！！</a:t>
            </a:r>
            <a:endParaRPr lang="en-US" altLang="zh-CN" sz="2400" dirty="0">
              <a:cs typeface="+mn-ea"/>
              <a:sym typeface="+mn-lt"/>
            </a:endParaRPr>
          </a:p>
          <a:p>
            <a:r>
              <a:rPr lang="zh-CN" altLang="en-US" sz="2400" dirty="0">
                <a:cs typeface="+mn-ea"/>
                <a:sym typeface="+mn-lt"/>
              </a:rPr>
              <a:t>数组和指针的联系</a:t>
            </a:r>
            <a:endParaRPr lang="en-US" altLang="zh-CN" sz="2400" dirty="0">
              <a:cs typeface="+mn-ea"/>
              <a:sym typeface="+mn-lt"/>
            </a:endParaRPr>
          </a:p>
          <a:p>
            <a:pPr lvl="1"/>
            <a:r>
              <a:rPr lang="zh-CN" altLang="en-US" sz="1800" dirty="0">
                <a:cs typeface="+mn-ea"/>
                <a:sym typeface="+mn-lt"/>
              </a:rPr>
              <a:t>数组名是数组首元素的地址  </a:t>
            </a:r>
            <a:r>
              <a:rPr lang="en-US" altLang="zh-CN" sz="1800" dirty="0">
                <a:cs typeface="+mn-ea"/>
                <a:sym typeface="+mn-lt"/>
              </a:rPr>
              <a:t>array == &amp;array[0]</a:t>
            </a:r>
          </a:p>
          <a:p>
            <a:pPr lvl="1"/>
            <a:r>
              <a:rPr lang="en-US" altLang="zh-CN" sz="1800" dirty="0">
                <a:cs typeface="+mn-ea"/>
                <a:sym typeface="+mn-lt"/>
              </a:rPr>
              <a:t>array[n]  ==  *(array + n) </a:t>
            </a:r>
            <a:r>
              <a:rPr lang="zh-CN" altLang="en-US" sz="1800" dirty="0">
                <a:cs typeface="+mn-ea"/>
                <a:sym typeface="+mn-lt"/>
              </a:rPr>
              <a:t>，即寻址到内存中的</a:t>
            </a:r>
            <a:r>
              <a:rPr lang="en-US" altLang="zh-CN" sz="1800" dirty="0">
                <a:cs typeface="+mn-ea"/>
                <a:sym typeface="+mn-lt"/>
              </a:rPr>
              <a:t>array</a:t>
            </a:r>
            <a:r>
              <a:rPr lang="zh-CN" altLang="en-US" sz="1800" dirty="0">
                <a:cs typeface="+mn-ea"/>
                <a:sym typeface="+mn-lt"/>
              </a:rPr>
              <a:t>，再移动</a:t>
            </a:r>
            <a:r>
              <a:rPr lang="en-US" altLang="zh-CN" sz="1800" dirty="0">
                <a:cs typeface="+mn-ea"/>
                <a:sym typeface="+mn-lt"/>
              </a:rPr>
              <a:t>n</a:t>
            </a:r>
            <a:r>
              <a:rPr lang="zh-CN" altLang="en-US" sz="1800" dirty="0">
                <a:cs typeface="+mn-ea"/>
                <a:sym typeface="+mn-lt"/>
              </a:rPr>
              <a:t>个单位</a:t>
            </a:r>
            <a:r>
              <a:rPr lang="en-US" altLang="zh-CN" sz="1800" dirty="0">
                <a:cs typeface="+mn-ea"/>
                <a:sym typeface="+mn-lt"/>
              </a:rPr>
              <a:t>  </a:t>
            </a:r>
          </a:p>
          <a:p>
            <a:pPr lvl="1"/>
            <a:r>
              <a:rPr lang="zh-CN" altLang="en-US" sz="1800" dirty="0">
                <a:cs typeface="+mn-ea"/>
                <a:sym typeface="+mn-lt"/>
              </a:rPr>
              <a:t>二维数组：</a:t>
            </a:r>
            <a:r>
              <a:rPr lang="en-US" altLang="zh-CN" sz="1800" dirty="0">
                <a:cs typeface="+mn-ea"/>
                <a:sym typeface="+mn-lt"/>
              </a:rPr>
              <a:t>a[</a:t>
            </a:r>
            <a:r>
              <a:rPr lang="en-US" altLang="zh-CN" sz="1800" dirty="0" err="1">
                <a:cs typeface="+mn-ea"/>
                <a:sym typeface="+mn-lt"/>
              </a:rPr>
              <a:t>i</a:t>
            </a:r>
            <a:r>
              <a:rPr lang="en-US" altLang="zh-CN" sz="1800" dirty="0">
                <a:cs typeface="+mn-ea"/>
                <a:sym typeface="+mn-lt"/>
              </a:rPr>
              <a:t>][j] == *(*(a + </a:t>
            </a:r>
            <a:r>
              <a:rPr lang="en-US" altLang="zh-CN" sz="1800" dirty="0" err="1">
                <a:cs typeface="+mn-ea"/>
                <a:sym typeface="+mn-lt"/>
              </a:rPr>
              <a:t>i</a:t>
            </a:r>
            <a:r>
              <a:rPr lang="en-US" altLang="zh-CN" sz="1800" dirty="0">
                <a:cs typeface="+mn-ea"/>
                <a:sym typeface="+mn-lt"/>
              </a:rPr>
              <a:t>) + j)</a:t>
            </a:r>
          </a:p>
          <a:p>
            <a:pPr lvl="1"/>
            <a:r>
              <a:rPr lang="zh-CN" altLang="en-US" sz="1800" dirty="0">
                <a:cs typeface="+mn-ea"/>
                <a:sym typeface="+mn-lt"/>
              </a:rPr>
              <a:t>在函数原型中，</a:t>
            </a:r>
            <a:r>
              <a:rPr lang="en-US" altLang="zh-CN" sz="1800" dirty="0" err="1">
                <a:cs typeface="+mn-ea"/>
                <a:sym typeface="+mn-lt"/>
              </a:rPr>
              <a:t>int</a:t>
            </a:r>
            <a:r>
              <a:rPr lang="en-US" altLang="zh-CN" sz="1800" dirty="0">
                <a:cs typeface="+mn-ea"/>
                <a:sym typeface="+mn-lt"/>
              </a:rPr>
              <a:t> array[]  ==  </a:t>
            </a:r>
            <a:r>
              <a:rPr lang="en-US" altLang="zh-CN" sz="1800" dirty="0" err="1">
                <a:cs typeface="+mn-ea"/>
                <a:sym typeface="+mn-lt"/>
              </a:rPr>
              <a:t>int</a:t>
            </a:r>
            <a:r>
              <a:rPr lang="en-US" altLang="zh-CN" sz="1800" dirty="0">
                <a:cs typeface="+mn-ea"/>
                <a:sym typeface="+mn-lt"/>
              </a:rPr>
              <a:t> *array</a:t>
            </a:r>
          </a:p>
          <a:p>
            <a:r>
              <a:rPr lang="zh-CN" altLang="en-US" sz="2000" dirty="0">
                <a:cs typeface="+mn-ea"/>
                <a:sym typeface="+mn-lt"/>
              </a:rPr>
              <a:t>指针的作用</a:t>
            </a:r>
            <a:r>
              <a:rPr lang="en-US" altLang="zh-CN" sz="2000" dirty="0">
                <a:cs typeface="+mn-ea"/>
                <a:sym typeface="+mn-lt"/>
              </a:rPr>
              <a:t>——</a:t>
            </a:r>
            <a:r>
              <a:rPr lang="zh-CN" altLang="en-US" sz="2000" dirty="0">
                <a:cs typeface="+mn-ea"/>
                <a:sym typeface="+mn-lt"/>
              </a:rPr>
              <a:t>直接操作内存，传递参数</a:t>
            </a:r>
            <a:endParaRPr lang="en-US" altLang="zh-CN" sz="2000" dirty="0">
              <a:cs typeface="+mn-ea"/>
              <a:sym typeface="+mn-lt"/>
            </a:endParaRPr>
          </a:p>
          <a:p>
            <a:pPr marL="0" indent="0">
              <a:buNone/>
            </a:pPr>
            <a:r>
              <a:rPr lang="en-US" altLang="zh-CN" sz="1400" dirty="0">
                <a:solidFill>
                  <a:srgbClr val="1A7BAE"/>
                </a:solidFill>
                <a:cs typeface="+mn-ea"/>
                <a:sym typeface="+mn-lt"/>
              </a:rPr>
              <a:t>                          </a:t>
            </a:r>
            <a:r>
              <a:rPr lang="en-US" altLang="zh-CN" sz="1600" dirty="0">
                <a:solidFill>
                  <a:srgbClr val="1A7BAE"/>
                </a:solidFill>
                <a:cs typeface="+mn-ea"/>
                <a:sym typeface="+mn-lt"/>
              </a:rPr>
              <a:t>void swap(</a:t>
            </a:r>
            <a:r>
              <a:rPr lang="en-US" altLang="zh-CN" sz="1600" dirty="0" err="1">
                <a:solidFill>
                  <a:srgbClr val="1A7BAE"/>
                </a:solidFill>
                <a:cs typeface="+mn-ea"/>
                <a:sym typeface="+mn-lt"/>
              </a:rPr>
              <a:t>int</a:t>
            </a:r>
            <a:r>
              <a:rPr lang="en-US" altLang="zh-CN" sz="1600" dirty="0">
                <a:solidFill>
                  <a:srgbClr val="1A7BAE"/>
                </a:solidFill>
                <a:cs typeface="+mn-ea"/>
                <a:sym typeface="+mn-lt"/>
              </a:rPr>
              <a:t> a, </a:t>
            </a:r>
            <a:r>
              <a:rPr lang="en-US" altLang="zh-CN" sz="1600" dirty="0" err="1">
                <a:solidFill>
                  <a:srgbClr val="1A7BAE"/>
                </a:solidFill>
                <a:cs typeface="+mn-ea"/>
                <a:sym typeface="+mn-lt"/>
              </a:rPr>
              <a:t>int</a:t>
            </a:r>
            <a:r>
              <a:rPr lang="en-US" altLang="zh-CN" sz="1600" dirty="0">
                <a:solidFill>
                  <a:srgbClr val="1A7BAE"/>
                </a:solidFill>
                <a:cs typeface="+mn-ea"/>
                <a:sym typeface="+mn-lt"/>
              </a:rPr>
              <a:t> b);</a:t>
            </a:r>
          </a:p>
          <a:p>
            <a:pPr marL="0" indent="0">
              <a:buNone/>
            </a:pPr>
            <a:r>
              <a:rPr lang="en-US" altLang="zh-CN" sz="1600" dirty="0">
                <a:solidFill>
                  <a:srgbClr val="1A7BAE"/>
                </a:solidFill>
                <a:cs typeface="+mn-ea"/>
                <a:sym typeface="+mn-lt"/>
              </a:rPr>
              <a:t>                        void swap(</a:t>
            </a:r>
            <a:r>
              <a:rPr lang="en-US" altLang="zh-CN" sz="1600" dirty="0" err="1">
                <a:solidFill>
                  <a:srgbClr val="1A7BAE"/>
                </a:solidFill>
                <a:cs typeface="+mn-ea"/>
                <a:sym typeface="+mn-lt"/>
              </a:rPr>
              <a:t>int</a:t>
            </a:r>
            <a:r>
              <a:rPr lang="en-US" altLang="zh-CN" sz="1600" dirty="0">
                <a:solidFill>
                  <a:srgbClr val="1A7BAE"/>
                </a:solidFill>
                <a:cs typeface="+mn-ea"/>
                <a:sym typeface="+mn-lt"/>
              </a:rPr>
              <a:t> *a, </a:t>
            </a:r>
            <a:r>
              <a:rPr lang="en-US" altLang="zh-CN" sz="1600" dirty="0" err="1">
                <a:solidFill>
                  <a:srgbClr val="1A7BAE"/>
                </a:solidFill>
                <a:cs typeface="+mn-ea"/>
                <a:sym typeface="+mn-lt"/>
              </a:rPr>
              <a:t>int</a:t>
            </a:r>
            <a:r>
              <a:rPr lang="en-US" altLang="zh-CN" sz="1600" dirty="0">
                <a:solidFill>
                  <a:srgbClr val="1A7BAE"/>
                </a:solidFill>
                <a:cs typeface="+mn-ea"/>
                <a:sym typeface="+mn-lt"/>
              </a:rPr>
              <a:t> *b);</a:t>
            </a:r>
            <a:endParaRPr lang="en-US" altLang="zh-CN" sz="1600" dirty="0">
              <a:cs typeface="+mn-ea"/>
              <a:sym typeface="+mn-lt"/>
            </a:endParaRPr>
          </a:p>
          <a:p>
            <a:pPr marL="457200" lvl="1" indent="0">
              <a:buFont typeface="Wingdings 3" charset="2"/>
              <a:buNone/>
            </a:pPr>
            <a:endParaRPr lang="en-US" altLang="zh-CN" dirty="0">
              <a:cs typeface="+mn-ea"/>
              <a:sym typeface="+mn-lt"/>
            </a:endParaRPr>
          </a:p>
          <a:p>
            <a:pPr lvl="1"/>
            <a:endParaRPr lang="en-US" altLang="zh-CN" sz="1800" dirty="0">
              <a:cs typeface="+mn-ea"/>
              <a:sym typeface="+mn-lt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2040" y="1086585"/>
            <a:ext cx="3561905" cy="342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1392785"/>
      </p:ext>
    </p:extLst>
  </p:cSld>
  <p:clrMapOvr>
    <a:masterClrMapping/>
  </p:clrMapOvr>
  <p:transition spd="slow">
    <p:push dir="u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476520" y="96475"/>
            <a:ext cx="387045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数组、字符串和指针</a:t>
            </a:r>
          </a:p>
        </p:txBody>
      </p:sp>
      <p:sp>
        <p:nvSpPr>
          <p:cNvPr id="12" name="矩形 11"/>
          <p:cNvSpPr/>
          <p:nvPr/>
        </p:nvSpPr>
        <p:spPr>
          <a:xfrm>
            <a:off x="476520" y="430384"/>
            <a:ext cx="387045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00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Always believe that something wonderful is about to happen</a:t>
            </a:r>
            <a:r>
              <a:rPr lang="en-US" altLang="zh-CN" sz="10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.</a:t>
            </a:r>
            <a:endParaRPr lang="zh-CN" altLang="en-US" sz="1000" dirty="0">
              <a:solidFill>
                <a:schemeClr val="tx1">
                  <a:lumMod val="50000"/>
                  <a:lumOff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9" name="AutoShape 3" descr="正确"/>
          <p:cNvSpPr>
            <a:spLocks noChangeAspect="1" noChangeArrowheads="1"/>
          </p:cNvSpPr>
          <p:nvPr/>
        </p:nvSpPr>
        <p:spPr bwMode="auto">
          <a:xfrm>
            <a:off x="1388080" y="204383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8" name="Rectangle 2"/>
          <p:cNvSpPr txBox="1">
            <a:spLocks noChangeArrowheads="1"/>
          </p:cNvSpPr>
          <p:nvPr/>
        </p:nvSpPr>
        <p:spPr>
          <a:xfrm>
            <a:off x="161510" y="1010515"/>
            <a:ext cx="8229600" cy="2011286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80000"/>
              </a:lnSpc>
              <a:buFontTx/>
              <a:buNone/>
              <a:defRPr/>
            </a:pPr>
            <a:r>
              <a:rPr lang="zh-CN" altLang="en-US" sz="1800" dirty="0">
                <a:cs typeface="+mn-ea"/>
                <a:sym typeface="+mn-lt"/>
              </a:rPr>
              <a:t>	下列选项中，能正确定义数组的语句是</a:t>
            </a:r>
            <a:r>
              <a:rPr lang="en-US" altLang="zh-CN" sz="1800" dirty="0">
                <a:cs typeface="+mn-ea"/>
                <a:sym typeface="+mn-lt"/>
              </a:rPr>
              <a:t>()</a:t>
            </a:r>
          </a:p>
          <a:p>
            <a:pPr>
              <a:lnSpc>
                <a:spcPct val="80000"/>
              </a:lnSpc>
              <a:buFontTx/>
              <a:buNone/>
              <a:defRPr/>
            </a:pPr>
            <a:endParaRPr lang="zh-CN" altLang="en-US" sz="1800" dirty="0">
              <a:cs typeface="+mn-ea"/>
              <a:sym typeface="+mn-lt"/>
            </a:endParaRPr>
          </a:p>
          <a:p>
            <a:pPr>
              <a:lnSpc>
                <a:spcPct val="80000"/>
              </a:lnSpc>
              <a:buFontTx/>
              <a:buNone/>
              <a:defRPr/>
            </a:pPr>
            <a:r>
              <a:rPr lang="zh-CN" altLang="en-US" sz="1800" dirty="0">
                <a:cs typeface="+mn-ea"/>
                <a:sym typeface="+mn-lt"/>
              </a:rPr>
              <a:t>	</a:t>
            </a:r>
            <a:r>
              <a:rPr lang="zh-CN" altLang="en-US" sz="1800">
                <a:cs typeface="+mn-ea"/>
                <a:sym typeface="+mn-lt"/>
              </a:rPr>
              <a:t>A</a:t>
            </a:r>
            <a:r>
              <a:rPr lang="en-US" altLang="zh-CN" sz="1800">
                <a:cs typeface="+mn-ea"/>
                <a:sym typeface="+mn-lt"/>
              </a:rPr>
              <a:t>. </a:t>
            </a:r>
            <a:r>
              <a:rPr lang="zh-CN" altLang="en-US" sz="1800">
                <a:cs typeface="+mn-ea"/>
                <a:sym typeface="+mn-lt"/>
              </a:rPr>
              <a:t>int num</a:t>
            </a:r>
            <a:r>
              <a:rPr lang="zh-CN" altLang="en-US" sz="1800" dirty="0">
                <a:cs typeface="+mn-ea"/>
                <a:sym typeface="+mn-lt"/>
              </a:rPr>
              <a:t>[0..2008];</a:t>
            </a:r>
          </a:p>
          <a:p>
            <a:pPr>
              <a:lnSpc>
                <a:spcPct val="80000"/>
              </a:lnSpc>
              <a:buFontTx/>
              <a:buNone/>
              <a:defRPr/>
            </a:pPr>
            <a:r>
              <a:rPr lang="zh-CN" altLang="en-US" sz="1800" dirty="0">
                <a:cs typeface="+mn-ea"/>
                <a:sym typeface="+mn-lt"/>
              </a:rPr>
              <a:t>	</a:t>
            </a:r>
            <a:r>
              <a:rPr lang="zh-CN" altLang="en-US" sz="1800">
                <a:cs typeface="+mn-ea"/>
                <a:sym typeface="+mn-lt"/>
              </a:rPr>
              <a:t>B</a:t>
            </a:r>
            <a:r>
              <a:rPr lang="en-US" altLang="zh-CN" sz="1800">
                <a:cs typeface="+mn-ea"/>
                <a:sym typeface="+mn-lt"/>
              </a:rPr>
              <a:t>. </a:t>
            </a:r>
            <a:r>
              <a:rPr lang="zh-CN" altLang="en-US" sz="1800">
                <a:cs typeface="+mn-ea"/>
                <a:sym typeface="+mn-lt"/>
              </a:rPr>
              <a:t>int num</a:t>
            </a:r>
            <a:r>
              <a:rPr lang="zh-CN" altLang="en-US" sz="1800" dirty="0">
                <a:cs typeface="+mn-ea"/>
                <a:sym typeface="+mn-lt"/>
              </a:rPr>
              <a:t>[];</a:t>
            </a:r>
          </a:p>
          <a:p>
            <a:pPr>
              <a:lnSpc>
                <a:spcPct val="80000"/>
              </a:lnSpc>
              <a:buFontTx/>
              <a:buNone/>
              <a:defRPr/>
            </a:pPr>
            <a:r>
              <a:rPr lang="zh-CN" altLang="en-US" sz="1800" dirty="0">
                <a:cs typeface="+mn-ea"/>
                <a:sym typeface="+mn-lt"/>
              </a:rPr>
              <a:t>	</a:t>
            </a:r>
            <a:r>
              <a:rPr lang="en-US" altLang="zh-CN" sz="1800">
                <a:cs typeface="+mn-ea"/>
                <a:sym typeface="+mn-lt"/>
              </a:rPr>
              <a:t>C. </a:t>
            </a:r>
            <a:r>
              <a:rPr lang="zh-CN" altLang="en-US" sz="1800">
                <a:cs typeface="+mn-ea"/>
                <a:sym typeface="+mn-lt"/>
              </a:rPr>
              <a:t>int N</a:t>
            </a:r>
            <a:r>
              <a:rPr lang="zh-CN" altLang="en-US" sz="1800" dirty="0">
                <a:cs typeface="+mn-ea"/>
                <a:sym typeface="+mn-lt"/>
              </a:rPr>
              <a:t>=</a:t>
            </a:r>
            <a:r>
              <a:rPr lang="zh-CN" altLang="en-US" sz="1800">
                <a:cs typeface="+mn-ea"/>
                <a:sym typeface="+mn-lt"/>
              </a:rPr>
              <a:t>2008;  int num</a:t>
            </a:r>
            <a:r>
              <a:rPr lang="zh-CN" altLang="en-US" sz="1800" dirty="0">
                <a:cs typeface="+mn-ea"/>
                <a:sym typeface="+mn-lt"/>
              </a:rPr>
              <a:t>[N];</a:t>
            </a:r>
          </a:p>
          <a:p>
            <a:pPr>
              <a:lnSpc>
                <a:spcPct val="80000"/>
              </a:lnSpc>
              <a:buFontTx/>
              <a:buNone/>
              <a:defRPr/>
            </a:pPr>
            <a:r>
              <a:rPr lang="zh-CN" altLang="en-US" sz="1800" dirty="0">
                <a:cs typeface="+mn-ea"/>
                <a:sym typeface="+mn-lt"/>
              </a:rPr>
              <a:t>	</a:t>
            </a:r>
            <a:r>
              <a:rPr lang="zh-CN" altLang="en-US" sz="1800">
                <a:cs typeface="+mn-ea"/>
                <a:sym typeface="+mn-lt"/>
              </a:rPr>
              <a:t>D</a:t>
            </a:r>
            <a:r>
              <a:rPr lang="en-US" altLang="zh-CN" sz="1800">
                <a:cs typeface="+mn-ea"/>
                <a:sym typeface="+mn-lt"/>
              </a:rPr>
              <a:t>. </a:t>
            </a:r>
            <a:r>
              <a:rPr lang="zh-CN" altLang="en-US" sz="1800">
                <a:cs typeface="+mn-ea"/>
                <a:sym typeface="+mn-lt"/>
              </a:rPr>
              <a:t>#define N 2008 </a:t>
            </a:r>
            <a:endParaRPr lang="en-US" altLang="zh-CN" sz="1800" dirty="0">
              <a:cs typeface="+mn-ea"/>
              <a:sym typeface="+mn-lt"/>
            </a:endParaRPr>
          </a:p>
          <a:p>
            <a:pPr>
              <a:lnSpc>
                <a:spcPct val="80000"/>
              </a:lnSpc>
              <a:buFontTx/>
              <a:buNone/>
              <a:defRPr/>
            </a:pPr>
            <a:r>
              <a:rPr lang="en-US" altLang="zh-CN" sz="1800" dirty="0">
                <a:cs typeface="+mn-ea"/>
                <a:sym typeface="+mn-lt"/>
              </a:rPr>
              <a:t>	</a:t>
            </a:r>
            <a:r>
              <a:rPr lang="en-US" altLang="zh-CN" sz="1800">
                <a:cs typeface="+mn-ea"/>
                <a:sym typeface="+mn-lt"/>
              </a:rPr>
              <a:t>	 </a:t>
            </a:r>
            <a:r>
              <a:rPr lang="zh-CN" altLang="en-US" sz="1800">
                <a:cs typeface="+mn-ea"/>
                <a:sym typeface="+mn-lt"/>
              </a:rPr>
              <a:t>int num</a:t>
            </a:r>
            <a:r>
              <a:rPr lang="zh-CN" altLang="en-US" sz="1800" dirty="0">
                <a:cs typeface="+mn-ea"/>
                <a:sym typeface="+mn-lt"/>
              </a:rPr>
              <a:t>[N];</a:t>
            </a:r>
          </a:p>
          <a:p>
            <a:pPr>
              <a:lnSpc>
                <a:spcPct val="80000"/>
              </a:lnSpc>
              <a:buFontTx/>
              <a:buNone/>
              <a:defRPr/>
            </a:pPr>
            <a:endParaRPr lang="zh-CN" altLang="en-US" sz="1800" dirty="0">
              <a:solidFill>
                <a:schemeClr val="accent2"/>
              </a:solidFill>
              <a:cs typeface="+mn-ea"/>
              <a:sym typeface="+mn-lt"/>
            </a:endParaRPr>
          </a:p>
          <a:p>
            <a:pPr>
              <a:lnSpc>
                <a:spcPct val="80000"/>
              </a:lnSpc>
              <a:buFontTx/>
              <a:buNone/>
              <a:defRPr/>
            </a:pPr>
            <a:endParaRPr lang="zh-CN" altLang="en-US" sz="1800" dirty="0">
              <a:cs typeface="+mn-ea"/>
              <a:sym typeface="+mn-lt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520" y="3174172"/>
            <a:ext cx="7443861" cy="1761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689032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9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500" fill="hold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1A7BAE"/>
                                      </p:to>
                                    </p:animClr>
                                    <p:animClr clrSpc="rgb" dir="cw">
                                      <p:cBhvr>
                                        <p:cTn id="7" dur="500" fill="hold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1A7BAE"/>
                                      </p:to>
                                    </p:animClr>
                                    <p:set>
                                      <p:cBhvr>
                                        <p:cTn id="8" dur="500" fill="hold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" dur="500" fill="hold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19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" dur="500" fill="hold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1A7BAE"/>
                                      </p:to>
                                    </p:animClr>
                                    <p:animClr clrSpc="rgb" dir="cw">
                                      <p:cBhvr>
                                        <p:cTn id="12" dur="500" fill="hold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1A7BAE"/>
                                      </p:to>
                                    </p:animClr>
                                    <p:set>
                                      <p:cBhvr>
                                        <p:cTn id="13" dur="500" fill="hold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" dur="500" fill="hold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476520" y="96475"/>
            <a:ext cx="387045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数组、字符串和指针</a:t>
            </a:r>
          </a:p>
        </p:txBody>
      </p:sp>
      <p:sp>
        <p:nvSpPr>
          <p:cNvPr id="12" name="矩形 11"/>
          <p:cNvSpPr/>
          <p:nvPr/>
        </p:nvSpPr>
        <p:spPr>
          <a:xfrm>
            <a:off x="476520" y="430384"/>
            <a:ext cx="387045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00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Always believe that something wonderful is about to happen</a:t>
            </a:r>
            <a:r>
              <a:rPr lang="en-US" altLang="zh-CN" sz="10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.</a:t>
            </a:r>
            <a:endParaRPr lang="zh-CN" altLang="en-US" sz="1000" dirty="0">
              <a:solidFill>
                <a:schemeClr val="tx1">
                  <a:lumMod val="50000"/>
                  <a:lumOff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9" name="AutoShape 3" descr="正确"/>
          <p:cNvSpPr>
            <a:spLocks noChangeAspect="1" noChangeArrowheads="1"/>
          </p:cNvSpPr>
          <p:nvPr/>
        </p:nvSpPr>
        <p:spPr bwMode="auto">
          <a:xfrm>
            <a:off x="1388080" y="204383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13" name="内容占位符 2"/>
          <p:cNvSpPr txBox="1">
            <a:spLocks/>
          </p:cNvSpPr>
          <p:nvPr/>
        </p:nvSpPr>
        <p:spPr>
          <a:xfrm>
            <a:off x="476520" y="792162"/>
            <a:ext cx="6705770" cy="36247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uLnTx/>
                <a:uFillTx/>
                <a:cs typeface="+mn-ea"/>
                <a:sym typeface="+mn-lt"/>
              </a:rPr>
              <a:t>下列语句组中，正确的是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uLnTx/>
                <a:uFillTx/>
                <a:cs typeface="+mn-ea"/>
                <a:sym typeface="+mn-lt"/>
              </a:rPr>
              <a:t>	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uLnTx/>
                <a:uFillTx/>
                <a:cs typeface="+mn-ea"/>
                <a:sym typeface="+mn-lt"/>
              </a:rPr>
              <a:t>A. char * s; s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uLnTx/>
                <a:uFillTx/>
                <a:cs typeface="+mn-ea"/>
                <a:sym typeface="+mn-lt"/>
              </a:rPr>
              <a:t>={“Olympic”};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uLnTx/>
              <a:uFillTx/>
              <a:cs typeface="+mn-ea"/>
              <a:sym typeface="+mn-lt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uLnTx/>
                <a:uFillTx/>
                <a:cs typeface="+mn-ea"/>
                <a:sym typeface="+mn-lt"/>
              </a:rPr>
              <a:t>	</a:t>
            </a: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uLnTx/>
                <a:uFillTx/>
                <a:cs typeface="+mn-ea"/>
                <a:sym typeface="+mn-lt"/>
              </a:rPr>
              <a:t>	</a:t>
            </a: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1A7BAE"/>
                </a:solidFill>
                <a:uLnTx/>
                <a:uFillTx/>
                <a:cs typeface="+mn-ea"/>
                <a:sym typeface="+mn-lt"/>
              </a:rPr>
              <a:t>// 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1A7BAE"/>
                </a:solidFill>
                <a:uLnTx/>
                <a:uFillTx/>
                <a:cs typeface="+mn-ea"/>
                <a:sym typeface="+mn-lt"/>
              </a:rPr>
              <a:t>正确写法 </a:t>
            </a: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1A7BAE"/>
                </a:solidFill>
                <a:uLnTx/>
                <a:uFillTx/>
                <a:cs typeface="+mn-ea"/>
                <a:sym typeface="+mn-lt"/>
              </a:rPr>
              <a:t>s = {‘</a:t>
            </a:r>
            <a:r>
              <a:rPr kumimoji="0" lang="en-US" altLang="zh-CN" sz="1800" b="0" i="0" u="none" strike="noStrike" kern="1200" cap="none" spc="0" normalizeH="0" baseline="0" noProof="0" err="1">
                <a:ln>
                  <a:noFill/>
                </a:ln>
                <a:solidFill>
                  <a:srgbClr val="1A7BAE"/>
                </a:solidFill>
                <a:uLnTx/>
                <a:uFillTx/>
                <a:cs typeface="+mn-ea"/>
                <a:sym typeface="+mn-lt"/>
              </a:rPr>
              <a:t>O</a:t>
            </a: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1A7BAE"/>
                </a:solidFill>
                <a:uLnTx/>
                <a:uFillTx/>
                <a:cs typeface="+mn-ea"/>
                <a:sym typeface="+mn-lt"/>
              </a:rPr>
              <a:t>’, ‘</a:t>
            </a:r>
            <a:r>
              <a:rPr kumimoji="0" lang="en-US" altLang="zh-CN" sz="1800" b="0" i="0" u="none" strike="noStrike" kern="1200" cap="none" spc="0" normalizeH="0" baseline="0" noProof="0" err="1">
                <a:ln>
                  <a:noFill/>
                </a:ln>
                <a:solidFill>
                  <a:srgbClr val="1A7BAE"/>
                </a:solidFill>
                <a:uLnTx/>
                <a:uFillTx/>
                <a:cs typeface="+mn-ea"/>
                <a:sym typeface="+mn-lt"/>
              </a:rPr>
              <a:t>l</a:t>
            </a: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1A7BAE"/>
                </a:solidFill>
                <a:uLnTx/>
                <a:uFillTx/>
                <a:cs typeface="+mn-ea"/>
                <a:sym typeface="+mn-lt"/>
              </a:rPr>
              <a:t>’, ‘</a:t>
            </a:r>
            <a:r>
              <a:rPr kumimoji="0" lang="en-US" altLang="zh-CN" sz="1800" b="0" i="0" u="none" strike="noStrike" kern="1200" cap="none" spc="0" normalizeH="0" baseline="0" noProof="0" err="1">
                <a:ln>
                  <a:noFill/>
                </a:ln>
                <a:solidFill>
                  <a:srgbClr val="1A7BAE"/>
                </a:solidFill>
                <a:uLnTx/>
                <a:uFillTx/>
                <a:cs typeface="+mn-ea"/>
                <a:sym typeface="+mn-lt"/>
              </a:rPr>
              <a:t>y</a:t>
            </a: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1A7BAE"/>
                </a:solidFill>
                <a:uLnTx/>
                <a:uFillTx/>
                <a:cs typeface="+mn-ea"/>
                <a:sym typeface="+mn-lt"/>
              </a:rPr>
              <a:t>’ …};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1A7BAE"/>
              </a:solidFill>
              <a:uLnTx/>
              <a:uFillTx/>
              <a:cs typeface="+mn-ea"/>
              <a:sym typeface="+mn-lt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uLnTx/>
                <a:uFillTx/>
                <a:cs typeface="+mn-ea"/>
                <a:sym typeface="+mn-lt"/>
              </a:rPr>
              <a:t>	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uLnTx/>
                <a:uFillTx/>
                <a:cs typeface="+mn-ea"/>
                <a:sym typeface="+mn-lt"/>
              </a:rPr>
              <a:t>B. char * s; s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uLnTx/>
                <a:uFillTx/>
                <a:cs typeface="+mn-ea"/>
                <a:sym typeface="+mn-lt"/>
              </a:rPr>
              <a:t>="Olympic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uLnTx/>
                <a:uFillTx/>
                <a:cs typeface="+mn-ea"/>
                <a:sym typeface="+mn-lt"/>
              </a:rPr>
              <a:t>"; 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uLnTx/>
              <a:uFillTx/>
              <a:cs typeface="+mn-ea"/>
              <a:sym typeface="+mn-lt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uLnTx/>
              <a:uFillTx/>
              <a:cs typeface="+mn-ea"/>
              <a:sym typeface="+mn-lt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uLnTx/>
                <a:uFillTx/>
                <a:cs typeface="+mn-ea"/>
                <a:sym typeface="+mn-lt"/>
              </a:rPr>
              <a:t>	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uLnTx/>
                <a:uFillTx/>
                <a:cs typeface="+mn-ea"/>
                <a:sym typeface="+mn-lt"/>
              </a:rPr>
              <a:t>C. char s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uLnTx/>
                <a:uFillTx/>
                <a:cs typeface="+mn-ea"/>
                <a:sym typeface="+mn-lt"/>
              </a:rPr>
              <a:t>[7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uLnTx/>
                <a:uFillTx/>
                <a:cs typeface="+mn-ea"/>
                <a:sym typeface="+mn-lt"/>
              </a:rPr>
              <a:t>]; s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uLnTx/>
                <a:uFillTx/>
                <a:cs typeface="+mn-ea"/>
                <a:sym typeface="+mn-lt"/>
              </a:rPr>
              <a:t>={“Olympic”};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uLnTx/>
              <a:uFillTx/>
              <a:cs typeface="+mn-ea"/>
              <a:sym typeface="+mn-lt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uLnTx/>
                <a:uFillTx/>
                <a:cs typeface="+mn-ea"/>
                <a:sym typeface="+mn-lt"/>
              </a:rPr>
              <a:t>	</a:t>
            </a: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7030A0"/>
                </a:solidFill>
                <a:uLnTx/>
                <a:uFillTx/>
                <a:cs typeface="+mn-ea"/>
                <a:sym typeface="+mn-lt"/>
              </a:rPr>
              <a:t>	</a:t>
            </a: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1A7BAE"/>
                </a:solidFill>
                <a:uLnTx/>
                <a:uFillTx/>
                <a:cs typeface="+mn-ea"/>
                <a:sym typeface="+mn-lt"/>
              </a:rPr>
              <a:t>// 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1A7BAE"/>
                </a:solidFill>
                <a:uLnTx/>
                <a:uFillTx/>
                <a:cs typeface="+mn-ea"/>
                <a:sym typeface="+mn-lt"/>
              </a:rPr>
              <a:t>数组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1A7BAE"/>
                </a:solidFill>
                <a:uLnTx/>
                <a:uFillTx/>
                <a:cs typeface="+mn-ea"/>
                <a:sym typeface="+mn-lt"/>
              </a:rPr>
              <a:t>不能在初始化之外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1A7BAE"/>
                </a:solidFill>
                <a:uLnTx/>
                <a:uFillTx/>
                <a:cs typeface="+mn-ea"/>
                <a:sym typeface="+mn-lt"/>
              </a:rPr>
              <a:t>赋值</a:t>
            </a: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1A7BAE"/>
                </a:solidFill>
                <a:uLnTx/>
                <a:uFillTx/>
                <a:cs typeface="+mn-ea"/>
                <a:sym typeface="+mn-lt"/>
              </a:rPr>
              <a:t>, 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1A7BAE"/>
                </a:solidFill>
                <a:uLnTx/>
                <a:uFillTx/>
                <a:cs typeface="+mn-ea"/>
                <a:sym typeface="+mn-lt"/>
              </a:rPr>
              <a:t>写法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1A7BAE"/>
                </a:solidFill>
                <a:uLnTx/>
                <a:uFillTx/>
                <a:cs typeface="+mn-ea"/>
                <a:sym typeface="+mn-lt"/>
              </a:rPr>
              <a:t>也错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uLnTx/>
                <a:uFillTx/>
                <a:cs typeface="+mn-ea"/>
                <a:sym typeface="+mn-lt"/>
              </a:rPr>
              <a:t>	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uLnTx/>
                <a:uFillTx/>
                <a:cs typeface="+mn-ea"/>
                <a:sym typeface="+mn-lt"/>
              </a:rPr>
              <a:t>D. char s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uLnTx/>
                <a:uFillTx/>
                <a:cs typeface="+mn-ea"/>
                <a:sym typeface="+mn-lt"/>
              </a:rPr>
              <a:t>[7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uLnTx/>
                <a:uFillTx/>
                <a:cs typeface="+mn-ea"/>
                <a:sym typeface="+mn-lt"/>
              </a:rPr>
              <a:t>]; s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uLnTx/>
                <a:uFillTx/>
                <a:cs typeface="+mn-ea"/>
                <a:sym typeface="+mn-lt"/>
              </a:rPr>
              <a:t>=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uLnTx/>
                <a:uFillTx/>
                <a:cs typeface="+mn-ea"/>
                <a:sym typeface="+mn-lt"/>
              </a:rPr>
              <a:t>“Olympic”; 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uLnTx/>
              <a:uFillTx/>
              <a:cs typeface="+mn-ea"/>
              <a:sym typeface="+mn-lt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uLnTx/>
                <a:uFillTx/>
                <a:cs typeface="+mn-ea"/>
                <a:sym typeface="+mn-lt"/>
              </a:rPr>
              <a:t>	</a:t>
            </a: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7030A0"/>
                </a:solidFill>
                <a:uLnTx/>
                <a:uFillTx/>
                <a:cs typeface="+mn-ea"/>
                <a:sym typeface="+mn-lt"/>
              </a:rPr>
              <a:t>	</a:t>
            </a: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1A7BAE"/>
                </a:solidFill>
                <a:uLnTx/>
                <a:uFillTx/>
                <a:cs typeface="+mn-ea"/>
                <a:sym typeface="+mn-lt"/>
              </a:rPr>
              <a:t>// 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1A7BAE"/>
                </a:solidFill>
                <a:uLnTx/>
                <a:uFillTx/>
                <a:cs typeface="+mn-ea"/>
                <a:sym typeface="+mn-lt"/>
              </a:rPr>
              <a:t>数组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1A7BAE"/>
                </a:solidFill>
                <a:uLnTx/>
                <a:uFillTx/>
                <a:cs typeface="+mn-ea"/>
                <a:sym typeface="+mn-lt"/>
              </a:rPr>
              <a:t>不能在初始化之外赋值</a:t>
            </a:r>
          </a:p>
        </p:txBody>
      </p:sp>
    </p:spTree>
    <p:extLst>
      <p:ext uri="{BB962C8B-B14F-4D97-AF65-F5344CB8AC3E}">
        <p14:creationId xmlns:p14="http://schemas.microsoft.com/office/powerpoint/2010/main" val="339963370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6" dur="indefinite"/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476520" y="96475"/>
            <a:ext cx="387045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数组、字符串和指针</a:t>
            </a:r>
          </a:p>
        </p:txBody>
      </p:sp>
      <p:sp>
        <p:nvSpPr>
          <p:cNvPr id="12" name="矩形 11"/>
          <p:cNvSpPr/>
          <p:nvPr/>
        </p:nvSpPr>
        <p:spPr>
          <a:xfrm>
            <a:off x="476520" y="430384"/>
            <a:ext cx="387045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00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Always believe that something wonderful is about to happen</a:t>
            </a:r>
            <a:r>
              <a:rPr lang="en-US" altLang="zh-CN" sz="10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.</a:t>
            </a:r>
            <a:endParaRPr lang="zh-CN" altLang="en-US" sz="1000" dirty="0">
              <a:solidFill>
                <a:schemeClr val="tx1">
                  <a:lumMod val="50000"/>
                  <a:lumOff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9" name="AutoShape 3" descr="正确"/>
          <p:cNvSpPr>
            <a:spLocks noChangeAspect="1" noChangeArrowheads="1"/>
          </p:cNvSpPr>
          <p:nvPr/>
        </p:nvSpPr>
        <p:spPr bwMode="auto">
          <a:xfrm>
            <a:off x="1388080" y="204383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10" name="内容占位符 2"/>
          <p:cNvSpPr txBox="1">
            <a:spLocks/>
          </p:cNvSpPr>
          <p:nvPr/>
        </p:nvSpPr>
        <p:spPr>
          <a:xfrm>
            <a:off x="476520" y="830494"/>
            <a:ext cx="7886700" cy="3586461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zh-CN" altLang="en-US" sz="1800" dirty="0">
                <a:cs typeface="+mn-ea"/>
                <a:sym typeface="+mn-lt"/>
              </a:rPr>
              <a:t>如果</a:t>
            </a:r>
            <a:r>
              <a:rPr lang="en-US" altLang="zh-CN" sz="1800" dirty="0">
                <a:cs typeface="+mn-ea"/>
                <a:sym typeface="+mn-lt"/>
              </a:rPr>
              <a:t>x</a:t>
            </a:r>
            <a:r>
              <a:rPr lang="zh-CN" altLang="en-US" sz="1800" dirty="0">
                <a:cs typeface="+mn-ea"/>
                <a:sym typeface="+mn-lt"/>
              </a:rPr>
              <a:t>是整型变量，则合法的形式是</a:t>
            </a:r>
            <a:endParaRPr lang="en-US" altLang="zh-CN" sz="1800" dirty="0">
              <a:cs typeface="+mn-ea"/>
              <a:sym typeface="+mn-lt"/>
            </a:endParaRPr>
          </a:p>
          <a:p>
            <a:pPr marL="0" indent="0">
              <a:buFont typeface="Arial" pitchFamily="34" charset="0"/>
              <a:buNone/>
            </a:pPr>
            <a:endParaRPr lang="en-US" altLang="zh-CN" sz="1800" dirty="0">
              <a:cs typeface="+mn-ea"/>
              <a:sym typeface="+mn-lt"/>
            </a:endParaRPr>
          </a:p>
          <a:p>
            <a:pPr marL="514350" indent="-514350">
              <a:buFont typeface="Arial" pitchFamily="34" charset="0"/>
              <a:buAutoNum type="alphaUcPeriod"/>
            </a:pPr>
            <a:r>
              <a:rPr lang="en-US" altLang="zh-CN" sz="1800">
                <a:cs typeface="+mn-ea"/>
                <a:sym typeface="+mn-lt"/>
              </a:rPr>
              <a:t>&amp;(x + 5</a:t>
            </a:r>
            <a:r>
              <a:rPr lang="en-US" altLang="zh-CN" sz="1800" dirty="0">
                <a:cs typeface="+mn-ea"/>
                <a:sym typeface="+mn-lt"/>
              </a:rPr>
              <a:t>)</a:t>
            </a:r>
          </a:p>
          <a:p>
            <a:pPr marL="0" indent="0">
              <a:buFont typeface="Arial" pitchFamily="34" charset="0"/>
              <a:buNone/>
            </a:pPr>
            <a:r>
              <a:rPr lang="en-US" altLang="zh-CN" sz="1800">
                <a:solidFill>
                  <a:srgbClr val="7030A0"/>
                </a:solidFill>
                <a:cs typeface="+mn-ea"/>
                <a:sym typeface="+mn-lt"/>
              </a:rPr>
              <a:t>   </a:t>
            </a:r>
            <a:r>
              <a:rPr lang="en-US" altLang="zh-CN" sz="1800">
                <a:solidFill>
                  <a:srgbClr val="1A7BAE"/>
                </a:solidFill>
                <a:cs typeface="+mn-ea"/>
                <a:sym typeface="+mn-lt"/>
              </a:rPr>
              <a:t>// x + 5 </a:t>
            </a:r>
            <a:r>
              <a:rPr lang="zh-CN" altLang="en-US" sz="1800">
                <a:solidFill>
                  <a:srgbClr val="1A7BAE"/>
                </a:solidFill>
                <a:cs typeface="+mn-ea"/>
                <a:sym typeface="+mn-lt"/>
              </a:rPr>
              <a:t>是</a:t>
            </a:r>
            <a:r>
              <a:rPr lang="zh-CN" altLang="en-US" sz="1800" dirty="0">
                <a:solidFill>
                  <a:srgbClr val="1A7BAE"/>
                </a:solidFill>
                <a:cs typeface="+mn-ea"/>
                <a:sym typeface="+mn-lt"/>
              </a:rPr>
              <a:t>一个数值，不能对数值取地址</a:t>
            </a:r>
            <a:endParaRPr lang="en-US" altLang="zh-CN" sz="1800" dirty="0">
              <a:solidFill>
                <a:srgbClr val="1A7BAE"/>
              </a:solidFill>
              <a:cs typeface="+mn-ea"/>
              <a:sym typeface="+mn-lt"/>
            </a:endParaRPr>
          </a:p>
          <a:p>
            <a:pPr marL="514350" indent="-514350">
              <a:buFont typeface="+mj-lt"/>
              <a:buAutoNum type="alphaUcPeriod" startAt="2"/>
            </a:pPr>
            <a:r>
              <a:rPr lang="en-US" altLang="zh-CN" sz="1800">
                <a:cs typeface="+mn-ea"/>
                <a:sym typeface="+mn-lt"/>
              </a:rPr>
              <a:t>*x </a:t>
            </a:r>
            <a:endParaRPr lang="en-US" altLang="zh-CN" sz="1800" dirty="0">
              <a:cs typeface="+mn-ea"/>
              <a:sym typeface="+mn-lt"/>
            </a:endParaRPr>
          </a:p>
          <a:p>
            <a:pPr marL="0" indent="0">
              <a:buFont typeface="Arial" pitchFamily="34" charset="0"/>
              <a:buNone/>
            </a:pPr>
            <a:r>
              <a:rPr lang="en-US" altLang="zh-CN" sz="1800">
                <a:solidFill>
                  <a:srgbClr val="1A7BAE"/>
                </a:solidFill>
                <a:cs typeface="+mn-ea"/>
                <a:sym typeface="+mn-lt"/>
              </a:rPr>
              <a:t>   // x</a:t>
            </a:r>
            <a:r>
              <a:rPr lang="zh-CN" altLang="en-US" sz="1800" dirty="0">
                <a:solidFill>
                  <a:srgbClr val="1A7BAE"/>
                </a:solidFill>
                <a:cs typeface="+mn-ea"/>
                <a:sym typeface="+mn-lt"/>
              </a:rPr>
              <a:t>不是指针，不能用</a:t>
            </a:r>
            <a:r>
              <a:rPr lang="en-US" altLang="zh-CN" sz="1800" dirty="0">
                <a:solidFill>
                  <a:srgbClr val="1A7BAE"/>
                </a:solidFill>
                <a:cs typeface="+mn-ea"/>
                <a:sym typeface="+mn-lt"/>
              </a:rPr>
              <a:t>*x</a:t>
            </a:r>
          </a:p>
          <a:p>
            <a:pPr marL="514350" indent="-514350">
              <a:buFont typeface="+mj-lt"/>
              <a:buAutoNum type="alphaUcPeriod" startAt="3"/>
            </a:pPr>
            <a:r>
              <a:rPr lang="en-US" altLang="zh-CN" sz="1800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&amp;*x</a:t>
            </a:r>
          </a:p>
          <a:p>
            <a:pPr marL="0" indent="0">
              <a:buFont typeface="Arial" pitchFamily="34" charset="0"/>
              <a:buNone/>
            </a:pPr>
            <a:r>
              <a:rPr lang="en-US" altLang="zh-CN" sz="1800">
                <a:solidFill>
                  <a:srgbClr val="1A7BAE"/>
                </a:solidFill>
                <a:cs typeface="+mn-ea"/>
                <a:sym typeface="+mn-lt"/>
              </a:rPr>
              <a:t>   // </a:t>
            </a:r>
            <a:r>
              <a:rPr lang="zh-CN" altLang="en-US" sz="1800">
                <a:solidFill>
                  <a:srgbClr val="1A7BAE"/>
                </a:solidFill>
                <a:cs typeface="+mn-ea"/>
                <a:sym typeface="+mn-lt"/>
              </a:rPr>
              <a:t>同</a:t>
            </a:r>
            <a:r>
              <a:rPr lang="en-US" altLang="zh-CN" sz="1800" dirty="0">
                <a:solidFill>
                  <a:srgbClr val="1A7BAE"/>
                </a:solidFill>
                <a:cs typeface="+mn-ea"/>
                <a:sym typeface="+mn-lt"/>
              </a:rPr>
              <a:t>B</a:t>
            </a:r>
          </a:p>
          <a:p>
            <a:pPr marL="514350" indent="-514350">
              <a:buFont typeface="+mj-lt"/>
              <a:buAutoNum type="alphaUcPeriod" startAt="4"/>
            </a:pPr>
            <a:r>
              <a:rPr lang="en-US" altLang="zh-CN" sz="1800" dirty="0">
                <a:cs typeface="+mn-ea"/>
                <a:sym typeface="+mn-lt"/>
              </a:rPr>
              <a:t>*&amp;x</a:t>
            </a:r>
          </a:p>
          <a:p>
            <a:pPr marL="0" indent="0">
              <a:buFont typeface="Arial" pitchFamily="34" charset="0"/>
              <a:buNone/>
            </a:pPr>
            <a:r>
              <a:rPr lang="en-US" altLang="zh-CN" sz="1800">
                <a:solidFill>
                  <a:schemeClr val="accent2">
                    <a:lumMod val="75000"/>
                  </a:schemeClr>
                </a:solidFill>
                <a:cs typeface="+mn-ea"/>
                <a:sym typeface="+mn-lt"/>
              </a:rPr>
              <a:t>   </a:t>
            </a:r>
            <a:r>
              <a:rPr lang="en-US" altLang="zh-CN" sz="1800">
                <a:solidFill>
                  <a:srgbClr val="1A7BAE"/>
                </a:solidFill>
                <a:cs typeface="+mn-ea"/>
                <a:sym typeface="+mn-lt"/>
              </a:rPr>
              <a:t>// *(&amp;x), </a:t>
            </a:r>
            <a:r>
              <a:rPr lang="zh-CN" altLang="en-US" sz="1800">
                <a:solidFill>
                  <a:srgbClr val="1A7BAE"/>
                </a:solidFill>
                <a:cs typeface="+mn-ea"/>
                <a:sym typeface="+mn-lt"/>
              </a:rPr>
              <a:t>先</a:t>
            </a:r>
            <a:r>
              <a:rPr lang="zh-CN" altLang="en-US" sz="1800" dirty="0">
                <a:solidFill>
                  <a:srgbClr val="1A7BAE"/>
                </a:solidFill>
                <a:cs typeface="+mn-ea"/>
                <a:sym typeface="+mn-lt"/>
              </a:rPr>
              <a:t>对</a:t>
            </a:r>
            <a:r>
              <a:rPr lang="en-US" altLang="zh-CN" sz="1800" dirty="0">
                <a:solidFill>
                  <a:srgbClr val="1A7BAE"/>
                </a:solidFill>
                <a:cs typeface="+mn-ea"/>
                <a:sym typeface="+mn-lt"/>
              </a:rPr>
              <a:t>x</a:t>
            </a:r>
            <a:r>
              <a:rPr lang="zh-CN" altLang="en-US" sz="1800" dirty="0">
                <a:solidFill>
                  <a:srgbClr val="1A7BAE"/>
                </a:solidFill>
                <a:cs typeface="+mn-ea"/>
                <a:sym typeface="+mn-lt"/>
              </a:rPr>
              <a:t>取地址得到一个指针，然后对指针</a:t>
            </a:r>
            <a:r>
              <a:rPr lang="en-US" altLang="zh-CN" sz="1800" dirty="0">
                <a:solidFill>
                  <a:srgbClr val="1A7BAE"/>
                </a:solidFill>
                <a:cs typeface="+mn-ea"/>
                <a:sym typeface="+mn-lt"/>
              </a:rPr>
              <a:t>*</a:t>
            </a:r>
            <a:r>
              <a:rPr lang="zh-CN" altLang="en-US" sz="1800" dirty="0">
                <a:solidFill>
                  <a:srgbClr val="1A7BAE"/>
                </a:solidFill>
                <a:cs typeface="+mn-ea"/>
                <a:sym typeface="+mn-lt"/>
              </a:rPr>
              <a:t>得到一个内存上的变量</a:t>
            </a:r>
            <a:endParaRPr lang="en-US" altLang="zh-CN" sz="1800" dirty="0">
              <a:solidFill>
                <a:srgbClr val="1A7BAE"/>
              </a:solidFill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30372090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6" dur="indefinite"/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476520" y="96475"/>
            <a:ext cx="387045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数组、字符串和指针</a:t>
            </a:r>
          </a:p>
        </p:txBody>
      </p:sp>
      <p:sp>
        <p:nvSpPr>
          <p:cNvPr id="12" name="矩形 11"/>
          <p:cNvSpPr/>
          <p:nvPr/>
        </p:nvSpPr>
        <p:spPr>
          <a:xfrm>
            <a:off x="476520" y="430384"/>
            <a:ext cx="387045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00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Always believe that something wonderful is about to happen</a:t>
            </a:r>
            <a:r>
              <a:rPr lang="en-US" altLang="zh-CN" sz="10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.</a:t>
            </a:r>
            <a:endParaRPr lang="zh-CN" altLang="en-US" sz="1000" dirty="0">
              <a:solidFill>
                <a:schemeClr val="tx1">
                  <a:lumMod val="50000"/>
                  <a:lumOff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9" name="AutoShape 3" descr="正确"/>
          <p:cNvSpPr>
            <a:spLocks noChangeAspect="1" noChangeArrowheads="1"/>
          </p:cNvSpPr>
          <p:nvPr/>
        </p:nvSpPr>
        <p:spPr bwMode="auto">
          <a:xfrm>
            <a:off x="1388080" y="204383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8" name="矩形 3"/>
          <p:cNvSpPr txBox="1">
            <a:spLocks noChangeArrowheads="1"/>
          </p:cNvSpPr>
          <p:nvPr/>
        </p:nvSpPr>
        <p:spPr>
          <a:xfrm>
            <a:off x="478195" y="830494"/>
            <a:ext cx="8370930" cy="403983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800" b="1">
                <a:cs typeface="+mn-ea"/>
                <a:sym typeface="+mn-lt"/>
              </a:rPr>
              <a:t>#include &lt;</a:t>
            </a:r>
            <a:r>
              <a:rPr lang="en-US" altLang="zh-CN" sz="2800" b="1" dirty="0" err="1">
                <a:cs typeface="+mn-ea"/>
                <a:sym typeface="+mn-lt"/>
              </a:rPr>
              <a:t>string.h</a:t>
            </a:r>
            <a:r>
              <a:rPr lang="en-US" altLang="zh-CN" sz="2800" b="1" dirty="0">
                <a:cs typeface="+mn-ea"/>
                <a:sym typeface="+mn-lt"/>
              </a:rPr>
              <a:t>&gt;</a:t>
            </a:r>
          </a:p>
          <a:p>
            <a:pPr lvl="1"/>
            <a:r>
              <a:rPr lang="en-US" altLang="zh-CN" sz="2000" b="1">
                <a:cs typeface="+mn-ea"/>
                <a:sym typeface="+mn-lt"/>
              </a:rPr>
              <a:t>strlen(char str</a:t>
            </a:r>
            <a:r>
              <a:rPr lang="en-US" altLang="zh-CN" sz="2000" b="1" dirty="0">
                <a:cs typeface="+mn-ea"/>
                <a:sym typeface="+mn-lt"/>
              </a:rPr>
              <a:t>[])</a:t>
            </a:r>
          </a:p>
          <a:p>
            <a:pPr lvl="1"/>
            <a:r>
              <a:rPr lang="en-US" altLang="zh-CN" sz="2000" b="1">
                <a:cs typeface="+mn-ea"/>
                <a:sym typeface="+mn-lt"/>
              </a:rPr>
              <a:t>strcat(char str1[], char str2[])  </a:t>
            </a:r>
            <a:r>
              <a:rPr lang="zh-CN" altLang="en-US" sz="2000" b="1">
                <a:cs typeface="+mn-ea"/>
                <a:sym typeface="+mn-lt"/>
              </a:rPr>
              <a:t>拼接</a:t>
            </a:r>
            <a:endParaRPr lang="en-US" altLang="zh-CN" sz="2000" b="1" dirty="0">
              <a:cs typeface="+mn-ea"/>
              <a:sym typeface="+mn-lt"/>
            </a:endParaRPr>
          </a:p>
          <a:p>
            <a:pPr lvl="1"/>
            <a:r>
              <a:rPr lang="en-US" altLang="zh-CN" sz="2000" b="1">
                <a:cs typeface="+mn-ea"/>
                <a:sym typeface="+mn-lt"/>
              </a:rPr>
              <a:t>strncat(char str1[], char str2[], int max_size</a:t>
            </a:r>
            <a:r>
              <a:rPr lang="en-US" altLang="zh-CN" sz="2000" b="1" dirty="0">
                <a:cs typeface="+mn-ea"/>
                <a:sym typeface="+mn-lt"/>
              </a:rPr>
              <a:t>)</a:t>
            </a:r>
          </a:p>
          <a:p>
            <a:pPr lvl="1"/>
            <a:r>
              <a:rPr lang="en-US" altLang="zh-CN" sz="2000" b="1">
                <a:cs typeface="+mn-ea"/>
                <a:sym typeface="+mn-lt"/>
              </a:rPr>
              <a:t>strcmp(char str1[], char str2</a:t>
            </a:r>
            <a:r>
              <a:rPr lang="en-US" altLang="zh-CN" sz="2000" b="1" dirty="0">
                <a:cs typeface="+mn-ea"/>
                <a:sym typeface="+mn-lt"/>
              </a:rPr>
              <a:t>[])</a:t>
            </a:r>
          </a:p>
          <a:p>
            <a:pPr lvl="2"/>
            <a:r>
              <a:rPr lang="zh-CN" altLang="en-US" sz="1800" b="1" dirty="0">
                <a:cs typeface="+mn-ea"/>
                <a:sym typeface="+mn-lt"/>
              </a:rPr>
              <a:t>本身：返回</a:t>
            </a:r>
            <a:r>
              <a:rPr lang="en-US" altLang="zh-CN" sz="1800" b="1" dirty="0">
                <a:cs typeface="+mn-ea"/>
                <a:sym typeface="+mn-lt"/>
              </a:rPr>
              <a:t>0</a:t>
            </a:r>
          </a:p>
          <a:p>
            <a:pPr lvl="2"/>
            <a:r>
              <a:rPr lang="en-US" altLang="zh-CN" sz="1800" b="1">
                <a:cs typeface="+mn-ea"/>
                <a:sym typeface="+mn-lt"/>
              </a:rPr>
              <a:t>1 &lt; 2</a:t>
            </a:r>
            <a:r>
              <a:rPr lang="zh-CN" altLang="en-US" sz="1800" b="1" dirty="0">
                <a:cs typeface="+mn-ea"/>
                <a:sym typeface="+mn-lt"/>
              </a:rPr>
              <a:t>（在</a:t>
            </a:r>
            <a:r>
              <a:rPr lang="en-US" altLang="zh-CN" sz="1800" b="1" dirty="0">
                <a:cs typeface="+mn-ea"/>
                <a:sym typeface="+mn-lt"/>
              </a:rPr>
              <a:t>ASCII</a:t>
            </a:r>
            <a:r>
              <a:rPr lang="zh-CN" altLang="en-US" sz="1800" b="1" dirty="0">
                <a:cs typeface="+mn-ea"/>
                <a:sym typeface="+mn-lt"/>
              </a:rPr>
              <a:t>表中</a:t>
            </a:r>
            <a:r>
              <a:rPr lang="zh-CN" altLang="en-US" sz="1800" b="1">
                <a:cs typeface="+mn-ea"/>
                <a:sym typeface="+mn-lt"/>
              </a:rPr>
              <a:t>的顺序 先</a:t>
            </a:r>
            <a:r>
              <a:rPr lang="zh-CN" altLang="en-US" sz="1800" b="1" dirty="0">
                <a:cs typeface="+mn-ea"/>
                <a:sym typeface="+mn-lt"/>
              </a:rPr>
              <a:t>于</a:t>
            </a:r>
            <a:r>
              <a:rPr lang="en-US" altLang="zh-CN" sz="1800" b="1" dirty="0">
                <a:cs typeface="+mn-ea"/>
                <a:sym typeface="+mn-lt"/>
              </a:rPr>
              <a:t>2</a:t>
            </a:r>
            <a:r>
              <a:rPr lang="zh-CN" altLang="en-US" sz="1800" b="1" dirty="0">
                <a:cs typeface="+mn-ea"/>
                <a:sym typeface="+mn-lt"/>
              </a:rPr>
              <a:t>）</a:t>
            </a:r>
            <a:r>
              <a:rPr lang="zh-CN" altLang="en-US" sz="1800" b="1">
                <a:cs typeface="+mn-ea"/>
                <a:sym typeface="+mn-lt"/>
              </a:rPr>
              <a:t>：返回 </a:t>
            </a:r>
            <a:r>
              <a:rPr lang="en-US" altLang="zh-CN" sz="1800" b="1">
                <a:cs typeface="+mn-ea"/>
                <a:sym typeface="+mn-lt"/>
              </a:rPr>
              <a:t>-</a:t>
            </a:r>
            <a:r>
              <a:rPr lang="en-US" altLang="zh-CN" sz="1800" b="1" dirty="0">
                <a:cs typeface="+mn-ea"/>
                <a:sym typeface="+mn-lt"/>
              </a:rPr>
              <a:t>1</a:t>
            </a:r>
          </a:p>
          <a:p>
            <a:pPr lvl="2"/>
            <a:r>
              <a:rPr lang="en-US" altLang="zh-CN" sz="1800" b="1">
                <a:cs typeface="+mn-ea"/>
                <a:sym typeface="+mn-lt"/>
              </a:rPr>
              <a:t>1 &gt; 2</a:t>
            </a:r>
            <a:r>
              <a:rPr lang="zh-CN" altLang="en-US" sz="1800" b="1" dirty="0">
                <a:cs typeface="+mn-ea"/>
                <a:sym typeface="+mn-lt"/>
              </a:rPr>
              <a:t>：返回</a:t>
            </a:r>
            <a:r>
              <a:rPr lang="en-US" altLang="zh-CN" sz="1800" b="1" dirty="0">
                <a:cs typeface="+mn-ea"/>
                <a:sym typeface="+mn-lt"/>
              </a:rPr>
              <a:t>1</a:t>
            </a:r>
          </a:p>
          <a:p>
            <a:pPr lvl="1"/>
            <a:r>
              <a:rPr lang="en-US" altLang="zh-CN" sz="2000" b="1">
                <a:cs typeface="+mn-ea"/>
                <a:sym typeface="+mn-lt"/>
              </a:rPr>
              <a:t>strcpy(char str1[], char str2</a:t>
            </a:r>
            <a:r>
              <a:rPr lang="en-US" altLang="zh-CN" sz="2000" b="1" dirty="0">
                <a:cs typeface="+mn-ea"/>
                <a:sym typeface="+mn-lt"/>
              </a:rPr>
              <a:t>[])</a:t>
            </a:r>
            <a:r>
              <a:rPr lang="zh-CN" altLang="en-US" sz="2000" b="1" dirty="0">
                <a:cs typeface="+mn-ea"/>
                <a:sym typeface="+mn-lt"/>
              </a:rPr>
              <a:t>，</a:t>
            </a:r>
            <a:r>
              <a:rPr lang="zh-CN" altLang="en-US" sz="2000" b="1">
                <a:cs typeface="+mn-ea"/>
                <a:sym typeface="+mn-lt"/>
              </a:rPr>
              <a:t>返回</a:t>
            </a:r>
            <a:r>
              <a:rPr lang="en-US" altLang="zh-CN" sz="2000" b="1">
                <a:cs typeface="+mn-ea"/>
                <a:sym typeface="+mn-lt"/>
              </a:rPr>
              <a:t>char str1</a:t>
            </a:r>
            <a:r>
              <a:rPr lang="en-US" altLang="zh-CN" sz="2000" b="1" dirty="0">
                <a:cs typeface="+mn-ea"/>
                <a:sym typeface="+mn-lt"/>
              </a:rPr>
              <a:t>[]</a:t>
            </a:r>
            <a:endParaRPr lang="en-US" altLang="zh-CN" sz="1800" b="1" dirty="0">
              <a:cs typeface="+mn-ea"/>
              <a:sym typeface="+mn-lt"/>
            </a:endParaRPr>
          </a:p>
          <a:p>
            <a:pPr marL="457200" lvl="1" indent="0">
              <a:buFont typeface="Wingdings 3" charset="2"/>
              <a:buNone/>
            </a:pPr>
            <a:endParaRPr lang="en-US" altLang="zh-CN" sz="1800" b="1" dirty="0">
              <a:cs typeface="+mn-ea"/>
              <a:sym typeface="+mn-lt"/>
            </a:endParaRPr>
          </a:p>
          <a:p>
            <a:pPr lvl="1"/>
            <a:endParaRPr lang="en-US" altLang="zh-CN" sz="2000" b="1" dirty="0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835610956"/>
      </p:ext>
    </p:extLst>
  </p:cSld>
  <p:clrMapOvr>
    <a:masterClrMapping/>
  </p:clrMapOvr>
  <p:transition spd="slow">
    <p:push dir="u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476520" y="96475"/>
            <a:ext cx="387045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数组、字符串和指针</a:t>
            </a:r>
          </a:p>
        </p:txBody>
      </p:sp>
      <p:sp>
        <p:nvSpPr>
          <p:cNvPr id="12" name="矩形 11"/>
          <p:cNvSpPr/>
          <p:nvPr/>
        </p:nvSpPr>
        <p:spPr>
          <a:xfrm>
            <a:off x="476520" y="430384"/>
            <a:ext cx="387045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00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Always believe that something wonderful is about to happen</a:t>
            </a:r>
            <a:r>
              <a:rPr lang="en-US" altLang="zh-CN" sz="10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.</a:t>
            </a:r>
            <a:endParaRPr lang="zh-CN" altLang="en-US" sz="1000" dirty="0">
              <a:solidFill>
                <a:schemeClr val="tx1">
                  <a:lumMod val="50000"/>
                  <a:lumOff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9" name="AutoShape 3" descr="正确"/>
          <p:cNvSpPr>
            <a:spLocks noChangeAspect="1" noChangeArrowheads="1"/>
          </p:cNvSpPr>
          <p:nvPr/>
        </p:nvSpPr>
        <p:spPr bwMode="auto">
          <a:xfrm>
            <a:off x="1388080" y="204383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476520" y="1164403"/>
            <a:ext cx="8280920" cy="30565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23805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+mn-lt"/>
                <a:cs typeface="+mn-ea"/>
                <a:sym typeface="+mn-lt"/>
              </a:rPr>
              <a:t>设x和y均为int型变量，则语句序列"x+=y;y=x-y;x-=y;"的功能是（）</a:t>
            </a:r>
            <a:endParaRPr kumimoji="0" lang="zh-CN" altLang="zh-CN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  <a:cs typeface="+mn-ea"/>
              <a:sym typeface="+mn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2000" b="0" i="0" u="none" strike="noStrike" cap="none" normalizeH="0" baseline="0" dirty="0">
              <a:ln>
                <a:noFill/>
              </a:ln>
              <a:solidFill>
                <a:srgbClr val="333333"/>
              </a:solidFill>
              <a:effectLst/>
              <a:latin typeface="+mn-lt"/>
              <a:cs typeface="+mn-ea"/>
              <a:sym typeface="+mn-lt"/>
            </a:endParaRPr>
          </a:p>
          <a:p>
            <a:pPr marL="228600" marR="0" lvl="0" indent="-2286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lphaUcPeriod"/>
              <a:tabLst/>
            </a:pP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+mn-lt"/>
                <a:cs typeface="+mn-ea"/>
                <a:sym typeface="+mn-lt"/>
              </a:rPr>
              <a:t>把x,y从大到小排序</a:t>
            </a:r>
            <a:endParaRPr kumimoji="0" lang="en-US" altLang="zh-CN" sz="2000" b="0" i="0" u="none" strike="noStrike" cap="none" normalizeH="0" baseline="0" dirty="0">
              <a:ln>
                <a:noFill/>
              </a:ln>
              <a:solidFill>
                <a:srgbClr val="333333"/>
              </a:solidFill>
              <a:effectLst/>
              <a:latin typeface="+mn-lt"/>
              <a:cs typeface="+mn-ea"/>
              <a:sym typeface="+mn-lt"/>
            </a:endParaRPr>
          </a:p>
          <a:p>
            <a:pPr marL="228600" marR="0" lvl="0" indent="-2286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lphaUcPeriod"/>
              <a:tabLst/>
            </a:pPr>
            <a:endParaRPr kumimoji="0" lang="zh-CN" altLang="zh-CN" sz="2000" b="0" i="0" u="none" strike="noStrike" cap="none" normalizeH="0" baseline="0" dirty="0">
              <a:ln>
                <a:noFill/>
              </a:ln>
              <a:solidFill>
                <a:srgbClr val="333333"/>
              </a:solidFill>
              <a:effectLst/>
              <a:latin typeface="+mn-lt"/>
              <a:cs typeface="+mn-ea"/>
              <a:sym typeface="+mn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2000" dirty="0">
                <a:solidFill>
                  <a:srgbClr val="333333"/>
                </a:solidFill>
                <a:latin typeface="+mn-lt"/>
                <a:cs typeface="+mn-ea"/>
                <a:sym typeface="+mn-lt"/>
              </a:rPr>
              <a:t>B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+mn-lt"/>
                <a:cs typeface="+mn-ea"/>
                <a:sym typeface="+mn-lt"/>
              </a:rPr>
              <a:t>. 无确定结果</a:t>
            </a:r>
            <a:endParaRPr kumimoji="0" lang="en-US" altLang="zh-CN" sz="2000" b="0" i="0" u="none" strike="noStrike" cap="none" normalizeH="0" baseline="0" dirty="0">
              <a:ln>
                <a:noFill/>
              </a:ln>
              <a:solidFill>
                <a:srgbClr val="333333"/>
              </a:solidFill>
              <a:effectLst/>
              <a:latin typeface="+mn-lt"/>
              <a:cs typeface="+mn-ea"/>
              <a:sym typeface="+mn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2000" b="0" i="0" u="none" strike="noStrike" cap="none" normalizeH="0" baseline="0" dirty="0">
              <a:ln>
                <a:noFill/>
              </a:ln>
              <a:solidFill>
                <a:srgbClr val="333333"/>
              </a:solidFill>
              <a:effectLst/>
              <a:latin typeface="+mn-lt"/>
              <a:cs typeface="+mn-ea"/>
              <a:sym typeface="+mn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2000" dirty="0">
                <a:solidFill>
                  <a:srgbClr val="333333"/>
                </a:solidFill>
                <a:latin typeface="+mn-lt"/>
                <a:cs typeface="+mn-ea"/>
                <a:sym typeface="+mn-lt"/>
              </a:rPr>
              <a:t>C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+mn-lt"/>
                <a:cs typeface="+mn-ea"/>
                <a:sym typeface="+mn-lt"/>
              </a:rPr>
              <a:t>. 把x,y从小到大排序</a:t>
            </a:r>
            <a:endParaRPr kumimoji="0" lang="en-US" altLang="zh-CN" sz="2000" b="0" i="0" u="none" strike="noStrike" cap="none" normalizeH="0" baseline="0" dirty="0">
              <a:ln>
                <a:noFill/>
              </a:ln>
              <a:solidFill>
                <a:srgbClr val="333333"/>
              </a:solidFill>
              <a:effectLst/>
              <a:latin typeface="+mn-lt"/>
              <a:cs typeface="+mn-ea"/>
              <a:sym typeface="+mn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zh-CN" sz="2000" b="0" i="0" u="none" strike="noStrike" cap="none" normalizeH="0" baseline="0" dirty="0">
              <a:ln>
                <a:noFill/>
              </a:ln>
              <a:solidFill>
                <a:srgbClr val="333333"/>
              </a:solidFill>
              <a:effectLst/>
              <a:latin typeface="+mn-lt"/>
              <a:cs typeface="+mn-ea"/>
              <a:sym typeface="+mn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0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+mn-lt"/>
                <a:cs typeface="+mn-ea"/>
                <a:sym typeface="+mn-lt"/>
              </a:rPr>
              <a:t>D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+mn-lt"/>
                <a:cs typeface="+mn-ea"/>
                <a:sym typeface="+mn-lt"/>
              </a:rPr>
              <a:t>. 交换x、y中的值</a:t>
            </a:r>
            <a:endParaRPr kumimoji="0" lang="zh-CN" altLang="zh-CN" sz="4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29238094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9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5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1A7BAE"/>
                                      </p:to>
                                    </p:animClr>
                                    <p:animClr clrSpc="rgb" dir="cw">
                                      <p:cBhvr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1A7BAE"/>
                                      </p:to>
                                    </p:animClr>
                                    <p:set>
                                      <p:cBhvr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" dur="5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476520" y="96475"/>
            <a:ext cx="387045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数组、字符串和指针</a:t>
            </a:r>
          </a:p>
        </p:txBody>
      </p:sp>
      <p:sp>
        <p:nvSpPr>
          <p:cNvPr id="12" name="矩形 11"/>
          <p:cNvSpPr/>
          <p:nvPr/>
        </p:nvSpPr>
        <p:spPr>
          <a:xfrm>
            <a:off x="476520" y="430384"/>
            <a:ext cx="387045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00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Always believe that something wonderful is about to happen</a:t>
            </a:r>
            <a:r>
              <a:rPr lang="en-US" altLang="zh-CN" sz="10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.</a:t>
            </a:r>
            <a:endParaRPr lang="zh-CN" altLang="en-US" sz="1000" dirty="0">
              <a:solidFill>
                <a:schemeClr val="tx1">
                  <a:lumMod val="50000"/>
                  <a:lumOff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9" name="AutoShape 3" descr="正确"/>
          <p:cNvSpPr>
            <a:spLocks noChangeAspect="1" noChangeArrowheads="1"/>
          </p:cNvSpPr>
          <p:nvPr/>
        </p:nvSpPr>
        <p:spPr bwMode="auto">
          <a:xfrm>
            <a:off x="1388080" y="204383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476520" y="1010514"/>
            <a:ext cx="8101898" cy="27795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23805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+mn-lt"/>
                <a:cs typeface="+mn-ea"/>
                <a:sym typeface="+mn-lt"/>
              </a:rPr>
              <a:t>若x是int型变量，pb是基类型为int型的指针变量，则正确的赋值表达式为（）</a:t>
            </a:r>
            <a:endParaRPr kumimoji="0" lang="en-US" altLang="zh-CN" b="0" i="0" u="none" strike="noStrike" cap="none" normalizeH="0" baseline="0" dirty="0">
              <a:ln>
                <a:noFill/>
              </a:ln>
              <a:solidFill>
                <a:srgbClr val="333333"/>
              </a:solidFill>
              <a:effectLst/>
              <a:latin typeface="+mn-lt"/>
              <a:cs typeface="+mn-ea"/>
              <a:sym typeface="+mn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b="0" i="0" u="none" strike="noStrike" cap="none" normalizeH="0" baseline="0" dirty="0">
              <a:ln>
                <a:noFill/>
              </a:ln>
              <a:solidFill>
                <a:srgbClr val="333333"/>
              </a:solidFill>
              <a:effectLst/>
              <a:latin typeface="+mn-lt"/>
              <a:cs typeface="+mn-ea"/>
              <a:sym typeface="+mn-lt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zh-CN" b="0" i="0" u="none" strike="noStrike" cap="none" normalizeH="0" baseline="0">
                <a:ln>
                  <a:noFill/>
                </a:ln>
                <a:solidFill>
                  <a:srgbClr val="333333"/>
                </a:solidFill>
                <a:effectLst/>
                <a:latin typeface="+mn-lt"/>
                <a:cs typeface="+mn-ea"/>
                <a:sym typeface="+mn-lt"/>
              </a:rPr>
              <a:t>A.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333333"/>
                </a:solidFill>
                <a:effectLst/>
                <a:latin typeface="+mn-lt"/>
                <a:cs typeface="+mn-ea"/>
                <a:sym typeface="+mn-lt"/>
              </a:rPr>
              <a:t>pb = &amp;x;   </a:t>
            </a:r>
            <a:endParaRPr kumimoji="0" lang="en-US" altLang="zh-CN" b="0" i="0" u="none" strike="noStrike" cap="none" normalizeH="0" baseline="0" dirty="0">
              <a:ln>
                <a:noFill/>
              </a:ln>
              <a:solidFill>
                <a:srgbClr val="333333"/>
              </a:solidFill>
              <a:effectLst/>
              <a:latin typeface="+mn-lt"/>
              <a:cs typeface="+mn-ea"/>
              <a:sym typeface="+mn-lt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lphaLcPeriod"/>
              <a:tabLst/>
            </a:pPr>
            <a:endParaRPr kumimoji="0" lang="zh-CN" altLang="zh-CN" b="0" i="0" u="none" strike="noStrike" cap="none" normalizeH="0" baseline="0" dirty="0">
              <a:ln>
                <a:noFill/>
              </a:ln>
              <a:solidFill>
                <a:srgbClr val="333333"/>
              </a:solidFill>
              <a:effectLst/>
              <a:latin typeface="+mn-lt"/>
              <a:cs typeface="+mn-ea"/>
              <a:sym typeface="+mn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>
                <a:solidFill>
                  <a:srgbClr val="333333"/>
                </a:solidFill>
                <a:latin typeface="+mn-lt"/>
                <a:cs typeface="+mn-ea"/>
                <a:sym typeface="+mn-lt"/>
              </a:rPr>
              <a:t>B.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333333"/>
                </a:solidFill>
                <a:effectLst/>
                <a:latin typeface="+mn-lt"/>
                <a:cs typeface="+mn-ea"/>
                <a:sym typeface="+mn-lt"/>
              </a:rPr>
              <a:t>pb = x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+mn-lt"/>
                <a:cs typeface="+mn-ea"/>
                <a:sym typeface="+mn-lt"/>
              </a:rPr>
              <a:t>;</a:t>
            </a:r>
            <a:endParaRPr kumimoji="0" lang="en-US" altLang="zh-CN" b="0" i="0" u="none" strike="noStrike" cap="none" normalizeH="0" baseline="0" dirty="0">
              <a:ln>
                <a:noFill/>
              </a:ln>
              <a:solidFill>
                <a:srgbClr val="333333"/>
              </a:solidFill>
              <a:effectLst/>
              <a:latin typeface="+mn-lt"/>
              <a:cs typeface="+mn-ea"/>
              <a:sym typeface="+mn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b="0" i="0" u="none" strike="noStrike" cap="none" normalizeH="0" baseline="0" dirty="0">
              <a:ln>
                <a:noFill/>
              </a:ln>
              <a:solidFill>
                <a:srgbClr val="333333"/>
              </a:solidFill>
              <a:effectLst/>
              <a:latin typeface="+mn-lt"/>
              <a:cs typeface="+mn-ea"/>
              <a:sym typeface="+mn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>
                <a:solidFill>
                  <a:srgbClr val="333333"/>
                </a:solidFill>
                <a:latin typeface="+mn-lt"/>
                <a:cs typeface="+mn-ea"/>
                <a:sym typeface="+mn-lt"/>
              </a:rPr>
              <a:t>C.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333333"/>
                </a:solidFill>
                <a:effectLst/>
                <a:latin typeface="+mn-lt"/>
                <a:cs typeface="+mn-ea"/>
                <a:sym typeface="+mn-lt"/>
              </a:rPr>
              <a:t>*pb = &amp;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+mn-lt"/>
                <a:cs typeface="+mn-ea"/>
                <a:sym typeface="+mn-lt"/>
              </a:rPr>
              <a:t>x;</a:t>
            </a:r>
            <a:endParaRPr kumimoji="0" lang="en-US" altLang="zh-CN" b="0" i="0" u="none" strike="noStrike" cap="none" normalizeH="0" baseline="0" dirty="0">
              <a:ln>
                <a:noFill/>
              </a:ln>
              <a:solidFill>
                <a:srgbClr val="333333"/>
              </a:solidFill>
              <a:effectLst/>
              <a:latin typeface="+mn-lt"/>
              <a:cs typeface="+mn-ea"/>
              <a:sym typeface="+mn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b="0" i="0" u="none" strike="noStrike" cap="none" normalizeH="0" baseline="0" dirty="0">
              <a:ln>
                <a:noFill/>
              </a:ln>
              <a:solidFill>
                <a:srgbClr val="333333"/>
              </a:solidFill>
              <a:effectLst/>
              <a:latin typeface="+mn-lt"/>
              <a:cs typeface="+mn-ea"/>
              <a:sym typeface="+mn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>
                <a:solidFill>
                  <a:srgbClr val="333333"/>
                </a:solidFill>
                <a:latin typeface="+mn-lt"/>
                <a:cs typeface="+mn-ea"/>
                <a:sym typeface="+mn-lt"/>
              </a:rPr>
              <a:t>D.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333333"/>
                </a:solidFill>
                <a:effectLst/>
                <a:latin typeface="+mn-lt"/>
                <a:cs typeface="+mn-ea"/>
                <a:sym typeface="+mn-lt"/>
              </a:rPr>
              <a:t>*pb = *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+mn-lt"/>
                <a:cs typeface="+mn-ea"/>
                <a:sym typeface="+mn-lt"/>
              </a:rPr>
              <a:t>x;</a:t>
            </a:r>
            <a:endParaRPr kumimoji="0" lang="zh-CN" altLang="zh-CN" sz="4000" b="0" i="0" u="none" strike="noStrike" cap="none" normalizeH="0" baseline="0" dirty="0">
              <a:ln>
                <a:noFill/>
              </a:ln>
              <a:solidFill>
                <a:srgbClr val="333333"/>
              </a:solidFill>
              <a:effectLst/>
              <a:latin typeface="+mn-lt"/>
              <a:cs typeface="+mn-ea"/>
              <a:sym typeface="+mn-lt"/>
            </a:endParaRPr>
          </a:p>
        </p:txBody>
      </p:sp>
      <p:sp>
        <p:nvSpPr>
          <p:cNvPr id="8" name="AutoShape 3" descr="正确"/>
          <p:cNvSpPr>
            <a:spLocks noChangeAspect="1" noChangeArrowheads="1"/>
          </p:cNvSpPr>
          <p:nvPr/>
        </p:nvSpPr>
        <p:spPr bwMode="auto">
          <a:xfrm>
            <a:off x="1469920" y="187238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63560100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9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1A7BAE"/>
                                      </p:to>
                                    </p:animClr>
                                    <p:animClr clrSpc="rgb" dir="cw">
                                      <p:cBhvr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1A7BAE"/>
                                      </p:to>
                                    </p:animClr>
                                    <p:set>
                                      <p:cBhvr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476520" y="96475"/>
            <a:ext cx="387045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数组、字符串和指针</a:t>
            </a:r>
          </a:p>
        </p:txBody>
      </p:sp>
      <p:sp>
        <p:nvSpPr>
          <p:cNvPr id="12" name="矩形 11"/>
          <p:cNvSpPr/>
          <p:nvPr/>
        </p:nvSpPr>
        <p:spPr>
          <a:xfrm>
            <a:off x="476520" y="430384"/>
            <a:ext cx="387045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00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Always believe that something wonderful is about to happen</a:t>
            </a:r>
            <a:r>
              <a:rPr lang="en-US" altLang="zh-CN" sz="10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.</a:t>
            </a:r>
            <a:endParaRPr lang="zh-CN" altLang="en-US" sz="1000" dirty="0">
              <a:solidFill>
                <a:schemeClr val="tx1">
                  <a:lumMod val="50000"/>
                  <a:lumOff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9" name="AutoShape 3" descr="正确"/>
          <p:cNvSpPr>
            <a:spLocks noChangeAspect="1" noChangeArrowheads="1"/>
          </p:cNvSpPr>
          <p:nvPr/>
        </p:nvSpPr>
        <p:spPr bwMode="auto">
          <a:xfrm>
            <a:off x="1388080" y="204383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8" name="AutoShape 4" descr="不正确"/>
          <p:cNvSpPr>
            <a:spLocks noChangeAspect="1" noChangeArrowheads="1"/>
          </p:cNvSpPr>
          <p:nvPr/>
        </p:nvSpPr>
        <p:spPr bwMode="auto">
          <a:xfrm>
            <a:off x="2879220" y="297513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471535" y="1010514"/>
            <a:ext cx="3510390" cy="27795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23805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+mn-lt"/>
                <a:cs typeface="+mn-ea"/>
                <a:sym typeface="+mn-lt"/>
              </a:rPr>
              <a:t>以下正确的是（）</a:t>
            </a:r>
            <a:endParaRPr kumimoji="0" lang="zh-CN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  <a:cs typeface="+mn-ea"/>
              <a:sym typeface="+mn-lt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zh-CN" dirty="0">
              <a:solidFill>
                <a:srgbClr val="333333"/>
              </a:solidFill>
              <a:latin typeface="+mn-lt"/>
              <a:cs typeface="+mn-ea"/>
              <a:sym typeface="+mn-lt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zh-CN" b="0" i="0" u="none" strike="noStrike" cap="none" normalizeH="0" baseline="0">
                <a:ln>
                  <a:noFill/>
                </a:ln>
                <a:solidFill>
                  <a:srgbClr val="333333"/>
                </a:solidFill>
                <a:effectLst/>
                <a:latin typeface="+mn-lt"/>
                <a:cs typeface="+mn-ea"/>
                <a:sym typeface="+mn-lt"/>
              </a:rPr>
              <a:t>A.</a:t>
            </a:r>
            <a:r>
              <a:rPr kumimoji="0" lang="en-US" altLang="zh-CN" b="0" i="0" u="none" strike="noStrike" cap="none" normalizeH="0">
                <a:ln>
                  <a:noFill/>
                </a:ln>
                <a:solidFill>
                  <a:srgbClr val="333333"/>
                </a:solidFill>
                <a:effectLst/>
                <a:latin typeface="+mn-lt"/>
                <a:cs typeface="+mn-ea"/>
                <a:sym typeface="+mn-lt"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333333"/>
                </a:solidFill>
                <a:effectLst/>
                <a:latin typeface="+mn-lt"/>
                <a:cs typeface="+mn-ea"/>
                <a:sym typeface="+mn-lt"/>
              </a:rPr>
              <a:t>a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+mn-lt"/>
                <a:cs typeface="+mn-ea"/>
                <a:sym typeface="+mn-lt"/>
              </a:rPr>
              <a:t>[i]等价于a+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+mn-lt"/>
                <a:cs typeface="+mn-ea"/>
                <a:sym typeface="+mn-lt"/>
              </a:rPr>
              <a:t>I</a:t>
            </a:r>
          </a:p>
          <a:p>
            <a:pPr marL="514350" marR="0" lvl="0" indent="-5143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lphaLcPeriod"/>
              <a:tabLst/>
            </a:pPr>
            <a:endParaRPr kumimoji="0" lang="zh-CN" altLang="zh-CN" b="0" i="0" u="none" strike="noStrike" cap="none" normalizeH="0" baseline="0" dirty="0">
              <a:ln>
                <a:noFill/>
              </a:ln>
              <a:solidFill>
                <a:srgbClr val="333333"/>
              </a:solidFill>
              <a:effectLst/>
              <a:latin typeface="+mn-lt"/>
              <a:cs typeface="+mn-ea"/>
              <a:sym typeface="+mn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>
                <a:solidFill>
                  <a:srgbClr val="333333"/>
                </a:solidFill>
                <a:latin typeface="+mn-lt"/>
                <a:cs typeface="+mn-ea"/>
                <a:sym typeface="+mn-lt"/>
              </a:rPr>
              <a:t>B.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333333"/>
                </a:solidFill>
                <a:effectLst/>
                <a:latin typeface="+mn-lt"/>
                <a:cs typeface="+mn-ea"/>
                <a:sym typeface="+mn-lt"/>
              </a:rPr>
              <a:t>a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+mn-lt"/>
                <a:cs typeface="+mn-ea"/>
                <a:sym typeface="+mn-lt"/>
              </a:rPr>
              <a:t>[i]等价于*(a+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333333"/>
                </a:solidFill>
                <a:effectLst/>
                <a:latin typeface="+mn-lt"/>
                <a:cs typeface="+mn-ea"/>
                <a:sym typeface="+mn-lt"/>
              </a:rPr>
              <a:t>i)  </a:t>
            </a:r>
            <a:endParaRPr kumimoji="0" lang="en-US" altLang="zh-CN" b="0" i="0" u="none" strike="noStrike" cap="none" normalizeH="0" baseline="0" dirty="0">
              <a:ln>
                <a:noFill/>
              </a:ln>
              <a:solidFill>
                <a:srgbClr val="333333"/>
              </a:solidFill>
              <a:effectLst/>
              <a:latin typeface="+mn-lt"/>
              <a:cs typeface="+mn-ea"/>
              <a:sym typeface="+mn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333333"/>
                </a:solidFill>
                <a:effectLst/>
                <a:latin typeface="+mn-lt"/>
                <a:cs typeface="+mn-ea"/>
                <a:sym typeface="+mn-lt"/>
              </a:rPr>
              <a:t> </a:t>
            </a:r>
            <a:endParaRPr kumimoji="0" lang="zh-CN" altLang="zh-CN" b="0" i="0" u="none" strike="noStrike" cap="none" normalizeH="0" baseline="0" dirty="0">
              <a:ln>
                <a:noFill/>
              </a:ln>
              <a:solidFill>
                <a:srgbClr val="333333"/>
              </a:solidFill>
              <a:effectLst/>
              <a:latin typeface="+mn-lt"/>
              <a:cs typeface="+mn-ea"/>
              <a:sym typeface="+mn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>
                <a:solidFill>
                  <a:srgbClr val="333333"/>
                </a:solidFill>
                <a:latin typeface="+mn-lt"/>
                <a:cs typeface="+mn-ea"/>
                <a:sym typeface="+mn-lt"/>
              </a:rPr>
              <a:t>C.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333333"/>
                </a:solidFill>
                <a:effectLst/>
                <a:latin typeface="+mn-lt"/>
                <a:cs typeface="+mn-ea"/>
                <a:sym typeface="+mn-lt"/>
              </a:rPr>
              <a:t>&amp;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+mn-lt"/>
                <a:cs typeface="+mn-ea"/>
                <a:sym typeface="+mn-lt"/>
              </a:rPr>
              <a:t>a[i]等价于*(a+i)</a:t>
            </a:r>
            <a:endParaRPr kumimoji="0" lang="en-US" altLang="zh-CN" b="0" i="0" u="none" strike="noStrike" cap="none" normalizeH="0" baseline="0" dirty="0">
              <a:ln>
                <a:noFill/>
              </a:ln>
              <a:solidFill>
                <a:srgbClr val="333333"/>
              </a:solidFill>
              <a:effectLst/>
              <a:latin typeface="+mn-lt"/>
              <a:cs typeface="+mn-ea"/>
              <a:sym typeface="+mn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b="0" i="0" u="none" strike="noStrike" cap="none" normalizeH="0" baseline="0" dirty="0">
              <a:ln>
                <a:noFill/>
              </a:ln>
              <a:solidFill>
                <a:srgbClr val="333333"/>
              </a:solidFill>
              <a:effectLst/>
              <a:latin typeface="+mn-lt"/>
              <a:cs typeface="+mn-ea"/>
              <a:sym typeface="+mn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>
                <a:solidFill>
                  <a:srgbClr val="333333"/>
                </a:solidFill>
                <a:latin typeface="+mn-lt"/>
                <a:cs typeface="+mn-ea"/>
                <a:sym typeface="+mn-lt"/>
              </a:rPr>
              <a:t>D.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333333"/>
                </a:solidFill>
                <a:effectLst/>
                <a:latin typeface="+mn-lt"/>
                <a:cs typeface="+mn-ea"/>
                <a:sym typeface="+mn-lt"/>
              </a:rPr>
              <a:t> a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+mn-lt"/>
                <a:cs typeface="+mn-ea"/>
                <a:sym typeface="+mn-lt"/>
              </a:rPr>
              <a:t>[i]等价于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333333"/>
                </a:solidFill>
                <a:effectLst/>
                <a:latin typeface="+mn-lt"/>
                <a:cs typeface="+mn-ea"/>
                <a:sym typeface="+mn-lt"/>
              </a:rPr>
              <a:t>*a + i</a:t>
            </a:r>
            <a:endParaRPr kumimoji="0" lang="zh-CN" altLang="zh-CN" b="0" i="0" u="none" strike="noStrike" cap="none" normalizeH="0" baseline="0" dirty="0">
              <a:ln>
                <a:noFill/>
              </a:ln>
              <a:solidFill>
                <a:srgbClr val="333333"/>
              </a:solidFill>
              <a:effectLst/>
              <a:latin typeface="+mn-lt"/>
              <a:cs typeface="+mn-ea"/>
              <a:sym typeface="+mn-lt"/>
            </a:endParaRPr>
          </a:p>
        </p:txBody>
      </p:sp>
      <p:sp>
        <p:nvSpPr>
          <p:cNvPr id="11" name="AutoShape 4" descr="正确"/>
          <p:cNvSpPr>
            <a:spLocks noChangeAspect="1" noChangeArrowheads="1"/>
          </p:cNvSpPr>
          <p:nvPr/>
        </p:nvSpPr>
        <p:spPr bwMode="auto">
          <a:xfrm>
            <a:off x="1995460" y="257008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16719083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9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1A7BAE"/>
                                      </p:to>
                                    </p:animClr>
                                    <p:animClr clrSpc="rgb" dir="cw">
                                      <p:cBhvr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1A7BAE"/>
                                      </p:to>
                                    </p:animClr>
                                    <p:set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476520" y="96475"/>
            <a:ext cx="387045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函数</a:t>
            </a:r>
          </a:p>
        </p:txBody>
      </p:sp>
      <p:sp>
        <p:nvSpPr>
          <p:cNvPr id="12" name="矩形 11"/>
          <p:cNvSpPr/>
          <p:nvPr/>
        </p:nvSpPr>
        <p:spPr>
          <a:xfrm>
            <a:off x="476520" y="430384"/>
            <a:ext cx="387045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00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Always believe that something wonderful is about to happen</a:t>
            </a:r>
            <a:r>
              <a:rPr lang="en-US" altLang="zh-CN" sz="10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.</a:t>
            </a:r>
            <a:endParaRPr lang="zh-CN" altLang="en-US" sz="1000" dirty="0">
              <a:solidFill>
                <a:schemeClr val="tx1">
                  <a:lumMod val="50000"/>
                  <a:lumOff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9" name="AutoShape 3" descr="正确"/>
          <p:cNvSpPr>
            <a:spLocks noChangeAspect="1" noChangeArrowheads="1"/>
          </p:cNvSpPr>
          <p:nvPr/>
        </p:nvSpPr>
        <p:spPr bwMode="auto">
          <a:xfrm>
            <a:off x="1388080" y="204383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8" name="AutoShape 4" descr="不正确"/>
          <p:cNvSpPr>
            <a:spLocks noChangeAspect="1" noChangeArrowheads="1"/>
          </p:cNvSpPr>
          <p:nvPr/>
        </p:nvSpPr>
        <p:spPr bwMode="auto">
          <a:xfrm>
            <a:off x="2879220" y="297513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11" name="AutoShape 4" descr="正确"/>
          <p:cNvSpPr>
            <a:spLocks noChangeAspect="1" noChangeArrowheads="1"/>
          </p:cNvSpPr>
          <p:nvPr/>
        </p:nvSpPr>
        <p:spPr bwMode="auto">
          <a:xfrm>
            <a:off x="1995460" y="257008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476520" y="1025649"/>
            <a:ext cx="4897495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>
                <a:cs typeface="+mn-ea"/>
                <a:sym typeface="+mn-lt"/>
              </a:rPr>
              <a:t>C</a:t>
            </a:r>
            <a:r>
              <a:rPr lang="zh-CN" altLang="en-US" dirty="0">
                <a:cs typeface="+mn-ea"/>
                <a:sym typeface="+mn-lt"/>
              </a:rPr>
              <a:t>语言的基本单元</a:t>
            </a:r>
            <a:endParaRPr lang="en-US" altLang="zh-CN" dirty="0">
              <a:cs typeface="+mn-ea"/>
              <a:sym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>
                <a:cs typeface="+mn-ea"/>
                <a:sym typeface="+mn-lt"/>
              </a:rPr>
              <a:t>先声明，再定义</a:t>
            </a:r>
            <a:endParaRPr lang="en-US" altLang="zh-CN" dirty="0">
              <a:cs typeface="+mn-ea"/>
              <a:sym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>
                <a:cs typeface="+mn-ea"/>
                <a:sym typeface="+mn-lt"/>
              </a:rPr>
              <a:t>返回值可有可无</a:t>
            </a:r>
            <a:endParaRPr lang="en-US" altLang="zh-CN" dirty="0">
              <a:cs typeface="+mn-ea"/>
              <a:sym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>
                <a:cs typeface="+mn-ea"/>
                <a:sym typeface="+mn-lt"/>
              </a:rPr>
              <a:t>不可以嵌套定义，但可以嵌套调用</a:t>
            </a:r>
            <a:r>
              <a:rPr lang="en-US" altLang="zh-CN" dirty="0">
                <a:cs typeface="+mn-ea"/>
                <a:sym typeface="+mn-lt"/>
              </a:rPr>
              <a:t>——</a:t>
            </a:r>
            <a:r>
              <a:rPr lang="zh-CN" altLang="en-US" dirty="0">
                <a:cs typeface="+mn-ea"/>
                <a:sym typeface="+mn-lt"/>
              </a:rPr>
              <a:t>递归</a:t>
            </a:r>
            <a:endParaRPr lang="en-US" altLang="zh-CN" dirty="0">
              <a:cs typeface="+mn-ea"/>
              <a:sym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>
                <a:cs typeface="+mn-ea"/>
                <a:sym typeface="+mn-lt"/>
              </a:rPr>
              <a:t>形参和实参</a:t>
            </a:r>
            <a:r>
              <a:rPr lang="en-US" altLang="zh-CN" dirty="0">
                <a:cs typeface="+mn-ea"/>
                <a:sym typeface="+mn-lt"/>
              </a:rPr>
              <a:t>——</a:t>
            </a:r>
            <a:r>
              <a:rPr lang="zh-CN" altLang="en-US" dirty="0">
                <a:cs typeface="+mn-ea"/>
                <a:sym typeface="+mn-lt"/>
              </a:rPr>
              <a:t>模拟和实际</a:t>
            </a:r>
            <a:endParaRPr lang="en-US" altLang="zh-CN" dirty="0">
              <a:cs typeface="+mn-ea"/>
              <a:sym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>
                <a:cs typeface="+mn-ea"/>
                <a:sym typeface="+mn-lt"/>
              </a:rPr>
              <a:t>关于参数</a:t>
            </a:r>
            <a:r>
              <a:rPr lang="en-US" altLang="zh-CN" dirty="0">
                <a:cs typeface="+mn-ea"/>
                <a:sym typeface="+mn-lt"/>
              </a:rPr>
              <a:t>——</a:t>
            </a:r>
            <a:r>
              <a:rPr lang="zh-CN" altLang="en-US" dirty="0">
                <a:cs typeface="+mn-ea"/>
                <a:sym typeface="+mn-lt"/>
              </a:rPr>
              <a:t>声明时可以只声明类型</a:t>
            </a:r>
          </a:p>
        </p:txBody>
      </p:sp>
      <p:pic>
        <p:nvPicPr>
          <p:cNvPr id="14" name="image7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926595" y="2779975"/>
            <a:ext cx="3285715" cy="1942858"/>
          </a:xfrm>
          <a:prstGeom prst="rect">
            <a:avLst/>
          </a:prstGeom>
          <a:ln w="12700">
            <a:miter lim="400000"/>
          </a:ln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2030" y="2446295"/>
            <a:ext cx="1809524" cy="276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016680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 advAuto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476520" y="96475"/>
            <a:ext cx="387045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函数</a:t>
            </a:r>
          </a:p>
        </p:txBody>
      </p:sp>
      <p:sp>
        <p:nvSpPr>
          <p:cNvPr id="12" name="矩形 11"/>
          <p:cNvSpPr/>
          <p:nvPr/>
        </p:nvSpPr>
        <p:spPr>
          <a:xfrm>
            <a:off x="476520" y="430384"/>
            <a:ext cx="387045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00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Always believe that something wonderful is about to happen</a:t>
            </a:r>
            <a:r>
              <a:rPr lang="en-US" altLang="zh-CN" sz="10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.</a:t>
            </a:r>
            <a:endParaRPr lang="zh-CN" altLang="en-US" sz="1000" dirty="0">
              <a:solidFill>
                <a:schemeClr val="tx1">
                  <a:lumMod val="50000"/>
                  <a:lumOff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9" name="AutoShape 3" descr="正确"/>
          <p:cNvSpPr>
            <a:spLocks noChangeAspect="1" noChangeArrowheads="1"/>
          </p:cNvSpPr>
          <p:nvPr/>
        </p:nvSpPr>
        <p:spPr bwMode="auto">
          <a:xfrm>
            <a:off x="1388080" y="204383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6" name="矩形 3"/>
          <p:cNvSpPr txBox="1">
            <a:spLocks noChangeArrowheads="1"/>
          </p:cNvSpPr>
          <p:nvPr/>
        </p:nvSpPr>
        <p:spPr>
          <a:xfrm>
            <a:off x="476520" y="996575"/>
            <a:ext cx="8001761" cy="350242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变量的作用域和生存期</a:t>
            </a:r>
            <a:endParaRPr lang="en-US" altLang="zh-CN" sz="2000" b="1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lvl="1"/>
            <a:r>
              <a: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变量存储的类型</a:t>
            </a:r>
            <a:endParaRPr lang="en-US" altLang="zh-CN" sz="2000" b="1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lvl="2"/>
            <a:r>
              <a:rPr lang="en-US" altLang="zh-CN" sz="16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auto </a:t>
            </a:r>
            <a:r>
              <a:rPr lang="zh-CN" altLang="en-US" sz="16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自动变量</a:t>
            </a:r>
            <a:endParaRPr lang="en-US" altLang="zh-CN" sz="1600" b="1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lvl="2"/>
            <a:r>
              <a:rPr lang="en-US" altLang="zh-CN" sz="16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static </a:t>
            </a:r>
            <a:r>
              <a:rPr lang="zh-CN" altLang="en-US" sz="16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静态变量</a:t>
            </a:r>
            <a:r>
              <a:rPr lang="en-US" altLang="zh-CN" sz="16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——</a:t>
            </a:r>
            <a:r>
              <a:rPr lang="zh-CN" altLang="en-US" sz="16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只初始化一次！</a:t>
            </a:r>
            <a:endParaRPr lang="en-US" altLang="zh-CN" sz="1600" b="1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lvl="2"/>
            <a:r>
              <a:rPr lang="en-US" altLang="zh-CN" sz="16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extern</a:t>
            </a:r>
          </a:p>
          <a:p>
            <a:pPr lvl="2"/>
            <a:r>
              <a:rPr lang="en-US" altLang="zh-CN" sz="16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register</a:t>
            </a:r>
          </a:p>
          <a:p>
            <a:pPr lvl="1"/>
            <a:r>
              <a:rPr lang="zh-CN" altLang="en-US" sz="18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全局变量和局部变量</a:t>
            </a:r>
            <a:r>
              <a:rPr lang="en-US" altLang="zh-CN" sz="18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——</a:t>
            </a:r>
            <a:r>
              <a:rPr lang="zh-CN" altLang="en-US" sz="18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声明的位置</a:t>
            </a:r>
            <a:endParaRPr lang="en-US" altLang="zh-CN" sz="1800" b="1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marL="457200" lvl="1" indent="0">
              <a:buFont typeface="Wingdings 3" charset="2"/>
              <a:buNone/>
            </a:pPr>
            <a:endParaRPr lang="en-US" altLang="zh-CN" sz="1400" b="1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lvl="1"/>
            <a:endParaRPr lang="en-US" altLang="zh-CN" b="1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27095" y="430383"/>
            <a:ext cx="3410680" cy="42566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581925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476520" y="96475"/>
            <a:ext cx="387045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函数</a:t>
            </a:r>
          </a:p>
        </p:txBody>
      </p:sp>
      <p:sp>
        <p:nvSpPr>
          <p:cNvPr id="12" name="矩形 11"/>
          <p:cNvSpPr/>
          <p:nvPr/>
        </p:nvSpPr>
        <p:spPr>
          <a:xfrm>
            <a:off x="476520" y="430384"/>
            <a:ext cx="387045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0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Always believe that something wonderful is about to happen.</a:t>
            </a:r>
            <a:endParaRPr lang="zh-CN" altLang="en-US" sz="1000" dirty="0">
              <a:solidFill>
                <a:schemeClr val="tx1">
                  <a:lumMod val="50000"/>
                  <a:lumOff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9" name="AutoShape 3" descr="正确"/>
          <p:cNvSpPr>
            <a:spLocks noChangeAspect="1" noChangeArrowheads="1"/>
          </p:cNvSpPr>
          <p:nvPr/>
        </p:nvSpPr>
        <p:spPr bwMode="auto">
          <a:xfrm>
            <a:off x="1388080" y="204383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476520" y="1012669"/>
            <a:ext cx="4737194" cy="27795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23805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+mn-lt"/>
                <a:cs typeface="+mn-ea"/>
                <a:sym typeface="+mn-lt"/>
              </a:rPr>
              <a:t>按照C语言的规定，以下说法不正确的是（）</a:t>
            </a:r>
            <a:endParaRPr kumimoji="0" lang="en-US" altLang="zh-CN" b="0" i="0" u="none" strike="noStrike" cap="none" normalizeH="0" baseline="0" dirty="0">
              <a:ln>
                <a:noFill/>
              </a:ln>
              <a:solidFill>
                <a:srgbClr val="333333"/>
              </a:solidFill>
              <a:effectLst/>
              <a:latin typeface="+mn-lt"/>
              <a:cs typeface="+mn-ea"/>
              <a:sym typeface="+mn-lt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zh-CN" dirty="0">
              <a:solidFill>
                <a:srgbClr val="333333"/>
              </a:solidFill>
              <a:latin typeface="+mn-lt"/>
              <a:cs typeface="+mn-ea"/>
              <a:sym typeface="+mn-lt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zh-CN" b="0" i="0" u="none" strike="noStrike" cap="none" normalizeH="0" baseline="0" dirty="0">
                <a:ln>
                  <a:noFill/>
                </a:ln>
                <a:effectLst/>
                <a:latin typeface="+mn-lt"/>
                <a:cs typeface="+mn-ea"/>
                <a:sym typeface="+mn-lt"/>
              </a:rPr>
              <a:t>A.</a:t>
            </a:r>
            <a:r>
              <a:rPr kumimoji="0" lang="en-US" altLang="zh-CN" b="0" i="0" u="none" strike="noStrike" cap="none" normalizeH="0" dirty="0">
                <a:ln>
                  <a:noFill/>
                </a:ln>
                <a:effectLst/>
                <a:latin typeface="+mn-lt"/>
                <a:cs typeface="+mn-ea"/>
                <a:sym typeface="+mn-lt"/>
              </a:rPr>
              <a:t>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effectLst/>
                <a:latin typeface="+mn-lt"/>
                <a:cs typeface="+mn-ea"/>
                <a:sym typeface="+mn-lt"/>
              </a:rPr>
              <a:t>形参可以是变量、常量或表达式</a:t>
            </a:r>
            <a:endParaRPr kumimoji="0" lang="en-US" altLang="zh-CN" b="0" i="0" u="none" strike="noStrike" cap="none" normalizeH="0" baseline="0" dirty="0">
              <a:ln>
                <a:noFill/>
              </a:ln>
              <a:effectLst/>
              <a:latin typeface="+mn-lt"/>
              <a:cs typeface="+mn-ea"/>
              <a:sym typeface="+mn-lt"/>
            </a:endParaRPr>
          </a:p>
          <a:p>
            <a:pPr marL="228600" marR="0" lvl="0" indent="-2286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lphaLcPeriod"/>
              <a:tabLst/>
            </a:pPr>
            <a:endParaRPr kumimoji="0" lang="zh-CN" altLang="zh-CN" b="0" i="0" u="none" strike="noStrike" cap="none" normalizeH="0" baseline="0" dirty="0">
              <a:ln>
                <a:noFill/>
              </a:ln>
              <a:solidFill>
                <a:srgbClr val="333333"/>
              </a:solidFill>
              <a:effectLst/>
              <a:latin typeface="+mn-lt"/>
              <a:cs typeface="+mn-ea"/>
              <a:sym typeface="+mn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dirty="0">
                <a:solidFill>
                  <a:srgbClr val="333333"/>
                </a:solidFill>
                <a:latin typeface="+mn-lt"/>
                <a:cs typeface="+mn-ea"/>
                <a:sym typeface="+mn-lt"/>
              </a:rPr>
              <a:t>B.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+mn-lt"/>
                <a:cs typeface="+mn-ea"/>
                <a:sym typeface="+mn-lt"/>
              </a:rPr>
              <a:t>形参与其对应的实参类型一致</a:t>
            </a:r>
            <a:endParaRPr kumimoji="0" lang="en-US" altLang="zh-CN" b="0" i="0" u="none" strike="noStrike" cap="none" normalizeH="0" baseline="0" dirty="0">
              <a:ln>
                <a:noFill/>
              </a:ln>
              <a:solidFill>
                <a:srgbClr val="333333"/>
              </a:solidFill>
              <a:effectLst/>
              <a:latin typeface="+mn-lt"/>
              <a:cs typeface="+mn-ea"/>
              <a:sym typeface="+mn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+mn-lt"/>
                <a:cs typeface="+mn-ea"/>
                <a:sym typeface="+mn-lt"/>
              </a:rPr>
              <a:t> 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dirty="0">
                <a:solidFill>
                  <a:srgbClr val="333333"/>
                </a:solidFill>
                <a:latin typeface="+mn-lt"/>
                <a:cs typeface="+mn-ea"/>
                <a:sym typeface="+mn-lt"/>
              </a:rPr>
              <a:t>C.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+mn-lt"/>
                <a:cs typeface="+mn-ea"/>
                <a:sym typeface="+mn-lt"/>
              </a:rPr>
              <a:t>实参可以是变量、常量或表达式</a:t>
            </a:r>
            <a:endParaRPr kumimoji="0" lang="en-US" altLang="zh-CN" b="0" i="0" u="none" strike="noStrike" cap="none" normalizeH="0" baseline="0" dirty="0">
              <a:ln>
                <a:noFill/>
              </a:ln>
              <a:solidFill>
                <a:srgbClr val="333333"/>
              </a:solidFill>
              <a:effectLst/>
              <a:latin typeface="+mn-lt"/>
              <a:cs typeface="+mn-ea"/>
              <a:sym typeface="+mn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b="0" i="0" u="none" strike="noStrike" cap="none" normalizeH="0" baseline="0" dirty="0">
              <a:ln>
                <a:noFill/>
              </a:ln>
              <a:solidFill>
                <a:srgbClr val="333333"/>
              </a:solidFill>
              <a:effectLst/>
              <a:latin typeface="+mn-lt"/>
              <a:cs typeface="+mn-ea"/>
              <a:sym typeface="+mn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dirty="0">
                <a:solidFill>
                  <a:srgbClr val="333333"/>
                </a:solidFill>
                <a:latin typeface="+mn-lt"/>
                <a:cs typeface="+mn-ea"/>
                <a:sym typeface="+mn-lt"/>
              </a:rPr>
              <a:t>D.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+mn-lt"/>
                <a:cs typeface="+mn-ea"/>
                <a:sym typeface="+mn-lt"/>
              </a:rPr>
              <a:t>实参的个数应与形参一致</a:t>
            </a:r>
            <a:endParaRPr kumimoji="0" lang="zh-CN" altLang="zh-CN" sz="4000" b="0" i="0" u="none" strike="noStrike" cap="none" normalizeH="0" baseline="0" dirty="0">
              <a:ln>
                <a:noFill/>
              </a:ln>
              <a:solidFill>
                <a:srgbClr val="333333"/>
              </a:solidFill>
              <a:effectLst/>
              <a:latin typeface="+mn-lt"/>
              <a:cs typeface="+mn-ea"/>
              <a:sym typeface="+mn-lt"/>
            </a:endParaRPr>
          </a:p>
        </p:txBody>
      </p:sp>
      <p:sp>
        <p:nvSpPr>
          <p:cNvPr id="8" name="AutoShape 4" descr="不正确"/>
          <p:cNvSpPr>
            <a:spLocks noChangeAspect="1" noChangeArrowheads="1"/>
          </p:cNvSpPr>
          <p:nvPr/>
        </p:nvSpPr>
        <p:spPr bwMode="auto">
          <a:xfrm>
            <a:off x="2879220" y="297513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12786724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9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1A7BAE"/>
                                      </p:to>
                                    </p:animClr>
                                    <p:animClr clrSpc="rgb" dir="cw">
                                      <p:cBhvr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1A7BAE"/>
                                      </p:to>
                                    </p:animClr>
                                    <p:set>
                                      <p:cBhvr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476520" y="96475"/>
            <a:ext cx="387045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函数</a:t>
            </a:r>
          </a:p>
        </p:txBody>
      </p:sp>
      <p:sp>
        <p:nvSpPr>
          <p:cNvPr id="12" name="矩形 11"/>
          <p:cNvSpPr/>
          <p:nvPr/>
        </p:nvSpPr>
        <p:spPr>
          <a:xfrm>
            <a:off x="476520" y="430384"/>
            <a:ext cx="387045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00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Always believe that something wonderful is about to happen</a:t>
            </a:r>
            <a:r>
              <a:rPr lang="en-US" altLang="zh-CN" sz="10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.</a:t>
            </a:r>
            <a:endParaRPr lang="zh-CN" altLang="en-US" sz="1000" dirty="0">
              <a:solidFill>
                <a:schemeClr val="tx1">
                  <a:lumMod val="50000"/>
                  <a:lumOff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9" name="AutoShape 3" descr="正确"/>
          <p:cNvSpPr>
            <a:spLocks noChangeAspect="1" noChangeArrowheads="1"/>
          </p:cNvSpPr>
          <p:nvPr/>
        </p:nvSpPr>
        <p:spPr bwMode="auto">
          <a:xfrm>
            <a:off x="1388080" y="204383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>
          <a:xfrm>
            <a:off x="476520" y="1010514"/>
            <a:ext cx="8229600" cy="3164585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Tx/>
              <a:buNone/>
              <a:defRPr/>
            </a:pPr>
            <a:r>
              <a:rPr lang="zh-CN" altLang="en-US" sz="1800" dirty="0">
                <a:cs typeface="+mn-ea"/>
                <a:sym typeface="+mn-lt"/>
              </a:rPr>
              <a:t>下面描述中，正确的</a:t>
            </a:r>
            <a:r>
              <a:rPr lang="zh-CN" altLang="en-US" sz="1800">
                <a:cs typeface="+mn-ea"/>
                <a:sym typeface="+mn-lt"/>
              </a:rPr>
              <a:t>是（ ）</a:t>
            </a:r>
            <a:endParaRPr lang="en-US" altLang="zh-CN" sz="1800" dirty="0">
              <a:cs typeface="+mn-ea"/>
              <a:sym typeface="+mn-lt"/>
            </a:endParaRPr>
          </a:p>
          <a:p>
            <a:pPr>
              <a:buFontTx/>
              <a:buNone/>
              <a:defRPr/>
            </a:pPr>
            <a:endParaRPr lang="zh-CN" altLang="en-US" sz="1800" dirty="0">
              <a:cs typeface="+mn-ea"/>
              <a:sym typeface="+mn-lt"/>
            </a:endParaRPr>
          </a:p>
          <a:p>
            <a:pPr>
              <a:buFontTx/>
              <a:buNone/>
              <a:defRPr/>
            </a:pPr>
            <a:r>
              <a:rPr lang="zh-CN" altLang="en-US" sz="1800" dirty="0">
                <a:cs typeface="+mn-ea"/>
                <a:sym typeface="+mn-lt"/>
              </a:rPr>
              <a:t>	</a:t>
            </a:r>
            <a:r>
              <a:rPr lang="zh-CN" altLang="en-US" sz="1800">
                <a:cs typeface="+mn-ea"/>
                <a:sym typeface="+mn-lt"/>
              </a:rPr>
              <a:t>a. 主</a:t>
            </a:r>
            <a:r>
              <a:rPr lang="zh-CN" altLang="en-US" sz="1800" dirty="0">
                <a:cs typeface="+mn-ea"/>
                <a:sym typeface="+mn-lt"/>
              </a:rPr>
              <a:t>函数是程序启动时唯一的入口</a:t>
            </a:r>
            <a:endParaRPr lang="en-US" altLang="zh-CN" sz="1800" dirty="0">
              <a:cs typeface="+mn-ea"/>
              <a:sym typeface="+mn-lt"/>
            </a:endParaRPr>
          </a:p>
          <a:p>
            <a:pPr>
              <a:buFontTx/>
              <a:buNone/>
              <a:defRPr/>
            </a:pPr>
            <a:endParaRPr lang="zh-CN" altLang="en-US" sz="1800" dirty="0">
              <a:cs typeface="+mn-ea"/>
              <a:sym typeface="+mn-lt"/>
            </a:endParaRPr>
          </a:p>
          <a:p>
            <a:pPr>
              <a:buFontTx/>
              <a:buNone/>
              <a:defRPr/>
            </a:pPr>
            <a:r>
              <a:rPr lang="zh-CN" altLang="en-US" sz="1800" dirty="0">
                <a:cs typeface="+mn-ea"/>
                <a:sym typeface="+mn-lt"/>
              </a:rPr>
              <a:t>	</a:t>
            </a:r>
            <a:r>
              <a:rPr lang="zh-CN" altLang="en-US" sz="1800">
                <a:cs typeface="+mn-ea"/>
                <a:sym typeface="+mn-lt"/>
              </a:rPr>
              <a:t>b. 主</a:t>
            </a:r>
            <a:r>
              <a:rPr lang="zh-CN" altLang="en-US" sz="1800" dirty="0">
                <a:cs typeface="+mn-ea"/>
                <a:sym typeface="+mn-lt"/>
              </a:rPr>
              <a:t>函数中的花括号必须有，而子函数中的花括号是可有可无的</a:t>
            </a:r>
            <a:endParaRPr lang="en-US" altLang="zh-CN" sz="1800" dirty="0">
              <a:cs typeface="+mn-ea"/>
              <a:sym typeface="+mn-lt"/>
            </a:endParaRPr>
          </a:p>
          <a:p>
            <a:pPr>
              <a:buFontTx/>
              <a:buNone/>
              <a:defRPr/>
            </a:pPr>
            <a:endParaRPr lang="zh-CN" altLang="en-US" sz="1800" dirty="0">
              <a:cs typeface="+mn-ea"/>
              <a:sym typeface="+mn-lt"/>
            </a:endParaRPr>
          </a:p>
          <a:p>
            <a:pPr>
              <a:buFontTx/>
              <a:buNone/>
              <a:defRPr/>
            </a:pPr>
            <a:r>
              <a:rPr lang="zh-CN" altLang="en-US" sz="1800" dirty="0">
                <a:cs typeface="+mn-ea"/>
                <a:sym typeface="+mn-lt"/>
              </a:rPr>
              <a:t>	</a:t>
            </a:r>
            <a:r>
              <a:rPr lang="zh-CN" altLang="en-US" sz="1800">
                <a:cs typeface="+mn-ea"/>
                <a:sym typeface="+mn-lt"/>
              </a:rPr>
              <a:t>c. 一</a:t>
            </a:r>
            <a:r>
              <a:rPr lang="zh-CN" altLang="en-US" sz="1800" dirty="0">
                <a:cs typeface="+mn-ea"/>
                <a:sym typeface="+mn-lt"/>
              </a:rPr>
              <a:t>个C程序行只能写一个语句</a:t>
            </a:r>
            <a:endParaRPr lang="en-US" altLang="zh-CN" sz="1800" dirty="0">
              <a:cs typeface="+mn-ea"/>
              <a:sym typeface="+mn-lt"/>
            </a:endParaRPr>
          </a:p>
          <a:p>
            <a:pPr>
              <a:buFontTx/>
              <a:buNone/>
              <a:defRPr/>
            </a:pPr>
            <a:endParaRPr lang="zh-CN" altLang="en-US" sz="1800" dirty="0">
              <a:cs typeface="+mn-ea"/>
              <a:sym typeface="+mn-lt"/>
            </a:endParaRPr>
          </a:p>
          <a:p>
            <a:pPr>
              <a:buFontTx/>
              <a:buNone/>
              <a:defRPr/>
            </a:pPr>
            <a:r>
              <a:rPr lang="zh-CN" altLang="en-US" sz="1800" dirty="0">
                <a:cs typeface="+mn-ea"/>
                <a:sym typeface="+mn-lt"/>
              </a:rPr>
              <a:t>	</a:t>
            </a:r>
            <a:r>
              <a:rPr lang="zh-CN" altLang="en-US" sz="1800">
                <a:cs typeface="+mn-ea"/>
                <a:sym typeface="+mn-lt"/>
              </a:rPr>
              <a:t>d. 函数</a:t>
            </a:r>
            <a:r>
              <a:rPr lang="zh-CN" altLang="en-US" sz="1800" dirty="0">
                <a:cs typeface="+mn-ea"/>
                <a:sym typeface="+mn-lt"/>
              </a:rPr>
              <a:t>体包含了函数声明部分</a:t>
            </a:r>
            <a:endParaRPr lang="en-US" altLang="zh-CN" sz="1800" dirty="0">
              <a:cs typeface="+mn-ea"/>
              <a:sym typeface="+mn-lt"/>
            </a:endParaRPr>
          </a:p>
          <a:p>
            <a:pPr>
              <a:buFontTx/>
              <a:buNone/>
              <a:defRPr/>
            </a:pPr>
            <a:endParaRPr lang="zh-CN" altLang="en-US" sz="1800" dirty="0">
              <a:cs typeface="+mn-ea"/>
              <a:sym typeface="+mn-lt"/>
            </a:endParaRPr>
          </a:p>
          <a:p>
            <a:pPr>
              <a:buFontTx/>
              <a:buNone/>
              <a:defRPr/>
            </a:pPr>
            <a:r>
              <a:rPr lang="zh-CN" altLang="en-US" sz="1800" dirty="0">
                <a:cs typeface="+mn-ea"/>
                <a:sym typeface="+mn-lt"/>
              </a:rPr>
              <a:t>		</a:t>
            </a:r>
          </a:p>
        </p:txBody>
      </p:sp>
    </p:spTree>
    <p:extLst>
      <p:ext uri="{BB962C8B-B14F-4D97-AF65-F5344CB8AC3E}">
        <p14:creationId xmlns:p14="http://schemas.microsoft.com/office/powerpoint/2010/main" val="300850726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9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1A7BAE"/>
                                      </p:to>
                                    </p:animClr>
                                    <p:animClr clrSpc="rgb" dir="cw">
                                      <p:cBhvr>
                                        <p:cTn id="7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1A7BAE"/>
                                      </p:to>
                                    </p:animClr>
                                    <p:set>
                                      <p:cBhvr>
                                        <p:cTn id="8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476520" y="96475"/>
            <a:ext cx="387045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函数</a:t>
            </a:r>
          </a:p>
        </p:txBody>
      </p:sp>
      <p:sp>
        <p:nvSpPr>
          <p:cNvPr id="12" name="矩形 11"/>
          <p:cNvSpPr/>
          <p:nvPr/>
        </p:nvSpPr>
        <p:spPr>
          <a:xfrm>
            <a:off x="476520" y="430384"/>
            <a:ext cx="387045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00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Always believe that something wonderful is about to happen</a:t>
            </a:r>
            <a:r>
              <a:rPr lang="en-US" altLang="zh-CN" sz="10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.</a:t>
            </a:r>
            <a:endParaRPr lang="zh-CN" altLang="en-US" sz="1000" dirty="0">
              <a:solidFill>
                <a:schemeClr val="tx1">
                  <a:lumMod val="50000"/>
                  <a:lumOff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9" name="AutoShape 3" descr="正确"/>
          <p:cNvSpPr>
            <a:spLocks noChangeAspect="1" noChangeArrowheads="1"/>
          </p:cNvSpPr>
          <p:nvPr/>
        </p:nvSpPr>
        <p:spPr bwMode="auto">
          <a:xfrm>
            <a:off x="1388080" y="204383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10" name="Rectangle 2"/>
          <p:cNvSpPr txBox="1">
            <a:spLocks noChangeArrowheads="1"/>
          </p:cNvSpPr>
          <p:nvPr/>
        </p:nvSpPr>
        <p:spPr>
          <a:xfrm>
            <a:off x="472045" y="1010514"/>
            <a:ext cx="8229600" cy="2624525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80000"/>
              </a:lnSpc>
              <a:buFontTx/>
              <a:buNone/>
              <a:defRPr/>
            </a:pPr>
            <a:r>
              <a:rPr lang="zh-CN" altLang="en-US" sz="1800">
                <a:cs typeface="+mn-ea"/>
                <a:sym typeface="+mn-lt"/>
              </a:rPr>
              <a:t>以下关于 return 语句</a:t>
            </a:r>
            <a:r>
              <a:rPr lang="zh-CN" altLang="en-US" sz="1800" dirty="0">
                <a:cs typeface="+mn-ea"/>
                <a:sym typeface="+mn-lt"/>
              </a:rPr>
              <a:t>的叙述中，正确的是（）</a:t>
            </a:r>
            <a:endParaRPr lang="en-US" altLang="zh-CN" sz="1800" dirty="0">
              <a:cs typeface="+mn-ea"/>
              <a:sym typeface="+mn-lt"/>
            </a:endParaRPr>
          </a:p>
          <a:p>
            <a:pPr>
              <a:lnSpc>
                <a:spcPct val="80000"/>
              </a:lnSpc>
              <a:buFontTx/>
              <a:buNone/>
              <a:defRPr/>
            </a:pPr>
            <a:endParaRPr lang="zh-CN" altLang="en-US" sz="1800" dirty="0">
              <a:cs typeface="+mn-ea"/>
              <a:sym typeface="+mn-lt"/>
            </a:endParaRPr>
          </a:p>
          <a:p>
            <a:pPr>
              <a:lnSpc>
                <a:spcPct val="80000"/>
              </a:lnSpc>
              <a:buFontTx/>
              <a:buNone/>
              <a:defRPr/>
            </a:pPr>
            <a:r>
              <a:rPr lang="zh-CN" altLang="en-US" sz="1800" dirty="0">
                <a:cs typeface="+mn-ea"/>
                <a:sym typeface="+mn-lt"/>
              </a:rPr>
              <a:t>	</a:t>
            </a:r>
            <a:r>
              <a:rPr lang="zh-CN" altLang="en-US" sz="1800">
                <a:cs typeface="+mn-ea"/>
                <a:sym typeface="+mn-lt"/>
              </a:rPr>
              <a:t>A. 一</a:t>
            </a:r>
            <a:r>
              <a:rPr lang="zh-CN" altLang="en-US" sz="1800" dirty="0">
                <a:cs typeface="+mn-ea"/>
                <a:sym typeface="+mn-lt"/>
              </a:rPr>
              <a:t>个自定义函数中可以根据不同情况设置</a:t>
            </a:r>
            <a:r>
              <a:rPr lang="zh-CN" altLang="en-US" sz="1800">
                <a:cs typeface="+mn-ea"/>
                <a:sym typeface="+mn-lt"/>
              </a:rPr>
              <a:t>多条 return 语句</a:t>
            </a:r>
            <a:endParaRPr lang="en-US" altLang="zh-CN" sz="1800" dirty="0">
              <a:cs typeface="+mn-ea"/>
              <a:sym typeface="+mn-lt"/>
            </a:endParaRPr>
          </a:p>
          <a:p>
            <a:pPr>
              <a:lnSpc>
                <a:spcPct val="80000"/>
              </a:lnSpc>
              <a:buFontTx/>
              <a:buNone/>
              <a:defRPr/>
            </a:pPr>
            <a:endParaRPr lang="zh-CN" altLang="en-US" sz="1800" dirty="0">
              <a:cs typeface="+mn-ea"/>
              <a:sym typeface="+mn-lt"/>
            </a:endParaRPr>
          </a:p>
          <a:p>
            <a:pPr>
              <a:lnSpc>
                <a:spcPct val="80000"/>
              </a:lnSpc>
              <a:buFontTx/>
              <a:buNone/>
              <a:defRPr/>
            </a:pPr>
            <a:r>
              <a:rPr lang="zh-CN" altLang="en-US" sz="1800" dirty="0">
                <a:cs typeface="+mn-ea"/>
                <a:sym typeface="+mn-lt"/>
              </a:rPr>
              <a:t>	</a:t>
            </a:r>
            <a:r>
              <a:rPr lang="zh-CN" altLang="en-US" sz="1800">
                <a:cs typeface="+mn-ea"/>
                <a:sym typeface="+mn-lt"/>
              </a:rPr>
              <a:t>B. 没有 return 语句</a:t>
            </a:r>
            <a:r>
              <a:rPr lang="zh-CN" altLang="en-US" sz="1800" dirty="0">
                <a:cs typeface="+mn-ea"/>
                <a:sym typeface="+mn-lt"/>
              </a:rPr>
              <a:t>的自定义函数在执行结束时不能返回到调用处</a:t>
            </a:r>
            <a:endParaRPr lang="en-US" altLang="zh-CN" sz="1800" dirty="0">
              <a:cs typeface="+mn-ea"/>
              <a:sym typeface="+mn-lt"/>
            </a:endParaRPr>
          </a:p>
          <a:p>
            <a:pPr>
              <a:lnSpc>
                <a:spcPct val="80000"/>
              </a:lnSpc>
              <a:buFontTx/>
              <a:buNone/>
              <a:defRPr/>
            </a:pPr>
            <a:endParaRPr lang="zh-CN" altLang="en-US" sz="1800" dirty="0">
              <a:cs typeface="+mn-ea"/>
              <a:sym typeface="+mn-lt"/>
            </a:endParaRPr>
          </a:p>
          <a:p>
            <a:pPr>
              <a:lnSpc>
                <a:spcPct val="80000"/>
              </a:lnSpc>
              <a:buFontTx/>
              <a:buNone/>
              <a:defRPr/>
            </a:pPr>
            <a:r>
              <a:rPr lang="zh-CN" altLang="en-US" sz="1800" dirty="0">
                <a:cs typeface="+mn-ea"/>
                <a:sym typeface="+mn-lt"/>
              </a:rPr>
              <a:t>	</a:t>
            </a:r>
            <a:r>
              <a:rPr lang="zh-CN" altLang="en-US" sz="1800">
                <a:cs typeface="+mn-ea"/>
                <a:sym typeface="+mn-lt"/>
              </a:rPr>
              <a:t>C. 一</a:t>
            </a:r>
            <a:r>
              <a:rPr lang="zh-CN" altLang="en-US" sz="1800" dirty="0">
                <a:cs typeface="+mn-ea"/>
                <a:sym typeface="+mn-lt"/>
              </a:rPr>
              <a:t>个自定义函数中必须有</a:t>
            </a:r>
            <a:r>
              <a:rPr lang="zh-CN" altLang="en-US" sz="1800">
                <a:cs typeface="+mn-ea"/>
                <a:sym typeface="+mn-lt"/>
              </a:rPr>
              <a:t>一条 return 语句</a:t>
            </a:r>
            <a:endParaRPr lang="en-US" altLang="zh-CN" sz="1800" dirty="0">
              <a:cs typeface="+mn-ea"/>
              <a:sym typeface="+mn-lt"/>
            </a:endParaRPr>
          </a:p>
          <a:p>
            <a:pPr>
              <a:lnSpc>
                <a:spcPct val="80000"/>
              </a:lnSpc>
              <a:buFontTx/>
              <a:buNone/>
              <a:defRPr/>
            </a:pPr>
            <a:endParaRPr lang="zh-CN" altLang="en-US" sz="1800" dirty="0">
              <a:cs typeface="+mn-ea"/>
              <a:sym typeface="+mn-lt"/>
            </a:endParaRPr>
          </a:p>
          <a:p>
            <a:pPr>
              <a:lnSpc>
                <a:spcPct val="80000"/>
              </a:lnSpc>
              <a:buFontTx/>
              <a:buNone/>
              <a:defRPr/>
            </a:pPr>
            <a:r>
              <a:rPr lang="zh-CN" altLang="en-US" sz="1800" dirty="0">
                <a:cs typeface="+mn-ea"/>
                <a:sym typeface="+mn-lt"/>
              </a:rPr>
              <a:t>	</a:t>
            </a:r>
            <a:r>
              <a:rPr lang="zh-CN" altLang="en-US" sz="1800">
                <a:cs typeface="+mn-ea"/>
                <a:sym typeface="+mn-lt"/>
              </a:rPr>
              <a:t>D. 定义为 void 类型</a:t>
            </a:r>
            <a:r>
              <a:rPr lang="zh-CN" altLang="en-US" sz="1800" dirty="0">
                <a:cs typeface="+mn-ea"/>
                <a:sym typeface="+mn-lt"/>
              </a:rPr>
              <a:t>的函数中可以有带返回</a:t>
            </a:r>
            <a:r>
              <a:rPr lang="zh-CN" altLang="en-US" sz="1800">
                <a:cs typeface="+mn-ea"/>
                <a:sym typeface="+mn-lt"/>
              </a:rPr>
              <a:t>值的 return 语句</a:t>
            </a:r>
            <a:endParaRPr lang="zh-CN" altLang="en-US" sz="1800" dirty="0">
              <a:cs typeface="+mn-ea"/>
              <a:sym typeface="+mn-lt"/>
            </a:endParaRPr>
          </a:p>
          <a:p>
            <a:pPr>
              <a:lnSpc>
                <a:spcPct val="80000"/>
              </a:lnSpc>
              <a:buFontTx/>
              <a:buNone/>
              <a:defRPr/>
            </a:pPr>
            <a:r>
              <a:rPr lang="zh-CN" altLang="en-US" sz="1800" dirty="0">
                <a:cs typeface="+mn-ea"/>
                <a:sym typeface="+mn-lt"/>
              </a:rPr>
              <a:t>		</a:t>
            </a:r>
          </a:p>
        </p:txBody>
      </p:sp>
    </p:spTree>
    <p:extLst>
      <p:ext uri="{BB962C8B-B14F-4D97-AF65-F5344CB8AC3E}">
        <p14:creationId xmlns:p14="http://schemas.microsoft.com/office/powerpoint/2010/main" val="269667533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9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5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1A7BAE"/>
                                      </p:to>
                                    </p:animClr>
                                    <p:animClr clrSpc="rgb" dir="cw">
                                      <p:cBhvr>
                                        <p:cTn id="7" dur="5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1A7BAE"/>
                                      </p:to>
                                    </p:animClr>
                                    <p:set>
                                      <p:cBhvr>
                                        <p:cTn id="8" dur="5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" dur="5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476520" y="96475"/>
            <a:ext cx="387045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函数</a:t>
            </a:r>
          </a:p>
        </p:txBody>
      </p:sp>
      <p:sp>
        <p:nvSpPr>
          <p:cNvPr id="12" name="矩形 11"/>
          <p:cNvSpPr/>
          <p:nvPr/>
        </p:nvSpPr>
        <p:spPr>
          <a:xfrm>
            <a:off x="476520" y="430384"/>
            <a:ext cx="387045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00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Always believe that something wonderful is about to happen</a:t>
            </a:r>
            <a:r>
              <a:rPr lang="en-US" altLang="zh-CN" sz="10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.</a:t>
            </a:r>
            <a:endParaRPr lang="zh-CN" altLang="en-US" sz="1000" dirty="0">
              <a:solidFill>
                <a:schemeClr val="tx1">
                  <a:lumMod val="50000"/>
                  <a:lumOff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9" name="AutoShape 3" descr="正确"/>
          <p:cNvSpPr>
            <a:spLocks noChangeAspect="1" noChangeArrowheads="1"/>
          </p:cNvSpPr>
          <p:nvPr/>
        </p:nvSpPr>
        <p:spPr bwMode="auto">
          <a:xfrm>
            <a:off x="1388080" y="204383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10" name="Rectangle 2"/>
          <p:cNvSpPr txBox="1">
            <a:spLocks noChangeArrowheads="1"/>
          </p:cNvSpPr>
          <p:nvPr/>
        </p:nvSpPr>
        <p:spPr>
          <a:xfrm>
            <a:off x="472045" y="1010515"/>
            <a:ext cx="8229600" cy="301096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80000"/>
              </a:lnSpc>
              <a:buFontTx/>
              <a:buNone/>
              <a:defRPr/>
            </a:pPr>
            <a:r>
              <a:rPr lang="zh-CN" altLang="en-US" sz="1800" dirty="0">
                <a:cs typeface="+mn-ea"/>
                <a:sym typeface="+mn-lt"/>
              </a:rPr>
              <a:t>怎样让变量在子函数内的修改影响到原变量？		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3789" y="1491630"/>
            <a:ext cx="2709241" cy="3421762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57065" y="1491630"/>
            <a:ext cx="2647792" cy="3421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264051"/>
      </p:ext>
    </p:extLst>
  </p:cSld>
  <p:clrMapOvr>
    <a:masterClrMapping/>
  </p:clrMapOvr>
  <p:transition spd="slow">
    <p:push dir="u"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476520" y="96475"/>
            <a:ext cx="387045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程序填空</a:t>
            </a:r>
          </a:p>
        </p:txBody>
      </p:sp>
      <p:sp>
        <p:nvSpPr>
          <p:cNvPr id="12" name="矩形 11"/>
          <p:cNvSpPr/>
          <p:nvPr/>
        </p:nvSpPr>
        <p:spPr>
          <a:xfrm>
            <a:off x="476520" y="430384"/>
            <a:ext cx="387045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00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Always believe that something wonderful is about to happen</a:t>
            </a:r>
            <a:r>
              <a:rPr lang="en-US" altLang="zh-CN" sz="10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.</a:t>
            </a:r>
            <a:endParaRPr lang="zh-CN" altLang="en-US" sz="1000" dirty="0">
              <a:solidFill>
                <a:schemeClr val="tx1">
                  <a:lumMod val="50000"/>
                  <a:lumOff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9" name="AutoShape 3" descr="正确"/>
          <p:cNvSpPr>
            <a:spLocks noChangeAspect="1" noChangeArrowheads="1"/>
          </p:cNvSpPr>
          <p:nvPr/>
        </p:nvSpPr>
        <p:spPr bwMode="auto">
          <a:xfrm>
            <a:off x="1388080" y="204383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10" name="Rectangle 2"/>
          <p:cNvSpPr txBox="1">
            <a:spLocks noChangeArrowheads="1"/>
          </p:cNvSpPr>
          <p:nvPr/>
        </p:nvSpPr>
        <p:spPr>
          <a:xfrm>
            <a:off x="472045" y="1010515"/>
            <a:ext cx="8229600" cy="1561236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80000"/>
              </a:lnSpc>
              <a:defRPr/>
            </a:pPr>
            <a:r>
              <a:rPr lang="zh-CN" altLang="en-US" sz="1800" dirty="0">
                <a:cs typeface="+mn-ea"/>
                <a:sym typeface="+mn-lt"/>
              </a:rPr>
              <a:t>循环条件</a:t>
            </a:r>
            <a:r>
              <a:rPr lang="en-US" altLang="zh-CN" sz="1800" dirty="0">
                <a:cs typeface="+mn-ea"/>
                <a:sym typeface="+mn-lt"/>
              </a:rPr>
              <a:t>——0,1,n,n-1,&lt;,&lt;=,&gt;,&gt;=</a:t>
            </a:r>
          </a:p>
          <a:p>
            <a:pPr>
              <a:lnSpc>
                <a:spcPct val="80000"/>
              </a:lnSpc>
              <a:defRPr/>
            </a:pPr>
            <a:endParaRPr lang="en-US" altLang="zh-CN" sz="1800" dirty="0">
              <a:cs typeface="+mn-ea"/>
              <a:sym typeface="+mn-lt"/>
            </a:endParaRPr>
          </a:p>
          <a:p>
            <a:pPr>
              <a:lnSpc>
                <a:spcPct val="80000"/>
              </a:lnSpc>
              <a:defRPr/>
            </a:pPr>
            <a:r>
              <a:rPr lang="zh-CN" altLang="en-US" sz="1800" dirty="0">
                <a:cs typeface="+mn-ea"/>
                <a:sym typeface="+mn-lt"/>
              </a:rPr>
              <a:t>判断条件</a:t>
            </a:r>
            <a:r>
              <a:rPr lang="en-US" altLang="zh-CN" sz="1800" dirty="0">
                <a:cs typeface="+mn-ea"/>
                <a:sym typeface="+mn-lt"/>
              </a:rPr>
              <a:t>——</a:t>
            </a:r>
            <a:r>
              <a:rPr lang="zh-CN" altLang="en-US" sz="1800" dirty="0">
                <a:cs typeface="+mn-ea"/>
                <a:sym typeface="+mn-lt"/>
              </a:rPr>
              <a:t>是否有等号</a:t>
            </a:r>
            <a:endParaRPr lang="en-US" altLang="zh-CN" sz="1800" dirty="0">
              <a:cs typeface="+mn-ea"/>
              <a:sym typeface="+mn-lt"/>
            </a:endParaRPr>
          </a:p>
          <a:p>
            <a:pPr>
              <a:lnSpc>
                <a:spcPct val="80000"/>
              </a:lnSpc>
              <a:defRPr/>
            </a:pPr>
            <a:endParaRPr lang="en-US" altLang="zh-CN" sz="1800" dirty="0">
              <a:cs typeface="+mn-ea"/>
              <a:sym typeface="+mn-lt"/>
            </a:endParaRPr>
          </a:p>
          <a:p>
            <a:pPr>
              <a:lnSpc>
                <a:spcPct val="80000"/>
              </a:lnSpc>
              <a:defRPr/>
            </a:pPr>
            <a:r>
              <a:rPr lang="zh-CN" altLang="en-US" sz="1800" dirty="0">
                <a:cs typeface="+mn-ea"/>
                <a:sym typeface="+mn-lt"/>
              </a:rPr>
              <a:t>算法</a:t>
            </a:r>
            <a:r>
              <a:rPr lang="en-US" altLang="zh-CN" sz="1800" dirty="0">
                <a:cs typeface="+mn-ea"/>
                <a:sym typeface="+mn-lt"/>
              </a:rPr>
              <a:t>——</a:t>
            </a:r>
            <a:r>
              <a:rPr lang="zh-CN" altLang="en-US" sz="1800" dirty="0">
                <a:cs typeface="+mn-ea"/>
                <a:sym typeface="+mn-lt"/>
              </a:rPr>
              <a:t>排序</a:t>
            </a:r>
            <a:endParaRPr lang="en-US" altLang="zh-CN" sz="1800" dirty="0">
              <a:cs typeface="+mn-ea"/>
              <a:sym typeface="+mn-lt"/>
            </a:endParaRPr>
          </a:p>
          <a:p>
            <a:pPr>
              <a:lnSpc>
                <a:spcPct val="80000"/>
              </a:lnSpc>
              <a:buFontTx/>
              <a:buNone/>
              <a:defRPr/>
            </a:pPr>
            <a:endParaRPr lang="zh-CN" altLang="en-US" sz="1800" dirty="0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859650353"/>
      </p:ext>
    </p:extLst>
  </p:cSld>
  <p:clrMapOvr>
    <a:masterClrMapping/>
  </p:clrMapOvr>
  <p:transition spd="slow">
    <p:push dir="u"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476520" y="96475"/>
            <a:ext cx="387045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程序填空</a:t>
            </a:r>
          </a:p>
        </p:txBody>
      </p:sp>
      <p:sp>
        <p:nvSpPr>
          <p:cNvPr id="12" name="矩形 11"/>
          <p:cNvSpPr/>
          <p:nvPr/>
        </p:nvSpPr>
        <p:spPr>
          <a:xfrm>
            <a:off x="476520" y="430384"/>
            <a:ext cx="387045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00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Always believe that something wonderful is about to happen</a:t>
            </a:r>
            <a:r>
              <a:rPr lang="en-US" altLang="zh-CN" sz="10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.</a:t>
            </a:r>
            <a:endParaRPr lang="zh-CN" altLang="en-US" sz="1000" dirty="0">
              <a:solidFill>
                <a:schemeClr val="tx1">
                  <a:lumMod val="50000"/>
                  <a:lumOff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9" name="AutoShape 3" descr="正确"/>
          <p:cNvSpPr>
            <a:spLocks noChangeAspect="1" noChangeArrowheads="1"/>
          </p:cNvSpPr>
          <p:nvPr/>
        </p:nvSpPr>
        <p:spPr bwMode="auto">
          <a:xfrm>
            <a:off x="1388080" y="204383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10" name="Rectangle 2"/>
          <p:cNvSpPr txBox="1">
            <a:spLocks noChangeArrowheads="1"/>
          </p:cNvSpPr>
          <p:nvPr/>
        </p:nvSpPr>
        <p:spPr>
          <a:xfrm>
            <a:off x="476520" y="985522"/>
            <a:ext cx="6215190" cy="301095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80000"/>
              </a:lnSpc>
              <a:buFontTx/>
              <a:buNone/>
              <a:defRPr/>
            </a:pPr>
            <a:r>
              <a:rPr lang="zh-CN" altLang="en-US" sz="1800" dirty="0">
                <a:cs typeface="+mn-ea"/>
                <a:sym typeface="+mn-lt"/>
              </a:rPr>
              <a:t>冒泡排序：每次比较相邻的两个元素，并将较大的向后移动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86935" y="1441645"/>
            <a:ext cx="2847619" cy="2771429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6585" y="2023430"/>
            <a:ext cx="2353113" cy="1294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9478411"/>
      </p:ext>
    </p:extLst>
  </p:cSld>
  <p:clrMapOvr>
    <a:masterClrMapping/>
  </p:clrMapOvr>
  <p:transition spd="slow">
    <p:push dir="u"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476520" y="96475"/>
            <a:ext cx="387045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程序填空</a:t>
            </a:r>
          </a:p>
        </p:txBody>
      </p:sp>
      <p:sp>
        <p:nvSpPr>
          <p:cNvPr id="12" name="矩形 11"/>
          <p:cNvSpPr/>
          <p:nvPr/>
        </p:nvSpPr>
        <p:spPr>
          <a:xfrm>
            <a:off x="476520" y="430384"/>
            <a:ext cx="387045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00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Always believe that something wonderful is about to happen</a:t>
            </a:r>
            <a:r>
              <a:rPr lang="en-US" altLang="zh-CN" sz="10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.</a:t>
            </a:r>
            <a:endParaRPr lang="zh-CN" altLang="en-US" sz="1000" dirty="0">
              <a:solidFill>
                <a:schemeClr val="tx1">
                  <a:lumMod val="50000"/>
                  <a:lumOff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9" name="AutoShape 3" descr="正确"/>
          <p:cNvSpPr>
            <a:spLocks noChangeAspect="1" noChangeArrowheads="1"/>
          </p:cNvSpPr>
          <p:nvPr/>
        </p:nvSpPr>
        <p:spPr bwMode="auto">
          <a:xfrm>
            <a:off x="1388080" y="204383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10" name="Rectangle 2"/>
          <p:cNvSpPr txBox="1">
            <a:spLocks noChangeArrowheads="1"/>
          </p:cNvSpPr>
          <p:nvPr/>
        </p:nvSpPr>
        <p:spPr>
          <a:xfrm>
            <a:off x="476520" y="985522"/>
            <a:ext cx="6215190" cy="301095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80000"/>
              </a:lnSpc>
              <a:buFontTx/>
              <a:buNone/>
              <a:defRPr/>
            </a:pPr>
            <a:r>
              <a:rPr lang="zh-CN" altLang="en-US" sz="1800" dirty="0">
                <a:cs typeface="+mn-ea"/>
                <a:sym typeface="+mn-lt"/>
              </a:rPr>
              <a:t>选择排序：每次选择</a:t>
            </a:r>
            <a:r>
              <a:rPr lang="en-US" altLang="zh-CN" sz="1800" dirty="0" err="1">
                <a:cs typeface="+mn-ea"/>
                <a:sym typeface="+mn-lt"/>
              </a:rPr>
              <a:t>i</a:t>
            </a:r>
            <a:r>
              <a:rPr lang="en-US" altLang="zh-CN" sz="1800" dirty="0">
                <a:cs typeface="+mn-ea"/>
                <a:sym typeface="+mn-lt"/>
              </a:rPr>
              <a:t>-n</a:t>
            </a:r>
            <a:r>
              <a:rPr lang="zh-CN" altLang="en-US" sz="1800" dirty="0">
                <a:cs typeface="+mn-ea"/>
                <a:sym typeface="+mn-lt"/>
              </a:rPr>
              <a:t>中最小的元素放在</a:t>
            </a:r>
            <a:r>
              <a:rPr lang="en-US" altLang="zh-CN" sz="1800" dirty="0" err="1">
                <a:cs typeface="+mn-ea"/>
                <a:sym typeface="+mn-lt"/>
              </a:rPr>
              <a:t>i</a:t>
            </a:r>
            <a:r>
              <a:rPr lang="zh-CN" altLang="en-US" sz="1800" dirty="0">
                <a:cs typeface="+mn-ea"/>
                <a:sym typeface="+mn-lt"/>
              </a:rPr>
              <a:t>处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6630" y="1286617"/>
            <a:ext cx="952500" cy="353377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16805" y="1436715"/>
            <a:ext cx="3495238" cy="2819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751550"/>
      </p:ext>
    </p:extLst>
  </p:cSld>
  <p:clrMapOvr>
    <a:masterClrMapping/>
  </p:clrMapOvr>
  <p:transition spd="slow">
    <p:push dir="u"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476520" y="96475"/>
            <a:ext cx="387045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程序填空</a:t>
            </a:r>
          </a:p>
        </p:txBody>
      </p:sp>
      <p:sp>
        <p:nvSpPr>
          <p:cNvPr id="12" name="矩形 11"/>
          <p:cNvSpPr/>
          <p:nvPr/>
        </p:nvSpPr>
        <p:spPr>
          <a:xfrm>
            <a:off x="476520" y="430384"/>
            <a:ext cx="387045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00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Always believe that something wonderful is about to happen</a:t>
            </a:r>
            <a:r>
              <a:rPr lang="en-US" altLang="zh-CN" sz="10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.</a:t>
            </a:r>
            <a:endParaRPr lang="zh-CN" altLang="en-US" sz="1000" dirty="0">
              <a:solidFill>
                <a:schemeClr val="tx1">
                  <a:lumMod val="50000"/>
                  <a:lumOff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9" name="AutoShape 3" descr="正确"/>
          <p:cNvSpPr>
            <a:spLocks noChangeAspect="1" noChangeArrowheads="1"/>
          </p:cNvSpPr>
          <p:nvPr/>
        </p:nvSpPr>
        <p:spPr bwMode="auto">
          <a:xfrm>
            <a:off x="1619040" y="471783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10" name="Rectangle 2"/>
          <p:cNvSpPr txBox="1">
            <a:spLocks noChangeArrowheads="1"/>
          </p:cNvSpPr>
          <p:nvPr/>
        </p:nvSpPr>
        <p:spPr>
          <a:xfrm>
            <a:off x="476520" y="985522"/>
            <a:ext cx="6215190" cy="301095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80000"/>
              </a:lnSpc>
              <a:buFontTx/>
              <a:buNone/>
              <a:defRPr/>
            </a:pPr>
            <a:r>
              <a:rPr lang="zh-CN" altLang="en-US" sz="1800" dirty="0">
                <a:cs typeface="+mn-ea"/>
                <a:sym typeface="+mn-lt"/>
              </a:rPr>
              <a:t>插入排序：在</a:t>
            </a:r>
            <a:r>
              <a:rPr lang="en-US" altLang="zh-CN" sz="1800" dirty="0">
                <a:cs typeface="+mn-ea"/>
                <a:sym typeface="+mn-lt"/>
              </a:rPr>
              <a:t>a[0]~a[i-1]</a:t>
            </a:r>
            <a:r>
              <a:rPr lang="zh-CN" altLang="en-US" sz="1800" dirty="0">
                <a:cs typeface="+mn-ea"/>
                <a:sym typeface="+mn-lt"/>
              </a:rPr>
              <a:t>中找到</a:t>
            </a:r>
            <a:r>
              <a:rPr lang="en-US" altLang="zh-CN" sz="1800" dirty="0">
                <a:cs typeface="+mn-ea"/>
                <a:sym typeface="+mn-lt"/>
              </a:rPr>
              <a:t>a[</a:t>
            </a:r>
            <a:r>
              <a:rPr lang="en-US" altLang="zh-CN" sz="1800" dirty="0" err="1">
                <a:cs typeface="+mn-ea"/>
                <a:sym typeface="+mn-lt"/>
              </a:rPr>
              <a:t>i</a:t>
            </a:r>
            <a:r>
              <a:rPr lang="en-US" altLang="zh-CN" sz="1800" dirty="0">
                <a:cs typeface="+mn-ea"/>
                <a:sym typeface="+mn-lt"/>
              </a:rPr>
              <a:t>]</a:t>
            </a:r>
            <a:r>
              <a:rPr lang="zh-CN" altLang="en-US" sz="1800" dirty="0">
                <a:cs typeface="+mn-ea"/>
                <a:sym typeface="+mn-lt"/>
              </a:rPr>
              <a:t>合适的位置插入</a:t>
            </a:r>
          </a:p>
        </p:txBody>
      </p:sp>
      <p:pic>
        <p:nvPicPr>
          <p:cNvPr id="1026" name="Picture 2" descr="https://upload.wikimedia.org/wikipedia/commons/0/0f/Insertion-sort-example-300px.gif"/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6535" y="1851670"/>
            <a:ext cx="2857500" cy="1714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16905" y="1626645"/>
            <a:ext cx="4200000" cy="22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8200292"/>
      </p:ext>
    </p:extLst>
  </p:cSld>
  <p:clrMapOvr>
    <a:masterClrMapping/>
  </p:clrMapOvr>
  <p:transition spd="slow">
    <p:push dir="u"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476520" y="96475"/>
            <a:ext cx="387045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结构、枚举、联合</a:t>
            </a:r>
          </a:p>
        </p:txBody>
      </p:sp>
      <p:sp>
        <p:nvSpPr>
          <p:cNvPr id="12" name="矩形 11"/>
          <p:cNvSpPr/>
          <p:nvPr/>
        </p:nvSpPr>
        <p:spPr>
          <a:xfrm>
            <a:off x="476520" y="430384"/>
            <a:ext cx="387045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00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Always believe that something wonderful is about to happen</a:t>
            </a:r>
            <a:r>
              <a:rPr lang="en-US" altLang="zh-CN" sz="10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.</a:t>
            </a:r>
            <a:endParaRPr lang="zh-CN" altLang="en-US" sz="1000" dirty="0">
              <a:solidFill>
                <a:schemeClr val="tx1">
                  <a:lumMod val="50000"/>
                  <a:lumOff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9" name="AutoShape 3" descr="正确"/>
          <p:cNvSpPr>
            <a:spLocks noChangeAspect="1" noChangeArrowheads="1"/>
          </p:cNvSpPr>
          <p:nvPr/>
        </p:nvSpPr>
        <p:spPr bwMode="auto">
          <a:xfrm>
            <a:off x="1619040" y="471783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8" name="矩形 3"/>
          <p:cNvSpPr txBox="1">
            <a:spLocks noChangeArrowheads="1"/>
          </p:cNvSpPr>
          <p:nvPr/>
        </p:nvSpPr>
        <p:spPr>
          <a:xfrm>
            <a:off x="476521" y="1041581"/>
            <a:ext cx="6075700" cy="355539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结构体（</a:t>
            </a:r>
            <a:r>
              <a:rPr lang="en-US" altLang="zh-CN" b="1" dirty="0" err="1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struct</a:t>
            </a:r>
            <a:r>
              <a:rPr lang="zh-CN" altLang="en-US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）</a:t>
            </a:r>
            <a:endParaRPr lang="en-US" altLang="zh-CN" b="1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lvl="1"/>
            <a:r>
              <a:rPr lang="zh-CN" altLang="en-US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组合的数据类型</a:t>
            </a:r>
            <a:endParaRPr lang="en-US" altLang="zh-CN" b="1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r>
              <a:rPr lang="zh-CN" altLang="en-US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共用体（</a:t>
            </a:r>
            <a:r>
              <a:rPr lang="en-US" altLang="zh-CN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union</a:t>
            </a:r>
            <a:r>
              <a:rPr lang="zh-CN" altLang="en-US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）</a:t>
            </a:r>
            <a:endParaRPr lang="en-US" altLang="zh-CN" b="1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lvl="1"/>
            <a:r>
              <a:rPr lang="zh-CN" altLang="en-US" sz="18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大小为成员变量中最大的 </a:t>
            </a:r>
            <a:endParaRPr lang="en-US" altLang="zh-CN" sz="1800" b="1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lvl="1"/>
            <a:r>
              <a:rPr lang="zh-CN" altLang="en-US" sz="18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其中一个被赋值之后，其他变量的值均消失</a:t>
            </a:r>
            <a:endParaRPr lang="en-US" altLang="zh-CN" sz="1800" b="1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r>
              <a:rPr lang="zh-CN" altLang="en-US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枚举类型（</a:t>
            </a:r>
            <a:r>
              <a:rPr lang="en-US" altLang="zh-CN" b="1" dirty="0" err="1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enum</a:t>
            </a:r>
            <a:r>
              <a:rPr lang="zh-CN" altLang="en-US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）</a:t>
            </a:r>
            <a:r>
              <a:rPr lang="en-US" altLang="zh-CN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——</a:t>
            </a:r>
            <a:r>
              <a:rPr lang="zh-CN" altLang="en-US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声明代表整数常量的符号名称</a:t>
            </a:r>
            <a:endParaRPr lang="en-US" altLang="zh-CN" b="1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lvl="1"/>
            <a:r>
              <a:rPr lang="zh-CN" altLang="en-US" sz="18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赋值时只能用枚举出的值</a:t>
            </a:r>
            <a:endParaRPr lang="en-US" altLang="zh-CN" sz="1800" b="1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lvl="1"/>
            <a:r>
              <a:rPr lang="zh-CN" altLang="en-US" sz="18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枚举常量不能赋值</a:t>
            </a:r>
            <a:endParaRPr lang="en-US" altLang="zh-CN" sz="1800" b="1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lvl="1"/>
            <a:r>
              <a:rPr lang="zh-CN" altLang="en-US" sz="18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默认从</a:t>
            </a:r>
            <a:r>
              <a:rPr lang="en-US" altLang="zh-CN" sz="18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0</a:t>
            </a:r>
            <a:r>
              <a:rPr lang="zh-CN" altLang="en-US" sz="18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开始</a:t>
            </a:r>
            <a:endParaRPr lang="en-US" altLang="zh-CN" sz="1800" b="1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6995" y="296530"/>
            <a:ext cx="4114444" cy="23772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753200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523"/>
          <p:cNvSpPr/>
          <p:nvPr/>
        </p:nvSpPr>
        <p:spPr>
          <a:xfrm>
            <a:off x="476519" y="96474"/>
            <a:ext cx="3870457" cy="4001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2000"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文件操作</a:t>
            </a:r>
            <a:endParaRPr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" name="Shape 524"/>
          <p:cNvSpPr/>
          <p:nvPr/>
        </p:nvSpPr>
        <p:spPr>
          <a:xfrm>
            <a:off x="476519" y="430384"/>
            <a:ext cx="3870457" cy="2462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1000">
                <a:solidFill>
                  <a:srgbClr val="808080"/>
                </a:solidFill>
                <a:latin typeface="Microsoft YaHei UI"/>
                <a:ea typeface="Microsoft YaHei UI"/>
                <a:cs typeface="Microsoft YaHei UI"/>
                <a:sym typeface="Microsoft YaHei UI"/>
              </a:defRPr>
            </a:lvl1pPr>
          </a:lstStyle>
          <a:p>
            <a:r>
              <a:rPr dirty="0">
                <a:latin typeface="+mn-lt"/>
                <a:ea typeface="+mn-ea"/>
                <a:cs typeface="+mn-ea"/>
                <a:sym typeface="+mn-lt"/>
              </a:rPr>
              <a:t>Always believe that something wonderful is about to happen.</a:t>
            </a:r>
          </a:p>
        </p:txBody>
      </p:sp>
      <p:sp>
        <p:nvSpPr>
          <p:cNvPr id="4" name="Shape 513"/>
          <p:cNvSpPr/>
          <p:nvPr/>
        </p:nvSpPr>
        <p:spPr>
          <a:xfrm>
            <a:off x="478195" y="830495"/>
            <a:ext cx="8370931" cy="4883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718" tIns="45718" rIns="45718" bIns="45718">
            <a:spAutoFit/>
          </a:bodyPr>
          <a:lstStyle/>
          <a:p>
            <a:pPr marL="342892" indent="-342892" defTabSz="457189">
              <a:spcBef>
                <a:spcPts val="1000"/>
              </a:spcBef>
              <a:buClr>
                <a:schemeClr val="accent1"/>
              </a:buClr>
              <a:buSzPct val="80000"/>
              <a:buFont typeface="Wingdings 3"/>
              <a:buChar char=""/>
              <a:defRPr sz="2800" b="1">
                <a:solidFill>
                  <a:srgbClr val="404040"/>
                </a:solidFill>
                <a:latin typeface="Microsoft YaHei UI"/>
                <a:ea typeface="Microsoft YaHei UI"/>
                <a:cs typeface="Microsoft YaHei UI"/>
                <a:sym typeface="Microsoft YaHei UI"/>
              </a:defRPr>
            </a:pPr>
            <a:r>
              <a:rPr lang="zh-CN" altLang="en-US" sz="2000" dirty="0">
                <a:cs typeface="+mn-ea"/>
                <a:sym typeface="+mn-lt"/>
              </a:rPr>
              <a:t>文件类型为定义好了的结构类型 </a:t>
            </a:r>
            <a:r>
              <a:rPr lang="en-US" altLang="zh-CN" sz="2000" dirty="0">
                <a:cs typeface="+mn-ea"/>
                <a:sym typeface="+mn-lt"/>
              </a:rPr>
              <a:t>FILE</a:t>
            </a:r>
          </a:p>
          <a:p>
            <a:pPr marL="342892" lvl="1" indent="-342892" defTabSz="457189">
              <a:spcBef>
                <a:spcPts val="1000"/>
              </a:spcBef>
              <a:buClr>
                <a:schemeClr val="accent1"/>
              </a:buClr>
              <a:buSzPct val="80000"/>
              <a:buFont typeface="Wingdings 3"/>
              <a:buChar char=""/>
              <a:defRPr sz="2800" b="1">
                <a:solidFill>
                  <a:srgbClr val="404040"/>
                </a:solidFill>
                <a:latin typeface="Microsoft YaHei UI"/>
                <a:ea typeface="Microsoft YaHei UI"/>
                <a:cs typeface="Microsoft YaHei UI"/>
                <a:sym typeface="Microsoft YaHei UI"/>
              </a:defRPr>
            </a:pPr>
            <a:r>
              <a:rPr lang="zh-CN" altLang="en-US" sz="2000" dirty="0">
                <a:cs typeface="+mn-ea"/>
                <a:sym typeface="+mn-lt"/>
              </a:rPr>
              <a:t>一些常用的文件函数：</a:t>
            </a:r>
            <a:endParaRPr lang="en-US" altLang="zh-CN" sz="2000" dirty="0">
              <a:cs typeface="+mn-ea"/>
              <a:sym typeface="+mn-lt"/>
            </a:endParaRPr>
          </a:p>
          <a:p>
            <a:pPr defTabSz="457189">
              <a:spcBef>
                <a:spcPts val="1000"/>
              </a:spcBef>
              <a:buClr>
                <a:schemeClr val="accent1"/>
              </a:buClr>
              <a:buSzPct val="80000"/>
              <a:defRPr sz="2800" b="1">
                <a:solidFill>
                  <a:srgbClr val="404040"/>
                </a:solidFill>
                <a:latin typeface="Microsoft YaHei UI"/>
                <a:ea typeface="Microsoft YaHei UI"/>
                <a:cs typeface="Microsoft YaHei UI"/>
                <a:sym typeface="Microsoft YaHei UI"/>
              </a:defRPr>
            </a:pPr>
            <a:r>
              <a:rPr lang="zh-CN" altLang="en-US" sz="2000" dirty="0">
                <a:cs typeface="+mn-ea"/>
                <a:sym typeface="+mn-lt"/>
              </a:rPr>
              <a:t>	</a:t>
            </a:r>
            <a:r>
              <a:rPr lang="en-US" altLang="zh-CN" sz="2000" dirty="0">
                <a:cs typeface="+mn-ea"/>
                <a:sym typeface="+mn-lt"/>
              </a:rPr>
              <a:t>1. FILE * </a:t>
            </a:r>
            <a:r>
              <a:rPr lang="en-US" altLang="zh-CN" sz="2000" dirty="0" err="1">
                <a:cs typeface="+mn-ea"/>
                <a:sym typeface="+mn-lt"/>
              </a:rPr>
              <a:t>fopen</a:t>
            </a:r>
            <a:r>
              <a:rPr lang="en-US" altLang="zh-CN" sz="2000" dirty="0">
                <a:cs typeface="+mn-ea"/>
                <a:sym typeface="+mn-lt"/>
              </a:rPr>
              <a:t>(“filename”, “ways”);</a:t>
            </a:r>
          </a:p>
          <a:p>
            <a:pPr lvl="1" defTabSz="457189">
              <a:spcBef>
                <a:spcPts val="1000"/>
              </a:spcBef>
              <a:buClr>
                <a:schemeClr val="accent1"/>
              </a:buClr>
              <a:buSzPct val="80000"/>
              <a:defRPr sz="2800" b="1">
                <a:solidFill>
                  <a:srgbClr val="404040"/>
                </a:solidFill>
                <a:latin typeface="Microsoft YaHei UI"/>
                <a:ea typeface="Microsoft YaHei UI"/>
                <a:cs typeface="Microsoft YaHei UI"/>
                <a:sym typeface="Microsoft YaHei UI"/>
              </a:defRPr>
            </a:pPr>
            <a:r>
              <a:rPr lang="en-US" altLang="zh-CN" sz="2000" dirty="0">
                <a:cs typeface="+mn-ea"/>
                <a:sym typeface="+mn-lt"/>
              </a:rPr>
              <a:t>2. </a:t>
            </a:r>
            <a:r>
              <a:rPr lang="en-US" altLang="zh-CN" sz="2000" dirty="0" err="1">
                <a:cs typeface="+mn-ea"/>
                <a:sym typeface="+mn-lt"/>
              </a:rPr>
              <a:t>fclose</a:t>
            </a:r>
            <a:r>
              <a:rPr lang="en-US" altLang="zh-CN" sz="2000" dirty="0">
                <a:cs typeface="+mn-ea"/>
                <a:sym typeface="+mn-lt"/>
              </a:rPr>
              <a:t>(</a:t>
            </a:r>
            <a:r>
              <a:rPr lang="en-US" altLang="zh-CN" sz="2000" dirty="0" err="1">
                <a:cs typeface="+mn-ea"/>
                <a:sym typeface="+mn-lt"/>
              </a:rPr>
              <a:t>fp</a:t>
            </a:r>
            <a:r>
              <a:rPr lang="en-US" altLang="zh-CN" sz="2000" dirty="0">
                <a:cs typeface="+mn-ea"/>
                <a:sym typeface="+mn-lt"/>
              </a:rPr>
              <a:t>);</a:t>
            </a:r>
          </a:p>
          <a:p>
            <a:pPr lvl="1" defTabSz="457189">
              <a:spcBef>
                <a:spcPts val="1000"/>
              </a:spcBef>
              <a:buClr>
                <a:schemeClr val="accent1"/>
              </a:buClr>
              <a:buSzPct val="80000"/>
              <a:defRPr sz="2800" b="1">
                <a:solidFill>
                  <a:srgbClr val="404040"/>
                </a:solidFill>
                <a:latin typeface="Microsoft YaHei UI"/>
                <a:ea typeface="Microsoft YaHei UI"/>
                <a:cs typeface="Microsoft YaHei UI"/>
                <a:sym typeface="Microsoft YaHei UI"/>
              </a:defRPr>
            </a:pPr>
            <a:r>
              <a:rPr lang="en-US" altLang="zh-CN" sz="2000" dirty="0">
                <a:cs typeface="+mn-ea"/>
                <a:sym typeface="+mn-lt"/>
              </a:rPr>
              <a:t>3. </a:t>
            </a:r>
            <a:r>
              <a:rPr lang="en-US" altLang="zh-CN" sz="2000" dirty="0" err="1">
                <a:cs typeface="+mn-ea"/>
                <a:sym typeface="+mn-lt"/>
              </a:rPr>
              <a:t>fputc</a:t>
            </a:r>
            <a:r>
              <a:rPr lang="en-US" altLang="zh-CN" sz="2000" dirty="0">
                <a:cs typeface="+mn-ea"/>
                <a:sym typeface="+mn-lt"/>
              </a:rPr>
              <a:t>(</a:t>
            </a:r>
            <a:r>
              <a:rPr lang="en-US" altLang="zh-CN" sz="2000" dirty="0" err="1">
                <a:cs typeface="+mn-ea"/>
                <a:sym typeface="+mn-lt"/>
              </a:rPr>
              <a:t>ch,fp</a:t>
            </a:r>
            <a:r>
              <a:rPr lang="en-US" altLang="zh-CN" sz="2000" dirty="0">
                <a:cs typeface="+mn-ea"/>
                <a:sym typeface="+mn-lt"/>
              </a:rPr>
              <a:t>)\</a:t>
            </a:r>
            <a:r>
              <a:rPr lang="en-US" altLang="zh-CN" sz="2000" dirty="0" err="1">
                <a:cs typeface="+mn-ea"/>
                <a:sym typeface="+mn-lt"/>
              </a:rPr>
              <a:t>fgetc</a:t>
            </a:r>
            <a:r>
              <a:rPr lang="en-US" altLang="zh-CN" sz="2000" dirty="0">
                <a:cs typeface="+mn-ea"/>
                <a:sym typeface="+mn-lt"/>
              </a:rPr>
              <a:t>(</a:t>
            </a:r>
            <a:r>
              <a:rPr lang="en-US" altLang="zh-CN" sz="2000" dirty="0" err="1">
                <a:cs typeface="+mn-ea"/>
                <a:sym typeface="+mn-lt"/>
              </a:rPr>
              <a:t>fp</a:t>
            </a:r>
            <a:r>
              <a:rPr lang="en-US" altLang="zh-CN" sz="2000" dirty="0">
                <a:cs typeface="+mn-ea"/>
                <a:sym typeface="+mn-lt"/>
              </a:rPr>
              <a:t>)\</a:t>
            </a:r>
            <a:r>
              <a:rPr lang="en-US" altLang="zh-CN" sz="2000" dirty="0" err="1">
                <a:cs typeface="+mn-ea"/>
                <a:sym typeface="+mn-lt"/>
              </a:rPr>
              <a:t>fputs</a:t>
            </a:r>
            <a:r>
              <a:rPr lang="en-US" altLang="zh-CN" sz="2000" dirty="0">
                <a:cs typeface="+mn-ea"/>
                <a:sym typeface="+mn-lt"/>
              </a:rPr>
              <a:t>(“</a:t>
            </a:r>
            <a:r>
              <a:rPr lang="en-US" altLang="zh-CN" sz="2000" dirty="0" err="1">
                <a:cs typeface="+mn-ea"/>
                <a:sym typeface="+mn-lt"/>
              </a:rPr>
              <a:t>str</a:t>
            </a:r>
            <a:r>
              <a:rPr lang="en-US" altLang="zh-CN" sz="2000" dirty="0">
                <a:cs typeface="+mn-ea"/>
                <a:sym typeface="+mn-lt"/>
              </a:rPr>
              <a:t>”,</a:t>
            </a:r>
            <a:r>
              <a:rPr lang="en-US" altLang="zh-CN" sz="2000" dirty="0" err="1">
                <a:cs typeface="+mn-ea"/>
                <a:sym typeface="+mn-lt"/>
              </a:rPr>
              <a:t>fp</a:t>
            </a:r>
            <a:r>
              <a:rPr lang="en-US" altLang="zh-CN" sz="2000" dirty="0">
                <a:cs typeface="+mn-ea"/>
                <a:sym typeface="+mn-lt"/>
              </a:rPr>
              <a:t>)\</a:t>
            </a:r>
            <a:r>
              <a:rPr lang="en-US" altLang="zh-CN" sz="2000" dirty="0" err="1">
                <a:cs typeface="+mn-ea"/>
                <a:sym typeface="+mn-lt"/>
              </a:rPr>
              <a:t>fgets</a:t>
            </a:r>
            <a:r>
              <a:rPr lang="en-US" altLang="zh-CN" sz="2000" dirty="0">
                <a:cs typeface="+mn-ea"/>
                <a:sym typeface="+mn-lt"/>
              </a:rPr>
              <a:t>(</a:t>
            </a:r>
            <a:r>
              <a:rPr lang="en-US" altLang="zh-CN" sz="2000" dirty="0" err="1">
                <a:cs typeface="+mn-ea"/>
                <a:sym typeface="+mn-lt"/>
              </a:rPr>
              <a:t>str,n,fp</a:t>
            </a:r>
            <a:r>
              <a:rPr lang="en-US" altLang="zh-CN" sz="2000" dirty="0">
                <a:cs typeface="+mn-ea"/>
                <a:sym typeface="+mn-lt"/>
              </a:rPr>
              <a:t>);</a:t>
            </a:r>
          </a:p>
          <a:p>
            <a:pPr lvl="1" defTabSz="457189">
              <a:spcBef>
                <a:spcPts val="1000"/>
              </a:spcBef>
              <a:buClr>
                <a:schemeClr val="accent1"/>
              </a:buClr>
              <a:buSzPct val="80000"/>
              <a:defRPr sz="2800" b="1">
                <a:solidFill>
                  <a:srgbClr val="404040"/>
                </a:solidFill>
                <a:latin typeface="Microsoft YaHei UI"/>
                <a:ea typeface="Microsoft YaHei UI"/>
                <a:cs typeface="Microsoft YaHei UI"/>
                <a:sym typeface="Microsoft YaHei UI"/>
              </a:defRPr>
            </a:pPr>
            <a:r>
              <a:rPr lang="en-US" altLang="zh-CN" sz="2000" dirty="0">
                <a:cs typeface="+mn-ea"/>
                <a:sym typeface="+mn-lt"/>
              </a:rPr>
              <a:t>4. </a:t>
            </a:r>
            <a:r>
              <a:rPr lang="en-US" altLang="zh-CN" sz="2000" dirty="0" err="1">
                <a:cs typeface="+mn-ea"/>
                <a:sym typeface="+mn-lt"/>
              </a:rPr>
              <a:t>fread</a:t>
            </a:r>
            <a:r>
              <a:rPr lang="en-US" altLang="zh-CN" sz="2000" dirty="0">
                <a:cs typeface="+mn-ea"/>
                <a:sym typeface="+mn-lt"/>
              </a:rPr>
              <a:t>(</a:t>
            </a:r>
            <a:r>
              <a:rPr lang="en-US" altLang="zh-CN" sz="2000" dirty="0" err="1">
                <a:cs typeface="+mn-ea"/>
                <a:sym typeface="+mn-lt"/>
              </a:rPr>
              <a:t>buffer,size,count,fp</a:t>
            </a:r>
            <a:r>
              <a:rPr lang="en-US" altLang="zh-CN" sz="2000" dirty="0">
                <a:cs typeface="+mn-ea"/>
                <a:sym typeface="+mn-lt"/>
              </a:rPr>
              <a:t>)\</a:t>
            </a:r>
            <a:r>
              <a:rPr lang="en-US" altLang="zh-CN" sz="2000" dirty="0" err="1">
                <a:cs typeface="+mn-ea"/>
                <a:sym typeface="+mn-lt"/>
              </a:rPr>
              <a:t>fwrite</a:t>
            </a:r>
            <a:r>
              <a:rPr lang="en-US" altLang="zh-CN" sz="2000" dirty="0">
                <a:cs typeface="+mn-ea"/>
                <a:sym typeface="+mn-lt"/>
              </a:rPr>
              <a:t>(</a:t>
            </a:r>
            <a:r>
              <a:rPr lang="en-US" altLang="zh-CN" sz="2000" dirty="0" err="1">
                <a:cs typeface="+mn-ea"/>
                <a:sym typeface="+mn-lt"/>
              </a:rPr>
              <a:t>buffer,size,count,fp</a:t>
            </a:r>
            <a:r>
              <a:rPr lang="en-US" altLang="zh-CN" sz="2000" dirty="0">
                <a:cs typeface="+mn-ea"/>
                <a:sym typeface="+mn-lt"/>
              </a:rPr>
              <a:t>);</a:t>
            </a:r>
          </a:p>
          <a:p>
            <a:pPr lvl="1" defTabSz="457189">
              <a:spcBef>
                <a:spcPts val="1000"/>
              </a:spcBef>
              <a:buClr>
                <a:schemeClr val="accent1"/>
              </a:buClr>
              <a:buSzPct val="80000"/>
              <a:defRPr sz="2800" b="1">
                <a:solidFill>
                  <a:srgbClr val="404040"/>
                </a:solidFill>
                <a:latin typeface="Microsoft YaHei UI"/>
                <a:ea typeface="Microsoft YaHei UI"/>
                <a:cs typeface="Microsoft YaHei UI"/>
                <a:sym typeface="Microsoft YaHei UI"/>
              </a:defRPr>
            </a:pPr>
            <a:r>
              <a:rPr lang="en-US" altLang="zh-CN" sz="2000" dirty="0">
                <a:cs typeface="+mn-ea"/>
                <a:sym typeface="+mn-lt"/>
              </a:rPr>
              <a:t>5. </a:t>
            </a:r>
            <a:r>
              <a:rPr lang="en-US" altLang="zh-CN" sz="2000" dirty="0" err="1">
                <a:cs typeface="+mn-ea"/>
                <a:sym typeface="+mn-lt"/>
              </a:rPr>
              <a:t>fscanf</a:t>
            </a:r>
            <a:r>
              <a:rPr lang="en-US" altLang="zh-CN" sz="2000" dirty="0">
                <a:cs typeface="+mn-ea"/>
                <a:sym typeface="+mn-lt"/>
              </a:rPr>
              <a:t>(</a:t>
            </a:r>
            <a:r>
              <a:rPr lang="en-US" altLang="zh-CN" sz="2000" dirty="0" err="1">
                <a:cs typeface="+mn-ea"/>
                <a:sym typeface="+mn-lt"/>
              </a:rPr>
              <a:t>fp</a:t>
            </a:r>
            <a:r>
              <a:rPr lang="en-US" altLang="zh-CN" sz="2000" dirty="0">
                <a:cs typeface="+mn-ea"/>
                <a:sym typeface="+mn-lt"/>
              </a:rPr>
              <a:t>,…)\</a:t>
            </a:r>
            <a:r>
              <a:rPr lang="en-US" altLang="zh-CN" sz="2000" dirty="0" err="1">
                <a:cs typeface="+mn-ea"/>
                <a:sym typeface="+mn-lt"/>
              </a:rPr>
              <a:t>fprintf</a:t>
            </a:r>
            <a:r>
              <a:rPr lang="en-US" altLang="zh-CN" sz="2000" dirty="0">
                <a:cs typeface="+mn-ea"/>
                <a:sym typeface="+mn-lt"/>
              </a:rPr>
              <a:t>(</a:t>
            </a:r>
            <a:r>
              <a:rPr lang="en-US" altLang="zh-CN" sz="2000" dirty="0" err="1">
                <a:cs typeface="+mn-ea"/>
                <a:sym typeface="+mn-lt"/>
              </a:rPr>
              <a:t>fp</a:t>
            </a:r>
            <a:r>
              <a:rPr lang="en-US" altLang="zh-CN" sz="2000" dirty="0">
                <a:cs typeface="+mn-ea"/>
                <a:sym typeface="+mn-lt"/>
              </a:rPr>
              <a:t>,…);</a:t>
            </a:r>
          </a:p>
          <a:p>
            <a:pPr lvl="1" defTabSz="457189">
              <a:spcBef>
                <a:spcPts val="1000"/>
              </a:spcBef>
              <a:buClr>
                <a:schemeClr val="accent1"/>
              </a:buClr>
              <a:buSzPct val="80000"/>
              <a:defRPr sz="2800" b="1">
                <a:solidFill>
                  <a:srgbClr val="404040"/>
                </a:solidFill>
                <a:latin typeface="Microsoft YaHei UI"/>
                <a:ea typeface="Microsoft YaHei UI"/>
                <a:cs typeface="Microsoft YaHei UI"/>
                <a:sym typeface="Microsoft YaHei UI"/>
              </a:defRPr>
            </a:pPr>
            <a:r>
              <a:rPr lang="en-US" altLang="zh-CN" sz="2000" dirty="0">
                <a:cs typeface="+mn-ea"/>
                <a:sym typeface="+mn-lt"/>
              </a:rPr>
              <a:t>6. </a:t>
            </a:r>
            <a:r>
              <a:rPr lang="en-US" altLang="zh-CN" sz="2000" dirty="0" err="1">
                <a:cs typeface="+mn-ea"/>
                <a:sym typeface="+mn-lt"/>
              </a:rPr>
              <a:t>feof</a:t>
            </a:r>
            <a:r>
              <a:rPr lang="en-US" altLang="zh-CN" sz="2000" dirty="0">
                <a:cs typeface="+mn-ea"/>
                <a:sym typeface="+mn-lt"/>
              </a:rPr>
              <a:t>(</a:t>
            </a:r>
            <a:r>
              <a:rPr lang="en-US" altLang="zh-CN" sz="2000" dirty="0" err="1">
                <a:cs typeface="+mn-ea"/>
                <a:sym typeface="+mn-lt"/>
              </a:rPr>
              <a:t>fp</a:t>
            </a:r>
            <a:r>
              <a:rPr lang="en-US" altLang="zh-CN" sz="2000" dirty="0">
                <a:cs typeface="+mn-ea"/>
                <a:sym typeface="+mn-lt"/>
              </a:rPr>
              <a:t>)\rewind(</a:t>
            </a:r>
            <a:r>
              <a:rPr lang="en-US" altLang="zh-CN" sz="2000" dirty="0" err="1">
                <a:cs typeface="+mn-ea"/>
                <a:sym typeface="+mn-lt"/>
              </a:rPr>
              <a:t>fp</a:t>
            </a:r>
            <a:r>
              <a:rPr lang="en-US" altLang="zh-CN" sz="2000" dirty="0">
                <a:cs typeface="+mn-ea"/>
                <a:sym typeface="+mn-lt"/>
              </a:rPr>
              <a:t>)\</a:t>
            </a:r>
            <a:r>
              <a:rPr lang="en-US" altLang="zh-CN" sz="2000" dirty="0" err="1">
                <a:cs typeface="+mn-ea"/>
                <a:sym typeface="+mn-lt"/>
              </a:rPr>
              <a:t>fseek</a:t>
            </a:r>
            <a:r>
              <a:rPr lang="en-US" altLang="zh-CN" sz="2000" dirty="0">
                <a:cs typeface="+mn-ea"/>
                <a:sym typeface="+mn-lt"/>
              </a:rPr>
              <a:t>(</a:t>
            </a:r>
            <a:r>
              <a:rPr lang="en-US" altLang="zh-CN" sz="2000" dirty="0" err="1">
                <a:cs typeface="+mn-ea"/>
                <a:sym typeface="+mn-lt"/>
              </a:rPr>
              <a:t>fp,offset,origin</a:t>
            </a:r>
            <a:r>
              <a:rPr lang="en-US" altLang="zh-CN" sz="2000" dirty="0">
                <a:cs typeface="+mn-ea"/>
                <a:sym typeface="+mn-lt"/>
              </a:rPr>
              <a:t>)\</a:t>
            </a:r>
            <a:r>
              <a:rPr lang="en-US" altLang="zh-CN" sz="2000" dirty="0" err="1">
                <a:cs typeface="+mn-ea"/>
                <a:sym typeface="+mn-lt"/>
              </a:rPr>
              <a:t>ftell</a:t>
            </a:r>
            <a:r>
              <a:rPr lang="en-US" altLang="zh-CN" sz="2000" dirty="0">
                <a:cs typeface="+mn-ea"/>
                <a:sym typeface="+mn-lt"/>
              </a:rPr>
              <a:t>(</a:t>
            </a:r>
            <a:r>
              <a:rPr lang="en-US" altLang="zh-CN" sz="2000" dirty="0" err="1">
                <a:cs typeface="+mn-ea"/>
                <a:sym typeface="+mn-lt"/>
              </a:rPr>
              <a:t>fp</a:t>
            </a:r>
            <a:r>
              <a:rPr lang="en-US" altLang="zh-CN" sz="2000" dirty="0">
                <a:cs typeface="+mn-ea"/>
                <a:sym typeface="+mn-lt"/>
              </a:rPr>
              <a:t>)</a:t>
            </a:r>
          </a:p>
          <a:p>
            <a:pPr marL="342892" lvl="1" indent="-342892" defTabSz="457189">
              <a:spcBef>
                <a:spcPts val="1000"/>
              </a:spcBef>
              <a:buClr>
                <a:schemeClr val="accent1"/>
              </a:buClr>
              <a:buSzPct val="80000"/>
              <a:buFont typeface="Wingdings 3"/>
              <a:buChar char=""/>
              <a:defRPr sz="2800" b="1">
                <a:solidFill>
                  <a:srgbClr val="404040"/>
                </a:solidFill>
                <a:latin typeface="Microsoft YaHei UI"/>
                <a:ea typeface="Microsoft YaHei UI"/>
                <a:cs typeface="Microsoft YaHei UI"/>
                <a:sym typeface="Microsoft YaHei UI"/>
              </a:defRPr>
            </a:pPr>
            <a:r>
              <a:rPr lang="zh-CN" altLang="en-US" sz="2000" dirty="0">
                <a:cs typeface="+mn-ea"/>
                <a:sym typeface="+mn-lt"/>
              </a:rPr>
              <a:t>基本就这些，用法自己对照书上查，保证考试前过一遍</a:t>
            </a:r>
            <a:endParaRPr lang="en-US" altLang="zh-CN" sz="2000" dirty="0">
              <a:cs typeface="+mn-ea"/>
              <a:sym typeface="+mn-lt"/>
            </a:endParaRPr>
          </a:p>
          <a:p>
            <a:pPr marL="342892" lvl="1" indent="-342892" defTabSz="457189">
              <a:spcBef>
                <a:spcPts val="1000"/>
              </a:spcBef>
              <a:buClr>
                <a:schemeClr val="accent1"/>
              </a:buClr>
              <a:buSzPct val="80000"/>
              <a:buFont typeface="Wingdings 3"/>
              <a:buChar char=""/>
              <a:defRPr sz="2800" b="1">
                <a:solidFill>
                  <a:srgbClr val="404040"/>
                </a:solidFill>
                <a:latin typeface="Microsoft YaHei UI"/>
                <a:ea typeface="Microsoft YaHei UI"/>
                <a:cs typeface="Microsoft YaHei UI"/>
                <a:sym typeface="Microsoft YaHei UI"/>
              </a:defRPr>
            </a:pPr>
            <a:endParaRPr lang="en-US" altLang="zh-CN" sz="2000" dirty="0">
              <a:cs typeface="+mn-ea"/>
              <a:sym typeface="+mn-lt"/>
            </a:endParaRPr>
          </a:p>
          <a:p>
            <a:pPr marL="342892" indent="-342892" defTabSz="457189">
              <a:spcBef>
                <a:spcPts val="1000"/>
              </a:spcBef>
              <a:buClr>
                <a:schemeClr val="accent1"/>
              </a:buClr>
              <a:buSzPct val="80000"/>
              <a:buFont typeface="Wingdings 3"/>
              <a:buChar char=""/>
              <a:defRPr sz="2800" b="1">
                <a:solidFill>
                  <a:srgbClr val="404040"/>
                </a:solidFill>
                <a:latin typeface="Microsoft YaHei UI"/>
                <a:ea typeface="Microsoft YaHei UI"/>
                <a:cs typeface="Microsoft YaHei UI"/>
                <a:sym typeface="Microsoft YaHei UI"/>
              </a:defRPr>
            </a:pPr>
            <a:endParaRPr sz="2800" dirty="0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268338778"/>
      </p:ext>
    </p:extLst>
  </p:cSld>
  <p:clrMapOvr>
    <a:masterClrMapping/>
  </p:clrMapOvr>
  <p:transition spd="slow">
    <p:push dir="u"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523"/>
          <p:cNvSpPr/>
          <p:nvPr/>
        </p:nvSpPr>
        <p:spPr>
          <a:xfrm>
            <a:off x="476519" y="96474"/>
            <a:ext cx="3870457" cy="4001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2000"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文件操作</a:t>
            </a:r>
            <a:endParaRPr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" name="Shape 524"/>
          <p:cNvSpPr/>
          <p:nvPr/>
        </p:nvSpPr>
        <p:spPr>
          <a:xfrm>
            <a:off x="476519" y="430384"/>
            <a:ext cx="3870457" cy="2462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1000">
                <a:solidFill>
                  <a:srgbClr val="808080"/>
                </a:solidFill>
                <a:latin typeface="Microsoft YaHei UI"/>
                <a:ea typeface="Microsoft YaHei UI"/>
                <a:cs typeface="Microsoft YaHei UI"/>
                <a:sym typeface="Microsoft YaHei UI"/>
              </a:defRPr>
            </a:lvl1pPr>
          </a:lstStyle>
          <a:p>
            <a:r>
              <a:rPr dirty="0">
                <a:latin typeface="+mn-lt"/>
                <a:ea typeface="+mn-ea"/>
                <a:cs typeface="+mn-ea"/>
                <a:sym typeface="+mn-lt"/>
              </a:rPr>
              <a:t>Always believe that something wonderful is about to happen.</a:t>
            </a:r>
          </a:p>
        </p:txBody>
      </p:sp>
      <p:sp>
        <p:nvSpPr>
          <p:cNvPr id="7" name="Shape 529"/>
          <p:cNvSpPr/>
          <p:nvPr/>
        </p:nvSpPr>
        <p:spPr>
          <a:xfrm>
            <a:off x="476519" y="1004341"/>
            <a:ext cx="8317700" cy="35394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45718" tIns="45718" rIns="45718" bIns="45718" anchor="ctr">
            <a:spAutoFit/>
          </a:bodyPr>
          <a:lstStyle/>
          <a:p>
            <a:pPr>
              <a:defRPr>
                <a:solidFill>
                  <a:srgbClr val="333333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  <a:r>
              <a:rPr lang="en-US" altLang="zh-CN" sz="1600" dirty="0">
                <a:cs typeface="+mn-ea"/>
                <a:sym typeface="+mn-lt"/>
              </a:rPr>
              <a:t>1.</a:t>
            </a:r>
            <a:r>
              <a:rPr lang="zh-CN" altLang="en-US" sz="1600" dirty="0">
                <a:cs typeface="+mn-ea"/>
                <a:sym typeface="+mn-lt"/>
              </a:rPr>
              <a:t>以下叙述中正确的是（）</a:t>
            </a:r>
          </a:p>
          <a:p>
            <a:pPr>
              <a:defRPr>
                <a:solidFill>
                  <a:srgbClr val="333333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  <a:r>
              <a:rPr lang="en-US" altLang="zh-CN" sz="1600" dirty="0">
                <a:cs typeface="+mn-ea"/>
                <a:sym typeface="+mn-lt"/>
              </a:rPr>
              <a:t>A. </a:t>
            </a:r>
            <a:r>
              <a:rPr lang="zh-CN" altLang="en-US" sz="1600" dirty="0">
                <a:cs typeface="+mn-ea"/>
                <a:sym typeface="+mn-lt"/>
              </a:rPr>
              <a:t>当对文件的读</a:t>
            </a:r>
            <a:r>
              <a:rPr lang="en-US" altLang="zh-CN" sz="1600" dirty="0">
                <a:cs typeface="+mn-ea"/>
                <a:sym typeface="+mn-lt"/>
              </a:rPr>
              <a:t>/</a:t>
            </a:r>
            <a:r>
              <a:rPr lang="zh-CN" altLang="en-US" sz="1600" dirty="0">
                <a:cs typeface="+mn-ea"/>
                <a:sym typeface="+mn-lt"/>
              </a:rPr>
              <a:t>写操作完成之后，必须将它关闭，否则可能导致数据丢失</a:t>
            </a:r>
          </a:p>
          <a:p>
            <a:pPr>
              <a:defRPr>
                <a:solidFill>
                  <a:srgbClr val="333333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  <a:r>
              <a:rPr lang="en-US" altLang="zh-CN" sz="1600" dirty="0">
                <a:cs typeface="+mn-ea"/>
                <a:sym typeface="+mn-lt"/>
              </a:rPr>
              <a:t>B. </a:t>
            </a:r>
            <a:r>
              <a:rPr lang="zh-CN" altLang="en-US" sz="1600" dirty="0">
                <a:cs typeface="+mn-ea"/>
                <a:sym typeface="+mn-lt"/>
              </a:rPr>
              <a:t>打开一个已存在的文件并进行了写操作后，原有文件中的全部数据必定被覆盖</a:t>
            </a:r>
          </a:p>
          <a:p>
            <a:pPr>
              <a:defRPr>
                <a:solidFill>
                  <a:srgbClr val="333333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  <a:r>
              <a:rPr lang="en-US" altLang="zh-CN" sz="1600" dirty="0">
                <a:cs typeface="+mn-ea"/>
                <a:sym typeface="+mn-lt"/>
              </a:rPr>
              <a:t>C. </a:t>
            </a:r>
            <a:r>
              <a:rPr lang="zh-CN" altLang="en-US" sz="1600" dirty="0">
                <a:cs typeface="+mn-ea"/>
                <a:sym typeface="+mn-lt"/>
              </a:rPr>
              <a:t>在一个程序中当对文件进行了写操作后，必须关闭该文件然后再打开，才能读到第一个数据</a:t>
            </a:r>
          </a:p>
          <a:p>
            <a:pPr>
              <a:defRPr>
                <a:solidFill>
                  <a:srgbClr val="333333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  <a:r>
              <a:rPr lang="en-US" altLang="zh-CN" sz="1600" dirty="0">
                <a:cs typeface="+mn-ea"/>
                <a:sym typeface="+mn-lt"/>
              </a:rPr>
              <a:t>D. c</a:t>
            </a:r>
            <a:r>
              <a:rPr lang="zh-CN" altLang="en-US" sz="1600" dirty="0">
                <a:cs typeface="+mn-ea"/>
                <a:sym typeface="+mn-lt"/>
              </a:rPr>
              <a:t>语言中的文件是流式文件，因此只能进行存取数据</a:t>
            </a:r>
          </a:p>
          <a:p>
            <a:pPr>
              <a:defRPr>
                <a:solidFill>
                  <a:srgbClr val="333333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  <a:endParaRPr lang="zh-CN" altLang="en-US" sz="1600" dirty="0">
              <a:cs typeface="+mn-ea"/>
              <a:sym typeface="+mn-lt"/>
            </a:endParaRPr>
          </a:p>
          <a:p>
            <a:pPr>
              <a:defRPr>
                <a:solidFill>
                  <a:srgbClr val="333333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  <a:endParaRPr lang="zh-CN" altLang="en-US" sz="1600" dirty="0">
              <a:cs typeface="+mn-ea"/>
              <a:sym typeface="+mn-lt"/>
            </a:endParaRPr>
          </a:p>
          <a:p>
            <a:pPr>
              <a:defRPr>
                <a:solidFill>
                  <a:srgbClr val="333333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  <a:r>
              <a:rPr lang="en-US" altLang="zh-CN" sz="1600" dirty="0">
                <a:cs typeface="+mn-ea"/>
                <a:sym typeface="+mn-lt"/>
              </a:rPr>
              <a:t>2.</a:t>
            </a:r>
            <a:r>
              <a:rPr lang="zh-CN" altLang="en-US" sz="1600" dirty="0">
                <a:cs typeface="+mn-ea"/>
                <a:sym typeface="+mn-lt"/>
              </a:rPr>
              <a:t>读取二进制文件的函数调用形式为：</a:t>
            </a:r>
            <a:r>
              <a:rPr lang="en-US" altLang="zh-CN" sz="1600" dirty="0" err="1">
                <a:cs typeface="+mn-ea"/>
                <a:sym typeface="+mn-lt"/>
              </a:rPr>
              <a:t>fread</a:t>
            </a:r>
            <a:r>
              <a:rPr lang="en-US" altLang="zh-CN" sz="1600" dirty="0">
                <a:cs typeface="+mn-ea"/>
                <a:sym typeface="+mn-lt"/>
              </a:rPr>
              <a:t>(</a:t>
            </a:r>
            <a:r>
              <a:rPr lang="en-US" altLang="zh-CN" sz="1600" dirty="0" err="1">
                <a:cs typeface="+mn-ea"/>
                <a:sym typeface="+mn-lt"/>
              </a:rPr>
              <a:t>buffer,size,count,fb</a:t>
            </a:r>
            <a:r>
              <a:rPr lang="en-US" altLang="zh-CN" sz="1600" dirty="0">
                <a:cs typeface="+mn-ea"/>
                <a:sym typeface="+mn-lt"/>
              </a:rPr>
              <a:t>); </a:t>
            </a:r>
            <a:r>
              <a:rPr lang="zh-CN" altLang="en-US" sz="1600" dirty="0">
                <a:cs typeface="+mn-ea"/>
                <a:sym typeface="+mn-lt"/>
              </a:rPr>
              <a:t>，其中</a:t>
            </a:r>
            <a:r>
              <a:rPr lang="en-US" altLang="zh-CN" sz="1600" dirty="0">
                <a:cs typeface="+mn-ea"/>
                <a:sym typeface="+mn-lt"/>
              </a:rPr>
              <a:t>buffer</a:t>
            </a:r>
            <a:r>
              <a:rPr lang="zh-CN" altLang="en-US" sz="1600" dirty="0">
                <a:cs typeface="+mn-ea"/>
                <a:sym typeface="+mn-lt"/>
              </a:rPr>
              <a:t>代表的是（）</a:t>
            </a:r>
          </a:p>
          <a:p>
            <a:pPr>
              <a:defRPr>
                <a:solidFill>
                  <a:srgbClr val="333333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  <a:r>
              <a:rPr lang="en-US" altLang="zh-CN" sz="1600" dirty="0">
                <a:cs typeface="+mn-ea"/>
                <a:sym typeface="+mn-lt"/>
              </a:rPr>
              <a:t>A. </a:t>
            </a:r>
            <a:r>
              <a:rPr lang="zh-CN" altLang="en-US" sz="1600" dirty="0">
                <a:cs typeface="+mn-ea"/>
                <a:sym typeface="+mn-lt"/>
              </a:rPr>
              <a:t>一个内存块的字节数</a:t>
            </a:r>
          </a:p>
          <a:p>
            <a:pPr>
              <a:defRPr>
                <a:solidFill>
                  <a:srgbClr val="333333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  <a:r>
              <a:rPr lang="en-US" altLang="zh-CN" sz="1600" dirty="0">
                <a:cs typeface="+mn-ea"/>
                <a:sym typeface="+mn-lt"/>
              </a:rPr>
              <a:t>B. </a:t>
            </a:r>
            <a:r>
              <a:rPr lang="zh-CN" altLang="en-US" sz="1600" dirty="0">
                <a:cs typeface="+mn-ea"/>
                <a:sym typeface="+mn-lt"/>
              </a:rPr>
              <a:t>一个整形变量，代表待读取的数据的字节数</a:t>
            </a:r>
          </a:p>
          <a:p>
            <a:pPr>
              <a:defRPr>
                <a:solidFill>
                  <a:srgbClr val="333333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  <a:r>
              <a:rPr lang="en-US" altLang="zh-CN" sz="1600" dirty="0">
                <a:cs typeface="+mn-ea"/>
                <a:sym typeface="+mn-lt"/>
              </a:rPr>
              <a:t>C. </a:t>
            </a:r>
            <a:r>
              <a:rPr lang="zh-CN" altLang="en-US" sz="1600" dirty="0">
                <a:cs typeface="+mn-ea"/>
                <a:sym typeface="+mn-lt"/>
              </a:rPr>
              <a:t>一个文件指针，指向待读取的文件</a:t>
            </a:r>
          </a:p>
          <a:p>
            <a:pPr>
              <a:defRPr>
                <a:solidFill>
                  <a:srgbClr val="333333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  <a:r>
              <a:rPr lang="en-US" altLang="zh-CN" sz="1600" dirty="0">
                <a:cs typeface="+mn-ea"/>
                <a:sym typeface="+mn-lt"/>
              </a:rPr>
              <a:t>D. </a:t>
            </a:r>
            <a:r>
              <a:rPr lang="zh-CN" altLang="en-US" sz="1600" dirty="0">
                <a:cs typeface="+mn-ea"/>
                <a:sym typeface="+mn-lt"/>
              </a:rPr>
              <a:t>一个内存块的首地址，代表读入数据存放的地址</a:t>
            </a:r>
          </a:p>
        </p:txBody>
      </p:sp>
    </p:spTree>
    <p:extLst>
      <p:ext uri="{BB962C8B-B14F-4D97-AF65-F5344CB8AC3E}">
        <p14:creationId xmlns:p14="http://schemas.microsoft.com/office/powerpoint/2010/main" val="903809077"/>
      </p:ext>
    </p:extLst>
  </p:cSld>
  <p:clrMapOvr>
    <a:masterClrMapping/>
  </p:clrMapOvr>
  <p:transition spd="slow">
    <p:push dir="u"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2D0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1" y="2166704"/>
            <a:ext cx="9144000" cy="450051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6495" y="-1433695"/>
            <a:ext cx="4095993" cy="8094524"/>
          </a:xfrm>
          <a:prstGeom prst="rect">
            <a:avLst/>
          </a:prstGeom>
          <a:noFill/>
          <a:effectLst>
            <a:outerShdw blurRad="165100" dist="76200" dir="1200000" algn="tl" rotWithShape="0">
              <a:prstClr val="black">
                <a:alpha val="1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en-US" altLang="zh-CN" sz="52000" dirty="0">
                <a:solidFill>
                  <a:schemeClr val="bg1"/>
                </a:solidFill>
                <a:cs typeface="+mn-ea"/>
                <a:sym typeface="+mn-lt"/>
              </a:rPr>
              <a:t>1</a:t>
            </a:r>
            <a:endParaRPr lang="zh-CN" altLang="en-US" sz="520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579089" y="2155090"/>
            <a:ext cx="517837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zh-CN" altLang="en-US" sz="2400" dirty="0">
                <a:solidFill>
                  <a:schemeClr val="bg1"/>
                </a:solidFill>
                <a:cs typeface="+mn-ea"/>
                <a:sym typeface="+mn-lt"/>
              </a:rPr>
              <a:t>打印图形</a:t>
            </a:r>
          </a:p>
        </p:txBody>
      </p:sp>
      <p:sp>
        <p:nvSpPr>
          <p:cNvPr id="3" name="矩形 2"/>
          <p:cNvSpPr/>
          <p:nvPr/>
        </p:nvSpPr>
        <p:spPr>
          <a:xfrm>
            <a:off x="5804734" y="1397264"/>
            <a:ext cx="2952731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r"/>
            <a:r>
              <a:rPr lang="en-US" altLang="zh-CN" sz="4400" dirty="0">
                <a:solidFill>
                  <a:schemeClr val="bg1"/>
                </a:solidFill>
                <a:cs typeface="+mn-ea"/>
                <a:sym typeface="+mn-lt"/>
              </a:rPr>
              <a:t>PART ONE</a:t>
            </a:r>
            <a:endParaRPr lang="zh-CN" altLang="en-US" sz="44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6732240" y="2706765"/>
            <a:ext cx="1935215" cy="5705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100" dirty="0">
                <a:solidFill>
                  <a:schemeClr val="bg1"/>
                </a:solidFill>
                <a:cs typeface="+mn-ea"/>
                <a:sym typeface="+mn-lt"/>
              </a:rPr>
              <a:t>循环的起止点，</a:t>
            </a:r>
            <a:r>
              <a:rPr lang="en-US" altLang="zh-CN" sz="1100" dirty="0">
                <a:solidFill>
                  <a:schemeClr val="bg1"/>
                </a:solidFill>
                <a:cs typeface="+mn-ea"/>
                <a:sym typeface="+mn-lt"/>
              </a:rPr>
              <a:t>0,1,n,n-1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100" dirty="0">
                <a:solidFill>
                  <a:schemeClr val="bg1"/>
                </a:solidFill>
                <a:cs typeface="+mn-ea"/>
                <a:sym typeface="+mn-lt"/>
              </a:rPr>
              <a:t>找规律</a:t>
            </a:r>
          </a:p>
        </p:txBody>
      </p:sp>
    </p:spTree>
    <p:extLst>
      <p:ext uri="{BB962C8B-B14F-4D97-AF65-F5344CB8AC3E}">
        <p14:creationId xmlns:p14="http://schemas.microsoft.com/office/powerpoint/2010/main" val="1966888761"/>
      </p:ext>
    </p:extLst>
  </p:cSld>
  <p:clrMapOvr>
    <a:masterClrMapping/>
  </p:clrMapOvr>
  <p:transition spd="slow">
    <p:push dir="u"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476520" y="96475"/>
            <a:ext cx="387045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打印图形</a:t>
            </a:r>
          </a:p>
        </p:txBody>
      </p:sp>
      <p:sp>
        <p:nvSpPr>
          <p:cNvPr id="12" name="矩形 11"/>
          <p:cNvSpPr/>
          <p:nvPr/>
        </p:nvSpPr>
        <p:spPr>
          <a:xfrm>
            <a:off x="476520" y="430384"/>
            <a:ext cx="387045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00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Always believe that something wonderful is about to happen</a:t>
            </a:r>
            <a:r>
              <a:rPr lang="en-US" altLang="zh-CN" sz="10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.</a:t>
            </a:r>
            <a:endParaRPr lang="zh-CN" altLang="en-US" sz="1000" dirty="0">
              <a:solidFill>
                <a:schemeClr val="tx1">
                  <a:lumMod val="50000"/>
                  <a:lumOff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476520" y="1019104"/>
            <a:ext cx="549381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cs typeface="+mn-ea"/>
                <a:sym typeface="+mn-lt"/>
              </a:rPr>
              <a:t>输入行数及左下角字母，输出大写字母等腰三角形。</a:t>
            </a:r>
            <a:endParaRPr lang="en-US" altLang="zh-CN" dirty="0">
              <a:cs typeface="+mn-ea"/>
              <a:sym typeface="+mn-lt"/>
            </a:endParaRPr>
          </a:p>
          <a:p>
            <a:r>
              <a:rPr lang="zh-CN" altLang="en-US" dirty="0">
                <a:cs typeface="+mn-ea"/>
                <a:sym typeface="+mn-lt"/>
              </a:rPr>
              <a:t>输出的字母是循环的，即到字母</a:t>
            </a:r>
            <a:r>
              <a:rPr lang="en-US" altLang="zh-CN" dirty="0">
                <a:cs typeface="+mn-ea"/>
                <a:sym typeface="+mn-lt"/>
              </a:rPr>
              <a:t>’Z’</a:t>
            </a:r>
            <a:r>
              <a:rPr lang="zh-CN" altLang="en-US" dirty="0">
                <a:cs typeface="+mn-ea"/>
                <a:sym typeface="+mn-lt"/>
              </a:rPr>
              <a:t>以后输出</a:t>
            </a:r>
            <a:r>
              <a:rPr lang="en-US" altLang="zh-CN" dirty="0">
                <a:cs typeface="+mn-ea"/>
                <a:sym typeface="+mn-lt"/>
              </a:rPr>
              <a:t>’A’</a:t>
            </a:r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76520" y="1665435"/>
            <a:ext cx="12153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cs typeface="+mn-ea"/>
                <a:sym typeface="+mn-lt"/>
              </a:rPr>
              <a:t>输入</a:t>
            </a:r>
            <a:r>
              <a:rPr lang="zh-CN" altLang="en-US">
                <a:cs typeface="+mn-ea"/>
                <a:sym typeface="+mn-lt"/>
              </a:rPr>
              <a:t>：</a:t>
            </a:r>
            <a:r>
              <a:rPr lang="en-US" altLang="zh-CN">
                <a:cs typeface="+mn-ea"/>
                <a:sym typeface="+mn-lt"/>
              </a:rPr>
              <a:t>4 B</a:t>
            </a:r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76520" y="2187954"/>
            <a:ext cx="1258678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cs typeface="+mn-ea"/>
                <a:sym typeface="+mn-lt"/>
              </a:rPr>
              <a:t>输出：</a:t>
            </a:r>
            <a:endParaRPr lang="en-US" altLang="zh-CN" dirty="0">
              <a:cs typeface="+mn-ea"/>
              <a:sym typeface="+mn-lt"/>
            </a:endParaRPr>
          </a:p>
          <a:p>
            <a:r>
              <a:rPr lang="en-US" altLang="zh-CN">
                <a:cs typeface="+mn-ea"/>
                <a:sym typeface="+mn-lt"/>
              </a:rPr>
              <a:t>      E</a:t>
            </a:r>
            <a:endParaRPr lang="en-US" altLang="zh-CN" dirty="0">
              <a:cs typeface="+mn-ea"/>
              <a:sym typeface="+mn-lt"/>
            </a:endParaRPr>
          </a:p>
          <a:p>
            <a:r>
              <a:rPr lang="en-US" altLang="zh-CN">
                <a:cs typeface="+mn-ea"/>
                <a:sym typeface="+mn-lt"/>
              </a:rPr>
              <a:t>    D  F</a:t>
            </a:r>
            <a:endParaRPr lang="en-US" altLang="zh-CN" dirty="0">
              <a:cs typeface="+mn-ea"/>
              <a:sym typeface="+mn-lt"/>
            </a:endParaRPr>
          </a:p>
          <a:p>
            <a:r>
              <a:rPr lang="en-US" altLang="zh-CN">
                <a:cs typeface="+mn-ea"/>
                <a:sym typeface="+mn-lt"/>
              </a:rPr>
              <a:t>  C      G</a:t>
            </a:r>
            <a:endParaRPr lang="en-US" altLang="zh-CN" dirty="0">
              <a:cs typeface="+mn-ea"/>
              <a:sym typeface="+mn-lt"/>
            </a:endParaRPr>
          </a:p>
          <a:p>
            <a:r>
              <a:rPr lang="en-US" altLang="zh-CN" dirty="0">
                <a:cs typeface="+mn-ea"/>
                <a:sym typeface="+mn-lt"/>
              </a:rPr>
              <a:t>BCDEFGH</a:t>
            </a:r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985767" y="2034767"/>
            <a:ext cx="2811988" cy="280076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400" dirty="0">
                <a:cs typeface="+mn-ea"/>
                <a:sym typeface="+mn-lt"/>
              </a:rPr>
              <a:t>_ _ _E</a:t>
            </a:r>
          </a:p>
          <a:p>
            <a:r>
              <a:rPr lang="en-US" altLang="zh-CN" sz="4400" dirty="0">
                <a:cs typeface="+mn-ea"/>
                <a:sym typeface="+mn-lt"/>
              </a:rPr>
              <a:t>_ _D_F</a:t>
            </a:r>
          </a:p>
          <a:p>
            <a:r>
              <a:rPr lang="en-US" altLang="zh-CN" sz="4400" dirty="0">
                <a:cs typeface="+mn-ea"/>
                <a:sym typeface="+mn-lt"/>
              </a:rPr>
              <a:t>_ C __ G</a:t>
            </a:r>
          </a:p>
          <a:p>
            <a:r>
              <a:rPr lang="en-US" altLang="zh-CN" sz="4400" dirty="0">
                <a:cs typeface="+mn-ea"/>
                <a:sym typeface="+mn-lt"/>
              </a:rPr>
              <a:t>BCDEFGH</a:t>
            </a:r>
            <a:endParaRPr lang="zh-CN" altLang="en-US" sz="4400" dirty="0">
              <a:cs typeface="+mn-ea"/>
              <a:sym typeface="+mn-lt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4574597" y="1665435"/>
            <a:ext cx="36163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1A7BAE"/>
                </a:solidFill>
                <a:cs typeface="+mn-ea"/>
                <a:sym typeface="+mn-lt"/>
              </a:rPr>
              <a:t>step1:</a:t>
            </a:r>
            <a:r>
              <a:rPr lang="zh-CN" altLang="en-US" dirty="0">
                <a:solidFill>
                  <a:srgbClr val="1A7BAE"/>
                </a:solidFill>
                <a:cs typeface="+mn-ea"/>
                <a:sym typeface="+mn-lt"/>
              </a:rPr>
              <a:t>空格换短横线（替换功能）</a:t>
            </a:r>
          </a:p>
        </p:txBody>
      </p:sp>
    </p:spTree>
    <p:extLst>
      <p:ext uri="{BB962C8B-B14F-4D97-AF65-F5344CB8AC3E}">
        <p14:creationId xmlns:p14="http://schemas.microsoft.com/office/powerpoint/2010/main" val="214871304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476520" y="96475"/>
            <a:ext cx="387045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打印图形</a:t>
            </a:r>
          </a:p>
        </p:txBody>
      </p:sp>
      <p:sp>
        <p:nvSpPr>
          <p:cNvPr id="12" name="矩形 11"/>
          <p:cNvSpPr/>
          <p:nvPr/>
        </p:nvSpPr>
        <p:spPr>
          <a:xfrm>
            <a:off x="476520" y="430384"/>
            <a:ext cx="387045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00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Always believe that something wonderful is about to happen</a:t>
            </a:r>
            <a:r>
              <a:rPr lang="en-US" altLang="zh-CN" sz="10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.</a:t>
            </a:r>
            <a:endParaRPr lang="zh-CN" altLang="en-US" sz="1000" dirty="0">
              <a:solidFill>
                <a:schemeClr val="tx1">
                  <a:lumMod val="50000"/>
                  <a:lumOff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76520" y="1536635"/>
            <a:ext cx="2980303" cy="280076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400" dirty="0">
                <a:cs typeface="+mn-ea"/>
                <a:sym typeface="+mn-lt"/>
              </a:rPr>
              <a:t>_ _ _ *</a:t>
            </a:r>
          </a:p>
          <a:p>
            <a:r>
              <a:rPr lang="en-US" altLang="zh-CN" sz="4400" dirty="0">
                <a:cs typeface="+mn-ea"/>
                <a:sym typeface="+mn-lt"/>
              </a:rPr>
              <a:t>_ _ * _ *</a:t>
            </a:r>
          </a:p>
          <a:p>
            <a:r>
              <a:rPr lang="en-US" altLang="zh-CN" sz="4400" dirty="0">
                <a:cs typeface="+mn-ea"/>
                <a:sym typeface="+mn-lt"/>
              </a:rPr>
              <a:t>_ * _ _ _ *</a:t>
            </a:r>
          </a:p>
          <a:p>
            <a:r>
              <a:rPr lang="en-US" altLang="zh-CN" sz="4400" dirty="0">
                <a:cs typeface="+mn-ea"/>
                <a:sym typeface="+mn-lt"/>
              </a:rPr>
              <a:t>* * * * * * *</a:t>
            </a:r>
            <a:endParaRPr lang="zh-CN" altLang="en-US" sz="4400" dirty="0">
              <a:cs typeface="+mn-ea"/>
              <a:sym typeface="+mn-lt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476520" y="921954"/>
            <a:ext cx="5929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1A7BAE"/>
                </a:solidFill>
                <a:cs typeface="+mn-ea"/>
                <a:sym typeface="+mn-lt"/>
              </a:rPr>
              <a:t>step2:</a:t>
            </a:r>
            <a:r>
              <a:rPr lang="zh-CN" altLang="en-US" dirty="0">
                <a:solidFill>
                  <a:srgbClr val="1A7BAE"/>
                </a:solidFill>
                <a:cs typeface="+mn-ea"/>
                <a:sym typeface="+mn-lt"/>
              </a:rPr>
              <a:t>字母换成 </a:t>
            </a:r>
            <a:r>
              <a:rPr lang="en-US" altLang="zh-CN" dirty="0">
                <a:solidFill>
                  <a:srgbClr val="1A7BAE"/>
                </a:solidFill>
                <a:cs typeface="+mn-ea"/>
                <a:sym typeface="+mn-lt"/>
              </a:rPr>
              <a:t>* ——</a:t>
            </a:r>
            <a:r>
              <a:rPr lang="zh-CN" altLang="en-US" dirty="0">
                <a:solidFill>
                  <a:srgbClr val="1A7BAE"/>
                </a:solidFill>
                <a:cs typeface="+mn-ea"/>
                <a:sym typeface="+mn-lt"/>
              </a:rPr>
              <a:t>先不考虑字母的变化（替换功能）</a:t>
            </a:r>
          </a:p>
        </p:txBody>
      </p:sp>
    </p:spTree>
    <p:extLst>
      <p:ext uri="{BB962C8B-B14F-4D97-AF65-F5344CB8AC3E}">
        <p14:creationId xmlns:p14="http://schemas.microsoft.com/office/powerpoint/2010/main" val="76081835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476520" y="96475"/>
            <a:ext cx="387045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打印图形</a:t>
            </a:r>
          </a:p>
        </p:txBody>
      </p:sp>
      <p:sp>
        <p:nvSpPr>
          <p:cNvPr id="12" name="矩形 11"/>
          <p:cNvSpPr/>
          <p:nvPr/>
        </p:nvSpPr>
        <p:spPr>
          <a:xfrm>
            <a:off x="476520" y="430384"/>
            <a:ext cx="387045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00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Always believe that something wonderful is about to happen</a:t>
            </a:r>
            <a:r>
              <a:rPr lang="en-US" altLang="zh-CN" sz="10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.</a:t>
            </a:r>
            <a:endParaRPr lang="zh-CN" altLang="en-US" sz="1000" dirty="0">
              <a:solidFill>
                <a:schemeClr val="tx1">
                  <a:lumMod val="50000"/>
                  <a:lumOff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76520" y="1536635"/>
            <a:ext cx="3446777" cy="280076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400" dirty="0">
                <a:cs typeface="+mn-ea"/>
                <a:sym typeface="+mn-lt"/>
              </a:rPr>
              <a:t>1: _ _ _ *</a:t>
            </a:r>
          </a:p>
          <a:p>
            <a:r>
              <a:rPr lang="en-US" altLang="zh-CN" sz="4400" dirty="0">
                <a:cs typeface="+mn-ea"/>
                <a:sym typeface="+mn-lt"/>
              </a:rPr>
              <a:t>2:_ _ * _ *</a:t>
            </a:r>
          </a:p>
          <a:p>
            <a:r>
              <a:rPr lang="en-US" altLang="zh-CN" sz="4400" dirty="0">
                <a:cs typeface="+mn-ea"/>
                <a:sym typeface="+mn-lt"/>
              </a:rPr>
              <a:t>3:_ * _ _ _ *</a:t>
            </a:r>
          </a:p>
          <a:p>
            <a:r>
              <a:rPr lang="en-US" altLang="zh-CN" sz="4400" dirty="0">
                <a:cs typeface="+mn-ea"/>
                <a:sym typeface="+mn-lt"/>
              </a:rPr>
              <a:t>4:* * * * * * *</a:t>
            </a:r>
            <a:endParaRPr lang="zh-CN" altLang="en-US" sz="4400" dirty="0">
              <a:cs typeface="+mn-ea"/>
              <a:sym typeface="+mn-lt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476520" y="921954"/>
            <a:ext cx="17697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1A7BAE"/>
                </a:solidFill>
                <a:cs typeface="+mn-ea"/>
                <a:sym typeface="+mn-lt"/>
              </a:rPr>
              <a:t>step3:</a:t>
            </a:r>
            <a:r>
              <a:rPr lang="zh-CN" altLang="en-US" dirty="0">
                <a:solidFill>
                  <a:srgbClr val="1A7BAE"/>
                </a:solidFill>
                <a:cs typeface="+mn-ea"/>
                <a:sym typeface="+mn-lt"/>
              </a:rPr>
              <a:t>标出行号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6984" y="996575"/>
            <a:ext cx="4275475" cy="2321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895300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476520" y="96475"/>
            <a:ext cx="387045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打印图形</a:t>
            </a:r>
          </a:p>
        </p:txBody>
      </p:sp>
      <p:sp>
        <p:nvSpPr>
          <p:cNvPr id="12" name="矩形 11"/>
          <p:cNvSpPr/>
          <p:nvPr/>
        </p:nvSpPr>
        <p:spPr>
          <a:xfrm>
            <a:off x="476520" y="430384"/>
            <a:ext cx="387045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00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Always believe that something wonderful is about to happen</a:t>
            </a:r>
            <a:r>
              <a:rPr lang="en-US" altLang="zh-CN" sz="10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.</a:t>
            </a:r>
            <a:endParaRPr lang="zh-CN" altLang="en-US" sz="1000" dirty="0">
              <a:solidFill>
                <a:schemeClr val="tx1">
                  <a:lumMod val="50000"/>
                  <a:lumOff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76520" y="1536635"/>
            <a:ext cx="3446777" cy="280076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400" dirty="0">
                <a:cs typeface="+mn-ea"/>
                <a:sym typeface="+mn-lt"/>
              </a:rPr>
              <a:t>1: _ _ _ *</a:t>
            </a:r>
          </a:p>
          <a:p>
            <a:r>
              <a:rPr lang="en-US" altLang="zh-CN" sz="4400" dirty="0">
                <a:cs typeface="+mn-ea"/>
                <a:sym typeface="+mn-lt"/>
              </a:rPr>
              <a:t>2:_ _ * _ *</a:t>
            </a:r>
          </a:p>
          <a:p>
            <a:r>
              <a:rPr lang="en-US" altLang="zh-CN" sz="4400" dirty="0">
                <a:cs typeface="+mn-ea"/>
                <a:sym typeface="+mn-lt"/>
              </a:rPr>
              <a:t>3:_ * _ _ _ *</a:t>
            </a:r>
          </a:p>
          <a:p>
            <a:r>
              <a:rPr lang="en-US" altLang="zh-CN" sz="4400" dirty="0">
                <a:cs typeface="+mn-ea"/>
                <a:sym typeface="+mn-lt"/>
              </a:rPr>
              <a:t>4:* * * * * * *</a:t>
            </a:r>
            <a:endParaRPr lang="zh-CN" altLang="en-US" sz="4400" dirty="0">
              <a:cs typeface="+mn-ea"/>
              <a:sym typeface="+mn-lt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476520" y="921954"/>
            <a:ext cx="60449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1A7BAE"/>
                </a:solidFill>
                <a:cs typeface="+mn-ea"/>
                <a:sym typeface="+mn-lt"/>
              </a:rPr>
              <a:t>step4</a:t>
            </a:r>
            <a:r>
              <a:rPr lang="zh-CN" altLang="en-US" dirty="0">
                <a:solidFill>
                  <a:srgbClr val="1A7BAE"/>
                </a:solidFill>
                <a:cs typeface="+mn-ea"/>
                <a:sym typeface="+mn-lt"/>
              </a:rPr>
              <a:t>：找到按行分块的依据</a:t>
            </a:r>
            <a:r>
              <a:rPr lang="en-US" altLang="zh-CN" dirty="0">
                <a:solidFill>
                  <a:srgbClr val="1A7BAE"/>
                </a:solidFill>
                <a:cs typeface="+mn-ea"/>
                <a:sym typeface="+mn-lt"/>
              </a:rPr>
              <a:t>——1-3</a:t>
            </a:r>
            <a:r>
              <a:rPr lang="zh-CN" altLang="en-US" dirty="0">
                <a:solidFill>
                  <a:srgbClr val="1A7BAE"/>
                </a:solidFill>
                <a:cs typeface="+mn-ea"/>
                <a:sym typeface="+mn-lt"/>
              </a:rPr>
              <a:t>行相同，第四行单独</a:t>
            </a: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4861" y="1536635"/>
            <a:ext cx="4814269" cy="29590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575220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476520" y="96475"/>
            <a:ext cx="387045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打印图形</a:t>
            </a:r>
          </a:p>
        </p:txBody>
      </p:sp>
      <p:sp>
        <p:nvSpPr>
          <p:cNvPr id="12" name="矩形 11"/>
          <p:cNvSpPr/>
          <p:nvPr/>
        </p:nvSpPr>
        <p:spPr>
          <a:xfrm>
            <a:off x="476520" y="430384"/>
            <a:ext cx="387045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00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Always believe that something wonderful is about to happen</a:t>
            </a:r>
            <a:r>
              <a:rPr lang="en-US" altLang="zh-CN" sz="10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.</a:t>
            </a:r>
            <a:endParaRPr lang="zh-CN" altLang="en-US" sz="1000" dirty="0">
              <a:solidFill>
                <a:schemeClr val="tx1">
                  <a:lumMod val="50000"/>
                  <a:lumOff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76520" y="1536635"/>
            <a:ext cx="3446777" cy="280076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400" dirty="0">
                <a:cs typeface="+mn-ea"/>
                <a:sym typeface="+mn-lt"/>
              </a:rPr>
              <a:t>1: _ _ _ *</a:t>
            </a:r>
          </a:p>
          <a:p>
            <a:r>
              <a:rPr lang="en-US" altLang="zh-CN" sz="4400" dirty="0">
                <a:cs typeface="+mn-ea"/>
                <a:sym typeface="+mn-lt"/>
              </a:rPr>
              <a:t>2:_ _ * _ *</a:t>
            </a:r>
          </a:p>
          <a:p>
            <a:r>
              <a:rPr lang="en-US" altLang="zh-CN" sz="4400" dirty="0">
                <a:cs typeface="+mn-ea"/>
                <a:sym typeface="+mn-lt"/>
              </a:rPr>
              <a:t>3:_ * _ _ _ *</a:t>
            </a:r>
          </a:p>
          <a:p>
            <a:r>
              <a:rPr lang="en-US" altLang="zh-CN" sz="4400" dirty="0">
                <a:cs typeface="+mn-ea"/>
                <a:sym typeface="+mn-lt"/>
              </a:rPr>
              <a:t>4:* * * * * * *</a:t>
            </a:r>
            <a:endParaRPr lang="zh-CN" altLang="en-US" sz="4400" dirty="0">
              <a:cs typeface="+mn-ea"/>
              <a:sym typeface="+mn-lt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476520" y="921954"/>
            <a:ext cx="58657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1A7BAE"/>
                </a:solidFill>
                <a:cs typeface="+mn-ea"/>
                <a:sym typeface="+mn-lt"/>
              </a:rPr>
              <a:t>step5</a:t>
            </a:r>
            <a:r>
              <a:rPr lang="zh-CN" altLang="en-US" dirty="0">
                <a:solidFill>
                  <a:srgbClr val="1A7BAE"/>
                </a:solidFill>
                <a:cs typeface="+mn-ea"/>
                <a:sym typeface="+mn-lt"/>
              </a:rPr>
              <a:t>：对第一部分按列找规律</a:t>
            </a:r>
            <a:r>
              <a:rPr lang="en-US" altLang="zh-CN" dirty="0">
                <a:solidFill>
                  <a:srgbClr val="1A7BAE"/>
                </a:solidFill>
                <a:cs typeface="+mn-ea"/>
                <a:sym typeface="+mn-lt"/>
              </a:rPr>
              <a:t>——</a:t>
            </a:r>
            <a:r>
              <a:rPr lang="zh-CN" altLang="en-US" dirty="0">
                <a:solidFill>
                  <a:srgbClr val="1A7BAE"/>
                </a:solidFill>
                <a:cs typeface="+mn-ea"/>
                <a:sym typeface="+mn-lt"/>
              </a:rPr>
              <a:t>找到每行空格的规律</a:t>
            </a: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1940" y="1457511"/>
            <a:ext cx="4814269" cy="29590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443912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476520" y="96475"/>
            <a:ext cx="387045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打印图形</a:t>
            </a:r>
          </a:p>
        </p:txBody>
      </p:sp>
      <p:sp>
        <p:nvSpPr>
          <p:cNvPr id="12" name="矩形 11"/>
          <p:cNvSpPr/>
          <p:nvPr/>
        </p:nvSpPr>
        <p:spPr>
          <a:xfrm>
            <a:off x="476520" y="430384"/>
            <a:ext cx="387045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00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Always believe that something wonderful is about to happen</a:t>
            </a:r>
            <a:r>
              <a:rPr lang="en-US" altLang="zh-CN" sz="10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.</a:t>
            </a:r>
            <a:endParaRPr lang="zh-CN" altLang="en-US" sz="1000" dirty="0">
              <a:solidFill>
                <a:schemeClr val="tx1">
                  <a:lumMod val="50000"/>
                  <a:lumOff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76520" y="1536635"/>
            <a:ext cx="3446777" cy="280076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400" dirty="0">
                <a:cs typeface="+mn-ea"/>
                <a:sym typeface="+mn-lt"/>
              </a:rPr>
              <a:t>1: _ _ _ *</a:t>
            </a:r>
          </a:p>
          <a:p>
            <a:r>
              <a:rPr lang="en-US" altLang="zh-CN" sz="4400" dirty="0">
                <a:cs typeface="+mn-ea"/>
                <a:sym typeface="+mn-lt"/>
              </a:rPr>
              <a:t>2:_ _ * _ *</a:t>
            </a:r>
          </a:p>
          <a:p>
            <a:r>
              <a:rPr lang="en-US" altLang="zh-CN" sz="4400" dirty="0">
                <a:cs typeface="+mn-ea"/>
                <a:sym typeface="+mn-lt"/>
              </a:rPr>
              <a:t>3:_ * _ _ _ *</a:t>
            </a:r>
          </a:p>
          <a:p>
            <a:r>
              <a:rPr lang="en-US" altLang="zh-CN" sz="4400" dirty="0">
                <a:cs typeface="+mn-ea"/>
                <a:sym typeface="+mn-lt"/>
              </a:rPr>
              <a:t>4:* * * * * * *</a:t>
            </a:r>
            <a:endParaRPr lang="zh-CN" altLang="en-US" sz="4400" dirty="0">
              <a:cs typeface="+mn-ea"/>
              <a:sym typeface="+mn-lt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476520" y="921954"/>
            <a:ext cx="46278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1A7BAE"/>
                </a:solidFill>
                <a:cs typeface="+mn-ea"/>
                <a:sym typeface="+mn-lt"/>
              </a:rPr>
              <a:t>step6</a:t>
            </a:r>
            <a:r>
              <a:rPr lang="zh-CN" altLang="en-US" dirty="0">
                <a:solidFill>
                  <a:srgbClr val="1A7BAE"/>
                </a:solidFill>
                <a:cs typeface="+mn-ea"/>
                <a:sym typeface="+mn-lt"/>
              </a:rPr>
              <a:t>：对第一部分按列找规律</a:t>
            </a:r>
            <a:r>
              <a:rPr lang="en-US" altLang="zh-CN" dirty="0">
                <a:solidFill>
                  <a:srgbClr val="1A7BAE"/>
                </a:solidFill>
                <a:cs typeface="+mn-ea"/>
                <a:sym typeface="+mn-lt"/>
              </a:rPr>
              <a:t>——*</a:t>
            </a:r>
            <a:r>
              <a:rPr lang="zh-CN" altLang="en-US" dirty="0">
                <a:solidFill>
                  <a:srgbClr val="1A7BAE"/>
                </a:solidFill>
                <a:cs typeface="+mn-ea"/>
                <a:sym typeface="+mn-lt"/>
              </a:rPr>
              <a:t>的规律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11960" y="1322732"/>
            <a:ext cx="3960440" cy="35802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049634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476520" y="96475"/>
            <a:ext cx="387045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打印图形</a:t>
            </a:r>
          </a:p>
        </p:txBody>
      </p:sp>
      <p:sp>
        <p:nvSpPr>
          <p:cNvPr id="12" name="矩形 11"/>
          <p:cNvSpPr/>
          <p:nvPr/>
        </p:nvSpPr>
        <p:spPr>
          <a:xfrm>
            <a:off x="476520" y="430384"/>
            <a:ext cx="387045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00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Always believe that something wonderful is about to happen</a:t>
            </a:r>
            <a:r>
              <a:rPr lang="en-US" altLang="zh-CN" sz="10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.</a:t>
            </a:r>
            <a:endParaRPr lang="zh-CN" altLang="en-US" sz="1000" dirty="0">
              <a:solidFill>
                <a:schemeClr val="tx1">
                  <a:lumMod val="50000"/>
                  <a:lumOff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76520" y="1536635"/>
            <a:ext cx="3446777" cy="280076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400" dirty="0">
                <a:cs typeface="+mn-ea"/>
                <a:sym typeface="+mn-lt"/>
              </a:rPr>
              <a:t>1: _ _ _ *</a:t>
            </a:r>
          </a:p>
          <a:p>
            <a:r>
              <a:rPr lang="en-US" altLang="zh-CN" sz="4400" dirty="0">
                <a:cs typeface="+mn-ea"/>
                <a:sym typeface="+mn-lt"/>
              </a:rPr>
              <a:t>2:_ _ * _ *</a:t>
            </a:r>
          </a:p>
          <a:p>
            <a:r>
              <a:rPr lang="en-US" altLang="zh-CN" sz="4400" dirty="0">
                <a:cs typeface="+mn-ea"/>
                <a:sym typeface="+mn-lt"/>
              </a:rPr>
              <a:t>3:_ * _ _ _ *</a:t>
            </a:r>
          </a:p>
          <a:p>
            <a:r>
              <a:rPr lang="en-US" altLang="zh-CN" sz="4400" dirty="0">
                <a:cs typeface="+mn-ea"/>
                <a:sym typeface="+mn-lt"/>
              </a:rPr>
              <a:t>4:* * * * * * *</a:t>
            </a:r>
            <a:endParaRPr lang="zh-CN" altLang="en-US" sz="4400" dirty="0">
              <a:cs typeface="+mn-ea"/>
              <a:sym typeface="+mn-lt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476520" y="921954"/>
            <a:ext cx="49391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1A7BAE"/>
                </a:solidFill>
                <a:cs typeface="+mn-ea"/>
                <a:sym typeface="+mn-lt"/>
              </a:rPr>
              <a:t>step7</a:t>
            </a:r>
            <a:r>
              <a:rPr lang="zh-CN" altLang="en-US" dirty="0">
                <a:solidFill>
                  <a:srgbClr val="1A7BAE"/>
                </a:solidFill>
                <a:cs typeface="+mn-ea"/>
                <a:sym typeface="+mn-lt"/>
              </a:rPr>
              <a:t>：对第一部分按列找规律</a:t>
            </a:r>
            <a:r>
              <a:rPr lang="en-US" altLang="zh-CN" dirty="0">
                <a:solidFill>
                  <a:srgbClr val="1A7BAE"/>
                </a:solidFill>
                <a:cs typeface="+mn-ea"/>
                <a:sym typeface="+mn-lt"/>
              </a:rPr>
              <a:t>——</a:t>
            </a:r>
            <a:r>
              <a:rPr lang="zh-CN" altLang="en-US" dirty="0">
                <a:solidFill>
                  <a:srgbClr val="1A7BAE"/>
                </a:solidFill>
                <a:cs typeface="+mn-ea"/>
                <a:sym typeface="+mn-lt"/>
              </a:rPr>
              <a:t>空格的规律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1950" y="830493"/>
            <a:ext cx="4545505" cy="3869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289456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476520" y="96475"/>
            <a:ext cx="387045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打印图形</a:t>
            </a:r>
          </a:p>
        </p:txBody>
      </p:sp>
      <p:sp>
        <p:nvSpPr>
          <p:cNvPr id="12" name="矩形 11"/>
          <p:cNvSpPr/>
          <p:nvPr/>
        </p:nvSpPr>
        <p:spPr>
          <a:xfrm>
            <a:off x="476520" y="430384"/>
            <a:ext cx="387045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00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Always believe that something wonderful is about to happen</a:t>
            </a:r>
            <a:r>
              <a:rPr lang="en-US" altLang="zh-CN" sz="10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.</a:t>
            </a:r>
            <a:endParaRPr lang="zh-CN" altLang="en-US" sz="1000" dirty="0">
              <a:solidFill>
                <a:schemeClr val="tx1">
                  <a:lumMod val="50000"/>
                  <a:lumOff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76520" y="1536635"/>
            <a:ext cx="3446777" cy="280076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400" dirty="0">
                <a:cs typeface="+mn-ea"/>
                <a:sym typeface="+mn-lt"/>
              </a:rPr>
              <a:t>1: _ _ _ *</a:t>
            </a:r>
          </a:p>
          <a:p>
            <a:r>
              <a:rPr lang="en-US" altLang="zh-CN" sz="4400" dirty="0">
                <a:cs typeface="+mn-ea"/>
                <a:sym typeface="+mn-lt"/>
              </a:rPr>
              <a:t>2:_ _ * _ *</a:t>
            </a:r>
          </a:p>
          <a:p>
            <a:r>
              <a:rPr lang="en-US" altLang="zh-CN" sz="4400" dirty="0">
                <a:cs typeface="+mn-ea"/>
                <a:sym typeface="+mn-lt"/>
              </a:rPr>
              <a:t>3:_ * _ _ _ *</a:t>
            </a:r>
          </a:p>
          <a:p>
            <a:r>
              <a:rPr lang="en-US" altLang="zh-CN" sz="4400" dirty="0">
                <a:cs typeface="+mn-ea"/>
                <a:sym typeface="+mn-lt"/>
              </a:rPr>
              <a:t>4:* * * * * * *</a:t>
            </a:r>
            <a:endParaRPr lang="zh-CN" altLang="en-US" sz="4400" dirty="0">
              <a:cs typeface="+mn-ea"/>
              <a:sym typeface="+mn-lt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476520" y="921954"/>
            <a:ext cx="46278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1A7BAE"/>
                </a:solidFill>
                <a:cs typeface="+mn-ea"/>
                <a:sym typeface="+mn-lt"/>
              </a:rPr>
              <a:t>step8</a:t>
            </a:r>
            <a:r>
              <a:rPr lang="zh-CN" altLang="en-US" dirty="0">
                <a:solidFill>
                  <a:srgbClr val="1A7BAE"/>
                </a:solidFill>
                <a:cs typeface="+mn-ea"/>
                <a:sym typeface="+mn-lt"/>
              </a:rPr>
              <a:t>：对第一部分按列找规律</a:t>
            </a:r>
            <a:r>
              <a:rPr lang="en-US" altLang="zh-CN" dirty="0">
                <a:solidFill>
                  <a:srgbClr val="1A7BAE"/>
                </a:solidFill>
                <a:cs typeface="+mn-ea"/>
                <a:sym typeface="+mn-lt"/>
              </a:rPr>
              <a:t>——*</a:t>
            </a:r>
            <a:r>
              <a:rPr lang="zh-CN" altLang="en-US" dirty="0">
                <a:solidFill>
                  <a:srgbClr val="1A7BAE"/>
                </a:solidFill>
                <a:cs typeface="+mn-ea"/>
                <a:sym typeface="+mn-lt"/>
              </a:rPr>
              <a:t>的规律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6955" y="231490"/>
            <a:ext cx="4580952" cy="4409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086527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476520" y="96475"/>
            <a:ext cx="387045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打印图形</a:t>
            </a:r>
          </a:p>
        </p:txBody>
      </p:sp>
      <p:sp>
        <p:nvSpPr>
          <p:cNvPr id="12" name="矩形 11"/>
          <p:cNvSpPr/>
          <p:nvPr/>
        </p:nvSpPr>
        <p:spPr>
          <a:xfrm>
            <a:off x="476520" y="430384"/>
            <a:ext cx="387045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00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Always believe that something wonderful is about to happen</a:t>
            </a:r>
            <a:r>
              <a:rPr lang="en-US" altLang="zh-CN" sz="10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.</a:t>
            </a:r>
            <a:endParaRPr lang="zh-CN" altLang="en-US" sz="1000" dirty="0">
              <a:solidFill>
                <a:schemeClr val="tx1">
                  <a:lumMod val="50000"/>
                  <a:lumOff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76520" y="1536635"/>
            <a:ext cx="3446777" cy="280076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400" dirty="0">
                <a:cs typeface="+mn-ea"/>
                <a:sym typeface="+mn-lt"/>
              </a:rPr>
              <a:t>1: _ _ _ E</a:t>
            </a:r>
          </a:p>
          <a:p>
            <a:r>
              <a:rPr lang="en-US" altLang="zh-CN" sz="4400" dirty="0">
                <a:cs typeface="+mn-ea"/>
                <a:sym typeface="+mn-lt"/>
              </a:rPr>
              <a:t>2:_ _ D _ F</a:t>
            </a:r>
          </a:p>
          <a:p>
            <a:r>
              <a:rPr lang="en-US" altLang="zh-CN" sz="4400" dirty="0">
                <a:cs typeface="+mn-ea"/>
                <a:sym typeface="+mn-lt"/>
              </a:rPr>
              <a:t>3:_ C _ _ _ G</a:t>
            </a:r>
          </a:p>
          <a:p>
            <a:r>
              <a:rPr lang="en-US" altLang="zh-CN" sz="4400" dirty="0">
                <a:cs typeface="+mn-ea"/>
                <a:sym typeface="+mn-lt"/>
              </a:rPr>
              <a:t>4:* * * * * * *</a:t>
            </a:r>
            <a:endParaRPr lang="zh-CN" altLang="en-US" sz="4400" dirty="0">
              <a:cs typeface="+mn-ea"/>
              <a:sym typeface="+mn-lt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476520" y="921954"/>
            <a:ext cx="49423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1A7BAE"/>
                </a:solidFill>
                <a:cs typeface="+mn-ea"/>
                <a:sym typeface="+mn-lt"/>
              </a:rPr>
              <a:t>step9</a:t>
            </a:r>
            <a:r>
              <a:rPr lang="zh-CN" altLang="en-US" dirty="0">
                <a:solidFill>
                  <a:srgbClr val="1A7BAE"/>
                </a:solidFill>
                <a:cs typeface="+mn-ea"/>
                <a:sym typeface="+mn-lt"/>
              </a:rPr>
              <a:t>：对第一部分按列找规律</a:t>
            </a:r>
            <a:r>
              <a:rPr lang="en-US" altLang="zh-CN" dirty="0">
                <a:solidFill>
                  <a:srgbClr val="1A7BAE"/>
                </a:solidFill>
                <a:cs typeface="+mn-ea"/>
                <a:sym typeface="+mn-lt"/>
              </a:rPr>
              <a:t>——</a:t>
            </a:r>
            <a:r>
              <a:rPr lang="zh-CN" altLang="en-US" dirty="0">
                <a:solidFill>
                  <a:srgbClr val="1A7BAE"/>
                </a:solidFill>
                <a:cs typeface="+mn-ea"/>
                <a:sym typeface="+mn-lt"/>
              </a:rPr>
              <a:t>字母的规律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6955" y="0"/>
            <a:ext cx="4714286" cy="4866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885751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476520" y="96475"/>
            <a:ext cx="387045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打印图形</a:t>
            </a:r>
          </a:p>
        </p:txBody>
      </p:sp>
      <p:sp>
        <p:nvSpPr>
          <p:cNvPr id="12" name="矩形 11"/>
          <p:cNvSpPr/>
          <p:nvPr/>
        </p:nvSpPr>
        <p:spPr>
          <a:xfrm>
            <a:off x="476520" y="430384"/>
            <a:ext cx="387045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00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Always believe that something wonderful is about to happen</a:t>
            </a:r>
            <a:r>
              <a:rPr lang="en-US" altLang="zh-CN" sz="10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.</a:t>
            </a:r>
            <a:endParaRPr lang="zh-CN" altLang="en-US" sz="1000" dirty="0">
              <a:solidFill>
                <a:schemeClr val="tx1">
                  <a:lumMod val="50000"/>
                  <a:lumOff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76520" y="1536635"/>
            <a:ext cx="3446777" cy="280076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400" dirty="0">
                <a:cs typeface="+mn-ea"/>
                <a:sym typeface="+mn-lt"/>
              </a:rPr>
              <a:t>1: _ _ _ E</a:t>
            </a:r>
          </a:p>
          <a:p>
            <a:r>
              <a:rPr lang="en-US" altLang="zh-CN" sz="4400" dirty="0">
                <a:cs typeface="+mn-ea"/>
                <a:sym typeface="+mn-lt"/>
              </a:rPr>
              <a:t>2:_ _ D _ F</a:t>
            </a:r>
          </a:p>
          <a:p>
            <a:r>
              <a:rPr lang="en-US" altLang="zh-CN" sz="4400" dirty="0">
                <a:cs typeface="+mn-ea"/>
                <a:sym typeface="+mn-lt"/>
              </a:rPr>
              <a:t>3:_ C _ _ _ G</a:t>
            </a:r>
          </a:p>
          <a:p>
            <a:r>
              <a:rPr lang="en-US" altLang="zh-CN" sz="4400" dirty="0">
                <a:cs typeface="+mn-ea"/>
                <a:sym typeface="+mn-lt"/>
              </a:rPr>
              <a:t>4:* * * * * * *</a:t>
            </a:r>
            <a:endParaRPr lang="zh-CN" altLang="en-US" sz="4400" dirty="0">
              <a:cs typeface="+mn-ea"/>
              <a:sym typeface="+mn-lt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476520" y="921954"/>
            <a:ext cx="62725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1A7BAE"/>
                </a:solidFill>
                <a:cs typeface="+mn-ea"/>
                <a:sym typeface="+mn-lt"/>
              </a:rPr>
              <a:t>step10</a:t>
            </a:r>
            <a:r>
              <a:rPr lang="zh-CN" altLang="en-US" dirty="0">
                <a:solidFill>
                  <a:srgbClr val="1A7BAE"/>
                </a:solidFill>
                <a:cs typeface="+mn-ea"/>
                <a:sym typeface="+mn-lt"/>
              </a:rPr>
              <a:t>：对第一部分按列找规律</a:t>
            </a:r>
            <a:r>
              <a:rPr lang="en-US" altLang="zh-CN" dirty="0">
                <a:solidFill>
                  <a:srgbClr val="1A7BAE"/>
                </a:solidFill>
                <a:cs typeface="+mn-ea"/>
                <a:sym typeface="+mn-lt"/>
              </a:rPr>
              <a:t>——</a:t>
            </a:r>
            <a:r>
              <a:rPr lang="zh-CN" altLang="en-US" dirty="0">
                <a:solidFill>
                  <a:srgbClr val="1A7BAE"/>
                </a:solidFill>
                <a:cs typeface="+mn-ea"/>
                <a:sym typeface="+mn-lt"/>
              </a:rPr>
              <a:t>将具体数字替换成字母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1705" y="276495"/>
            <a:ext cx="4226530" cy="47351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839606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476520" y="96475"/>
            <a:ext cx="387045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打印图形</a:t>
            </a:r>
          </a:p>
        </p:txBody>
      </p:sp>
      <p:sp>
        <p:nvSpPr>
          <p:cNvPr id="12" name="矩形 11"/>
          <p:cNvSpPr/>
          <p:nvPr/>
        </p:nvSpPr>
        <p:spPr>
          <a:xfrm>
            <a:off x="476520" y="430384"/>
            <a:ext cx="387045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00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Always believe that something wonderful is about to happen</a:t>
            </a:r>
            <a:r>
              <a:rPr lang="en-US" altLang="zh-CN" sz="10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.</a:t>
            </a:r>
            <a:endParaRPr lang="zh-CN" altLang="en-US" sz="1000" dirty="0">
              <a:solidFill>
                <a:schemeClr val="tx1">
                  <a:lumMod val="50000"/>
                  <a:lumOff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76520" y="1536635"/>
            <a:ext cx="3446777" cy="280076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400" dirty="0">
                <a:cs typeface="+mn-ea"/>
                <a:sym typeface="+mn-lt"/>
              </a:rPr>
              <a:t>1: _ _ _ E</a:t>
            </a:r>
          </a:p>
          <a:p>
            <a:r>
              <a:rPr lang="en-US" altLang="zh-CN" sz="4400" dirty="0">
                <a:cs typeface="+mn-ea"/>
                <a:sym typeface="+mn-lt"/>
              </a:rPr>
              <a:t>2:_ _ D _ F</a:t>
            </a:r>
          </a:p>
          <a:p>
            <a:r>
              <a:rPr lang="en-US" altLang="zh-CN" sz="4400" dirty="0">
                <a:cs typeface="+mn-ea"/>
                <a:sym typeface="+mn-lt"/>
              </a:rPr>
              <a:t>3:_ C _ _ _ G</a:t>
            </a:r>
          </a:p>
          <a:p>
            <a:r>
              <a:rPr lang="en-US" altLang="zh-CN" sz="4400" dirty="0">
                <a:cs typeface="+mn-ea"/>
                <a:sym typeface="+mn-lt"/>
              </a:rPr>
              <a:t>4:* * * * * * *</a:t>
            </a:r>
            <a:endParaRPr lang="zh-CN" altLang="en-US" sz="4400" dirty="0">
              <a:cs typeface="+mn-ea"/>
              <a:sym typeface="+mn-lt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476520" y="921954"/>
            <a:ext cx="55800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1A7BAE"/>
                </a:solidFill>
                <a:cs typeface="+mn-ea"/>
                <a:sym typeface="+mn-lt"/>
              </a:rPr>
              <a:t>step11</a:t>
            </a:r>
            <a:r>
              <a:rPr lang="zh-CN" altLang="en-US" dirty="0">
                <a:solidFill>
                  <a:srgbClr val="1A7BAE"/>
                </a:solidFill>
                <a:cs typeface="+mn-ea"/>
                <a:sym typeface="+mn-lt"/>
              </a:rPr>
              <a:t>：对第一部分按列找规律</a:t>
            </a:r>
            <a:r>
              <a:rPr lang="en-US" altLang="zh-CN" dirty="0">
                <a:solidFill>
                  <a:srgbClr val="1A7BAE"/>
                </a:solidFill>
                <a:cs typeface="+mn-ea"/>
                <a:sym typeface="+mn-lt"/>
              </a:rPr>
              <a:t>——</a:t>
            </a:r>
            <a:r>
              <a:rPr lang="zh-CN" altLang="en-US" dirty="0">
                <a:solidFill>
                  <a:srgbClr val="1A7BAE"/>
                </a:solidFill>
                <a:cs typeface="+mn-ea"/>
                <a:sym typeface="+mn-lt"/>
              </a:rPr>
              <a:t>字母循环的规律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4211960" y="1353533"/>
            <a:ext cx="46089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cs typeface="+mn-ea"/>
                <a:sym typeface="+mn-lt"/>
              </a:rPr>
              <a:t>在某一个数范围内循环</a:t>
            </a:r>
            <a:r>
              <a:rPr lang="en-US" altLang="zh-CN" dirty="0">
                <a:cs typeface="+mn-ea"/>
                <a:sym typeface="+mn-lt"/>
              </a:rPr>
              <a:t>——</a:t>
            </a:r>
            <a:r>
              <a:rPr lang="zh-CN" altLang="en-US" dirty="0">
                <a:cs typeface="+mn-ea"/>
                <a:sym typeface="+mn-lt"/>
              </a:rPr>
              <a:t>取模（求余数）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11960" y="1785021"/>
            <a:ext cx="4532618" cy="2991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252689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2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476520" y="96475"/>
            <a:ext cx="387045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打印图形</a:t>
            </a:r>
          </a:p>
        </p:txBody>
      </p:sp>
      <p:sp>
        <p:nvSpPr>
          <p:cNvPr id="12" name="矩形 11"/>
          <p:cNvSpPr/>
          <p:nvPr/>
        </p:nvSpPr>
        <p:spPr>
          <a:xfrm>
            <a:off x="476520" y="430384"/>
            <a:ext cx="387045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00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Always believe that something wonderful is about to happen</a:t>
            </a:r>
            <a:r>
              <a:rPr lang="en-US" altLang="zh-CN" sz="10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.</a:t>
            </a:r>
            <a:endParaRPr lang="zh-CN" altLang="en-US" sz="1000" dirty="0">
              <a:solidFill>
                <a:schemeClr val="tx1">
                  <a:lumMod val="50000"/>
                  <a:lumOff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76520" y="1536635"/>
            <a:ext cx="4278735" cy="280076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400" dirty="0">
                <a:cs typeface="+mn-ea"/>
                <a:sym typeface="+mn-lt"/>
              </a:rPr>
              <a:t>1: _ _ _ E</a:t>
            </a:r>
          </a:p>
          <a:p>
            <a:r>
              <a:rPr lang="en-US" altLang="zh-CN" sz="4400" dirty="0">
                <a:cs typeface="+mn-ea"/>
                <a:sym typeface="+mn-lt"/>
              </a:rPr>
              <a:t>2:_ _ D _ F</a:t>
            </a:r>
          </a:p>
          <a:p>
            <a:r>
              <a:rPr lang="en-US" altLang="zh-CN" sz="4400" dirty="0">
                <a:cs typeface="+mn-ea"/>
                <a:sym typeface="+mn-lt"/>
              </a:rPr>
              <a:t>3:_ C _ _ _ G</a:t>
            </a:r>
          </a:p>
          <a:p>
            <a:r>
              <a:rPr lang="en-US" altLang="zh-CN" sz="4400" dirty="0">
                <a:cs typeface="+mn-ea"/>
                <a:sym typeface="+mn-lt"/>
              </a:rPr>
              <a:t>4:B C D E F G H</a:t>
            </a:r>
            <a:endParaRPr lang="zh-CN" altLang="en-US" sz="4400" dirty="0">
              <a:cs typeface="+mn-ea"/>
              <a:sym typeface="+mn-lt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476520" y="921954"/>
            <a:ext cx="55800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1A7BAE"/>
                </a:solidFill>
                <a:cs typeface="+mn-ea"/>
                <a:sym typeface="+mn-lt"/>
              </a:rPr>
              <a:t>step12</a:t>
            </a:r>
            <a:r>
              <a:rPr lang="zh-CN" altLang="en-US" dirty="0">
                <a:solidFill>
                  <a:srgbClr val="1A7BAE"/>
                </a:solidFill>
                <a:cs typeface="+mn-ea"/>
                <a:sym typeface="+mn-lt"/>
              </a:rPr>
              <a:t>：对第二部分按列找规律</a:t>
            </a:r>
            <a:r>
              <a:rPr lang="en-US" altLang="zh-CN" dirty="0">
                <a:solidFill>
                  <a:srgbClr val="1A7BAE"/>
                </a:solidFill>
                <a:cs typeface="+mn-ea"/>
                <a:sym typeface="+mn-lt"/>
              </a:rPr>
              <a:t>——</a:t>
            </a:r>
            <a:r>
              <a:rPr lang="zh-CN" altLang="en-US" dirty="0">
                <a:solidFill>
                  <a:srgbClr val="1A7BAE"/>
                </a:solidFill>
                <a:cs typeface="+mn-ea"/>
                <a:sym typeface="+mn-lt"/>
              </a:rPr>
              <a:t>字母循环的规律</a:t>
            </a: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2020" y="1941680"/>
            <a:ext cx="3708690" cy="1165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960749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476520" y="96475"/>
            <a:ext cx="387045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打印图形</a:t>
            </a:r>
          </a:p>
        </p:txBody>
      </p:sp>
      <p:sp>
        <p:nvSpPr>
          <p:cNvPr id="12" name="矩形 11"/>
          <p:cNvSpPr/>
          <p:nvPr/>
        </p:nvSpPr>
        <p:spPr>
          <a:xfrm>
            <a:off x="476520" y="430384"/>
            <a:ext cx="387045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00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Always believe that something wonderful is about to happen</a:t>
            </a:r>
            <a:r>
              <a:rPr lang="en-US" altLang="zh-CN" sz="10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.</a:t>
            </a:r>
            <a:endParaRPr lang="zh-CN" altLang="en-US" sz="1000" dirty="0">
              <a:solidFill>
                <a:schemeClr val="tx1">
                  <a:lumMod val="50000"/>
                  <a:lumOff val="50000"/>
                </a:schemeClr>
              </a:solidFill>
              <a:cs typeface="+mn-ea"/>
              <a:sym typeface="+mn-lt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96475"/>
            <a:ext cx="3207039" cy="474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7047354"/>
      </p:ext>
    </p:extLst>
  </p:cSld>
  <p:clrMapOvr>
    <a:masterClrMapping/>
  </p:clrMapOvr>
  <p:transition spd="slow">
    <p:push dir="u"/>
  </p:transition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A90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1" y="2166704"/>
            <a:ext cx="9144000" cy="450051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6495" y="-1433695"/>
            <a:ext cx="4095993" cy="8094524"/>
          </a:xfrm>
          <a:prstGeom prst="rect">
            <a:avLst/>
          </a:prstGeom>
          <a:noFill/>
          <a:effectLst>
            <a:outerShdw blurRad="165100" dist="76200" dir="1200000" algn="tl" rotWithShape="0">
              <a:prstClr val="black">
                <a:alpha val="1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en-US" altLang="zh-CN" sz="52000" dirty="0">
                <a:solidFill>
                  <a:schemeClr val="bg1"/>
                </a:solidFill>
                <a:cs typeface="+mn-ea"/>
                <a:sym typeface="+mn-lt"/>
              </a:rPr>
              <a:t>2</a:t>
            </a:r>
            <a:endParaRPr lang="zh-CN" altLang="en-US" sz="520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579089" y="2155090"/>
            <a:ext cx="517837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zh-CN" altLang="en-US" sz="2400" dirty="0">
                <a:solidFill>
                  <a:schemeClr val="bg1"/>
                </a:solidFill>
                <a:cs typeface="+mn-ea"/>
                <a:sym typeface="+mn-lt"/>
              </a:rPr>
              <a:t>递归</a:t>
            </a:r>
          </a:p>
        </p:txBody>
      </p:sp>
      <p:sp>
        <p:nvSpPr>
          <p:cNvPr id="3" name="矩形 2"/>
          <p:cNvSpPr/>
          <p:nvPr/>
        </p:nvSpPr>
        <p:spPr>
          <a:xfrm>
            <a:off x="5664952" y="1397264"/>
            <a:ext cx="3092513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r"/>
            <a:r>
              <a:rPr lang="en-US" altLang="zh-CN" sz="4400" dirty="0">
                <a:solidFill>
                  <a:schemeClr val="bg1"/>
                </a:solidFill>
                <a:cs typeface="+mn-ea"/>
                <a:sym typeface="+mn-lt"/>
              </a:rPr>
              <a:t>PART TWO</a:t>
            </a:r>
            <a:endParaRPr lang="zh-CN" altLang="en-US" sz="44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7407698" y="2796775"/>
            <a:ext cx="1350151" cy="8540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100" dirty="0">
                <a:solidFill>
                  <a:schemeClr val="bg1"/>
                </a:solidFill>
                <a:cs typeface="+mn-ea"/>
                <a:sym typeface="+mn-lt"/>
              </a:rPr>
              <a:t>数学规律</a:t>
            </a:r>
            <a:endParaRPr lang="en-US" altLang="zh-CN" sz="1100" dirty="0">
              <a:solidFill>
                <a:schemeClr val="bg1"/>
              </a:solidFill>
              <a:cs typeface="+mn-ea"/>
              <a:sym typeface="+mn-lt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100" dirty="0">
                <a:solidFill>
                  <a:schemeClr val="bg1"/>
                </a:solidFill>
                <a:cs typeface="+mn-ea"/>
                <a:sym typeface="+mn-lt"/>
              </a:rPr>
              <a:t>给函数实际意义</a:t>
            </a:r>
            <a:endParaRPr lang="en-US" altLang="zh-CN" sz="1100" dirty="0">
              <a:solidFill>
                <a:schemeClr val="bg1"/>
              </a:solidFill>
              <a:cs typeface="+mn-ea"/>
              <a:sym typeface="+mn-lt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100" dirty="0">
                <a:solidFill>
                  <a:schemeClr val="bg1"/>
                </a:solidFill>
                <a:cs typeface="+mn-ea"/>
                <a:sym typeface="+mn-lt"/>
              </a:rPr>
              <a:t>数列</a:t>
            </a:r>
          </a:p>
        </p:txBody>
      </p:sp>
    </p:spTree>
    <p:extLst>
      <p:ext uri="{BB962C8B-B14F-4D97-AF65-F5344CB8AC3E}">
        <p14:creationId xmlns:p14="http://schemas.microsoft.com/office/powerpoint/2010/main" val="4223966995"/>
      </p:ext>
    </p:extLst>
  </p:cSld>
  <p:clrMapOvr>
    <a:masterClrMapping/>
  </p:clrMapOvr>
  <p:transition spd="slow">
    <p:push dir="u"/>
  </p:transition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476520" y="96475"/>
            <a:ext cx="387045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递归</a:t>
            </a:r>
          </a:p>
        </p:txBody>
      </p:sp>
      <p:sp>
        <p:nvSpPr>
          <p:cNvPr id="12" name="矩形 11"/>
          <p:cNvSpPr/>
          <p:nvPr/>
        </p:nvSpPr>
        <p:spPr>
          <a:xfrm>
            <a:off x="476520" y="430384"/>
            <a:ext cx="387045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00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Always believe that something wonderful is about to happen</a:t>
            </a:r>
            <a:r>
              <a:rPr lang="en-US" altLang="zh-CN" sz="10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.</a:t>
            </a:r>
            <a:endParaRPr lang="zh-CN" altLang="en-US" sz="1000" dirty="0">
              <a:solidFill>
                <a:schemeClr val="tx1">
                  <a:lumMod val="50000"/>
                  <a:lumOff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476520" y="1010514"/>
            <a:ext cx="6936514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>
                <a:cs typeface="+mn-ea"/>
                <a:sym typeface="+mn-lt"/>
              </a:rPr>
              <a:t>数学归纳法：认为当前状态是已知的，推导和下一个状态的关系</a:t>
            </a:r>
            <a:endParaRPr lang="en-US" altLang="zh-CN" dirty="0">
              <a:cs typeface="+mn-ea"/>
              <a:sym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dirty="0">
              <a:cs typeface="+mn-ea"/>
              <a:sym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>
                <a:cs typeface="+mn-ea"/>
                <a:sym typeface="+mn-lt"/>
              </a:rPr>
              <a:t>写出数列递推式</a:t>
            </a:r>
            <a:endParaRPr lang="en-US" altLang="zh-CN" dirty="0">
              <a:cs typeface="+mn-ea"/>
              <a:sym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dirty="0">
              <a:cs typeface="+mn-ea"/>
              <a:sym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>
                <a:cs typeface="+mn-ea"/>
                <a:sym typeface="+mn-lt"/>
              </a:rPr>
              <a:t>转换成</a:t>
            </a:r>
            <a:r>
              <a:rPr lang="en-US" altLang="zh-CN" dirty="0">
                <a:cs typeface="+mn-ea"/>
                <a:sym typeface="+mn-lt"/>
              </a:rPr>
              <a:t>C</a:t>
            </a:r>
            <a:r>
              <a:rPr lang="zh-CN" altLang="en-US" dirty="0">
                <a:cs typeface="+mn-ea"/>
                <a:sym typeface="+mn-lt"/>
              </a:rPr>
              <a:t>语言程序</a:t>
            </a:r>
          </a:p>
        </p:txBody>
      </p:sp>
    </p:spTree>
    <p:extLst>
      <p:ext uri="{BB962C8B-B14F-4D97-AF65-F5344CB8AC3E}">
        <p14:creationId xmlns:p14="http://schemas.microsoft.com/office/powerpoint/2010/main" val="1005451943"/>
      </p:ext>
    </p:extLst>
  </p:cSld>
  <p:clrMapOvr>
    <a:masterClrMapping/>
  </p:clrMapOvr>
  <p:transition spd="slow">
    <p:push dir="u"/>
  </p:transition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476520" y="96475"/>
            <a:ext cx="387045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递归</a:t>
            </a:r>
          </a:p>
        </p:txBody>
      </p:sp>
      <p:sp>
        <p:nvSpPr>
          <p:cNvPr id="12" name="矩形 11"/>
          <p:cNvSpPr/>
          <p:nvPr/>
        </p:nvSpPr>
        <p:spPr>
          <a:xfrm>
            <a:off x="476520" y="430384"/>
            <a:ext cx="387045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00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Always believe that something wonderful is about to happen</a:t>
            </a:r>
            <a:r>
              <a:rPr lang="en-US" altLang="zh-CN" sz="10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.</a:t>
            </a:r>
            <a:endParaRPr lang="zh-CN" altLang="en-US" sz="1000" dirty="0">
              <a:solidFill>
                <a:schemeClr val="tx1">
                  <a:lumMod val="50000"/>
                  <a:lumOff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76520" y="951570"/>
            <a:ext cx="23952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cs typeface="+mn-ea"/>
                <a:sym typeface="+mn-lt"/>
              </a:rPr>
              <a:t>求奇数数列的前</a:t>
            </a:r>
            <a:r>
              <a:rPr lang="en-US" altLang="zh-CN" dirty="0">
                <a:cs typeface="+mn-ea"/>
                <a:sym typeface="+mn-lt"/>
              </a:rPr>
              <a:t>n</a:t>
            </a:r>
            <a:r>
              <a:rPr lang="zh-CN" altLang="en-US" dirty="0">
                <a:cs typeface="+mn-ea"/>
                <a:sym typeface="+mn-lt"/>
              </a:rPr>
              <a:t>项和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476520" y="1671650"/>
            <a:ext cx="3836307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cs typeface="+mn-ea"/>
                <a:sym typeface="+mn-lt"/>
              </a:rPr>
              <a:t>假设</a:t>
            </a:r>
            <a:r>
              <a:rPr lang="en-US" altLang="zh-CN" dirty="0">
                <a:cs typeface="+mn-ea"/>
                <a:sym typeface="+mn-lt"/>
              </a:rPr>
              <a:t>f(n)</a:t>
            </a:r>
            <a:r>
              <a:rPr lang="zh-CN" altLang="en-US" dirty="0">
                <a:cs typeface="+mn-ea"/>
                <a:sym typeface="+mn-lt"/>
              </a:rPr>
              <a:t>是前</a:t>
            </a:r>
            <a:r>
              <a:rPr lang="en-US" altLang="zh-CN" dirty="0">
                <a:cs typeface="+mn-ea"/>
                <a:sym typeface="+mn-lt"/>
              </a:rPr>
              <a:t>n</a:t>
            </a:r>
            <a:r>
              <a:rPr lang="zh-CN" altLang="en-US" dirty="0">
                <a:cs typeface="+mn-ea"/>
                <a:sym typeface="+mn-lt"/>
              </a:rPr>
              <a:t>项和</a:t>
            </a:r>
            <a:endParaRPr lang="en-US" altLang="zh-CN" dirty="0">
              <a:cs typeface="+mn-ea"/>
              <a:sym typeface="+mn-lt"/>
            </a:endParaRPr>
          </a:p>
          <a:p>
            <a:endParaRPr lang="en-US" altLang="zh-CN" dirty="0">
              <a:cs typeface="+mn-ea"/>
              <a:sym typeface="+mn-lt"/>
            </a:endParaRPr>
          </a:p>
          <a:p>
            <a:r>
              <a:rPr lang="zh-CN" altLang="en-US" dirty="0">
                <a:cs typeface="+mn-ea"/>
                <a:sym typeface="+mn-lt"/>
              </a:rPr>
              <a:t>当</a:t>
            </a:r>
            <a:r>
              <a:rPr lang="en-US" altLang="zh-CN" dirty="0">
                <a:cs typeface="+mn-ea"/>
                <a:sym typeface="+mn-lt"/>
              </a:rPr>
              <a:t>n = 1 </a:t>
            </a:r>
            <a:r>
              <a:rPr lang="zh-CN" altLang="en-US" dirty="0">
                <a:cs typeface="+mn-ea"/>
                <a:sym typeface="+mn-lt"/>
              </a:rPr>
              <a:t>时，</a:t>
            </a:r>
            <a:r>
              <a:rPr lang="en-US" altLang="zh-CN" dirty="0">
                <a:cs typeface="+mn-ea"/>
                <a:sym typeface="+mn-lt"/>
              </a:rPr>
              <a:t>f(1) = 1</a:t>
            </a:r>
            <a:endParaRPr lang="zh-CN" altLang="en-US" dirty="0">
              <a:cs typeface="+mn-ea"/>
              <a:sym typeface="+mn-lt"/>
            </a:endParaRPr>
          </a:p>
          <a:p>
            <a:r>
              <a:rPr lang="zh-CN" altLang="en-US" dirty="0">
                <a:cs typeface="+mn-ea"/>
                <a:sym typeface="+mn-lt"/>
              </a:rPr>
              <a:t>当</a:t>
            </a:r>
            <a:r>
              <a:rPr lang="en-US" altLang="zh-CN" dirty="0">
                <a:cs typeface="+mn-ea"/>
                <a:sym typeface="+mn-lt"/>
              </a:rPr>
              <a:t>n &gt; 1 </a:t>
            </a:r>
            <a:r>
              <a:rPr lang="zh-CN" altLang="en-US" dirty="0">
                <a:cs typeface="+mn-ea"/>
                <a:sym typeface="+mn-lt"/>
              </a:rPr>
              <a:t>时，</a:t>
            </a:r>
            <a:r>
              <a:rPr lang="en-US" altLang="zh-CN" dirty="0">
                <a:cs typeface="+mn-ea"/>
                <a:sym typeface="+mn-lt"/>
              </a:rPr>
              <a:t>f(n) – f(n-1) = 2 n – 1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6975" y="843439"/>
            <a:ext cx="3419048" cy="3542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555626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476520" y="96475"/>
            <a:ext cx="387045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递归</a:t>
            </a:r>
          </a:p>
        </p:txBody>
      </p:sp>
      <p:sp>
        <p:nvSpPr>
          <p:cNvPr id="12" name="矩形 11"/>
          <p:cNvSpPr/>
          <p:nvPr/>
        </p:nvSpPr>
        <p:spPr>
          <a:xfrm>
            <a:off x="476520" y="430384"/>
            <a:ext cx="387045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00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Always believe that something wonderful is about to happen</a:t>
            </a:r>
            <a:r>
              <a:rPr lang="en-US" altLang="zh-CN" sz="10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.</a:t>
            </a:r>
            <a:endParaRPr lang="zh-CN" altLang="en-US" sz="1000" dirty="0">
              <a:solidFill>
                <a:schemeClr val="tx1">
                  <a:lumMod val="50000"/>
                  <a:lumOff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476520" y="841237"/>
            <a:ext cx="46355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cs typeface="+mn-ea"/>
                <a:sym typeface="+mn-lt"/>
              </a:rPr>
              <a:t>上楼梯，一次可以上一级或两级，求上</a:t>
            </a:r>
            <a:r>
              <a:rPr lang="en-US" altLang="zh-CN" dirty="0">
                <a:cs typeface="+mn-ea"/>
                <a:sym typeface="+mn-lt"/>
              </a:rPr>
              <a:t>n</a:t>
            </a:r>
            <a:r>
              <a:rPr lang="zh-CN" altLang="en-US" dirty="0">
                <a:cs typeface="+mn-ea"/>
                <a:sym typeface="+mn-lt"/>
              </a:rPr>
              <a:t>级台阶的方法数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476520" y="1671650"/>
            <a:ext cx="4815534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cs typeface="+mn-ea"/>
                <a:sym typeface="+mn-lt"/>
              </a:rPr>
              <a:t>问什么设什么</a:t>
            </a:r>
            <a:r>
              <a:rPr lang="en-US" altLang="zh-CN" dirty="0">
                <a:cs typeface="+mn-ea"/>
                <a:sym typeface="+mn-lt"/>
              </a:rPr>
              <a:t>——</a:t>
            </a:r>
            <a:r>
              <a:rPr lang="zh-CN" altLang="en-US" dirty="0">
                <a:cs typeface="+mn-ea"/>
                <a:sym typeface="+mn-lt"/>
              </a:rPr>
              <a:t>设</a:t>
            </a:r>
            <a:r>
              <a:rPr lang="en-US" altLang="zh-CN" dirty="0">
                <a:cs typeface="+mn-ea"/>
                <a:sym typeface="+mn-lt"/>
              </a:rPr>
              <a:t>f(n)</a:t>
            </a:r>
            <a:r>
              <a:rPr lang="zh-CN" altLang="en-US" dirty="0">
                <a:cs typeface="+mn-ea"/>
                <a:sym typeface="+mn-lt"/>
              </a:rPr>
              <a:t>为上</a:t>
            </a:r>
            <a:r>
              <a:rPr lang="en-US" altLang="zh-CN" dirty="0">
                <a:cs typeface="+mn-ea"/>
                <a:sym typeface="+mn-lt"/>
              </a:rPr>
              <a:t>n</a:t>
            </a:r>
            <a:r>
              <a:rPr lang="zh-CN" altLang="en-US" dirty="0">
                <a:cs typeface="+mn-ea"/>
                <a:sym typeface="+mn-lt"/>
              </a:rPr>
              <a:t>级台阶的方法数</a:t>
            </a:r>
            <a:endParaRPr lang="en-US" altLang="zh-CN" dirty="0">
              <a:cs typeface="+mn-ea"/>
              <a:sym typeface="+mn-lt"/>
            </a:endParaRPr>
          </a:p>
          <a:p>
            <a:endParaRPr lang="en-US" altLang="zh-CN" dirty="0">
              <a:cs typeface="+mn-ea"/>
              <a:sym typeface="+mn-lt"/>
            </a:endParaRPr>
          </a:p>
          <a:p>
            <a:r>
              <a:rPr lang="zh-CN" altLang="en-US" dirty="0">
                <a:cs typeface="+mn-ea"/>
                <a:sym typeface="+mn-lt"/>
              </a:rPr>
              <a:t>当</a:t>
            </a:r>
            <a:r>
              <a:rPr lang="en-US" altLang="zh-CN" dirty="0">
                <a:cs typeface="+mn-ea"/>
                <a:sym typeface="+mn-lt"/>
              </a:rPr>
              <a:t>n = 1  </a:t>
            </a:r>
            <a:r>
              <a:rPr lang="zh-CN" altLang="en-US" dirty="0">
                <a:cs typeface="+mn-ea"/>
                <a:sym typeface="+mn-lt"/>
              </a:rPr>
              <a:t>时，</a:t>
            </a:r>
            <a:r>
              <a:rPr lang="en-US" altLang="zh-CN" dirty="0">
                <a:cs typeface="+mn-ea"/>
                <a:sym typeface="+mn-lt"/>
              </a:rPr>
              <a:t>f(1) = 1</a:t>
            </a:r>
          </a:p>
          <a:p>
            <a:r>
              <a:rPr lang="zh-CN" altLang="en-US" dirty="0">
                <a:cs typeface="+mn-ea"/>
                <a:sym typeface="+mn-lt"/>
              </a:rPr>
              <a:t>当</a:t>
            </a:r>
            <a:r>
              <a:rPr lang="en-US" altLang="zh-CN" dirty="0">
                <a:cs typeface="+mn-ea"/>
                <a:sym typeface="+mn-lt"/>
              </a:rPr>
              <a:t>n = 2 </a:t>
            </a:r>
            <a:r>
              <a:rPr lang="zh-CN" altLang="en-US" dirty="0">
                <a:cs typeface="+mn-ea"/>
                <a:sym typeface="+mn-lt"/>
              </a:rPr>
              <a:t>时，</a:t>
            </a:r>
            <a:r>
              <a:rPr lang="en-US" altLang="zh-CN" dirty="0">
                <a:cs typeface="+mn-ea"/>
                <a:sym typeface="+mn-lt"/>
              </a:rPr>
              <a:t>f(2) = 2</a:t>
            </a:r>
          </a:p>
          <a:p>
            <a:r>
              <a:rPr lang="zh-CN" altLang="en-US" dirty="0">
                <a:cs typeface="+mn-ea"/>
                <a:sym typeface="+mn-lt"/>
              </a:rPr>
              <a:t>当</a:t>
            </a:r>
            <a:r>
              <a:rPr lang="en-US" altLang="zh-CN" dirty="0">
                <a:cs typeface="+mn-ea"/>
                <a:sym typeface="+mn-lt"/>
              </a:rPr>
              <a:t>n &gt; 2 </a:t>
            </a:r>
            <a:r>
              <a:rPr lang="zh-CN" altLang="en-US" dirty="0">
                <a:cs typeface="+mn-ea"/>
                <a:sym typeface="+mn-lt"/>
              </a:rPr>
              <a:t>时，</a:t>
            </a:r>
            <a:r>
              <a:rPr lang="en-US" altLang="zh-CN" dirty="0">
                <a:cs typeface="+mn-ea"/>
                <a:sym typeface="+mn-lt"/>
              </a:rPr>
              <a:t>f(n) = f(n-1) + f(n-2)</a:t>
            </a:r>
            <a:r>
              <a:rPr lang="zh-CN" altLang="en-US" dirty="0">
                <a:cs typeface="+mn-ea"/>
                <a:sym typeface="+mn-lt"/>
              </a:rPr>
              <a:t>，因为他只能由之前上一级或两级得来</a:t>
            </a:r>
            <a:endParaRPr lang="en-US" altLang="zh-CN" dirty="0">
              <a:cs typeface="+mn-ea"/>
              <a:sym typeface="+mn-lt"/>
            </a:endParaRPr>
          </a:p>
          <a:p>
            <a:endParaRPr lang="en-US" altLang="zh-CN" dirty="0">
              <a:cs typeface="+mn-ea"/>
              <a:sym typeface="+mn-lt"/>
            </a:endParaRPr>
          </a:p>
          <a:p>
            <a:r>
              <a:rPr lang="zh-CN" altLang="en-US" dirty="0">
                <a:cs typeface="+mn-ea"/>
                <a:sym typeface="+mn-lt"/>
              </a:rPr>
              <a:t>总的走法 </a:t>
            </a:r>
            <a:r>
              <a:rPr lang="en-US" altLang="zh-CN" dirty="0">
                <a:cs typeface="+mn-ea"/>
                <a:sym typeface="+mn-lt"/>
              </a:rPr>
              <a:t>= </a:t>
            </a:r>
            <a:r>
              <a:rPr lang="zh-CN" altLang="en-US" dirty="0">
                <a:cs typeface="+mn-ea"/>
                <a:sym typeface="+mn-lt"/>
              </a:rPr>
              <a:t>最后一步上一级的走法 </a:t>
            </a:r>
            <a:r>
              <a:rPr lang="en-US" altLang="zh-CN" dirty="0">
                <a:cs typeface="+mn-ea"/>
                <a:sym typeface="+mn-lt"/>
              </a:rPr>
              <a:t>+ </a:t>
            </a:r>
            <a:r>
              <a:rPr lang="zh-CN" altLang="en-US" dirty="0">
                <a:cs typeface="+mn-ea"/>
                <a:sym typeface="+mn-lt"/>
              </a:rPr>
              <a:t>最后一步上两级的走法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27095" y="656445"/>
            <a:ext cx="3514286" cy="3561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801908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8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9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0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1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2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3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4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5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476520" y="96475"/>
            <a:ext cx="387045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递归</a:t>
            </a:r>
          </a:p>
        </p:txBody>
      </p:sp>
      <p:sp>
        <p:nvSpPr>
          <p:cNvPr id="12" name="矩形 11"/>
          <p:cNvSpPr/>
          <p:nvPr/>
        </p:nvSpPr>
        <p:spPr>
          <a:xfrm>
            <a:off x="476520" y="430384"/>
            <a:ext cx="387045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00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Always believe that something wonderful is about to happen</a:t>
            </a:r>
            <a:r>
              <a:rPr lang="en-US" altLang="zh-CN" sz="10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.</a:t>
            </a:r>
            <a:endParaRPr lang="zh-CN" altLang="en-US" sz="1000" dirty="0">
              <a:solidFill>
                <a:schemeClr val="tx1">
                  <a:lumMod val="50000"/>
                  <a:lumOff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476520" y="951570"/>
            <a:ext cx="572464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cs typeface="+mn-ea"/>
                <a:sym typeface="+mn-lt"/>
              </a:rPr>
              <a:t>过一个村卖一个鸭子多一只，七个村子以后剩两只鸭子</a:t>
            </a:r>
            <a:endParaRPr lang="en-US" altLang="zh-CN" dirty="0">
              <a:cs typeface="+mn-ea"/>
              <a:sym typeface="+mn-lt"/>
            </a:endParaRPr>
          </a:p>
          <a:p>
            <a:r>
              <a:rPr lang="zh-CN" altLang="en-US" dirty="0">
                <a:cs typeface="+mn-ea"/>
                <a:sym typeface="+mn-lt"/>
              </a:rPr>
              <a:t>输出卖了多少鸭子，每个村庄卖了几只</a:t>
            </a:r>
            <a:endParaRPr lang="en-US" altLang="zh-CN" dirty="0">
              <a:cs typeface="+mn-ea"/>
              <a:sym typeface="+mn-lt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76520" y="1716655"/>
            <a:ext cx="4693914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cs typeface="+mn-ea"/>
                <a:sym typeface="+mn-lt"/>
              </a:rPr>
              <a:t>间接法：用一个数组</a:t>
            </a:r>
            <a:r>
              <a:rPr lang="en-US" altLang="zh-CN" dirty="0">
                <a:cs typeface="+mn-ea"/>
                <a:sym typeface="+mn-lt"/>
              </a:rPr>
              <a:t>a</a:t>
            </a:r>
            <a:r>
              <a:rPr lang="zh-CN" altLang="en-US" dirty="0">
                <a:cs typeface="+mn-ea"/>
                <a:sym typeface="+mn-lt"/>
              </a:rPr>
              <a:t>存每个村庄剩下的鸭子</a:t>
            </a:r>
            <a:endParaRPr lang="en-US" altLang="zh-CN" dirty="0">
              <a:cs typeface="+mn-ea"/>
              <a:sym typeface="+mn-lt"/>
            </a:endParaRPr>
          </a:p>
          <a:p>
            <a:r>
              <a:rPr lang="en-US" altLang="zh-CN" dirty="0">
                <a:cs typeface="+mn-ea"/>
                <a:sym typeface="+mn-lt"/>
              </a:rPr>
              <a:t>f(n)</a:t>
            </a:r>
            <a:r>
              <a:rPr lang="zh-CN" altLang="en-US" dirty="0">
                <a:cs typeface="+mn-ea"/>
                <a:sym typeface="+mn-lt"/>
              </a:rPr>
              <a:t>表示经过第</a:t>
            </a:r>
            <a:r>
              <a:rPr lang="en-US" altLang="zh-CN" dirty="0">
                <a:cs typeface="+mn-ea"/>
                <a:sym typeface="+mn-lt"/>
              </a:rPr>
              <a:t>n</a:t>
            </a:r>
            <a:r>
              <a:rPr lang="zh-CN" altLang="en-US" dirty="0">
                <a:cs typeface="+mn-ea"/>
                <a:sym typeface="+mn-lt"/>
              </a:rPr>
              <a:t>个村庄时剩余的鸭子数</a:t>
            </a:r>
            <a:endParaRPr lang="en-US" altLang="zh-CN" dirty="0">
              <a:cs typeface="+mn-ea"/>
              <a:sym typeface="+mn-lt"/>
            </a:endParaRPr>
          </a:p>
          <a:p>
            <a:r>
              <a:rPr lang="zh-CN" altLang="en-US" dirty="0">
                <a:cs typeface="+mn-ea"/>
                <a:sym typeface="+mn-lt"/>
              </a:rPr>
              <a:t>当</a:t>
            </a:r>
            <a:r>
              <a:rPr lang="en-US" altLang="zh-CN" dirty="0">
                <a:cs typeface="+mn-ea"/>
                <a:sym typeface="+mn-lt"/>
              </a:rPr>
              <a:t>n = 7</a:t>
            </a:r>
            <a:r>
              <a:rPr lang="zh-CN" altLang="en-US" dirty="0">
                <a:cs typeface="+mn-ea"/>
                <a:sym typeface="+mn-lt"/>
              </a:rPr>
              <a:t>时，</a:t>
            </a:r>
            <a:r>
              <a:rPr lang="en-US" altLang="zh-CN" dirty="0">
                <a:cs typeface="+mn-ea"/>
                <a:sym typeface="+mn-lt"/>
              </a:rPr>
              <a:t>f(n) = 2</a:t>
            </a:r>
          </a:p>
          <a:p>
            <a:r>
              <a:rPr lang="zh-CN" altLang="en-US" dirty="0">
                <a:cs typeface="+mn-ea"/>
                <a:sym typeface="+mn-lt"/>
              </a:rPr>
              <a:t>当</a:t>
            </a:r>
            <a:r>
              <a:rPr lang="en-US" altLang="zh-CN" dirty="0">
                <a:cs typeface="+mn-ea"/>
                <a:sym typeface="+mn-lt"/>
              </a:rPr>
              <a:t>1 &lt;= n &lt; 7</a:t>
            </a:r>
            <a:r>
              <a:rPr lang="zh-CN" altLang="en-US" dirty="0">
                <a:cs typeface="+mn-ea"/>
                <a:sym typeface="+mn-lt"/>
              </a:rPr>
              <a:t>时，</a:t>
            </a:r>
            <a:r>
              <a:rPr lang="en-US" altLang="zh-CN" dirty="0">
                <a:cs typeface="+mn-ea"/>
                <a:sym typeface="+mn-lt"/>
              </a:rPr>
              <a:t>f(n) = (f(n + 1) + 1) * 2</a:t>
            </a:r>
          </a:p>
          <a:p>
            <a:endParaRPr lang="en-US" altLang="zh-CN" dirty="0">
              <a:cs typeface="+mn-ea"/>
              <a:sym typeface="+mn-lt"/>
            </a:endParaRPr>
          </a:p>
          <a:p>
            <a:r>
              <a:rPr lang="en-US" altLang="zh-CN" dirty="0">
                <a:cs typeface="+mn-ea"/>
                <a:sym typeface="+mn-lt"/>
              </a:rPr>
              <a:t>return </a:t>
            </a:r>
            <a:r>
              <a:rPr lang="zh-CN" altLang="en-US" dirty="0">
                <a:cs typeface="+mn-ea"/>
                <a:sym typeface="+mn-lt"/>
              </a:rPr>
              <a:t>赋值语句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2040" y="906565"/>
            <a:ext cx="3971429" cy="3133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203166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476520" y="96475"/>
            <a:ext cx="387045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递归</a:t>
            </a:r>
          </a:p>
        </p:txBody>
      </p:sp>
      <p:sp>
        <p:nvSpPr>
          <p:cNvPr id="12" name="矩形 11"/>
          <p:cNvSpPr/>
          <p:nvPr/>
        </p:nvSpPr>
        <p:spPr>
          <a:xfrm>
            <a:off x="476520" y="430384"/>
            <a:ext cx="387045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00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Always believe that something wonderful is about to happen</a:t>
            </a:r>
            <a:r>
              <a:rPr lang="en-US" altLang="zh-CN" sz="10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.</a:t>
            </a:r>
            <a:endParaRPr lang="zh-CN" altLang="en-US" sz="1000" dirty="0">
              <a:solidFill>
                <a:schemeClr val="tx1">
                  <a:lumMod val="50000"/>
                  <a:lumOff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476520" y="951570"/>
            <a:ext cx="572464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cs typeface="+mn-ea"/>
                <a:sym typeface="+mn-lt"/>
              </a:rPr>
              <a:t>过一个村卖一个鸭子多一只，七个村子以后剩两只鸭子</a:t>
            </a:r>
            <a:endParaRPr lang="en-US" altLang="zh-CN" dirty="0">
              <a:cs typeface="+mn-ea"/>
              <a:sym typeface="+mn-lt"/>
            </a:endParaRPr>
          </a:p>
          <a:p>
            <a:r>
              <a:rPr lang="zh-CN" altLang="en-US" dirty="0">
                <a:cs typeface="+mn-ea"/>
                <a:sym typeface="+mn-lt"/>
              </a:rPr>
              <a:t>输出卖了多少鸭子，每个村庄卖了几只</a:t>
            </a:r>
            <a:endParaRPr lang="en-US" altLang="zh-CN" dirty="0">
              <a:cs typeface="+mn-ea"/>
              <a:sym typeface="+mn-lt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76520" y="1716655"/>
            <a:ext cx="2031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cs typeface="+mn-ea"/>
                <a:sym typeface="+mn-lt"/>
              </a:rPr>
              <a:t>方法二：利用参数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7015" y="51470"/>
            <a:ext cx="4171429" cy="4990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009088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F34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1" y="2166704"/>
            <a:ext cx="9144000" cy="450051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6495" y="-1433695"/>
            <a:ext cx="3894015" cy="8094524"/>
          </a:xfrm>
          <a:prstGeom prst="rect">
            <a:avLst/>
          </a:prstGeom>
          <a:noFill/>
          <a:effectLst>
            <a:outerShdw blurRad="165100" dist="76200" dir="1200000" algn="tl" rotWithShape="0">
              <a:prstClr val="black">
                <a:alpha val="10000"/>
              </a:prstClr>
            </a:outerShdw>
          </a:effectLst>
        </p:spPr>
        <p:txBody>
          <a:bodyPr wrap="non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520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cs typeface="+mn-ea"/>
                <a:sym typeface="+mn-lt"/>
              </a:rPr>
              <a:t>3</a:t>
            </a:r>
            <a:endParaRPr kumimoji="0" lang="zh-CN" altLang="en-US" sz="520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579089" y="2155090"/>
            <a:ext cx="517837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cs typeface="+mn-ea"/>
                <a:sym typeface="+mn-lt"/>
              </a:rPr>
              <a:t>链表</a:t>
            </a:r>
          </a:p>
        </p:txBody>
      </p:sp>
      <p:sp>
        <p:nvSpPr>
          <p:cNvPr id="3" name="矩形 2"/>
          <p:cNvSpPr/>
          <p:nvPr/>
        </p:nvSpPr>
        <p:spPr>
          <a:xfrm>
            <a:off x="4998103" y="1397264"/>
            <a:ext cx="3759362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44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cs typeface="+mn-ea"/>
                <a:sym typeface="+mn-lt"/>
              </a:rPr>
              <a:t>PART THREE</a:t>
            </a:r>
            <a:endParaRPr kumimoji="0" lang="zh-CN" altLang="en-US" sz="44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346107531"/>
      </p:ext>
    </p:extLst>
  </p:cSld>
  <p:clrMapOvr>
    <a:masterClrMapping/>
  </p:clrMapOvr>
  <p:transition spd="slow">
    <p:push dir="u"/>
  </p:transition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476520" y="96475"/>
            <a:ext cx="387045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0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cs typeface="+mn-ea"/>
                <a:sym typeface="+mn-lt"/>
              </a:rPr>
              <a:t>链表</a:t>
            </a:r>
          </a:p>
        </p:txBody>
      </p:sp>
      <p:sp>
        <p:nvSpPr>
          <p:cNvPr id="12" name="矩形 11"/>
          <p:cNvSpPr/>
          <p:nvPr/>
        </p:nvSpPr>
        <p:spPr>
          <a:xfrm>
            <a:off x="476520" y="430384"/>
            <a:ext cx="3870455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cs typeface="+mn-ea"/>
                <a:sym typeface="+mn-lt"/>
              </a:rPr>
              <a:t>Always believe that something wonderful is about to happen.</a:t>
            </a:r>
            <a:endParaRPr kumimoji="0" lang="zh-CN" altLang="en-US" sz="1000" b="0" i="0" u="none" strike="noStrike" kern="0" cap="none" spc="0" normalizeH="0" baseline="0" noProof="0" dirty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19" name="圆角矩形 18"/>
          <p:cNvSpPr/>
          <p:nvPr/>
        </p:nvSpPr>
        <p:spPr>
          <a:xfrm>
            <a:off x="775855" y="1105678"/>
            <a:ext cx="602673" cy="31865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35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ea"/>
                <a:sym typeface="+mn-lt"/>
              </a:rPr>
              <a:t>head</a:t>
            </a:r>
            <a:endParaRPr kumimoji="0" lang="zh-CN" altLang="en-US" sz="135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cxnSp>
        <p:nvCxnSpPr>
          <p:cNvPr id="20" name="直接箭头连接符 19"/>
          <p:cNvCxnSpPr/>
          <p:nvPr/>
        </p:nvCxnSpPr>
        <p:spPr>
          <a:xfrm>
            <a:off x="1066801" y="1424332"/>
            <a:ext cx="0" cy="32134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1" name="组合 20"/>
          <p:cNvGrpSpPr/>
          <p:nvPr/>
        </p:nvGrpSpPr>
        <p:grpSpPr>
          <a:xfrm>
            <a:off x="827549" y="1745673"/>
            <a:ext cx="527418" cy="872836"/>
            <a:chOff x="1172323" y="2327564"/>
            <a:chExt cx="703224" cy="1163781"/>
          </a:xfrm>
        </p:grpSpPr>
        <p:sp>
          <p:nvSpPr>
            <p:cNvPr id="22" name="矩形 21"/>
            <p:cNvSpPr/>
            <p:nvPr/>
          </p:nvSpPr>
          <p:spPr>
            <a:xfrm>
              <a:off x="1219200" y="2327564"/>
              <a:ext cx="554182" cy="1163781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35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cxnSp>
          <p:nvCxnSpPr>
            <p:cNvPr id="23" name="直接连接符 22"/>
            <p:cNvCxnSpPr>
              <a:stCxn id="22" idx="1"/>
              <a:endCxn id="22" idx="3"/>
            </p:cNvCxnSpPr>
            <p:nvPr/>
          </p:nvCxnSpPr>
          <p:spPr>
            <a:xfrm>
              <a:off x="1219200" y="2909455"/>
              <a:ext cx="554182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矩形 23"/>
            <p:cNvSpPr/>
            <p:nvPr/>
          </p:nvSpPr>
          <p:spPr>
            <a:xfrm>
              <a:off x="1219199" y="2327564"/>
              <a:ext cx="554183" cy="1163781"/>
            </a:xfrm>
            <a:prstGeom prst="rect">
              <a:avLst/>
            </a:prstGeom>
            <a:noFill/>
            <a:ln w="9525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35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25" name="文本框 24"/>
            <p:cNvSpPr txBox="1"/>
            <p:nvPr/>
          </p:nvSpPr>
          <p:spPr>
            <a:xfrm>
              <a:off x="1172323" y="2481124"/>
              <a:ext cx="695063" cy="40010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35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cs typeface="+mn-ea"/>
                  <a:sym typeface="+mn-lt"/>
                </a:rPr>
                <a:t>data</a:t>
              </a:r>
              <a:endParaRPr kumimoji="0" lang="zh-CN" altLang="en-US" sz="135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26" name="文本框 25"/>
            <p:cNvSpPr txBox="1"/>
            <p:nvPr/>
          </p:nvSpPr>
          <p:spPr>
            <a:xfrm>
              <a:off x="1193308" y="3063138"/>
              <a:ext cx="682239" cy="40010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35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cs typeface="+mn-ea"/>
                  <a:sym typeface="+mn-lt"/>
                </a:rPr>
                <a:t>next</a:t>
              </a:r>
              <a:endParaRPr kumimoji="0" lang="zh-CN" altLang="en-US" sz="135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</p:grpSp>
      <p:grpSp>
        <p:nvGrpSpPr>
          <p:cNvPr id="27" name="组合 26"/>
          <p:cNvGrpSpPr/>
          <p:nvPr/>
        </p:nvGrpSpPr>
        <p:grpSpPr>
          <a:xfrm>
            <a:off x="3221182" y="1752877"/>
            <a:ext cx="527418" cy="872836"/>
            <a:chOff x="1172323" y="2327564"/>
            <a:chExt cx="703224" cy="1163781"/>
          </a:xfrm>
        </p:grpSpPr>
        <p:sp>
          <p:nvSpPr>
            <p:cNvPr id="30" name="矩形 29"/>
            <p:cNvSpPr/>
            <p:nvPr/>
          </p:nvSpPr>
          <p:spPr>
            <a:xfrm>
              <a:off x="1219200" y="2327564"/>
              <a:ext cx="554182" cy="1163781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35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cxnSp>
          <p:nvCxnSpPr>
            <p:cNvPr id="32" name="直接连接符 31"/>
            <p:cNvCxnSpPr>
              <a:stCxn id="30" idx="1"/>
              <a:endCxn id="30" idx="3"/>
            </p:cNvCxnSpPr>
            <p:nvPr/>
          </p:nvCxnSpPr>
          <p:spPr>
            <a:xfrm>
              <a:off x="1219200" y="2909455"/>
              <a:ext cx="554182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矩形 34"/>
            <p:cNvSpPr/>
            <p:nvPr/>
          </p:nvSpPr>
          <p:spPr>
            <a:xfrm>
              <a:off x="1219199" y="2327564"/>
              <a:ext cx="554183" cy="1163781"/>
            </a:xfrm>
            <a:prstGeom prst="rect">
              <a:avLst/>
            </a:prstGeom>
            <a:noFill/>
            <a:ln w="9525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35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37" name="文本框 36"/>
            <p:cNvSpPr txBox="1"/>
            <p:nvPr/>
          </p:nvSpPr>
          <p:spPr>
            <a:xfrm>
              <a:off x="1172323" y="2481124"/>
              <a:ext cx="695063" cy="40010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35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cs typeface="+mn-ea"/>
                  <a:sym typeface="+mn-lt"/>
                </a:rPr>
                <a:t>data</a:t>
              </a:r>
              <a:endParaRPr kumimoji="0" lang="zh-CN" altLang="en-US" sz="135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41" name="文本框 40"/>
            <p:cNvSpPr txBox="1"/>
            <p:nvPr/>
          </p:nvSpPr>
          <p:spPr>
            <a:xfrm>
              <a:off x="1193308" y="3063138"/>
              <a:ext cx="682239" cy="40010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35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cs typeface="+mn-ea"/>
                  <a:sym typeface="+mn-lt"/>
                </a:rPr>
                <a:t>next</a:t>
              </a:r>
              <a:endParaRPr kumimoji="0" lang="zh-CN" altLang="en-US" sz="135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</p:grpSp>
      <p:cxnSp>
        <p:nvCxnSpPr>
          <p:cNvPr id="43" name="肘形连接符 42"/>
          <p:cNvCxnSpPr/>
          <p:nvPr/>
        </p:nvCxnSpPr>
        <p:spPr>
          <a:xfrm flipV="1">
            <a:off x="1286345" y="1848604"/>
            <a:ext cx="619730" cy="575010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肘形连接符 45"/>
          <p:cNvCxnSpPr/>
          <p:nvPr/>
        </p:nvCxnSpPr>
        <p:spPr>
          <a:xfrm flipV="1">
            <a:off x="2317434" y="1848604"/>
            <a:ext cx="619730" cy="575010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7" name="组合 46"/>
          <p:cNvGrpSpPr/>
          <p:nvPr/>
        </p:nvGrpSpPr>
        <p:grpSpPr>
          <a:xfrm>
            <a:off x="765464" y="2620124"/>
            <a:ext cx="301337" cy="598499"/>
            <a:chOff x="932501" y="3438649"/>
            <a:chExt cx="401782" cy="797998"/>
          </a:xfrm>
        </p:grpSpPr>
        <p:sp>
          <p:nvSpPr>
            <p:cNvPr id="51" name="圆角矩形 50"/>
            <p:cNvSpPr/>
            <p:nvPr/>
          </p:nvSpPr>
          <p:spPr>
            <a:xfrm>
              <a:off x="932501" y="3811774"/>
              <a:ext cx="401782" cy="424873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350" b="0" i="0" u="none" strike="noStrike" kern="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cs typeface="+mn-ea"/>
                  <a:sym typeface="+mn-lt"/>
                </a:rPr>
                <a:t>p</a:t>
              </a:r>
              <a:endParaRPr kumimoji="0" lang="zh-CN" altLang="en-US" sz="135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cxnSp>
          <p:nvCxnSpPr>
            <p:cNvPr id="52" name="直接箭头连接符 51"/>
            <p:cNvCxnSpPr/>
            <p:nvPr/>
          </p:nvCxnSpPr>
          <p:spPr>
            <a:xfrm flipH="1" flipV="1">
              <a:off x="1145123" y="3438649"/>
              <a:ext cx="10303" cy="39018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3" name="组合 52"/>
          <p:cNvGrpSpPr/>
          <p:nvPr/>
        </p:nvGrpSpPr>
        <p:grpSpPr>
          <a:xfrm>
            <a:off x="1084500" y="2623968"/>
            <a:ext cx="301337" cy="598499"/>
            <a:chOff x="932501" y="3438649"/>
            <a:chExt cx="401782" cy="797998"/>
          </a:xfrm>
        </p:grpSpPr>
        <p:sp>
          <p:nvSpPr>
            <p:cNvPr id="54" name="圆角矩形 53"/>
            <p:cNvSpPr/>
            <p:nvPr/>
          </p:nvSpPr>
          <p:spPr>
            <a:xfrm>
              <a:off x="932501" y="3811774"/>
              <a:ext cx="401782" cy="424873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350" b="0" i="0" u="none" strike="noStrike" kern="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cs typeface="+mn-ea"/>
                  <a:sym typeface="+mn-lt"/>
                </a:rPr>
                <a:t>q</a:t>
              </a:r>
              <a:endParaRPr kumimoji="0" lang="zh-CN" altLang="en-US" sz="135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cxnSp>
          <p:nvCxnSpPr>
            <p:cNvPr id="55" name="直接箭头连接符 54"/>
            <p:cNvCxnSpPr/>
            <p:nvPr/>
          </p:nvCxnSpPr>
          <p:spPr>
            <a:xfrm flipH="1" flipV="1">
              <a:off x="1145123" y="3438649"/>
              <a:ext cx="10303" cy="39018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6" name="圆角矩形 55"/>
          <p:cNvSpPr/>
          <p:nvPr/>
        </p:nvSpPr>
        <p:spPr>
          <a:xfrm>
            <a:off x="1906075" y="1684168"/>
            <a:ext cx="685705" cy="31865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35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ea"/>
                <a:sym typeface="+mn-lt"/>
              </a:rPr>
              <a:t>NULL</a:t>
            </a:r>
            <a:endParaRPr kumimoji="0" lang="zh-CN" altLang="en-US" sz="135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pic>
        <p:nvPicPr>
          <p:cNvPr id="57" name="图片 5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9118" y="405934"/>
            <a:ext cx="4236078" cy="44395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913537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25 0 E" pathEditMode="relative" ptsTypes="">
                                      <p:cBhvr>
                                        <p:cTn id="43" dur="2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37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75E-6 -3.33333E-6 L 0.06705 -0.14884 C 0.08099 -0.1824 0.10195 -0.20023 0.12395 -0.20023 C 0.14895 -0.20023 0.16901 -0.1824 0.18294 -0.14884 L 0.25 -3.33333E-6 " pathEditMode="relative" rAng="0" ptsTypes="AAAAA">
                                      <p:cBhvr>
                                        <p:cTn id="53" dur="2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500" y="-1002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0833E-6 -2.96296E-6 L -0.15078 -0.00162 " pathEditMode="relative" rAng="0" ptsTypes="AA">
                                      <p:cBhvr>
                                        <p:cTn id="57" dur="2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7539" y="-93"/>
                                    </p:animMotion>
                                  </p:childTnLst>
                                </p:cTn>
                              </p:par>
                              <p:par>
                                <p:cTn id="58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5 2.96296E-6 L 0.10143 -0.00209 " pathEditMode="relative" rAng="0" ptsTypes="AA">
                                      <p:cBhvr>
                                        <p:cTn id="59" dur="2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7435" y="-11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42" presetClass="path" presetSubtype="0" accel="50000" decel="50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5 -3.33333E-6 L 0.11354 0.0007 " pathEditMode="relative" rAng="0" ptsTypes="AA">
                                      <p:cBhvr>
                                        <p:cTn id="68" dur="2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823" y="2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08333E-7 -2.59259E-6 L 0.10833 0.00394 " pathEditMode="relative" rAng="0" ptsTypes="AA">
                                      <p:cBhvr>
                                        <p:cTn id="72" dur="2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417" y="18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56" grpId="0" animBg="1"/>
      <p:bldP spid="56" grpId="1" animBg="1"/>
      <p:bldP spid="56" grpId="2" animBg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476520" y="96475"/>
            <a:ext cx="387045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0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cs typeface="+mn-ea"/>
                <a:sym typeface="+mn-lt"/>
              </a:rPr>
              <a:t>链表</a:t>
            </a:r>
          </a:p>
        </p:txBody>
      </p:sp>
      <p:sp>
        <p:nvSpPr>
          <p:cNvPr id="12" name="矩形 11"/>
          <p:cNvSpPr/>
          <p:nvPr/>
        </p:nvSpPr>
        <p:spPr>
          <a:xfrm>
            <a:off x="476520" y="430384"/>
            <a:ext cx="3870455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cs typeface="+mn-ea"/>
                <a:sym typeface="+mn-lt"/>
              </a:rPr>
              <a:t>Always believe that something wonderful is about to happen.</a:t>
            </a:r>
            <a:endParaRPr kumimoji="0" lang="zh-CN" altLang="en-US" sz="1000" b="0" i="0" u="none" strike="noStrike" kern="0" cap="none" spc="0" normalizeH="0" baseline="0" noProof="0" dirty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122" name="圆角矩形 121"/>
          <p:cNvSpPr/>
          <p:nvPr/>
        </p:nvSpPr>
        <p:spPr>
          <a:xfrm>
            <a:off x="1034473" y="1474237"/>
            <a:ext cx="803564" cy="42487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ea"/>
                <a:sym typeface="+mn-lt"/>
              </a:rPr>
              <a:t>head</a:t>
            </a: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cxnSp>
        <p:nvCxnSpPr>
          <p:cNvPr id="123" name="直接箭头连接符 122"/>
          <p:cNvCxnSpPr/>
          <p:nvPr/>
        </p:nvCxnSpPr>
        <p:spPr>
          <a:xfrm>
            <a:off x="1422401" y="1899110"/>
            <a:ext cx="0" cy="4284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4" name="组合 123"/>
          <p:cNvGrpSpPr/>
          <p:nvPr/>
        </p:nvGrpSpPr>
        <p:grpSpPr>
          <a:xfrm>
            <a:off x="1103398" y="2327564"/>
            <a:ext cx="665714" cy="1163781"/>
            <a:chOff x="1172323" y="2327564"/>
            <a:chExt cx="665714" cy="1163781"/>
          </a:xfrm>
        </p:grpSpPr>
        <p:sp>
          <p:nvSpPr>
            <p:cNvPr id="125" name="矩形 124"/>
            <p:cNvSpPr/>
            <p:nvPr/>
          </p:nvSpPr>
          <p:spPr>
            <a:xfrm>
              <a:off x="1219200" y="2327564"/>
              <a:ext cx="554182" cy="1163781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cxnSp>
          <p:nvCxnSpPr>
            <p:cNvPr id="126" name="直接连接符 125"/>
            <p:cNvCxnSpPr>
              <a:stCxn id="125" idx="1"/>
              <a:endCxn id="125" idx="3"/>
            </p:cNvCxnSpPr>
            <p:nvPr/>
          </p:nvCxnSpPr>
          <p:spPr>
            <a:xfrm>
              <a:off x="1219200" y="2909455"/>
              <a:ext cx="554182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7" name="矩形 126"/>
            <p:cNvSpPr/>
            <p:nvPr/>
          </p:nvSpPr>
          <p:spPr>
            <a:xfrm>
              <a:off x="1219199" y="2327564"/>
              <a:ext cx="554183" cy="1163781"/>
            </a:xfrm>
            <a:prstGeom prst="rect">
              <a:avLst/>
            </a:prstGeom>
            <a:noFill/>
            <a:ln w="9525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128" name="文本框 127"/>
            <p:cNvSpPr txBox="1"/>
            <p:nvPr/>
          </p:nvSpPr>
          <p:spPr>
            <a:xfrm>
              <a:off x="1172323" y="2481124"/>
              <a:ext cx="64793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cs typeface="+mn-ea"/>
                  <a:sym typeface="+mn-lt"/>
                </a:rPr>
                <a:t>data</a:t>
              </a: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129" name="文本框 128"/>
            <p:cNvSpPr txBox="1"/>
            <p:nvPr/>
          </p:nvSpPr>
          <p:spPr>
            <a:xfrm>
              <a:off x="1193309" y="3063138"/>
              <a:ext cx="64472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cs typeface="+mn-ea"/>
                  <a:sym typeface="+mn-lt"/>
                </a:rPr>
                <a:t>next</a:t>
              </a: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</p:grpSp>
      <p:grpSp>
        <p:nvGrpSpPr>
          <p:cNvPr id="130" name="组合 129"/>
          <p:cNvGrpSpPr/>
          <p:nvPr/>
        </p:nvGrpSpPr>
        <p:grpSpPr>
          <a:xfrm>
            <a:off x="7771439" y="2270118"/>
            <a:ext cx="665714" cy="1163781"/>
            <a:chOff x="1172323" y="2327564"/>
            <a:chExt cx="665714" cy="1163781"/>
          </a:xfrm>
        </p:grpSpPr>
        <p:sp>
          <p:nvSpPr>
            <p:cNvPr id="131" name="矩形 130"/>
            <p:cNvSpPr/>
            <p:nvPr/>
          </p:nvSpPr>
          <p:spPr>
            <a:xfrm>
              <a:off x="1219200" y="2327564"/>
              <a:ext cx="554182" cy="1163781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cxnSp>
          <p:nvCxnSpPr>
            <p:cNvPr id="132" name="直接连接符 131"/>
            <p:cNvCxnSpPr>
              <a:stCxn id="131" idx="1"/>
              <a:endCxn id="131" idx="3"/>
            </p:cNvCxnSpPr>
            <p:nvPr/>
          </p:nvCxnSpPr>
          <p:spPr>
            <a:xfrm>
              <a:off x="1219200" y="2909455"/>
              <a:ext cx="554182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3" name="矩形 132"/>
            <p:cNvSpPr/>
            <p:nvPr/>
          </p:nvSpPr>
          <p:spPr>
            <a:xfrm>
              <a:off x="1219199" y="2327564"/>
              <a:ext cx="554183" cy="1163781"/>
            </a:xfrm>
            <a:prstGeom prst="rect">
              <a:avLst/>
            </a:prstGeom>
            <a:noFill/>
            <a:ln w="9525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134" name="文本框 133"/>
            <p:cNvSpPr txBox="1"/>
            <p:nvPr/>
          </p:nvSpPr>
          <p:spPr>
            <a:xfrm>
              <a:off x="1172323" y="2481124"/>
              <a:ext cx="64793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cs typeface="+mn-ea"/>
                  <a:sym typeface="+mn-lt"/>
                </a:rPr>
                <a:t>data</a:t>
              </a: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135" name="文本框 134"/>
            <p:cNvSpPr txBox="1"/>
            <p:nvPr/>
          </p:nvSpPr>
          <p:spPr>
            <a:xfrm>
              <a:off x="1193309" y="3063138"/>
              <a:ext cx="64472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cs typeface="+mn-ea"/>
                  <a:sym typeface="+mn-lt"/>
                </a:rPr>
                <a:t>next</a:t>
              </a: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</p:grpSp>
      <p:grpSp>
        <p:nvGrpSpPr>
          <p:cNvPr id="136" name="组合 135"/>
          <p:cNvGrpSpPr/>
          <p:nvPr/>
        </p:nvGrpSpPr>
        <p:grpSpPr>
          <a:xfrm>
            <a:off x="2522987" y="2233408"/>
            <a:ext cx="665714" cy="1163781"/>
            <a:chOff x="1172323" y="2327564"/>
            <a:chExt cx="665714" cy="1163781"/>
          </a:xfrm>
        </p:grpSpPr>
        <p:sp>
          <p:nvSpPr>
            <p:cNvPr id="137" name="矩形 136"/>
            <p:cNvSpPr/>
            <p:nvPr/>
          </p:nvSpPr>
          <p:spPr>
            <a:xfrm>
              <a:off x="1219200" y="2327564"/>
              <a:ext cx="554182" cy="1163781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cxnSp>
          <p:nvCxnSpPr>
            <p:cNvPr id="138" name="直接连接符 137"/>
            <p:cNvCxnSpPr>
              <a:stCxn id="137" idx="1"/>
              <a:endCxn id="137" idx="3"/>
            </p:cNvCxnSpPr>
            <p:nvPr/>
          </p:nvCxnSpPr>
          <p:spPr>
            <a:xfrm>
              <a:off x="1219200" y="2909455"/>
              <a:ext cx="554182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9" name="矩形 138"/>
            <p:cNvSpPr/>
            <p:nvPr/>
          </p:nvSpPr>
          <p:spPr>
            <a:xfrm>
              <a:off x="1219199" y="2327564"/>
              <a:ext cx="554183" cy="1163781"/>
            </a:xfrm>
            <a:prstGeom prst="rect">
              <a:avLst/>
            </a:prstGeom>
            <a:noFill/>
            <a:ln w="9525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140" name="文本框 139"/>
            <p:cNvSpPr txBox="1"/>
            <p:nvPr/>
          </p:nvSpPr>
          <p:spPr>
            <a:xfrm>
              <a:off x="1172323" y="2481124"/>
              <a:ext cx="64793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cs typeface="+mn-ea"/>
                  <a:sym typeface="+mn-lt"/>
                </a:rPr>
                <a:t>data</a:t>
              </a: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141" name="文本框 140"/>
            <p:cNvSpPr txBox="1"/>
            <p:nvPr/>
          </p:nvSpPr>
          <p:spPr>
            <a:xfrm>
              <a:off x="1193309" y="3063138"/>
              <a:ext cx="64472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cs typeface="+mn-ea"/>
                  <a:sym typeface="+mn-lt"/>
                </a:rPr>
                <a:t>next</a:t>
              </a: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</p:grpSp>
      <p:cxnSp>
        <p:nvCxnSpPr>
          <p:cNvPr id="142" name="肘形连接符 141"/>
          <p:cNvCxnSpPr/>
          <p:nvPr/>
        </p:nvCxnSpPr>
        <p:spPr>
          <a:xfrm flipV="1">
            <a:off x="1715127" y="2464805"/>
            <a:ext cx="826306" cy="766680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肘形连接符 142"/>
          <p:cNvCxnSpPr/>
          <p:nvPr/>
        </p:nvCxnSpPr>
        <p:spPr>
          <a:xfrm flipV="1">
            <a:off x="3089048" y="2460595"/>
            <a:ext cx="826306" cy="766680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肘形连接符 143"/>
          <p:cNvCxnSpPr/>
          <p:nvPr/>
        </p:nvCxnSpPr>
        <p:spPr>
          <a:xfrm flipV="1">
            <a:off x="3089912" y="2464805"/>
            <a:ext cx="826306" cy="766680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肘形连接符 144"/>
          <p:cNvCxnSpPr/>
          <p:nvPr/>
        </p:nvCxnSpPr>
        <p:spPr>
          <a:xfrm flipV="1">
            <a:off x="4447309" y="2421098"/>
            <a:ext cx="826306" cy="766680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6" name="组合 145"/>
          <p:cNvGrpSpPr/>
          <p:nvPr/>
        </p:nvGrpSpPr>
        <p:grpSpPr>
          <a:xfrm>
            <a:off x="2445172" y="3410061"/>
            <a:ext cx="401782" cy="797998"/>
            <a:chOff x="932501" y="3438649"/>
            <a:chExt cx="401782" cy="797998"/>
          </a:xfrm>
        </p:grpSpPr>
        <p:sp>
          <p:nvSpPr>
            <p:cNvPr id="147" name="圆角矩形 146"/>
            <p:cNvSpPr/>
            <p:nvPr/>
          </p:nvSpPr>
          <p:spPr>
            <a:xfrm>
              <a:off x="932501" y="3811774"/>
              <a:ext cx="401782" cy="424873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0" i="0" u="none" strike="noStrike" kern="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cs typeface="+mn-ea"/>
                  <a:sym typeface="+mn-lt"/>
                </a:rPr>
                <a:t>p</a:t>
              </a: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cxnSp>
          <p:nvCxnSpPr>
            <p:cNvPr id="148" name="直接箭头连接符 147"/>
            <p:cNvCxnSpPr/>
            <p:nvPr/>
          </p:nvCxnSpPr>
          <p:spPr>
            <a:xfrm flipH="1" flipV="1">
              <a:off x="1145123" y="3438649"/>
              <a:ext cx="10303" cy="39018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9" name="组合 148"/>
          <p:cNvGrpSpPr/>
          <p:nvPr/>
        </p:nvGrpSpPr>
        <p:grpSpPr>
          <a:xfrm>
            <a:off x="2880719" y="3407961"/>
            <a:ext cx="401782" cy="797998"/>
            <a:chOff x="932501" y="3438649"/>
            <a:chExt cx="401782" cy="797998"/>
          </a:xfrm>
        </p:grpSpPr>
        <p:sp>
          <p:nvSpPr>
            <p:cNvPr id="150" name="圆角矩形 149"/>
            <p:cNvSpPr/>
            <p:nvPr/>
          </p:nvSpPr>
          <p:spPr>
            <a:xfrm>
              <a:off x="932501" y="3828834"/>
              <a:ext cx="401782" cy="407813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0" i="0" u="none" strike="noStrike" kern="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cs typeface="+mn-ea"/>
                  <a:sym typeface="+mn-lt"/>
                </a:rPr>
                <a:t>q</a:t>
              </a: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cxnSp>
          <p:nvCxnSpPr>
            <p:cNvPr id="151" name="直接箭头连接符 150"/>
            <p:cNvCxnSpPr/>
            <p:nvPr/>
          </p:nvCxnSpPr>
          <p:spPr>
            <a:xfrm flipH="1" flipV="1">
              <a:off x="1145123" y="3438649"/>
              <a:ext cx="10303" cy="39018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2" name="组合 151"/>
          <p:cNvGrpSpPr/>
          <p:nvPr/>
        </p:nvGrpSpPr>
        <p:grpSpPr>
          <a:xfrm>
            <a:off x="3869372" y="2197015"/>
            <a:ext cx="2208157" cy="1196078"/>
            <a:chOff x="3869372" y="2197015"/>
            <a:chExt cx="2208157" cy="1196078"/>
          </a:xfrm>
        </p:grpSpPr>
        <p:grpSp>
          <p:nvGrpSpPr>
            <p:cNvPr id="153" name="组合 152"/>
            <p:cNvGrpSpPr/>
            <p:nvPr/>
          </p:nvGrpSpPr>
          <p:grpSpPr>
            <a:xfrm>
              <a:off x="3869372" y="2229312"/>
              <a:ext cx="665714" cy="1163781"/>
              <a:chOff x="1172323" y="2327564"/>
              <a:chExt cx="665714" cy="1163781"/>
            </a:xfrm>
          </p:grpSpPr>
          <p:sp>
            <p:nvSpPr>
              <p:cNvPr id="156" name="矩形 155"/>
              <p:cNvSpPr/>
              <p:nvPr/>
            </p:nvSpPr>
            <p:spPr>
              <a:xfrm>
                <a:off x="1219200" y="2327564"/>
                <a:ext cx="554182" cy="1163781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accent1"/>
              </a:fontRef>
            </p:style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cxnSp>
            <p:nvCxnSpPr>
              <p:cNvPr id="157" name="直接连接符 156"/>
              <p:cNvCxnSpPr>
                <a:stCxn id="156" idx="1"/>
                <a:endCxn id="156" idx="3"/>
              </p:cNvCxnSpPr>
              <p:nvPr/>
            </p:nvCxnSpPr>
            <p:spPr>
              <a:xfrm>
                <a:off x="1219200" y="2909455"/>
                <a:ext cx="554182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8" name="矩形 157"/>
              <p:cNvSpPr/>
              <p:nvPr/>
            </p:nvSpPr>
            <p:spPr>
              <a:xfrm>
                <a:off x="1219199" y="2327564"/>
                <a:ext cx="554183" cy="1163781"/>
              </a:xfrm>
              <a:prstGeom prst="rect">
                <a:avLst/>
              </a:prstGeom>
              <a:noFill/>
              <a:ln w="9525" cap="flat" cmpd="sng" algn="ctr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accent1"/>
              </a:fontRef>
            </p:style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159" name="文本框 158"/>
              <p:cNvSpPr txBox="1"/>
              <p:nvPr/>
            </p:nvSpPr>
            <p:spPr>
              <a:xfrm>
                <a:off x="1172323" y="2481124"/>
                <a:ext cx="64793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8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cs typeface="+mn-ea"/>
                    <a:sym typeface="+mn-lt"/>
                  </a:rPr>
                  <a:t>data</a:t>
                </a: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160" name="文本框 159"/>
              <p:cNvSpPr txBox="1"/>
              <p:nvPr/>
            </p:nvSpPr>
            <p:spPr>
              <a:xfrm>
                <a:off x="1193309" y="3063138"/>
                <a:ext cx="64472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8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cs typeface="+mn-ea"/>
                    <a:sym typeface="+mn-lt"/>
                  </a:rPr>
                  <a:t>next</a:t>
                </a: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</p:grpSp>
        <p:cxnSp>
          <p:nvCxnSpPr>
            <p:cNvPr id="154" name="肘形连接符 153"/>
            <p:cNvCxnSpPr/>
            <p:nvPr/>
          </p:nvCxnSpPr>
          <p:spPr>
            <a:xfrm flipV="1">
              <a:off x="4436832" y="2423363"/>
              <a:ext cx="826306" cy="766680"/>
            </a:xfrm>
            <a:prstGeom prst="bentConnector3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5" name="圆角矩形 154"/>
            <p:cNvSpPr/>
            <p:nvPr/>
          </p:nvSpPr>
          <p:spPr>
            <a:xfrm>
              <a:off x="5273965" y="2197015"/>
              <a:ext cx="803564" cy="424873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0" i="0" u="none" strike="noStrike" kern="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cs typeface="+mn-ea"/>
                  <a:sym typeface="+mn-lt"/>
                </a:rPr>
                <a:t>NULL</a:t>
              </a: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</p:grpSp>
      <p:pic>
        <p:nvPicPr>
          <p:cNvPr id="161" name="图片 16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44525" y="271757"/>
            <a:ext cx="4285599" cy="949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357640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8.33333E-7 -3.45679E-6 L 0.53281 -0.00123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14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6632" y="-6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7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342 -0.00247 L 0.06476 0.00247 C 0.07101 0.0037 0.08073 0.00432 0.09063 0.00432 C 0.10208 0.00432 0.11111 0.0037 0.11771 0.00247 L 0.14826 -0.00247 " pathEditMode="relative" rAng="0" ptsTypes="AAAAA">
                                      <p:cBhvr>
                                        <p:cTn id="16" dur="2000" fill="hold"/>
                                        <p:tgtEl>
                                          <p:spTgt spid="15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694" y="340"/>
                                    </p:animMotion>
                                  </p:childTnLst>
                                </p:cTn>
                              </p:par>
                              <p:par>
                                <p:cTn id="1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37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72222E-6 -9.87654E-7 L -0.11545 -0.17531 C -0.1394 -0.21481 -0.17569 -0.23642 -0.21319 -0.23642 C -0.25625 -0.23642 -0.29079 -0.21481 -0.31475 -0.17531 L -0.42986 -9.87654E-7 " pathEditMode="relative" rAng="0" ptsTypes="AAAAA">
                                      <p:cBhvr>
                                        <p:cTn id="20" dur="2000" fill="hold"/>
                                        <p:tgtEl>
                                          <p:spTgt spid="1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1493" y="-11821"/>
                                    </p:animMotion>
                                  </p:childTnLst>
                                </p:cTn>
                              </p:par>
                              <p:par>
                                <p:cTn id="21" presetID="37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5618 -0.00092 L 0.44566 -0.2 C 0.42153 -0.24475 0.38524 -0.26821 0.34722 -0.26821 C 0.30399 -0.26821 0.26944 -0.24475 0.24531 -0.2 L 0.12969 -0.00092 " pathEditMode="relative" rAng="0" ptsTypes="AAAAA">
                                      <p:cBhvr>
                                        <p:cTn id="22" dur="2000" fill="hold"/>
                                        <p:tgtEl>
                                          <p:spTgt spid="14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1615" y="-1336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000"/>
                            </p:stCondLst>
                            <p:childTnLst>
                              <p:par>
                                <p:cTn id="2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E-6 3.33333E-6 L 0.14966 -0.00309 " pathEditMode="relative" rAng="0" ptsTypes="AA">
                                      <p:cBhvr>
                                        <p:cTn id="35" dur="2000" fill="hold"/>
                                        <p:tgtEl>
                                          <p:spTgt spid="14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483" y="-15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476520" y="96475"/>
            <a:ext cx="387045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0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cs typeface="+mn-ea"/>
                <a:sym typeface="+mn-lt"/>
              </a:rPr>
              <a:t>链表</a:t>
            </a:r>
          </a:p>
        </p:txBody>
      </p:sp>
      <p:sp>
        <p:nvSpPr>
          <p:cNvPr id="12" name="矩形 11"/>
          <p:cNvSpPr/>
          <p:nvPr/>
        </p:nvSpPr>
        <p:spPr>
          <a:xfrm>
            <a:off x="476520" y="430384"/>
            <a:ext cx="3870455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cs typeface="+mn-ea"/>
                <a:sym typeface="+mn-lt"/>
              </a:rPr>
              <a:t>Always believe that something wonderful is about to happen.</a:t>
            </a:r>
            <a:endParaRPr kumimoji="0" lang="zh-CN" altLang="en-US" sz="1000" b="0" i="0" u="none" strike="noStrike" kern="0" cap="none" spc="0" normalizeH="0" baseline="0" noProof="0" dirty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44" name="圆角矩形 43"/>
          <p:cNvSpPr/>
          <p:nvPr/>
        </p:nvSpPr>
        <p:spPr>
          <a:xfrm>
            <a:off x="1034473" y="1474237"/>
            <a:ext cx="803564" cy="42487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ea"/>
                <a:sym typeface="+mn-lt"/>
              </a:rPr>
              <a:t>head</a:t>
            </a: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cxnSp>
        <p:nvCxnSpPr>
          <p:cNvPr id="45" name="直接箭头连接符 44"/>
          <p:cNvCxnSpPr/>
          <p:nvPr/>
        </p:nvCxnSpPr>
        <p:spPr>
          <a:xfrm>
            <a:off x="1422401" y="1899110"/>
            <a:ext cx="0" cy="4284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6" name="组合 45"/>
          <p:cNvGrpSpPr/>
          <p:nvPr/>
        </p:nvGrpSpPr>
        <p:grpSpPr>
          <a:xfrm>
            <a:off x="1103398" y="2327564"/>
            <a:ext cx="665714" cy="1163781"/>
            <a:chOff x="1172323" y="2327564"/>
            <a:chExt cx="665714" cy="1163781"/>
          </a:xfrm>
        </p:grpSpPr>
        <p:sp>
          <p:nvSpPr>
            <p:cNvPr id="47" name="矩形 46"/>
            <p:cNvSpPr/>
            <p:nvPr/>
          </p:nvSpPr>
          <p:spPr>
            <a:xfrm>
              <a:off x="1219200" y="2327564"/>
              <a:ext cx="554182" cy="1163781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cxnSp>
          <p:nvCxnSpPr>
            <p:cNvPr id="48" name="直接连接符 47"/>
            <p:cNvCxnSpPr>
              <a:stCxn id="47" idx="1"/>
              <a:endCxn id="47" idx="3"/>
            </p:cNvCxnSpPr>
            <p:nvPr/>
          </p:nvCxnSpPr>
          <p:spPr>
            <a:xfrm>
              <a:off x="1219200" y="2909455"/>
              <a:ext cx="554182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矩形 48"/>
            <p:cNvSpPr/>
            <p:nvPr/>
          </p:nvSpPr>
          <p:spPr>
            <a:xfrm>
              <a:off x="1219199" y="2327564"/>
              <a:ext cx="554183" cy="1163781"/>
            </a:xfrm>
            <a:prstGeom prst="rect">
              <a:avLst/>
            </a:prstGeom>
            <a:noFill/>
            <a:ln w="9525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50" name="文本框 49"/>
            <p:cNvSpPr txBox="1"/>
            <p:nvPr/>
          </p:nvSpPr>
          <p:spPr>
            <a:xfrm>
              <a:off x="1172323" y="2481124"/>
              <a:ext cx="64793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cs typeface="+mn-ea"/>
                  <a:sym typeface="+mn-lt"/>
                </a:rPr>
                <a:t>data</a:t>
              </a: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51" name="文本框 50"/>
            <p:cNvSpPr txBox="1"/>
            <p:nvPr/>
          </p:nvSpPr>
          <p:spPr>
            <a:xfrm>
              <a:off x="1193309" y="3063138"/>
              <a:ext cx="64472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cs typeface="+mn-ea"/>
                  <a:sym typeface="+mn-lt"/>
                </a:rPr>
                <a:t>next</a:t>
              </a: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</p:grpSp>
      <p:grpSp>
        <p:nvGrpSpPr>
          <p:cNvPr id="52" name="组合 51"/>
          <p:cNvGrpSpPr/>
          <p:nvPr/>
        </p:nvGrpSpPr>
        <p:grpSpPr>
          <a:xfrm>
            <a:off x="3907431" y="2210417"/>
            <a:ext cx="665714" cy="1163781"/>
            <a:chOff x="1172323" y="2327564"/>
            <a:chExt cx="665714" cy="1163781"/>
          </a:xfrm>
        </p:grpSpPr>
        <p:sp>
          <p:nvSpPr>
            <p:cNvPr id="53" name="矩形 52"/>
            <p:cNvSpPr/>
            <p:nvPr/>
          </p:nvSpPr>
          <p:spPr>
            <a:xfrm>
              <a:off x="1219200" y="2327564"/>
              <a:ext cx="554182" cy="1163781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cxnSp>
          <p:nvCxnSpPr>
            <p:cNvPr id="54" name="直接连接符 53"/>
            <p:cNvCxnSpPr>
              <a:stCxn id="53" idx="1"/>
              <a:endCxn id="53" idx="3"/>
            </p:cNvCxnSpPr>
            <p:nvPr/>
          </p:nvCxnSpPr>
          <p:spPr>
            <a:xfrm>
              <a:off x="1219200" y="2909455"/>
              <a:ext cx="554182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5" name="矩形 54"/>
            <p:cNvSpPr/>
            <p:nvPr/>
          </p:nvSpPr>
          <p:spPr>
            <a:xfrm>
              <a:off x="1219199" y="2327564"/>
              <a:ext cx="554183" cy="1163781"/>
            </a:xfrm>
            <a:prstGeom prst="rect">
              <a:avLst/>
            </a:prstGeom>
            <a:noFill/>
            <a:ln w="9525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56" name="文本框 55"/>
            <p:cNvSpPr txBox="1"/>
            <p:nvPr/>
          </p:nvSpPr>
          <p:spPr>
            <a:xfrm>
              <a:off x="1172323" y="2481124"/>
              <a:ext cx="64793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cs typeface="+mn-ea"/>
                  <a:sym typeface="+mn-lt"/>
                </a:rPr>
                <a:t>data</a:t>
              </a: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57" name="文本框 56"/>
            <p:cNvSpPr txBox="1"/>
            <p:nvPr/>
          </p:nvSpPr>
          <p:spPr>
            <a:xfrm>
              <a:off x="1193309" y="3063138"/>
              <a:ext cx="64472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cs typeface="+mn-ea"/>
                  <a:sym typeface="+mn-lt"/>
                </a:rPr>
                <a:t>next</a:t>
              </a: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</p:grpSp>
      <p:grpSp>
        <p:nvGrpSpPr>
          <p:cNvPr id="58" name="组合 57"/>
          <p:cNvGrpSpPr/>
          <p:nvPr/>
        </p:nvGrpSpPr>
        <p:grpSpPr>
          <a:xfrm>
            <a:off x="2522987" y="2233408"/>
            <a:ext cx="665714" cy="1163781"/>
            <a:chOff x="1172323" y="2327564"/>
            <a:chExt cx="665714" cy="1163781"/>
          </a:xfrm>
        </p:grpSpPr>
        <p:sp>
          <p:nvSpPr>
            <p:cNvPr id="59" name="矩形 58"/>
            <p:cNvSpPr/>
            <p:nvPr/>
          </p:nvSpPr>
          <p:spPr>
            <a:xfrm>
              <a:off x="1219200" y="2327564"/>
              <a:ext cx="554182" cy="1163781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cxnSp>
          <p:nvCxnSpPr>
            <p:cNvPr id="60" name="直接连接符 59"/>
            <p:cNvCxnSpPr>
              <a:stCxn id="59" idx="1"/>
              <a:endCxn id="59" idx="3"/>
            </p:cNvCxnSpPr>
            <p:nvPr/>
          </p:nvCxnSpPr>
          <p:spPr>
            <a:xfrm>
              <a:off x="1219200" y="2909455"/>
              <a:ext cx="554182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1" name="矩形 60"/>
            <p:cNvSpPr/>
            <p:nvPr/>
          </p:nvSpPr>
          <p:spPr>
            <a:xfrm>
              <a:off x="1219199" y="2327564"/>
              <a:ext cx="554183" cy="1163781"/>
            </a:xfrm>
            <a:prstGeom prst="rect">
              <a:avLst/>
            </a:prstGeom>
            <a:noFill/>
            <a:ln w="9525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62" name="文本框 61"/>
            <p:cNvSpPr txBox="1"/>
            <p:nvPr/>
          </p:nvSpPr>
          <p:spPr>
            <a:xfrm>
              <a:off x="1172323" y="2481124"/>
              <a:ext cx="64793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cs typeface="+mn-ea"/>
                  <a:sym typeface="+mn-lt"/>
                </a:rPr>
                <a:t>data</a:t>
              </a: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63" name="文本框 62"/>
            <p:cNvSpPr txBox="1"/>
            <p:nvPr/>
          </p:nvSpPr>
          <p:spPr>
            <a:xfrm>
              <a:off x="1193309" y="3063138"/>
              <a:ext cx="64472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cs typeface="+mn-ea"/>
                  <a:sym typeface="+mn-lt"/>
                </a:rPr>
                <a:t>next</a:t>
              </a: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</p:grpSp>
      <p:cxnSp>
        <p:nvCxnSpPr>
          <p:cNvPr id="64" name="肘形连接符 63"/>
          <p:cNvCxnSpPr/>
          <p:nvPr/>
        </p:nvCxnSpPr>
        <p:spPr>
          <a:xfrm flipV="1">
            <a:off x="1715127" y="2464805"/>
            <a:ext cx="826306" cy="766680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肘形连接符 64"/>
          <p:cNvCxnSpPr/>
          <p:nvPr/>
        </p:nvCxnSpPr>
        <p:spPr>
          <a:xfrm flipV="1">
            <a:off x="3089048" y="2460595"/>
            <a:ext cx="826306" cy="766680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肘形连接符 65"/>
          <p:cNvCxnSpPr/>
          <p:nvPr/>
        </p:nvCxnSpPr>
        <p:spPr>
          <a:xfrm flipV="1">
            <a:off x="3089912" y="2464805"/>
            <a:ext cx="826306" cy="766680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肘形连接符 66"/>
          <p:cNvCxnSpPr/>
          <p:nvPr/>
        </p:nvCxnSpPr>
        <p:spPr>
          <a:xfrm flipV="1">
            <a:off x="4447309" y="2421098"/>
            <a:ext cx="826306" cy="766680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8" name="组合 67"/>
          <p:cNvGrpSpPr/>
          <p:nvPr/>
        </p:nvGrpSpPr>
        <p:grpSpPr>
          <a:xfrm>
            <a:off x="2722264" y="3384187"/>
            <a:ext cx="401782" cy="797998"/>
            <a:chOff x="932501" y="3438649"/>
            <a:chExt cx="401782" cy="797998"/>
          </a:xfrm>
        </p:grpSpPr>
        <p:sp>
          <p:nvSpPr>
            <p:cNvPr id="69" name="圆角矩形 68"/>
            <p:cNvSpPr/>
            <p:nvPr/>
          </p:nvSpPr>
          <p:spPr>
            <a:xfrm>
              <a:off x="932501" y="3811774"/>
              <a:ext cx="401782" cy="424873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0" i="0" u="none" strike="noStrike" kern="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cs typeface="+mn-ea"/>
                  <a:sym typeface="+mn-lt"/>
                </a:rPr>
                <a:t>p</a:t>
              </a: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cxnSp>
          <p:nvCxnSpPr>
            <p:cNvPr id="70" name="直接箭头连接符 69"/>
            <p:cNvCxnSpPr/>
            <p:nvPr/>
          </p:nvCxnSpPr>
          <p:spPr>
            <a:xfrm flipH="1" flipV="1">
              <a:off x="1145123" y="3438649"/>
              <a:ext cx="10303" cy="39018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1" name="组合 70"/>
          <p:cNvGrpSpPr/>
          <p:nvPr/>
        </p:nvGrpSpPr>
        <p:grpSpPr>
          <a:xfrm>
            <a:off x="5457076" y="3365056"/>
            <a:ext cx="401782" cy="797998"/>
            <a:chOff x="932501" y="3438649"/>
            <a:chExt cx="401782" cy="797998"/>
          </a:xfrm>
        </p:grpSpPr>
        <p:sp>
          <p:nvSpPr>
            <p:cNvPr id="72" name="圆角矩形 71"/>
            <p:cNvSpPr/>
            <p:nvPr/>
          </p:nvSpPr>
          <p:spPr>
            <a:xfrm>
              <a:off x="932501" y="3811774"/>
              <a:ext cx="401782" cy="424873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0" i="0" u="none" strike="noStrike" kern="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cs typeface="+mn-ea"/>
                  <a:sym typeface="+mn-lt"/>
                </a:rPr>
                <a:t>q</a:t>
              </a: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cxnSp>
          <p:nvCxnSpPr>
            <p:cNvPr id="73" name="直接箭头连接符 72"/>
            <p:cNvCxnSpPr/>
            <p:nvPr/>
          </p:nvCxnSpPr>
          <p:spPr>
            <a:xfrm flipH="1" flipV="1">
              <a:off x="1145123" y="3438649"/>
              <a:ext cx="10303" cy="39018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4" name="组合 73"/>
          <p:cNvGrpSpPr/>
          <p:nvPr/>
        </p:nvGrpSpPr>
        <p:grpSpPr>
          <a:xfrm>
            <a:off x="5218547" y="2154482"/>
            <a:ext cx="2208157" cy="1196078"/>
            <a:chOff x="3869372" y="2197015"/>
            <a:chExt cx="2208157" cy="1196078"/>
          </a:xfrm>
        </p:grpSpPr>
        <p:grpSp>
          <p:nvGrpSpPr>
            <p:cNvPr id="75" name="组合 74"/>
            <p:cNvGrpSpPr/>
            <p:nvPr/>
          </p:nvGrpSpPr>
          <p:grpSpPr>
            <a:xfrm>
              <a:off x="3869372" y="2229312"/>
              <a:ext cx="665714" cy="1163781"/>
              <a:chOff x="1172323" y="2327564"/>
              <a:chExt cx="665714" cy="1163781"/>
            </a:xfrm>
          </p:grpSpPr>
          <p:sp>
            <p:nvSpPr>
              <p:cNvPr id="78" name="矩形 77"/>
              <p:cNvSpPr/>
              <p:nvPr/>
            </p:nvSpPr>
            <p:spPr>
              <a:xfrm>
                <a:off x="1219200" y="2327564"/>
                <a:ext cx="554182" cy="1163781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accent1"/>
              </a:fontRef>
            </p:style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cxnSp>
            <p:nvCxnSpPr>
              <p:cNvPr id="79" name="直接连接符 78"/>
              <p:cNvCxnSpPr>
                <a:stCxn id="78" idx="1"/>
                <a:endCxn id="78" idx="3"/>
              </p:cNvCxnSpPr>
              <p:nvPr/>
            </p:nvCxnSpPr>
            <p:spPr>
              <a:xfrm>
                <a:off x="1219200" y="2909455"/>
                <a:ext cx="554182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0" name="矩形 79"/>
              <p:cNvSpPr/>
              <p:nvPr/>
            </p:nvSpPr>
            <p:spPr>
              <a:xfrm>
                <a:off x="1219199" y="2327564"/>
                <a:ext cx="554183" cy="1163781"/>
              </a:xfrm>
              <a:prstGeom prst="rect">
                <a:avLst/>
              </a:prstGeom>
              <a:noFill/>
              <a:ln w="9525" cap="flat" cmpd="sng" algn="ctr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accent1"/>
              </a:fontRef>
            </p:style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81" name="文本框 80"/>
              <p:cNvSpPr txBox="1"/>
              <p:nvPr/>
            </p:nvSpPr>
            <p:spPr>
              <a:xfrm>
                <a:off x="1172323" y="2481124"/>
                <a:ext cx="64793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8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cs typeface="+mn-ea"/>
                    <a:sym typeface="+mn-lt"/>
                  </a:rPr>
                  <a:t>data</a:t>
                </a: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82" name="文本框 81"/>
              <p:cNvSpPr txBox="1"/>
              <p:nvPr/>
            </p:nvSpPr>
            <p:spPr>
              <a:xfrm>
                <a:off x="1193309" y="3063138"/>
                <a:ext cx="64472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8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cs typeface="+mn-ea"/>
                    <a:sym typeface="+mn-lt"/>
                  </a:rPr>
                  <a:t>next</a:t>
                </a: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</p:grpSp>
        <p:cxnSp>
          <p:nvCxnSpPr>
            <p:cNvPr id="76" name="肘形连接符 75"/>
            <p:cNvCxnSpPr/>
            <p:nvPr/>
          </p:nvCxnSpPr>
          <p:spPr>
            <a:xfrm flipV="1">
              <a:off x="4436832" y="2423363"/>
              <a:ext cx="826306" cy="766680"/>
            </a:xfrm>
            <a:prstGeom prst="bentConnector3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7" name="圆角矩形 76"/>
            <p:cNvSpPr/>
            <p:nvPr/>
          </p:nvSpPr>
          <p:spPr>
            <a:xfrm>
              <a:off x="5273965" y="2197015"/>
              <a:ext cx="803564" cy="424873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0" i="0" u="none" strike="noStrike" kern="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cs typeface="+mn-ea"/>
                  <a:sym typeface="+mn-lt"/>
                </a:rPr>
                <a:t>NULL</a:t>
              </a: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</p:grpSp>
      <p:pic>
        <p:nvPicPr>
          <p:cNvPr id="83" name="图片 8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3115" y="356467"/>
            <a:ext cx="4373342" cy="941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159257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.55556E-7 4.81481E-6 L -0.14427 0.00771 " pathEditMode="relative" rAng="0" ptsTypes="AA">
                                      <p:cBhvr>
                                        <p:cTn id="14" dur="20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7222" y="370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17 0.00062 L -0.14965 0.00216 " pathEditMode="relative" rAng="0" ptsTypes="AA">
                                      <p:cBhvr>
                                        <p:cTn id="16" dur="20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7500" y="6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组合 18"/>
          <p:cNvGrpSpPr/>
          <p:nvPr/>
        </p:nvGrpSpPr>
        <p:grpSpPr>
          <a:xfrm>
            <a:off x="2443344" y="2301720"/>
            <a:ext cx="4256964" cy="69124"/>
            <a:chOff x="566555" y="877035"/>
            <a:chExt cx="2340260" cy="164545"/>
          </a:xfrm>
        </p:grpSpPr>
        <p:sp>
          <p:nvSpPr>
            <p:cNvPr id="20" name="矩形 19"/>
            <p:cNvSpPr/>
            <p:nvPr/>
          </p:nvSpPr>
          <p:spPr>
            <a:xfrm>
              <a:off x="566555" y="877035"/>
              <a:ext cx="585065" cy="164545"/>
            </a:xfrm>
            <a:prstGeom prst="rect">
              <a:avLst/>
            </a:prstGeom>
            <a:solidFill>
              <a:srgbClr val="1A7BA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21" name="矩形 20"/>
            <p:cNvSpPr/>
            <p:nvPr/>
          </p:nvSpPr>
          <p:spPr>
            <a:xfrm>
              <a:off x="1151620" y="877035"/>
              <a:ext cx="585065" cy="164545"/>
            </a:xfrm>
            <a:prstGeom prst="rect">
              <a:avLst/>
            </a:prstGeom>
            <a:solidFill>
              <a:srgbClr val="95BC4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22" name="矩形 21"/>
            <p:cNvSpPr/>
            <p:nvPr/>
          </p:nvSpPr>
          <p:spPr>
            <a:xfrm>
              <a:off x="1736685" y="877035"/>
              <a:ext cx="585065" cy="164545"/>
            </a:xfrm>
            <a:prstGeom prst="rect">
              <a:avLst/>
            </a:prstGeom>
            <a:solidFill>
              <a:srgbClr val="FDA90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23" name="矩形 22"/>
            <p:cNvSpPr/>
            <p:nvPr/>
          </p:nvSpPr>
          <p:spPr>
            <a:xfrm>
              <a:off x="2321750" y="877035"/>
              <a:ext cx="585065" cy="164545"/>
            </a:xfrm>
            <a:prstGeom prst="rect">
              <a:avLst/>
            </a:prstGeom>
            <a:solidFill>
              <a:srgbClr val="BF342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</p:grpSp>
      <p:sp>
        <p:nvSpPr>
          <p:cNvPr id="28" name="TextBox 27"/>
          <p:cNvSpPr txBox="1"/>
          <p:nvPr/>
        </p:nvSpPr>
        <p:spPr>
          <a:xfrm>
            <a:off x="1623999" y="1755256"/>
            <a:ext cx="5895655" cy="52322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0" i="0" u="none" strike="noStrike" kern="0" cap="none" spc="0" normalizeH="0" baseline="0" noProof="0">
                <a:ln>
                  <a:noFill/>
                </a:ln>
                <a:solidFill>
                  <a:srgbClr val="1A7BAE"/>
                </a:solidFill>
                <a:effectLst/>
                <a:uLnTx/>
                <a:uFillTx/>
                <a:cs typeface="+mn-ea"/>
                <a:sym typeface="+mn-lt"/>
              </a:rPr>
              <a:t>THANKS</a:t>
            </a:r>
            <a:r>
              <a:rPr kumimoji="0" lang="en-US" altLang="zh-CN" sz="2800" b="0" i="0" u="none" strike="noStrike" kern="0" cap="none" spc="0" normalizeH="0" baseline="0" noProof="0">
                <a:ln>
                  <a:noFill/>
                </a:ln>
                <a:solidFill>
                  <a:srgbClr val="BF3420"/>
                </a:solidFill>
                <a:effectLst/>
                <a:uLnTx/>
                <a:uFillTx/>
                <a:cs typeface="+mn-ea"/>
                <a:sym typeface="+mn-lt"/>
              </a:rPr>
              <a:t> </a:t>
            </a:r>
            <a:r>
              <a:rPr kumimoji="0" lang="en-US" altLang="zh-CN" sz="2800" b="0" i="0" u="none" strike="noStrike" kern="0" cap="none" spc="0" normalizeH="0" baseline="0" noProof="0">
                <a:ln>
                  <a:noFill/>
                </a:ln>
                <a:solidFill>
                  <a:srgbClr val="95BC49"/>
                </a:solidFill>
                <a:effectLst/>
                <a:uLnTx/>
                <a:uFillTx/>
                <a:cs typeface="+mn-ea"/>
                <a:sym typeface="+mn-lt"/>
              </a:rPr>
              <a:t>FOR</a:t>
            </a:r>
            <a:r>
              <a:rPr kumimoji="0" lang="zh-CN" altLang="en-US" sz="2800" b="0" i="0" u="none" strike="noStrike" kern="0" cap="none" spc="0" normalizeH="0" baseline="0" noProof="0">
                <a:ln>
                  <a:noFill/>
                </a:ln>
                <a:solidFill>
                  <a:srgbClr val="1A7BAE"/>
                </a:solidFill>
                <a:effectLst/>
                <a:uLnTx/>
                <a:uFillTx/>
                <a:cs typeface="+mn-ea"/>
                <a:sym typeface="+mn-lt"/>
              </a:rPr>
              <a:t> </a:t>
            </a:r>
            <a:r>
              <a:rPr kumimoji="0" lang="en-US" altLang="zh-CN" sz="2800" b="0" i="0" u="none" strike="noStrike" kern="0" cap="none" spc="0" normalizeH="0" baseline="0" noProof="0">
                <a:ln>
                  <a:noFill/>
                </a:ln>
                <a:solidFill>
                  <a:srgbClr val="FDA907"/>
                </a:solidFill>
                <a:effectLst/>
                <a:uLnTx/>
                <a:uFillTx/>
                <a:cs typeface="+mn-ea"/>
                <a:sym typeface="+mn-lt"/>
              </a:rPr>
              <a:t>YOUR</a:t>
            </a:r>
            <a:r>
              <a:rPr kumimoji="0" lang="en-US" altLang="zh-CN" sz="2800" b="0" i="0" u="none" strike="noStrike" kern="0" cap="none" spc="0" normalizeH="0" baseline="0" noProof="0">
                <a:ln>
                  <a:noFill/>
                </a:ln>
                <a:solidFill>
                  <a:srgbClr val="1A7BAE"/>
                </a:solidFill>
                <a:effectLst/>
                <a:uLnTx/>
                <a:uFillTx/>
                <a:cs typeface="+mn-ea"/>
                <a:sym typeface="+mn-lt"/>
              </a:rPr>
              <a:t> </a:t>
            </a:r>
            <a:r>
              <a:rPr kumimoji="0" lang="en-US" altLang="zh-CN" sz="2800" b="0" i="0" u="none" strike="noStrike" kern="0" cap="none" spc="0" normalizeH="0" baseline="0" noProof="0">
                <a:ln>
                  <a:noFill/>
                </a:ln>
                <a:solidFill>
                  <a:srgbClr val="BF3420"/>
                </a:solidFill>
                <a:effectLst/>
                <a:uLnTx/>
                <a:uFillTx/>
                <a:cs typeface="+mn-ea"/>
                <a:sym typeface="+mn-lt"/>
              </a:rPr>
              <a:t>WATCHING</a:t>
            </a:r>
          </a:p>
        </p:txBody>
      </p:sp>
      <p:sp>
        <p:nvSpPr>
          <p:cNvPr id="9" name="矩形 8"/>
          <p:cNvSpPr/>
          <p:nvPr/>
        </p:nvSpPr>
        <p:spPr>
          <a:xfrm>
            <a:off x="2029043" y="2481740"/>
            <a:ext cx="5085566" cy="7848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0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Copyright CFhM_R 2010-2016</a:t>
            </a:r>
            <a:r>
              <a:rPr lang="zh-CN" altLang="en-US" sz="10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，</a:t>
            </a:r>
            <a:endParaRPr lang="en-US" altLang="zh-CN" sz="1000" dirty="0">
              <a:solidFill>
                <a:schemeClr val="tx1">
                  <a:lumMod val="50000"/>
                  <a:lumOff val="50000"/>
                </a:schemeClr>
              </a:solidFill>
              <a:cs typeface="+mn-ea"/>
              <a:sym typeface="+mn-lt"/>
            </a:endParaRPr>
          </a:p>
          <a:p>
            <a:pPr algn="ctr">
              <a:lnSpc>
                <a:spcPct val="150000"/>
              </a:lnSpc>
            </a:pPr>
            <a:r>
              <a:rPr lang="en-US" altLang="zh-CN" sz="10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Powered by BITNP2016, </a:t>
            </a:r>
          </a:p>
          <a:p>
            <a:pPr algn="ctr">
              <a:lnSpc>
                <a:spcPct val="150000"/>
              </a:lnSpc>
            </a:pPr>
            <a:r>
              <a:rPr lang="en-US" altLang="zh-CN" sz="10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2821556927"/>
      </p:ext>
    </p:extLst>
  </p:cSld>
  <p:clrMapOvr>
    <a:masterClrMapping/>
  </p:clrMapOvr>
  <p:transition spd="slow">
    <p:push dir="u"/>
  </p:transition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1770" y="546525"/>
            <a:ext cx="3240360" cy="3368945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3131840" y="3596680"/>
            <a:ext cx="22621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1A7BAE"/>
                </a:solidFill>
                <a:cs typeface="+mn-ea"/>
                <a:sym typeface="+mn-lt"/>
              </a:rPr>
              <a:t>祝大家取得好成绩！</a:t>
            </a:r>
          </a:p>
        </p:txBody>
      </p:sp>
    </p:spTree>
    <p:extLst>
      <p:ext uri="{BB962C8B-B14F-4D97-AF65-F5344CB8AC3E}">
        <p14:creationId xmlns:p14="http://schemas.microsoft.com/office/powerpoint/2010/main" val="18832591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521550" y="951570"/>
            <a:ext cx="2011635" cy="3006140"/>
            <a:chOff x="701570" y="1498923"/>
            <a:chExt cx="2011635" cy="3006140"/>
          </a:xfrm>
        </p:grpSpPr>
        <p:grpSp>
          <p:nvGrpSpPr>
            <p:cNvPr id="10" name="组合 9"/>
            <p:cNvGrpSpPr/>
            <p:nvPr/>
          </p:nvGrpSpPr>
          <p:grpSpPr>
            <a:xfrm>
              <a:off x="701570" y="2964573"/>
              <a:ext cx="2011635" cy="1540490"/>
              <a:chOff x="537552" y="3960193"/>
              <a:chExt cx="2011635" cy="1540490"/>
            </a:xfrm>
          </p:grpSpPr>
          <p:grpSp>
            <p:nvGrpSpPr>
              <p:cNvPr id="12" name="组合 11"/>
              <p:cNvGrpSpPr/>
              <p:nvPr/>
            </p:nvGrpSpPr>
            <p:grpSpPr>
              <a:xfrm>
                <a:off x="537552" y="3960193"/>
                <a:ext cx="2011635" cy="1523386"/>
                <a:chOff x="426605" y="3143318"/>
                <a:chExt cx="1596447" cy="1209155"/>
              </a:xfrm>
            </p:grpSpPr>
            <p:grpSp>
              <p:nvGrpSpPr>
                <p:cNvPr id="14" name="Group 72"/>
                <p:cNvGrpSpPr/>
                <p:nvPr/>
              </p:nvGrpSpPr>
              <p:grpSpPr>
                <a:xfrm>
                  <a:off x="426605" y="3143318"/>
                  <a:ext cx="1596447" cy="780256"/>
                  <a:chOff x="579005" y="3143318"/>
                  <a:chExt cx="1596447" cy="780256"/>
                </a:xfrm>
              </p:grpSpPr>
              <p:sp>
                <p:nvSpPr>
                  <p:cNvPr id="30" name="Rectangle 6"/>
                  <p:cNvSpPr/>
                  <p:nvPr/>
                </p:nvSpPr>
                <p:spPr>
                  <a:xfrm>
                    <a:off x="685800" y="3143318"/>
                    <a:ext cx="1447800" cy="228600"/>
                  </a:xfrm>
                  <a:prstGeom prst="rect">
                    <a:avLst/>
                  </a:prstGeom>
                  <a:noFill/>
                  <a:ln w="25400" cap="flat" cmpd="sng" algn="ctr">
                    <a:noFill/>
                    <a:prstDash val="solid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zh-CN" alt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1A7BAE"/>
                        </a:solidFill>
                        <a:effectLst/>
                        <a:uLnTx/>
                        <a:uFillTx/>
                        <a:cs typeface="+mn-ea"/>
                        <a:sym typeface="+mn-lt"/>
                      </a:rPr>
                      <a:t>唐回峰</a:t>
                    </a: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1A7BAE"/>
                      </a:solidFill>
                      <a:effectLst/>
                      <a:uLnTx/>
                      <a:uFillTx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1" name="Rectangle 10"/>
                  <p:cNvSpPr/>
                  <p:nvPr/>
                </p:nvSpPr>
                <p:spPr>
                  <a:xfrm>
                    <a:off x="579005" y="3422777"/>
                    <a:ext cx="1596447" cy="500797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271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zh-CN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1A7BAE"/>
                        </a:solidFill>
                        <a:effectLst/>
                        <a:uLnTx/>
                        <a:uFillTx/>
                        <a:cs typeface="+mn-ea"/>
                        <a:sym typeface="+mn-lt"/>
                      </a:rPr>
                      <a:t>chenfenghuimeng@gmail.com</a:t>
                    </a:r>
                  </a:p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271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zh-CN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1A7BAE"/>
                        </a:solidFill>
                        <a:effectLst/>
                        <a:uLnTx/>
                        <a:uFillTx/>
                        <a:cs typeface="+mn-ea"/>
                        <a:sym typeface="+mn-lt"/>
                      </a:rPr>
                      <a:t>873598708</a:t>
                    </a:r>
                  </a:p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271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zh-CN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1A7BAE"/>
                        </a:solidFill>
                        <a:effectLst/>
                        <a:uLnTx/>
                        <a:uFillTx/>
                        <a:cs typeface="+mn-ea"/>
                        <a:sym typeface="+mn-lt"/>
                      </a:rPr>
                      <a:t>tanghuifeng616</a:t>
                    </a:r>
                    <a:endParaRPr kumimoji="0" lang="zh-CN" altLang="en-US" sz="1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1A7BAE"/>
                      </a:solidFill>
                      <a:effectLst/>
                      <a:uLnTx/>
                      <a:uFillTx/>
                      <a:cs typeface="+mn-ea"/>
                      <a:sym typeface="+mn-lt"/>
                    </a:endParaRPr>
                  </a:p>
                </p:txBody>
              </p:sp>
            </p:grpSp>
            <p:grpSp>
              <p:nvGrpSpPr>
                <p:cNvPr id="15" name="组合 14"/>
                <p:cNvGrpSpPr/>
                <p:nvPr/>
              </p:nvGrpSpPr>
              <p:grpSpPr>
                <a:xfrm>
                  <a:off x="533400" y="4046084"/>
                  <a:ext cx="1447800" cy="306389"/>
                  <a:chOff x="685800" y="3943349"/>
                  <a:chExt cx="1447800" cy="306389"/>
                </a:xfrm>
              </p:grpSpPr>
              <p:grpSp>
                <p:nvGrpSpPr>
                  <p:cNvPr id="16" name="Group 56"/>
                  <p:cNvGrpSpPr/>
                  <p:nvPr/>
                </p:nvGrpSpPr>
                <p:grpSpPr>
                  <a:xfrm>
                    <a:off x="685800" y="3943349"/>
                    <a:ext cx="1447800" cy="306389"/>
                    <a:chOff x="685800" y="4248149"/>
                    <a:chExt cx="1447800" cy="306389"/>
                  </a:xfrm>
                </p:grpSpPr>
                <p:cxnSp>
                  <p:nvCxnSpPr>
                    <p:cNvPr id="28" name="Straight Connector 60"/>
                    <p:cNvCxnSpPr/>
                    <p:nvPr/>
                  </p:nvCxnSpPr>
                  <p:spPr>
                    <a:xfrm>
                      <a:off x="685800" y="4248149"/>
                      <a:ext cx="1447800" cy="1588"/>
                    </a:xfrm>
                    <a:prstGeom prst="line">
                      <a:avLst/>
                    </a:prstGeom>
                    <a:noFill/>
                    <a:ln w="6350" cap="flat" cmpd="sng" algn="ctr">
                      <a:solidFill>
                        <a:srgbClr val="000000">
                          <a:lumMod val="50000"/>
                          <a:lumOff val="50000"/>
                        </a:srgbClr>
                      </a:solidFill>
                      <a:prstDash val="solid"/>
                    </a:ln>
                    <a:effectLst/>
                  </p:spPr>
                </p:cxnSp>
                <p:cxnSp>
                  <p:nvCxnSpPr>
                    <p:cNvPr id="29" name="Straight Connector 61"/>
                    <p:cNvCxnSpPr/>
                    <p:nvPr/>
                  </p:nvCxnSpPr>
                  <p:spPr>
                    <a:xfrm>
                      <a:off x="685800" y="4552950"/>
                      <a:ext cx="1447800" cy="1588"/>
                    </a:xfrm>
                    <a:prstGeom prst="line">
                      <a:avLst/>
                    </a:prstGeom>
                    <a:noFill/>
                    <a:ln w="6350" cap="flat" cmpd="sng" algn="ctr">
                      <a:solidFill>
                        <a:srgbClr val="000000">
                          <a:lumMod val="50000"/>
                          <a:lumOff val="50000"/>
                        </a:srgbClr>
                      </a:solidFill>
                      <a:prstDash val="solid"/>
                    </a:ln>
                    <a:effectLst/>
                  </p:spPr>
                </p:cxnSp>
              </p:grpSp>
              <p:sp>
                <p:nvSpPr>
                  <p:cNvPr id="17" name="Freeform 5"/>
                  <p:cNvSpPr>
                    <a:spLocks/>
                  </p:cNvSpPr>
                  <p:nvPr/>
                </p:nvSpPr>
                <p:spPr bwMode="auto">
                  <a:xfrm>
                    <a:off x="1298058" y="3982244"/>
                    <a:ext cx="223284" cy="228600"/>
                  </a:xfrm>
                  <a:custGeom>
                    <a:avLst/>
                    <a:gdLst>
                      <a:gd name="T0" fmla="*/ 70 w 504"/>
                      <a:gd name="T1" fmla="*/ 215 h 516"/>
                      <a:gd name="T2" fmla="*/ 81 w 504"/>
                      <a:gd name="T3" fmla="*/ 187 h 516"/>
                      <a:gd name="T4" fmla="*/ 87 w 504"/>
                      <a:gd name="T5" fmla="*/ 165 h 516"/>
                      <a:gd name="T6" fmla="*/ 92 w 504"/>
                      <a:gd name="T7" fmla="*/ 131 h 516"/>
                      <a:gd name="T8" fmla="*/ 107 w 504"/>
                      <a:gd name="T9" fmla="*/ 94 h 516"/>
                      <a:gd name="T10" fmla="*/ 129 w 504"/>
                      <a:gd name="T11" fmla="*/ 60 h 516"/>
                      <a:gd name="T12" fmla="*/ 167 w 504"/>
                      <a:gd name="T13" fmla="*/ 26 h 516"/>
                      <a:gd name="T14" fmla="*/ 210 w 504"/>
                      <a:gd name="T15" fmla="*/ 7 h 516"/>
                      <a:gd name="T16" fmla="*/ 262 w 504"/>
                      <a:gd name="T17" fmla="*/ 0 h 516"/>
                      <a:gd name="T18" fmla="*/ 317 w 504"/>
                      <a:gd name="T19" fmla="*/ 6 h 516"/>
                      <a:gd name="T20" fmla="*/ 368 w 504"/>
                      <a:gd name="T21" fmla="*/ 26 h 516"/>
                      <a:gd name="T22" fmla="*/ 399 w 504"/>
                      <a:gd name="T23" fmla="*/ 51 h 516"/>
                      <a:gd name="T24" fmla="*/ 423 w 504"/>
                      <a:gd name="T25" fmla="*/ 87 h 516"/>
                      <a:gd name="T26" fmla="*/ 436 w 504"/>
                      <a:gd name="T27" fmla="*/ 126 h 516"/>
                      <a:gd name="T28" fmla="*/ 444 w 504"/>
                      <a:gd name="T29" fmla="*/ 168 h 516"/>
                      <a:gd name="T30" fmla="*/ 458 w 504"/>
                      <a:gd name="T31" fmla="*/ 197 h 516"/>
                      <a:gd name="T32" fmla="*/ 459 w 504"/>
                      <a:gd name="T33" fmla="*/ 219 h 516"/>
                      <a:gd name="T34" fmla="*/ 463 w 504"/>
                      <a:gd name="T35" fmla="*/ 246 h 516"/>
                      <a:gd name="T36" fmla="*/ 489 w 504"/>
                      <a:gd name="T37" fmla="*/ 293 h 516"/>
                      <a:gd name="T38" fmla="*/ 501 w 504"/>
                      <a:gd name="T39" fmla="*/ 331 h 516"/>
                      <a:gd name="T40" fmla="*/ 501 w 504"/>
                      <a:gd name="T41" fmla="*/ 372 h 516"/>
                      <a:gd name="T42" fmla="*/ 493 w 504"/>
                      <a:gd name="T43" fmla="*/ 396 h 516"/>
                      <a:gd name="T44" fmla="*/ 482 w 504"/>
                      <a:gd name="T45" fmla="*/ 403 h 516"/>
                      <a:gd name="T46" fmla="*/ 471 w 504"/>
                      <a:gd name="T47" fmla="*/ 397 h 516"/>
                      <a:gd name="T48" fmla="*/ 455 w 504"/>
                      <a:gd name="T49" fmla="*/ 368 h 516"/>
                      <a:gd name="T50" fmla="*/ 444 w 504"/>
                      <a:gd name="T51" fmla="*/ 388 h 516"/>
                      <a:gd name="T52" fmla="*/ 421 w 504"/>
                      <a:gd name="T53" fmla="*/ 427 h 516"/>
                      <a:gd name="T54" fmla="*/ 442 w 504"/>
                      <a:gd name="T55" fmla="*/ 448 h 516"/>
                      <a:gd name="T56" fmla="*/ 460 w 504"/>
                      <a:gd name="T57" fmla="*/ 467 h 516"/>
                      <a:gd name="T58" fmla="*/ 460 w 504"/>
                      <a:gd name="T59" fmla="*/ 481 h 516"/>
                      <a:gd name="T60" fmla="*/ 448 w 504"/>
                      <a:gd name="T61" fmla="*/ 496 h 516"/>
                      <a:gd name="T62" fmla="*/ 419 w 504"/>
                      <a:gd name="T63" fmla="*/ 508 h 516"/>
                      <a:gd name="T64" fmla="*/ 372 w 504"/>
                      <a:gd name="T65" fmla="*/ 513 h 516"/>
                      <a:gd name="T66" fmla="*/ 317 w 504"/>
                      <a:gd name="T67" fmla="*/ 506 h 516"/>
                      <a:gd name="T68" fmla="*/ 276 w 504"/>
                      <a:gd name="T69" fmla="*/ 494 h 516"/>
                      <a:gd name="T70" fmla="*/ 248 w 504"/>
                      <a:gd name="T71" fmla="*/ 495 h 516"/>
                      <a:gd name="T72" fmla="*/ 209 w 504"/>
                      <a:gd name="T73" fmla="*/ 512 h 516"/>
                      <a:gd name="T74" fmla="*/ 172 w 504"/>
                      <a:gd name="T75" fmla="*/ 516 h 516"/>
                      <a:gd name="T76" fmla="*/ 110 w 504"/>
                      <a:gd name="T77" fmla="*/ 512 h 516"/>
                      <a:gd name="T78" fmla="*/ 74 w 504"/>
                      <a:gd name="T79" fmla="*/ 499 h 516"/>
                      <a:gd name="T80" fmla="*/ 63 w 504"/>
                      <a:gd name="T81" fmla="*/ 487 h 516"/>
                      <a:gd name="T82" fmla="*/ 61 w 504"/>
                      <a:gd name="T83" fmla="*/ 471 h 516"/>
                      <a:gd name="T84" fmla="*/ 66 w 504"/>
                      <a:gd name="T85" fmla="*/ 454 h 516"/>
                      <a:gd name="T86" fmla="*/ 80 w 504"/>
                      <a:gd name="T87" fmla="*/ 444 h 516"/>
                      <a:gd name="T88" fmla="*/ 103 w 504"/>
                      <a:gd name="T89" fmla="*/ 439 h 516"/>
                      <a:gd name="T90" fmla="*/ 96 w 504"/>
                      <a:gd name="T91" fmla="*/ 430 h 516"/>
                      <a:gd name="T92" fmla="*/ 69 w 504"/>
                      <a:gd name="T93" fmla="*/ 400 h 516"/>
                      <a:gd name="T94" fmla="*/ 55 w 504"/>
                      <a:gd name="T95" fmla="*/ 368 h 516"/>
                      <a:gd name="T96" fmla="*/ 50 w 504"/>
                      <a:gd name="T97" fmla="*/ 361 h 516"/>
                      <a:gd name="T98" fmla="*/ 42 w 504"/>
                      <a:gd name="T99" fmla="*/ 376 h 516"/>
                      <a:gd name="T100" fmla="*/ 22 w 504"/>
                      <a:gd name="T101" fmla="*/ 395 h 516"/>
                      <a:gd name="T102" fmla="*/ 8 w 504"/>
                      <a:gd name="T103" fmla="*/ 396 h 516"/>
                      <a:gd name="T104" fmla="*/ 1 w 504"/>
                      <a:gd name="T105" fmla="*/ 374 h 516"/>
                      <a:gd name="T106" fmla="*/ 3 w 504"/>
                      <a:gd name="T107" fmla="*/ 332 h 516"/>
                      <a:gd name="T108" fmla="*/ 18 w 504"/>
                      <a:gd name="T109" fmla="*/ 293 h 516"/>
                      <a:gd name="T110" fmla="*/ 46 w 504"/>
                      <a:gd name="T111" fmla="*/ 254 h 516"/>
                      <a:gd name="T112" fmla="*/ 72 w 504"/>
                      <a:gd name="T113" fmla="*/ 232 h 51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  <a:cxn ang="0">
                        <a:pos x="T76" y="T77"/>
                      </a:cxn>
                      <a:cxn ang="0">
                        <a:pos x="T78" y="T79"/>
                      </a:cxn>
                      <a:cxn ang="0">
                        <a:pos x="T80" y="T81"/>
                      </a:cxn>
                      <a:cxn ang="0">
                        <a:pos x="T82" y="T83"/>
                      </a:cxn>
                      <a:cxn ang="0">
                        <a:pos x="T84" y="T85"/>
                      </a:cxn>
                      <a:cxn ang="0">
                        <a:pos x="T86" y="T87"/>
                      </a:cxn>
                      <a:cxn ang="0">
                        <a:pos x="T88" y="T89"/>
                      </a:cxn>
                      <a:cxn ang="0">
                        <a:pos x="T90" y="T91"/>
                      </a:cxn>
                      <a:cxn ang="0">
                        <a:pos x="T92" y="T93"/>
                      </a:cxn>
                      <a:cxn ang="0">
                        <a:pos x="T94" y="T95"/>
                      </a:cxn>
                      <a:cxn ang="0">
                        <a:pos x="T96" y="T97"/>
                      </a:cxn>
                      <a:cxn ang="0">
                        <a:pos x="T98" y="T99"/>
                      </a:cxn>
                      <a:cxn ang="0">
                        <a:pos x="T100" y="T101"/>
                      </a:cxn>
                      <a:cxn ang="0">
                        <a:pos x="T102" y="T103"/>
                      </a:cxn>
                      <a:cxn ang="0">
                        <a:pos x="T104" y="T105"/>
                      </a:cxn>
                      <a:cxn ang="0">
                        <a:pos x="T106" y="T107"/>
                      </a:cxn>
                      <a:cxn ang="0">
                        <a:pos x="T108" y="T109"/>
                      </a:cxn>
                      <a:cxn ang="0">
                        <a:pos x="T110" y="T111"/>
                      </a:cxn>
                      <a:cxn ang="0">
                        <a:pos x="T112" y="T113"/>
                      </a:cxn>
                    </a:cxnLst>
                    <a:rect l="0" t="0" r="r" b="b"/>
                    <a:pathLst>
                      <a:path w="504" h="516">
                        <a:moveTo>
                          <a:pt x="72" y="232"/>
                        </a:moveTo>
                        <a:lnTo>
                          <a:pt x="71" y="229"/>
                        </a:lnTo>
                        <a:lnTo>
                          <a:pt x="70" y="225"/>
                        </a:lnTo>
                        <a:lnTo>
                          <a:pt x="70" y="223"/>
                        </a:lnTo>
                        <a:lnTo>
                          <a:pt x="70" y="221"/>
                        </a:lnTo>
                        <a:lnTo>
                          <a:pt x="70" y="217"/>
                        </a:lnTo>
                        <a:lnTo>
                          <a:pt x="70" y="215"/>
                        </a:lnTo>
                        <a:lnTo>
                          <a:pt x="71" y="211"/>
                        </a:lnTo>
                        <a:lnTo>
                          <a:pt x="72" y="207"/>
                        </a:lnTo>
                        <a:lnTo>
                          <a:pt x="73" y="203"/>
                        </a:lnTo>
                        <a:lnTo>
                          <a:pt x="74" y="199"/>
                        </a:lnTo>
                        <a:lnTo>
                          <a:pt x="78" y="195"/>
                        </a:lnTo>
                        <a:lnTo>
                          <a:pt x="81" y="190"/>
                        </a:lnTo>
                        <a:lnTo>
                          <a:pt x="81" y="187"/>
                        </a:lnTo>
                        <a:lnTo>
                          <a:pt x="81" y="184"/>
                        </a:lnTo>
                        <a:lnTo>
                          <a:pt x="81" y="180"/>
                        </a:lnTo>
                        <a:lnTo>
                          <a:pt x="83" y="176"/>
                        </a:lnTo>
                        <a:lnTo>
                          <a:pt x="84" y="171"/>
                        </a:lnTo>
                        <a:lnTo>
                          <a:pt x="85" y="169"/>
                        </a:lnTo>
                        <a:lnTo>
                          <a:pt x="86" y="167"/>
                        </a:lnTo>
                        <a:lnTo>
                          <a:pt x="87" y="165"/>
                        </a:lnTo>
                        <a:lnTo>
                          <a:pt x="89" y="163"/>
                        </a:lnTo>
                        <a:lnTo>
                          <a:pt x="89" y="159"/>
                        </a:lnTo>
                        <a:lnTo>
                          <a:pt x="89" y="156"/>
                        </a:lnTo>
                        <a:lnTo>
                          <a:pt x="89" y="151"/>
                        </a:lnTo>
                        <a:lnTo>
                          <a:pt x="90" y="146"/>
                        </a:lnTo>
                        <a:lnTo>
                          <a:pt x="91" y="140"/>
                        </a:lnTo>
                        <a:lnTo>
                          <a:pt x="92" y="131"/>
                        </a:lnTo>
                        <a:lnTo>
                          <a:pt x="94" y="123"/>
                        </a:lnTo>
                        <a:lnTo>
                          <a:pt x="96" y="119"/>
                        </a:lnTo>
                        <a:lnTo>
                          <a:pt x="98" y="114"/>
                        </a:lnTo>
                        <a:lnTo>
                          <a:pt x="99" y="109"/>
                        </a:lnTo>
                        <a:lnTo>
                          <a:pt x="102" y="104"/>
                        </a:lnTo>
                        <a:lnTo>
                          <a:pt x="105" y="99"/>
                        </a:lnTo>
                        <a:lnTo>
                          <a:pt x="107" y="94"/>
                        </a:lnTo>
                        <a:lnTo>
                          <a:pt x="110" y="89"/>
                        </a:lnTo>
                        <a:lnTo>
                          <a:pt x="114" y="83"/>
                        </a:lnTo>
                        <a:lnTo>
                          <a:pt x="115" y="80"/>
                        </a:lnTo>
                        <a:lnTo>
                          <a:pt x="117" y="77"/>
                        </a:lnTo>
                        <a:lnTo>
                          <a:pt x="121" y="72"/>
                        </a:lnTo>
                        <a:lnTo>
                          <a:pt x="125" y="66"/>
                        </a:lnTo>
                        <a:lnTo>
                          <a:pt x="129" y="60"/>
                        </a:lnTo>
                        <a:lnTo>
                          <a:pt x="135" y="54"/>
                        </a:lnTo>
                        <a:lnTo>
                          <a:pt x="140" y="49"/>
                        </a:lnTo>
                        <a:lnTo>
                          <a:pt x="145" y="44"/>
                        </a:lnTo>
                        <a:lnTo>
                          <a:pt x="152" y="38"/>
                        </a:lnTo>
                        <a:lnTo>
                          <a:pt x="156" y="33"/>
                        </a:lnTo>
                        <a:lnTo>
                          <a:pt x="162" y="29"/>
                        </a:lnTo>
                        <a:lnTo>
                          <a:pt x="167" y="26"/>
                        </a:lnTo>
                        <a:lnTo>
                          <a:pt x="172" y="22"/>
                        </a:lnTo>
                        <a:lnTo>
                          <a:pt x="178" y="19"/>
                        </a:lnTo>
                        <a:lnTo>
                          <a:pt x="184" y="17"/>
                        </a:lnTo>
                        <a:lnTo>
                          <a:pt x="191" y="14"/>
                        </a:lnTo>
                        <a:lnTo>
                          <a:pt x="197" y="12"/>
                        </a:lnTo>
                        <a:lnTo>
                          <a:pt x="204" y="9"/>
                        </a:lnTo>
                        <a:lnTo>
                          <a:pt x="210" y="7"/>
                        </a:lnTo>
                        <a:lnTo>
                          <a:pt x="217" y="5"/>
                        </a:lnTo>
                        <a:lnTo>
                          <a:pt x="225" y="4"/>
                        </a:lnTo>
                        <a:lnTo>
                          <a:pt x="232" y="2"/>
                        </a:lnTo>
                        <a:lnTo>
                          <a:pt x="240" y="2"/>
                        </a:lnTo>
                        <a:lnTo>
                          <a:pt x="248" y="1"/>
                        </a:lnTo>
                        <a:lnTo>
                          <a:pt x="255" y="0"/>
                        </a:lnTo>
                        <a:lnTo>
                          <a:pt x="262" y="0"/>
                        </a:lnTo>
                        <a:lnTo>
                          <a:pt x="270" y="0"/>
                        </a:lnTo>
                        <a:lnTo>
                          <a:pt x="279" y="0"/>
                        </a:lnTo>
                        <a:lnTo>
                          <a:pt x="286" y="1"/>
                        </a:lnTo>
                        <a:lnTo>
                          <a:pt x="294" y="2"/>
                        </a:lnTo>
                        <a:lnTo>
                          <a:pt x="301" y="3"/>
                        </a:lnTo>
                        <a:lnTo>
                          <a:pt x="309" y="4"/>
                        </a:lnTo>
                        <a:lnTo>
                          <a:pt x="317" y="6"/>
                        </a:lnTo>
                        <a:lnTo>
                          <a:pt x="324" y="8"/>
                        </a:lnTo>
                        <a:lnTo>
                          <a:pt x="333" y="10"/>
                        </a:lnTo>
                        <a:lnTo>
                          <a:pt x="340" y="13"/>
                        </a:lnTo>
                        <a:lnTo>
                          <a:pt x="347" y="16"/>
                        </a:lnTo>
                        <a:lnTo>
                          <a:pt x="354" y="19"/>
                        </a:lnTo>
                        <a:lnTo>
                          <a:pt x="361" y="23"/>
                        </a:lnTo>
                        <a:lnTo>
                          <a:pt x="368" y="26"/>
                        </a:lnTo>
                        <a:lnTo>
                          <a:pt x="374" y="30"/>
                        </a:lnTo>
                        <a:lnTo>
                          <a:pt x="380" y="34"/>
                        </a:lnTo>
                        <a:lnTo>
                          <a:pt x="382" y="37"/>
                        </a:lnTo>
                        <a:lnTo>
                          <a:pt x="385" y="39"/>
                        </a:lnTo>
                        <a:lnTo>
                          <a:pt x="391" y="43"/>
                        </a:lnTo>
                        <a:lnTo>
                          <a:pt x="395" y="47"/>
                        </a:lnTo>
                        <a:lnTo>
                          <a:pt x="399" y="51"/>
                        </a:lnTo>
                        <a:lnTo>
                          <a:pt x="403" y="56"/>
                        </a:lnTo>
                        <a:lnTo>
                          <a:pt x="407" y="62"/>
                        </a:lnTo>
                        <a:lnTo>
                          <a:pt x="411" y="66"/>
                        </a:lnTo>
                        <a:lnTo>
                          <a:pt x="414" y="72"/>
                        </a:lnTo>
                        <a:lnTo>
                          <a:pt x="416" y="76"/>
                        </a:lnTo>
                        <a:lnTo>
                          <a:pt x="420" y="81"/>
                        </a:lnTo>
                        <a:lnTo>
                          <a:pt x="423" y="87"/>
                        </a:lnTo>
                        <a:lnTo>
                          <a:pt x="427" y="96"/>
                        </a:lnTo>
                        <a:lnTo>
                          <a:pt x="429" y="101"/>
                        </a:lnTo>
                        <a:lnTo>
                          <a:pt x="431" y="106"/>
                        </a:lnTo>
                        <a:lnTo>
                          <a:pt x="432" y="112"/>
                        </a:lnTo>
                        <a:lnTo>
                          <a:pt x="434" y="117"/>
                        </a:lnTo>
                        <a:lnTo>
                          <a:pt x="435" y="121"/>
                        </a:lnTo>
                        <a:lnTo>
                          <a:pt x="436" y="126"/>
                        </a:lnTo>
                        <a:lnTo>
                          <a:pt x="439" y="134"/>
                        </a:lnTo>
                        <a:lnTo>
                          <a:pt x="440" y="143"/>
                        </a:lnTo>
                        <a:lnTo>
                          <a:pt x="441" y="150"/>
                        </a:lnTo>
                        <a:lnTo>
                          <a:pt x="442" y="156"/>
                        </a:lnTo>
                        <a:lnTo>
                          <a:pt x="443" y="165"/>
                        </a:lnTo>
                        <a:lnTo>
                          <a:pt x="443" y="167"/>
                        </a:lnTo>
                        <a:lnTo>
                          <a:pt x="444" y="168"/>
                        </a:lnTo>
                        <a:lnTo>
                          <a:pt x="448" y="173"/>
                        </a:lnTo>
                        <a:lnTo>
                          <a:pt x="450" y="176"/>
                        </a:lnTo>
                        <a:lnTo>
                          <a:pt x="452" y="179"/>
                        </a:lnTo>
                        <a:lnTo>
                          <a:pt x="454" y="183"/>
                        </a:lnTo>
                        <a:lnTo>
                          <a:pt x="455" y="188"/>
                        </a:lnTo>
                        <a:lnTo>
                          <a:pt x="457" y="192"/>
                        </a:lnTo>
                        <a:lnTo>
                          <a:pt x="458" y="197"/>
                        </a:lnTo>
                        <a:lnTo>
                          <a:pt x="459" y="202"/>
                        </a:lnTo>
                        <a:lnTo>
                          <a:pt x="459" y="204"/>
                        </a:lnTo>
                        <a:lnTo>
                          <a:pt x="460" y="207"/>
                        </a:lnTo>
                        <a:lnTo>
                          <a:pt x="460" y="210"/>
                        </a:lnTo>
                        <a:lnTo>
                          <a:pt x="459" y="213"/>
                        </a:lnTo>
                        <a:lnTo>
                          <a:pt x="459" y="216"/>
                        </a:lnTo>
                        <a:lnTo>
                          <a:pt x="459" y="219"/>
                        </a:lnTo>
                        <a:lnTo>
                          <a:pt x="457" y="225"/>
                        </a:lnTo>
                        <a:lnTo>
                          <a:pt x="456" y="228"/>
                        </a:lnTo>
                        <a:lnTo>
                          <a:pt x="455" y="231"/>
                        </a:lnTo>
                        <a:lnTo>
                          <a:pt x="455" y="232"/>
                        </a:lnTo>
                        <a:lnTo>
                          <a:pt x="455" y="233"/>
                        </a:lnTo>
                        <a:lnTo>
                          <a:pt x="457" y="236"/>
                        </a:lnTo>
                        <a:lnTo>
                          <a:pt x="463" y="246"/>
                        </a:lnTo>
                        <a:lnTo>
                          <a:pt x="468" y="253"/>
                        </a:lnTo>
                        <a:lnTo>
                          <a:pt x="471" y="258"/>
                        </a:lnTo>
                        <a:lnTo>
                          <a:pt x="475" y="265"/>
                        </a:lnTo>
                        <a:lnTo>
                          <a:pt x="478" y="271"/>
                        </a:lnTo>
                        <a:lnTo>
                          <a:pt x="482" y="277"/>
                        </a:lnTo>
                        <a:lnTo>
                          <a:pt x="485" y="285"/>
                        </a:lnTo>
                        <a:lnTo>
                          <a:pt x="489" y="293"/>
                        </a:lnTo>
                        <a:lnTo>
                          <a:pt x="491" y="298"/>
                        </a:lnTo>
                        <a:lnTo>
                          <a:pt x="493" y="303"/>
                        </a:lnTo>
                        <a:lnTo>
                          <a:pt x="495" y="309"/>
                        </a:lnTo>
                        <a:lnTo>
                          <a:pt x="496" y="313"/>
                        </a:lnTo>
                        <a:lnTo>
                          <a:pt x="498" y="318"/>
                        </a:lnTo>
                        <a:lnTo>
                          <a:pt x="499" y="323"/>
                        </a:lnTo>
                        <a:lnTo>
                          <a:pt x="501" y="331"/>
                        </a:lnTo>
                        <a:lnTo>
                          <a:pt x="503" y="341"/>
                        </a:lnTo>
                        <a:lnTo>
                          <a:pt x="504" y="349"/>
                        </a:lnTo>
                        <a:lnTo>
                          <a:pt x="504" y="354"/>
                        </a:lnTo>
                        <a:lnTo>
                          <a:pt x="504" y="357"/>
                        </a:lnTo>
                        <a:lnTo>
                          <a:pt x="504" y="361"/>
                        </a:lnTo>
                        <a:lnTo>
                          <a:pt x="503" y="365"/>
                        </a:lnTo>
                        <a:lnTo>
                          <a:pt x="501" y="372"/>
                        </a:lnTo>
                        <a:lnTo>
                          <a:pt x="500" y="378"/>
                        </a:lnTo>
                        <a:lnTo>
                          <a:pt x="498" y="385"/>
                        </a:lnTo>
                        <a:lnTo>
                          <a:pt x="498" y="387"/>
                        </a:lnTo>
                        <a:lnTo>
                          <a:pt x="496" y="390"/>
                        </a:lnTo>
                        <a:lnTo>
                          <a:pt x="495" y="392"/>
                        </a:lnTo>
                        <a:lnTo>
                          <a:pt x="494" y="394"/>
                        </a:lnTo>
                        <a:lnTo>
                          <a:pt x="493" y="396"/>
                        </a:lnTo>
                        <a:lnTo>
                          <a:pt x="491" y="398"/>
                        </a:lnTo>
                        <a:lnTo>
                          <a:pt x="490" y="399"/>
                        </a:lnTo>
                        <a:lnTo>
                          <a:pt x="488" y="401"/>
                        </a:lnTo>
                        <a:lnTo>
                          <a:pt x="486" y="401"/>
                        </a:lnTo>
                        <a:lnTo>
                          <a:pt x="485" y="402"/>
                        </a:lnTo>
                        <a:lnTo>
                          <a:pt x="483" y="403"/>
                        </a:lnTo>
                        <a:lnTo>
                          <a:pt x="482" y="403"/>
                        </a:lnTo>
                        <a:lnTo>
                          <a:pt x="481" y="403"/>
                        </a:lnTo>
                        <a:lnTo>
                          <a:pt x="480" y="402"/>
                        </a:lnTo>
                        <a:lnTo>
                          <a:pt x="477" y="401"/>
                        </a:lnTo>
                        <a:lnTo>
                          <a:pt x="476" y="400"/>
                        </a:lnTo>
                        <a:lnTo>
                          <a:pt x="475" y="399"/>
                        </a:lnTo>
                        <a:lnTo>
                          <a:pt x="473" y="398"/>
                        </a:lnTo>
                        <a:lnTo>
                          <a:pt x="471" y="397"/>
                        </a:lnTo>
                        <a:lnTo>
                          <a:pt x="469" y="394"/>
                        </a:lnTo>
                        <a:lnTo>
                          <a:pt x="467" y="391"/>
                        </a:lnTo>
                        <a:lnTo>
                          <a:pt x="465" y="387"/>
                        </a:lnTo>
                        <a:lnTo>
                          <a:pt x="462" y="384"/>
                        </a:lnTo>
                        <a:lnTo>
                          <a:pt x="461" y="380"/>
                        </a:lnTo>
                        <a:lnTo>
                          <a:pt x="458" y="374"/>
                        </a:lnTo>
                        <a:lnTo>
                          <a:pt x="455" y="368"/>
                        </a:lnTo>
                        <a:lnTo>
                          <a:pt x="454" y="368"/>
                        </a:lnTo>
                        <a:lnTo>
                          <a:pt x="454" y="368"/>
                        </a:lnTo>
                        <a:lnTo>
                          <a:pt x="452" y="369"/>
                        </a:lnTo>
                        <a:lnTo>
                          <a:pt x="452" y="370"/>
                        </a:lnTo>
                        <a:lnTo>
                          <a:pt x="450" y="372"/>
                        </a:lnTo>
                        <a:lnTo>
                          <a:pt x="448" y="378"/>
                        </a:lnTo>
                        <a:lnTo>
                          <a:pt x="444" y="388"/>
                        </a:lnTo>
                        <a:lnTo>
                          <a:pt x="440" y="398"/>
                        </a:lnTo>
                        <a:lnTo>
                          <a:pt x="437" y="403"/>
                        </a:lnTo>
                        <a:lnTo>
                          <a:pt x="433" y="409"/>
                        </a:lnTo>
                        <a:lnTo>
                          <a:pt x="429" y="415"/>
                        </a:lnTo>
                        <a:lnTo>
                          <a:pt x="425" y="421"/>
                        </a:lnTo>
                        <a:lnTo>
                          <a:pt x="423" y="424"/>
                        </a:lnTo>
                        <a:lnTo>
                          <a:pt x="421" y="427"/>
                        </a:lnTo>
                        <a:lnTo>
                          <a:pt x="414" y="434"/>
                        </a:lnTo>
                        <a:lnTo>
                          <a:pt x="414" y="434"/>
                        </a:lnTo>
                        <a:lnTo>
                          <a:pt x="415" y="435"/>
                        </a:lnTo>
                        <a:lnTo>
                          <a:pt x="419" y="437"/>
                        </a:lnTo>
                        <a:lnTo>
                          <a:pt x="431" y="442"/>
                        </a:lnTo>
                        <a:lnTo>
                          <a:pt x="437" y="446"/>
                        </a:lnTo>
                        <a:lnTo>
                          <a:pt x="442" y="448"/>
                        </a:lnTo>
                        <a:lnTo>
                          <a:pt x="448" y="452"/>
                        </a:lnTo>
                        <a:lnTo>
                          <a:pt x="452" y="456"/>
                        </a:lnTo>
                        <a:lnTo>
                          <a:pt x="455" y="459"/>
                        </a:lnTo>
                        <a:lnTo>
                          <a:pt x="456" y="461"/>
                        </a:lnTo>
                        <a:lnTo>
                          <a:pt x="458" y="463"/>
                        </a:lnTo>
                        <a:lnTo>
                          <a:pt x="459" y="465"/>
                        </a:lnTo>
                        <a:lnTo>
                          <a:pt x="460" y="467"/>
                        </a:lnTo>
                        <a:lnTo>
                          <a:pt x="461" y="470"/>
                        </a:lnTo>
                        <a:lnTo>
                          <a:pt x="461" y="472"/>
                        </a:lnTo>
                        <a:lnTo>
                          <a:pt x="462" y="475"/>
                        </a:lnTo>
                        <a:lnTo>
                          <a:pt x="461" y="476"/>
                        </a:lnTo>
                        <a:lnTo>
                          <a:pt x="461" y="478"/>
                        </a:lnTo>
                        <a:lnTo>
                          <a:pt x="461" y="480"/>
                        </a:lnTo>
                        <a:lnTo>
                          <a:pt x="460" y="481"/>
                        </a:lnTo>
                        <a:lnTo>
                          <a:pt x="460" y="484"/>
                        </a:lnTo>
                        <a:lnTo>
                          <a:pt x="459" y="485"/>
                        </a:lnTo>
                        <a:lnTo>
                          <a:pt x="457" y="488"/>
                        </a:lnTo>
                        <a:lnTo>
                          <a:pt x="455" y="491"/>
                        </a:lnTo>
                        <a:lnTo>
                          <a:pt x="453" y="492"/>
                        </a:lnTo>
                        <a:lnTo>
                          <a:pt x="452" y="494"/>
                        </a:lnTo>
                        <a:lnTo>
                          <a:pt x="448" y="496"/>
                        </a:lnTo>
                        <a:lnTo>
                          <a:pt x="443" y="498"/>
                        </a:lnTo>
                        <a:lnTo>
                          <a:pt x="439" y="500"/>
                        </a:lnTo>
                        <a:lnTo>
                          <a:pt x="435" y="502"/>
                        </a:lnTo>
                        <a:lnTo>
                          <a:pt x="430" y="504"/>
                        </a:lnTo>
                        <a:lnTo>
                          <a:pt x="427" y="505"/>
                        </a:lnTo>
                        <a:lnTo>
                          <a:pt x="425" y="506"/>
                        </a:lnTo>
                        <a:lnTo>
                          <a:pt x="419" y="508"/>
                        </a:lnTo>
                        <a:lnTo>
                          <a:pt x="413" y="509"/>
                        </a:lnTo>
                        <a:lnTo>
                          <a:pt x="407" y="511"/>
                        </a:lnTo>
                        <a:lnTo>
                          <a:pt x="400" y="512"/>
                        </a:lnTo>
                        <a:lnTo>
                          <a:pt x="394" y="512"/>
                        </a:lnTo>
                        <a:lnTo>
                          <a:pt x="386" y="513"/>
                        </a:lnTo>
                        <a:lnTo>
                          <a:pt x="379" y="513"/>
                        </a:lnTo>
                        <a:lnTo>
                          <a:pt x="372" y="513"/>
                        </a:lnTo>
                        <a:lnTo>
                          <a:pt x="365" y="513"/>
                        </a:lnTo>
                        <a:lnTo>
                          <a:pt x="356" y="512"/>
                        </a:lnTo>
                        <a:lnTo>
                          <a:pt x="349" y="512"/>
                        </a:lnTo>
                        <a:lnTo>
                          <a:pt x="342" y="511"/>
                        </a:lnTo>
                        <a:lnTo>
                          <a:pt x="334" y="510"/>
                        </a:lnTo>
                        <a:lnTo>
                          <a:pt x="325" y="509"/>
                        </a:lnTo>
                        <a:lnTo>
                          <a:pt x="317" y="506"/>
                        </a:lnTo>
                        <a:lnTo>
                          <a:pt x="310" y="504"/>
                        </a:lnTo>
                        <a:lnTo>
                          <a:pt x="301" y="502"/>
                        </a:lnTo>
                        <a:lnTo>
                          <a:pt x="294" y="500"/>
                        </a:lnTo>
                        <a:lnTo>
                          <a:pt x="286" y="497"/>
                        </a:lnTo>
                        <a:lnTo>
                          <a:pt x="282" y="496"/>
                        </a:lnTo>
                        <a:lnTo>
                          <a:pt x="279" y="495"/>
                        </a:lnTo>
                        <a:lnTo>
                          <a:pt x="276" y="494"/>
                        </a:lnTo>
                        <a:lnTo>
                          <a:pt x="273" y="493"/>
                        </a:lnTo>
                        <a:lnTo>
                          <a:pt x="270" y="493"/>
                        </a:lnTo>
                        <a:lnTo>
                          <a:pt x="267" y="493"/>
                        </a:lnTo>
                        <a:lnTo>
                          <a:pt x="260" y="493"/>
                        </a:lnTo>
                        <a:lnTo>
                          <a:pt x="256" y="492"/>
                        </a:lnTo>
                        <a:lnTo>
                          <a:pt x="251" y="492"/>
                        </a:lnTo>
                        <a:lnTo>
                          <a:pt x="248" y="495"/>
                        </a:lnTo>
                        <a:lnTo>
                          <a:pt x="243" y="497"/>
                        </a:lnTo>
                        <a:lnTo>
                          <a:pt x="238" y="500"/>
                        </a:lnTo>
                        <a:lnTo>
                          <a:pt x="232" y="503"/>
                        </a:lnTo>
                        <a:lnTo>
                          <a:pt x="228" y="505"/>
                        </a:lnTo>
                        <a:lnTo>
                          <a:pt x="224" y="508"/>
                        </a:lnTo>
                        <a:lnTo>
                          <a:pt x="214" y="511"/>
                        </a:lnTo>
                        <a:lnTo>
                          <a:pt x="209" y="512"/>
                        </a:lnTo>
                        <a:lnTo>
                          <a:pt x="205" y="514"/>
                        </a:lnTo>
                        <a:lnTo>
                          <a:pt x="198" y="515"/>
                        </a:lnTo>
                        <a:lnTo>
                          <a:pt x="193" y="515"/>
                        </a:lnTo>
                        <a:lnTo>
                          <a:pt x="188" y="516"/>
                        </a:lnTo>
                        <a:lnTo>
                          <a:pt x="183" y="516"/>
                        </a:lnTo>
                        <a:lnTo>
                          <a:pt x="178" y="516"/>
                        </a:lnTo>
                        <a:lnTo>
                          <a:pt x="172" y="516"/>
                        </a:lnTo>
                        <a:lnTo>
                          <a:pt x="167" y="516"/>
                        </a:lnTo>
                        <a:lnTo>
                          <a:pt x="154" y="516"/>
                        </a:lnTo>
                        <a:lnTo>
                          <a:pt x="141" y="516"/>
                        </a:lnTo>
                        <a:lnTo>
                          <a:pt x="128" y="515"/>
                        </a:lnTo>
                        <a:lnTo>
                          <a:pt x="122" y="514"/>
                        </a:lnTo>
                        <a:lnTo>
                          <a:pt x="116" y="513"/>
                        </a:lnTo>
                        <a:lnTo>
                          <a:pt x="110" y="512"/>
                        </a:lnTo>
                        <a:lnTo>
                          <a:pt x="103" y="511"/>
                        </a:lnTo>
                        <a:lnTo>
                          <a:pt x="98" y="509"/>
                        </a:lnTo>
                        <a:lnTo>
                          <a:pt x="92" y="508"/>
                        </a:lnTo>
                        <a:lnTo>
                          <a:pt x="87" y="505"/>
                        </a:lnTo>
                        <a:lnTo>
                          <a:pt x="83" y="503"/>
                        </a:lnTo>
                        <a:lnTo>
                          <a:pt x="78" y="501"/>
                        </a:lnTo>
                        <a:lnTo>
                          <a:pt x="74" y="499"/>
                        </a:lnTo>
                        <a:lnTo>
                          <a:pt x="70" y="496"/>
                        </a:lnTo>
                        <a:lnTo>
                          <a:pt x="69" y="495"/>
                        </a:lnTo>
                        <a:lnTo>
                          <a:pt x="67" y="493"/>
                        </a:lnTo>
                        <a:lnTo>
                          <a:pt x="66" y="492"/>
                        </a:lnTo>
                        <a:lnTo>
                          <a:pt x="64" y="490"/>
                        </a:lnTo>
                        <a:lnTo>
                          <a:pt x="63" y="489"/>
                        </a:lnTo>
                        <a:lnTo>
                          <a:pt x="63" y="487"/>
                        </a:lnTo>
                        <a:lnTo>
                          <a:pt x="61" y="484"/>
                        </a:lnTo>
                        <a:lnTo>
                          <a:pt x="61" y="481"/>
                        </a:lnTo>
                        <a:lnTo>
                          <a:pt x="60" y="479"/>
                        </a:lnTo>
                        <a:lnTo>
                          <a:pt x="60" y="477"/>
                        </a:lnTo>
                        <a:lnTo>
                          <a:pt x="61" y="475"/>
                        </a:lnTo>
                        <a:lnTo>
                          <a:pt x="61" y="473"/>
                        </a:lnTo>
                        <a:lnTo>
                          <a:pt x="61" y="471"/>
                        </a:lnTo>
                        <a:lnTo>
                          <a:pt x="61" y="470"/>
                        </a:lnTo>
                        <a:lnTo>
                          <a:pt x="61" y="467"/>
                        </a:lnTo>
                        <a:lnTo>
                          <a:pt x="62" y="465"/>
                        </a:lnTo>
                        <a:lnTo>
                          <a:pt x="63" y="462"/>
                        </a:lnTo>
                        <a:lnTo>
                          <a:pt x="63" y="460"/>
                        </a:lnTo>
                        <a:lnTo>
                          <a:pt x="65" y="456"/>
                        </a:lnTo>
                        <a:lnTo>
                          <a:pt x="66" y="454"/>
                        </a:lnTo>
                        <a:lnTo>
                          <a:pt x="67" y="453"/>
                        </a:lnTo>
                        <a:lnTo>
                          <a:pt x="69" y="450"/>
                        </a:lnTo>
                        <a:lnTo>
                          <a:pt x="71" y="449"/>
                        </a:lnTo>
                        <a:lnTo>
                          <a:pt x="73" y="448"/>
                        </a:lnTo>
                        <a:lnTo>
                          <a:pt x="74" y="446"/>
                        </a:lnTo>
                        <a:lnTo>
                          <a:pt x="78" y="446"/>
                        </a:lnTo>
                        <a:lnTo>
                          <a:pt x="80" y="444"/>
                        </a:lnTo>
                        <a:lnTo>
                          <a:pt x="83" y="443"/>
                        </a:lnTo>
                        <a:lnTo>
                          <a:pt x="86" y="442"/>
                        </a:lnTo>
                        <a:lnTo>
                          <a:pt x="89" y="441"/>
                        </a:lnTo>
                        <a:lnTo>
                          <a:pt x="92" y="440"/>
                        </a:lnTo>
                        <a:lnTo>
                          <a:pt x="95" y="440"/>
                        </a:lnTo>
                        <a:lnTo>
                          <a:pt x="99" y="439"/>
                        </a:lnTo>
                        <a:lnTo>
                          <a:pt x="103" y="439"/>
                        </a:lnTo>
                        <a:lnTo>
                          <a:pt x="105" y="439"/>
                        </a:lnTo>
                        <a:lnTo>
                          <a:pt x="105" y="439"/>
                        </a:lnTo>
                        <a:lnTo>
                          <a:pt x="106" y="438"/>
                        </a:lnTo>
                        <a:lnTo>
                          <a:pt x="106" y="438"/>
                        </a:lnTo>
                        <a:lnTo>
                          <a:pt x="105" y="437"/>
                        </a:lnTo>
                        <a:lnTo>
                          <a:pt x="102" y="436"/>
                        </a:lnTo>
                        <a:lnTo>
                          <a:pt x="96" y="430"/>
                        </a:lnTo>
                        <a:lnTo>
                          <a:pt x="93" y="427"/>
                        </a:lnTo>
                        <a:lnTo>
                          <a:pt x="89" y="423"/>
                        </a:lnTo>
                        <a:lnTo>
                          <a:pt x="84" y="419"/>
                        </a:lnTo>
                        <a:lnTo>
                          <a:pt x="80" y="414"/>
                        </a:lnTo>
                        <a:lnTo>
                          <a:pt x="74" y="407"/>
                        </a:lnTo>
                        <a:lnTo>
                          <a:pt x="72" y="403"/>
                        </a:lnTo>
                        <a:lnTo>
                          <a:pt x="69" y="400"/>
                        </a:lnTo>
                        <a:lnTo>
                          <a:pt x="67" y="396"/>
                        </a:lnTo>
                        <a:lnTo>
                          <a:pt x="65" y="392"/>
                        </a:lnTo>
                        <a:lnTo>
                          <a:pt x="62" y="388"/>
                        </a:lnTo>
                        <a:lnTo>
                          <a:pt x="60" y="382"/>
                        </a:lnTo>
                        <a:lnTo>
                          <a:pt x="58" y="378"/>
                        </a:lnTo>
                        <a:lnTo>
                          <a:pt x="56" y="372"/>
                        </a:lnTo>
                        <a:lnTo>
                          <a:pt x="55" y="368"/>
                        </a:lnTo>
                        <a:lnTo>
                          <a:pt x="53" y="361"/>
                        </a:lnTo>
                        <a:lnTo>
                          <a:pt x="53" y="361"/>
                        </a:lnTo>
                        <a:lnTo>
                          <a:pt x="53" y="361"/>
                        </a:lnTo>
                        <a:lnTo>
                          <a:pt x="52" y="361"/>
                        </a:lnTo>
                        <a:lnTo>
                          <a:pt x="52" y="361"/>
                        </a:lnTo>
                        <a:lnTo>
                          <a:pt x="51" y="361"/>
                        </a:lnTo>
                        <a:lnTo>
                          <a:pt x="50" y="361"/>
                        </a:lnTo>
                        <a:lnTo>
                          <a:pt x="50" y="362"/>
                        </a:lnTo>
                        <a:lnTo>
                          <a:pt x="50" y="364"/>
                        </a:lnTo>
                        <a:lnTo>
                          <a:pt x="49" y="365"/>
                        </a:lnTo>
                        <a:lnTo>
                          <a:pt x="48" y="367"/>
                        </a:lnTo>
                        <a:lnTo>
                          <a:pt x="45" y="371"/>
                        </a:lnTo>
                        <a:lnTo>
                          <a:pt x="44" y="374"/>
                        </a:lnTo>
                        <a:lnTo>
                          <a:pt x="42" y="376"/>
                        </a:lnTo>
                        <a:lnTo>
                          <a:pt x="39" y="379"/>
                        </a:lnTo>
                        <a:lnTo>
                          <a:pt x="37" y="382"/>
                        </a:lnTo>
                        <a:lnTo>
                          <a:pt x="34" y="386"/>
                        </a:lnTo>
                        <a:lnTo>
                          <a:pt x="31" y="389"/>
                        </a:lnTo>
                        <a:lnTo>
                          <a:pt x="28" y="391"/>
                        </a:lnTo>
                        <a:lnTo>
                          <a:pt x="25" y="393"/>
                        </a:lnTo>
                        <a:lnTo>
                          <a:pt x="22" y="395"/>
                        </a:lnTo>
                        <a:lnTo>
                          <a:pt x="18" y="397"/>
                        </a:lnTo>
                        <a:lnTo>
                          <a:pt x="14" y="398"/>
                        </a:lnTo>
                        <a:lnTo>
                          <a:pt x="10" y="398"/>
                        </a:lnTo>
                        <a:lnTo>
                          <a:pt x="10" y="398"/>
                        </a:lnTo>
                        <a:lnTo>
                          <a:pt x="9" y="398"/>
                        </a:lnTo>
                        <a:lnTo>
                          <a:pt x="8" y="398"/>
                        </a:lnTo>
                        <a:lnTo>
                          <a:pt x="8" y="396"/>
                        </a:lnTo>
                        <a:lnTo>
                          <a:pt x="7" y="395"/>
                        </a:lnTo>
                        <a:lnTo>
                          <a:pt x="5" y="392"/>
                        </a:lnTo>
                        <a:lnTo>
                          <a:pt x="4" y="390"/>
                        </a:lnTo>
                        <a:lnTo>
                          <a:pt x="3" y="387"/>
                        </a:lnTo>
                        <a:lnTo>
                          <a:pt x="3" y="384"/>
                        </a:lnTo>
                        <a:lnTo>
                          <a:pt x="2" y="381"/>
                        </a:lnTo>
                        <a:lnTo>
                          <a:pt x="1" y="374"/>
                        </a:lnTo>
                        <a:lnTo>
                          <a:pt x="0" y="370"/>
                        </a:lnTo>
                        <a:lnTo>
                          <a:pt x="0" y="367"/>
                        </a:lnTo>
                        <a:lnTo>
                          <a:pt x="0" y="357"/>
                        </a:lnTo>
                        <a:lnTo>
                          <a:pt x="1" y="348"/>
                        </a:lnTo>
                        <a:lnTo>
                          <a:pt x="2" y="343"/>
                        </a:lnTo>
                        <a:lnTo>
                          <a:pt x="3" y="338"/>
                        </a:lnTo>
                        <a:lnTo>
                          <a:pt x="3" y="332"/>
                        </a:lnTo>
                        <a:lnTo>
                          <a:pt x="5" y="327"/>
                        </a:lnTo>
                        <a:lnTo>
                          <a:pt x="6" y="322"/>
                        </a:lnTo>
                        <a:lnTo>
                          <a:pt x="8" y="316"/>
                        </a:lnTo>
                        <a:lnTo>
                          <a:pt x="10" y="311"/>
                        </a:lnTo>
                        <a:lnTo>
                          <a:pt x="12" y="304"/>
                        </a:lnTo>
                        <a:lnTo>
                          <a:pt x="15" y="299"/>
                        </a:lnTo>
                        <a:lnTo>
                          <a:pt x="18" y="293"/>
                        </a:lnTo>
                        <a:lnTo>
                          <a:pt x="22" y="287"/>
                        </a:lnTo>
                        <a:lnTo>
                          <a:pt x="26" y="281"/>
                        </a:lnTo>
                        <a:lnTo>
                          <a:pt x="30" y="275"/>
                        </a:lnTo>
                        <a:lnTo>
                          <a:pt x="34" y="269"/>
                        </a:lnTo>
                        <a:lnTo>
                          <a:pt x="37" y="265"/>
                        </a:lnTo>
                        <a:lnTo>
                          <a:pt x="42" y="260"/>
                        </a:lnTo>
                        <a:lnTo>
                          <a:pt x="46" y="254"/>
                        </a:lnTo>
                        <a:lnTo>
                          <a:pt x="49" y="252"/>
                        </a:lnTo>
                        <a:lnTo>
                          <a:pt x="52" y="250"/>
                        </a:lnTo>
                        <a:lnTo>
                          <a:pt x="56" y="246"/>
                        </a:lnTo>
                        <a:lnTo>
                          <a:pt x="59" y="243"/>
                        </a:lnTo>
                        <a:lnTo>
                          <a:pt x="66" y="238"/>
                        </a:lnTo>
                        <a:lnTo>
                          <a:pt x="70" y="233"/>
                        </a:lnTo>
                        <a:lnTo>
                          <a:pt x="72" y="232"/>
                        </a:lnTo>
                        <a:close/>
                      </a:path>
                    </a:pathLst>
                  </a:custGeom>
                  <a:solidFill>
                    <a:sysClr val="window" lastClr="FFFFFF">
                      <a:lumMod val="65000"/>
                    </a:sysClr>
                  </a:solidFill>
                  <a:ln>
                    <a:noFill/>
                  </a:ln>
                  <a:extLst/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>
                    <a:defPPr>
                      <a:defRPr lang="en-US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CN" alt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chemeClr val="bg2"/>
                      </a:solidFill>
                      <a:effectLst/>
                      <a:uLnTx/>
                      <a:uFillTx/>
                      <a:cs typeface="+mn-ea"/>
                      <a:sym typeface="+mn-lt"/>
                    </a:endParaRPr>
                  </a:p>
                </p:txBody>
              </p:sp>
              <p:grpSp>
                <p:nvGrpSpPr>
                  <p:cNvPr id="25" name="组合 24"/>
                  <p:cNvGrpSpPr/>
                  <p:nvPr/>
                </p:nvGrpSpPr>
                <p:grpSpPr>
                  <a:xfrm>
                    <a:off x="1733201" y="4003433"/>
                    <a:ext cx="279105" cy="228600"/>
                    <a:chOff x="8770487" y="148403"/>
                    <a:chExt cx="906362" cy="742354"/>
                  </a:xfrm>
                  <a:solidFill>
                    <a:sysClr val="window" lastClr="FFFFFF">
                      <a:lumMod val="65000"/>
                    </a:sysClr>
                  </a:solidFill>
                </p:grpSpPr>
                <p:sp>
                  <p:nvSpPr>
                    <p:cNvPr id="26" name="Freeform 10"/>
                    <p:cNvSpPr>
                      <a:spLocks noEditPoints="1"/>
                    </p:cNvSpPr>
                    <p:nvPr/>
                  </p:nvSpPr>
                  <p:spPr bwMode="auto">
                    <a:xfrm>
                      <a:off x="8770487" y="148403"/>
                      <a:ext cx="644524" cy="589855"/>
                    </a:xfrm>
                    <a:custGeom>
                      <a:avLst/>
                      <a:gdLst>
                        <a:gd name="T0" fmla="*/ 412 w 432"/>
                        <a:gd name="T1" fmla="*/ 150 h 393"/>
                        <a:gd name="T2" fmla="*/ 432 w 432"/>
                        <a:gd name="T3" fmla="*/ 151 h 393"/>
                        <a:gd name="T4" fmla="*/ 215 w 432"/>
                        <a:gd name="T5" fmla="*/ 0 h 393"/>
                        <a:gd name="T6" fmla="*/ 0 w 432"/>
                        <a:gd name="T7" fmla="*/ 183 h 393"/>
                        <a:gd name="T8" fmla="*/ 86 w 432"/>
                        <a:gd name="T9" fmla="*/ 328 h 393"/>
                        <a:gd name="T10" fmla="*/ 65 w 432"/>
                        <a:gd name="T11" fmla="*/ 393 h 393"/>
                        <a:gd name="T12" fmla="*/ 140 w 432"/>
                        <a:gd name="T13" fmla="*/ 355 h 393"/>
                        <a:gd name="T14" fmla="*/ 215 w 432"/>
                        <a:gd name="T15" fmla="*/ 366 h 393"/>
                        <a:gd name="T16" fmla="*/ 235 w 432"/>
                        <a:gd name="T17" fmla="*/ 365 h 393"/>
                        <a:gd name="T18" fmla="*/ 229 w 432"/>
                        <a:gd name="T19" fmla="*/ 320 h 393"/>
                        <a:gd name="T20" fmla="*/ 412 w 432"/>
                        <a:gd name="T21" fmla="*/ 150 h 393"/>
                        <a:gd name="T22" fmla="*/ 296 w 432"/>
                        <a:gd name="T23" fmla="*/ 91 h 393"/>
                        <a:gd name="T24" fmla="*/ 323 w 432"/>
                        <a:gd name="T25" fmla="*/ 118 h 393"/>
                        <a:gd name="T26" fmla="*/ 296 w 432"/>
                        <a:gd name="T27" fmla="*/ 145 h 393"/>
                        <a:gd name="T28" fmla="*/ 264 w 432"/>
                        <a:gd name="T29" fmla="*/ 118 h 393"/>
                        <a:gd name="T30" fmla="*/ 296 w 432"/>
                        <a:gd name="T31" fmla="*/ 91 h 393"/>
                        <a:gd name="T32" fmla="*/ 145 w 432"/>
                        <a:gd name="T33" fmla="*/ 145 h 393"/>
                        <a:gd name="T34" fmla="*/ 113 w 432"/>
                        <a:gd name="T35" fmla="*/ 118 h 393"/>
                        <a:gd name="T36" fmla="*/ 145 w 432"/>
                        <a:gd name="T37" fmla="*/ 91 h 393"/>
                        <a:gd name="T38" fmla="*/ 172 w 432"/>
                        <a:gd name="T39" fmla="*/ 118 h 393"/>
                        <a:gd name="T40" fmla="*/ 145 w 432"/>
                        <a:gd name="T41" fmla="*/ 145 h 393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  <a:cxn ang="0">
                          <a:pos x="T30" y="T31"/>
                        </a:cxn>
                        <a:cxn ang="0">
                          <a:pos x="T32" y="T33"/>
                        </a:cxn>
                        <a:cxn ang="0">
                          <a:pos x="T34" y="T35"/>
                        </a:cxn>
                        <a:cxn ang="0">
                          <a:pos x="T36" y="T37"/>
                        </a:cxn>
                        <a:cxn ang="0">
                          <a:pos x="T38" y="T39"/>
                        </a:cxn>
                        <a:cxn ang="0">
                          <a:pos x="T40" y="T41"/>
                        </a:cxn>
                      </a:cxnLst>
                      <a:rect l="0" t="0" r="r" b="b"/>
                      <a:pathLst>
                        <a:path w="432" h="393">
                          <a:moveTo>
                            <a:pt x="412" y="150"/>
                          </a:moveTo>
                          <a:cubicBezTo>
                            <a:pt x="419" y="150"/>
                            <a:pt x="426" y="150"/>
                            <a:pt x="432" y="151"/>
                          </a:cubicBezTo>
                          <a:cubicBezTo>
                            <a:pt x="414" y="64"/>
                            <a:pt x="321" y="0"/>
                            <a:pt x="215" y="0"/>
                          </a:cubicBezTo>
                          <a:cubicBezTo>
                            <a:pt x="97" y="0"/>
                            <a:pt x="0" y="80"/>
                            <a:pt x="0" y="183"/>
                          </a:cubicBezTo>
                          <a:cubicBezTo>
                            <a:pt x="0" y="242"/>
                            <a:pt x="32" y="290"/>
                            <a:pt x="86" y="328"/>
                          </a:cubicBezTo>
                          <a:cubicBezTo>
                            <a:pt x="65" y="393"/>
                            <a:pt x="65" y="393"/>
                            <a:pt x="65" y="393"/>
                          </a:cubicBezTo>
                          <a:cubicBezTo>
                            <a:pt x="140" y="355"/>
                            <a:pt x="140" y="355"/>
                            <a:pt x="140" y="355"/>
                          </a:cubicBezTo>
                          <a:cubicBezTo>
                            <a:pt x="167" y="360"/>
                            <a:pt x="188" y="366"/>
                            <a:pt x="215" y="366"/>
                          </a:cubicBezTo>
                          <a:cubicBezTo>
                            <a:pt x="222" y="366"/>
                            <a:pt x="229" y="365"/>
                            <a:pt x="235" y="365"/>
                          </a:cubicBezTo>
                          <a:cubicBezTo>
                            <a:pt x="231" y="351"/>
                            <a:pt x="229" y="335"/>
                            <a:pt x="229" y="320"/>
                          </a:cubicBezTo>
                          <a:cubicBezTo>
                            <a:pt x="229" y="226"/>
                            <a:pt x="309" y="150"/>
                            <a:pt x="412" y="150"/>
                          </a:cubicBezTo>
                          <a:close/>
                          <a:moveTo>
                            <a:pt x="296" y="91"/>
                          </a:moveTo>
                          <a:cubicBezTo>
                            <a:pt x="312" y="91"/>
                            <a:pt x="323" y="102"/>
                            <a:pt x="323" y="118"/>
                          </a:cubicBezTo>
                          <a:cubicBezTo>
                            <a:pt x="323" y="134"/>
                            <a:pt x="312" y="145"/>
                            <a:pt x="296" y="145"/>
                          </a:cubicBezTo>
                          <a:cubicBezTo>
                            <a:pt x="280" y="145"/>
                            <a:pt x="264" y="134"/>
                            <a:pt x="264" y="118"/>
                          </a:cubicBezTo>
                          <a:cubicBezTo>
                            <a:pt x="264" y="102"/>
                            <a:pt x="280" y="91"/>
                            <a:pt x="296" y="91"/>
                          </a:cubicBezTo>
                          <a:close/>
                          <a:moveTo>
                            <a:pt x="145" y="145"/>
                          </a:moveTo>
                          <a:cubicBezTo>
                            <a:pt x="129" y="145"/>
                            <a:pt x="113" y="134"/>
                            <a:pt x="113" y="118"/>
                          </a:cubicBezTo>
                          <a:cubicBezTo>
                            <a:pt x="113" y="102"/>
                            <a:pt x="129" y="91"/>
                            <a:pt x="145" y="91"/>
                          </a:cubicBezTo>
                          <a:cubicBezTo>
                            <a:pt x="161" y="91"/>
                            <a:pt x="172" y="102"/>
                            <a:pt x="172" y="118"/>
                          </a:cubicBezTo>
                          <a:cubicBezTo>
                            <a:pt x="172" y="134"/>
                            <a:pt x="161" y="145"/>
                            <a:pt x="145" y="145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CN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uLnTx/>
                        <a:uFillTx/>
                        <a:cs typeface="+mn-ea"/>
                        <a:sym typeface="+mn-lt"/>
                      </a:endParaRPr>
                    </a:p>
                  </p:txBody>
                </p:sp>
                <p:sp>
                  <p:nvSpPr>
                    <p:cNvPr id="27" name="Freeform 11"/>
                    <p:cNvSpPr>
                      <a:spLocks noEditPoints="1"/>
                    </p:cNvSpPr>
                    <p:nvPr/>
                  </p:nvSpPr>
                  <p:spPr bwMode="auto">
                    <a:xfrm>
                      <a:off x="9131593" y="390100"/>
                      <a:ext cx="545256" cy="500657"/>
                    </a:xfrm>
                    <a:custGeom>
                      <a:avLst/>
                      <a:gdLst>
                        <a:gd name="T0" fmla="*/ 366 w 366"/>
                        <a:gd name="T1" fmla="*/ 156 h 334"/>
                        <a:gd name="T2" fmla="*/ 183 w 366"/>
                        <a:gd name="T3" fmla="*/ 0 h 334"/>
                        <a:gd name="T4" fmla="*/ 0 w 366"/>
                        <a:gd name="T5" fmla="*/ 156 h 334"/>
                        <a:gd name="T6" fmla="*/ 183 w 366"/>
                        <a:gd name="T7" fmla="*/ 312 h 334"/>
                        <a:gd name="T8" fmla="*/ 248 w 366"/>
                        <a:gd name="T9" fmla="*/ 302 h 334"/>
                        <a:gd name="T10" fmla="*/ 307 w 366"/>
                        <a:gd name="T11" fmla="*/ 334 h 334"/>
                        <a:gd name="T12" fmla="*/ 291 w 366"/>
                        <a:gd name="T13" fmla="*/ 280 h 334"/>
                        <a:gd name="T14" fmla="*/ 366 w 366"/>
                        <a:gd name="T15" fmla="*/ 156 h 334"/>
                        <a:gd name="T16" fmla="*/ 124 w 366"/>
                        <a:gd name="T17" fmla="*/ 129 h 334"/>
                        <a:gd name="T18" fmla="*/ 102 w 366"/>
                        <a:gd name="T19" fmla="*/ 108 h 334"/>
                        <a:gd name="T20" fmla="*/ 124 w 366"/>
                        <a:gd name="T21" fmla="*/ 86 h 334"/>
                        <a:gd name="T22" fmla="*/ 151 w 366"/>
                        <a:gd name="T23" fmla="*/ 108 h 334"/>
                        <a:gd name="T24" fmla="*/ 124 w 366"/>
                        <a:gd name="T25" fmla="*/ 129 h 334"/>
                        <a:gd name="T26" fmla="*/ 242 w 366"/>
                        <a:gd name="T27" fmla="*/ 129 h 334"/>
                        <a:gd name="T28" fmla="*/ 221 w 366"/>
                        <a:gd name="T29" fmla="*/ 108 h 334"/>
                        <a:gd name="T30" fmla="*/ 242 w 366"/>
                        <a:gd name="T31" fmla="*/ 86 h 334"/>
                        <a:gd name="T32" fmla="*/ 269 w 366"/>
                        <a:gd name="T33" fmla="*/ 108 h 334"/>
                        <a:gd name="T34" fmla="*/ 242 w 366"/>
                        <a:gd name="T35" fmla="*/ 129 h 334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  <a:cxn ang="0">
                          <a:pos x="T30" y="T31"/>
                        </a:cxn>
                        <a:cxn ang="0">
                          <a:pos x="T32" y="T33"/>
                        </a:cxn>
                        <a:cxn ang="0">
                          <a:pos x="T34" y="T35"/>
                        </a:cxn>
                      </a:cxnLst>
                      <a:rect l="0" t="0" r="r" b="b"/>
                      <a:pathLst>
                        <a:path w="366" h="334">
                          <a:moveTo>
                            <a:pt x="366" y="156"/>
                          </a:moveTo>
                          <a:cubicBezTo>
                            <a:pt x="366" y="70"/>
                            <a:pt x="280" y="0"/>
                            <a:pt x="183" y="0"/>
                          </a:cubicBezTo>
                          <a:cubicBezTo>
                            <a:pt x="81" y="0"/>
                            <a:pt x="0" y="70"/>
                            <a:pt x="0" y="156"/>
                          </a:cubicBezTo>
                          <a:cubicBezTo>
                            <a:pt x="0" y="242"/>
                            <a:pt x="81" y="312"/>
                            <a:pt x="183" y="312"/>
                          </a:cubicBezTo>
                          <a:cubicBezTo>
                            <a:pt x="205" y="312"/>
                            <a:pt x="226" y="307"/>
                            <a:pt x="248" y="302"/>
                          </a:cubicBezTo>
                          <a:cubicBezTo>
                            <a:pt x="307" y="334"/>
                            <a:pt x="307" y="334"/>
                            <a:pt x="307" y="334"/>
                          </a:cubicBezTo>
                          <a:cubicBezTo>
                            <a:pt x="291" y="280"/>
                            <a:pt x="291" y="280"/>
                            <a:pt x="291" y="280"/>
                          </a:cubicBezTo>
                          <a:cubicBezTo>
                            <a:pt x="334" y="248"/>
                            <a:pt x="366" y="205"/>
                            <a:pt x="366" y="156"/>
                          </a:cubicBezTo>
                          <a:close/>
                          <a:moveTo>
                            <a:pt x="124" y="129"/>
                          </a:moveTo>
                          <a:cubicBezTo>
                            <a:pt x="113" y="129"/>
                            <a:pt x="102" y="119"/>
                            <a:pt x="102" y="108"/>
                          </a:cubicBezTo>
                          <a:cubicBezTo>
                            <a:pt x="102" y="97"/>
                            <a:pt x="113" y="86"/>
                            <a:pt x="124" y="86"/>
                          </a:cubicBezTo>
                          <a:cubicBezTo>
                            <a:pt x="140" y="86"/>
                            <a:pt x="151" y="97"/>
                            <a:pt x="151" y="108"/>
                          </a:cubicBezTo>
                          <a:cubicBezTo>
                            <a:pt x="151" y="119"/>
                            <a:pt x="140" y="129"/>
                            <a:pt x="124" y="129"/>
                          </a:cubicBezTo>
                          <a:close/>
                          <a:moveTo>
                            <a:pt x="242" y="129"/>
                          </a:moveTo>
                          <a:cubicBezTo>
                            <a:pt x="232" y="129"/>
                            <a:pt x="221" y="119"/>
                            <a:pt x="221" y="108"/>
                          </a:cubicBezTo>
                          <a:cubicBezTo>
                            <a:pt x="221" y="97"/>
                            <a:pt x="232" y="86"/>
                            <a:pt x="242" y="86"/>
                          </a:cubicBezTo>
                          <a:cubicBezTo>
                            <a:pt x="258" y="86"/>
                            <a:pt x="269" y="97"/>
                            <a:pt x="269" y="108"/>
                          </a:cubicBezTo>
                          <a:cubicBezTo>
                            <a:pt x="269" y="119"/>
                            <a:pt x="258" y="129"/>
                            <a:pt x="242" y="129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CN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uLnTx/>
                        <a:uFillTx/>
                        <a:cs typeface="+mn-ea"/>
                        <a:sym typeface="+mn-lt"/>
                      </a:endParaRPr>
                    </a:p>
                  </p:txBody>
                </p:sp>
              </p:grpSp>
            </p:grpSp>
          </p:grpSp>
          <p:pic>
            <p:nvPicPr>
              <p:cNvPr id="13" name="图片 12"/>
              <p:cNvPicPr>
                <a:picLocks noChangeAspect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70139" y="5087859"/>
                <a:ext cx="412824" cy="412824"/>
              </a:xfrm>
              <a:prstGeom prst="rect">
                <a:avLst/>
              </a:prstGeom>
            </p:spPr>
          </p:pic>
        </p:grpSp>
        <p:pic>
          <p:nvPicPr>
            <p:cNvPr id="2" name="图片 1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87190" y="1498923"/>
              <a:ext cx="1308866" cy="1311610"/>
            </a:xfrm>
            <a:prstGeom prst="rect">
              <a:avLst/>
            </a:prstGeom>
          </p:spPr>
        </p:pic>
      </p:grpSp>
      <p:sp>
        <p:nvSpPr>
          <p:cNvPr id="4" name="矩形 3"/>
          <p:cNvSpPr/>
          <p:nvPr/>
        </p:nvSpPr>
        <p:spPr>
          <a:xfrm>
            <a:off x="206515" y="4048334"/>
            <a:ext cx="289213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cs typeface="+mn-ea"/>
                <a:sym typeface="+mn-lt"/>
              </a:rPr>
              <a:t>CSDN</a:t>
            </a: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cs typeface="+mn-ea"/>
                <a:sym typeface="+mn-lt"/>
              </a:rPr>
              <a:t>博客：</a:t>
            </a: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cs typeface="+mn-ea"/>
                <a:sym typeface="+mn-lt"/>
                <a:hlinkClick r:id="rId4"/>
              </a:rPr>
              <a:t>http://blog.csdn.net/cfhm_r</a:t>
            </a:r>
            <a:endParaRPr kumimoji="0" lang="en-US" altLang="zh-CN" sz="12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cs typeface="+mn-ea"/>
              <a:sym typeface="+mn-lt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cs typeface="+mn-ea"/>
                <a:sym typeface="+mn-lt"/>
              </a:rPr>
              <a:t>同步发布</a:t>
            </a:r>
            <a:r>
              <a: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cs typeface="+mn-ea"/>
                <a:sym typeface="+mn-lt"/>
              </a:rPr>
              <a:t>《C</a:t>
            </a: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cs typeface="+mn-ea"/>
                <a:sym typeface="+mn-lt"/>
              </a:rPr>
              <a:t>语言从入门到懵逼</a:t>
            </a:r>
            <a:r>
              <a: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cs typeface="+mn-ea"/>
                <a:sym typeface="+mn-lt"/>
              </a:rPr>
              <a:t>》</a:t>
            </a: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cs typeface="+mn-ea"/>
                <a:sym typeface="+mn-lt"/>
              </a:rPr>
              <a:t>系列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4997415" y="3632310"/>
            <a:ext cx="317266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cs typeface="+mn-ea"/>
                <a:sym typeface="+mn-lt"/>
              </a:rPr>
              <a:t>扫码关注网络开拓者公众号</a:t>
            </a:r>
            <a:endParaRPr kumimoji="0" lang="en-US" altLang="zh-CN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cs typeface="+mn-ea"/>
              <a:sym typeface="+mn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cs typeface="+mn-ea"/>
                <a:sym typeface="+mn-lt"/>
              </a:rPr>
              <a:t>获取本次串讲</a:t>
            </a:r>
            <a:r>
              <a:rPr kumimoji="0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cs typeface="+mn-ea"/>
                <a:sym typeface="+mn-lt"/>
              </a:rPr>
              <a:t>PPT</a:t>
            </a:r>
            <a:r>
              <a: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cs typeface="+mn-ea"/>
                <a:sym typeface="+mn-lt"/>
              </a:rPr>
              <a:t>及其他资源</a:t>
            </a:r>
            <a:endParaRPr kumimoji="0" lang="en-US" altLang="zh-CN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cs typeface="+mn-ea"/>
              <a:sym typeface="+mn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cs typeface="+mn-ea"/>
                <a:sym typeface="+mn-lt"/>
              </a:rPr>
              <a:t>还有更多精彩等着你！ 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77045" y="612252"/>
            <a:ext cx="3111810" cy="31118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4963414"/>
      </p:ext>
    </p:extLst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Temp">
      <a:majorFont>
        <a:latin typeface="Microsoft YaHei UI"/>
        <a:ea typeface="微软雅黑"/>
        <a:cs typeface=""/>
      </a:majorFont>
      <a:minorFont>
        <a:latin typeface="Microsoft YaHei UI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1A7BAE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1_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常用字体2">
      <a:majorFont>
        <a:latin typeface="Impact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1A7BAE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3068</TotalTime>
  <Words>2867</Words>
  <Application>Microsoft Office PowerPoint</Application>
  <PresentationFormat>全屏显示(16:9)</PresentationFormat>
  <Paragraphs>641</Paragraphs>
  <Slides>68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68</vt:i4>
      </vt:variant>
    </vt:vector>
  </HeadingPairs>
  <TitlesOfParts>
    <vt:vector size="79" baseType="lpstr">
      <vt:lpstr>Arial</vt:lpstr>
      <vt:lpstr>微软雅黑 Light</vt:lpstr>
      <vt:lpstr>宋体</vt:lpstr>
      <vt:lpstr>Impact</vt:lpstr>
      <vt:lpstr>微软雅黑</vt:lpstr>
      <vt:lpstr>Wingdings 3</vt:lpstr>
      <vt:lpstr>Calibri Light</vt:lpstr>
      <vt:lpstr>Microsoft YaHei UI</vt:lpstr>
      <vt:lpstr>Calibri</vt:lpstr>
      <vt:lpstr>Office 主题</vt:lpstr>
      <vt:lpstr>1_Office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Roy CFhM_R</dc:creator>
  <cp:lastModifiedBy>Roy CFhM_R</cp:lastModifiedBy>
  <cp:revision>644</cp:revision>
  <dcterms:modified xsi:type="dcterms:W3CDTF">2016-06-19T00:32:31Z</dcterms:modified>
</cp:coreProperties>
</file>