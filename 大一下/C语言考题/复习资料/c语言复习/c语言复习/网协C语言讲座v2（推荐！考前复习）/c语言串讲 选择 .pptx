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58" r:id="rId3"/>
    <p:sldId id="264" r:id="rId4"/>
    <p:sldId id="259" r:id="rId5"/>
    <p:sldId id="267" r:id="rId6"/>
    <p:sldId id="257" r:id="rId7"/>
    <p:sldId id="260" r:id="rId8"/>
    <p:sldId id="268" r:id="rId9"/>
    <p:sldId id="262" r:id="rId10"/>
    <p:sldId id="266" r:id="rId11"/>
    <p:sldId id="263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</p:sldIdLst>
  <p:sldSz cx="9144000" cy="6858000" type="screen4x3"/>
  <p:notesSz cx="6858000" cy="9144000"/>
  <p:custShowLst>
    <p:custShow name="自定义放映 1" id="0">
      <p:sldLst>
        <p:sld r:id="rId2"/>
        <p:sld r:id="rId3"/>
        <p:sld r:id="rId4"/>
        <p:sld r:id="rId5"/>
        <p:sld r:id="rId3"/>
        <p:sld r:id="rId7"/>
        <p:sld r:id="rId8"/>
        <p:sld r:id="rId3"/>
        <p:sld r:id="rId10"/>
        <p:sld r:id="rId12"/>
        <p:sld r:id="rId11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8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72107-AEB8-498D-848F-89119DF01FC0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EBE-6B26-4CC1-A7E6-0950E2948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05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0</a:t>
            </a:r>
            <a:r>
              <a:rPr lang="zh-CN" altLang="en-US" dirty="0" smtClean="0"/>
              <a:t>后面跟数字是可以定义八进制数，但是</a:t>
            </a:r>
            <a:r>
              <a:rPr lang="en-US" altLang="zh-CN" dirty="0" smtClean="0"/>
              <a:t>0582</a:t>
            </a:r>
            <a:r>
              <a:rPr lang="zh-CN" altLang="en-US" dirty="0" smtClean="0"/>
              <a:t>不是合法的八进制数，因为八进制只有</a:t>
            </a:r>
            <a:r>
              <a:rPr lang="en-US" altLang="zh-CN" dirty="0" smtClean="0"/>
              <a:t>0</a:t>
            </a:r>
            <a:r>
              <a:rPr lang="zh-CN" altLang="en-US" dirty="0" smtClean="0"/>
              <a:t>到</a:t>
            </a:r>
            <a:r>
              <a:rPr lang="en-US" altLang="zh-CN" dirty="0" smtClean="0"/>
              <a:t>7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348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</a:t>
            </a:r>
            <a:r>
              <a:rPr lang="zh-CN" altLang="en-US" dirty="0" smtClean="0"/>
              <a:t>：字符串直接赋值只能在初始化时候</a:t>
            </a:r>
            <a:endParaRPr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B</a:t>
            </a:r>
            <a:r>
              <a:rPr lang="zh-CN" altLang="en-US" dirty="0" smtClean="0"/>
              <a:t>：</a:t>
            </a:r>
            <a:r>
              <a:rPr lang="en-US" altLang="zh-CN" sz="2400" dirty="0" smtClean="0"/>
              <a:t>s={“Olympic”}; </a:t>
            </a:r>
            <a:r>
              <a:rPr lang="zh-CN" altLang="en-US" sz="2400" dirty="0" smtClean="0"/>
              <a:t>不需要花括号，若是去掉花括号便是正确的</a:t>
            </a:r>
            <a:endParaRPr lang="en-US" altLang="zh-CN" sz="240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：数组的</a:t>
            </a:r>
            <a:r>
              <a:rPr lang="en-US" altLang="zh-CN" sz="2400" dirty="0" smtClean="0"/>
              <a:t>s</a:t>
            </a:r>
            <a:r>
              <a:rPr lang="zh-CN" altLang="en-US" sz="2400" dirty="0" smtClean="0"/>
              <a:t>是指针常量，不能赋值</a:t>
            </a:r>
            <a:endParaRPr lang="en-US" altLang="zh-CN" sz="240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 smtClean="0"/>
              <a:t>D</a:t>
            </a:r>
            <a:r>
              <a:rPr lang="zh-CN" altLang="en-US" sz="2400" dirty="0" smtClean="0"/>
              <a:t>：正确，</a:t>
            </a:r>
            <a:r>
              <a:rPr lang="en-US" altLang="zh-CN" sz="2400" dirty="0" smtClean="0"/>
              <a:t>s</a:t>
            </a:r>
            <a:r>
              <a:rPr lang="zh-CN" altLang="en-US" sz="2400" dirty="0" smtClean="0"/>
              <a:t>为指针变量，指向了字符串</a:t>
            </a:r>
            <a:r>
              <a:rPr lang="en-US" altLang="zh-CN" sz="2400" dirty="0" smtClean="0"/>
              <a:t>"Olympic"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86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 smtClean="0"/>
              <a:t>(x&gt;y)</a:t>
            </a:r>
            <a:r>
              <a:rPr lang="zh-CN" altLang="en-US" sz="2400" dirty="0" smtClean="0"/>
              <a:t>不满足，</a:t>
            </a:r>
            <a:r>
              <a:rPr lang="en-US" altLang="zh-CN" sz="2400" dirty="0" smtClean="0"/>
              <a:t>y</a:t>
            </a:r>
            <a:r>
              <a:rPr lang="zh-CN" altLang="en-US" sz="2400" dirty="0" smtClean="0"/>
              <a:t>赋值给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z</a:t>
            </a:r>
            <a:r>
              <a:rPr lang="zh-CN" altLang="en-US" sz="2400" dirty="0" smtClean="0"/>
              <a:t>赋值给</a:t>
            </a:r>
            <a:r>
              <a:rPr lang="en-US" altLang="zh-CN" sz="2400" dirty="0" smtClean="0"/>
              <a:t>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605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/>
              <a:t>方法：写变量逐步跟走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366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/>
              <a:t>形参与实参，复制副本</a:t>
            </a:r>
            <a:endParaRPr lang="en-US" altLang="zh-CN" sz="2400" dirty="0" smtClean="0"/>
          </a:p>
          <a:p>
            <a:r>
              <a:rPr lang="zh-CN" altLang="en-US" sz="2400" dirty="0" smtClean="0"/>
              <a:t>指针变量用作形参，传递地址，直接操作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408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280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/>
              <a:t>除了</a:t>
            </a:r>
            <a:r>
              <a:rPr lang="en-US" altLang="zh-CN" sz="2400" dirty="0" smtClean="0"/>
              <a:t>void</a:t>
            </a:r>
            <a:r>
              <a:rPr lang="zh-CN" altLang="en-US" sz="2400" dirty="0" smtClean="0"/>
              <a:t>类型以外的函数必须要有有</a:t>
            </a:r>
            <a:r>
              <a:rPr lang="en-US" altLang="zh-CN" sz="2400" dirty="0" smtClean="0"/>
              <a:t>return</a:t>
            </a:r>
          </a:p>
          <a:p>
            <a:r>
              <a:rPr lang="en-US" altLang="zh-CN" sz="2400" dirty="0" smtClean="0"/>
              <a:t>void</a:t>
            </a:r>
            <a:r>
              <a:rPr lang="zh-CN" altLang="en-US" sz="2400" dirty="0" smtClean="0"/>
              <a:t>类型可以有也可以没有，有的时候</a:t>
            </a:r>
            <a:r>
              <a:rPr lang="en-US" altLang="zh-CN" sz="2400" dirty="0" smtClean="0"/>
              <a:t>return</a:t>
            </a:r>
            <a:r>
              <a:rPr lang="zh-CN" altLang="en-US" sz="2400" baseline="0" dirty="0" smtClean="0"/>
              <a:t>后面不能跟表达式，</a:t>
            </a:r>
            <a:r>
              <a:rPr lang="zh-CN" altLang="en-US" sz="2400" dirty="0" smtClean="0"/>
              <a:t>可以用来终止函数</a:t>
            </a:r>
            <a:endParaRPr lang="en-US" altLang="zh-CN" sz="2400" dirty="0" smtClean="0"/>
          </a:p>
          <a:p>
            <a:r>
              <a:rPr lang="zh-CN" altLang="en-US" sz="2400" dirty="0" smtClean="0"/>
              <a:t>函数调用只能返回一个函数值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19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985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81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952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 smtClean="0"/>
              <a:t>&amp;a</a:t>
            </a:r>
            <a:r>
              <a:rPr lang="zh-CN" altLang="en-US" sz="2400" dirty="0" smtClean="0"/>
              <a:t>为取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的地址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赋给指针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，对的</a:t>
            </a:r>
            <a:br>
              <a:rPr lang="zh-CN" altLang="en-US" sz="2400" dirty="0" smtClean="0"/>
            </a:br>
            <a:r>
              <a:rPr lang="zh-CN" altLang="en-US" sz="2400" dirty="0" smtClean="0"/>
              <a:t>你再去指针的地址</a:t>
            </a:r>
            <a:r>
              <a:rPr lang="en-US" altLang="zh-CN" sz="2400" dirty="0" smtClean="0"/>
              <a:t>&amp;b</a:t>
            </a:r>
            <a:r>
              <a:rPr lang="zh-CN" altLang="en-US" sz="2400" dirty="0" smtClean="0"/>
              <a:t>赋给一个一维指针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就错了</a:t>
            </a:r>
            <a:r>
              <a:rPr lang="en-US" altLang="zh-CN" sz="2400" dirty="0" smtClean="0"/>
              <a:t>·</a:t>
            </a:r>
            <a:br>
              <a:rPr lang="en-US" altLang="zh-CN" sz="2400" dirty="0" smtClean="0"/>
            </a:br>
            <a:r>
              <a:rPr lang="zh-CN" altLang="en-US" sz="2400" dirty="0" smtClean="0"/>
              <a:t>这里的需要这样**</a:t>
            </a:r>
            <a:r>
              <a:rPr lang="en-US" altLang="zh-CN" sz="2400" dirty="0" smtClean="0"/>
              <a:t>c = &amp;b;</a:t>
            </a:r>
          </a:p>
          <a:p>
            <a:endParaRPr lang="en-US" altLang="zh-CN" sz="2400" dirty="0" smtClean="0"/>
          </a:p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354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805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31EBE-6B26-4CC1-A7E6-0950E294847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10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42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232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360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893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37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360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109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40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45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071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28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82D29-BC88-4150-A547-E8F3BF73C03B}" type="datetimeFigureOut">
              <a:rPr lang="zh-CN" altLang="en-US" smtClean="0"/>
              <a:t>2013/6/8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59F2F-D3F3-46F7-9915-4E8865447C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9186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536" y="5621787"/>
            <a:ext cx="2632711" cy="105350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026623" y="117524"/>
            <a:ext cx="7772400" cy="2387600"/>
          </a:xfrm>
          <a:effectLst/>
        </p:spPr>
        <p:txBody>
          <a:bodyPr>
            <a:normAutofit/>
          </a:bodyPr>
          <a:lstStyle/>
          <a:p>
            <a:r>
              <a:rPr lang="en-US" altLang="zh-CN" sz="4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440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语言串讲之</a:t>
            </a:r>
            <a:endParaRPr lang="zh-CN" altLang="en-US" sz="8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89509" y="2505124"/>
            <a:ext cx="389241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选择题</a:t>
            </a:r>
          </a:p>
        </p:txBody>
      </p:sp>
    </p:spTree>
    <p:extLst>
      <p:ext uri="{BB962C8B-B14F-4D97-AF65-F5344CB8AC3E}">
        <p14:creationId xmlns:p14="http://schemas.microsoft.com/office/powerpoint/2010/main" val="18218945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54975"/>
            <a:ext cx="7886700" cy="4821988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00B0F0"/>
                </a:solidFill>
              </a:rPr>
              <a:t>概念题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r>
              <a:rPr lang="zh-CN" altLang="en-US" dirty="0" smtClean="0">
                <a:solidFill>
                  <a:srgbClr val="00B0F0"/>
                </a:solidFill>
              </a:rPr>
              <a:t>语法</a:t>
            </a:r>
            <a:r>
              <a:rPr lang="zh-CN" altLang="en-US" dirty="0" smtClean="0">
                <a:solidFill>
                  <a:srgbClr val="00B0F0"/>
                </a:solidFill>
              </a:rPr>
              <a:t>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r>
              <a:rPr lang="zh-CN" altLang="en-US" dirty="0" smtClean="0">
                <a:solidFill>
                  <a:srgbClr val="00B0F0"/>
                </a:solidFill>
              </a:rPr>
              <a:t>读</a:t>
            </a:r>
            <a:r>
              <a:rPr lang="zh-CN" altLang="en-US" dirty="0" smtClean="0">
                <a:solidFill>
                  <a:srgbClr val="00B0F0"/>
                </a:solidFill>
              </a:rPr>
              <a:t>程序题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 lvl="1"/>
            <a:endParaRPr lang="zh-CN" altLang="en-US" sz="2000" dirty="0">
              <a:solidFill>
                <a:srgbClr val="00B0F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39339" y="1905687"/>
            <a:ext cx="4572000" cy="10515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prstClr val="white"/>
                </a:solidFill>
              </a:rPr>
              <a:t>C</a:t>
            </a:r>
            <a:r>
              <a:rPr lang="zh-CN" altLang="en-US" sz="2000" dirty="0">
                <a:solidFill>
                  <a:prstClr val="white"/>
                </a:solidFill>
              </a:rPr>
              <a:t>语言本身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函数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链表</a:t>
            </a:r>
            <a:endParaRPr lang="en-US" altLang="zh-CN" sz="2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3986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81481E-6 L -3.05556E-6 0.1666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0.00312 0.16111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80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概念题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753985"/>
            <a:ext cx="8712642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b="1" dirty="0" smtClean="0"/>
              <a:t>C </a:t>
            </a:r>
            <a:r>
              <a:rPr lang="zh-CN" altLang="en-US" sz="2800" b="1" dirty="0"/>
              <a:t>语言中字符型 </a:t>
            </a:r>
            <a:r>
              <a:rPr lang="en-US" altLang="zh-CN" sz="2800" b="1" dirty="0"/>
              <a:t>(char) </a:t>
            </a:r>
            <a:r>
              <a:rPr lang="zh-CN" altLang="en-US" sz="2800" b="1" dirty="0"/>
              <a:t>数据在内存中存储的</a:t>
            </a:r>
            <a:r>
              <a:rPr lang="zh-CN" altLang="en-US" sz="2800" b="1" dirty="0" smtClean="0"/>
              <a:t>是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pPr lvl="1">
              <a:lnSpc>
                <a:spcPct val="300000"/>
              </a:lnSpc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：原码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：补码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>
                <a:solidFill>
                  <a:srgbClr val="FFFF00"/>
                </a:solidFill>
              </a:rPr>
              <a:t>C</a:t>
            </a:r>
            <a:r>
              <a:rPr lang="zh-CN" altLang="en-US" sz="2400" dirty="0" smtClean="0">
                <a:solidFill>
                  <a:srgbClr val="FFFF00"/>
                </a:solidFill>
              </a:rPr>
              <a:t>：</a:t>
            </a:r>
            <a:r>
              <a:rPr lang="en-US" altLang="zh-CN" sz="2400" dirty="0" smtClean="0">
                <a:solidFill>
                  <a:srgbClr val="FFFF00"/>
                </a:solidFill>
              </a:rPr>
              <a:t>ASCII</a:t>
            </a:r>
            <a:r>
              <a:rPr lang="zh-CN" altLang="en-US" sz="2400" dirty="0" smtClean="0">
                <a:solidFill>
                  <a:srgbClr val="FFFF00"/>
                </a:solidFill>
              </a:rPr>
              <a:t>码</a:t>
            </a:r>
            <a:endParaRPr lang="en-US" altLang="zh-CN" sz="2400" dirty="0" smtClean="0">
              <a:solidFill>
                <a:srgbClr val="FFFF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altLang="zh-CN" sz="2400" dirty="0"/>
              <a:t>D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反码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21632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概念题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753985"/>
            <a:ext cx="8026621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800" b="1" dirty="0"/>
              <a:t>以下关于 </a:t>
            </a:r>
            <a:r>
              <a:rPr lang="en-US" altLang="zh-CN" sz="2800" b="1" dirty="0"/>
              <a:t>return </a:t>
            </a:r>
            <a:r>
              <a:rPr lang="zh-CN" altLang="en-US" sz="2800" b="1" dirty="0"/>
              <a:t>语句的叙述中，正确的</a:t>
            </a:r>
            <a:r>
              <a:rPr lang="zh-CN" altLang="en-US" sz="2800" b="1" dirty="0" smtClean="0"/>
              <a:t>是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pPr lvl="1">
              <a:lnSpc>
                <a:spcPct val="300000"/>
              </a:lnSpc>
            </a:pPr>
            <a:r>
              <a:rPr lang="en-US" altLang="zh-CN" sz="2000" dirty="0" smtClean="0"/>
              <a:t>A</a:t>
            </a:r>
            <a:r>
              <a:rPr lang="zh-CN" altLang="en-US" sz="2000" dirty="0"/>
              <a:t>：定义为 </a:t>
            </a:r>
            <a:r>
              <a:rPr lang="en-US" altLang="zh-CN" sz="2000" dirty="0"/>
              <a:t>void </a:t>
            </a:r>
            <a:r>
              <a:rPr lang="zh-CN" altLang="en-US" sz="2000" dirty="0"/>
              <a:t>类型的函数中可以有带返回值的 </a:t>
            </a:r>
            <a:r>
              <a:rPr lang="en-US" altLang="zh-CN" sz="2000" dirty="0"/>
              <a:t>return </a:t>
            </a:r>
            <a:r>
              <a:rPr lang="zh-CN" altLang="en-US" sz="2000" dirty="0"/>
              <a:t>语句 </a:t>
            </a:r>
            <a:endParaRPr lang="en-US" altLang="zh-CN" sz="2000" dirty="0" smtClean="0"/>
          </a:p>
          <a:p>
            <a:pPr lvl="1">
              <a:lnSpc>
                <a:spcPct val="200000"/>
              </a:lnSpc>
            </a:pPr>
            <a:r>
              <a:rPr lang="en-US" altLang="zh-CN" sz="2000" dirty="0" smtClean="0"/>
              <a:t>B</a:t>
            </a:r>
            <a:r>
              <a:rPr lang="zh-CN" altLang="en-US" sz="2000" dirty="0"/>
              <a:t>：一个自定义函数中必须有一条 </a:t>
            </a:r>
            <a:r>
              <a:rPr lang="en-US" altLang="zh-CN" sz="2000" dirty="0"/>
              <a:t>return </a:t>
            </a:r>
            <a:r>
              <a:rPr lang="zh-CN" altLang="en-US" sz="2000" dirty="0"/>
              <a:t>语句 </a:t>
            </a:r>
            <a:endParaRPr lang="en-US" altLang="zh-CN" sz="2000" dirty="0" smtClean="0"/>
          </a:p>
          <a:p>
            <a:pPr lvl="1">
              <a:lnSpc>
                <a:spcPct val="200000"/>
              </a:lnSpc>
            </a:pPr>
            <a:r>
              <a:rPr lang="en-US" altLang="zh-CN" sz="2000" dirty="0" smtClean="0"/>
              <a:t>C</a:t>
            </a:r>
            <a:r>
              <a:rPr lang="zh-CN" altLang="en-US" sz="2000" dirty="0"/>
              <a:t>：没有 </a:t>
            </a:r>
            <a:r>
              <a:rPr lang="en-US" altLang="zh-CN" sz="2000" dirty="0"/>
              <a:t>return </a:t>
            </a:r>
            <a:r>
              <a:rPr lang="zh-CN" altLang="en-US" sz="2000" dirty="0"/>
              <a:t>语句的自定义函数在执行结束时不能返回到调用处 </a:t>
            </a:r>
            <a:endParaRPr lang="en-US" altLang="zh-CN" sz="2000" dirty="0" smtClean="0"/>
          </a:p>
          <a:p>
            <a:pPr lvl="1">
              <a:lnSpc>
                <a:spcPct val="200000"/>
              </a:lnSpc>
            </a:pPr>
            <a:r>
              <a:rPr lang="en-US" altLang="zh-CN" sz="2000" dirty="0">
                <a:solidFill>
                  <a:srgbClr val="FFFF00"/>
                </a:solidFill>
              </a:rPr>
              <a:t>D</a:t>
            </a:r>
            <a:r>
              <a:rPr lang="zh-CN" altLang="en-US" sz="2000" dirty="0">
                <a:solidFill>
                  <a:srgbClr val="FFFF00"/>
                </a:solidFill>
              </a:rPr>
              <a:t>：一个自定义函数中可以根据不同情况设置多条 </a:t>
            </a:r>
            <a:r>
              <a:rPr lang="en-US" altLang="zh-CN" sz="2000" dirty="0">
                <a:solidFill>
                  <a:srgbClr val="FFFF00"/>
                </a:solidFill>
              </a:rPr>
              <a:t>return </a:t>
            </a:r>
            <a:r>
              <a:rPr lang="zh-CN" altLang="en-US" sz="2000" dirty="0" smtClean="0">
                <a:solidFill>
                  <a:srgbClr val="FFFF00"/>
                </a:solidFill>
              </a:rPr>
              <a:t>语句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57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98391"/>
            <a:ext cx="7886700" cy="4821988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00B0F0"/>
                </a:solidFill>
              </a:rPr>
              <a:t>概念题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 lvl="1"/>
            <a:r>
              <a:rPr lang="en-US" altLang="zh-CN" sz="2000" dirty="0" smtClean="0"/>
              <a:t>C</a:t>
            </a:r>
            <a:r>
              <a:rPr lang="zh-CN" altLang="en-US" sz="2000" dirty="0" smtClean="0"/>
              <a:t>语言本身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函数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链表</a:t>
            </a:r>
            <a:endParaRPr lang="en-US" altLang="zh-CN" sz="2000" dirty="0" smtClean="0"/>
          </a:p>
          <a:p>
            <a:r>
              <a:rPr lang="zh-CN" altLang="en-US" dirty="0">
                <a:solidFill>
                  <a:srgbClr val="00B0F0"/>
                </a:solidFill>
              </a:rPr>
              <a:t>语法</a:t>
            </a:r>
            <a:r>
              <a:rPr lang="zh-CN" altLang="en-US" dirty="0" smtClean="0">
                <a:solidFill>
                  <a:srgbClr val="00B0F0"/>
                </a:solidFill>
              </a:rPr>
              <a:t>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r>
              <a:rPr lang="zh-CN" altLang="en-US" dirty="0" smtClean="0">
                <a:solidFill>
                  <a:srgbClr val="00B0F0"/>
                </a:solidFill>
              </a:rPr>
              <a:t>读</a:t>
            </a:r>
            <a:r>
              <a:rPr lang="zh-CN" altLang="en-US" dirty="0" smtClean="0">
                <a:solidFill>
                  <a:srgbClr val="00B0F0"/>
                </a:solidFill>
              </a:rPr>
              <a:t>程序题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 lvl="1"/>
            <a:endParaRPr lang="zh-CN" altLang="en-US" sz="2000" dirty="0">
              <a:solidFill>
                <a:srgbClr val="00B0F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28650" y="3280919"/>
            <a:ext cx="4572000" cy="2416046"/>
          </a:xfrm>
          <a:prstGeom prst="rect">
            <a:avLst/>
          </a:prstGeom>
        </p:spPr>
        <p:txBody>
          <a:bodyPr>
            <a:spAutoFit/>
          </a:bodyPr>
          <a:lstStyle/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基本数据类型与表达式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输入输出语句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顺序，选择，循环结构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函数与宏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数组与字符串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指针</a:t>
            </a:r>
            <a:endParaRPr lang="en-US" altLang="zh-CN" sz="2000" dirty="0">
              <a:solidFill>
                <a:prstClr val="white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/>
                </a:solidFill>
              </a:rPr>
              <a:t>结构</a:t>
            </a:r>
            <a:endParaRPr lang="en-US" altLang="zh-CN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3596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2.5E-6 0.3416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语法题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720735"/>
            <a:ext cx="6492483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800" b="1" dirty="0"/>
              <a:t>下列常数中不能作为 </a:t>
            </a:r>
            <a:r>
              <a:rPr lang="en-US" altLang="zh-CN" sz="2800" b="1" dirty="0"/>
              <a:t>C </a:t>
            </a:r>
            <a:r>
              <a:rPr lang="zh-CN" altLang="en-US" sz="2800" b="1" dirty="0"/>
              <a:t>的常量的</a:t>
            </a:r>
            <a:r>
              <a:rPr lang="zh-CN" altLang="en-US" sz="2800" b="1" dirty="0" smtClean="0"/>
              <a:t>是</a:t>
            </a:r>
            <a:endParaRPr lang="en-US" altLang="zh-CN" sz="2800" b="1" dirty="0" smtClean="0"/>
          </a:p>
          <a:p>
            <a:endParaRPr lang="zh-CN" altLang="en-US" sz="2800" b="1" dirty="0"/>
          </a:p>
          <a:p>
            <a:pPr lvl="1">
              <a:lnSpc>
                <a:spcPct val="300000"/>
              </a:lnSpc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2.5e-2 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3e2 </a:t>
            </a:r>
          </a:p>
          <a:p>
            <a:pPr lvl="1">
              <a:lnSpc>
                <a:spcPct val="200000"/>
              </a:lnSpc>
            </a:pPr>
            <a:r>
              <a:rPr lang="en-US" altLang="zh-CN" sz="2400" dirty="0" smtClean="0">
                <a:solidFill>
                  <a:srgbClr val="FFFF00"/>
                </a:solidFill>
              </a:rPr>
              <a:t>C</a:t>
            </a:r>
            <a:r>
              <a:rPr lang="zh-CN" altLang="en-US" sz="2400" dirty="0" smtClean="0">
                <a:solidFill>
                  <a:srgbClr val="FFFF00"/>
                </a:solidFill>
              </a:rPr>
              <a:t>：</a:t>
            </a:r>
            <a:r>
              <a:rPr lang="en-US" altLang="zh-CN" sz="2400" dirty="0">
                <a:solidFill>
                  <a:srgbClr val="FFFF00"/>
                </a:solidFill>
              </a:rPr>
              <a:t>0582</a:t>
            </a:r>
            <a:endParaRPr lang="en-US" altLang="zh-CN" sz="2400" dirty="0" smtClean="0">
              <a:solidFill>
                <a:srgbClr val="FFFF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altLang="zh-CN" sz="2400" dirty="0"/>
              <a:t>D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0xA5 </a:t>
            </a:r>
          </a:p>
        </p:txBody>
      </p:sp>
    </p:spTree>
    <p:extLst>
      <p:ext uri="{BB962C8B-B14F-4D97-AF65-F5344CB8AC3E}">
        <p14:creationId xmlns:p14="http://schemas.microsoft.com/office/powerpoint/2010/main" val="13412478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语法题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704109"/>
            <a:ext cx="5056192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800" b="1" dirty="0"/>
              <a:t>下列语句组中，正确的</a:t>
            </a:r>
            <a:r>
              <a:rPr lang="zh-CN" altLang="en-US" sz="2800" b="1" dirty="0" smtClean="0"/>
              <a:t>是</a:t>
            </a:r>
            <a:endParaRPr lang="en-US" altLang="zh-CN" sz="2800" b="1" dirty="0" smtClean="0"/>
          </a:p>
          <a:p>
            <a:endParaRPr lang="zh-CN" altLang="en-US" sz="2800" b="1" dirty="0"/>
          </a:p>
          <a:p>
            <a:pPr lvl="1">
              <a:lnSpc>
                <a:spcPct val="300000"/>
              </a:lnSpc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char s[7]; s="Olympic";  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char * s; s={"Olympic"}; 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char s[7]; s={"Olympic"};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 smtClean="0">
                <a:solidFill>
                  <a:srgbClr val="FFFF00"/>
                </a:solidFill>
              </a:rPr>
              <a:t>D</a:t>
            </a:r>
            <a:r>
              <a:rPr lang="zh-CN" altLang="en-US" sz="2400" dirty="0" smtClean="0">
                <a:solidFill>
                  <a:srgbClr val="FFFF00"/>
                </a:solidFill>
              </a:rPr>
              <a:t>：</a:t>
            </a:r>
            <a:r>
              <a:rPr lang="en-US" altLang="zh-CN" sz="2400" dirty="0">
                <a:solidFill>
                  <a:srgbClr val="FFFF00"/>
                </a:solidFill>
              </a:rPr>
              <a:t>char * s; s="Olympic";  </a:t>
            </a:r>
            <a:endParaRPr lang="en-US" altLang="zh-CN" sz="2400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3565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54975"/>
            <a:ext cx="7886700" cy="4821988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solidFill>
                  <a:srgbClr val="00B0F0"/>
                </a:solidFill>
              </a:rPr>
              <a:t>概念题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 lvl="1"/>
            <a:r>
              <a:rPr lang="en-US" altLang="zh-CN" sz="2000" dirty="0" smtClean="0"/>
              <a:t>C</a:t>
            </a:r>
            <a:r>
              <a:rPr lang="zh-CN" altLang="en-US" sz="2000" dirty="0" smtClean="0"/>
              <a:t>语言本身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函数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链表</a:t>
            </a:r>
            <a:endParaRPr lang="en-US" altLang="zh-CN" sz="2000" dirty="0" smtClean="0"/>
          </a:p>
          <a:p>
            <a:r>
              <a:rPr lang="zh-CN" altLang="en-US" dirty="0">
                <a:solidFill>
                  <a:srgbClr val="00B0F0"/>
                </a:solidFill>
              </a:rPr>
              <a:t>语法</a:t>
            </a:r>
            <a:r>
              <a:rPr lang="zh-CN" altLang="en-US" dirty="0" smtClean="0">
                <a:solidFill>
                  <a:srgbClr val="00B0F0"/>
                </a:solidFill>
              </a:rPr>
              <a:t>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 lvl="1"/>
            <a:r>
              <a:rPr lang="zh-CN" altLang="en-US" sz="2000" dirty="0"/>
              <a:t>基本</a:t>
            </a:r>
            <a:r>
              <a:rPr lang="zh-CN" altLang="en-US" sz="2000" dirty="0" smtClean="0"/>
              <a:t>数据类型与表达式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输入输出语句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顺序，选择，循环结构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函数与宏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数组与字符串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指针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结构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B0F0"/>
                </a:solidFill>
              </a:rPr>
              <a:t>读程序题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 lvl="1"/>
            <a:endParaRPr lang="zh-CN" altLang="en-US" sz="2000" dirty="0">
              <a:solidFill>
                <a:srgbClr val="00B0F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21196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读程序题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645920"/>
            <a:ext cx="8164415" cy="4568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600" b="1" dirty="0"/>
              <a:t>执行下列程序段后，</a:t>
            </a:r>
            <a:r>
              <a:rPr lang="en-US" altLang="zh-CN" sz="2600" b="1" dirty="0"/>
              <a:t>x</a:t>
            </a:r>
            <a:r>
              <a:rPr lang="zh-CN" altLang="en-US" sz="2600" b="1" dirty="0"/>
              <a:t>、</a:t>
            </a:r>
            <a:r>
              <a:rPr lang="en-US" altLang="zh-CN" sz="2600" b="1" dirty="0"/>
              <a:t>y</a:t>
            </a:r>
            <a:r>
              <a:rPr lang="zh-CN" altLang="en-US" sz="2600" b="1" dirty="0"/>
              <a:t>和</a:t>
            </a:r>
            <a:r>
              <a:rPr lang="en-US" altLang="zh-CN" sz="2600" b="1" dirty="0"/>
              <a:t>z</a:t>
            </a:r>
            <a:r>
              <a:rPr lang="zh-CN" altLang="en-US" sz="2600" b="1" dirty="0"/>
              <a:t>的值分别是</a:t>
            </a:r>
            <a:r>
              <a:rPr lang="en-US" altLang="zh-CN" sz="2600" b="1" dirty="0"/>
              <a:t>______</a:t>
            </a:r>
            <a:r>
              <a:rPr lang="zh-CN" altLang="en-US" sz="2600" b="1" dirty="0" smtClean="0"/>
              <a:t>。</a:t>
            </a:r>
            <a:endParaRPr lang="en-US" altLang="zh-CN" sz="2600" b="1" dirty="0" smtClean="0"/>
          </a:p>
          <a:p>
            <a:pPr lvl="2"/>
            <a:r>
              <a:rPr lang="es-ES" altLang="zh-CN" sz="2600" b="1" dirty="0"/>
              <a:t>int x = 10, y = 20, z = 30</a:t>
            </a:r>
            <a:r>
              <a:rPr lang="es-ES" altLang="zh-CN" sz="2600" b="1" dirty="0" smtClean="0"/>
              <a:t>;</a:t>
            </a:r>
          </a:p>
          <a:p>
            <a:pPr lvl="2"/>
            <a:r>
              <a:rPr lang="es-ES" altLang="zh-CN" sz="2600" b="1" dirty="0" smtClean="0"/>
              <a:t>if </a:t>
            </a:r>
            <a:r>
              <a:rPr lang="es-ES" altLang="zh-CN" sz="2600" b="1" dirty="0"/>
              <a:t>(x &gt; y) z = x</a:t>
            </a:r>
            <a:r>
              <a:rPr lang="es-ES" altLang="zh-CN" sz="2600" b="1" dirty="0" smtClean="0"/>
              <a:t>; x </a:t>
            </a:r>
            <a:r>
              <a:rPr lang="es-ES" altLang="zh-CN" sz="2600" b="1" dirty="0"/>
              <a:t>= y; y = z</a:t>
            </a:r>
            <a:r>
              <a:rPr lang="es-ES" altLang="zh-CN" sz="2600" b="1" dirty="0" smtClean="0"/>
              <a:t>;</a:t>
            </a:r>
          </a:p>
          <a:p>
            <a:pPr lvl="2"/>
            <a:endParaRPr lang="zh-CN" altLang="en-US" sz="2800" b="1" dirty="0"/>
          </a:p>
          <a:p>
            <a:pPr lvl="1">
              <a:lnSpc>
                <a:spcPct val="200000"/>
              </a:lnSpc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20, 30, 20   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 20, 30, 10 </a:t>
            </a:r>
            <a:endParaRPr lang="en-US" altLang="zh-CN" sz="2400" dirty="0" smtClean="0"/>
          </a:p>
          <a:p>
            <a:pPr lvl="1">
              <a:lnSpc>
                <a:spcPct val="200000"/>
              </a:lnSpc>
            </a:pPr>
            <a:r>
              <a:rPr lang="en-US" altLang="zh-CN" sz="2400" dirty="0" smtClean="0">
                <a:solidFill>
                  <a:srgbClr val="FFFF00"/>
                </a:solidFill>
              </a:rPr>
              <a:t>C</a:t>
            </a:r>
            <a:r>
              <a:rPr lang="zh-CN" altLang="en-US" sz="2400" dirty="0" smtClean="0">
                <a:solidFill>
                  <a:srgbClr val="FFFF00"/>
                </a:solidFill>
              </a:rPr>
              <a:t>：</a:t>
            </a:r>
            <a:r>
              <a:rPr lang="en-US" altLang="zh-CN" sz="2400" dirty="0">
                <a:solidFill>
                  <a:srgbClr val="FFFF00"/>
                </a:solidFill>
              </a:rPr>
              <a:t>20, 30, 30 </a:t>
            </a:r>
            <a:endParaRPr lang="en-US" altLang="zh-CN" sz="2400" dirty="0" smtClean="0">
              <a:solidFill>
                <a:srgbClr val="FFFF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altLang="zh-CN" sz="2400" dirty="0" smtClean="0"/>
              <a:t>D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10, 20, 30  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241673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读程序题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557220"/>
            <a:ext cx="4362092" cy="445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400" b="1" dirty="0" smtClean="0"/>
              <a:t>有以下程序，运行结果是</a:t>
            </a:r>
          </a:p>
          <a:p>
            <a:endParaRPr lang="zh-CN" altLang="en-US" sz="2200" b="1" dirty="0" smtClean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main()</a:t>
            </a:r>
          </a:p>
          <a:p>
            <a:pPr>
              <a:lnSpc>
                <a:spcPct val="110000"/>
              </a:lnSpc>
            </a:pPr>
            <a:r>
              <a:rPr lang="zh-CN" altLang="en-US" sz="2400" dirty="0" smtClean="0"/>
              <a:t> </a:t>
            </a:r>
            <a:r>
              <a:rPr lang="en-US" altLang="zh-CN" sz="2400" dirty="0"/>
              <a:t>{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a=1, b=2;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for ( ; a&lt;8; a++ )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{ b += a;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a += 2;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}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d,%d</a:t>
            </a:r>
            <a:r>
              <a:rPr lang="en-US" altLang="zh-CN" sz="2400" dirty="0"/>
              <a:t>\n", a, b);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}</a:t>
            </a:r>
          </a:p>
        </p:txBody>
      </p:sp>
      <p:sp>
        <p:nvSpPr>
          <p:cNvPr id="4" name="矩形 3"/>
          <p:cNvSpPr/>
          <p:nvPr/>
        </p:nvSpPr>
        <p:spPr>
          <a:xfrm>
            <a:off x="6091931" y="2193389"/>
            <a:ext cx="20794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400" dirty="0"/>
              <a:t>A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7,11 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8,11 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</a:t>
            </a:r>
            <a:r>
              <a:rPr lang="en-US" altLang="zh-CN" sz="2400" dirty="0"/>
              <a:t>9,18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>
                <a:solidFill>
                  <a:srgbClr val="FFFF00"/>
                </a:solidFill>
              </a:rPr>
              <a:t>D</a:t>
            </a:r>
            <a:r>
              <a:rPr lang="zh-CN" altLang="en-US" sz="2400" dirty="0" smtClean="0">
                <a:solidFill>
                  <a:srgbClr val="FFFF00"/>
                </a:solidFill>
              </a:rPr>
              <a:t>：</a:t>
            </a:r>
            <a:r>
              <a:rPr lang="en-US" altLang="zh-CN" sz="2400" dirty="0">
                <a:solidFill>
                  <a:srgbClr val="FFFF00"/>
                </a:solidFill>
              </a:rPr>
              <a:t>10,14 </a:t>
            </a:r>
            <a:endParaRPr lang="en-US" altLang="zh-C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709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读程序题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557220"/>
            <a:ext cx="4362092" cy="5269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400" b="1" dirty="0"/>
              <a:t>有以下程序，运行结果是</a:t>
            </a:r>
          </a:p>
          <a:p>
            <a:endParaRPr lang="zh-CN" altLang="en-US" sz="2200" b="1" dirty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void fun(char *c,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d )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{ *c = *c+1;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d = d+1;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c,%c</a:t>
            </a:r>
            <a:r>
              <a:rPr lang="en-US" altLang="zh-CN" sz="2400" dirty="0"/>
              <a:t>,", *c, d);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}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main</a:t>
            </a:r>
            <a:r>
              <a:rPr lang="zh-CN" altLang="en-US" sz="2400" dirty="0"/>
              <a:t>（）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 </a:t>
            </a:r>
            <a:r>
              <a:rPr lang="en-US" altLang="zh-CN" sz="2400" dirty="0"/>
              <a:t>{ char b='a', a='A';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fun(&amp;b, a);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c,%c</a:t>
            </a:r>
            <a:r>
              <a:rPr lang="en-US" altLang="zh-CN" sz="2400" dirty="0"/>
              <a:t>\n", b, a);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6091931" y="2193389"/>
            <a:ext cx="20794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400" dirty="0"/>
              <a:t>A</a:t>
            </a:r>
            <a:r>
              <a:rPr lang="zh-CN" altLang="en-US" sz="2400" dirty="0" smtClean="0"/>
              <a:t>：</a:t>
            </a:r>
            <a:r>
              <a:rPr lang="en-US" altLang="zh-CN" sz="2400" dirty="0" err="1"/>
              <a:t>b,B,B,A</a:t>
            </a:r>
            <a:r>
              <a:rPr lang="en-US" altLang="zh-CN" sz="2400" dirty="0"/>
              <a:t>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en-US" altLang="zh-CN" sz="2400" dirty="0" err="1"/>
              <a:t>a,B,B,a</a:t>
            </a:r>
            <a:r>
              <a:rPr lang="en-US" altLang="zh-CN" sz="2400" dirty="0"/>
              <a:t>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</a:t>
            </a:r>
            <a:r>
              <a:rPr lang="en-US" altLang="zh-CN" sz="2400" dirty="0" err="1"/>
              <a:t>a,B,a,B</a:t>
            </a:r>
            <a:r>
              <a:rPr lang="en-US" altLang="zh-CN" sz="2400" dirty="0"/>
              <a:t>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>
                <a:solidFill>
                  <a:srgbClr val="FFFF00"/>
                </a:solidFill>
              </a:rPr>
              <a:t>D</a:t>
            </a:r>
            <a:r>
              <a:rPr lang="zh-CN" altLang="en-US" sz="2400" dirty="0" smtClean="0">
                <a:solidFill>
                  <a:srgbClr val="FFFF00"/>
                </a:solidFill>
              </a:rPr>
              <a:t>：</a:t>
            </a:r>
            <a:r>
              <a:rPr lang="en-US" altLang="zh-CN" sz="2400" dirty="0" err="1">
                <a:solidFill>
                  <a:srgbClr val="FFFF00"/>
                </a:solidFill>
              </a:rPr>
              <a:t>b,B,b,A</a:t>
            </a:r>
            <a:endParaRPr lang="en-US" altLang="zh-C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8960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28650" y="1645920"/>
            <a:ext cx="8013732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600" b="1" dirty="0" smtClean="0"/>
              <a:t>以下叙述中，</a:t>
            </a:r>
            <a:r>
              <a:rPr lang="zh-CN" altLang="en-US" sz="2600" b="1" dirty="0" smtClean="0">
                <a:solidFill>
                  <a:srgbClr val="FFFF00"/>
                </a:solidFill>
              </a:rPr>
              <a:t>正确</a:t>
            </a:r>
            <a:r>
              <a:rPr lang="zh-CN" altLang="en-US" sz="2600" b="1" dirty="0" smtClean="0"/>
              <a:t>的是：</a:t>
            </a:r>
            <a:endParaRPr lang="zh-CN" altLang="en-US" sz="2800" b="1" dirty="0"/>
          </a:p>
          <a:p>
            <a:pPr lvl="1">
              <a:lnSpc>
                <a:spcPct val="200000"/>
              </a:lnSpc>
            </a:pPr>
            <a:endParaRPr lang="en-US" altLang="zh-CN" sz="22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A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程序中的注释只能出现在程序的开始位置和语句的后面</a:t>
            </a:r>
            <a:endParaRPr lang="en-US" altLang="zh-CN" sz="22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B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程序书写格式严格，要求一行内只能写一个语句</a:t>
            </a:r>
            <a:endParaRPr lang="en-US" altLang="zh-CN" sz="22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C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程序书写格式自由，一个语句可以写在多行上</a:t>
            </a:r>
            <a:endParaRPr lang="en-US" altLang="zh-CN" sz="22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D</a:t>
            </a:r>
            <a:r>
              <a:rPr lang="zh-CN" altLang="en-US" sz="2200" dirty="0" smtClean="0"/>
              <a:t>：</a:t>
            </a:r>
            <a:r>
              <a:rPr lang="zh-CN" altLang="en-US" sz="2200" dirty="0" smtClean="0"/>
              <a:t>用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语言编写的程序只能放在一个程序文件上</a:t>
            </a:r>
            <a:endParaRPr lang="en-US" altLang="zh-CN" sz="22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85630" y="2488281"/>
            <a:ext cx="2172739" cy="898409"/>
          </a:xfrm>
        </p:spPr>
        <p:txBody>
          <a:bodyPr>
            <a:normAutofit/>
          </a:bodyPr>
          <a:lstStyle/>
          <a:p>
            <a:pPr algn="ctr"/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28650" y="4018885"/>
            <a:ext cx="7298574" cy="6692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en-US" altLang="zh-CN" sz="2200" dirty="0">
                <a:solidFill>
                  <a:srgbClr val="FFFF00"/>
                </a:solidFill>
              </a:rPr>
              <a:t>C</a:t>
            </a:r>
            <a:r>
              <a:rPr lang="zh-CN" altLang="en-US" sz="2200" dirty="0">
                <a:solidFill>
                  <a:srgbClr val="FFFF00"/>
                </a:solidFill>
              </a:rPr>
              <a:t>：</a:t>
            </a:r>
            <a:r>
              <a:rPr lang="en-US" altLang="zh-CN" sz="2200" dirty="0">
                <a:solidFill>
                  <a:srgbClr val="FFFF00"/>
                </a:solidFill>
              </a:rPr>
              <a:t>C</a:t>
            </a:r>
            <a:r>
              <a:rPr lang="zh-CN" altLang="en-US" sz="2200" dirty="0">
                <a:solidFill>
                  <a:srgbClr val="FFFF00"/>
                </a:solidFill>
              </a:rPr>
              <a:t>程序书写格式自由，一个语句可以写在多行上</a:t>
            </a:r>
            <a:endParaRPr lang="en-US" altLang="zh-CN" sz="2200" dirty="0">
              <a:solidFill>
                <a:srgbClr val="FFFF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181" y="301674"/>
            <a:ext cx="3438525" cy="2000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382" y="505921"/>
            <a:ext cx="4095750" cy="274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9856" y="3287341"/>
            <a:ext cx="6677025" cy="91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0913" y="677491"/>
            <a:ext cx="6800850" cy="2609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78141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4444E-6 L -0.30886 -0.33287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1" y="-16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8650" y="1645920"/>
            <a:ext cx="8153258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600" b="1" dirty="0" smtClean="0"/>
              <a:t>以下叙述中，</a:t>
            </a:r>
            <a:r>
              <a:rPr lang="zh-CN" altLang="en-US" sz="2600" b="1" dirty="0" smtClean="0">
                <a:solidFill>
                  <a:srgbClr val="FFFF00"/>
                </a:solidFill>
              </a:rPr>
              <a:t>错误</a:t>
            </a:r>
            <a:r>
              <a:rPr lang="zh-CN" altLang="en-US" sz="2600" b="1" dirty="0" smtClean="0"/>
              <a:t>的是：</a:t>
            </a:r>
            <a:endParaRPr lang="zh-CN" altLang="en-US" sz="2800" b="1" dirty="0"/>
          </a:p>
          <a:p>
            <a:pPr lvl="1">
              <a:lnSpc>
                <a:spcPct val="200000"/>
              </a:lnSpc>
            </a:pPr>
            <a:endParaRPr lang="en-US" altLang="zh-CN" sz="22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A</a:t>
            </a:r>
            <a:r>
              <a:rPr lang="zh-CN" altLang="en-US" sz="2200" dirty="0" smtClean="0"/>
              <a:t>：</a:t>
            </a:r>
            <a:r>
              <a:rPr lang="zh-CN" altLang="en-US" sz="2200" dirty="0" smtClean="0"/>
              <a:t>用户定义的函数中可以没有</a:t>
            </a:r>
            <a:r>
              <a:rPr lang="en-US" altLang="zh-CN" sz="2200" dirty="0" smtClean="0"/>
              <a:t>return</a:t>
            </a:r>
            <a:r>
              <a:rPr lang="zh-CN" altLang="en-US" sz="2200" dirty="0" smtClean="0"/>
              <a:t>语句</a:t>
            </a:r>
            <a:endParaRPr lang="en-US" altLang="zh-CN" sz="22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B</a:t>
            </a:r>
            <a:r>
              <a:rPr lang="zh-CN" altLang="en-US" sz="2200" dirty="0" smtClean="0"/>
              <a:t>：</a:t>
            </a:r>
            <a:r>
              <a:rPr lang="zh-CN" altLang="en-US" sz="2000" dirty="0" smtClean="0"/>
              <a:t>用户定义的函数中可以有多个</a:t>
            </a:r>
            <a:r>
              <a:rPr lang="en-US" altLang="zh-CN" sz="2000" dirty="0" smtClean="0"/>
              <a:t>return</a:t>
            </a:r>
            <a:r>
              <a:rPr lang="zh-CN" altLang="en-US" sz="2000" dirty="0" smtClean="0"/>
              <a:t>语句，以便可以调用一次返</a:t>
            </a:r>
            <a:endParaRPr lang="en-US" altLang="zh-CN" sz="2000" dirty="0" smtClean="0"/>
          </a:p>
          <a:p>
            <a:pPr lvl="1">
              <a:lnSpc>
                <a:spcPct val="200000"/>
              </a:lnSpc>
            </a:pPr>
            <a:r>
              <a:rPr lang="en-US" altLang="zh-CN" sz="2000" dirty="0"/>
              <a:t>	</a:t>
            </a:r>
            <a:r>
              <a:rPr lang="zh-CN" altLang="en-US" sz="2000" dirty="0" smtClean="0"/>
              <a:t>回多个函数值</a:t>
            </a:r>
            <a:endParaRPr lang="en-US" altLang="zh-CN" sz="20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C</a:t>
            </a:r>
            <a:r>
              <a:rPr lang="zh-CN" altLang="en-US" sz="2200" dirty="0" smtClean="0"/>
              <a:t>：</a:t>
            </a:r>
            <a:r>
              <a:rPr lang="zh-CN" altLang="en-US" sz="2000" dirty="0" smtClean="0"/>
              <a:t>用户定义的函数中若没有</a:t>
            </a:r>
            <a:r>
              <a:rPr lang="en-US" altLang="zh-CN" sz="2000" dirty="0" smtClean="0"/>
              <a:t>return </a:t>
            </a:r>
            <a:r>
              <a:rPr lang="zh-CN" altLang="en-US" sz="2000" dirty="0" smtClean="0"/>
              <a:t>语句，则应当定义函数为</a:t>
            </a:r>
            <a:r>
              <a:rPr lang="en-US" altLang="zh-CN" sz="2000" dirty="0" smtClean="0"/>
              <a:t>void</a:t>
            </a:r>
            <a:r>
              <a:rPr lang="zh-CN" altLang="en-US" sz="2000" dirty="0" smtClean="0"/>
              <a:t>型</a:t>
            </a:r>
            <a:endParaRPr lang="en-US" altLang="zh-CN" sz="2000" dirty="0" smtClean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D</a:t>
            </a:r>
            <a:r>
              <a:rPr lang="zh-CN" altLang="en-US" sz="2200" dirty="0" smtClean="0"/>
              <a:t>：</a:t>
            </a:r>
            <a:r>
              <a:rPr lang="zh-CN" altLang="en-US" sz="2200" dirty="0" smtClean="0"/>
              <a:t>函数的</a:t>
            </a:r>
            <a:r>
              <a:rPr lang="en-US" altLang="zh-CN" sz="2200" dirty="0" smtClean="0"/>
              <a:t>return</a:t>
            </a:r>
            <a:r>
              <a:rPr lang="zh-CN" altLang="en-US" sz="2200" dirty="0" smtClean="0"/>
              <a:t>语句中可以没有表达式</a:t>
            </a:r>
            <a:endParaRPr lang="en-US" altLang="zh-CN" sz="22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325" y="1463146"/>
            <a:ext cx="2571750" cy="1171575"/>
          </a:xfrm>
          <a:prstGeom prst="rect">
            <a:avLst/>
          </a:prstGeom>
          <a:ln w="19050">
            <a:noFill/>
            <a:prstDash val="sysDash"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239" y="4495027"/>
            <a:ext cx="2114550" cy="1047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666" y="1350951"/>
            <a:ext cx="2790825" cy="16383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9908" y="3621226"/>
            <a:ext cx="2228850" cy="9048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871" y="3349763"/>
            <a:ext cx="313372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35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7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7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7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6" presetClass="emph" presetSubtype="0" fill="hold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" dur="75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75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75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8650" y="1645920"/>
            <a:ext cx="6718506" cy="4798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600" b="1" dirty="0"/>
              <a:t>下列选项中，能正确定义数组的语句</a:t>
            </a:r>
            <a:r>
              <a:rPr lang="zh-CN" altLang="en-US" sz="2600" b="1" dirty="0" smtClean="0"/>
              <a:t>是</a:t>
            </a:r>
            <a:endParaRPr lang="en-US" altLang="zh-CN" sz="2200" dirty="0" smtClean="0"/>
          </a:p>
          <a:p>
            <a:pPr lvl="1">
              <a:lnSpc>
                <a:spcPct val="300000"/>
              </a:lnSpc>
            </a:pPr>
            <a:r>
              <a:rPr lang="en-US" altLang="zh-CN" sz="2200" dirty="0" smtClean="0"/>
              <a:t>A</a:t>
            </a:r>
            <a:r>
              <a:rPr lang="zh-CN" altLang="en-US" sz="2200" dirty="0" smtClean="0"/>
              <a:t>：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[0..2008];</a:t>
            </a:r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B</a:t>
            </a:r>
            <a:r>
              <a:rPr lang="zh-CN" altLang="en-US" sz="2200" dirty="0" smtClean="0"/>
              <a:t>：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[];</a:t>
            </a:r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C</a:t>
            </a:r>
            <a:r>
              <a:rPr lang="zh-CN" altLang="en-US" sz="2200" dirty="0" smtClean="0"/>
              <a:t>：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N=2008; </a:t>
            </a:r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	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[N];</a:t>
            </a:r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D</a:t>
            </a:r>
            <a:r>
              <a:rPr lang="zh-CN" altLang="en-US" sz="2200" dirty="0" smtClean="0"/>
              <a:t>：</a:t>
            </a:r>
            <a:r>
              <a:rPr lang="pt-BR" altLang="zh-CN" sz="2200" dirty="0" smtClean="0"/>
              <a:t>#</a:t>
            </a:r>
            <a:r>
              <a:rPr lang="pt-BR" altLang="zh-CN" sz="2200" dirty="0"/>
              <a:t>define N 2008</a:t>
            </a:r>
          </a:p>
          <a:p>
            <a:pPr lvl="1">
              <a:lnSpc>
                <a:spcPct val="200000"/>
              </a:lnSpc>
            </a:pPr>
            <a:r>
              <a:rPr lang="pt-BR" altLang="zh-CN" sz="2200" dirty="0" smtClean="0"/>
              <a:t>	int </a:t>
            </a:r>
            <a:r>
              <a:rPr lang="pt-BR" altLang="zh-CN" sz="2200" dirty="0"/>
              <a:t>num[N];</a:t>
            </a:r>
          </a:p>
        </p:txBody>
      </p:sp>
    </p:spTree>
    <p:extLst>
      <p:ext uri="{BB962C8B-B14F-4D97-AF65-F5344CB8AC3E}">
        <p14:creationId xmlns:p14="http://schemas.microsoft.com/office/powerpoint/2010/main" val="2015909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8650" y="1645920"/>
            <a:ext cx="6224781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600" b="1" dirty="0"/>
              <a:t>以下</a:t>
            </a:r>
            <a:r>
              <a:rPr lang="en-US" altLang="zh-CN" sz="2600" b="1" dirty="0"/>
              <a:t>C</a:t>
            </a:r>
            <a:r>
              <a:rPr lang="zh-CN" altLang="en-US" sz="2600" b="1" dirty="0"/>
              <a:t>语言用户标识符中，非法的</a:t>
            </a:r>
            <a:r>
              <a:rPr lang="zh-CN" altLang="en-US" sz="2600" b="1" dirty="0" smtClean="0"/>
              <a:t>是</a:t>
            </a:r>
            <a:endParaRPr lang="en-US" altLang="zh-CN" sz="2600" b="1" dirty="0" smtClean="0"/>
          </a:p>
          <a:p>
            <a:endParaRPr lang="en-US" altLang="zh-CN" sz="2600" b="1" dirty="0"/>
          </a:p>
          <a:p>
            <a:pPr>
              <a:lnSpc>
                <a:spcPct val="200000"/>
              </a:lnSpc>
            </a:pPr>
            <a:r>
              <a:rPr lang="en-US" altLang="zh-CN" sz="2600" b="1" dirty="0"/>
              <a:t> </a:t>
            </a:r>
            <a:r>
              <a:rPr lang="en-US" altLang="zh-CN" sz="2600" b="1" dirty="0" smtClean="0"/>
              <a:t>     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a-b</a:t>
            </a:r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B</a:t>
            </a:r>
            <a:r>
              <a:rPr lang="zh-CN" altLang="en-US" sz="2200" dirty="0" smtClean="0"/>
              <a:t>：</a:t>
            </a:r>
            <a:r>
              <a:rPr lang="en-US" altLang="zh-CN" sz="2200" dirty="0" err="1" smtClean="0"/>
              <a:t>a_b</a:t>
            </a:r>
            <a:endParaRPr lang="en-US" altLang="zh-CN" sz="2200" dirty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C</a:t>
            </a:r>
            <a:r>
              <a:rPr lang="zh-CN" altLang="en-US" sz="2200" dirty="0" smtClean="0"/>
              <a:t>：</a:t>
            </a:r>
            <a:r>
              <a:rPr lang="en-US" altLang="zh-CN" sz="2200" dirty="0" err="1" smtClean="0"/>
              <a:t>AaBb</a:t>
            </a:r>
            <a:endParaRPr lang="en-US" altLang="zh-CN" sz="2200" dirty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D</a:t>
            </a:r>
            <a:r>
              <a:rPr lang="zh-CN" altLang="en-US" sz="2200" dirty="0" smtClean="0"/>
              <a:t>：</a:t>
            </a:r>
            <a:r>
              <a:rPr lang="pt-BR" altLang="zh-CN" sz="2200" dirty="0" smtClean="0"/>
              <a:t>_I</a:t>
            </a:r>
            <a:endParaRPr lang="pt-BR" altLang="zh-CN" sz="2200" dirty="0"/>
          </a:p>
        </p:txBody>
      </p:sp>
      <p:sp>
        <p:nvSpPr>
          <p:cNvPr id="3" name="文本框 2"/>
          <p:cNvSpPr txBox="1"/>
          <p:nvPr/>
        </p:nvSpPr>
        <p:spPr>
          <a:xfrm>
            <a:off x="3886199" y="2462107"/>
            <a:ext cx="4732867" cy="36009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变量命名规则</a:t>
            </a:r>
            <a:endParaRPr lang="en-US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标识符只能由英文字母、下划线“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”、阿拉伯字母组成。</a:t>
            </a:r>
            <a:endParaRPr lang="en-US" altLang="zh-C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标识符的第一个字符必须是英文字母或者下划线，而不能是数字。</a:t>
            </a:r>
            <a:endParaRPr lang="en-US" altLang="zh-C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名不能与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语言中的关键字相同。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74154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8650" y="1645920"/>
            <a:ext cx="5378395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5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600" b="1" dirty="0" smtClean="0"/>
              <a:t>以下选项中不合法的标识符是</a:t>
            </a:r>
            <a:endParaRPr lang="en-US" altLang="zh-CN" sz="2600" b="1" dirty="0" smtClean="0"/>
          </a:p>
          <a:p>
            <a:endParaRPr lang="en-US" altLang="zh-CN" sz="2600" b="1" dirty="0"/>
          </a:p>
          <a:p>
            <a:pPr>
              <a:lnSpc>
                <a:spcPct val="200000"/>
              </a:lnSpc>
            </a:pPr>
            <a:r>
              <a:rPr lang="en-US" altLang="zh-CN" sz="2600" b="1" dirty="0"/>
              <a:t> </a:t>
            </a:r>
            <a:r>
              <a:rPr lang="en-US" altLang="zh-CN" sz="2600" b="1" dirty="0" smtClean="0"/>
              <a:t>     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print</a:t>
            </a:r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B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FOR</a:t>
            </a:r>
            <a:endParaRPr lang="en-US" altLang="zh-CN" sz="2200" dirty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C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&amp;a</a:t>
            </a:r>
            <a:endParaRPr lang="en-US" altLang="zh-CN" sz="2200" dirty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D</a:t>
            </a:r>
            <a:r>
              <a:rPr lang="zh-CN" altLang="en-US" sz="2200" dirty="0" smtClean="0"/>
              <a:t>：</a:t>
            </a:r>
            <a:r>
              <a:rPr lang="pt-BR" altLang="zh-CN" sz="2200" dirty="0" smtClean="0"/>
              <a:t>_00</a:t>
            </a:r>
            <a:endParaRPr lang="pt-BR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006962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8650" y="1645920"/>
            <a:ext cx="5043368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600" b="1" dirty="0">
                <a:solidFill>
                  <a:srgbClr val="FF0000"/>
                </a:solidFill>
              </a:rPr>
              <a:t>6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600" b="1" dirty="0" smtClean="0"/>
              <a:t>以下定义语句中，正确的是</a:t>
            </a:r>
            <a:endParaRPr lang="en-US" altLang="zh-CN" sz="2600" b="1" dirty="0"/>
          </a:p>
          <a:p>
            <a:pPr>
              <a:lnSpc>
                <a:spcPct val="200000"/>
              </a:lnSpc>
            </a:pPr>
            <a:r>
              <a:rPr lang="en-US" altLang="zh-CN" sz="2600" b="1" dirty="0"/>
              <a:t> </a:t>
            </a:r>
            <a:r>
              <a:rPr lang="en-US" altLang="zh-CN" sz="2600" b="1" dirty="0" smtClean="0"/>
              <a:t>     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：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a=b=0;</a:t>
            </a:r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B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char A=65+1,b=‘b’;</a:t>
            </a:r>
            <a:endParaRPr lang="en-US" altLang="zh-CN" sz="2200" dirty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C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float a=1,*b=&amp;a,*c=&amp;b;</a:t>
            </a:r>
            <a:endParaRPr lang="en-US" altLang="zh-CN" sz="2200" dirty="0"/>
          </a:p>
          <a:p>
            <a:pPr lvl="1">
              <a:lnSpc>
                <a:spcPct val="200000"/>
              </a:lnSpc>
            </a:pPr>
            <a:r>
              <a:rPr lang="en-US" altLang="zh-CN" sz="2200" dirty="0" smtClean="0"/>
              <a:t>D</a:t>
            </a:r>
            <a:r>
              <a:rPr lang="zh-CN" altLang="en-US" sz="2200" dirty="0" smtClean="0"/>
              <a:t>：</a:t>
            </a:r>
            <a:r>
              <a:rPr lang="pt-BR" altLang="zh-CN" sz="2200" dirty="0" smtClean="0"/>
              <a:t>double a;b;</a:t>
            </a:r>
            <a:endParaRPr lang="pt-BR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3769764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557220"/>
            <a:ext cx="4362092" cy="5269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7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400" b="1" dirty="0"/>
              <a:t>有以下程序，运行结果是</a:t>
            </a:r>
          </a:p>
          <a:p>
            <a:endParaRPr lang="zh-CN" altLang="en-US" sz="2200" b="1" dirty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#</a:t>
            </a:r>
            <a:r>
              <a:rPr lang="en-US" altLang="zh-CN" sz="2400" dirty="0" smtClean="0"/>
              <a:t>include </a:t>
            </a:r>
            <a:r>
              <a:rPr lang="en-US" altLang="zh-CN" sz="2400" dirty="0"/>
              <a:t>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main()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 </a:t>
            </a:r>
            <a:r>
              <a:rPr lang="en-US" altLang="zh-CN" sz="2400" dirty="0"/>
              <a:t>{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j, m=1;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</a:t>
            </a:r>
            <a:r>
              <a:rPr lang="en-US" altLang="zh-CN" sz="2400" dirty="0" smtClean="0"/>
              <a:t>for 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=1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3; </a:t>
            </a:r>
            <a:r>
              <a:rPr lang="en-US" altLang="zh-CN" sz="2400" dirty="0" err="1"/>
              <a:t>i</a:t>
            </a:r>
            <a:r>
              <a:rPr lang="en-US" altLang="zh-CN" sz="2400" dirty="0" smtClean="0"/>
              <a:t>++)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  </a:t>
            </a:r>
            <a:r>
              <a:rPr lang="en-US" altLang="zh-CN" sz="2400" dirty="0"/>
              <a:t>{ for </a:t>
            </a:r>
            <a:r>
              <a:rPr lang="en-US" altLang="zh-CN" sz="2400" dirty="0" smtClean="0"/>
              <a:t>(j=3</a:t>
            </a:r>
            <a:r>
              <a:rPr lang="en-US" altLang="zh-CN" sz="2400" dirty="0"/>
              <a:t>; j &gt; 0 ; j-- </a:t>
            </a:r>
            <a:r>
              <a:rPr lang="en-US" altLang="zh-CN" sz="2400" dirty="0" smtClean="0"/>
              <a:t>)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  </a:t>
            </a:r>
            <a:r>
              <a:rPr lang="en-US" altLang="zh-CN" sz="2400" dirty="0" smtClean="0"/>
              <a:t>  {if </a:t>
            </a:r>
            <a:r>
              <a:rPr lang="en-US" altLang="zh-CN" sz="2400" dirty="0"/>
              <a:t>(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* j &gt; 3 ) break;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m *=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* j;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</a:t>
            </a:r>
            <a:r>
              <a:rPr lang="en-US" altLang="zh-CN" sz="2400" dirty="0" smtClean="0"/>
              <a:t>}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  </a:t>
            </a:r>
            <a:r>
              <a:rPr lang="en-US" altLang="zh-CN" sz="2400" dirty="0"/>
              <a:t>}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("m=%d\n", m);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}</a:t>
            </a: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6091931" y="2193389"/>
            <a:ext cx="20794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400" dirty="0" smtClean="0"/>
              <a:t>A</a:t>
            </a:r>
            <a:r>
              <a:rPr lang="zh-CN" altLang="en-US" sz="2400" dirty="0"/>
              <a:t>：</a:t>
            </a:r>
            <a:r>
              <a:rPr lang="en-US" altLang="zh-CN" sz="2400" dirty="0" smtClean="0"/>
              <a:t>m=4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m=6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m=2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D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m=5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74198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15496"/>
            <a:ext cx="7886700" cy="898409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练习题</a:t>
            </a:r>
            <a:endParaRPr lang="zh-CN" altLang="en-US" sz="4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0" y="1205880"/>
            <a:ext cx="9144000" cy="536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8650" y="1557220"/>
            <a:ext cx="4403770" cy="562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8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400" b="1" dirty="0"/>
              <a:t>有以下</a:t>
            </a:r>
            <a:r>
              <a:rPr lang="zh-CN" altLang="en-US" sz="2400" b="1" dirty="0" smtClean="0"/>
              <a:t>程序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en-US" altLang="zh-CN" sz="2200" dirty="0"/>
              <a:t>#include &lt;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&gt;</a:t>
            </a:r>
          </a:p>
          <a:p>
            <a:pPr>
              <a:lnSpc>
                <a:spcPct val="110000"/>
              </a:lnSpc>
            </a:pPr>
            <a:r>
              <a:rPr lang="en-US" altLang="zh-CN" sz="2200" dirty="0"/>
              <a:t> main </a:t>
            </a:r>
            <a:r>
              <a:rPr lang="zh-CN" altLang="en-US" sz="2200" dirty="0"/>
              <a:t>（）</a:t>
            </a:r>
          </a:p>
          <a:p>
            <a:pPr>
              <a:lnSpc>
                <a:spcPct val="110000"/>
              </a:lnSpc>
            </a:pPr>
            <a:r>
              <a:rPr lang="zh-CN" altLang="en-US" sz="2200" dirty="0"/>
              <a:t> </a:t>
            </a:r>
            <a:r>
              <a:rPr lang="en-US" altLang="zh-CN" sz="2200" dirty="0"/>
              <a:t>{ char a, b, c, d;</a:t>
            </a:r>
          </a:p>
          <a:p>
            <a:pPr>
              <a:lnSpc>
                <a:spcPct val="110000"/>
              </a:lnSpc>
            </a:pPr>
            <a:r>
              <a:rPr lang="en-US" altLang="zh-CN" sz="2200" dirty="0"/>
              <a:t>  </a:t>
            </a:r>
            <a:r>
              <a:rPr lang="en-US" altLang="zh-CN" sz="2200" dirty="0" err="1"/>
              <a:t>scanf</a:t>
            </a:r>
            <a:r>
              <a:rPr lang="en-US" altLang="zh-CN" sz="2200" dirty="0"/>
              <a:t>("%</a:t>
            </a:r>
            <a:r>
              <a:rPr lang="en-US" altLang="zh-CN" sz="2200" dirty="0" err="1"/>
              <a:t>c%c</a:t>
            </a:r>
            <a:r>
              <a:rPr lang="en-US" altLang="zh-CN" sz="2200" dirty="0"/>
              <a:t>", &amp;a, &amp;b);</a:t>
            </a:r>
          </a:p>
          <a:p>
            <a:pPr>
              <a:lnSpc>
                <a:spcPct val="110000"/>
              </a:lnSpc>
            </a:pPr>
            <a:r>
              <a:rPr lang="en-US" altLang="zh-CN" sz="2200" dirty="0"/>
              <a:t>  c = </a:t>
            </a:r>
            <a:r>
              <a:rPr lang="en-US" altLang="zh-CN" sz="2200" dirty="0" err="1"/>
              <a:t>getchar</a:t>
            </a:r>
            <a:r>
              <a:rPr lang="zh-CN" altLang="en-US" sz="2200" dirty="0"/>
              <a:t>（）</a:t>
            </a:r>
            <a:r>
              <a:rPr lang="en-US" altLang="zh-CN" sz="2200" dirty="0"/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200" dirty="0"/>
              <a:t>  d = </a:t>
            </a:r>
            <a:r>
              <a:rPr lang="en-US" altLang="zh-CN" sz="2200" dirty="0" err="1"/>
              <a:t>getchar</a:t>
            </a:r>
            <a:r>
              <a:rPr lang="zh-CN" altLang="en-US" sz="2200" dirty="0"/>
              <a:t>（）</a:t>
            </a:r>
            <a:r>
              <a:rPr lang="en-US" altLang="zh-CN" sz="2200" dirty="0"/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200" dirty="0"/>
              <a:t>  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("%</a:t>
            </a:r>
            <a:r>
              <a:rPr lang="en-US" altLang="zh-CN" sz="2200" dirty="0" err="1"/>
              <a:t>c%c%c%c</a:t>
            </a:r>
            <a:r>
              <a:rPr lang="en-US" altLang="zh-CN" sz="2200" dirty="0"/>
              <a:t>\n", a, b, c, d);</a:t>
            </a:r>
          </a:p>
          <a:p>
            <a:pPr>
              <a:lnSpc>
                <a:spcPct val="110000"/>
              </a:lnSpc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}</a:t>
            </a:r>
          </a:p>
          <a:p>
            <a:pPr>
              <a:lnSpc>
                <a:spcPct val="200000"/>
              </a:lnSpc>
            </a:pPr>
            <a:r>
              <a:rPr lang="zh-CN" altLang="en-US" dirty="0" smtClean="0"/>
              <a:t>当</a:t>
            </a:r>
            <a:r>
              <a:rPr lang="zh-CN" altLang="en-US" dirty="0"/>
              <a:t>执行程序时，按下列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输入数据</a:t>
            </a:r>
            <a:r>
              <a:rPr lang="zh-CN" altLang="en-US" dirty="0"/>
              <a:t>（从第</a:t>
            </a:r>
            <a:r>
              <a:rPr lang="en-US" altLang="zh-CN" dirty="0"/>
              <a:t>1</a:t>
            </a:r>
            <a:r>
              <a:rPr lang="zh-CN" altLang="en-US" dirty="0"/>
              <a:t>列开始，</a:t>
            </a:r>
            <a:r>
              <a:rPr lang="en-US" altLang="zh-CN" dirty="0"/>
              <a:t>&lt;</a:t>
            </a:r>
            <a:r>
              <a:rPr lang="en-US" altLang="zh-CN" dirty="0" err="1"/>
              <a:t>cr</a:t>
            </a:r>
            <a:r>
              <a:rPr lang="en-US" altLang="zh-CN" dirty="0"/>
              <a:t>&gt;</a:t>
            </a:r>
            <a:r>
              <a:rPr lang="zh-CN" altLang="en-US" dirty="0"/>
              <a:t>代表回车）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12&lt;</a:t>
            </a:r>
            <a:r>
              <a:rPr lang="en-US" altLang="zh-CN" dirty="0" err="1"/>
              <a:t>cr</a:t>
            </a:r>
            <a:r>
              <a:rPr lang="en-US" altLang="zh-CN" dirty="0"/>
              <a:t>&gt;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34&lt;</a:t>
            </a:r>
            <a:r>
              <a:rPr lang="en-US" altLang="zh-CN" dirty="0" err="1"/>
              <a:t>cr</a:t>
            </a:r>
            <a:r>
              <a:rPr lang="en-US" altLang="zh-CN" dirty="0"/>
              <a:t>&gt;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则结果是</a:t>
            </a:r>
          </a:p>
          <a:p>
            <a:pPr>
              <a:lnSpc>
                <a:spcPct val="110000"/>
              </a:lnSpc>
            </a:pP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6091931" y="2193389"/>
            <a:ext cx="20794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12&lt;</a:t>
            </a:r>
            <a:r>
              <a:rPr lang="en-US" altLang="zh-CN" sz="2400" dirty="0" err="1" smtClean="0"/>
              <a:t>cr</a:t>
            </a:r>
            <a:r>
              <a:rPr lang="en-US" altLang="zh-CN" sz="2400" dirty="0" smtClean="0"/>
              <a:t>&gt;34 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12&lt;</a:t>
            </a:r>
            <a:r>
              <a:rPr lang="en-US" altLang="zh-CN" sz="2400" dirty="0" err="1" smtClean="0"/>
              <a:t>cr</a:t>
            </a:r>
            <a:r>
              <a:rPr lang="en-US" altLang="zh-CN" sz="2400" dirty="0" smtClean="0"/>
              <a:t>&gt;3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1234</a:t>
            </a:r>
            <a:endParaRPr lang="en-US" altLang="zh-CN" sz="2400" dirty="0" smtClean="0"/>
          </a:p>
          <a:p>
            <a:pPr>
              <a:lnSpc>
                <a:spcPct val="250000"/>
              </a:lnSpc>
            </a:pPr>
            <a:r>
              <a:rPr lang="en-US" altLang="zh-CN" sz="2400" dirty="0" smtClean="0"/>
              <a:t>D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12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130842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93257" y="1945178"/>
            <a:ext cx="27574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00B050"/>
                </a:solidFill>
              </a:rPr>
              <a:t>选择题诀窍</a:t>
            </a:r>
            <a:endParaRPr lang="zh-CN" altLang="en-US" sz="4000" b="1" dirty="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78967" y="3083370"/>
            <a:ext cx="22717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 smtClean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刷题！</a:t>
            </a:r>
            <a:endParaRPr lang="zh-CN" altLang="en-US" sz="5400" b="1" dirty="0">
              <a:solidFill>
                <a:srgbClr val="FFC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75291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31956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4800" b="1" dirty="0">
                <a:solidFill>
                  <a:srgbClr val="FFC000"/>
                </a:solidFill>
              </a:rPr>
              <a:t>祝</a:t>
            </a:r>
            <a:r>
              <a:rPr lang="zh-CN" altLang="en-US" sz="4800" b="1" dirty="0" smtClean="0">
                <a:solidFill>
                  <a:srgbClr val="FFC000"/>
                </a:solidFill>
              </a:rPr>
              <a:t>大家考试顺利</a:t>
            </a:r>
            <a:r>
              <a:rPr lang="zh-CN" altLang="en-US" sz="4800" b="1" dirty="0">
                <a:solidFill>
                  <a:srgbClr val="FFC000"/>
                </a:solidFill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3160512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</TotalTime>
  <Words>1238</Words>
  <Application>Microsoft Office PowerPoint</Application>
  <PresentationFormat>全屏显示(4:3)</PresentationFormat>
  <Paragraphs>222</Paragraphs>
  <Slides>21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  <vt:variant>
        <vt:lpstr>自定义放映</vt:lpstr>
      </vt:variant>
      <vt:variant>
        <vt:i4>1</vt:i4>
      </vt:variant>
    </vt:vector>
  </HeadingPairs>
  <TitlesOfParts>
    <vt:vector size="30" baseType="lpstr">
      <vt:lpstr>方正姚体</vt:lpstr>
      <vt:lpstr>黑体</vt:lpstr>
      <vt:lpstr>楷体</vt:lpstr>
      <vt:lpstr>宋体</vt:lpstr>
      <vt:lpstr>Arial</vt:lpstr>
      <vt:lpstr>Calibri</vt:lpstr>
      <vt:lpstr>Calibri Light</vt:lpstr>
      <vt:lpstr>Office Theme</vt:lpstr>
      <vt:lpstr>C语言串讲之</vt:lpstr>
      <vt:lpstr>题型</vt:lpstr>
      <vt:lpstr>概念题</vt:lpstr>
      <vt:lpstr>概念题</vt:lpstr>
      <vt:lpstr>题型</vt:lpstr>
      <vt:lpstr>语法题</vt:lpstr>
      <vt:lpstr>语法题</vt:lpstr>
      <vt:lpstr>题型</vt:lpstr>
      <vt:lpstr>读程序题</vt:lpstr>
      <vt:lpstr>读程序题</vt:lpstr>
      <vt:lpstr>读程序题</vt:lpstr>
      <vt:lpstr>练习题</vt:lpstr>
      <vt:lpstr>练习题</vt:lpstr>
      <vt:lpstr>练习题</vt:lpstr>
      <vt:lpstr>练习题</vt:lpstr>
      <vt:lpstr>练习题</vt:lpstr>
      <vt:lpstr>练习题</vt:lpstr>
      <vt:lpstr>练习题</vt:lpstr>
      <vt:lpstr>练习题</vt:lpstr>
      <vt:lpstr>PowerPoint 演示文稿</vt:lpstr>
      <vt:lpstr>祝大家考试顺利！</vt:lpstr>
      <vt:lpstr>自定义放映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穷  举</dc:title>
  <dc:creator>魏睿</dc:creator>
  <cp:lastModifiedBy>魏睿</cp:lastModifiedBy>
  <cp:revision>68</cp:revision>
  <dcterms:created xsi:type="dcterms:W3CDTF">2013-06-04T13:56:49Z</dcterms:created>
  <dcterms:modified xsi:type="dcterms:W3CDTF">2013-06-08T07:46:39Z</dcterms:modified>
</cp:coreProperties>
</file>