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1" r:id="rId3"/>
    <p:sldId id="288" r:id="rId4"/>
    <p:sldId id="280" r:id="rId5"/>
    <p:sldId id="281" r:id="rId6"/>
    <p:sldId id="282" r:id="rId7"/>
    <p:sldId id="283" r:id="rId8"/>
    <p:sldId id="284" r:id="rId9"/>
    <p:sldId id="285" r:id="rId10"/>
    <p:sldId id="286" r:id="rId11"/>
    <p:sldId id="287" r:id="rId12"/>
    <p:sldId id="257" r:id="rId13"/>
    <p:sldId id="290" r:id="rId14"/>
    <p:sldId id="289" r:id="rId15"/>
    <p:sldId id="258" r:id="rId16"/>
    <p:sldId id="293" r:id="rId17"/>
    <p:sldId id="294" r:id="rId18"/>
    <p:sldId id="275" r:id="rId1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24C"/>
    <a:srgbClr val="FFFF66"/>
    <a:srgbClr val="FFF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2" autoAdjust="0"/>
    <p:restoredTop sz="94660"/>
  </p:normalViewPr>
  <p:slideViewPr>
    <p:cSldViewPr>
      <p:cViewPr varScale="1">
        <p:scale>
          <a:sx n="75" d="100"/>
          <a:sy n="75" d="100"/>
        </p:scale>
        <p:origin x="1422"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2013/6/8 Saturday</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transition>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2013/6/8 Saturday</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ll dir="d"/>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Box 5"/>
          <p:cNvSpPr txBox="1"/>
          <p:nvPr/>
        </p:nvSpPr>
        <p:spPr>
          <a:xfrm>
            <a:off x="827584" y="-459432"/>
            <a:ext cx="4711546" cy="7786747"/>
          </a:xfrm>
          <a:prstGeom prst="rect">
            <a:avLst/>
          </a:prstGeom>
          <a:noFill/>
        </p:spPr>
        <p:txBody>
          <a:bodyPr wrap="none" rtlCol="0">
            <a:spAutoFit/>
          </a:bodyPr>
          <a:lstStyle/>
          <a:p>
            <a:r>
              <a:rPr lang="en-US" altLang="zh-CN" sz="50000" dirty="0" smtClean="0">
                <a:solidFill>
                  <a:schemeClr val="bg1"/>
                </a:solidFill>
                <a:latin typeface="Broadway" pitchFamily="82" charset="0"/>
                <a:ea typeface="Kozuka Mincho Pro H" pitchFamily="18" charset="-128"/>
              </a:rPr>
              <a:t>C</a:t>
            </a:r>
            <a:endParaRPr lang="zh-CN" altLang="en-US" sz="50000" dirty="0">
              <a:solidFill>
                <a:schemeClr val="bg1"/>
              </a:solidFill>
              <a:latin typeface="Broadway" pitchFamily="82" charset="0"/>
              <a:ea typeface="Kozuka Mincho Pro H" pitchFamily="18" charset="-128"/>
            </a:endParaRPr>
          </a:p>
        </p:txBody>
      </p:sp>
      <p:sp>
        <p:nvSpPr>
          <p:cNvPr id="5" name="TextBox 4"/>
          <p:cNvSpPr txBox="1"/>
          <p:nvPr/>
        </p:nvSpPr>
        <p:spPr>
          <a:xfrm>
            <a:off x="3131840" y="2204864"/>
            <a:ext cx="2304256" cy="2554545"/>
          </a:xfrm>
          <a:prstGeom prst="rect">
            <a:avLst/>
          </a:prstGeom>
          <a:noFill/>
        </p:spPr>
        <p:txBody>
          <a:bodyPr wrap="square" rtlCol="0">
            <a:spAutoFit/>
          </a:bodyPr>
          <a:lstStyle/>
          <a:p>
            <a:r>
              <a:rPr lang="zh-CN" altLang="en-US" sz="8000" b="1" dirty="0" smtClean="0">
                <a:solidFill>
                  <a:schemeClr val="bg1"/>
                </a:solidFill>
                <a:latin typeface="黑体" pitchFamily="49" charset="-122"/>
                <a:ea typeface="黑体" pitchFamily="49" charset="-122"/>
              </a:rPr>
              <a:t>语言</a:t>
            </a:r>
            <a:endParaRPr lang="en-US" altLang="zh-CN" sz="8000" b="1" dirty="0" smtClean="0">
              <a:solidFill>
                <a:schemeClr val="bg1"/>
              </a:solidFill>
              <a:latin typeface="黑体" pitchFamily="49" charset="-122"/>
              <a:ea typeface="黑体" pitchFamily="49" charset="-122"/>
            </a:endParaRPr>
          </a:p>
          <a:p>
            <a:r>
              <a:rPr lang="zh-CN" altLang="en-US" sz="8000" b="1" dirty="0" smtClean="0">
                <a:solidFill>
                  <a:schemeClr val="bg1"/>
                </a:solidFill>
                <a:latin typeface="黑体" pitchFamily="49" charset="-122"/>
                <a:ea typeface="黑体" pitchFamily="49" charset="-122"/>
              </a:rPr>
              <a:t>串讲</a:t>
            </a:r>
            <a:endParaRPr lang="zh-CN" altLang="en-US" sz="8000" b="1" dirty="0">
              <a:solidFill>
                <a:schemeClr val="bg1"/>
              </a:solidFill>
              <a:latin typeface="黑体" pitchFamily="49" charset="-122"/>
              <a:ea typeface="黑体" pitchFamily="49" charset="-122"/>
            </a:endParaRPr>
          </a:p>
        </p:txBody>
      </p:sp>
      <p:sp>
        <p:nvSpPr>
          <p:cNvPr id="7" name="TextBox 6"/>
          <p:cNvSpPr txBox="1"/>
          <p:nvPr/>
        </p:nvSpPr>
        <p:spPr>
          <a:xfrm>
            <a:off x="5292080" y="2348880"/>
            <a:ext cx="2646878" cy="2123658"/>
          </a:xfrm>
          <a:prstGeom prst="rect">
            <a:avLst/>
          </a:prstGeom>
          <a:noFill/>
        </p:spPr>
        <p:txBody>
          <a:bodyPr wrap="none" rtlCol="0">
            <a:spAutoFit/>
          </a:bodyPr>
          <a:lstStyle/>
          <a:p>
            <a:r>
              <a:rPr lang="zh-CN" altLang="en-US" sz="9600" dirty="0" smtClean="0">
                <a:solidFill>
                  <a:srgbClr val="FFF24C"/>
                </a:solidFill>
                <a:latin typeface="黑体" pitchFamily="49" charset="-122"/>
                <a:ea typeface="黑体" pitchFamily="49" charset="-122"/>
              </a:rPr>
              <a:t>穷举</a:t>
            </a:r>
            <a:endParaRPr lang="en-US" altLang="zh-CN" sz="9600" dirty="0" smtClean="0">
              <a:solidFill>
                <a:srgbClr val="FFF24C"/>
              </a:solidFill>
              <a:latin typeface="黑体" pitchFamily="49" charset="-122"/>
              <a:ea typeface="黑体" pitchFamily="49" charset="-122"/>
            </a:endParaRPr>
          </a:p>
          <a:p>
            <a:r>
              <a:rPr lang="en-US" altLang="zh-CN" sz="3600" dirty="0" smtClean="0">
                <a:solidFill>
                  <a:srgbClr val="FFF24C"/>
                </a:solidFill>
                <a:latin typeface="黑体" pitchFamily="49" charset="-122"/>
                <a:ea typeface="黑体" pitchFamily="49" charset="-122"/>
              </a:rPr>
              <a:t> 	</a:t>
            </a:r>
            <a:endParaRPr lang="zh-CN" altLang="en-US" sz="3600" dirty="0">
              <a:solidFill>
                <a:srgbClr val="FFF24C"/>
              </a:solidFill>
              <a:latin typeface="黑体" pitchFamily="49" charset="-122"/>
              <a:ea typeface="黑体" pitchFamily="49" charset="-122"/>
            </a:endParaRPr>
          </a:p>
        </p:txBody>
      </p:sp>
    </p:spTree>
  </p:cSld>
  <p:clrMapOvr>
    <a:masterClrMapping/>
  </p:clrMapOvr>
  <p:transition>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772816"/>
            <a:ext cx="8229600" cy="4525963"/>
          </a:xfrm>
        </p:spPr>
        <p:txBody>
          <a:bodyPr/>
          <a:lstStyle/>
          <a:p>
            <a:r>
              <a:rPr lang="zh-CN" altLang="en-US" b="1" dirty="0" smtClean="0">
                <a:solidFill>
                  <a:schemeClr val="bg1"/>
                </a:solidFill>
              </a:rPr>
              <a:t>穷举法，或称为暴力破解法，就是通过把需要解决问题的所有可能情况逐一试验来找出符合条件的解的方法，对于许多毫无规律的问题而言，穷举法用时间上的牺牲换来了解的全面性保证</a:t>
            </a:r>
            <a:endParaRPr lang="zh-CN" altLang="en-US" b="1" dirty="0">
              <a:solidFill>
                <a:schemeClr val="bg1"/>
              </a:solidFill>
            </a:endParaRPr>
          </a:p>
        </p:txBody>
      </p:sp>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Tree>
    <p:extLst>
      <p:ext uri="{BB962C8B-B14F-4D97-AF65-F5344CB8AC3E}">
        <p14:creationId xmlns:p14="http://schemas.microsoft.com/office/powerpoint/2010/main" val="2972751415"/>
      </p:ext>
    </p:extLst>
  </p:cSld>
  <p:clrMapOvr>
    <a:masterClrMapping/>
  </p:clrMapOvr>
  <p:transition>
    <p:pull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3528" y="-531440"/>
            <a:ext cx="4711546" cy="7786747"/>
          </a:xfrm>
          <a:prstGeom prst="rect">
            <a:avLst/>
          </a:prstGeom>
          <a:noFill/>
        </p:spPr>
        <p:txBody>
          <a:bodyPr wrap="none" rtlCol="0">
            <a:spAutoFit/>
          </a:bodyPr>
          <a:lstStyle/>
          <a:p>
            <a:r>
              <a:rPr lang="en-US" altLang="zh-CN" sz="50000" dirty="0" smtClean="0">
                <a:solidFill>
                  <a:schemeClr val="bg1"/>
                </a:solidFill>
                <a:latin typeface="Broadway" pitchFamily="82" charset="0"/>
                <a:ea typeface="Kozuka Mincho Pro H" pitchFamily="18" charset="-128"/>
              </a:rPr>
              <a:t>C</a:t>
            </a:r>
            <a:endParaRPr lang="zh-CN" altLang="en-US" sz="50000" dirty="0">
              <a:solidFill>
                <a:schemeClr val="bg1"/>
              </a:solidFill>
              <a:latin typeface="Broadway" pitchFamily="82" charset="0"/>
              <a:ea typeface="Kozuka Mincho Pro H" pitchFamily="18" charset="-128"/>
            </a:endParaRPr>
          </a:p>
        </p:txBody>
      </p:sp>
      <p:sp>
        <p:nvSpPr>
          <p:cNvPr id="4" name="矩形 3"/>
          <p:cNvSpPr/>
          <p:nvPr/>
        </p:nvSpPr>
        <p:spPr>
          <a:xfrm>
            <a:off x="4644008" y="2692077"/>
            <a:ext cx="4572000" cy="1384995"/>
          </a:xfrm>
          <a:prstGeom prst="rect">
            <a:avLst/>
          </a:prstGeom>
        </p:spPr>
        <p:txBody>
          <a:bodyPr>
            <a:spAutoFit/>
          </a:bodyPr>
          <a:lstStyle/>
          <a:p>
            <a:r>
              <a:rPr lang="en-US" altLang="zh-CN" sz="2800" b="1" dirty="0" smtClean="0">
                <a:solidFill>
                  <a:schemeClr val="bg1"/>
                </a:solidFill>
                <a:latin typeface="+mj-ea"/>
              </a:rPr>
              <a:t>STEP1 </a:t>
            </a:r>
            <a:r>
              <a:rPr lang="zh-CN" altLang="en-US" sz="2800" b="1" dirty="0" smtClean="0">
                <a:solidFill>
                  <a:schemeClr val="bg1"/>
                </a:solidFill>
                <a:latin typeface="+mj-ea"/>
              </a:rPr>
              <a:t>写出每个变量</a:t>
            </a:r>
            <a:endParaRPr lang="en-US" altLang="zh-CN" sz="2800" b="1" dirty="0" smtClean="0">
              <a:solidFill>
                <a:schemeClr val="bg1"/>
              </a:solidFill>
              <a:latin typeface="+mj-ea"/>
            </a:endParaRPr>
          </a:p>
          <a:p>
            <a:r>
              <a:rPr lang="en-US" altLang="zh-CN" sz="2800" b="1" dirty="0" smtClean="0">
                <a:solidFill>
                  <a:schemeClr val="bg1"/>
                </a:solidFill>
                <a:latin typeface="+mj-ea"/>
              </a:rPr>
              <a:t>STEP2 </a:t>
            </a:r>
            <a:r>
              <a:rPr lang="zh-CN" altLang="en-US" sz="2800" b="1" dirty="0" smtClean="0">
                <a:solidFill>
                  <a:schemeClr val="bg1"/>
                </a:solidFill>
                <a:latin typeface="+mj-ea"/>
              </a:rPr>
              <a:t>写出</a:t>
            </a:r>
            <a:r>
              <a:rPr lang="zh-CN" altLang="en-US" sz="2800" b="1" dirty="0">
                <a:solidFill>
                  <a:schemeClr val="bg1"/>
                </a:solidFill>
                <a:latin typeface="+mj-ea"/>
              </a:rPr>
              <a:t>枚举范围</a:t>
            </a:r>
            <a:endParaRPr lang="en-US" altLang="zh-CN" sz="2800" b="1" dirty="0">
              <a:solidFill>
                <a:schemeClr val="bg1"/>
              </a:solidFill>
              <a:latin typeface="+mj-ea"/>
            </a:endParaRPr>
          </a:p>
          <a:p>
            <a:r>
              <a:rPr lang="en-US" altLang="zh-CN" sz="2800" b="1" dirty="0" smtClean="0">
                <a:solidFill>
                  <a:schemeClr val="bg1"/>
                </a:solidFill>
                <a:latin typeface="+mj-ea"/>
              </a:rPr>
              <a:t>STEP3 </a:t>
            </a:r>
            <a:r>
              <a:rPr lang="zh-CN" altLang="en-US" sz="2800" b="1" dirty="0" smtClean="0">
                <a:solidFill>
                  <a:schemeClr val="bg1"/>
                </a:solidFill>
                <a:latin typeface="+mj-ea"/>
              </a:rPr>
              <a:t>写出</a:t>
            </a:r>
            <a:r>
              <a:rPr lang="zh-CN" altLang="en-US" sz="2800" b="1" dirty="0">
                <a:solidFill>
                  <a:schemeClr val="bg1"/>
                </a:solidFill>
                <a:latin typeface="+mj-ea"/>
              </a:rPr>
              <a:t>满足条件的</a:t>
            </a:r>
            <a:r>
              <a:rPr lang="zh-CN" altLang="en-US" sz="2800" b="1" dirty="0" smtClean="0">
                <a:solidFill>
                  <a:schemeClr val="bg1"/>
                </a:solidFill>
                <a:latin typeface="+mj-ea"/>
              </a:rPr>
              <a:t>等式</a:t>
            </a:r>
            <a:endParaRPr lang="en-US" altLang="zh-CN" sz="2800" b="1" dirty="0">
              <a:solidFill>
                <a:schemeClr val="bg1"/>
              </a:solidFill>
              <a:latin typeface="+mj-ea"/>
            </a:endParaRPr>
          </a:p>
        </p:txBody>
      </p:sp>
      <p:sp>
        <p:nvSpPr>
          <p:cNvPr id="7" name="矩形 6"/>
          <p:cNvSpPr/>
          <p:nvPr/>
        </p:nvSpPr>
        <p:spPr>
          <a:xfrm>
            <a:off x="2771800" y="2780928"/>
            <a:ext cx="2592288" cy="1200329"/>
          </a:xfrm>
          <a:prstGeom prst="rect">
            <a:avLst/>
          </a:prstGeom>
        </p:spPr>
        <p:txBody>
          <a:bodyPr wrap="square">
            <a:spAutoFit/>
          </a:bodyPr>
          <a:lstStyle/>
          <a:p>
            <a:r>
              <a:rPr lang="zh-CN" altLang="en-US" sz="7200" dirty="0" smtClean="0">
                <a:solidFill>
                  <a:srgbClr val="FFF24C"/>
                </a:solidFill>
                <a:latin typeface="黑体" pitchFamily="49" charset="-122"/>
                <a:ea typeface="黑体" pitchFamily="49" charset="-122"/>
              </a:rPr>
              <a:t>穷举</a:t>
            </a:r>
            <a:endParaRPr lang="en-US" altLang="zh-CN" sz="7200" dirty="0" smtClean="0">
              <a:solidFill>
                <a:srgbClr val="FFF24C"/>
              </a:solidFill>
              <a:latin typeface="黑体" pitchFamily="49" charset="-122"/>
              <a:ea typeface="黑体" pitchFamily="49" charset="-122"/>
            </a:endParaRPr>
          </a:p>
        </p:txBody>
      </p:sp>
    </p:spTree>
    <p:extLst>
      <p:ext uri="{BB962C8B-B14F-4D97-AF65-F5344CB8AC3E}">
        <p14:creationId xmlns:p14="http://schemas.microsoft.com/office/powerpoint/2010/main" val="364487898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9" name="Rectangle 2"/>
          <p:cNvSpPr>
            <a:spLocks noGrp="1" noChangeArrowheads="1"/>
          </p:cNvSpPr>
          <p:nvPr>
            <p:ph type="title"/>
          </p:nvPr>
        </p:nvSpPr>
        <p:spPr>
          <a:xfrm>
            <a:off x="1760769" y="704355"/>
            <a:ext cx="7203719" cy="2220589"/>
          </a:xfrm>
        </p:spPr>
        <p:txBody>
          <a:bodyPr/>
          <a:lstStyle/>
          <a:p>
            <a:pPr algn="l"/>
            <a:r>
              <a:rPr lang="zh-CN" altLang="en-US" sz="3000" b="1" dirty="0"/>
              <a:t>例 </a:t>
            </a:r>
            <a:r>
              <a:rPr lang="en-US" altLang="zh-CN" sz="3000" b="1" dirty="0"/>
              <a:t>1 </a:t>
            </a:r>
            <a:r>
              <a:rPr lang="zh-CN" altLang="en-US" sz="3000" b="1" dirty="0"/>
              <a:t>： 我国古代数学家张丘建在</a:t>
            </a:r>
            <a:r>
              <a:rPr lang="en-US" altLang="zh-CN" sz="3000" b="1" dirty="0"/>
              <a:t>《</a:t>
            </a:r>
            <a:r>
              <a:rPr lang="zh-CN" altLang="en-US" sz="3000" b="1" dirty="0"/>
              <a:t>算经</a:t>
            </a:r>
            <a:r>
              <a:rPr lang="en-US" altLang="zh-CN" sz="3000" b="1" dirty="0"/>
              <a:t>》</a:t>
            </a:r>
            <a:r>
              <a:rPr lang="zh-CN" altLang="en-US" sz="3000" b="1" dirty="0"/>
              <a:t>中出了这样一道题目：鸡翁一，值五钱，鸡母一，值三钱，鸡雏三，值一钱，百钱买百鸡，问鸡翁、鸡母、鸡雏各几何？</a:t>
            </a:r>
            <a:endParaRPr lang="zh-CN" altLang="en-US" sz="3000" dirty="0"/>
          </a:p>
        </p:txBody>
      </p:sp>
      <p:sp>
        <p:nvSpPr>
          <p:cNvPr id="10" name="Rectangle 3"/>
          <p:cNvSpPr txBox="1">
            <a:spLocks noChangeArrowheads="1"/>
          </p:cNvSpPr>
          <p:nvPr/>
        </p:nvSpPr>
        <p:spPr>
          <a:xfrm>
            <a:off x="323850" y="2996952"/>
            <a:ext cx="8229600" cy="36004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Tx/>
              <a:buNone/>
            </a:pPr>
            <a:r>
              <a:rPr lang="zh-CN" altLang="en-US" sz="2800" b="1" dirty="0" smtClean="0">
                <a:effectLst>
                  <a:outerShdw blurRad="38100" dist="38100" dir="2700000" algn="tl">
                    <a:srgbClr val="FFFFFF"/>
                  </a:outerShdw>
                </a:effectLst>
              </a:rPr>
              <a:t>分析：</a:t>
            </a:r>
            <a:r>
              <a:rPr lang="zh-CN" altLang="en-US" sz="2800" dirty="0" smtClean="0"/>
              <a:t>这就是穷举法当中的典型例题百钱百鸡问题。题目要我们找出符合条件的鸡翁、鸡母、鸡雏的个数。答案显然是一组数据。首先分析一下出现的变量和其范围</a:t>
            </a:r>
            <a:r>
              <a:rPr lang="en-US" altLang="zh-CN" sz="2800" dirty="0" smtClean="0"/>
              <a:t>:</a:t>
            </a:r>
            <a:r>
              <a:rPr lang="zh-CN" altLang="en-US" sz="2800" dirty="0" smtClean="0"/>
              <a:t>变量有公鸡、母鸡和小鸡</a:t>
            </a:r>
          </a:p>
          <a:p>
            <a:pPr lvl="1">
              <a:lnSpc>
                <a:spcPct val="80000"/>
              </a:lnSpc>
            </a:pPr>
            <a:r>
              <a:rPr lang="zh-CN" altLang="en-US" dirty="0" smtClean="0"/>
              <a:t>百钱如果全买公鸡，可以买</a:t>
            </a:r>
            <a:r>
              <a:rPr lang="en-US" altLang="zh-CN" dirty="0" smtClean="0"/>
              <a:t>0~20</a:t>
            </a:r>
            <a:r>
              <a:rPr lang="zh-CN" altLang="en-US" dirty="0" smtClean="0"/>
              <a:t>只；</a:t>
            </a:r>
          </a:p>
          <a:p>
            <a:pPr lvl="1">
              <a:lnSpc>
                <a:spcPct val="80000"/>
              </a:lnSpc>
            </a:pPr>
            <a:r>
              <a:rPr lang="zh-CN" altLang="en-US" dirty="0" smtClean="0"/>
              <a:t>百钱如果全买母鸡，可以买</a:t>
            </a:r>
            <a:r>
              <a:rPr lang="en-US" altLang="zh-CN" dirty="0" smtClean="0"/>
              <a:t>0~33</a:t>
            </a:r>
            <a:r>
              <a:rPr lang="zh-CN" altLang="en-US" dirty="0" smtClean="0"/>
              <a:t>只；</a:t>
            </a:r>
          </a:p>
          <a:p>
            <a:pPr lvl="1">
              <a:lnSpc>
                <a:spcPct val="80000"/>
              </a:lnSpc>
            </a:pPr>
            <a:r>
              <a:rPr lang="zh-CN" altLang="en-US" dirty="0" smtClean="0"/>
              <a:t>百钱如果全买小鸡，可以买</a:t>
            </a:r>
            <a:r>
              <a:rPr lang="en-US" altLang="zh-CN" dirty="0" smtClean="0"/>
              <a:t>0~300</a:t>
            </a:r>
            <a:r>
              <a:rPr lang="zh-CN" altLang="en-US" dirty="0" smtClean="0"/>
              <a:t>只，但百鸡限定最多</a:t>
            </a:r>
            <a:r>
              <a:rPr lang="en-US" altLang="zh-CN" dirty="0" smtClean="0"/>
              <a:t>99</a:t>
            </a:r>
            <a:r>
              <a:rPr lang="zh-CN" altLang="en-US" dirty="0" smtClean="0"/>
              <a:t>只，小鸡数必须是</a:t>
            </a:r>
            <a:r>
              <a:rPr lang="en-US" altLang="zh-CN" dirty="0" smtClean="0"/>
              <a:t>3</a:t>
            </a:r>
            <a:r>
              <a:rPr lang="zh-CN" altLang="en-US" dirty="0" smtClean="0"/>
              <a:t>的倍数；</a:t>
            </a:r>
          </a:p>
          <a:p>
            <a:pPr lvl="1">
              <a:lnSpc>
                <a:spcPct val="80000"/>
              </a:lnSpc>
              <a:buFontTx/>
              <a:buNone/>
            </a:pPr>
            <a:r>
              <a:rPr lang="zh-CN" altLang="en-US" sz="2400" dirty="0" smtClean="0"/>
              <a:t>	</a:t>
            </a:r>
            <a:endParaRPr lang="zh-CN" altLang="en-US" sz="2400" dirty="0"/>
          </a:p>
        </p:txBody>
      </p:sp>
    </p:spTree>
    <p:extLst>
      <p:ext uri="{BB962C8B-B14F-4D97-AF65-F5344CB8AC3E}">
        <p14:creationId xmlns:p14="http://schemas.microsoft.com/office/powerpoint/2010/main" val="32269377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linds(horizontal)">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blinds(horizontal)">
                                      <p:cBhvr>
                                        <p:cTn id="17" dur="500"/>
                                        <p:tgtEl>
                                          <p:spTgt spid="1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xEl>
                                              <p:pRg st="3" end="3"/>
                                            </p:txEl>
                                          </p:spTgt>
                                        </p:tgtEl>
                                        <p:attrNameLst>
                                          <p:attrName>style.visibility</p:attrName>
                                        </p:attrNameLst>
                                      </p:cBhvr>
                                      <p:to>
                                        <p:strVal val="visible"/>
                                      </p:to>
                                    </p:set>
                                    <p:animEffect transition="in" filter="blinds(horizontal)">
                                      <p:cBhvr>
                                        <p:cTn id="22" dur="500"/>
                                        <p:tgtEl>
                                          <p:spTgt spid="1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Effect transition="in" filter="blinds(horizontal)">
                                      <p:cBhvr>
                                        <p:cTn id="2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9" name="Rectangle 2"/>
          <p:cNvSpPr>
            <a:spLocks noGrp="1" noChangeArrowheads="1"/>
          </p:cNvSpPr>
          <p:nvPr>
            <p:ph type="title"/>
          </p:nvPr>
        </p:nvSpPr>
        <p:spPr>
          <a:xfrm>
            <a:off x="457200" y="274638"/>
            <a:ext cx="8229600" cy="1143000"/>
          </a:xfrm>
        </p:spPr>
        <p:txBody>
          <a:bodyPr/>
          <a:lstStyle/>
          <a:p>
            <a:r>
              <a:rPr lang="zh-CN" altLang="en-US" dirty="0" smtClean="0"/>
              <a:t>     </a:t>
            </a:r>
            <a:r>
              <a:rPr lang="en-US" altLang="zh-CN" dirty="0" smtClean="0"/>
              <a:t>	</a:t>
            </a:r>
            <a:r>
              <a:rPr lang="zh-CN" altLang="en-US" dirty="0" smtClean="0"/>
              <a:t>分析进入关键一步</a:t>
            </a:r>
            <a:endParaRPr lang="zh-CN" altLang="en-US" dirty="0"/>
          </a:p>
        </p:txBody>
      </p:sp>
      <p:sp>
        <p:nvSpPr>
          <p:cNvPr id="10"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en-US" altLang="zh-CN" dirty="0" smtClean="0"/>
              <a:t>	</a:t>
            </a:r>
            <a:r>
              <a:rPr lang="zh-CN" altLang="en-US" sz="2800" dirty="0" smtClean="0"/>
              <a:t>现在我们已经了解了所有的变量及其范围，按照穷举法解题的思路，我们需要设计一下正确买法所需满足的条件，假设公鸡数为</a:t>
            </a:r>
            <a:r>
              <a:rPr lang="en-US" altLang="zh-CN" sz="2800" dirty="0" smtClean="0"/>
              <a:t>i</a:t>
            </a:r>
            <a:r>
              <a:rPr lang="zh-CN" altLang="en-US" sz="2800" dirty="0" smtClean="0"/>
              <a:t>，母鸡数为</a:t>
            </a:r>
            <a:r>
              <a:rPr lang="en-US" altLang="zh-CN" sz="2800" dirty="0" smtClean="0"/>
              <a:t>j</a:t>
            </a:r>
            <a:r>
              <a:rPr lang="zh-CN" altLang="en-US" sz="2800" dirty="0" smtClean="0"/>
              <a:t>，小鸡数为</a:t>
            </a:r>
            <a:r>
              <a:rPr lang="en-US" altLang="zh-CN" sz="2800" dirty="0" smtClean="0"/>
              <a:t>k</a:t>
            </a:r>
            <a:r>
              <a:rPr lang="zh-CN" altLang="en-US" sz="2800" dirty="0" smtClean="0"/>
              <a:t>，则得到如下方程：</a:t>
            </a:r>
            <a:endParaRPr lang="zh-CN" altLang="en-US" sz="2800" dirty="0"/>
          </a:p>
        </p:txBody>
      </p:sp>
      <p:sp>
        <p:nvSpPr>
          <p:cNvPr id="11" name="AutoShape 4"/>
          <p:cNvSpPr>
            <a:spLocks/>
          </p:cNvSpPr>
          <p:nvPr/>
        </p:nvSpPr>
        <p:spPr bwMode="auto">
          <a:xfrm>
            <a:off x="1403350" y="3933825"/>
            <a:ext cx="431800" cy="1008063"/>
          </a:xfrm>
          <a:prstGeom prst="leftBrace">
            <a:avLst>
              <a:gd name="adj1" fmla="val 19455"/>
              <a:gd name="adj2" fmla="val 50000"/>
            </a:avLst>
          </a:prstGeom>
          <a:noFill/>
          <a:ln w="222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Text Box 8"/>
          <p:cNvSpPr txBox="1">
            <a:spLocks noChangeArrowheads="1"/>
          </p:cNvSpPr>
          <p:nvPr/>
        </p:nvSpPr>
        <p:spPr bwMode="auto">
          <a:xfrm>
            <a:off x="1979613" y="3933825"/>
            <a:ext cx="1008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t>百钱</a:t>
            </a:r>
          </a:p>
        </p:txBody>
      </p:sp>
      <p:sp>
        <p:nvSpPr>
          <p:cNvPr id="13" name="Text Box 9"/>
          <p:cNvSpPr txBox="1">
            <a:spLocks noChangeArrowheads="1"/>
          </p:cNvSpPr>
          <p:nvPr/>
        </p:nvSpPr>
        <p:spPr bwMode="auto">
          <a:xfrm>
            <a:off x="2051050" y="4508500"/>
            <a:ext cx="8651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t>百鸡</a:t>
            </a:r>
          </a:p>
        </p:txBody>
      </p:sp>
      <p:sp>
        <p:nvSpPr>
          <p:cNvPr id="14" name="Text Box 5"/>
          <p:cNvSpPr txBox="1">
            <a:spLocks noChangeArrowheads="1"/>
          </p:cNvSpPr>
          <p:nvPr/>
        </p:nvSpPr>
        <p:spPr bwMode="auto">
          <a:xfrm>
            <a:off x="3276600" y="3860800"/>
            <a:ext cx="4391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t>i *5+j *3+k/3==100</a:t>
            </a:r>
          </a:p>
        </p:txBody>
      </p:sp>
      <p:sp>
        <p:nvSpPr>
          <p:cNvPr id="15" name="Text Box 6"/>
          <p:cNvSpPr txBox="1">
            <a:spLocks noChangeArrowheads="1"/>
          </p:cNvSpPr>
          <p:nvPr/>
        </p:nvSpPr>
        <p:spPr bwMode="auto">
          <a:xfrm>
            <a:off x="3276600" y="4437063"/>
            <a:ext cx="338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t>I +j +k==100</a:t>
            </a:r>
          </a:p>
        </p:txBody>
      </p:sp>
    </p:spTree>
    <p:extLst>
      <p:ext uri="{BB962C8B-B14F-4D97-AF65-F5344CB8AC3E}">
        <p14:creationId xmlns:p14="http://schemas.microsoft.com/office/powerpoint/2010/main" val="32269377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ox(in)">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10" name="Rectangle 2"/>
          <p:cNvSpPr>
            <a:spLocks noGrp="1" noChangeArrowheads="1"/>
          </p:cNvSpPr>
          <p:nvPr>
            <p:ph type="title"/>
          </p:nvPr>
        </p:nvSpPr>
        <p:spPr>
          <a:xfrm>
            <a:off x="457200" y="274638"/>
            <a:ext cx="8229600" cy="1143000"/>
          </a:xfrm>
        </p:spPr>
        <p:txBody>
          <a:bodyPr/>
          <a:lstStyle/>
          <a:p>
            <a:r>
              <a:rPr lang="zh-CN" altLang="en-US" b="1" dirty="0"/>
              <a:t>编写程序</a:t>
            </a:r>
          </a:p>
        </p:txBody>
      </p:sp>
      <p:sp>
        <p:nvSpPr>
          <p:cNvPr id="11" name="Rectangle 3"/>
          <p:cNvSpPr txBox="1">
            <a:spLocks noChangeArrowheads="1"/>
          </p:cNvSpPr>
          <p:nvPr/>
        </p:nvSpPr>
        <p:spPr>
          <a:xfrm>
            <a:off x="418544" y="1893025"/>
            <a:ext cx="8229600" cy="452596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nSpc>
                <a:spcPct val="80000"/>
              </a:lnSpc>
              <a:buFontTx/>
              <a:buNone/>
            </a:pPr>
            <a:r>
              <a:rPr lang="en-US" altLang="zh-CN" sz="2400" b="1" dirty="0" smtClean="0"/>
              <a:t>#include&lt;stdio.h&gt;</a:t>
            </a:r>
          </a:p>
          <a:p>
            <a:pPr marL="609600" indent="-609600">
              <a:lnSpc>
                <a:spcPct val="80000"/>
              </a:lnSpc>
              <a:buFontTx/>
              <a:buNone/>
            </a:pPr>
            <a:r>
              <a:rPr lang="en-US" altLang="zh-CN" sz="2400" b="1" dirty="0" smtClean="0"/>
              <a:t>main()</a:t>
            </a:r>
          </a:p>
          <a:p>
            <a:pPr marL="609600" indent="-609600">
              <a:lnSpc>
                <a:spcPct val="80000"/>
              </a:lnSpc>
              <a:buFontTx/>
              <a:buNone/>
            </a:pPr>
            <a:r>
              <a:rPr lang="en-US" altLang="zh-CN" sz="2400" b="1" dirty="0" smtClean="0"/>
              <a:t>{</a:t>
            </a:r>
          </a:p>
          <a:p>
            <a:pPr marL="609600" indent="-609600">
              <a:lnSpc>
                <a:spcPct val="80000"/>
              </a:lnSpc>
              <a:buFontTx/>
              <a:buNone/>
            </a:pPr>
            <a:r>
              <a:rPr lang="en-US" altLang="zh-CN" sz="2400" b="1" dirty="0" smtClean="0"/>
              <a:t>	int  i , j , k;</a:t>
            </a:r>
          </a:p>
          <a:p>
            <a:pPr marL="609600" indent="-609600">
              <a:lnSpc>
                <a:spcPct val="80000"/>
              </a:lnSpc>
              <a:buFontTx/>
              <a:buNone/>
            </a:pPr>
            <a:r>
              <a:rPr lang="en-US" altLang="zh-CN" sz="2400" b="1" dirty="0" smtClean="0"/>
              <a:t>	/*</a:t>
            </a:r>
            <a:r>
              <a:rPr lang="zh-CN" altLang="en-US" sz="2400" b="1" dirty="0" smtClean="0"/>
              <a:t>准备输出格式*</a:t>
            </a:r>
            <a:r>
              <a:rPr lang="en-US" altLang="zh-CN" sz="2400" b="1" dirty="0" smtClean="0"/>
              <a:t>/</a:t>
            </a:r>
          </a:p>
          <a:p>
            <a:pPr marL="609600" indent="-609600">
              <a:lnSpc>
                <a:spcPct val="80000"/>
              </a:lnSpc>
              <a:buFontTx/>
              <a:buNone/>
            </a:pPr>
            <a:r>
              <a:rPr lang="en-US" altLang="zh-CN" sz="2400" b="1" dirty="0" smtClean="0"/>
              <a:t>	printf(“\t</a:t>
            </a:r>
            <a:r>
              <a:rPr lang="zh-CN" altLang="en-US" sz="2400" b="1" dirty="0" smtClean="0"/>
              <a:t>公鸡</a:t>
            </a:r>
            <a:r>
              <a:rPr lang="en-US" altLang="zh-CN" sz="2400" b="1" dirty="0" smtClean="0"/>
              <a:t>\t</a:t>
            </a:r>
            <a:r>
              <a:rPr lang="zh-CN" altLang="en-US" sz="2400" b="1" dirty="0" smtClean="0"/>
              <a:t>母鸡</a:t>
            </a:r>
            <a:r>
              <a:rPr lang="en-US" altLang="zh-CN" sz="2400" b="1" dirty="0" smtClean="0"/>
              <a:t>\t</a:t>
            </a:r>
            <a:r>
              <a:rPr lang="zh-CN" altLang="en-US" sz="2400" b="1" dirty="0" smtClean="0"/>
              <a:t>小鸡</a:t>
            </a:r>
            <a:r>
              <a:rPr lang="en-US" altLang="zh-CN" sz="2400" b="1" dirty="0" smtClean="0"/>
              <a:t>\n”);</a:t>
            </a:r>
          </a:p>
          <a:p>
            <a:pPr marL="609600" indent="-609600">
              <a:lnSpc>
                <a:spcPct val="80000"/>
              </a:lnSpc>
              <a:buFontTx/>
              <a:buNone/>
            </a:pPr>
            <a:r>
              <a:rPr lang="en-US" altLang="zh-CN" sz="2400" b="1" dirty="0" smtClean="0"/>
              <a:t>	for(i=0;i&lt;=20;i++)</a:t>
            </a:r>
          </a:p>
          <a:p>
            <a:pPr marL="609600" indent="-609600">
              <a:lnSpc>
                <a:spcPct val="80000"/>
              </a:lnSpc>
              <a:buFontTx/>
              <a:buNone/>
            </a:pPr>
            <a:r>
              <a:rPr lang="en-US" altLang="zh-CN" sz="2400" b="1" dirty="0" smtClean="0"/>
              <a:t>		for(j=0;j&lt;=33;j++)</a:t>
            </a:r>
          </a:p>
          <a:p>
            <a:pPr marL="609600" indent="-609600">
              <a:lnSpc>
                <a:spcPct val="80000"/>
              </a:lnSpc>
              <a:buFontTx/>
              <a:buNone/>
            </a:pPr>
            <a:r>
              <a:rPr lang="en-US" altLang="zh-CN" sz="2400" b="1" dirty="0" smtClean="0"/>
              <a:t>		    for(k=0;k&lt;=99;k+=3)</a:t>
            </a:r>
          </a:p>
          <a:p>
            <a:pPr marL="609600" indent="-609600">
              <a:lnSpc>
                <a:spcPct val="80000"/>
              </a:lnSpc>
              <a:buFontTx/>
              <a:buNone/>
            </a:pPr>
            <a:r>
              <a:rPr lang="en-US" altLang="zh-CN" sz="2400" b="1" dirty="0" smtClean="0"/>
              <a:t>		        if(i+j+k==100 &amp;&amp; i*5+j*3+k/3==100)</a:t>
            </a:r>
          </a:p>
          <a:p>
            <a:pPr marL="609600" indent="-609600">
              <a:lnSpc>
                <a:spcPct val="80000"/>
              </a:lnSpc>
              <a:buFontTx/>
              <a:buNone/>
            </a:pPr>
            <a:r>
              <a:rPr lang="en-US" altLang="zh-CN" sz="2400" b="1" dirty="0" smtClean="0"/>
              <a:t>			  printf(“\t%d\t%d\t%d\n” ,i ,j ,k);</a:t>
            </a:r>
          </a:p>
          <a:p>
            <a:pPr marL="609600" indent="-609600">
              <a:lnSpc>
                <a:spcPct val="80000"/>
              </a:lnSpc>
              <a:buFontTx/>
              <a:buNone/>
            </a:pPr>
            <a:r>
              <a:rPr lang="en-US" altLang="zh-CN" sz="2400" b="1" dirty="0" smtClean="0"/>
              <a:t>}</a:t>
            </a:r>
            <a:endParaRPr lang="en-US" altLang="zh-CN" sz="2400" b="1" dirty="0"/>
          </a:p>
        </p:txBody>
      </p:sp>
    </p:spTree>
    <p:extLst>
      <p:ext uri="{BB962C8B-B14F-4D97-AF65-F5344CB8AC3E}">
        <p14:creationId xmlns:p14="http://schemas.microsoft.com/office/powerpoint/2010/main" val="322693774"/>
      </p:ext>
    </p:extLst>
  </p:cSld>
  <p:clrMapOvr>
    <a:masterClrMapping/>
  </p:clrMapOvr>
  <p:transition>
    <p:pull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9" name="Rectangle 2"/>
          <p:cNvSpPr>
            <a:spLocks noGrp="1" noChangeArrowheads="1"/>
          </p:cNvSpPr>
          <p:nvPr>
            <p:ph type="title"/>
          </p:nvPr>
        </p:nvSpPr>
        <p:spPr>
          <a:xfrm>
            <a:off x="457200" y="274638"/>
            <a:ext cx="8229600" cy="1143000"/>
          </a:xfrm>
        </p:spPr>
        <p:txBody>
          <a:bodyPr/>
          <a:lstStyle/>
          <a:p>
            <a:r>
              <a:rPr lang="zh-CN" altLang="en-US" b="1" dirty="0" smtClean="0"/>
              <a:t>思考</a:t>
            </a:r>
            <a:endParaRPr lang="zh-CN" altLang="en-US" b="1" dirty="0"/>
          </a:p>
        </p:txBody>
      </p:sp>
      <p:sp>
        <p:nvSpPr>
          <p:cNvPr id="10" name="Rectangle 3"/>
          <p:cNvSpPr txBox="1">
            <a:spLocks noChangeArrowheads="1"/>
          </p:cNvSpPr>
          <p:nvPr/>
        </p:nvSpPr>
        <p:spPr>
          <a:xfrm>
            <a:off x="539750" y="1268413"/>
            <a:ext cx="8229600" cy="399256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buFontTx/>
              <a:buNone/>
            </a:pPr>
            <a:r>
              <a:rPr lang="en-US" altLang="zh-CN" dirty="0" smtClean="0"/>
              <a:t>			</a:t>
            </a:r>
          </a:p>
          <a:p>
            <a:pPr>
              <a:lnSpc>
                <a:spcPct val="150000"/>
              </a:lnSpc>
              <a:buFontTx/>
              <a:buNone/>
            </a:pPr>
            <a:r>
              <a:rPr lang="en-US" altLang="zh-CN" dirty="0" smtClean="0"/>
              <a:t>	</a:t>
            </a:r>
            <a:r>
              <a:rPr lang="zh-CN" altLang="en-US" dirty="0" smtClean="0"/>
              <a:t>刚才的百钱百鸡程序在循环次数上有</a:t>
            </a:r>
            <a:r>
              <a:rPr lang="en-US" altLang="zh-CN" dirty="0" smtClean="0"/>
              <a:t>24276</a:t>
            </a:r>
            <a:r>
              <a:rPr lang="zh-CN" altLang="en-US" dirty="0" smtClean="0"/>
              <a:t>次之多，那么有什么办法可以减少循环次数，而又不会遗漏答案呢？</a:t>
            </a:r>
            <a:endParaRPr lang="zh-CN" altLang="en-US" dirty="0"/>
          </a:p>
        </p:txBody>
      </p:sp>
    </p:spTree>
    <p:extLst>
      <p:ext uri="{BB962C8B-B14F-4D97-AF65-F5344CB8AC3E}">
        <p14:creationId xmlns:p14="http://schemas.microsoft.com/office/powerpoint/2010/main" val="322693774"/>
      </p:ext>
    </p:extLst>
  </p:cSld>
  <p:clrMapOvr>
    <a:masterClrMapping/>
  </p:clrMapOvr>
  <p:transition>
    <p:pull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9" name="Rectangle 2"/>
          <p:cNvSpPr>
            <a:spLocks noGrp="1" noChangeArrowheads="1"/>
          </p:cNvSpPr>
          <p:nvPr>
            <p:ph type="title"/>
          </p:nvPr>
        </p:nvSpPr>
        <p:spPr>
          <a:xfrm>
            <a:off x="457200" y="274638"/>
            <a:ext cx="8229600" cy="1143000"/>
          </a:xfrm>
        </p:spPr>
        <p:txBody>
          <a:bodyPr/>
          <a:lstStyle/>
          <a:p>
            <a:r>
              <a:rPr lang="zh-CN" altLang="en-US" b="1" dirty="0"/>
              <a:t>提示</a:t>
            </a:r>
          </a:p>
        </p:txBody>
      </p:sp>
      <p:sp>
        <p:nvSpPr>
          <p:cNvPr id="10"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buFontTx/>
              <a:buNone/>
            </a:pPr>
            <a:r>
              <a:rPr lang="en-US" altLang="zh-CN" dirty="0" smtClean="0"/>
              <a:t>	</a:t>
            </a:r>
            <a:r>
              <a:rPr lang="zh-CN" altLang="en-US" dirty="0" smtClean="0"/>
              <a:t>程序利用的是三重循环，想要减少循环次数，那么很显然，可以从以下两个方面思考：</a:t>
            </a:r>
          </a:p>
          <a:p>
            <a:pPr marL="990600" lvl="1" indent="-533400">
              <a:buFontTx/>
              <a:buAutoNum type="arabicPeriod"/>
            </a:pPr>
            <a:r>
              <a:rPr lang="zh-CN" altLang="en-US" dirty="0" smtClean="0"/>
              <a:t>减少</a:t>
            </a:r>
            <a:r>
              <a:rPr lang="en-US" altLang="zh-CN" dirty="0" smtClean="0"/>
              <a:t>i</a:t>
            </a:r>
            <a:r>
              <a:rPr lang="zh-CN" altLang="en-US" dirty="0" smtClean="0"/>
              <a:t>，</a:t>
            </a:r>
            <a:r>
              <a:rPr lang="en-US" altLang="zh-CN" dirty="0" smtClean="0"/>
              <a:t>j</a:t>
            </a:r>
            <a:r>
              <a:rPr lang="zh-CN" altLang="en-US" dirty="0" smtClean="0"/>
              <a:t>，</a:t>
            </a:r>
            <a:r>
              <a:rPr lang="en-US" altLang="zh-CN" dirty="0" smtClean="0"/>
              <a:t>k</a:t>
            </a:r>
            <a:r>
              <a:rPr lang="zh-CN" altLang="en-US" dirty="0" smtClean="0"/>
              <a:t>三个循环中的某一个或者几个的循环次数</a:t>
            </a:r>
          </a:p>
          <a:p>
            <a:pPr marL="990600" lvl="1" indent="-533400">
              <a:buFontTx/>
              <a:buAutoNum type="arabicPeriod"/>
            </a:pPr>
            <a:r>
              <a:rPr lang="zh-CN" altLang="en-US" dirty="0" smtClean="0">
                <a:solidFill>
                  <a:srgbClr val="FF0000"/>
                </a:solidFill>
              </a:rPr>
              <a:t>减少循环结构的重数</a:t>
            </a:r>
            <a:r>
              <a:rPr lang="zh-CN" altLang="en-US" dirty="0" smtClean="0"/>
              <a:t>，三重变两重或者一重</a:t>
            </a:r>
            <a:endParaRPr lang="zh-CN" altLang="en-US" dirty="0"/>
          </a:p>
        </p:txBody>
      </p:sp>
    </p:spTree>
    <p:extLst>
      <p:ext uri="{BB962C8B-B14F-4D97-AF65-F5344CB8AC3E}">
        <p14:creationId xmlns:p14="http://schemas.microsoft.com/office/powerpoint/2010/main" val="322693774"/>
      </p:ext>
    </p:extLst>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8" name="Rectangle 2"/>
          <p:cNvSpPr>
            <a:spLocks noGrp="1" noChangeArrowheads="1"/>
          </p:cNvSpPr>
          <p:nvPr>
            <p:ph type="title"/>
          </p:nvPr>
        </p:nvSpPr>
        <p:spPr>
          <a:xfrm>
            <a:off x="457200" y="274638"/>
            <a:ext cx="8229600" cy="1143000"/>
          </a:xfrm>
        </p:spPr>
        <p:txBody>
          <a:bodyPr/>
          <a:lstStyle/>
          <a:p>
            <a:r>
              <a:rPr lang="zh-CN" altLang="en-US" b="1" dirty="0"/>
              <a:t>分析</a:t>
            </a:r>
          </a:p>
        </p:txBody>
      </p:sp>
      <p:sp>
        <p:nvSpPr>
          <p:cNvPr id="11" name="Rectangle 3"/>
          <p:cNvSpPr txBox="1">
            <a:spLocks noChangeArrowheads="1"/>
          </p:cNvSpPr>
          <p:nvPr/>
        </p:nvSpPr>
        <p:spPr>
          <a:xfrm>
            <a:off x="457200" y="1600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en-US" altLang="zh-CN" dirty="0" smtClean="0"/>
              <a:t>	</a:t>
            </a:r>
            <a:r>
              <a:rPr lang="zh-CN" altLang="en-US" dirty="0" smtClean="0"/>
              <a:t>分析后我们发现第一种思路没前途，因为取值情况的分析很合理，即便可以减少也只是一点点，对总数</a:t>
            </a:r>
            <a:r>
              <a:rPr lang="en-US" altLang="zh-CN" dirty="0" smtClean="0"/>
              <a:t>2</a:t>
            </a:r>
            <a:r>
              <a:rPr lang="zh-CN" altLang="en-US" dirty="0" smtClean="0"/>
              <a:t>万多来说，减少的幅度很不明显。</a:t>
            </a:r>
          </a:p>
          <a:p>
            <a:pPr>
              <a:buFontTx/>
              <a:buNone/>
            </a:pPr>
            <a:r>
              <a:rPr lang="zh-CN" altLang="en-US" dirty="0" smtClean="0"/>
              <a:t>	所以我们考虑第二种思路，</a:t>
            </a:r>
            <a:r>
              <a:rPr lang="zh-CN" altLang="en-US" dirty="0" smtClean="0">
                <a:solidFill>
                  <a:srgbClr val="FF0000"/>
                </a:solidFill>
              </a:rPr>
              <a:t>减少循环的重数</a:t>
            </a:r>
            <a:r>
              <a:rPr lang="zh-CN" altLang="en-US" dirty="0" smtClean="0"/>
              <a:t>，我们观察方程后发现，其实，三重循环可以变成两重循环。</a:t>
            </a:r>
            <a:endParaRPr lang="zh-CN" altLang="en-US" dirty="0"/>
          </a:p>
        </p:txBody>
      </p:sp>
    </p:spTree>
    <p:extLst>
      <p:ext uri="{BB962C8B-B14F-4D97-AF65-F5344CB8AC3E}">
        <p14:creationId xmlns:p14="http://schemas.microsoft.com/office/powerpoint/2010/main" val="301987374"/>
      </p:ext>
    </p:extLst>
  </p:cSld>
  <p:clrMapOvr>
    <a:masterClrMapping/>
  </p:clrMapOvr>
  <p:transition>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11" name="Text Box 7"/>
          <p:cNvSpPr txBox="1">
            <a:spLocks noChangeArrowheads="1"/>
          </p:cNvSpPr>
          <p:nvPr/>
        </p:nvSpPr>
        <p:spPr bwMode="auto">
          <a:xfrm>
            <a:off x="827584" y="2121625"/>
            <a:ext cx="5616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dirty="0"/>
              <a:t>我们将条件方程改变一下：</a:t>
            </a:r>
          </a:p>
        </p:txBody>
      </p:sp>
      <p:sp>
        <p:nvSpPr>
          <p:cNvPr id="12" name="AutoShape 4"/>
          <p:cNvSpPr>
            <a:spLocks/>
          </p:cNvSpPr>
          <p:nvPr/>
        </p:nvSpPr>
        <p:spPr bwMode="auto">
          <a:xfrm>
            <a:off x="1063089" y="3212976"/>
            <a:ext cx="431800" cy="1008063"/>
          </a:xfrm>
          <a:prstGeom prst="leftBrace">
            <a:avLst>
              <a:gd name="adj1" fmla="val 19455"/>
              <a:gd name="adj2" fmla="val 50000"/>
            </a:avLst>
          </a:prstGeom>
          <a:noFill/>
          <a:ln w="222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5"/>
          <p:cNvSpPr txBox="1">
            <a:spLocks noChangeArrowheads="1"/>
          </p:cNvSpPr>
          <p:nvPr/>
        </p:nvSpPr>
        <p:spPr bwMode="auto">
          <a:xfrm>
            <a:off x="1835696" y="3212976"/>
            <a:ext cx="316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t>k=100 - i - j</a:t>
            </a:r>
          </a:p>
        </p:txBody>
      </p:sp>
      <p:sp>
        <p:nvSpPr>
          <p:cNvPr id="14" name="Text Box 6"/>
          <p:cNvSpPr txBox="1">
            <a:spLocks noChangeArrowheads="1"/>
          </p:cNvSpPr>
          <p:nvPr/>
        </p:nvSpPr>
        <p:spPr bwMode="auto">
          <a:xfrm>
            <a:off x="1730395" y="3945607"/>
            <a:ext cx="4391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t>i *5+j *3+k/3==100</a:t>
            </a:r>
          </a:p>
        </p:txBody>
      </p:sp>
      <p:sp>
        <p:nvSpPr>
          <p:cNvPr id="15" name="Text Box 8"/>
          <p:cNvSpPr txBox="1">
            <a:spLocks noChangeArrowheads="1"/>
          </p:cNvSpPr>
          <p:nvPr/>
        </p:nvSpPr>
        <p:spPr bwMode="auto">
          <a:xfrm>
            <a:off x="1278989" y="5085184"/>
            <a:ext cx="6624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400" b="1" dirty="0"/>
              <a:t>如此，便不再需要</a:t>
            </a:r>
            <a:r>
              <a:rPr lang="en-US" altLang="zh-CN" sz="2400" b="1" dirty="0"/>
              <a:t>k</a:t>
            </a:r>
            <a:r>
              <a:rPr lang="zh-CN" altLang="en-US" sz="2400" b="1" dirty="0"/>
              <a:t>循环了</a:t>
            </a:r>
          </a:p>
        </p:txBody>
      </p:sp>
    </p:spTree>
    <p:extLst>
      <p:ext uri="{BB962C8B-B14F-4D97-AF65-F5344CB8AC3E}">
        <p14:creationId xmlns:p14="http://schemas.microsoft.com/office/powerpoint/2010/main" val="301987374"/>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checkerboard(across)">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11" name="Rectangle 2"/>
          <p:cNvSpPr>
            <a:spLocks noGrp="1" noChangeArrowheads="1"/>
          </p:cNvSpPr>
          <p:nvPr>
            <p:ph type="title"/>
          </p:nvPr>
        </p:nvSpPr>
        <p:spPr>
          <a:xfrm>
            <a:off x="457200" y="274638"/>
            <a:ext cx="8229600" cy="1143000"/>
          </a:xfrm>
        </p:spPr>
        <p:txBody>
          <a:bodyPr/>
          <a:lstStyle/>
          <a:p>
            <a:r>
              <a:rPr lang="zh-CN" altLang="en-US" dirty="0" smtClean="0"/>
              <a:t>改进后的程序</a:t>
            </a:r>
            <a:endParaRPr lang="zh-CN" altLang="en-US" dirty="0"/>
          </a:p>
        </p:txBody>
      </p:sp>
      <p:sp>
        <p:nvSpPr>
          <p:cNvPr id="12" name="Rectangle 3"/>
          <p:cNvSpPr txBox="1">
            <a:spLocks noChangeArrowheads="1"/>
          </p:cNvSpPr>
          <p:nvPr/>
        </p:nvSpPr>
        <p:spPr>
          <a:xfrm>
            <a:off x="683568" y="16002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buFontTx/>
              <a:buNone/>
            </a:pPr>
            <a:r>
              <a:rPr lang="en-US" altLang="zh-CN" sz="2000" b="1" dirty="0" smtClean="0"/>
              <a:t>#include&lt;stdio.h&gt;</a:t>
            </a:r>
          </a:p>
          <a:p>
            <a:pPr>
              <a:lnSpc>
                <a:spcPct val="80000"/>
              </a:lnSpc>
              <a:buFontTx/>
              <a:buNone/>
            </a:pPr>
            <a:r>
              <a:rPr lang="en-US" altLang="zh-CN" sz="2000" b="1" dirty="0" smtClean="0"/>
              <a:t>main()</a:t>
            </a:r>
          </a:p>
          <a:p>
            <a:pPr>
              <a:lnSpc>
                <a:spcPct val="80000"/>
              </a:lnSpc>
              <a:buFontTx/>
              <a:buNone/>
            </a:pPr>
            <a:r>
              <a:rPr lang="en-US" altLang="zh-CN" sz="2000" b="1" dirty="0" smtClean="0"/>
              <a:t>{</a:t>
            </a:r>
          </a:p>
          <a:p>
            <a:pPr>
              <a:lnSpc>
                <a:spcPct val="80000"/>
              </a:lnSpc>
              <a:buFontTx/>
              <a:buNone/>
            </a:pPr>
            <a:r>
              <a:rPr lang="en-US" altLang="zh-CN" sz="2000" b="1" dirty="0" smtClean="0"/>
              <a:t>	int  i , j , k;</a:t>
            </a:r>
          </a:p>
          <a:p>
            <a:pPr>
              <a:lnSpc>
                <a:spcPct val="80000"/>
              </a:lnSpc>
              <a:buFontTx/>
              <a:buNone/>
            </a:pPr>
            <a:r>
              <a:rPr lang="en-US" altLang="zh-CN" sz="2000" b="1" dirty="0" smtClean="0"/>
              <a:t>	/*</a:t>
            </a:r>
            <a:r>
              <a:rPr lang="zh-CN" altLang="en-US" sz="2000" b="1" dirty="0" smtClean="0"/>
              <a:t>准备输出格式*</a:t>
            </a:r>
            <a:r>
              <a:rPr lang="en-US" altLang="zh-CN" sz="2000" b="1" dirty="0" smtClean="0"/>
              <a:t>/</a:t>
            </a:r>
          </a:p>
          <a:p>
            <a:pPr>
              <a:lnSpc>
                <a:spcPct val="80000"/>
              </a:lnSpc>
              <a:buFontTx/>
              <a:buNone/>
            </a:pPr>
            <a:r>
              <a:rPr lang="en-US" altLang="zh-CN" sz="2000" b="1" dirty="0" smtClean="0"/>
              <a:t>	printf("\t</a:t>
            </a:r>
            <a:r>
              <a:rPr lang="zh-CN" altLang="en-US" sz="2000" b="1" dirty="0" smtClean="0"/>
              <a:t>公鸡</a:t>
            </a:r>
            <a:r>
              <a:rPr lang="en-US" altLang="zh-CN" sz="2000" b="1" dirty="0" smtClean="0"/>
              <a:t>\t</a:t>
            </a:r>
            <a:r>
              <a:rPr lang="zh-CN" altLang="en-US" sz="2000" b="1" dirty="0" smtClean="0"/>
              <a:t>母鸡</a:t>
            </a:r>
            <a:r>
              <a:rPr lang="en-US" altLang="zh-CN" sz="2000" b="1" dirty="0" smtClean="0"/>
              <a:t>\t</a:t>
            </a:r>
            <a:r>
              <a:rPr lang="zh-CN" altLang="en-US" sz="2000" b="1" dirty="0" smtClean="0"/>
              <a:t>小鸡</a:t>
            </a:r>
            <a:r>
              <a:rPr lang="en-US" altLang="zh-CN" sz="2000" b="1" dirty="0" smtClean="0"/>
              <a:t>\n");</a:t>
            </a:r>
          </a:p>
          <a:p>
            <a:pPr>
              <a:lnSpc>
                <a:spcPct val="80000"/>
              </a:lnSpc>
              <a:buFontTx/>
              <a:buNone/>
            </a:pPr>
            <a:r>
              <a:rPr lang="en-US" altLang="zh-CN" sz="2000" b="1" dirty="0" smtClean="0"/>
              <a:t>	for(i=0;i&lt;=20;i++)</a:t>
            </a:r>
          </a:p>
          <a:p>
            <a:pPr>
              <a:lnSpc>
                <a:spcPct val="80000"/>
              </a:lnSpc>
              <a:buFontTx/>
              <a:buNone/>
            </a:pPr>
            <a:r>
              <a:rPr lang="en-US" altLang="zh-CN" sz="2000" b="1" dirty="0" smtClean="0"/>
              <a:t>		for(j=0;j&lt;=33;j++)</a:t>
            </a:r>
          </a:p>
          <a:p>
            <a:pPr>
              <a:lnSpc>
                <a:spcPct val="80000"/>
              </a:lnSpc>
              <a:buFontTx/>
              <a:buNone/>
            </a:pPr>
            <a:r>
              <a:rPr lang="en-US" altLang="zh-CN" sz="2000" b="1" dirty="0" smtClean="0"/>
              <a:t>		{	</a:t>
            </a:r>
          </a:p>
          <a:p>
            <a:pPr>
              <a:lnSpc>
                <a:spcPct val="80000"/>
              </a:lnSpc>
              <a:buFontTx/>
              <a:buNone/>
            </a:pPr>
            <a:r>
              <a:rPr lang="en-US" altLang="zh-CN" sz="2000" b="1" dirty="0" smtClean="0"/>
              <a:t>			k=100-i-j;</a:t>
            </a:r>
          </a:p>
          <a:p>
            <a:pPr>
              <a:lnSpc>
                <a:spcPct val="80000"/>
              </a:lnSpc>
              <a:buFontTx/>
              <a:buNone/>
            </a:pPr>
            <a:r>
              <a:rPr lang="en-US" altLang="zh-CN" sz="2000" b="1" dirty="0" smtClean="0"/>
              <a:t>			if(</a:t>
            </a:r>
            <a:r>
              <a:rPr lang="en-US" altLang="zh-CN" sz="2000" b="1" dirty="0" smtClean="0">
                <a:solidFill>
                  <a:srgbClr val="808000"/>
                </a:solidFill>
              </a:rPr>
              <a:t>k%3==0</a:t>
            </a:r>
            <a:r>
              <a:rPr lang="en-US" altLang="zh-CN" sz="2000" b="1" dirty="0" smtClean="0"/>
              <a:t> &amp;&amp; i*5+j*3+k/3==100)</a:t>
            </a:r>
          </a:p>
          <a:p>
            <a:pPr>
              <a:lnSpc>
                <a:spcPct val="80000"/>
              </a:lnSpc>
              <a:buFontTx/>
              <a:buNone/>
            </a:pPr>
            <a:r>
              <a:rPr lang="en-US" altLang="zh-CN" sz="2000" b="1" dirty="0" smtClean="0"/>
              <a:t>				printf("\t%d\t%d\t%d\n" ,i ,j ,k);</a:t>
            </a:r>
          </a:p>
          <a:p>
            <a:pPr>
              <a:lnSpc>
                <a:spcPct val="80000"/>
              </a:lnSpc>
              <a:buFontTx/>
              <a:buNone/>
            </a:pPr>
            <a:r>
              <a:rPr lang="en-US" altLang="zh-CN" sz="2000" b="1" dirty="0" smtClean="0"/>
              <a:t>		}</a:t>
            </a:r>
          </a:p>
          <a:p>
            <a:pPr>
              <a:lnSpc>
                <a:spcPct val="80000"/>
              </a:lnSpc>
              <a:buFontTx/>
              <a:buNone/>
            </a:pPr>
            <a:r>
              <a:rPr lang="en-US" altLang="zh-CN" sz="2000" b="1" dirty="0" smtClean="0"/>
              <a:t>}</a:t>
            </a:r>
            <a:endParaRPr lang="en-US" altLang="zh-CN" sz="2000" b="1" dirty="0"/>
          </a:p>
        </p:txBody>
      </p:sp>
    </p:spTree>
    <p:extLst>
      <p:ext uri="{BB962C8B-B14F-4D97-AF65-F5344CB8AC3E}">
        <p14:creationId xmlns:p14="http://schemas.microsoft.com/office/powerpoint/2010/main" val="301987374"/>
      </p:ext>
    </p:extLst>
  </p:cSld>
  <p:clrMapOvr>
    <a:masterClrMapping/>
  </p:clrMapOvr>
  <p:transition>
    <p:pull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9" name="组合 8"/>
          <p:cNvGrpSpPr/>
          <p:nvPr/>
        </p:nvGrpSpPr>
        <p:grpSpPr>
          <a:xfrm>
            <a:off x="0" y="692696"/>
            <a:ext cx="3705295" cy="1200329"/>
            <a:chOff x="0" y="692696"/>
            <a:chExt cx="3705295" cy="1200329"/>
          </a:xfrm>
        </p:grpSpPr>
        <p:sp>
          <p:nvSpPr>
            <p:cNvPr id="3" name="TextBox 2"/>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4" name="TextBox 3"/>
            <p:cNvSpPr txBox="1"/>
            <p:nvPr/>
          </p:nvSpPr>
          <p:spPr>
            <a:xfrm>
              <a:off x="827584" y="1052736"/>
              <a:ext cx="28777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  模仿练习</a:t>
              </a:r>
              <a:r>
                <a:rPr lang="en-US" altLang="zh-CN" sz="2800" dirty="0" smtClean="0">
                  <a:solidFill>
                    <a:srgbClr val="FFF24C"/>
                  </a:solidFill>
                  <a:latin typeface="黑体" pitchFamily="49" charset="-122"/>
                  <a:ea typeface="黑体" pitchFamily="49" charset="-122"/>
                </a:rPr>
                <a:t>1</a:t>
              </a:r>
              <a:endParaRPr lang="zh-CN" altLang="en-US" sz="2800" dirty="0">
                <a:solidFill>
                  <a:srgbClr val="FFF24C"/>
                </a:solidFill>
                <a:latin typeface="黑体" pitchFamily="49" charset="-122"/>
                <a:ea typeface="黑体" pitchFamily="49" charset="-122"/>
              </a:endParaRPr>
            </a:p>
          </p:txBody>
        </p:sp>
      </p:grpSp>
      <p:sp>
        <p:nvSpPr>
          <p:cNvPr id="6" name="TextBox 5"/>
          <p:cNvSpPr txBox="1"/>
          <p:nvPr/>
        </p:nvSpPr>
        <p:spPr>
          <a:xfrm>
            <a:off x="107504" y="1700808"/>
            <a:ext cx="8784976" cy="4154984"/>
          </a:xfrm>
          <a:prstGeom prst="rect">
            <a:avLst/>
          </a:prstGeom>
          <a:noFill/>
        </p:spPr>
        <p:txBody>
          <a:bodyPr wrap="square" rtlCol="0">
            <a:spAutoFit/>
          </a:bodyPr>
          <a:lstStyle/>
          <a:p>
            <a:r>
              <a:rPr lang="zh-CN" altLang="zh-CN" sz="2400" b="1" dirty="0" smtClean="0">
                <a:solidFill>
                  <a:schemeClr val="bg1"/>
                </a:solidFill>
                <a:latin typeface="黑体" pitchFamily="49" charset="-122"/>
                <a:ea typeface="黑体" pitchFamily="49" charset="-122"/>
              </a:rPr>
              <a:t>编程，输出</a:t>
            </a:r>
            <a:r>
              <a:rPr lang="en-US" altLang="zh-CN" sz="2400" b="1" dirty="0" smtClean="0">
                <a:solidFill>
                  <a:schemeClr val="bg1"/>
                </a:solidFill>
                <a:latin typeface="黑体" pitchFamily="49" charset="-122"/>
                <a:ea typeface="黑体" pitchFamily="49" charset="-122"/>
              </a:rPr>
              <a:t>200</a:t>
            </a:r>
            <a:r>
              <a:rPr lang="zh-CN" altLang="zh-CN" sz="2400" b="1" dirty="0" smtClean="0">
                <a:solidFill>
                  <a:schemeClr val="bg1"/>
                </a:solidFill>
                <a:latin typeface="黑体" pitchFamily="49" charset="-122"/>
                <a:ea typeface="黑体" pitchFamily="49" charset="-122"/>
              </a:rPr>
              <a:t>以内（含</a:t>
            </a:r>
            <a:r>
              <a:rPr lang="en-US" altLang="zh-CN" sz="2400" b="1" dirty="0" smtClean="0">
                <a:solidFill>
                  <a:schemeClr val="bg1"/>
                </a:solidFill>
                <a:latin typeface="黑体" pitchFamily="49" charset="-122"/>
                <a:ea typeface="黑体" pitchFamily="49" charset="-122"/>
              </a:rPr>
              <a:t>200</a:t>
            </a:r>
            <a:r>
              <a:rPr lang="zh-CN" altLang="zh-CN" sz="2400" b="1" dirty="0" smtClean="0">
                <a:solidFill>
                  <a:schemeClr val="bg1"/>
                </a:solidFill>
                <a:latin typeface="黑体" pitchFamily="49" charset="-122"/>
                <a:ea typeface="黑体" pitchFamily="49" charset="-122"/>
              </a:rPr>
              <a:t>）所有完全平方数</a:t>
            </a:r>
            <a:r>
              <a:rPr lang="en-US" altLang="zh-CN" sz="2400" b="1" dirty="0" smtClean="0">
                <a:solidFill>
                  <a:schemeClr val="bg1"/>
                </a:solidFill>
                <a:latin typeface="黑体" pitchFamily="49" charset="-122"/>
                <a:ea typeface="黑体" pitchFamily="49" charset="-122"/>
              </a:rPr>
              <a:t>C</a:t>
            </a:r>
            <a:r>
              <a:rPr lang="zh-CN" altLang="zh-CN" sz="2400" b="1" dirty="0" smtClean="0">
                <a:solidFill>
                  <a:schemeClr val="bg1"/>
                </a:solidFill>
                <a:latin typeface="黑体" pitchFamily="49" charset="-122"/>
                <a:ea typeface="黑体" pitchFamily="49" charset="-122"/>
              </a:rPr>
              <a:t>（满足</a:t>
            </a:r>
            <a:r>
              <a:rPr lang="en-US" altLang="zh-CN" sz="2400" b="1" dirty="0" smtClean="0">
                <a:solidFill>
                  <a:schemeClr val="bg1"/>
                </a:solidFill>
                <a:latin typeface="黑体" pitchFamily="49" charset="-122"/>
                <a:ea typeface="黑体" pitchFamily="49" charset="-122"/>
              </a:rPr>
              <a:t>C</a:t>
            </a:r>
            <a:r>
              <a:rPr lang="en-US" altLang="zh-CN" sz="2400" b="1" baseline="30000" dirty="0" smtClean="0">
                <a:solidFill>
                  <a:schemeClr val="bg1"/>
                </a:solidFill>
                <a:latin typeface="黑体" pitchFamily="49" charset="-122"/>
                <a:ea typeface="黑体" pitchFamily="49" charset="-122"/>
              </a:rPr>
              <a:t>2</a:t>
            </a:r>
            <a:r>
              <a:rPr lang="en-US" altLang="zh-CN" sz="2400" b="1" dirty="0" smtClean="0">
                <a:solidFill>
                  <a:schemeClr val="bg1"/>
                </a:solidFill>
                <a:latin typeface="黑体" pitchFamily="49" charset="-122"/>
                <a:ea typeface="黑体" pitchFamily="49" charset="-122"/>
              </a:rPr>
              <a:t>=A</a:t>
            </a:r>
            <a:r>
              <a:rPr lang="en-US" altLang="zh-CN" sz="2400" b="1" baseline="30000" dirty="0" smtClean="0">
                <a:solidFill>
                  <a:schemeClr val="bg1"/>
                </a:solidFill>
                <a:latin typeface="黑体" pitchFamily="49" charset="-122"/>
                <a:ea typeface="黑体" pitchFamily="49" charset="-122"/>
              </a:rPr>
              <a:t>2</a:t>
            </a:r>
            <a:r>
              <a:rPr lang="en-US" altLang="zh-CN" sz="2400" b="1" dirty="0" smtClean="0">
                <a:solidFill>
                  <a:schemeClr val="bg1"/>
                </a:solidFill>
                <a:latin typeface="黑体" pitchFamily="49" charset="-122"/>
                <a:ea typeface="黑体" pitchFamily="49" charset="-122"/>
              </a:rPr>
              <a:t>+B</a:t>
            </a:r>
            <a:r>
              <a:rPr lang="en-US" altLang="zh-CN" sz="2400" b="1" baseline="30000" dirty="0" smtClean="0">
                <a:solidFill>
                  <a:schemeClr val="bg1"/>
                </a:solidFill>
                <a:latin typeface="黑体" pitchFamily="49" charset="-122"/>
                <a:ea typeface="黑体" pitchFamily="49" charset="-122"/>
              </a:rPr>
              <a:t>2</a:t>
            </a:r>
            <a:r>
              <a:rPr lang="zh-CN" altLang="zh-CN" sz="2400" b="1" dirty="0" smtClean="0">
                <a:solidFill>
                  <a:schemeClr val="bg1"/>
                </a:solidFill>
                <a:latin typeface="黑体" pitchFamily="49" charset="-122"/>
                <a:ea typeface="黑体" pitchFamily="49" charset="-122"/>
              </a:rPr>
              <a:t>）及其个数。</a:t>
            </a:r>
          </a:p>
          <a:p>
            <a:pPr algn="r"/>
            <a:r>
              <a:rPr lang="zh-CN" altLang="zh-CN" sz="2400" b="1" dirty="0" smtClean="0">
                <a:solidFill>
                  <a:schemeClr val="bg1"/>
                </a:solidFill>
                <a:latin typeface="黑体" pitchFamily="49" charset="-122"/>
                <a:ea typeface="黑体" pitchFamily="49" charset="-122"/>
              </a:rPr>
              <a:t>结果：</a:t>
            </a:r>
            <a:r>
              <a:rPr lang="en-US" altLang="zh-CN" sz="2400" b="1" dirty="0" smtClean="0">
                <a:solidFill>
                  <a:schemeClr val="bg1"/>
                </a:solidFill>
                <a:latin typeface="黑体" pitchFamily="49" charset="-122"/>
                <a:ea typeface="黑体" pitchFamily="49" charset="-122"/>
              </a:rPr>
              <a:t>254</a:t>
            </a:r>
            <a:r>
              <a:rPr lang="zh-CN" altLang="zh-CN" sz="2400" b="1" dirty="0" smtClean="0">
                <a:solidFill>
                  <a:schemeClr val="bg1"/>
                </a:solidFill>
                <a:latin typeface="黑体" pitchFamily="49" charset="-122"/>
                <a:ea typeface="黑体" pitchFamily="49" charset="-122"/>
              </a:rPr>
              <a:t>个</a:t>
            </a:r>
            <a:r>
              <a:rPr lang="en-US" altLang="zh-CN" sz="2400" b="1" dirty="0" smtClean="0">
                <a:solidFill>
                  <a:schemeClr val="bg1"/>
                </a:solidFill>
                <a:latin typeface="黑体" pitchFamily="49" charset="-122"/>
                <a:ea typeface="黑体" pitchFamily="49" charset="-122"/>
              </a:rPr>
              <a:t>C</a:t>
            </a:r>
            <a:r>
              <a:rPr lang="zh-CN" altLang="zh-CN" sz="2400" b="1" dirty="0" smtClean="0">
                <a:solidFill>
                  <a:schemeClr val="bg1"/>
                </a:solidFill>
                <a:latin typeface="黑体" pitchFamily="49" charset="-122"/>
                <a:ea typeface="黑体" pitchFamily="49" charset="-122"/>
              </a:rPr>
              <a:t>：</a:t>
            </a:r>
          </a:p>
          <a:p>
            <a:pPr algn="r"/>
            <a:r>
              <a:rPr lang="en-US" altLang="zh-CN" sz="2400" b="1" dirty="0" smtClean="0">
                <a:solidFill>
                  <a:schemeClr val="bg1"/>
                </a:solidFill>
                <a:latin typeface="黑体" pitchFamily="49" charset="-122"/>
                <a:ea typeface="黑体" pitchFamily="49" charset="-122"/>
              </a:rPr>
              <a:t>      No.   C    A     B</a:t>
            </a:r>
            <a:endParaRPr lang="zh-CN" altLang="zh-CN" sz="2400" b="1" dirty="0" smtClean="0">
              <a:solidFill>
                <a:schemeClr val="bg1"/>
              </a:solidFill>
              <a:latin typeface="黑体" pitchFamily="49" charset="-122"/>
              <a:ea typeface="黑体" pitchFamily="49" charset="-122"/>
            </a:endParaRPr>
          </a:p>
          <a:p>
            <a:pPr algn="r"/>
            <a:r>
              <a:rPr lang="en-US" altLang="zh-CN" sz="2400" b="1" dirty="0" smtClean="0">
                <a:solidFill>
                  <a:schemeClr val="bg1"/>
                </a:solidFill>
                <a:latin typeface="黑体" pitchFamily="49" charset="-122"/>
                <a:ea typeface="黑体" pitchFamily="49" charset="-122"/>
              </a:rPr>
              <a:t>      1     5    3     4</a:t>
            </a:r>
            <a:endParaRPr lang="zh-CN" altLang="zh-CN" sz="2400" b="1" dirty="0" smtClean="0">
              <a:solidFill>
                <a:schemeClr val="bg1"/>
              </a:solidFill>
              <a:latin typeface="黑体" pitchFamily="49" charset="-122"/>
              <a:ea typeface="黑体" pitchFamily="49" charset="-122"/>
            </a:endParaRPr>
          </a:p>
          <a:p>
            <a:pPr algn="r"/>
            <a:r>
              <a:rPr lang="en-US" altLang="zh-CN" sz="2400" b="1" dirty="0" smtClean="0">
                <a:solidFill>
                  <a:schemeClr val="bg1"/>
                </a:solidFill>
                <a:latin typeface="黑体" pitchFamily="49" charset="-122"/>
                <a:ea typeface="黑体" pitchFamily="49" charset="-122"/>
              </a:rPr>
              <a:t>      2     5    4     3</a:t>
            </a:r>
            <a:endParaRPr lang="zh-CN" altLang="zh-CN" sz="2400" b="1" dirty="0" smtClean="0">
              <a:solidFill>
                <a:schemeClr val="bg1"/>
              </a:solidFill>
              <a:latin typeface="黑体" pitchFamily="49" charset="-122"/>
              <a:ea typeface="黑体" pitchFamily="49" charset="-122"/>
            </a:endParaRPr>
          </a:p>
          <a:p>
            <a:pPr algn="r"/>
            <a:r>
              <a:rPr lang="en-US" altLang="zh-CN" sz="2400" b="1" dirty="0" smtClean="0">
                <a:solidFill>
                  <a:schemeClr val="bg1"/>
                </a:solidFill>
                <a:latin typeface="黑体" pitchFamily="49" charset="-122"/>
                <a:ea typeface="黑体" pitchFamily="49" charset="-122"/>
              </a:rPr>
              <a:t>      3    10    6     8</a:t>
            </a:r>
            <a:endParaRPr lang="zh-CN" altLang="zh-CN" sz="2400" b="1" dirty="0" smtClean="0">
              <a:solidFill>
                <a:schemeClr val="bg1"/>
              </a:solidFill>
              <a:latin typeface="黑体" pitchFamily="49" charset="-122"/>
              <a:ea typeface="黑体" pitchFamily="49" charset="-122"/>
            </a:endParaRPr>
          </a:p>
          <a:p>
            <a:pPr algn="r"/>
            <a:r>
              <a:rPr lang="en-US" altLang="zh-CN" sz="2400" b="1" dirty="0" smtClean="0">
                <a:solidFill>
                  <a:schemeClr val="bg1"/>
                </a:solidFill>
                <a:latin typeface="黑体" pitchFamily="49" charset="-122"/>
                <a:ea typeface="黑体" pitchFamily="49" charset="-122"/>
              </a:rPr>
              <a:t>      4    10    8     6</a:t>
            </a:r>
            <a:endParaRPr lang="zh-CN" altLang="zh-CN" sz="2400" b="1" dirty="0" smtClean="0">
              <a:solidFill>
                <a:schemeClr val="bg1"/>
              </a:solidFill>
              <a:latin typeface="黑体" pitchFamily="49" charset="-122"/>
              <a:ea typeface="黑体" pitchFamily="49" charset="-122"/>
            </a:endParaRPr>
          </a:p>
          <a:p>
            <a:pPr algn="r"/>
            <a:r>
              <a:rPr lang="en-US" altLang="zh-CN" sz="2400" b="1" dirty="0" smtClean="0">
                <a:solidFill>
                  <a:schemeClr val="bg1"/>
                </a:solidFill>
                <a:latin typeface="黑体" pitchFamily="49" charset="-122"/>
                <a:ea typeface="黑体" pitchFamily="49" charset="-122"/>
              </a:rPr>
              <a:t>      5    13    5    12</a:t>
            </a:r>
            <a:endParaRPr lang="zh-CN" altLang="zh-CN" sz="2400" b="1" dirty="0" smtClean="0">
              <a:solidFill>
                <a:schemeClr val="bg1"/>
              </a:solidFill>
              <a:latin typeface="黑体" pitchFamily="49" charset="-122"/>
              <a:ea typeface="黑体" pitchFamily="49" charset="-122"/>
            </a:endParaRPr>
          </a:p>
          <a:p>
            <a:pPr algn="r"/>
            <a:r>
              <a:rPr lang="en-US" altLang="zh-CN" sz="2400" b="1" dirty="0" smtClean="0">
                <a:solidFill>
                  <a:schemeClr val="bg1"/>
                </a:solidFill>
                <a:latin typeface="黑体" pitchFamily="49" charset="-122"/>
                <a:ea typeface="黑体" pitchFamily="49" charset="-122"/>
              </a:rPr>
              <a:t>      6    13   12     5</a:t>
            </a:r>
            <a:endParaRPr lang="zh-CN" altLang="zh-CN" sz="2400" b="1" dirty="0" smtClean="0">
              <a:solidFill>
                <a:schemeClr val="bg1"/>
              </a:solidFill>
              <a:latin typeface="黑体" pitchFamily="49" charset="-122"/>
              <a:ea typeface="黑体" pitchFamily="49" charset="-122"/>
            </a:endParaRPr>
          </a:p>
          <a:p>
            <a:pPr algn="r"/>
            <a:r>
              <a:rPr lang="en-US" altLang="zh-CN" sz="2400" b="1" dirty="0" smtClean="0">
                <a:solidFill>
                  <a:schemeClr val="bg1"/>
                </a:solidFill>
                <a:latin typeface="黑体" pitchFamily="49" charset="-122"/>
                <a:ea typeface="黑体" pitchFamily="49" charset="-122"/>
              </a:rPr>
              <a:t>…………</a:t>
            </a:r>
            <a:endParaRPr lang="zh-CN" altLang="zh-CN" sz="2400" b="1" dirty="0" smtClean="0">
              <a:solidFill>
                <a:schemeClr val="bg1"/>
              </a:solidFill>
              <a:latin typeface="黑体" pitchFamily="49" charset="-122"/>
              <a:ea typeface="黑体" pitchFamily="49" charset="-122"/>
            </a:endParaRPr>
          </a:p>
        </p:txBody>
      </p:sp>
      <p:sp>
        <p:nvSpPr>
          <p:cNvPr id="7" name="TextBox 6"/>
          <p:cNvSpPr txBox="1"/>
          <p:nvPr/>
        </p:nvSpPr>
        <p:spPr>
          <a:xfrm>
            <a:off x="1187624" y="2564904"/>
            <a:ext cx="4464496" cy="1908215"/>
          </a:xfrm>
          <a:prstGeom prst="rect">
            <a:avLst/>
          </a:prstGeom>
          <a:noFill/>
        </p:spPr>
        <p:txBody>
          <a:bodyPr wrap="square" rtlCol="0">
            <a:spAutoFit/>
          </a:bodyPr>
          <a:lstStyle/>
          <a:p>
            <a:r>
              <a:rPr lang="en-US" altLang="zh-CN" sz="2000" b="1" dirty="0" smtClean="0">
                <a:solidFill>
                  <a:srgbClr val="FFF24C"/>
                </a:solidFill>
                <a:latin typeface="黑体" pitchFamily="49" charset="-122"/>
                <a:ea typeface="黑体" pitchFamily="49" charset="-122"/>
              </a:rPr>
              <a:t>    </a:t>
            </a:r>
            <a:r>
              <a:rPr lang="zh-CN" altLang="zh-CN" sz="2000" b="1" dirty="0" smtClean="0">
                <a:solidFill>
                  <a:srgbClr val="FFF24C"/>
                </a:solidFill>
                <a:latin typeface="黑体" pitchFamily="49" charset="-122"/>
                <a:ea typeface="黑体" pitchFamily="49" charset="-122"/>
              </a:rPr>
              <a:t>影响答案的因素有</a:t>
            </a:r>
            <a:r>
              <a:rPr lang="en-US" altLang="zh-CN" sz="2000" b="1" dirty="0" smtClean="0">
                <a:solidFill>
                  <a:srgbClr val="FFF24C"/>
                </a:solidFill>
                <a:latin typeface="黑体" pitchFamily="49" charset="-122"/>
                <a:ea typeface="黑体" pitchFamily="49" charset="-122"/>
              </a:rPr>
              <a:t>A</a:t>
            </a:r>
            <a:r>
              <a:rPr lang="zh-CN" altLang="zh-CN" sz="2000" b="1" dirty="0" smtClean="0">
                <a:solidFill>
                  <a:srgbClr val="FFF24C"/>
                </a:solidFill>
                <a:latin typeface="黑体" pitchFamily="49" charset="-122"/>
                <a:ea typeface="黑体" pitchFamily="49" charset="-122"/>
              </a:rPr>
              <a:t>、</a:t>
            </a:r>
            <a:r>
              <a:rPr lang="en-US" altLang="zh-CN" sz="2000" b="1" dirty="0" smtClean="0">
                <a:solidFill>
                  <a:srgbClr val="FFF24C"/>
                </a:solidFill>
                <a:latin typeface="黑体" pitchFamily="49" charset="-122"/>
                <a:ea typeface="黑体" pitchFamily="49" charset="-122"/>
              </a:rPr>
              <a:t>B</a:t>
            </a:r>
            <a:r>
              <a:rPr lang="zh-CN" altLang="zh-CN" sz="2000" b="1" dirty="0" smtClean="0">
                <a:solidFill>
                  <a:srgbClr val="FFF24C"/>
                </a:solidFill>
                <a:latin typeface="黑体" pitchFamily="49" charset="-122"/>
                <a:ea typeface="黑体" pitchFamily="49" charset="-122"/>
              </a:rPr>
              <a:t>、</a:t>
            </a:r>
            <a:r>
              <a:rPr lang="en-US" altLang="zh-CN" sz="2000" b="1" dirty="0" smtClean="0">
                <a:solidFill>
                  <a:srgbClr val="FFF24C"/>
                </a:solidFill>
                <a:latin typeface="黑体" pitchFamily="49" charset="-122"/>
                <a:ea typeface="黑体" pitchFamily="49" charset="-122"/>
              </a:rPr>
              <a:t>C</a:t>
            </a:r>
            <a:r>
              <a:rPr lang="zh-CN" altLang="zh-CN" sz="2000" b="1" dirty="0" smtClean="0">
                <a:solidFill>
                  <a:srgbClr val="FFF24C"/>
                </a:solidFill>
                <a:latin typeface="黑体" pitchFamily="49" charset="-122"/>
                <a:ea typeface="黑体" pitchFamily="49" charset="-122"/>
              </a:rPr>
              <a:t>，它们的取值范围均为</a:t>
            </a:r>
            <a:r>
              <a:rPr lang="en-US" altLang="zh-CN" sz="2000" b="1" dirty="0" smtClean="0">
                <a:solidFill>
                  <a:srgbClr val="FFF24C"/>
                </a:solidFill>
                <a:latin typeface="黑体" pitchFamily="49" charset="-122"/>
                <a:ea typeface="黑体" pitchFamily="49" charset="-122"/>
              </a:rPr>
              <a:t>1</a:t>
            </a:r>
            <a:r>
              <a:rPr lang="zh-CN" altLang="zh-CN" sz="2000" b="1" dirty="0" smtClean="0">
                <a:solidFill>
                  <a:srgbClr val="FFF24C"/>
                </a:solidFill>
                <a:latin typeface="黑体" pitchFamily="49" charset="-122"/>
                <a:ea typeface="黑体" pitchFamily="49" charset="-122"/>
              </a:rPr>
              <a:t>～</a:t>
            </a:r>
            <a:r>
              <a:rPr lang="en-US" altLang="zh-CN" sz="2000" b="1" dirty="0" smtClean="0">
                <a:solidFill>
                  <a:srgbClr val="FFF24C"/>
                </a:solidFill>
                <a:latin typeface="黑体" pitchFamily="49" charset="-122"/>
                <a:ea typeface="黑体" pitchFamily="49" charset="-122"/>
              </a:rPr>
              <a:t>200</a:t>
            </a:r>
            <a:r>
              <a:rPr lang="zh-CN" altLang="zh-CN" sz="2000" b="1" dirty="0" smtClean="0">
                <a:solidFill>
                  <a:srgbClr val="FFF24C"/>
                </a:solidFill>
                <a:latin typeface="黑体" pitchFamily="49" charset="-122"/>
                <a:ea typeface="黑体" pitchFamily="49" charset="-122"/>
              </a:rPr>
              <a:t>。所以用三重循环穷举</a:t>
            </a:r>
            <a:r>
              <a:rPr lang="en-US" altLang="zh-CN" sz="2000" b="1" dirty="0" smtClean="0">
                <a:solidFill>
                  <a:srgbClr val="FFF24C"/>
                </a:solidFill>
                <a:latin typeface="黑体" pitchFamily="49" charset="-122"/>
                <a:ea typeface="黑体" pitchFamily="49" charset="-122"/>
              </a:rPr>
              <a:t>A</a:t>
            </a:r>
            <a:r>
              <a:rPr lang="zh-CN" altLang="zh-CN" sz="2000" b="1" dirty="0" smtClean="0">
                <a:solidFill>
                  <a:srgbClr val="FFF24C"/>
                </a:solidFill>
                <a:latin typeface="黑体" pitchFamily="49" charset="-122"/>
                <a:ea typeface="黑体" pitchFamily="49" charset="-122"/>
              </a:rPr>
              <a:t>、</a:t>
            </a:r>
            <a:r>
              <a:rPr lang="en-US" altLang="zh-CN" sz="2000" b="1" dirty="0" smtClean="0">
                <a:solidFill>
                  <a:srgbClr val="FFF24C"/>
                </a:solidFill>
                <a:latin typeface="黑体" pitchFamily="49" charset="-122"/>
                <a:ea typeface="黑体" pitchFamily="49" charset="-122"/>
              </a:rPr>
              <a:t>B</a:t>
            </a:r>
            <a:r>
              <a:rPr lang="zh-CN" altLang="zh-CN" sz="2000" b="1" dirty="0" smtClean="0">
                <a:solidFill>
                  <a:srgbClr val="FFF24C"/>
                </a:solidFill>
                <a:latin typeface="黑体" pitchFamily="49" charset="-122"/>
                <a:ea typeface="黑体" pitchFamily="49" charset="-122"/>
              </a:rPr>
              <a:t>、</a:t>
            </a:r>
            <a:r>
              <a:rPr lang="en-US" altLang="zh-CN" sz="2000" b="1" dirty="0" smtClean="0">
                <a:solidFill>
                  <a:srgbClr val="FFF24C"/>
                </a:solidFill>
                <a:latin typeface="黑体" pitchFamily="49" charset="-122"/>
                <a:ea typeface="黑体" pitchFamily="49" charset="-122"/>
              </a:rPr>
              <a:t>C</a:t>
            </a:r>
            <a:r>
              <a:rPr lang="zh-CN" altLang="zh-CN" sz="2000" b="1" dirty="0" smtClean="0">
                <a:solidFill>
                  <a:srgbClr val="FFF24C"/>
                </a:solidFill>
                <a:latin typeface="黑体" pitchFamily="49" charset="-122"/>
                <a:ea typeface="黑体" pitchFamily="49" charset="-122"/>
              </a:rPr>
              <a:t>可能的值，输出满足条件</a:t>
            </a:r>
            <a:r>
              <a:rPr lang="en-US" altLang="zh-CN" sz="2000" b="1" dirty="0" smtClean="0">
                <a:solidFill>
                  <a:srgbClr val="FFF24C"/>
                </a:solidFill>
                <a:latin typeface="黑体" pitchFamily="49" charset="-122"/>
                <a:ea typeface="黑体" pitchFamily="49" charset="-122"/>
              </a:rPr>
              <a:t>C</a:t>
            </a:r>
            <a:r>
              <a:rPr lang="en-US" altLang="zh-CN" sz="2000" b="1" baseline="30000" dirty="0" smtClean="0">
                <a:solidFill>
                  <a:srgbClr val="FFF24C"/>
                </a:solidFill>
                <a:latin typeface="黑体" pitchFamily="49" charset="-122"/>
                <a:ea typeface="黑体" pitchFamily="49" charset="-122"/>
              </a:rPr>
              <a:t>2</a:t>
            </a:r>
            <a:r>
              <a:rPr lang="en-US" altLang="zh-CN" sz="2000" b="1" dirty="0" smtClean="0">
                <a:solidFill>
                  <a:srgbClr val="FFF24C"/>
                </a:solidFill>
                <a:latin typeface="黑体" pitchFamily="49" charset="-122"/>
                <a:ea typeface="黑体" pitchFamily="49" charset="-122"/>
              </a:rPr>
              <a:t>=A</a:t>
            </a:r>
            <a:r>
              <a:rPr lang="en-US" altLang="zh-CN" sz="2000" b="1" baseline="30000" dirty="0" smtClean="0">
                <a:solidFill>
                  <a:srgbClr val="FFF24C"/>
                </a:solidFill>
                <a:latin typeface="黑体" pitchFamily="49" charset="-122"/>
                <a:ea typeface="黑体" pitchFamily="49" charset="-122"/>
              </a:rPr>
              <a:t>2</a:t>
            </a:r>
            <a:r>
              <a:rPr lang="en-US" altLang="zh-CN" sz="2000" b="1" dirty="0" smtClean="0">
                <a:solidFill>
                  <a:srgbClr val="FFF24C"/>
                </a:solidFill>
                <a:latin typeface="黑体" pitchFamily="49" charset="-122"/>
                <a:ea typeface="黑体" pitchFamily="49" charset="-122"/>
              </a:rPr>
              <a:t>+B</a:t>
            </a:r>
            <a:r>
              <a:rPr lang="en-US" altLang="zh-CN" sz="2000" b="1" baseline="30000" dirty="0" smtClean="0">
                <a:solidFill>
                  <a:srgbClr val="FFF24C"/>
                </a:solidFill>
                <a:latin typeface="黑体" pitchFamily="49" charset="-122"/>
                <a:ea typeface="黑体" pitchFamily="49" charset="-122"/>
              </a:rPr>
              <a:t>2</a:t>
            </a:r>
            <a:r>
              <a:rPr lang="zh-CN" altLang="zh-CN" sz="2000" b="1" dirty="0" smtClean="0">
                <a:solidFill>
                  <a:srgbClr val="FFF24C"/>
                </a:solidFill>
                <a:latin typeface="黑体" pitchFamily="49" charset="-122"/>
                <a:ea typeface="黑体" pitchFamily="49" charset="-122"/>
              </a:rPr>
              <a:t>的</a:t>
            </a:r>
            <a:r>
              <a:rPr lang="en-US" altLang="zh-CN" sz="2000" b="1" dirty="0" smtClean="0">
                <a:solidFill>
                  <a:srgbClr val="FFF24C"/>
                </a:solidFill>
                <a:latin typeface="黑体" pitchFamily="49" charset="-122"/>
                <a:ea typeface="黑体" pitchFamily="49" charset="-122"/>
              </a:rPr>
              <a:t>C</a:t>
            </a:r>
            <a:r>
              <a:rPr lang="zh-CN" altLang="zh-CN" sz="2000" b="1" dirty="0" smtClean="0">
                <a:solidFill>
                  <a:srgbClr val="FFF24C"/>
                </a:solidFill>
                <a:latin typeface="黑体" pitchFamily="49" charset="-122"/>
                <a:ea typeface="黑体" pitchFamily="49" charset="-122"/>
              </a:rPr>
              <a:t>、</a:t>
            </a:r>
            <a:r>
              <a:rPr lang="en-US" altLang="zh-CN" sz="2000" b="1" dirty="0" smtClean="0">
                <a:solidFill>
                  <a:srgbClr val="FFF24C"/>
                </a:solidFill>
                <a:latin typeface="黑体" pitchFamily="49" charset="-122"/>
                <a:ea typeface="黑体" pitchFamily="49" charset="-122"/>
              </a:rPr>
              <a:t>A</a:t>
            </a:r>
            <a:r>
              <a:rPr lang="zh-CN" altLang="zh-CN" sz="2000" b="1" dirty="0" smtClean="0">
                <a:solidFill>
                  <a:srgbClr val="FFF24C"/>
                </a:solidFill>
                <a:latin typeface="黑体" pitchFamily="49" charset="-122"/>
                <a:ea typeface="黑体" pitchFamily="49" charset="-122"/>
              </a:rPr>
              <a:t>、</a:t>
            </a:r>
            <a:r>
              <a:rPr lang="en-US" altLang="zh-CN" sz="2000" b="1" dirty="0" smtClean="0">
                <a:solidFill>
                  <a:srgbClr val="FFF24C"/>
                </a:solidFill>
                <a:latin typeface="黑体" pitchFamily="49" charset="-122"/>
                <a:ea typeface="黑体" pitchFamily="49" charset="-122"/>
              </a:rPr>
              <a:t>B</a:t>
            </a:r>
            <a:r>
              <a:rPr lang="zh-CN" altLang="zh-CN" sz="2000" b="1" dirty="0" smtClean="0">
                <a:solidFill>
                  <a:srgbClr val="FFF24C"/>
                </a:solidFill>
                <a:latin typeface="黑体" pitchFamily="49" charset="-122"/>
                <a:ea typeface="黑体" pitchFamily="49" charset="-122"/>
              </a:rPr>
              <a:t>及</a:t>
            </a:r>
            <a:r>
              <a:rPr lang="en-US" altLang="zh-CN" sz="2000" b="1" dirty="0" smtClean="0">
                <a:solidFill>
                  <a:srgbClr val="FFF24C"/>
                </a:solidFill>
                <a:latin typeface="黑体" pitchFamily="49" charset="-122"/>
                <a:ea typeface="黑体" pitchFamily="49" charset="-122"/>
              </a:rPr>
              <a:t>C</a:t>
            </a:r>
            <a:r>
              <a:rPr lang="zh-CN" altLang="zh-CN" sz="2000" b="1" dirty="0" smtClean="0">
                <a:solidFill>
                  <a:srgbClr val="FFF24C"/>
                </a:solidFill>
                <a:latin typeface="黑体" pitchFamily="49" charset="-122"/>
                <a:ea typeface="黑体" pitchFamily="49" charset="-122"/>
              </a:rPr>
              <a:t>的个数。</a:t>
            </a:r>
            <a:r>
              <a:rPr lang="en-US" altLang="zh-CN" sz="2000" b="1" dirty="0" smtClean="0">
                <a:solidFill>
                  <a:srgbClr val="FFF24C"/>
                </a:solidFill>
                <a:latin typeface="黑体" pitchFamily="49" charset="-122"/>
                <a:ea typeface="黑体" pitchFamily="49" charset="-122"/>
              </a:rPr>
              <a:t>C</a:t>
            </a:r>
            <a:r>
              <a:rPr lang="zh-CN" altLang="zh-CN" sz="2000" b="1" dirty="0" smtClean="0">
                <a:solidFill>
                  <a:srgbClr val="FFF24C"/>
                </a:solidFill>
                <a:latin typeface="黑体" pitchFamily="49" charset="-122"/>
                <a:ea typeface="黑体" pitchFamily="49" charset="-122"/>
              </a:rPr>
              <a:t>的个数可以设变量</a:t>
            </a:r>
            <a:r>
              <a:rPr lang="en-US" altLang="zh-CN" sz="2000" b="1" dirty="0" smtClean="0">
                <a:solidFill>
                  <a:srgbClr val="FFF24C"/>
                </a:solidFill>
                <a:latin typeface="黑体" pitchFamily="49" charset="-122"/>
                <a:ea typeface="黑体" pitchFamily="49" charset="-122"/>
              </a:rPr>
              <a:t>n</a:t>
            </a:r>
            <a:r>
              <a:rPr lang="zh-CN" altLang="zh-CN" sz="2000" b="1" dirty="0" smtClean="0">
                <a:solidFill>
                  <a:srgbClr val="FFF24C"/>
                </a:solidFill>
                <a:latin typeface="黑体" pitchFamily="49" charset="-122"/>
                <a:ea typeface="黑体" pitchFamily="49" charset="-122"/>
              </a:rPr>
              <a:t>计数并输出即可。</a:t>
            </a:r>
          </a:p>
          <a:p>
            <a:endParaRPr lang="zh-CN" altLang="en-US" dirty="0"/>
          </a:p>
        </p:txBody>
      </p:sp>
      <p:sp>
        <p:nvSpPr>
          <p:cNvPr id="8" name="TextBox 7"/>
          <p:cNvSpPr txBox="1"/>
          <p:nvPr/>
        </p:nvSpPr>
        <p:spPr>
          <a:xfrm>
            <a:off x="151710" y="4113079"/>
            <a:ext cx="8884786" cy="2677656"/>
          </a:xfrm>
          <a:prstGeom prst="rect">
            <a:avLst/>
          </a:prstGeom>
          <a:noFill/>
        </p:spPr>
        <p:txBody>
          <a:bodyPr wrap="square" rtlCol="0">
            <a:spAutoFit/>
          </a:bodyPr>
          <a:lstStyle/>
          <a:p>
            <a:r>
              <a:rPr lang="en-US" altLang="zh-CN" sz="2800" b="1" dirty="0" smtClean="0">
                <a:solidFill>
                  <a:schemeClr val="bg1"/>
                </a:solidFill>
              </a:rPr>
              <a:t>n=0;</a:t>
            </a:r>
            <a:endParaRPr lang="zh-CN" altLang="zh-CN" sz="2800" b="1" dirty="0" smtClean="0">
              <a:solidFill>
                <a:schemeClr val="bg1"/>
              </a:solidFill>
            </a:endParaRPr>
          </a:p>
          <a:p>
            <a:r>
              <a:rPr lang="en-US" altLang="zh-CN" sz="2800" b="1" dirty="0" smtClean="0">
                <a:solidFill>
                  <a:schemeClr val="bg1"/>
                </a:solidFill>
              </a:rPr>
              <a:t>for(c=1;c&lt;=200;c++)         </a:t>
            </a:r>
            <a:endParaRPr lang="zh-CN" altLang="zh-CN" sz="2800" b="1" dirty="0" smtClean="0">
              <a:solidFill>
                <a:schemeClr val="bg1"/>
              </a:solidFill>
            </a:endParaRPr>
          </a:p>
          <a:p>
            <a:r>
              <a:rPr lang="en-US" altLang="zh-CN" sz="2800" b="1" dirty="0">
                <a:solidFill>
                  <a:schemeClr val="bg1"/>
                </a:solidFill>
              </a:rPr>
              <a:t> </a:t>
            </a:r>
            <a:r>
              <a:rPr lang="en-US" altLang="zh-CN" sz="2800" b="1" dirty="0" smtClean="0">
                <a:solidFill>
                  <a:schemeClr val="bg1"/>
                </a:solidFill>
              </a:rPr>
              <a:t>     for(a=1;a&lt;=200;a++)</a:t>
            </a:r>
            <a:endParaRPr lang="zh-CN" altLang="zh-CN" sz="2800" b="1" dirty="0" smtClean="0">
              <a:solidFill>
                <a:schemeClr val="bg1"/>
              </a:solidFill>
            </a:endParaRPr>
          </a:p>
          <a:p>
            <a:r>
              <a:rPr lang="en-US" altLang="zh-CN" sz="2800" b="1" dirty="0" smtClean="0">
                <a:solidFill>
                  <a:schemeClr val="bg1"/>
                </a:solidFill>
              </a:rPr>
              <a:t>	for(b=1;b&lt;=200;b++)</a:t>
            </a:r>
            <a:endParaRPr lang="zh-CN" altLang="zh-CN" sz="2800" b="1" dirty="0" smtClean="0">
              <a:solidFill>
                <a:schemeClr val="bg1"/>
              </a:solidFill>
            </a:endParaRPr>
          </a:p>
          <a:p>
            <a:r>
              <a:rPr lang="en-US" altLang="zh-CN" sz="2800" b="1" dirty="0" smtClean="0">
                <a:solidFill>
                  <a:srgbClr val="FFF24C"/>
                </a:solidFill>
              </a:rPr>
              <a:t> 	</a:t>
            </a:r>
            <a:r>
              <a:rPr lang="en-US" altLang="zh-CN" sz="2800" b="1" dirty="0" smtClean="0">
                <a:solidFill>
                  <a:schemeClr val="bg1"/>
                </a:solidFill>
              </a:rPr>
              <a:t>{</a:t>
            </a:r>
            <a:r>
              <a:rPr lang="en-US" altLang="zh-CN" sz="2800" b="1" dirty="0" smtClean="0">
                <a:solidFill>
                  <a:srgbClr val="FFF24C"/>
                </a:solidFill>
              </a:rPr>
              <a:t>       if(c*c==a*a+b*b)  </a:t>
            </a:r>
            <a:endParaRPr lang="zh-CN" altLang="zh-CN" sz="2800" b="1" dirty="0" smtClean="0">
              <a:solidFill>
                <a:srgbClr val="FFF24C"/>
              </a:solidFill>
            </a:endParaRPr>
          </a:p>
          <a:p>
            <a:r>
              <a:rPr lang="en-US" altLang="zh-CN" sz="2800" b="1" dirty="0" smtClean="0">
                <a:solidFill>
                  <a:schemeClr val="bg1"/>
                </a:solidFill>
              </a:rPr>
              <a:t>		printf("No.%3ld:%ld %ld %ld\n",++n,c, a, b);}</a:t>
            </a:r>
            <a:endParaRPr lang="zh-CN" altLang="en-US" sz="2800" b="1" dirty="0">
              <a:solidFill>
                <a:schemeClr val="bg1"/>
              </a:solidFill>
            </a:endParaRPr>
          </a:p>
        </p:txBody>
      </p:sp>
      <p:sp>
        <p:nvSpPr>
          <p:cNvPr id="10" name="TextBox 9"/>
          <p:cNvSpPr txBox="1"/>
          <p:nvPr/>
        </p:nvSpPr>
        <p:spPr>
          <a:xfrm>
            <a:off x="3635896" y="332656"/>
            <a:ext cx="4698722" cy="1446550"/>
          </a:xfrm>
          <a:prstGeom prst="rect">
            <a:avLst/>
          </a:prstGeom>
          <a:noFill/>
        </p:spPr>
        <p:txBody>
          <a:bodyPr wrap="none" rtlCol="0">
            <a:spAutoFit/>
          </a:bodyPr>
          <a:lstStyle/>
          <a:p>
            <a:r>
              <a:rPr lang="zh-CN" altLang="zh-CN" sz="3200" dirty="0" smtClean="0">
                <a:solidFill>
                  <a:schemeClr val="bg1"/>
                </a:solidFill>
                <a:latin typeface="黑体" pitchFamily="49" charset="-122"/>
                <a:ea typeface="黑体" pitchFamily="49" charset="-122"/>
              </a:rPr>
              <a:t>对影响答案的各种因素</a:t>
            </a:r>
            <a:endParaRPr lang="en-US" altLang="zh-CN" sz="3200" dirty="0" smtClean="0">
              <a:solidFill>
                <a:schemeClr val="bg1"/>
              </a:solidFill>
              <a:latin typeface="黑体" pitchFamily="49" charset="-122"/>
              <a:ea typeface="黑体" pitchFamily="49" charset="-122"/>
            </a:endParaRPr>
          </a:p>
          <a:p>
            <a:r>
              <a:rPr lang="zh-CN" altLang="zh-CN" sz="3200" dirty="0" smtClean="0">
                <a:solidFill>
                  <a:schemeClr val="bg1"/>
                </a:solidFill>
                <a:latin typeface="黑体" pitchFamily="49" charset="-122"/>
                <a:ea typeface="黑体" pitchFamily="49" charset="-122"/>
              </a:rPr>
              <a:t>可能的取值范围进行组合</a:t>
            </a:r>
            <a:endParaRPr lang="en-US" altLang="zh-CN" sz="3200" dirty="0" smtClean="0">
              <a:solidFill>
                <a:schemeClr val="bg1"/>
              </a:solidFill>
              <a:latin typeface="黑体" pitchFamily="49" charset="-122"/>
              <a:ea typeface="黑体" pitchFamily="49" charset="-122"/>
            </a:endParaRPr>
          </a:p>
          <a:p>
            <a:r>
              <a:rPr lang="en-US" altLang="zh-CN" sz="2400" b="1" dirty="0" smtClean="0">
                <a:solidFill>
                  <a:schemeClr val="bg1"/>
                </a:solidFill>
                <a:latin typeface="黑体" pitchFamily="49" charset="-122"/>
                <a:ea typeface="黑体" pitchFamily="49" charset="-122"/>
              </a:rPr>
              <a:t>  </a:t>
            </a:r>
            <a:endParaRPr lang="zh-CN" altLang="en-US" sz="2400" b="1" dirty="0">
              <a:solidFill>
                <a:schemeClr val="bg1"/>
              </a:solidFill>
              <a:latin typeface="黑体" pitchFamily="49" charset="-122"/>
              <a:ea typeface="黑体" pitchFamily="49" charset="-122"/>
            </a:endParaRPr>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3" name="组合 2"/>
          <p:cNvGrpSpPr/>
          <p:nvPr/>
        </p:nvGrpSpPr>
        <p:grpSpPr>
          <a:xfrm>
            <a:off x="0" y="692696"/>
            <a:ext cx="4146121" cy="1200329"/>
            <a:chOff x="0" y="692696"/>
            <a:chExt cx="4146121" cy="1200329"/>
          </a:xfrm>
        </p:grpSpPr>
        <p:sp>
          <p:nvSpPr>
            <p:cNvPr id="4" name="TextBox 3"/>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5" name="TextBox 4"/>
            <p:cNvSpPr txBox="1"/>
            <p:nvPr/>
          </p:nvSpPr>
          <p:spPr>
            <a:xfrm>
              <a:off x="827584" y="1052736"/>
              <a:ext cx="3318537"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  例</a:t>
              </a:r>
              <a:r>
                <a:rPr lang="en-US" altLang="zh-CN" sz="2800" dirty="0" smtClean="0">
                  <a:solidFill>
                    <a:srgbClr val="FFF24C"/>
                  </a:solidFill>
                  <a:latin typeface="黑体" pitchFamily="49" charset="-122"/>
                  <a:ea typeface="黑体" pitchFamily="49" charset="-122"/>
                </a:rPr>
                <a:t>2</a:t>
              </a:r>
              <a:r>
                <a:rPr lang="zh-CN" altLang="en-US" sz="2800" dirty="0" smtClean="0">
                  <a:solidFill>
                    <a:srgbClr val="FFF24C"/>
                  </a:solidFill>
                  <a:latin typeface="黑体" pitchFamily="49" charset="-122"/>
                  <a:ea typeface="黑体" pitchFamily="49" charset="-122"/>
                </a:rPr>
                <a:t>：</a:t>
              </a:r>
              <a:r>
                <a:rPr lang="zh-CN" altLang="en-US" sz="2800" b="1" dirty="0" smtClean="0"/>
                <a:t> </a:t>
              </a:r>
              <a:r>
                <a:rPr lang="zh-CN" altLang="en-US" sz="2800" dirty="0" smtClean="0">
                  <a:solidFill>
                    <a:srgbClr val="FFF24C"/>
                  </a:solidFill>
                  <a:latin typeface="黑体" pitchFamily="49" charset="-122"/>
                  <a:ea typeface="黑体" pitchFamily="49" charset="-122"/>
                </a:rPr>
                <a:t>买东西</a:t>
              </a:r>
            </a:p>
          </p:txBody>
        </p:sp>
      </p:grpSp>
      <p:sp>
        <p:nvSpPr>
          <p:cNvPr id="6" name="TextBox 5"/>
          <p:cNvSpPr txBox="1"/>
          <p:nvPr/>
        </p:nvSpPr>
        <p:spPr>
          <a:xfrm>
            <a:off x="0" y="2348880"/>
            <a:ext cx="8964488" cy="3970318"/>
          </a:xfrm>
          <a:prstGeom prst="rect">
            <a:avLst/>
          </a:prstGeom>
          <a:noFill/>
        </p:spPr>
        <p:txBody>
          <a:bodyPr wrap="square" rtlCol="0">
            <a:spAutoFit/>
          </a:bodyPr>
          <a:lstStyle/>
          <a:p>
            <a:r>
              <a:rPr lang="zh-CN" altLang="en-US" sz="2800" b="1" dirty="0" smtClean="0">
                <a:solidFill>
                  <a:schemeClr val="bg1"/>
                </a:solidFill>
              </a:rPr>
              <a:t>某商品有</a:t>
            </a:r>
            <a:r>
              <a:rPr lang="en-US" altLang="zh-CN" sz="2800" b="1" dirty="0" smtClean="0">
                <a:solidFill>
                  <a:schemeClr val="bg1"/>
                </a:solidFill>
              </a:rPr>
              <a:t>A</a:t>
            </a:r>
            <a:r>
              <a:rPr lang="zh-CN" altLang="en-US" sz="2800" b="1" dirty="0" smtClean="0">
                <a:solidFill>
                  <a:schemeClr val="bg1"/>
                </a:solidFill>
              </a:rPr>
              <a:t>、</a:t>
            </a:r>
            <a:r>
              <a:rPr lang="en-US" altLang="zh-CN" sz="2800" b="1" dirty="0" smtClean="0">
                <a:solidFill>
                  <a:schemeClr val="bg1"/>
                </a:solidFill>
              </a:rPr>
              <a:t>B</a:t>
            </a:r>
            <a:r>
              <a:rPr lang="zh-CN" altLang="en-US" sz="2800" b="1" dirty="0" smtClean="0">
                <a:solidFill>
                  <a:schemeClr val="bg1"/>
                </a:solidFill>
              </a:rPr>
              <a:t>、</a:t>
            </a:r>
            <a:r>
              <a:rPr lang="en-US" altLang="zh-CN" sz="2800" b="1" dirty="0" smtClean="0">
                <a:solidFill>
                  <a:schemeClr val="bg1"/>
                </a:solidFill>
              </a:rPr>
              <a:t>C</a:t>
            </a:r>
            <a:r>
              <a:rPr lang="zh-CN" altLang="en-US" sz="2800" b="1" dirty="0" smtClean="0">
                <a:solidFill>
                  <a:schemeClr val="bg1"/>
                </a:solidFill>
              </a:rPr>
              <a:t>三种品牌，各品牌的价格各不相同，其中</a:t>
            </a:r>
            <a:r>
              <a:rPr lang="en-US" altLang="zh-CN" sz="2800" b="1" dirty="0" smtClean="0">
                <a:solidFill>
                  <a:schemeClr val="bg1"/>
                </a:solidFill>
              </a:rPr>
              <a:t>A</a:t>
            </a:r>
            <a:r>
              <a:rPr lang="zh-CN" altLang="en-US" sz="2800" b="1" dirty="0" smtClean="0">
                <a:solidFill>
                  <a:schemeClr val="bg1"/>
                </a:solidFill>
              </a:rPr>
              <a:t>品牌的价格为每个</a:t>
            </a:r>
            <a:r>
              <a:rPr lang="en-US" altLang="zh-CN" sz="2800" b="1" dirty="0" smtClean="0">
                <a:solidFill>
                  <a:schemeClr val="bg1"/>
                </a:solidFill>
              </a:rPr>
              <a:t>5</a:t>
            </a:r>
            <a:r>
              <a:rPr lang="zh-CN" altLang="en-US" sz="2800" b="1" dirty="0" smtClean="0">
                <a:solidFill>
                  <a:schemeClr val="bg1"/>
                </a:solidFill>
              </a:rPr>
              <a:t>元， </a:t>
            </a:r>
            <a:r>
              <a:rPr lang="en-US" altLang="zh-CN" sz="2800" b="1" dirty="0" smtClean="0">
                <a:solidFill>
                  <a:schemeClr val="bg1"/>
                </a:solidFill>
              </a:rPr>
              <a:t>B</a:t>
            </a:r>
            <a:r>
              <a:rPr lang="zh-CN" altLang="en-US" sz="2800" b="1" dirty="0" smtClean="0">
                <a:solidFill>
                  <a:schemeClr val="bg1"/>
                </a:solidFill>
              </a:rPr>
              <a:t>品牌为每个</a:t>
            </a:r>
            <a:r>
              <a:rPr lang="en-US" altLang="zh-CN" sz="2800" b="1" dirty="0" smtClean="0">
                <a:solidFill>
                  <a:schemeClr val="bg1"/>
                </a:solidFill>
              </a:rPr>
              <a:t>3</a:t>
            </a:r>
            <a:r>
              <a:rPr lang="zh-CN" altLang="en-US" sz="2800" b="1" dirty="0" smtClean="0">
                <a:solidFill>
                  <a:schemeClr val="bg1"/>
                </a:solidFill>
              </a:rPr>
              <a:t>元，而</a:t>
            </a:r>
            <a:r>
              <a:rPr lang="en-US" altLang="zh-CN" sz="2800" b="1" dirty="0" smtClean="0">
                <a:solidFill>
                  <a:schemeClr val="bg1"/>
                </a:solidFill>
              </a:rPr>
              <a:t>C</a:t>
            </a:r>
            <a:r>
              <a:rPr lang="zh-CN" altLang="en-US" sz="2800" b="1" dirty="0" smtClean="0">
                <a:solidFill>
                  <a:schemeClr val="bg1"/>
                </a:solidFill>
              </a:rPr>
              <a:t>品牌为每</a:t>
            </a:r>
            <a:r>
              <a:rPr lang="en-US" altLang="zh-CN" sz="2800" b="1" dirty="0" smtClean="0">
                <a:solidFill>
                  <a:schemeClr val="bg1"/>
                </a:solidFill>
              </a:rPr>
              <a:t>3</a:t>
            </a:r>
            <a:r>
              <a:rPr lang="zh-CN" altLang="en-US" sz="2800" b="1" dirty="0" smtClean="0">
                <a:solidFill>
                  <a:schemeClr val="bg1"/>
                </a:solidFill>
              </a:rPr>
              <a:t>个</a:t>
            </a:r>
            <a:r>
              <a:rPr lang="en-US" altLang="zh-CN" sz="2800" b="1" dirty="0" smtClean="0">
                <a:solidFill>
                  <a:schemeClr val="bg1"/>
                </a:solidFill>
              </a:rPr>
              <a:t>1</a:t>
            </a:r>
            <a:r>
              <a:rPr lang="zh-CN" altLang="en-US" sz="2800" b="1" dirty="0" smtClean="0">
                <a:solidFill>
                  <a:schemeClr val="bg1"/>
                </a:solidFill>
              </a:rPr>
              <a:t>元。如果要用 </a:t>
            </a:r>
            <a:r>
              <a:rPr lang="en-US" altLang="zh-CN" sz="2800" b="1" dirty="0" smtClean="0">
                <a:solidFill>
                  <a:schemeClr val="bg1"/>
                </a:solidFill>
              </a:rPr>
              <a:t>M </a:t>
            </a:r>
            <a:r>
              <a:rPr lang="zh-CN" altLang="en-US" sz="2800" b="1" dirty="0" smtClean="0">
                <a:solidFill>
                  <a:schemeClr val="bg1"/>
                </a:solidFill>
              </a:rPr>
              <a:t>元钱买 </a:t>
            </a:r>
            <a:r>
              <a:rPr lang="en-US" altLang="zh-CN" sz="2800" b="1" dirty="0" smtClean="0">
                <a:solidFill>
                  <a:schemeClr val="bg1"/>
                </a:solidFill>
              </a:rPr>
              <a:t>N </a:t>
            </a:r>
            <a:r>
              <a:rPr lang="zh-CN" altLang="en-US" sz="2800" b="1" dirty="0" smtClean="0">
                <a:solidFill>
                  <a:schemeClr val="bg1"/>
                </a:solidFill>
              </a:rPr>
              <a:t>个该商品，要求每个商品至少买一个，编程求各种品牌各能买多少个。 </a:t>
            </a:r>
          </a:p>
          <a:p>
            <a:r>
              <a:rPr lang="zh-CN" altLang="en-US" sz="2800" b="1" dirty="0" smtClean="0">
                <a:solidFill>
                  <a:schemeClr val="bg1"/>
                </a:solidFill>
              </a:rPr>
              <a:t>输入：</a:t>
            </a:r>
            <a:br>
              <a:rPr lang="zh-CN" altLang="en-US" sz="2800" b="1" dirty="0" smtClean="0">
                <a:solidFill>
                  <a:schemeClr val="bg1"/>
                </a:solidFill>
              </a:rPr>
            </a:br>
            <a:r>
              <a:rPr lang="zh-CN" altLang="en-US" sz="2800" b="1" dirty="0" smtClean="0">
                <a:solidFill>
                  <a:schemeClr val="bg1"/>
                </a:solidFill>
              </a:rPr>
              <a:t>先后输入</a:t>
            </a:r>
            <a:r>
              <a:rPr lang="en-US" altLang="zh-CN" sz="2800" b="1" dirty="0" smtClean="0">
                <a:solidFill>
                  <a:schemeClr val="bg1"/>
                </a:solidFill>
              </a:rPr>
              <a:t>M</a:t>
            </a:r>
            <a:r>
              <a:rPr lang="zh-CN" altLang="en-US" sz="2800" b="1" dirty="0" smtClean="0">
                <a:solidFill>
                  <a:schemeClr val="bg1"/>
                </a:solidFill>
              </a:rPr>
              <a:t>（钱数）及</a:t>
            </a:r>
            <a:r>
              <a:rPr lang="en-US" altLang="zh-CN" sz="2800" b="1" dirty="0" smtClean="0">
                <a:solidFill>
                  <a:schemeClr val="bg1"/>
                </a:solidFill>
              </a:rPr>
              <a:t>N</a:t>
            </a:r>
            <a:r>
              <a:rPr lang="zh-CN" altLang="en-US" sz="2800" b="1" dirty="0" smtClean="0">
                <a:solidFill>
                  <a:schemeClr val="bg1"/>
                </a:solidFill>
              </a:rPr>
              <a:t>（商品个数）的实际数值</a:t>
            </a:r>
          </a:p>
          <a:p>
            <a:r>
              <a:rPr lang="zh-CN" altLang="en-US" sz="2800" b="1" dirty="0" smtClean="0">
                <a:solidFill>
                  <a:schemeClr val="bg1"/>
                </a:solidFill>
              </a:rPr>
              <a:t>输出：</a:t>
            </a:r>
            <a:br>
              <a:rPr lang="zh-CN" altLang="en-US" sz="2800" b="1" dirty="0" smtClean="0">
                <a:solidFill>
                  <a:schemeClr val="bg1"/>
                </a:solidFill>
              </a:rPr>
            </a:br>
            <a:r>
              <a:rPr lang="zh-CN" altLang="en-US" sz="2800" b="1" dirty="0" smtClean="0">
                <a:solidFill>
                  <a:schemeClr val="bg1"/>
                </a:solidFill>
              </a:rPr>
              <a:t>所有可能情况下可以购买的</a:t>
            </a:r>
            <a:r>
              <a:rPr lang="en-US" altLang="zh-CN" sz="2800" b="1" dirty="0" smtClean="0">
                <a:solidFill>
                  <a:schemeClr val="bg1"/>
                </a:solidFill>
              </a:rPr>
              <a:t>3</a:t>
            </a:r>
            <a:r>
              <a:rPr lang="zh-CN" altLang="en-US" sz="2800" b="1" dirty="0" smtClean="0">
                <a:solidFill>
                  <a:schemeClr val="bg1"/>
                </a:solidFill>
              </a:rPr>
              <a:t>种商品的个数，按</a:t>
            </a:r>
            <a:r>
              <a:rPr lang="en-US" altLang="zh-CN" sz="2800" b="1" dirty="0" smtClean="0">
                <a:solidFill>
                  <a:schemeClr val="bg1"/>
                </a:solidFill>
              </a:rPr>
              <a:t>A</a:t>
            </a:r>
            <a:r>
              <a:rPr lang="zh-CN" altLang="en-US" sz="2800" b="1" dirty="0" smtClean="0">
                <a:solidFill>
                  <a:schemeClr val="bg1"/>
                </a:solidFill>
              </a:rPr>
              <a:t>、</a:t>
            </a:r>
            <a:r>
              <a:rPr lang="en-US" altLang="zh-CN" sz="2800" b="1" dirty="0" smtClean="0">
                <a:solidFill>
                  <a:schemeClr val="bg1"/>
                </a:solidFill>
              </a:rPr>
              <a:t>B</a:t>
            </a:r>
            <a:r>
              <a:rPr lang="zh-CN" altLang="en-US" sz="2800" b="1" dirty="0" smtClean="0">
                <a:solidFill>
                  <a:schemeClr val="bg1"/>
                </a:solidFill>
              </a:rPr>
              <a:t>、</a:t>
            </a:r>
            <a:r>
              <a:rPr lang="en-US" altLang="zh-CN" sz="2800" b="1" dirty="0" smtClean="0">
                <a:solidFill>
                  <a:schemeClr val="bg1"/>
                </a:solidFill>
              </a:rPr>
              <a:t>C</a:t>
            </a:r>
            <a:r>
              <a:rPr lang="zh-CN" altLang="en-US" sz="2800" b="1" dirty="0" smtClean="0">
                <a:solidFill>
                  <a:schemeClr val="bg1"/>
                </a:solidFill>
              </a:rPr>
              <a:t>品牌的顺序输出，用逗号分隔。</a:t>
            </a:r>
            <a:endParaRPr lang="zh-CN" altLang="en-US" sz="2800" b="1" dirty="0">
              <a:solidFill>
                <a:schemeClr val="bg1"/>
              </a:solidFill>
            </a:endParaRPr>
          </a:p>
        </p:txBody>
      </p:sp>
      <p:pic>
        <p:nvPicPr>
          <p:cNvPr id="2050" name="Picture 2" descr="C:\Users\linyy1188\Desktop\QQ截图20120603160500.jpg"/>
          <p:cNvPicPr>
            <a:picLocks noChangeAspect="1" noChangeArrowheads="1"/>
          </p:cNvPicPr>
          <p:nvPr/>
        </p:nvPicPr>
        <p:blipFill>
          <a:blip r:embed="rId3" cstate="print"/>
          <a:srcRect/>
          <a:stretch>
            <a:fillRect/>
          </a:stretch>
        </p:blipFill>
        <p:spPr bwMode="auto">
          <a:xfrm>
            <a:off x="5002267" y="0"/>
            <a:ext cx="4141733" cy="2117229"/>
          </a:xfrm>
          <a:prstGeom prst="rect">
            <a:avLst/>
          </a:prstGeom>
          <a:noFill/>
        </p:spPr>
      </p:pic>
    </p:spTree>
    <p:extLst>
      <p:ext uri="{BB962C8B-B14F-4D97-AF65-F5344CB8AC3E}">
        <p14:creationId xmlns:p14="http://schemas.microsoft.com/office/powerpoint/2010/main" val="3214156356"/>
      </p:ext>
    </p:extLst>
  </p:cSld>
  <p:clrMapOvr>
    <a:masterClrMapping/>
  </p:clrMapOvr>
  <p:transition>
    <p:pull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4" name="组合 3"/>
          <p:cNvGrpSpPr/>
          <p:nvPr/>
        </p:nvGrpSpPr>
        <p:grpSpPr>
          <a:xfrm>
            <a:off x="0" y="692696"/>
            <a:ext cx="4146121" cy="1200329"/>
            <a:chOff x="0" y="692696"/>
            <a:chExt cx="4146121" cy="1200329"/>
          </a:xfrm>
        </p:grpSpPr>
        <p:sp>
          <p:nvSpPr>
            <p:cNvPr id="5" name="TextBox 4"/>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6" name="TextBox 5"/>
            <p:cNvSpPr txBox="1"/>
            <p:nvPr/>
          </p:nvSpPr>
          <p:spPr>
            <a:xfrm>
              <a:off x="827584" y="1052736"/>
              <a:ext cx="3318537"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  例</a:t>
              </a:r>
              <a:r>
                <a:rPr lang="en-US" altLang="zh-CN" sz="2800" dirty="0" smtClean="0">
                  <a:solidFill>
                    <a:srgbClr val="FFF24C"/>
                  </a:solidFill>
                  <a:latin typeface="黑体" pitchFamily="49" charset="-122"/>
                  <a:ea typeface="黑体" pitchFamily="49" charset="-122"/>
                </a:rPr>
                <a:t>2</a:t>
              </a:r>
              <a:r>
                <a:rPr lang="zh-CN" altLang="en-US" sz="2800" dirty="0" smtClean="0">
                  <a:solidFill>
                    <a:srgbClr val="FFF24C"/>
                  </a:solidFill>
                  <a:latin typeface="黑体" pitchFamily="49" charset="-122"/>
                  <a:ea typeface="黑体" pitchFamily="49" charset="-122"/>
                </a:rPr>
                <a:t>：</a:t>
              </a:r>
              <a:r>
                <a:rPr lang="zh-CN" altLang="en-US" sz="2800" b="1" dirty="0" smtClean="0"/>
                <a:t> </a:t>
              </a:r>
              <a:r>
                <a:rPr lang="zh-CN" altLang="en-US" sz="2800" dirty="0" smtClean="0">
                  <a:solidFill>
                    <a:srgbClr val="FFF24C"/>
                  </a:solidFill>
                  <a:latin typeface="黑体" pitchFamily="49" charset="-122"/>
                  <a:ea typeface="黑体" pitchFamily="49" charset="-122"/>
                </a:rPr>
                <a:t>买东西</a:t>
              </a:r>
            </a:p>
          </p:txBody>
        </p:sp>
      </p:grpSp>
      <p:sp>
        <p:nvSpPr>
          <p:cNvPr id="7" name="矩形 6"/>
          <p:cNvSpPr/>
          <p:nvPr/>
        </p:nvSpPr>
        <p:spPr>
          <a:xfrm>
            <a:off x="2483768" y="3284984"/>
            <a:ext cx="7416824" cy="3046988"/>
          </a:xfrm>
          <a:prstGeom prst="rect">
            <a:avLst/>
          </a:prstGeom>
        </p:spPr>
        <p:txBody>
          <a:bodyPr wrap="square">
            <a:spAutoFit/>
          </a:bodyPr>
          <a:lstStyle/>
          <a:p>
            <a:r>
              <a:rPr lang="en-US" altLang="zh-CN" sz="2800" dirty="0" smtClean="0">
                <a:solidFill>
                  <a:schemeClr val="bg1"/>
                </a:solidFill>
                <a:latin typeface="Franklin Gothic Heavy" pitchFamily="34" charset="0"/>
              </a:rPr>
              <a:t>     for (</a:t>
            </a:r>
            <a:r>
              <a:rPr lang="en-US" altLang="zh-CN" sz="2800" dirty="0" err="1" smtClean="0">
                <a:solidFill>
                  <a:schemeClr val="bg1"/>
                </a:solidFill>
                <a:latin typeface="Franklin Gothic Heavy" pitchFamily="34" charset="0"/>
              </a:rPr>
              <a:t>i</a:t>
            </a:r>
            <a:r>
              <a:rPr lang="en-US" altLang="zh-CN" sz="2800" dirty="0" smtClean="0">
                <a:solidFill>
                  <a:schemeClr val="bg1"/>
                </a:solidFill>
                <a:latin typeface="Franklin Gothic Heavy" pitchFamily="34" charset="0"/>
              </a:rPr>
              <a:t>=1;i&lt;=</a:t>
            </a:r>
            <a:r>
              <a:rPr lang="en-US" altLang="zh-CN" sz="2800" dirty="0" err="1" smtClean="0">
                <a:solidFill>
                  <a:schemeClr val="bg1"/>
                </a:solidFill>
                <a:latin typeface="Franklin Gothic Heavy" pitchFamily="34" charset="0"/>
              </a:rPr>
              <a:t>n;i</a:t>
            </a:r>
            <a:r>
              <a:rPr lang="en-US" altLang="zh-CN" sz="2800" dirty="0" smtClean="0">
                <a:solidFill>
                  <a:schemeClr val="bg1"/>
                </a:solidFill>
                <a:latin typeface="Franklin Gothic Heavy" pitchFamily="34" charset="0"/>
              </a:rPr>
              <a:t>++)</a:t>
            </a:r>
          </a:p>
          <a:p>
            <a:r>
              <a:rPr lang="en-US" altLang="zh-CN" sz="2800" dirty="0" smtClean="0">
                <a:solidFill>
                  <a:schemeClr val="bg1"/>
                </a:solidFill>
                <a:latin typeface="Franklin Gothic Heavy" pitchFamily="34" charset="0"/>
              </a:rPr>
              <a:t>	for (j=1;j&lt;=n-</a:t>
            </a:r>
            <a:r>
              <a:rPr lang="en-US" altLang="zh-CN" sz="2800" dirty="0" err="1" smtClean="0">
                <a:solidFill>
                  <a:schemeClr val="bg1"/>
                </a:solidFill>
                <a:latin typeface="Franklin Gothic Heavy" pitchFamily="34" charset="0"/>
              </a:rPr>
              <a:t>i;j</a:t>
            </a:r>
            <a:r>
              <a:rPr lang="en-US" altLang="zh-CN" sz="2800" dirty="0" smtClean="0">
                <a:solidFill>
                  <a:schemeClr val="bg1"/>
                </a:solidFill>
                <a:latin typeface="Franklin Gothic Heavy" pitchFamily="34" charset="0"/>
              </a:rPr>
              <a:t>++)</a:t>
            </a:r>
          </a:p>
          <a:p>
            <a:r>
              <a:rPr lang="en-US" altLang="zh-CN" sz="2800" dirty="0" smtClean="0">
                <a:solidFill>
                  <a:schemeClr val="bg1"/>
                </a:solidFill>
                <a:latin typeface="Franklin Gothic Heavy" pitchFamily="34" charset="0"/>
              </a:rPr>
              <a:t>	</a:t>
            </a:r>
            <a:r>
              <a:rPr lang="en-US" altLang="zh-CN" sz="2800" dirty="0">
                <a:solidFill>
                  <a:schemeClr val="bg1"/>
                </a:solidFill>
                <a:latin typeface="Franklin Gothic Heavy" pitchFamily="34" charset="0"/>
              </a:rPr>
              <a:t> </a:t>
            </a:r>
            <a:r>
              <a:rPr lang="en-US" altLang="zh-CN" sz="2800" dirty="0" smtClean="0">
                <a:solidFill>
                  <a:schemeClr val="bg1"/>
                </a:solidFill>
                <a:latin typeface="Franklin Gothic Heavy" pitchFamily="34" charset="0"/>
              </a:rPr>
              <a:t>    if ((n-</a:t>
            </a:r>
            <a:r>
              <a:rPr lang="en-US" altLang="zh-CN" sz="2800" dirty="0" err="1" smtClean="0">
                <a:solidFill>
                  <a:schemeClr val="bg1"/>
                </a:solidFill>
                <a:latin typeface="Franklin Gothic Heavy" pitchFamily="34" charset="0"/>
              </a:rPr>
              <a:t>i</a:t>
            </a:r>
            <a:r>
              <a:rPr lang="en-US" altLang="zh-CN" sz="2800" dirty="0" smtClean="0">
                <a:solidFill>
                  <a:schemeClr val="bg1"/>
                </a:solidFill>
                <a:latin typeface="Franklin Gothic Heavy" pitchFamily="34" charset="0"/>
              </a:rPr>
              <a:t>-j!=0)&amp;&amp;((n-</a:t>
            </a:r>
            <a:r>
              <a:rPr lang="en-US" altLang="zh-CN" sz="2800" dirty="0" err="1" smtClean="0">
                <a:solidFill>
                  <a:schemeClr val="bg1"/>
                </a:solidFill>
                <a:latin typeface="Franklin Gothic Heavy" pitchFamily="34" charset="0"/>
              </a:rPr>
              <a:t>i</a:t>
            </a:r>
            <a:r>
              <a:rPr lang="en-US" altLang="zh-CN" sz="2800" dirty="0" smtClean="0">
                <a:solidFill>
                  <a:schemeClr val="bg1"/>
                </a:solidFill>
                <a:latin typeface="Franklin Gothic Heavy" pitchFamily="34" charset="0"/>
              </a:rPr>
              <a:t>-j)%3==0))</a:t>
            </a:r>
          </a:p>
          <a:p>
            <a:r>
              <a:rPr lang="en-US" altLang="zh-CN" sz="2800" dirty="0" smtClean="0">
                <a:solidFill>
                  <a:schemeClr val="bg1"/>
                </a:solidFill>
                <a:latin typeface="Franklin Gothic Heavy" pitchFamily="34" charset="0"/>
              </a:rPr>
              <a:t>	         {  if (5*i+3*j+(n-</a:t>
            </a:r>
            <a:r>
              <a:rPr lang="en-US" altLang="zh-CN" sz="2800" dirty="0" err="1" smtClean="0">
                <a:solidFill>
                  <a:schemeClr val="bg1"/>
                </a:solidFill>
                <a:latin typeface="Franklin Gothic Heavy" pitchFamily="34" charset="0"/>
              </a:rPr>
              <a:t>i</a:t>
            </a:r>
            <a:r>
              <a:rPr lang="en-US" altLang="zh-CN" sz="2800" dirty="0" smtClean="0">
                <a:solidFill>
                  <a:schemeClr val="bg1"/>
                </a:solidFill>
                <a:latin typeface="Franklin Gothic Heavy" pitchFamily="34" charset="0"/>
              </a:rPr>
              <a:t>-j)/3==m)</a:t>
            </a:r>
          </a:p>
          <a:p>
            <a:r>
              <a:rPr lang="en-US" altLang="zh-CN" sz="2800" dirty="0" smtClean="0">
                <a:solidFill>
                  <a:schemeClr val="bg1"/>
                </a:solidFill>
                <a:latin typeface="Franklin Gothic Heavy" pitchFamily="34" charset="0"/>
              </a:rPr>
              <a:t>	  	 </a:t>
            </a:r>
            <a:r>
              <a:rPr lang="en-US" altLang="zh-CN" sz="2800" dirty="0" err="1" smtClean="0">
                <a:solidFill>
                  <a:schemeClr val="bg1"/>
                </a:solidFill>
                <a:latin typeface="Franklin Gothic Heavy" pitchFamily="34" charset="0"/>
              </a:rPr>
              <a:t>printf</a:t>
            </a:r>
            <a:r>
              <a:rPr lang="en-US" altLang="zh-CN" sz="2800" dirty="0" smtClean="0">
                <a:solidFill>
                  <a:schemeClr val="bg1"/>
                </a:solidFill>
                <a:latin typeface="Franklin Gothic Heavy" pitchFamily="34" charset="0"/>
              </a:rPr>
              <a:t>("%</a:t>
            </a:r>
            <a:r>
              <a:rPr lang="en-US" altLang="zh-CN" sz="2800" dirty="0" err="1" smtClean="0">
                <a:solidFill>
                  <a:schemeClr val="bg1"/>
                </a:solidFill>
                <a:latin typeface="Franklin Gothic Heavy" pitchFamily="34" charset="0"/>
              </a:rPr>
              <a:t>d,%d,%d</a:t>
            </a:r>
            <a:r>
              <a:rPr lang="en-US" altLang="zh-CN" sz="2800" dirty="0" smtClean="0">
                <a:solidFill>
                  <a:schemeClr val="bg1"/>
                </a:solidFill>
                <a:latin typeface="Franklin Gothic Heavy" pitchFamily="34" charset="0"/>
              </a:rPr>
              <a:t>\n",</a:t>
            </a:r>
            <a:r>
              <a:rPr lang="en-US" altLang="zh-CN" sz="2800" dirty="0" err="1" smtClean="0">
                <a:solidFill>
                  <a:schemeClr val="bg1"/>
                </a:solidFill>
                <a:latin typeface="Franklin Gothic Heavy" pitchFamily="34" charset="0"/>
              </a:rPr>
              <a:t>i,j,n</a:t>
            </a:r>
            <a:r>
              <a:rPr lang="en-US" altLang="zh-CN" sz="2800" dirty="0" smtClean="0">
                <a:solidFill>
                  <a:schemeClr val="bg1"/>
                </a:solidFill>
                <a:latin typeface="Franklin Gothic Heavy" pitchFamily="34" charset="0"/>
              </a:rPr>
              <a:t>-</a:t>
            </a:r>
            <a:r>
              <a:rPr lang="en-US" altLang="zh-CN" sz="2800" dirty="0" err="1" smtClean="0">
                <a:solidFill>
                  <a:schemeClr val="bg1"/>
                </a:solidFill>
                <a:latin typeface="Franklin Gothic Heavy" pitchFamily="34" charset="0"/>
              </a:rPr>
              <a:t>i</a:t>
            </a:r>
            <a:r>
              <a:rPr lang="en-US" altLang="zh-CN" sz="2800" dirty="0" smtClean="0">
                <a:solidFill>
                  <a:schemeClr val="bg1"/>
                </a:solidFill>
                <a:latin typeface="Franklin Gothic Heavy" pitchFamily="34" charset="0"/>
              </a:rPr>
              <a:t>-j);</a:t>
            </a:r>
          </a:p>
          <a:p>
            <a:r>
              <a:rPr lang="en-US" altLang="zh-CN" sz="2800" dirty="0">
                <a:solidFill>
                  <a:schemeClr val="bg1"/>
                </a:solidFill>
                <a:latin typeface="Franklin Gothic Heavy" pitchFamily="34" charset="0"/>
              </a:rPr>
              <a:t>	 </a:t>
            </a:r>
            <a:r>
              <a:rPr lang="en-US" altLang="zh-CN" sz="2800" dirty="0" smtClean="0">
                <a:solidFill>
                  <a:schemeClr val="bg1"/>
                </a:solidFill>
                <a:latin typeface="Franklin Gothic Heavy" pitchFamily="34" charset="0"/>
              </a:rPr>
              <a:t>        }</a:t>
            </a:r>
          </a:p>
          <a:p>
            <a:r>
              <a:rPr lang="en-US" altLang="zh-CN" sz="2400" dirty="0" smtClean="0">
                <a:solidFill>
                  <a:schemeClr val="bg1"/>
                </a:solidFill>
                <a:latin typeface="Franklin Gothic Heavy" pitchFamily="34" charset="0"/>
              </a:rPr>
              <a:t>				</a:t>
            </a:r>
          </a:p>
        </p:txBody>
      </p:sp>
      <p:sp>
        <p:nvSpPr>
          <p:cNvPr id="8" name="TextBox 7"/>
          <p:cNvSpPr txBox="1"/>
          <p:nvPr/>
        </p:nvSpPr>
        <p:spPr>
          <a:xfrm>
            <a:off x="323528" y="2204864"/>
            <a:ext cx="1800200" cy="646331"/>
          </a:xfrm>
          <a:prstGeom prst="rect">
            <a:avLst/>
          </a:prstGeom>
          <a:noFill/>
        </p:spPr>
        <p:txBody>
          <a:bodyPr wrap="square" rtlCol="0">
            <a:spAutoFit/>
          </a:bodyPr>
          <a:lstStyle/>
          <a:p>
            <a:r>
              <a:rPr lang="en-US" altLang="zh-CN" sz="3600" dirty="0" smtClean="0">
                <a:solidFill>
                  <a:schemeClr val="bg1"/>
                </a:solidFill>
              </a:rPr>
              <a:t>A  B  C</a:t>
            </a:r>
            <a:endParaRPr lang="zh-CN" altLang="en-US" sz="3600" dirty="0">
              <a:solidFill>
                <a:schemeClr val="bg1"/>
              </a:solidFill>
            </a:endParaRPr>
          </a:p>
        </p:txBody>
      </p:sp>
      <p:cxnSp>
        <p:nvCxnSpPr>
          <p:cNvPr id="10" name="直接箭头连接符 9"/>
          <p:cNvCxnSpPr/>
          <p:nvPr/>
        </p:nvCxnSpPr>
        <p:spPr>
          <a:xfrm>
            <a:off x="539552" y="2924944"/>
            <a:ext cx="0" cy="432048"/>
          </a:xfrm>
          <a:prstGeom prst="straightConnector1">
            <a:avLst/>
          </a:prstGeom>
          <a:ln w="4445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971600" y="2924944"/>
            <a:ext cx="0" cy="432048"/>
          </a:xfrm>
          <a:prstGeom prst="straightConnector1">
            <a:avLst/>
          </a:prstGeom>
          <a:ln w="4445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1475656" y="2924944"/>
            <a:ext cx="0" cy="432048"/>
          </a:xfrm>
          <a:prstGeom prst="straightConnector1">
            <a:avLst/>
          </a:prstGeom>
          <a:ln w="4445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23528" y="3501008"/>
            <a:ext cx="2448272" cy="646331"/>
          </a:xfrm>
          <a:prstGeom prst="rect">
            <a:avLst/>
          </a:prstGeom>
          <a:noFill/>
        </p:spPr>
        <p:txBody>
          <a:bodyPr wrap="square" rtlCol="0">
            <a:spAutoFit/>
          </a:bodyPr>
          <a:lstStyle/>
          <a:p>
            <a:r>
              <a:rPr lang="en-US" altLang="zh-CN" sz="3600" dirty="0" smtClean="0">
                <a:solidFill>
                  <a:schemeClr val="bg1"/>
                </a:solidFill>
              </a:rPr>
              <a:t>I    j   n-</a:t>
            </a:r>
            <a:r>
              <a:rPr lang="en-US" altLang="zh-CN" sz="3600" dirty="0" err="1" smtClean="0">
                <a:solidFill>
                  <a:schemeClr val="bg1"/>
                </a:solidFill>
              </a:rPr>
              <a:t>i</a:t>
            </a:r>
            <a:r>
              <a:rPr lang="en-US" altLang="zh-CN" sz="3600" dirty="0" smtClean="0">
                <a:solidFill>
                  <a:schemeClr val="bg1"/>
                </a:solidFill>
              </a:rPr>
              <a:t>-j  (k)</a:t>
            </a:r>
            <a:endParaRPr lang="zh-CN" altLang="en-US" sz="3600" dirty="0">
              <a:solidFill>
                <a:schemeClr val="bg1"/>
              </a:solidFill>
            </a:endParaRPr>
          </a:p>
        </p:txBody>
      </p:sp>
    </p:spTree>
    <p:extLst>
      <p:ext uri="{BB962C8B-B14F-4D97-AF65-F5344CB8AC3E}">
        <p14:creationId xmlns:p14="http://schemas.microsoft.com/office/powerpoint/2010/main" val="3581635507"/>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par>
                                <p:cTn id="16" presetID="3" presetClass="entr" presetSubtype="1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blinds(horizontal)">
                                      <p:cBhvr>
                                        <p:cTn id="28" dur="500"/>
                                        <p:tgtEl>
                                          <p:spTgt spid="7">
                                            <p:txEl>
                                              <p:pRg st="2" end="2"/>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blinds(horizontal)">
                                      <p:cBhvr>
                                        <p:cTn id="31" dur="500"/>
                                        <p:tgtEl>
                                          <p:spTgt spid="7">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7">
                                            <p:txEl>
                                              <p:pRg st="0" end="0"/>
                                            </p:txEl>
                                          </p:spTgt>
                                        </p:tgtEl>
                                        <p:attrNameLst>
                                          <p:attrName>style.visibility</p:attrName>
                                        </p:attrNameLst>
                                      </p:cBhvr>
                                      <p:to>
                                        <p:strVal val="visible"/>
                                      </p:to>
                                    </p:set>
                                    <p:animEffect transition="in" filter="blinds(horizontal)">
                                      <p:cBhvr>
                                        <p:cTn id="36" dur="500"/>
                                        <p:tgtEl>
                                          <p:spTgt spid="7">
                                            <p:txEl>
                                              <p:pRg st="0" end="0"/>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animEffect transition="in" filter="blinds(horizontal)">
                                      <p:cBhvr>
                                        <p:cTn id="39" dur="500"/>
                                        <p:tgtEl>
                                          <p:spTgt spid="7">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blinds(horizontal)">
                                      <p:cBhvr>
                                        <p:cTn id="44" dur="500"/>
                                        <p:tgtEl>
                                          <p:spTgt spid="7">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blinds(horizontal)">
                                      <p:cBhvr>
                                        <p:cTn id="49"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3" name="组合 2"/>
          <p:cNvGrpSpPr/>
          <p:nvPr/>
        </p:nvGrpSpPr>
        <p:grpSpPr>
          <a:xfrm>
            <a:off x="0" y="692696"/>
            <a:ext cx="5141585" cy="1200329"/>
            <a:chOff x="0" y="692696"/>
            <a:chExt cx="5141585" cy="1200329"/>
          </a:xfrm>
        </p:grpSpPr>
        <p:sp>
          <p:nvSpPr>
            <p:cNvPr id="4" name="TextBox 3"/>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5" name="TextBox 4"/>
            <p:cNvSpPr txBox="1"/>
            <p:nvPr/>
          </p:nvSpPr>
          <p:spPr>
            <a:xfrm>
              <a:off x="827584" y="1052736"/>
              <a:ext cx="431400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  例</a:t>
              </a:r>
              <a:r>
                <a:rPr lang="en-US" altLang="zh-CN" sz="2800" dirty="0" smtClean="0">
                  <a:solidFill>
                    <a:srgbClr val="FFF24C"/>
                  </a:solidFill>
                  <a:latin typeface="黑体" pitchFamily="49" charset="-122"/>
                  <a:ea typeface="黑体" pitchFamily="49" charset="-122"/>
                </a:rPr>
                <a:t>3</a:t>
              </a:r>
              <a:r>
                <a:rPr lang="zh-CN" altLang="en-US" sz="2800" dirty="0" smtClean="0">
                  <a:solidFill>
                    <a:srgbClr val="FFF24C"/>
                  </a:solidFill>
                  <a:latin typeface="黑体" pitchFamily="49" charset="-122"/>
                  <a:ea typeface="黑体" pitchFamily="49" charset="-122"/>
                </a:rPr>
                <a:t>：找出最大素数</a:t>
              </a:r>
            </a:p>
          </p:txBody>
        </p:sp>
      </p:grpSp>
      <p:sp>
        <p:nvSpPr>
          <p:cNvPr id="6" name="TextBox 5"/>
          <p:cNvSpPr txBox="1"/>
          <p:nvPr/>
        </p:nvSpPr>
        <p:spPr>
          <a:xfrm>
            <a:off x="251520" y="1844824"/>
            <a:ext cx="4392488" cy="4308872"/>
          </a:xfrm>
          <a:prstGeom prst="rect">
            <a:avLst/>
          </a:prstGeom>
          <a:noFill/>
        </p:spPr>
        <p:txBody>
          <a:bodyPr wrap="square" rtlCol="0">
            <a:spAutoFit/>
          </a:bodyPr>
          <a:lstStyle/>
          <a:p>
            <a:r>
              <a:rPr lang="zh-CN" altLang="en-US" sz="3200" b="1" dirty="0" smtClean="0">
                <a:solidFill>
                  <a:schemeClr val="bg1"/>
                </a:solidFill>
                <a:latin typeface="黑体" pitchFamily="49" charset="-122"/>
                <a:ea typeface="黑体" pitchFamily="49" charset="-122"/>
              </a:rPr>
              <a:t>输入：</a:t>
            </a:r>
            <a:endParaRPr lang="zh-CN" altLang="en-US" sz="3200" dirty="0" smtClean="0">
              <a:solidFill>
                <a:schemeClr val="bg1"/>
              </a:solidFill>
              <a:latin typeface="黑体" pitchFamily="49" charset="-122"/>
              <a:ea typeface="黑体" pitchFamily="49" charset="-122"/>
            </a:endParaRPr>
          </a:p>
          <a:p>
            <a:r>
              <a:rPr lang="zh-CN" altLang="en-US" sz="3200" dirty="0" smtClean="0">
                <a:solidFill>
                  <a:schemeClr val="bg1"/>
                </a:solidFill>
                <a:latin typeface="黑体" pitchFamily="49" charset="-122"/>
                <a:ea typeface="黑体" pitchFamily="49" charset="-122"/>
              </a:rPr>
              <a:t>取值范围</a:t>
            </a:r>
          </a:p>
          <a:p>
            <a:r>
              <a:rPr lang="zh-CN" altLang="en-US" sz="3200" b="1" dirty="0" smtClean="0">
                <a:solidFill>
                  <a:schemeClr val="bg1"/>
                </a:solidFill>
                <a:latin typeface="黑体" pitchFamily="49" charset="-122"/>
                <a:ea typeface="黑体" pitchFamily="49" charset="-122"/>
              </a:rPr>
              <a:t>输出：</a:t>
            </a:r>
            <a:endParaRPr lang="zh-CN" altLang="en-US" sz="3200" dirty="0" smtClean="0">
              <a:solidFill>
                <a:schemeClr val="bg1"/>
              </a:solidFill>
              <a:latin typeface="黑体" pitchFamily="49" charset="-122"/>
              <a:ea typeface="黑体" pitchFamily="49" charset="-122"/>
            </a:endParaRPr>
          </a:p>
          <a:p>
            <a:r>
              <a:rPr lang="zh-CN" altLang="en-US" sz="3200" dirty="0" smtClean="0">
                <a:solidFill>
                  <a:schemeClr val="bg1"/>
                </a:solidFill>
                <a:latin typeface="黑体" pitchFamily="49" charset="-122"/>
                <a:ea typeface="黑体" pitchFamily="49" charset="-122"/>
              </a:rPr>
              <a:t>该范围内的最大素数</a:t>
            </a:r>
            <a:endParaRPr lang="en-US" altLang="zh-CN" sz="3200" dirty="0" smtClean="0">
              <a:solidFill>
                <a:schemeClr val="bg1"/>
              </a:solidFill>
              <a:latin typeface="黑体" pitchFamily="49" charset="-122"/>
              <a:ea typeface="黑体" pitchFamily="49" charset="-122"/>
            </a:endParaRPr>
          </a:p>
          <a:p>
            <a:r>
              <a:rPr lang="en-US" altLang="zh-CN" sz="3200" dirty="0" smtClean="0">
                <a:solidFill>
                  <a:schemeClr val="bg1"/>
                </a:solidFill>
                <a:latin typeface="黑体" pitchFamily="49" charset="-122"/>
                <a:ea typeface="黑体" pitchFamily="49" charset="-122"/>
              </a:rPr>
              <a:t>INPUT:</a:t>
            </a:r>
          </a:p>
          <a:p>
            <a:r>
              <a:rPr lang="en-US" altLang="zh-CN" sz="3200" dirty="0" smtClean="0">
                <a:solidFill>
                  <a:schemeClr val="bg1"/>
                </a:solidFill>
                <a:latin typeface="黑体" pitchFamily="49" charset="-122"/>
                <a:ea typeface="黑体" pitchFamily="49" charset="-122"/>
              </a:rPr>
              <a:t>100</a:t>
            </a:r>
          </a:p>
          <a:p>
            <a:r>
              <a:rPr lang="en-US" altLang="zh-CN" sz="3200" dirty="0" smtClean="0">
                <a:solidFill>
                  <a:schemeClr val="bg1"/>
                </a:solidFill>
                <a:latin typeface="黑体" pitchFamily="49" charset="-122"/>
                <a:ea typeface="黑体" pitchFamily="49" charset="-122"/>
              </a:rPr>
              <a:t>OUTPUT:</a:t>
            </a:r>
          </a:p>
          <a:p>
            <a:r>
              <a:rPr lang="en-US" altLang="zh-CN" sz="3200" dirty="0" smtClean="0">
                <a:solidFill>
                  <a:schemeClr val="bg1"/>
                </a:solidFill>
                <a:latin typeface="黑体" pitchFamily="49" charset="-122"/>
                <a:ea typeface="黑体" pitchFamily="49" charset="-122"/>
              </a:rPr>
              <a:t>97</a:t>
            </a:r>
            <a:endParaRPr lang="zh-CN" altLang="en-US" sz="3200" dirty="0" smtClean="0">
              <a:solidFill>
                <a:schemeClr val="bg1"/>
              </a:solidFill>
              <a:latin typeface="黑体" pitchFamily="49" charset="-122"/>
              <a:ea typeface="黑体" pitchFamily="49" charset="-122"/>
            </a:endParaRPr>
          </a:p>
          <a:p>
            <a:endParaRPr lang="zh-CN" altLang="en-US" dirty="0"/>
          </a:p>
        </p:txBody>
      </p:sp>
      <p:sp>
        <p:nvSpPr>
          <p:cNvPr id="7" name="TextBox 6"/>
          <p:cNvSpPr txBox="1"/>
          <p:nvPr/>
        </p:nvSpPr>
        <p:spPr>
          <a:xfrm>
            <a:off x="3923928" y="1556792"/>
            <a:ext cx="5004048" cy="5324535"/>
          </a:xfrm>
          <a:prstGeom prst="rect">
            <a:avLst/>
          </a:prstGeom>
          <a:noFill/>
        </p:spPr>
        <p:txBody>
          <a:bodyPr wrap="square" rtlCol="0">
            <a:spAutoFit/>
          </a:bodyPr>
          <a:lstStyle/>
          <a:p>
            <a:r>
              <a:rPr lang="en-US" altLang="zh-CN" sz="2000" dirty="0" smtClean="0"/>
              <a:t>	</a:t>
            </a:r>
            <a:r>
              <a:rPr lang="en-US" altLang="zh-CN" sz="2000" dirty="0" smtClean="0">
                <a:solidFill>
                  <a:schemeClr val="bg1"/>
                </a:solidFill>
                <a:latin typeface="Franklin Gothic Heavy" pitchFamily="34" charset="0"/>
              </a:rPr>
              <a:t>int </a:t>
            </a:r>
            <a:r>
              <a:rPr lang="en-US" altLang="zh-CN" sz="2000" dirty="0" err="1" smtClean="0">
                <a:solidFill>
                  <a:schemeClr val="bg1"/>
                </a:solidFill>
                <a:latin typeface="Franklin Gothic Heavy" pitchFamily="34" charset="0"/>
              </a:rPr>
              <a:t>i,j,flag,a</a:t>
            </a:r>
            <a:r>
              <a:rPr lang="en-US" altLang="zh-CN" sz="2000" dirty="0" smtClean="0">
                <a:solidFill>
                  <a:schemeClr val="bg1"/>
                </a:solidFill>
                <a:latin typeface="Franklin Gothic Heavy" pitchFamily="34" charset="0"/>
              </a:rPr>
              <a:t>;</a:t>
            </a:r>
          </a:p>
          <a:p>
            <a:r>
              <a:rPr lang="en-US" altLang="zh-CN" sz="2000" dirty="0" smtClean="0">
                <a:solidFill>
                  <a:schemeClr val="bg1"/>
                </a:solidFill>
                <a:latin typeface="Franklin Gothic Heavy" pitchFamily="34" charset="0"/>
              </a:rPr>
              <a:t>	scanf("%d",&amp;a);</a:t>
            </a:r>
          </a:p>
          <a:p>
            <a:r>
              <a:rPr lang="en-US" altLang="zh-CN" sz="2000" dirty="0" smtClean="0">
                <a:solidFill>
                  <a:schemeClr val="bg1"/>
                </a:solidFill>
                <a:latin typeface="Franklin Gothic Heavy" pitchFamily="34" charset="0"/>
              </a:rPr>
              <a:t>	for (i=a;i&gt;1;i--)</a:t>
            </a:r>
          </a:p>
          <a:p>
            <a:r>
              <a:rPr lang="en-US" altLang="zh-CN" sz="2000" dirty="0" smtClean="0">
                <a:solidFill>
                  <a:schemeClr val="bg1"/>
                </a:solidFill>
                <a:latin typeface="Franklin Gothic Heavy" pitchFamily="34" charset="0"/>
              </a:rPr>
              <a:t>	{</a:t>
            </a:r>
          </a:p>
          <a:p>
            <a:r>
              <a:rPr lang="en-US" altLang="zh-CN" sz="2000" dirty="0" smtClean="0">
                <a:solidFill>
                  <a:schemeClr val="bg1"/>
                </a:solidFill>
                <a:latin typeface="Franklin Gothic Heavy" pitchFamily="34" charset="0"/>
              </a:rPr>
              <a:t>		flag=0;</a:t>
            </a:r>
          </a:p>
          <a:p>
            <a:r>
              <a:rPr lang="en-US" altLang="zh-CN" sz="2000" dirty="0" smtClean="0">
                <a:solidFill>
                  <a:schemeClr val="bg1"/>
                </a:solidFill>
                <a:latin typeface="Franklin Gothic Heavy" pitchFamily="34" charset="0"/>
              </a:rPr>
              <a:t>		for (j=2;j&lt;i;j++)</a:t>
            </a:r>
          </a:p>
          <a:p>
            <a:r>
              <a:rPr lang="en-US" altLang="zh-CN" sz="2000" dirty="0" smtClean="0">
                <a:solidFill>
                  <a:schemeClr val="bg1"/>
                </a:solidFill>
                <a:latin typeface="Franklin Gothic Heavy" pitchFamily="34" charset="0"/>
              </a:rPr>
              <a:t>			if (i%j==0)</a:t>
            </a:r>
          </a:p>
          <a:p>
            <a:r>
              <a:rPr lang="en-US" altLang="zh-CN" sz="2000" dirty="0" smtClean="0">
                <a:solidFill>
                  <a:schemeClr val="bg1"/>
                </a:solidFill>
                <a:latin typeface="Franklin Gothic Heavy" pitchFamily="34" charset="0"/>
              </a:rPr>
              <a:t>			{</a:t>
            </a:r>
          </a:p>
          <a:p>
            <a:r>
              <a:rPr lang="en-US" altLang="zh-CN" sz="2000" dirty="0" smtClean="0">
                <a:solidFill>
                  <a:schemeClr val="bg1"/>
                </a:solidFill>
                <a:latin typeface="Franklin Gothic Heavy" pitchFamily="34" charset="0"/>
              </a:rPr>
              <a:t>				flag=1;</a:t>
            </a:r>
          </a:p>
          <a:p>
            <a:r>
              <a:rPr lang="en-US" altLang="zh-CN" sz="2000" dirty="0" smtClean="0">
                <a:solidFill>
                  <a:schemeClr val="bg1"/>
                </a:solidFill>
                <a:latin typeface="Franklin Gothic Heavy" pitchFamily="34" charset="0"/>
              </a:rPr>
              <a:t>				break;</a:t>
            </a:r>
          </a:p>
          <a:p>
            <a:r>
              <a:rPr lang="en-US" altLang="zh-CN" sz="2000" dirty="0" smtClean="0">
                <a:solidFill>
                  <a:schemeClr val="bg1"/>
                </a:solidFill>
                <a:latin typeface="Franklin Gothic Heavy" pitchFamily="34" charset="0"/>
              </a:rPr>
              <a:t>			}</a:t>
            </a:r>
          </a:p>
          <a:p>
            <a:r>
              <a:rPr lang="en-US" altLang="zh-CN" sz="2000" dirty="0" smtClean="0">
                <a:solidFill>
                  <a:schemeClr val="bg1"/>
                </a:solidFill>
                <a:latin typeface="Franklin Gothic Heavy" pitchFamily="34" charset="0"/>
              </a:rPr>
              <a:t>		if (flag==0)</a:t>
            </a:r>
          </a:p>
          <a:p>
            <a:r>
              <a:rPr lang="en-US" altLang="zh-CN" sz="2000" dirty="0" smtClean="0">
                <a:solidFill>
                  <a:schemeClr val="bg1"/>
                </a:solidFill>
                <a:latin typeface="Franklin Gothic Heavy" pitchFamily="34" charset="0"/>
              </a:rPr>
              <a:t>		{</a:t>
            </a:r>
          </a:p>
          <a:p>
            <a:r>
              <a:rPr lang="en-US" altLang="zh-CN" sz="2000" dirty="0" smtClean="0">
                <a:solidFill>
                  <a:schemeClr val="bg1"/>
                </a:solidFill>
                <a:latin typeface="Franklin Gothic Heavy" pitchFamily="34" charset="0"/>
              </a:rPr>
              <a:t>			printf("%d.\n",i);</a:t>
            </a:r>
          </a:p>
          <a:p>
            <a:r>
              <a:rPr lang="en-US" altLang="zh-CN" sz="2000" dirty="0" smtClean="0">
                <a:solidFill>
                  <a:schemeClr val="bg1"/>
                </a:solidFill>
                <a:latin typeface="Franklin Gothic Heavy" pitchFamily="34" charset="0"/>
              </a:rPr>
              <a:t>			break;</a:t>
            </a:r>
          </a:p>
          <a:p>
            <a:r>
              <a:rPr lang="en-US" altLang="zh-CN" sz="2000" dirty="0" smtClean="0">
                <a:solidFill>
                  <a:schemeClr val="bg1"/>
                </a:solidFill>
                <a:latin typeface="Franklin Gothic Heavy" pitchFamily="34" charset="0"/>
              </a:rPr>
              <a:t>		}</a:t>
            </a:r>
          </a:p>
          <a:p>
            <a:r>
              <a:rPr lang="en-US" altLang="zh-CN" sz="2000" dirty="0" smtClean="0">
                <a:solidFill>
                  <a:schemeClr val="bg1"/>
                </a:solidFill>
                <a:latin typeface="Franklin Gothic Heavy" pitchFamily="34" charset="0"/>
              </a:rPr>
              <a:t>	}</a:t>
            </a:r>
          </a:p>
        </p:txBody>
      </p:sp>
      <p:cxnSp>
        <p:nvCxnSpPr>
          <p:cNvPr id="11" name="直接箭头连接符 10"/>
          <p:cNvCxnSpPr/>
          <p:nvPr/>
        </p:nvCxnSpPr>
        <p:spPr>
          <a:xfrm>
            <a:off x="4788024" y="3645024"/>
            <a:ext cx="1584176" cy="0"/>
          </a:xfrm>
          <a:prstGeom prst="straightConnector1">
            <a:avLst/>
          </a:prstGeom>
          <a:ln w="31750">
            <a:solidFill>
              <a:srgbClr val="FFF24C"/>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4788024" y="4509120"/>
            <a:ext cx="1584176" cy="0"/>
          </a:xfrm>
          <a:prstGeom prst="straightConnector1">
            <a:avLst/>
          </a:prstGeom>
          <a:ln w="31750">
            <a:solidFill>
              <a:srgbClr val="FFF24C"/>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4067944" y="5157192"/>
            <a:ext cx="1584176" cy="0"/>
          </a:xfrm>
          <a:prstGeom prst="straightConnector1">
            <a:avLst/>
          </a:prstGeom>
          <a:ln w="31750">
            <a:solidFill>
              <a:srgbClr val="FFF24C"/>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211960" y="4005064"/>
            <a:ext cx="2448272" cy="369332"/>
          </a:xfrm>
          <a:prstGeom prst="rect">
            <a:avLst/>
          </a:prstGeom>
          <a:noFill/>
        </p:spPr>
        <p:txBody>
          <a:bodyPr wrap="square" rtlCol="0">
            <a:spAutoFit/>
          </a:bodyPr>
          <a:lstStyle/>
          <a:p>
            <a:r>
              <a:rPr lang="zh-CN" altLang="en-US" b="1" dirty="0" smtClean="0">
                <a:solidFill>
                  <a:schemeClr val="bg1"/>
                </a:solidFill>
              </a:rPr>
              <a:t>时间优化 见好就收</a:t>
            </a:r>
            <a:endParaRPr lang="zh-CN" altLang="en-US" b="1" dirty="0">
              <a:solidFill>
                <a:schemeClr val="bg1"/>
              </a:solidFill>
            </a:endParaRPr>
          </a:p>
        </p:txBody>
      </p:sp>
    </p:spTree>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par>
                                <p:cTn id="18" presetID="3" presetClass="entr" presetSubtype="1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8" name="Rectangle 4"/>
          <p:cNvSpPr>
            <a:spLocks noChangeArrowheads="1"/>
          </p:cNvSpPr>
          <p:nvPr/>
        </p:nvSpPr>
        <p:spPr bwMode="auto">
          <a:xfrm>
            <a:off x="468313" y="1773238"/>
            <a:ext cx="8218487" cy="214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r>
              <a:rPr lang="zh-CN" altLang="en-US" sz="3400" b="1" dirty="0">
                <a:solidFill>
                  <a:schemeClr val="tx2"/>
                </a:solidFill>
              </a:rPr>
              <a:t>例 </a:t>
            </a:r>
            <a:r>
              <a:rPr lang="en-US" altLang="zh-CN" sz="3400" b="1" dirty="0" smtClean="0">
                <a:solidFill>
                  <a:schemeClr val="tx2"/>
                </a:solidFill>
              </a:rPr>
              <a:t>4</a:t>
            </a:r>
            <a:r>
              <a:rPr lang="en-US" altLang="zh-CN" sz="3400" b="1" dirty="0">
                <a:solidFill>
                  <a:schemeClr val="tx2"/>
                </a:solidFill>
              </a:rPr>
              <a:t> </a:t>
            </a:r>
            <a:r>
              <a:rPr lang="zh-CN" altLang="en-US" sz="3400" b="1" dirty="0">
                <a:solidFill>
                  <a:schemeClr val="tx2"/>
                </a:solidFill>
              </a:rPr>
              <a:t>： </a:t>
            </a:r>
            <a:r>
              <a:rPr lang="en-US" altLang="zh-CN" sz="3400" b="1" dirty="0">
                <a:solidFill>
                  <a:schemeClr val="tx2"/>
                </a:solidFill>
              </a:rPr>
              <a:t>36 </a:t>
            </a:r>
            <a:r>
              <a:rPr lang="zh-CN" altLang="en-US" sz="3400" b="1" dirty="0">
                <a:solidFill>
                  <a:schemeClr val="tx2"/>
                </a:solidFill>
              </a:rPr>
              <a:t>块砖， </a:t>
            </a:r>
            <a:r>
              <a:rPr lang="en-US" altLang="zh-CN" sz="3400" b="1" dirty="0">
                <a:solidFill>
                  <a:schemeClr val="tx2"/>
                </a:solidFill>
              </a:rPr>
              <a:t>36 </a:t>
            </a:r>
            <a:r>
              <a:rPr lang="zh-CN" altLang="en-US" sz="3400" b="1" dirty="0">
                <a:solidFill>
                  <a:schemeClr val="tx2"/>
                </a:solidFill>
              </a:rPr>
              <a:t>人搬。男搬 </a:t>
            </a:r>
            <a:r>
              <a:rPr lang="en-US" altLang="zh-CN" sz="3400" b="1" dirty="0">
                <a:solidFill>
                  <a:schemeClr val="tx2"/>
                </a:solidFill>
              </a:rPr>
              <a:t>4 </a:t>
            </a:r>
            <a:r>
              <a:rPr lang="zh-CN" altLang="en-US" sz="3400" b="1" dirty="0">
                <a:solidFill>
                  <a:schemeClr val="tx2"/>
                </a:solidFill>
              </a:rPr>
              <a:t>，女搬 </a:t>
            </a:r>
            <a:r>
              <a:rPr lang="en-US" altLang="zh-CN" sz="3400" b="1" dirty="0">
                <a:solidFill>
                  <a:schemeClr val="tx2"/>
                </a:solidFill>
              </a:rPr>
              <a:t>3 </a:t>
            </a:r>
            <a:r>
              <a:rPr lang="zh-CN" altLang="en-US" sz="3400" b="1" dirty="0">
                <a:solidFill>
                  <a:schemeClr val="tx2"/>
                </a:solidFill>
              </a:rPr>
              <a:t>，两个小儿抬一砖。要求一次全搬完。问需男、女、小儿各若干（必须都有）？ </a:t>
            </a:r>
            <a:r>
              <a:rPr lang="zh-CN" altLang="en-US" sz="3400" dirty="0">
                <a:solidFill>
                  <a:schemeClr val="tx2"/>
                </a:solidFill>
              </a:rPr>
              <a:t> </a:t>
            </a:r>
            <a:endParaRPr lang="zh-CN" altLang="en-US" sz="2800" b="1" dirty="0">
              <a:solidFill>
                <a:schemeClr val="tx2"/>
              </a:solidFill>
            </a:endParaRPr>
          </a:p>
        </p:txBody>
      </p:sp>
    </p:spTree>
    <p:extLst>
      <p:ext uri="{BB962C8B-B14F-4D97-AF65-F5344CB8AC3E}">
        <p14:creationId xmlns:p14="http://schemas.microsoft.com/office/powerpoint/2010/main" val="2092309358"/>
      </p:ext>
    </p:extLst>
  </p:cSld>
  <p:clrMapOvr>
    <a:masterClrMapping/>
  </p:clrMapOvr>
  <p:transition>
    <p:pull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nvGrpSpPr>
          <p:cNvPr id="5" name="组合 2"/>
          <p:cNvGrpSpPr/>
          <p:nvPr/>
        </p:nvGrpSpPr>
        <p:grpSpPr>
          <a:xfrm>
            <a:off x="0" y="692696"/>
            <a:ext cx="1730395" cy="1200329"/>
            <a:chOff x="0" y="692696"/>
            <a:chExt cx="1730395" cy="1200329"/>
          </a:xfrm>
        </p:grpSpPr>
        <p:sp>
          <p:nvSpPr>
            <p:cNvPr id="6" name="TextBox 5"/>
            <p:cNvSpPr txBox="1"/>
            <p:nvPr/>
          </p:nvSpPr>
          <p:spPr>
            <a:xfrm>
              <a:off x="0" y="692696"/>
              <a:ext cx="837089" cy="1200329"/>
            </a:xfrm>
            <a:prstGeom prst="rect">
              <a:avLst/>
            </a:prstGeom>
            <a:noFill/>
          </p:spPr>
          <p:txBody>
            <a:bodyPr wrap="none" rtlCol="0">
              <a:spAutoFit/>
            </a:bodyPr>
            <a:lstStyle/>
            <a:p>
              <a:r>
                <a:rPr lang="en-US" altLang="zh-CN" sz="7200" dirty="0" smtClean="0">
                  <a:solidFill>
                    <a:schemeClr val="bg1"/>
                  </a:solidFill>
                  <a:latin typeface="Broadway" pitchFamily="82" charset="0"/>
                  <a:ea typeface="Kozuka Mincho Pro H" pitchFamily="18" charset="-128"/>
                </a:rPr>
                <a:t>C</a:t>
              </a:r>
              <a:endParaRPr lang="zh-CN" altLang="en-US" sz="7200" dirty="0">
                <a:solidFill>
                  <a:schemeClr val="bg1"/>
                </a:solidFill>
                <a:latin typeface="Broadway" pitchFamily="82" charset="0"/>
                <a:ea typeface="Kozuka Mincho Pro H" pitchFamily="18" charset="-128"/>
              </a:endParaRPr>
            </a:p>
          </p:txBody>
        </p:sp>
        <p:sp>
          <p:nvSpPr>
            <p:cNvPr id="7" name="TextBox 6"/>
            <p:cNvSpPr txBox="1"/>
            <p:nvPr/>
          </p:nvSpPr>
          <p:spPr>
            <a:xfrm>
              <a:off x="827584" y="1052736"/>
              <a:ext cx="902811" cy="523220"/>
            </a:xfrm>
            <a:prstGeom prst="rect">
              <a:avLst/>
            </a:prstGeom>
            <a:noFill/>
          </p:spPr>
          <p:txBody>
            <a:bodyPr wrap="none" rtlCol="0">
              <a:spAutoFit/>
            </a:bodyPr>
            <a:lstStyle/>
            <a:p>
              <a:r>
                <a:rPr lang="zh-CN" altLang="en-US" sz="2800" dirty="0" smtClean="0">
                  <a:solidFill>
                    <a:srgbClr val="FFF24C"/>
                  </a:solidFill>
                  <a:latin typeface="黑体" pitchFamily="49" charset="-122"/>
                  <a:ea typeface="黑体" pitchFamily="49" charset="-122"/>
                </a:rPr>
                <a:t>穷举</a:t>
              </a:r>
            </a:p>
          </p:txBody>
        </p:sp>
      </p:grpSp>
      <p:sp>
        <p:nvSpPr>
          <p:cNvPr id="3" name="内容占位符 2"/>
          <p:cNvSpPr>
            <a:spLocks noGrp="1"/>
          </p:cNvSpPr>
          <p:nvPr>
            <p:ph idx="1"/>
          </p:nvPr>
        </p:nvSpPr>
        <p:spPr>
          <a:xfrm>
            <a:off x="4045770" y="2340978"/>
            <a:ext cx="1633176" cy="775235"/>
          </a:xfrm>
        </p:spPr>
        <p:txBody>
          <a:bodyPr/>
          <a:lstStyle/>
          <a:p>
            <a:pPr marL="0" indent="0">
              <a:buNone/>
            </a:pPr>
            <a:r>
              <a:rPr lang="zh-CN" altLang="en-US" dirty="0" smtClean="0"/>
              <a:t>分析：</a:t>
            </a:r>
            <a:endParaRPr lang="zh-CN" altLang="en-US" dirty="0"/>
          </a:p>
        </p:txBody>
      </p:sp>
      <p:sp>
        <p:nvSpPr>
          <p:cNvPr id="9" name="TextBox 8"/>
          <p:cNvSpPr txBox="1"/>
          <p:nvPr/>
        </p:nvSpPr>
        <p:spPr>
          <a:xfrm>
            <a:off x="5914593" y="2492896"/>
            <a:ext cx="2448272" cy="646331"/>
          </a:xfrm>
          <a:prstGeom prst="rect">
            <a:avLst/>
          </a:prstGeom>
          <a:noFill/>
        </p:spPr>
        <p:txBody>
          <a:bodyPr wrap="square" rtlCol="0">
            <a:spAutoFit/>
          </a:bodyPr>
          <a:lstStyle/>
          <a:p>
            <a:r>
              <a:rPr lang="zh-CN" altLang="en-US" sz="3600" dirty="0" smtClean="0">
                <a:solidFill>
                  <a:schemeClr val="bg1"/>
                </a:solidFill>
              </a:rPr>
              <a:t>男</a:t>
            </a:r>
            <a:r>
              <a:rPr lang="en-US" altLang="zh-CN" sz="3600" dirty="0" smtClean="0">
                <a:solidFill>
                  <a:schemeClr val="bg1"/>
                </a:solidFill>
              </a:rPr>
              <a:t>  </a:t>
            </a:r>
            <a:r>
              <a:rPr lang="zh-CN" altLang="en-US" sz="3600" dirty="0" smtClean="0">
                <a:solidFill>
                  <a:schemeClr val="bg1"/>
                </a:solidFill>
              </a:rPr>
              <a:t>女  小儿</a:t>
            </a:r>
            <a:r>
              <a:rPr lang="en-US" altLang="zh-CN" sz="3600" dirty="0" smtClean="0">
                <a:solidFill>
                  <a:schemeClr val="bg1"/>
                </a:solidFill>
              </a:rPr>
              <a:t>  </a:t>
            </a:r>
            <a:endParaRPr lang="zh-CN" altLang="en-US" sz="3600" dirty="0">
              <a:solidFill>
                <a:schemeClr val="bg1"/>
              </a:solidFill>
            </a:endParaRPr>
          </a:p>
        </p:txBody>
      </p:sp>
      <p:cxnSp>
        <p:nvCxnSpPr>
          <p:cNvPr id="10" name="直接箭头连接符 9"/>
          <p:cNvCxnSpPr/>
          <p:nvPr/>
        </p:nvCxnSpPr>
        <p:spPr>
          <a:xfrm>
            <a:off x="6262047" y="3139227"/>
            <a:ext cx="0" cy="432048"/>
          </a:xfrm>
          <a:prstGeom prst="straightConnector1">
            <a:avLst/>
          </a:prstGeom>
          <a:ln w="4445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7812360" y="3139227"/>
            <a:ext cx="0" cy="432048"/>
          </a:xfrm>
          <a:prstGeom prst="straightConnector1">
            <a:avLst/>
          </a:prstGeom>
          <a:ln w="4445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7020272" y="3139227"/>
            <a:ext cx="0" cy="432048"/>
          </a:xfrm>
          <a:prstGeom prst="straightConnector1">
            <a:avLst/>
          </a:prstGeom>
          <a:ln w="4445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504218" y="3571275"/>
            <a:ext cx="3269022" cy="646331"/>
          </a:xfrm>
          <a:prstGeom prst="rect">
            <a:avLst/>
          </a:prstGeom>
          <a:noFill/>
        </p:spPr>
        <p:txBody>
          <a:bodyPr wrap="square" rtlCol="0">
            <a:spAutoFit/>
          </a:bodyPr>
          <a:lstStyle/>
          <a:p>
            <a:r>
              <a:rPr lang="en-US" altLang="zh-CN" sz="3600" dirty="0" smtClean="0">
                <a:solidFill>
                  <a:schemeClr val="bg1"/>
                </a:solidFill>
              </a:rPr>
              <a:t>I    j   </a:t>
            </a:r>
            <a:r>
              <a:rPr lang="en-US" altLang="zh-CN" sz="3600" dirty="0">
                <a:solidFill>
                  <a:schemeClr val="bg1"/>
                </a:solidFill>
              </a:rPr>
              <a:t> </a:t>
            </a:r>
            <a:r>
              <a:rPr lang="en-US" altLang="zh-CN" sz="3600" dirty="0" smtClean="0">
                <a:solidFill>
                  <a:schemeClr val="bg1"/>
                </a:solidFill>
              </a:rPr>
              <a:t> 36-i-j  (k)</a:t>
            </a:r>
            <a:endParaRPr lang="zh-CN" altLang="en-US" sz="3600" dirty="0">
              <a:solidFill>
                <a:schemeClr val="bg1"/>
              </a:solidFill>
            </a:endParaRPr>
          </a:p>
        </p:txBody>
      </p:sp>
      <p:sp>
        <p:nvSpPr>
          <p:cNvPr id="14" name="AutoShape 4"/>
          <p:cNvSpPr>
            <a:spLocks/>
          </p:cNvSpPr>
          <p:nvPr/>
        </p:nvSpPr>
        <p:spPr bwMode="auto">
          <a:xfrm>
            <a:off x="3995936" y="709597"/>
            <a:ext cx="431800" cy="1008063"/>
          </a:xfrm>
          <a:prstGeom prst="leftBrace">
            <a:avLst>
              <a:gd name="adj1" fmla="val 19455"/>
              <a:gd name="adj2" fmla="val 50000"/>
            </a:avLst>
          </a:prstGeom>
          <a:noFill/>
          <a:ln w="222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5"/>
          <p:cNvSpPr txBox="1">
            <a:spLocks noChangeArrowheads="1"/>
          </p:cNvSpPr>
          <p:nvPr/>
        </p:nvSpPr>
        <p:spPr bwMode="auto">
          <a:xfrm>
            <a:off x="4932040" y="680120"/>
            <a:ext cx="3168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400" b="1" dirty="0"/>
              <a:t>k=36 - </a:t>
            </a:r>
            <a:r>
              <a:rPr lang="en-US" altLang="zh-CN" sz="2400" b="1" dirty="0" err="1"/>
              <a:t>i</a:t>
            </a:r>
            <a:r>
              <a:rPr lang="en-US" altLang="zh-CN" sz="2400" b="1" dirty="0"/>
              <a:t> - j</a:t>
            </a:r>
          </a:p>
        </p:txBody>
      </p:sp>
      <p:sp>
        <p:nvSpPr>
          <p:cNvPr id="16" name="Text Box 6"/>
          <p:cNvSpPr txBox="1">
            <a:spLocks noChangeArrowheads="1"/>
          </p:cNvSpPr>
          <p:nvPr/>
        </p:nvSpPr>
        <p:spPr bwMode="auto">
          <a:xfrm>
            <a:off x="4932041" y="1347356"/>
            <a:ext cx="33843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en-US" altLang="zh-CN" sz="2400" b="1" dirty="0" err="1"/>
              <a:t>i</a:t>
            </a:r>
            <a:r>
              <a:rPr lang="en-US" altLang="zh-CN" sz="2400" b="1" dirty="0"/>
              <a:t> *4+j *3+k/2==36</a:t>
            </a:r>
          </a:p>
        </p:txBody>
      </p:sp>
      <p:sp>
        <p:nvSpPr>
          <p:cNvPr id="17" name="Text Box 7"/>
          <p:cNvSpPr txBox="1">
            <a:spLocks noChangeArrowheads="1"/>
          </p:cNvSpPr>
          <p:nvPr/>
        </p:nvSpPr>
        <p:spPr bwMode="auto">
          <a:xfrm>
            <a:off x="3995937" y="1826792"/>
            <a:ext cx="446449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400" b="1" dirty="0">
                <a:solidFill>
                  <a:srgbClr val="FF0000"/>
                </a:solidFill>
              </a:rPr>
              <a:t>注意：</a:t>
            </a:r>
            <a:r>
              <a:rPr lang="en-US" altLang="zh-CN" sz="2400" b="1" dirty="0">
                <a:solidFill>
                  <a:srgbClr val="FF0000"/>
                </a:solidFill>
              </a:rPr>
              <a:t>k</a:t>
            </a:r>
            <a:r>
              <a:rPr lang="zh-CN" altLang="en-US" sz="2400" b="1" dirty="0">
                <a:solidFill>
                  <a:srgbClr val="FF0000"/>
                </a:solidFill>
              </a:rPr>
              <a:t>必须是</a:t>
            </a:r>
            <a:r>
              <a:rPr lang="en-US" altLang="zh-CN" sz="2400" b="1" dirty="0">
                <a:solidFill>
                  <a:srgbClr val="FF0000"/>
                </a:solidFill>
              </a:rPr>
              <a:t>2</a:t>
            </a:r>
            <a:r>
              <a:rPr lang="zh-CN" altLang="en-US" sz="2400" b="1" dirty="0">
                <a:solidFill>
                  <a:srgbClr val="FF0000"/>
                </a:solidFill>
              </a:rPr>
              <a:t>的倍数</a:t>
            </a:r>
          </a:p>
        </p:txBody>
      </p:sp>
      <p:sp>
        <p:nvSpPr>
          <p:cNvPr id="18" name="矩形 17"/>
          <p:cNvSpPr/>
          <p:nvPr/>
        </p:nvSpPr>
        <p:spPr>
          <a:xfrm>
            <a:off x="130871" y="3604698"/>
            <a:ext cx="9013129" cy="3194721"/>
          </a:xfrm>
          <a:prstGeom prst="rect">
            <a:avLst/>
          </a:prstGeom>
        </p:spPr>
        <p:txBody>
          <a:bodyPr wrap="square">
            <a:spAutoFit/>
          </a:bodyPr>
          <a:lstStyle/>
          <a:p>
            <a:pPr>
              <a:lnSpc>
                <a:spcPct val="80000"/>
              </a:lnSpc>
              <a:buFontTx/>
              <a:buNone/>
            </a:pPr>
            <a:r>
              <a:rPr lang="en-US" altLang="zh-CN" sz="3600" b="1" dirty="0"/>
              <a:t>for(</a:t>
            </a:r>
            <a:r>
              <a:rPr lang="en-US" altLang="zh-CN" sz="3600" b="1" dirty="0" err="1"/>
              <a:t>i</a:t>
            </a:r>
            <a:r>
              <a:rPr lang="en-US" altLang="zh-CN" sz="3600" b="1" dirty="0"/>
              <a:t>=1;i&lt;=9;i++)</a:t>
            </a:r>
          </a:p>
          <a:p>
            <a:pPr>
              <a:lnSpc>
                <a:spcPct val="80000"/>
              </a:lnSpc>
              <a:buFontTx/>
              <a:buNone/>
            </a:pPr>
            <a:r>
              <a:rPr lang="en-US" altLang="zh-CN" sz="3600" b="1" dirty="0"/>
              <a:t> </a:t>
            </a:r>
            <a:r>
              <a:rPr lang="en-US" altLang="zh-CN" sz="3600" b="1" dirty="0" smtClean="0"/>
              <a:t>    for(j=1;j</a:t>
            </a:r>
            <a:r>
              <a:rPr lang="en-US" altLang="zh-CN" sz="3600" b="1" dirty="0"/>
              <a:t>&lt;=12;j++)</a:t>
            </a:r>
          </a:p>
          <a:p>
            <a:pPr>
              <a:lnSpc>
                <a:spcPct val="80000"/>
              </a:lnSpc>
              <a:buFontTx/>
              <a:buNone/>
            </a:pPr>
            <a:r>
              <a:rPr lang="en-US" altLang="zh-CN" sz="3600" b="1" dirty="0" smtClean="0"/>
              <a:t>     {</a:t>
            </a:r>
            <a:endParaRPr lang="en-US" altLang="zh-CN" sz="3600" b="1" dirty="0"/>
          </a:p>
          <a:p>
            <a:pPr>
              <a:lnSpc>
                <a:spcPct val="80000"/>
              </a:lnSpc>
              <a:buFontTx/>
              <a:buNone/>
            </a:pPr>
            <a:r>
              <a:rPr lang="en-US" altLang="zh-CN" sz="3600" b="1" dirty="0" smtClean="0"/>
              <a:t>           k=36-i-j</a:t>
            </a:r>
            <a:r>
              <a:rPr lang="en-US" altLang="zh-CN" sz="3600" b="1" dirty="0"/>
              <a:t>;</a:t>
            </a:r>
          </a:p>
          <a:p>
            <a:pPr>
              <a:lnSpc>
                <a:spcPct val="80000"/>
              </a:lnSpc>
              <a:buFontTx/>
              <a:buNone/>
            </a:pPr>
            <a:r>
              <a:rPr lang="en-US" altLang="zh-CN" sz="3600" b="1" dirty="0" smtClean="0"/>
              <a:t>           if(k%2</a:t>
            </a:r>
            <a:r>
              <a:rPr lang="en-US" altLang="zh-CN" sz="3600" b="1" dirty="0"/>
              <a:t>==0 &amp;&amp; </a:t>
            </a:r>
            <a:r>
              <a:rPr lang="en-US" altLang="zh-CN" sz="3600" b="1" dirty="0" err="1"/>
              <a:t>i</a:t>
            </a:r>
            <a:r>
              <a:rPr lang="en-US" altLang="zh-CN" sz="3600" b="1" dirty="0"/>
              <a:t>*4+j*3+k/2==36)</a:t>
            </a:r>
          </a:p>
          <a:p>
            <a:pPr>
              <a:lnSpc>
                <a:spcPct val="80000"/>
              </a:lnSpc>
              <a:buFontTx/>
              <a:buNone/>
            </a:pPr>
            <a:r>
              <a:rPr lang="en-US" altLang="zh-CN" sz="3600" b="1" dirty="0"/>
              <a:t>	</a:t>
            </a:r>
            <a:r>
              <a:rPr lang="en-US" altLang="zh-CN" sz="3600" b="1" dirty="0" err="1" smtClean="0"/>
              <a:t>printf</a:t>
            </a:r>
            <a:r>
              <a:rPr lang="en-US" altLang="zh-CN" sz="3600" b="1" dirty="0"/>
              <a:t>("\</a:t>
            </a:r>
            <a:r>
              <a:rPr lang="en-US" altLang="zh-CN" sz="3600" b="1" dirty="0" err="1"/>
              <a:t>t%d</a:t>
            </a:r>
            <a:r>
              <a:rPr lang="en-US" altLang="zh-CN" sz="3600" b="1" dirty="0"/>
              <a:t>\</a:t>
            </a:r>
            <a:r>
              <a:rPr lang="en-US" altLang="zh-CN" sz="3600" b="1" dirty="0" err="1"/>
              <a:t>t%d</a:t>
            </a:r>
            <a:r>
              <a:rPr lang="en-US" altLang="zh-CN" sz="3600" b="1" dirty="0"/>
              <a:t>\</a:t>
            </a:r>
            <a:r>
              <a:rPr lang="en-US" altLang="zh-CN" sz="3600" b="1" dirty="0" err="1"/>
              <a:t>t%d</a:t>
            </a:r>
            <a:r>
              <a:rPr lang="en-US" altLang="zh-CN" sz="3600" b="1" dirty="0"/>
              <a:t>\n", </a:t>
            </a:r>
            <a:r>
              <a:rPr lang="en-US" altLang="zh-CN" sz="3600" b="1" dirty="0" err="1"/>
              <a:t>i</a:t>
            </a:r>
            <a:r>
              <a:rPr lang="en-US" altLang="zh-CN" sz="3600" b="1" dirty="0"/>
              <a:t> ,j ,k);</a:t>
            </a:r>
          </a:p>
          <a:p>
            <a:pPr>
              <a:lnSpc>
                <a:spcPct val="80000"/>
              </a:lnSpc>
              <a:buFontTx/>
              <a:buNone/>
            </a:pPr>
            <a:r>
              <a:rPr lang="en-US" altLang="zh-CN" sz="3600" b="1" dirty="0" smtClean="0"/>
              <a:t>     }</a:t>
            </a:r>
            <a:endParaRPr lang="en-US" altLang="zh-CN" sz="3600" b="1" dirty="0"/>
          </a:p>
        </p:txBody>
      </p:sp>
    </p:spTree>
    <p:extLst>
      <p:ext uri="{BB962C8B-B14F-4D97-AF65-F5344CB8AC3E}">
        <p14:creationId xmlns:p14="http://schemas.microsoft.com/office/powerpoint/2010/main" val="2483028261"/>
      </p:ext>
    </p:extLst>
  </p:cSld>
  <p:clrMapOvr>
    <a:masterClrMapping/>
  </p:clrMapOvr>
  <p:transition>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par>
                                <p:cTn id="11" presetID="3" presetClass="entr" presetSubtype="1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linds(horizontal)">
                                      <p:cBhvr>
                                        <p:cTn id="13" dur="500"/>
                                        <p:tgtEl>
                                          <p:spTgt spid="11"/>
                                        </p:tgtEl>
                                      </p:cBhvr>
                                    </p:animEffect>
                                  </p:childTnLst>
                                </p:cTn>
                              </p:par>
                              <p:par>
                                <p:cTn id="14" presetID="3" presetClass="entr" presetSubtype="1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blinds(horizont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linds(horizontal)">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additive="base">
                                        <p:cTn id="26" dur="500" fill="hold"/>
                                        <p:tgtEl>
                                          <p:spTgt spid="14"/>
                                        </p:tgtEl>
                                        <p:attrNameLst>
                                          <p:attrName>ppt_x</p:attrName>
                                        </p:attrNameLst>
                                      </p:cBhvr>
                                      <p:tavLst>
                                        <p:tav tm="0">
                                          <p:val>
                                            <p:strVal val="#ppt_x"/>
                                          </p:val>
                                        </p:tav>
                                        <p:tav tm="100000">
                                          <p:val>
                                            <p:strVal val="#ppt_x"/>
                                          </p:val>
                                        </p:tav>
                                      </p:tavLst>
                                    </p:anim>
                                    <p:anim calcmode="lin" valueType="num">
                                      <p:cBhvr additive="base">
                                        <p:cTn id="27"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diamond(in)">
                                      <p:cBhvr>
                                        <p:cTn id="32" dur="20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animBg="1"/>
      <p:bldP spid="1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linyy1188\Desktop\logo.png"/>
          <p:cNvPicPr>
            <a:picLocks noChangeAspect="1" noChangeArrowheads="1"/>
          </p:cNvPicPr>
          <p:nvPr/>
        </p:nvPicPr>
        <p:blipFill>
          <a:blip r:embed="rId2" cstate="print"/>
          <a:srcRect/>
          <a:stretch>
            <a:fillRect/>
          </a:stretch>
        </p:blipFill>
        <p:spPr bwMode="auto">
          <a:xfrm>
            <a:off x="0" y="39596"/>
            <a:ext cx="2771800" cy="8691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TextBox 2"/>
          <p:cNvSpPr txBox="1"/>
          <p:nvPr/>
        </p:nvSpPr>
        <p:spPr>
          <a:xfrm>
            <a:off x="827584" y="-459432"/>
            <a:ext cx="4711546" cy="7786747"/>
          </a:xfrm>
          <a:prstGeom prst="rect">
            <a:avLst/>
          </a:prstGeom>
          <a:noFill/>
        </p:spPr>
        <p:txBody>
          <a:bodyPr wrap="none" rtlCol="0">
            <a:spAutoFit/>
          </a:bodyPr>
          <a:lstStyle/>
          <a:p>
            <a:r>
              <a:rPr lang="en-US" altLang="zh-CN" sz="50000" dirty="0" smtClean="0">
                <a:solidFill>
                  <a:schemeClr val="bg1"/>
                </a:solidFill>
                <a:latin typeface="Broadway" pitchFamily="82" charset="0"/>
                <a:ea typeface="Kozuka Mincho Pro H" pitchFamily="18" charset="-128"/>
              </a:rPr>
              <a:t>C</a:t>
            </a:r>
            <a:endParaRPr lang="zh-CN" altLang="en-US" sz="50000" dirty="0">
              <a:solidFill>
                <a:schemeClr val="bg1"/>
              </a:solidFill>
              <a:latin typeface="Broadway" pitchFamily="82" charset="0"/>
              <a:ea typeface="Kozuka Mincho Pro H" pitchFamily="18" charset="-128"/>
            </a:endParaRPr>
          </a:p>
        </p:txBody>
      </p:sp>
      <p:sp>
        <p:nvSpPr>
          <p:cNvPr id="4" name="TextBox 3"/>
          <p:cNvSpPr txBox="1"/>
          <p:nvPr/>
        </p:nvSpPr>
        <p:spPr>
          <a:xfrm>
            <a:off x="3203848" y="2780928"/>
            <a:ext cx="3024336" cy="1569660"/>
          </a:xfrm>
          <a:prstGeom prst="rect">
            <a:avLst/>
          </a:prstGeom>
          <a:noFill/>
        </p:spPr>
        <p:txBody>
          <a:bodyPr wrap="square" rtlCol="0">
            <a:spAutoFit/>
          </a:bodyPr>
          <a:lstStyle/>
          <a:p>
            <a:r>
              <a:rPr lang="en-US" altLang="zh-CN" sz="9600" b="1" dirty="0" smtClean="0">
                <a:solidFill>
                  <a:srgbClr val="FFF24C"/>
                </a:solidFill>
              </a:rPr>
              <a:t>END </a:t>
            </a:r>
            <a:endParaRPr lang="zh-CN" altLang="en-US" sz="9600" b="1" dirty="0">
              <a:solidFill>
                <a:srgbClr val="FFF24C"/>
              </a:solidFill>
            </a:endParaRPr>
          </a:p>
        </p:txBody>
      </p:sp>
      <p:sp>
        <p:nvSpPr>
          <p:cNvPr id="5" name="TextBox 4"/>
          <p:cNvSpPr txBox="1"/>
          <p:nvPr/>
        </p:nvSpPr>
        <p:spPr>
          <a:xfrm>
            <a:off x="5724128" y="2996952"/>
            <a:ext cx="2880320" cy="1077218"/>
          </a:xfrm>
          <a:prstGeom prst="rect">
            <a:avLst/>
          </a:prstGeom>
          <a:noFill/>
        </p:spPr>
        <p:txBody>
          <a:bodyPr wrap="square" rtlCol="0">
            <a:spAutoFit/>
          </a:bodyPr>
          <a:lstStyle/>
          <a:p>
            <a:r>
              <a:rPr lang="en-US" altLang="zh-CN" sz="3200" b="1" dirty="0" smtClean="0">
                <a:solidFill>
                  <a:srgbClr val="FFF24C"/>
                </a:solidFill>
              </a:rPr>
              <a:t>(/≧▽≦)/~</a:t>
            </a:r>
          </a:p>
          <a:p>
            <a:r>
              <a:rPr lang="zh-CN" altLang="en-US" sz="3200" b="1" dirty="0" smtClean="0">
                <a:solidFill>
                  <a:srgbClr val="FFF24C"/>
                </a:solidFill>
              </a:rPr>
              <a:t>大家 加了个油！</a:t>
            </a:r>
            <a:endParaRPr lang="zh-CN" altLang="en-US" sz="3200" b="1" dirty="0">
              <a:solidFill>
                <a:srgbClr val="FFF24C"/>
              </a:solidFill>
            </a:endParaRPr>
          </a:p>
        </p:txBody>
      </p:sp>
    </p:spTree>
  </p:cSld>
  <p:clrMapOvr>
    <a:masterClrMapping/>
  </p:clrMapOvr>
  <p:transition>
    <p:pull dir="d"/>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TotalTime>
  <Words>631</Words>
  <Application>Microsoft Office PowerPoint</Application>
  <PresentationFormat>全屏显示(4:3)</PresentationFormat>
  <Paragraphs>171</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Kozuka Mincho Pro H</vt:lpstr>
      <vt:lpstr>黑体</vt:lpstr>
      <vt:lpstr>宋体</vt:lpstr>
      <vt:lpstr>Arial</vt:lpstr>
      <vt:lpstr>Broadway</vt:lpstr>
      <vt:lpstr>Calibri</vt:lpstr>
      <vt:lpstr>Franklin Gothic Heavy</vt:lpstr>
      <vt:lpstr>Office 主题</vt:lpstr>
      <vt:lpstr>PowerPoint 演示文稿</vt:lpstr>
      <vt:lpstr>PowerPoint 演示文稿</vt:lpstr>
      <vt:lpstr>PowerPoint 演示文稿</vt:lpstr>
      <vt:lpstr>例 1 ： 我国古代数学家张丘建在《算经》中出了这样一道题目：鸡翁一，值五钱，鸡母一，值三钱，鸡雏三，值一钱，百钱买百鸡，问鸡翁、鸡母、鸡雏各几何？</vt:lpstr>
      <vt:lpstr>      分析进入关键一步</vt:lpstr>
      <vt:lpstr>编写程序</vt:lpstr>
      <vt:lpstr>思考</vt:lpstr>
      <vt:lpstr>提示</vt:lpstr>
      <vt:lpstr>分析</vt:lpstr>
      <vt:lpstr>PowerPoint 演示文稿</vt:lpstr>
      <vt:lpstr>改进后的程序</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linyy1188</dc:creator>
  <cp:lastModifiedBy>魏睿</cp:lastModifiedBy>
  <cp:revision>44</cp:revision>
  <dcterms:created xsi:type="dcterms:W3CDTF">2012-06-03T07:12:36Z</dcterms:created>
  <dcterms:modified xsi:type="dcterms:W3CDTF">2013-06-08T10:09:30Z</dcterms:modified>
</cp:coreProperties>
</file>